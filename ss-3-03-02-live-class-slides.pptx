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Directions seem simple — but they're the foundation of all geographic communication. Today students master cardinal (N/S/E/W) and intermediate (NE/NW/SE/SW) directions and practice using them to describe location.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hook works because it connects to personal experience. Every student has been lost or confused by 'turn left.' Ask: 'Have you ever gotten confused by directions that said left or right? What happened?' Then: 'North is never confused.'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compass rose visual helps kinesthetic learners. Ask students to physically point in each direction from where they're sitting — they'll need to orient to an actual compass (or you can tell them which wall is North). The intermediate directions: 'NE is exactly halfway between North and East. If you face North and turn 45 degrees right, you're facing 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can brainstorm their own mnemonics in the chat. Make it fun — whatever sticks is the right answer. The etymology note on clockwise connects to Unit 2 (navigation tools). Ask: 'Why do you think people chose to put North at the top of maps? Is it scientific — or just a convention?'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will use these patterns in their map activities all year. The geographic examples are real — use them to show that directions communicate real geographic relationships, not just abstract concepts. Ask after: 'What direction is [your school] from [nearby landmark]?'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Breakout 3-4 minutes. These are straightforward applications. The answers in parentheses are provided for teacher reference. Q4 is interesting — the route from Spain to Florida is SW because Spain is northeast of the Caribbean. Some students may say 'West' which is also partially correct.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type in chat. This is a real geography exercise. You may need to help them orient — if your school faces North, tell them which way is North from where they're sitting. Close: 'Next lesson: different types of maps — physical, political, elevation, population. Each one shows the world a different 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3A2C1A"/>
        </a:solidFill>
      </p:bgPr>
    </p:bg>
    <p:spTree>
      <p:nvGrpSpPr>
        <p:cNvPr id="1" name=""/>
        <p:cNvGrpSpPr/>
        <p:nvPr/>
      </p:nvGrpSpPr>
      <p:grpSpPr>
        <a:xfrm>
          <a:off x="0" y="0"/>
          <a:ext cx="0" cy="0"/>
          <a:chOff x="0" y="0"/>
          <a:chExt cx="0" cy="0"/>
        </a:xfrm>
      </p:grpSpPr>
      <p:sp>
        <p:nvSpPr>
          <p:cNvPr id="2" name="Shape 0"/>
          <p:cNvSpPr/>
          <p:nvPr/>
        </p:nvSpPr>
        <p:spPr>
          <a:xfrm>
            <a:off x="0" y="2560320"/>
            <a:ext cx="9144000" cy="2587752"/>
          </a:xfrm>
          <a:prstGeom prst="rect">
            <a:avLst/>
          </a:prstGeom>
          <a:solidFill>
            <a:srgbClr val="2D5A27">
              <a:alpha val="8000"/>
            </a:srgbClr>
          </a:solidFill>
          <a:ln w="12700">
            <a:solidFill>
              <a:srgbClr val="333333"/>
            </a:solidFill>
            <a:prstDash val="solid"/>
          </a:ln>
        </p:spPr>
      </p:sp>
      <p:sp>
        <p:nvSpPr>
          <p:cNvPr id="3" name="Shape 1"/>
          <p:cNvSpPr/>
          <p:nvPr/>
        </p:nvSpPr>
        <p:spPr>
          <a:xfrm>
            <a:off x="1524000" y="0"/>
            <a:ext cx="0" cy="5148072"/>
          </a:xfrm>
          <a:prstGeom prst="line">
            <a:avLst/>
          </a:prstGeom>
          <a:noFill/>
          <a:ln w="7620">
            <a:solidFill>
              <a:srgbClr val="C4B49A">
                <a:alpha val="50000"/>
              </a:srgbClr>
            </a:solidFill>
            <a:prstDash val="solid"/>
          </a:ln>
        </p:spPr>
      </p:sp>
      <p:sp>
        <p:nvSpPr>
          <p:cNvPr id="4" name="Shape 2"/>
          <p:cNvSpPr/>
          <p:nvPr/>
        </p:nvSpPr>
        <p:spPr>
          <a:xfrm>
            <a:off x="3048000" y="0"/>
            <a:ext cx="0" cy="5148072"/>
          </a:xfrm>
          <a:prstGeom prst="line">
            <a:avLst/>
          </a:prstGeom>
          <a:noFill/>
          <a:ln w="7620">
            <a:solidFill>
              <a:srgbClr val="C4B49A">
                <a:alpha val="50000"/>
              </a:srgbClr>
            </a:solidFill>
            <a:prstDash val="solid"/>
          </a:ln>
        </p:spPr>
      </p:sp>
      <p:sp>
        <p:nvSpPr>
          <p:cNvPr id="5" name="Shape 3"/>
          <p:cNvSpPr/>
          <p:nvPr/>
        </p:nvSpPr>
        <p:spPr>
          <a:xfrm>
            <a:off x="4572000" y="0"/>
            <a:ext cx="0" cy="5148072"/>
          </a:xfrm>
          <a:prstGeom prst="line">
            <a:avLst/>
          </a:prstGeom>
          <a:noFill/>
          <a:ln w="7620">
            <a:solidFill>
              <a:srgbClr val="C4B49A">
                <a:alpha val="50000"/>
              </a:srgbClr>
            </a:solidFill>
            <a:prstDash val="solid"/>
          </a:ln>
        </p:spPr>
      </p:sp>
      <p:sp>
        <p:nvSpPr>
          <p:cNvPr id="6" name="Shape 4"/>
          <p:cNvSpPr/>
          <p:nvPr/>
        </p:nvSpPr>
        <p:spPr>
          <a:xfrm>
            <a:off x="6096000" y="0"/>
            <a:ext cx="0" cy="5148072"/>
          </a:xfrm>
          <a:prstGeom prst="line">
            <a:avLst/>
          </a:prstGeom>
          <a:noFill/>
          <a:ln w="7620">
            <a:solidFill>
              <a:srgbClr val="C4B49A">
                <a:alpha val="50000"/>
              </a:srgbClr>
            </a:solidFill>
            <a:prstDash val="solid"/>
          </a:ln>
        </p:spPr>
      </p:sp>
      <p:sp>
        <p:nvSpPr>
          <p:cNvPr id="7" name="Shape 5"/>
          <p:cNvSpPr/>
          <p:nvPr/>
        </p:nvSpPr>
        <p:spPr>
          <a:xfrm>
            <a:off x="7620000" y="0"/>
            <a:ext cx="0" cy="5148072"/>
          </a:xfrm>
          <a:prstGeom prst="line">
            <a:avLst/>
          </a:prstGeom>
          <a:noFill/>
          <a:ln w="7620">
            <a:solidFill>
              <a:srgbClr val="C4B49A">
                <a:alpha val="50000"/>
              </a:srgbClr>
            </a:solidFill>
            <a:prstDash val="solid"/>
          </a:ln>
        </p:spPr>
      </p:sp>
      <p:sp>
        <p:nvSpPr>
          <p:cNvPr id="8" name="Shape 6"/>
          <p:cNvSpPr/>
          <p:nvPr/>
        </p:nvSpPr>
        <p:spPr>
          <a:xfrm>
            <a:off x="0" y="1287018"/>
            <a:ext cx="9144000" cy="0"/>
          </a:xfrm>
          <a:prstGeom prst="line">
            <a:avLst/>
          </a:prstGeom>
          <a:noFill/>
          <a:ln w="7620">
            <a:solidFill>
              <a:srgbClr val="C4B49A">
                <a:alpha val="50000"/>
              </a:srgbClr>
            </a:solidFill>
            <a:prstDash val="solid"/>
          </a:ln>
        </p:spPr>
      </p:sp>
      <p:sp>
        <p:nvSpPr>
          <p:cNvPr id="9" name="Shape 7"/>
          <p:cNvSpPr/>
          <p:nvPr/>
        </p:nvSpPr>
        <p:spPr>
          <a:xfrm>
            <a:off x="0" y="2574036"/>
            <a:ext cx="9144000" cy="0"/>
          </a:xfrm>
          <a:prstGeom prst="line">
            <a:avLst/>
          </a:prstGeom>
          <a:noFill/>
          <a:ln w="7620">
            <a:solidFill>
              <a:srgbClr val="C4B49A">
                <a:alpha val="50000"/>
              </a:srgbClr>
            </a:solidFill>
            <a:prstDash val="solid"/>
          </a:ln>
        </p:spPr>
      </p:sp>
      <p:sp>
        <p:nvSpPr>
          <p:cNvPr id="10" name="Shape 8"/>
          <p:cNvSpPr/>
          <p:nvPr/>
        </p:nvSpPr>
        <p:spPr>
          <a:xfrm>
            <a:off x="0" y="3861054"/>
            <a:ext cx="9144000" cy="0"/>
          </a:xfrm>
          <a:prstGeom prst="line">
            <a:avLst/>
          </a:prstGeom>
          <a:noFill/>
          <a:ln w="7620">
            <a:solidFill>
              <a:srgbClr val="C4B49A">
                <a:alpha val="50000"/>
              </a:srgbClr>
            </a:solidFill>
            <a:prstDash val="solid"/>
          </a:ln>
        </p:spPr>
      </p:sp>
      <p:sp>
        <p:nvSpPr>
          <p:cNvPr id="11" name="Shape 9"/>
          <p:cNvSpPr/>
          <p:nvPr/>
        </p:nvSpPr>
        <p:spPr>
          <a:xfrm>
            <a:off x="685800" y="0"/>
            <a:ext cx="7772400" cy="4572000"/>
          </a:xfrm>
          <a:prstGeom prst="ellipse">
            <a:avLst/>
          </a:prstGeom>
          <a:solidFill>
            <a:srgbClr val="D4943A">
              <a:alpha val="15000"/>
            </a:srgbClr>
          </a:solidFill>
          <a:ln w="12700">
            <a:solidFill>
              <a:srgbClr val="333333"/>
            </a:solidFill>
            <a:prstDash val="solid"/>
          </a:ln>
        </p:spPr>
      </p:sp>
      <p:sp>
        <p:nvSpPr>
          <p:cNvPr id="12" name="Shape 10"/>
          <p:cNvSpPr/>
          <p:nvPr/>
        </p:nvSpPr>
        <p:spPr>
          <a:xfrm>
            <a:off x="2395728" y="1005840"/>
            <a:ext cx="4352544" cy="2560320"/>
          </a:xfrm>
          <a:prstGeom prst="ellipse">
            <a:avLst/>
          </a:prstGeom>
          <a:solidFill>
            <a:srgbClr val="D4943A">
              <a:alpha val="26000"/>
            </a:srgbClr>
          </a:solidFill>
          <a:ln w="12700">
            <a:solidFill>
              <a:srgbClr val="333333"/>
            </a:solidFill>
            <a:prstDash val="solid"/>
          </a:ln>
        </p:spPr>
      </p:sp>
      <p:sp>
        <p:nvSpPr>
          <p:cNvPr id="13" name="Shape 11"/>
          <p:cNvSpPr/>
          <p:nvPr/>
        </p:nvSpPr>
        <p:spPr>
          <a:xfrm>
            <a:off x="0" y="0"/>
            <a:ext cx="9144000" cy="50292"/>
          </a:xfrm>
          <a:prstGeom prst="rect">
            <a:avLst/>
          </a:prstGeom>
          <a:solidFill>
            <a:srgbClr val="D4943A"/>
          </a:solidFill>
          <a:ln w="12700">
            <a:solidFill>
              <a:srgbClr val="333333"/>
            </a:solidFill>
            <a:prstDash val="solid"/>
          </a:ln>
        </p:spPr>
      </p:sp>
      <p:sp>
        <p:nvSpPr>
          <p:cNvPr id="14" name="Shape 12"/>
          <p:cNvSpPr/>
          <p:nvPr/>
        </p:nvSpPr>
        <p:spPr>
          <a:xfrm>
            <a:off x="0" y="5093208"/>
            <a:ext cx="9144000" cy="54864"/>
          </a:xfrm>
          <a:prstGeom prst="rect">
            <a:avLst/>
          </a:prstGeom>
          <a:solidFill>
            <a:srgbClr val="D4943A"/>
          </a:solidFill>
          <a:ln w="12700">
            <a:solidFill>
              <a:srgbClr val="333333"/>
            </a:solidFill>
            <a:prstDash val="solid"/>
          </a:ln>
        </p:spPr>
      </p:sp>
      <p:sp>
        <p:nvSpPr>
          <p:cNvPr id="15" name="Shape 13"/>
          <p:cNvSpPr/>
          <p:nvPr/>
        </p:nvSpPr>
        <p:spPr>
          <a:xfrm>
            <a:off x="1645920" y="164592"/>
            <a:ext cx="5852160" cy="475488"/>
          </a:xfrm>
          <a:prstGeom prst="roundRect">
            <a:avLst>
              <a:gd name="adj" fmla="val 13462"/>
            </a:avLst>
          </a:prstGeom>
          <a:solidFill>
            <a:srgbClr val="D4943A">
              <a:alpha val="18000"/>
            </a:srgbClr>
          </a:solidFill>
          <a:ln w="12700">
            <a:solidFill>
              <a:srgbClr val="D4943A"/>
            </a:solidFill>
            <a:prstDash val="solid"/>
          </a:ln>
        </p:spPr>
      </p:sp>
      <p:sp>
        <p:nvSpPr>
          <p:cNvPr id="16" name="Text 14"/>
          <p:cNvSpPr/>
          <p:nvPr/>
        </p:nvSpPr>
        <p:spPr>
          <a:xfrm>
            <a:off x="1645920" y="164592"/>
            <a:ext cx="5852160" cy="475488"/>
          </a:xfrm>
          <a:prstGeom prst="rect">
            <a:avLst/>
          </a:prstGeom>
          <a:noFill/>
          <a:ln/>
        </p:spPr>
        <p:txBody>
          <a:bodyPr wrap="square" lIns="0" tIns="0" rIns="0" bIns="0" rtlCol="0" anchor="ctr"/>
          <a:lstStyle/>
          <a:p>
            <a:pPr algn="ctr" indent="0" marL="0">
              <a:buNone/>
            </a:pPr>
            <a:r>
              <a:rPr lang="en-US" sz="1050" b="1" spc="250" kern="0" dirty="0">
                <a:solidFill>
                  <a:srgbClr val="D4943A"/>
                </a:solidFill>
                <a:latin typeface="Calibri" pitchFamily="34" charset="0"/>
                <a:ea typeface="Calibri" pitchFamily="34" charset="-122"/>
                <a:cs typeface="Calibri" pitchFamily="34" charset="-120"/>
              </a:rPr>
              <a:t>CARTOGRAPHY GALLERY  ·  UNIT 3  ·  WEEK 7</a:t>
            </a:r>
            <a:endParaRPr lang="en-US" sz="1050" dirty="0"/>
          </a:p>
        </p:txBody>
      </p:sp>
      <p:sp>
        <p:nvSpPr>
          <p:cNvPr id="17" name="Text 15"/>
          <p:cNvSpPr/>
          <p:nvPr/>
        </p:nvSpPr>
        <p:spPr>
          <a:xfrm>
            <a:off x="731520" y="768096"/>
            <a:ext cx="7680960" cy="2633472"/>
          </a:xfrm>
          <a:prstGeom prst="rect">
            <a:avLst/>
          </a:prstGeom>
          <a:noFill/>
          <a:ln/>
        </p:spPr>
        <p:txBody>
          <a:bodyPr wrap="square" lIns="0" tIns="0" rIns="0" bIns="0" rtlCol="0" anchor="ctr"/>
          <a:lstStyle/>
          <a:p>
            <a:pPr algn="ctr" indent="0" marL="0">
              <a:lnSpc>
                <a:spcPct val="110000"/>
              </a:lnSpc>
              <a:buNone/>
            </a:pPr>
            <a:r>
              <a:rPr lang="en-US" sz="5200" b="1" dirty="0">
                <a:solidFill>
                  <a:srgbClr val="FFFFFF"/>
                </a:solidFill>
                <a:latin typeface="Cambria" pitchFamily="34" charset="0"/>
                <a:ea typeface="Cambria" pitchFamily="34" charset="-122"/>
                <a:cs typeface="Cambria" pitchFamily="34" charset="-120"/>
              </a:rPr>
              <a:t>Cardinal and</a:t>
            </a:r>
            <a:endParaRPr lang="en-US" sz="5200" dirty="0"/>
          </a:p>
          <a:p>
            <a:pPr algn="ctr" indent="0" marL="0">
              <a:lnSpc>
                <a:spcPct val="110000"/>
              </a:lnSpc>
              <a:buNone/>
            </a:pPr>
            <a:r>
              <a:rPr lang="en-US" sz="5200" b="1" dirty="0">
                <a:solidFill>
                  <a:srgbClr val="FFFFFF"/>
                </a:solidFill>
                <a:latin typeface="Cambria" pitchFamily="34" charset="0"/>
                <a:ea typeface="Cambria" pitchFamily="34" charset="-122"/>
                <a:cs typeface="Cambria" pitchFamily="34" charset="-120"/>
              </a:rPr>
              <a:t>Intermediate</a:t>
            </a:r>
            <a:endParaRPr lang="en-US" sz="5200" dirty="0"/>
          </a:p>
          <a:p>
            <a:pPr algn="ctr" indent="0" marL="0">
              <a:lnSpc>
                <a:spcPct val="110000"/>
              </a:lnSpc>
              <a:buNone/>
            </a:pPr>
            <a:r>
              <a:rPr lang="en-US" sz="5200" b="1" dirty="0">
                <a:solidFill>
                  <a:srgbClr val="FFFFFF"/>
                </a:solidFill>
                <a:latin typeface="Cambria" pitchFamily="34" charset="0"/>
                <a:ea typeface="Cambria" pitchFamily="34" charset="-122"/>
                <a:cs typeface="Cambria" pitchFamily="34" charset="-120"/>
              </a:rPr>
              <a:t>Directions</a:t>
            </a:r>
            <a:endParaRPr lang="en-US" sz="5200" dirty="0"/>
          </a:p>
        </p:txBody>
      </p:sp>
      <p:sp>
        <p:nvSpPr>
          <p:cNvPr id="18" name="Text 16"/>
          <p:cNvSpPr/>
          <p:nvPr/>
        </p:nvSpPr>
        <p:spPr>
          <a:xfrm>
            <a:off x="1371600" y="3511296"/>
            <a:ext cx="6400800" cy="347472"/>
          </a:xfrm>
          <a:prstGeom prst="rect">
            <a:avLst/>
          </a:prstGeom>
          <a:noFill/>
          <a:ln/>
        </p:spPr>
        <p:txBody>
          <a:bodyPr wrap="square" lIns="0" tIns="0" rIns="0" bIns="0" rtlCol="0" anchor="ctr"/>
          <a:lstStyle/>
          <a:p>
            <a:pPr algn="ctr" indent="0" marL="0">
              <a:buNone/>
            </a:pPr>
            <a:r>
              <a:rPr lang="en-US" sz="1250" dirty="0">
                <a:solidFill>
                  <a:srgbClr val="D4943A"/>
                </a:solidFill>
                <a:latin typeface="Calibri" pitchFamily="34" charset="0"/>
                <a:ea typeface="Calibri" pitchFamily="34" charset="-122"/>
                <a:cs typeface="Calibri" pitchFamily="34" charset="-120"/>
              </a:rPr>
              <a:t>Lesson 3.03.02  ·  3rd Grade Social Studies</a:t>
            </a:r>
            <a:endParaRPr lang="en-US" sz="1250" dirty="0"/>
          </a:p>
        </p:txBody>
      </p:sp>
      <p:sp>
        <p:nvSpPr>
          <p:cNvPr id="19" name="Shape 17"/>
          <p:cNvSpPr/>
          <p:nvPr/>
        </p:nvSpPr>
        <p:spPr>
          <a:xfrm>
            <a:off x="2560320" y="3931920"/>
            <a:ext cx="4023360" cy="603504"/>
          </a:xfrm>
          <a:prstGeom prst="roundRect">
            <a:avLst>
              <a:gd name="adj" fmla="val 15152"/>
            </a:avLst>
          </a:prstGeom>
          <a:solidFill>
            <a:srgbClr val="2D5A27">
              <a:alpha val="20000"/>
            </a:srgbClr>
          </a:solidFill>
          <a:ln w="19050">
            <a:solidFill>
              <a:srgbClr val="4A8A42"/>
            </a:solidFill>
            <a:prstDash val="solid"/>
          </a:ln>
        </p:spPr>
      </p:sp>
      <p:sp>
        <p:nvSpPr>
          <p:cNvPr id="20" name="Text 18"/>
          <p:cNvSpPr/>
          <p:nvPr/>
        </p:nvSpPr>
        <p:spPr>
          <a:xfrm>
            <a:off x="2560320" y="3931920"/>
            <a:ext cx="4023360" cy="60350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Map Quest  ·  Virtue: Courtesy</a:t>
            </a:r>
            <a:endParaRPr lang="en-US" sz="1200" dirty="0"/>
          </a:p>
        </p:txBody>
      </p:sp>
      <p:sp>
        <p:nvSpPr>
          <p:cNvPr id="21" name="Shape 19"/>
          <p:cNvSpPr/>
          <p:nvPr/>
        </p:nvSpPr>
        <p:spPr>
          <a:xfrm>
            <a:off x="923544" y="4736592"/>
            <a:ext cx="164592" cy="256032"/>
          </a:xfrm>
          <a:prstGeom prst="ellipse">
            <a:avLst/>
          </a:prstGeom>
          <a:solidFill>
            <a:srgbClr val="D4943A"/>
          </a:solidFill>
          <a:ln w="12700">
            <a:solidFill>
              <a:srgbClr val="333333"/>
            </a:solidFill>
            <a:prstDash val="solid"/>
          </a:ln>
        </p:spPr>
      </p:sp>
      <p:sp>
        <p:nvSpPr>
          <p:cNvPr id="22" name="Shape 20"/>
          <p:cNvSpPr/>
          <p:nvPr/>
        </p:nvSpPr>
        <p:spPr>
          <a:xfrm>
            <a:off x="8055864" y="4736592"/>
            <a:ext cx="164592" cy="256032"/>
          </a:xfrm>
          <a:prstGeom prst="ellipse">
            <a:avLst/>
          </a:prstGeom>
          <a:solidFill>
            <a:srgbClr val="D4943A"/>
          </a:solidFill>
          <a:ln w="12700">
            <a:solidFill>
              <a:srgbClr val="333333"/>
            </a:solidFill>
            <a:prstDash val="solid"/>
          </a:ln>
        </p:spPr>
      </p:sp>
      <p:sp>
        <p:nvSpPr>
          <p:cNvPr id="23" name="Shape 21"/>
          <p:cNvSpPr/>
          <p:nvPr/>
        </p:nvSpPr>
        <p:spPr>
          <a:xfrm>
            <a:off x="1005840" y="4864608"/>
            <a:ext cx="7132320" cy="0"/>
          </a:xfrm>
          <a:prstGeom prst="line">
            <a:avLst/>
          </a:prstGeom>
          <a:noFill/>
          <a:ln w="31750">
            <a:solidFill>
              <a:srgbClr val="D4943A"/>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AF5"/>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2D5A27"/>
          </a:solidFill>
          <a:ln w="12700">
            <a:solidFill>
              <a:srgbClr val="333333"/>
            </a:solidFill>
            <a:prstDash val="solid"/>
          </a:ln>
        </p:spPr>
      </p:sp>
      <p:sp>
        <p:nvSpPr>
          <p:cNvPr id="3" name="Text 1"/>
          <p:cNvSpPr/>
          <p:nvPr/>
        </p:nvSpPr>
        <p:spPr>
          <a:xfrm>
            <a:off x="457200" y="54864"/>
            <a:ext cx="8229600" cy="530352"/>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Why Directions Are the First Thing a Traveler Learns</a:t>
            </a:r>
            <a:endParaRPr lang="en-US" sz="2000" dirty="0"/>
          </a:p>
        </p:txBody>
      </p:sp>
      <p:sp>
        <p:nvSpPr>
          <p:cNvPr id="4" name="Text 2"/>
          <p:cNvSpPr/>
          <p:nvPr/>
        </p:nvSpPr>
        <p:spPr>
          <a:xfrm>
            <a:off x="548640" y="768096"/>
            <a:ext cx="8046720" cy="4041648"/>
          </a:xfrm>
          <a:prstGeom prst="rect">
            <a:avLst/>
          </a:prstGeom>
          <a:noFill/>
          <a:ln/>
        </p:spPr>
        <p:txBody>
          <a:bodyPr wrap="square" rtlCol="0" anchor="t"/>
          <a:lstStyle/>
          <a:p>
            <a:pPr algn="l" indent="0" marL="0">
              <a:lnSpc>
                <a:spcPct val="150000"/>
              </a:lnSpc>
              <a:buNone/>
            </a:pPr>
            <a:r>
              <a:rPr lang="en-US" sz="1250" dirty="0">
                <a:solidFill>
                  <a:srgbClr val="3A4A6B"/>
                </a:solidFill>
                <a:latin typeface="Calibri" pitchFamily="34" charset="0"/>
                <a:ea typeface="Calibri" pitchFamily="34" charset="-122"/>
                <a:cs typeface="Calibri" pitchFamily="34" charset="-120"/>
              </a:rPr>
              <a:t>Imagine you're lost in a forest. Someone says: 'Go left at the big tree.'</a:t>
            </a:r>
            <a:endParaRPr lang="en-US" sz="1250" dirty="0"/>
          </a:p>
          <a:p>
            <a:pPr algn="l" indent="0" marL="0">
              <a:lnSpc>
                <a:spcPct val="150000"/>
              </a:lnSpc>
              <a:buNone/>
            </a:pPr>
            <a:endParaRPr lang="en-US" sz="1250" dirty="0"/>
          </a:p>
          <a:p>
            <a:pPr algn="l" indent="0" marL="0">
              <a:lnSpc>
                <a:spcPct val="150000"/>
              </a:lnSpc>
              <a:buNone/>
            </a:pPr>
            <a:r>
              <a:rPr lang="en-US" sz="1250" dirty="0">
                <a:solidFill>
                  <a:srgbClr val="3A4A6B"/>
                </a:solidFill>
                <a:latin typeface="Calibri" pitchFamily="34" charset="0"/>
                <a:ea typeface="Calibri" pitchFamily="34" charset="-122"/>
                <a:cs typeface="Calibri" pitchFamily="34" charset="-120"/>
              </a:rPr>
              <a:t>But left for YOU and left for THEM might be opposite directions — depending on which way you're both facing.</a:t>
            </a:r>
            <a:endParaRPr lang="en-US" sz="1250" dirty="0"/>
          </a:p>
          <a:p>
            <a:pPr algn="l" indent="0" marL="0">
              <a:lnSpc>
                <a:spcPct val="150000"/>
              </a:lnSpc>
              <a:buNone/>
            </a:pPr>
            <a:endParaRPr lang="en-US" sz="1250" dirty="0"/>
          </a:p>
          <a:p>
            <a:pPr algn="l" indent="0" marL="0">
              <a:lnSpc>
                <a:spcPct val="150000"/>
              </a:lnSpc>
              <a:buNone/>
            </a:pPr>
            <a:r>
              <a:rPr lang="en-US" sz="1250" dirty="0">
                <a:solidFill>
                  <a:srgbClr val="3A4A6B"/>
                </a:solidFill>
                <a:latin typeface="Calibri" pitchFamily="34" charset="0"/>
                <a:ea typeface="Calibri" pitchFamily="34" charset="-122"/>
                <a:cs typeface="Calibri" pitchFamily="34" charset="-120"/>
              </a:rPr>
              <a:t>Now imagine they say: 'Go North until you reach the river.'</a:t>
            </a:r>
            <a:endParaRPr lang="en-US" sz="1250" dirty="0"/>
          </a:p>
          <a:p>
            <a:pPr algn="l" indent="0" marL="0">
              <a:lnSpc>
                <a:spcPct val="150000"/>
              </a:lnSpc>
              <a:buNone/>
            </a:pPr>
            <a:endParaRPr lang="en-US" sz="1250" dirty="0"/>
          </a:p>
          <a:p>
            <a:pPr algn="l" indent="0" marL="0">
              <a:lnSpc>
                <a:spcPct val="150000"/>
              </a:lnSpc>
              <a:buNone/>
            </a:pPr>
            <a:r>
              <a:rPr lang="en-US" sz="1250" dirty="0">
                <a:solidFill>
                  <a:srgbClr val="3A4A6B"/>
                </a:solidFill>
                <a:latin typeface="Calibri" pitchFamily="34" charset="0"/>
                <a:ea typeface="Calibri" pitchFamily="34" charset="-122"/>
                <a:cs typeface="Calibri" pitchFamily="34" charset="-120"/>
              </a:rPr>
              <a:t>North is North for everyone, everywhere, all the time.</a:t>
            </a:r>
            <a:endParaRPr lang="en-US" sz="1250" dirty="0"/>
          </a:p>
          <a:p>
            <a:pPr algn="l" indent="0" marL="0">
              <a:lnSpc>
                <a:spcPct val="150000"/>
              </a:lnSpc>
              <a:buNone/>
            </a:pPr>
            <a:endParaRPr lang="en-US" sz="1250" dirty="0"/>
          </a:p>
          <a:p>
            <a:pPr algn="l" indent="0" marL="0">
              <a:lnSpc>
                <a:spcPct val="150000"/>
              </a:lnSpc>
              <a:buNone/>
            </a:pPr>
            <a:r>
              <a:rPr lang="en-US" sz="1250" dirty="0">
                <a:solidFill>
                  <a:srgbClr val="3A4A6B"/>
                </a:solidFill>
                <a:latin typeface="Calibri" pitchFamily="34" charset="0"/>
                <a:ea typeface="Calibri" pitchFamily="34" charset="-122"/>
                <a:cs typeface="Calibri" pitchFamily="34" charset="-120"/>
              </a:rPr>
              <a:t>Cardinal directions — North, South, East, West — are the universal language of location.</a:t>
            </a:r>
            <a:endParaRPr lang="en-US" sz="1250" dirty="0"/>
          </a:p>
          <a:p>
            <a:pPr algn="l" indent="0" marL="0">
              <a:lnSpc>
                <a:spcPct val="150000"/>
              </a:lnSpc>
              <a:buNone/>
            </a:pPr>
            <a:r>
              <a:rPr lang="en-US" sz="1250" dirty="0">
                <a:solidFill>
                  <a:srgbClr val="3A4A6B"/>
                </a:solidFill>
                <a:latin typeface="Calibri" pitchFamily="34" charset="0"/>
                <a:ea typeface="Calibri" pitchFamily="34" charset="-122"/>
                <a:cs typeface="Calibri" pitchFamily="34" charset="-120"/>
              </a:rPr>
              <a:t>They don't depend on which way you're facing. They never change.</a:t>
            </a:r>
            <a:endParaRPr lang="en-US" sz="1250" dirty="0"/>
          </a:p>
          <a:p>
            <a:pPr algn="l" indent="0" marL="0">
              <a:lnSpc>
                <a:spcPct val="150000"/>
              </a:lnSpc>
              <a:buNone/>
            </a:pPr>
            <a:endParaRPr lang="en-US" sz="1250" dirty="0"/>
          </a:p>
          <a:p>
            <a:pPr algn="l" indent="0" marL="0">
              <a:lnSpc>
                <a:spcPct val="150000"/>
              </a:lnSpc>
              <a:buNone/>
            </a:pPr>
            <a:r>
              <a:rPr lang="en-US" sz="1250" dirty="0">
                <a:solidFill>
                  <a:srgbClr val="3A4A6B"/>
                </a:solidFill>
                <a:latin typeface="Calibri" pitchFamily="34" charset="0"/>
                <a:ea typeface="Calibri" pitchFamily="34" charset="-122"/>
                <a:cs typeface="Calibri" pitchFamily="34" charset="-120"/>
              </a:rPr>
              <a:t>That's why every map, every compass, every GPS in the world starts with the same four letters.</a:t>
            </a:r>
            <a:endParaRPr lang="en-US" sz="1250" dirty="0"/>
          </a:p>
          <a:p>
            <a:pPr algn="l" indent="0" marL="0">
              <a:lnSpc>
                <a:spcPct val="150000"/>
              </a:lnSpc>
              <a:buNone/>
            </a:pPr>
            <a:endParaRPr lang="en-US" sz="1250" dirty="0"/>
          </a:p>
          <a:p>
            <a:pPr algn="l" indent="0" marL="0">
              <a:lnSpc>
                <a:spcPct val="150000"/>
              </a:lnSpc>
              <a:buNone/>
            </a:pPr>
            <a:r>
              <a:rPr lang="en-US" sz="1250" dirty="0">
                <a:solidFill>
                  <a:srgbClr val="3A4A6B"/>
                </a:solidFill>
                <a:latin typeface="Calibri" pitchFamily="34" charset="0"/>
                <a:ea typeface="Calibri" pitchFamily="34" charset="-122"/>
                <a:cs typeface="Calibri" pitchFamily="34" charset="-120"/>
              </a:rPr>
              <a:t>N.  S.  E.  W.</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3A2C1A"/>
        </a:solidFill>
      </p:bgPr>
    </p:bg>
    <p:spTree>
      <p:nvGrpSpPr>
        <p:cNvPr id="1" name=""/>
        <p:cNvGrpSpPr/>
        <p:nvPr/>
      </p:nvGrpSpPr>
      <p:grpSpPr>
        <a:xfrm>
          <a:off x="0" y="0"/>
          <a:ext cx="0" cy="0"/>
          <a:chOff x="0" y="0"/>
          <a:chExt cx="0" cy="0"/>
        </a:xfrm>
      </p:grpSpPr>
      <p:sp>
        <p:nvSpPr>
          <p:cNvPr id="2" name="Shape 0"/>
          <p:cNvSpPr/>
          <p:nvPr/>
        </p:nvSpPr>
        <p:spPr>
          <a:xfrm>
            <a:off x="1524000" y="0"/>
            <a:ext cx="0" cy="5148072"/>
          </a:xfrm>
          <a:prstGeom prst="line">
            <a:avLst/>
          </a:prstGeom>
          <a:noFill/>
          <a:ln w="7620">
            <a:solidFill>
              <a:srgbClr val="C4B49A">
                <a:alpha val="50000"/>
              </a:srgbClr>
            </a:solidFill>
            <a:prstDash val="solid"/>
          </a:ln>
        </p:spPr>
      </p:sp>
      <p:sp>
        <p:nvSpPr>
          <p:cNvPr id="3" name="Shape 1"/>
          <p:cNvSpPr/>
          <p:nvPr/>
        </p:nvSpPr>
        <p:spPr>
          <a:xfrm>
            <a:off x="3048000" y="0"/>
            <a:ext cx="0" cy="5148072"/>
          </a:xfrm>
          <a:prstGeom prst="line">
            <a:avLst/>
          </a:prstGeom>
          <a:noFill/>
          <a:ln w="7620">
            <a:solidFill>
              <a:srgbClr val="C4B49A">
                <a:alpha val="50000"/>
              </a:srgbClr>
            </a:solidFill>
            <a:prstDash val="solid"/>
          </a:ln>
        </p:spPr>
      </p:sp>
      <p:sp>
        <p:nvSpPr>
          <p:cNvPr id="4" name="Shape 2"/>
          <p:cNvSpPr/>
          <p:nvPr/>
        </p:nvSpPr>
        <p:spPr>
          <a:xfrm>
            <a:off x="4572000" y="0"/>
            <a:ext cx="0" cy="5148072"/>
          </a:xfrm>
          <a:prstGeom prst="line">
            <a:avLst/>
          </a:prstGeom>
          <a:noFill/>
          <a:ln w="7620">
            <a:solidFill>
              <a:srgbClr val="C4B49A">
                <a:alpha val="50000"/>
              </a:srgbClr>
            </a:solidFill>
            <a:prstDash val="solid"/>
          </a:ln>
        </p:spPr>
      </p:sp>
      <p:sp>
        <p:nvSpPr>
          <p:cNvPr id="5" name="Shape 3"/>
          <p:cNvSpPr/>
          <p:nvPr/>
        </p:nvSpPr>
        <p:spPr>
          <a:xfrm>
            <a:off x="6096000" y="0"/>
            <a:ext cx="0" cy="5148072"/>
          </a:xfrm>
          <a:prstGeom prst="line">
            <a:avLst/>
          </a:prstGeom>
          <a:noFill/>
          <a:ln w="7620">
            <a:solidFill>
              <a:srgbClr val="C4B49A">
                <a:alpha val="50000"/>
              </a:srgbClr>
            </a:solidFill>
            <a:prstDash val="solid"/>
          </a:ln>
        </p:spPr>
      </p:sp>
      <p:sp>
        <p:nvSpPr>
          <p:cNvPr id="6" name="Shape 4"/>
          <p:cNvSpPr/>
          <p:nvPr/>
        </p:nvSpPr>
        <p:spPr>
          <a:xfrm>
            <a:off x="7620000" y="0"/>
            <a:ext cx="0" cy="5148072"/>
          </a:xfrm>
          <a:prstGeom prst="line">
            <a:avLst/>
          </a:prstGeom>
          <a:noFill/>
          <a:ln w="7620">
            <a:solidFill>
              <a:srgbClr val="C4B49A">
                <a:alpha val="50000"/>
              </a:srgbClr>
            </a:solidFill>
            <a:prstDash val="solid"/>
          </a:ln>
        </p:spPr>
      </p:sp>
      <p:sp>
        <p:nvSpPr>
          <p:cNvPr id="7" name="Shape 5"/>
          <p:cNvSpPr/>
          <p:nvPr/>
        </p:nvSpPr>
        <p:spPr>
          <a:xfrm>
            <a:off x="0" y="1287018"/>
            <a:ext cx="9144000" cy="0"/>
          </a:xfrm>
          <a:prstGeom prst="line">
            <a:avLst/>
          </a:prstGeom>
          <a:noFill/>
          <a:ln w="7620">
            <a:solidFill>
              <a:srgbClr val="C4B49A">
                <a:alpha val="50000"/>
              </a:srgbClr>
            </a:solidFill>
            <a:prstDash val="solid"/>
          </a:ln>
        </p:spPr>
      </p:sp>
      <p:sp>
        <p:nvSpPr>
          <p:cNvPr id="8" name="Shape 6"/>
          <p:cNvSpPr/>
          <p:nvPr/>
        </p:nvSpPr>
        <p:spPr>
          <a:xfrm>
            <a:off x="0" y="2574036"/>
            <a:ext cx="9144000" cy="0"/>
          </a:xfrm>
          <a:prstGeom prst="line">
            <a:avLst/>
          </a:prstGeom>
          <a:noFill/>
          <a:ln w="7620">
            <a:solidFill>
              <a:srgbClr val="C4B49A">
                <a:alpha val="50000"/>
              </a:srgbClr>
            </a:solidFill>
            <a:prstDash val="solid"/>
          </a:ln>
        </p:spPr>
      </p:sp>
      <p:sp>
        <p:nvSpPr>
          <p:cNvPr id="9" name="Shape 7"/>
          <p:cNvSpPr/>
          <p:nvPr/>
        </p:nvSpPr>
        <p:spPr>
          <a:xfrm>
            <a:off x="0" y="3861054"/>
            <a:ext cx="9144000" cy="0"/>
          </a:xfrm>
          <a:prstGeom prst="line">
            <a:avLst/>
          </a:prstGeom>
          <a:noFill/>
          <a:ln w="7620">
            <a:solidFill>
              <a:srgbClr val="C4B49A">
                <a:alpha val="50000"/>
              </a:srgbClr>
            </a:solidFill>
            <a:prstDash val="solid"/>
          </a:ln>
        </p:spPr>
      </p:sp>
      <p:sp>
        <p:nvSpPr>
          <p:cNvPr id="10" name="Shape 8"/>
          <p:cNvSpPr/>
          <p:nvPr/>
        </p:nvSpPr>
        <p:spPr>
          <a:xfrm>
            <a:off x="914400" y="274320"/>
            <a:ext cx="7315200" cy="4572000"/>
          </a:xfrm>
          <a:prstGeom prst="ellipse">
            <a:avLst/>
          </a:prstGeom>
          <a:solidFill>
            <a:srgbClr val="D4943A">
              <a:alpha val="15000"/>
            </a:srgbClr>
          </a:solidFill>
          <a:ln w="12700">
            <a:solidFill>
              <a:srgbClr val="333333"/>
            </a:solidFill>
            <a:prstDash val="solid"/>
          </a:ln>
        </p:spPr>
      </p:sp>
      <p:sp>
        <p:nvSpPr>
          <p:cNvPr id="11" name="Shape 9"/>
          <p:cNvSpPr/>
          <p:nvPr/>
        </p:nvSpPr>
        <p:spPr>
          <a:xfrm>
            <a:off x="2523744" y="1280160"/>
            <a:ext cx="4096512" cy="2560320"/>
          </a:xfrm>
          <a:prstGeom prst="ellipse">
            <a:avLst/>
          </a:prstGeom>
          <a:solidFill>
            <a:srgbClr val="D4943A">
              <a:alpha val="26000"/>
            </a:srgbClr>
          </a:solidFill>
          <a:ln w="12700">
            <a:solidFill>
              <a:srgbClr val="333333"/>
            </a:solidFill>
            <a:prstDash val="solid"/>
          </a:ln>
        </p:spPr>
      </p:sp>
      <p:sp>
        <p:nvSpPr>
          <p:cNvPr id="12" name="Text 10"/>
          <p:cNvSpPr/>
          <p:nvPr/>
        </p:nvSpPr>
        <p:spPr>
          <a:xfrm>
            <a:off x="457200" y="128016"/>
            <a:ext cx="8229600" cy="457200"/>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The Compass Rose</a:t>
            </a:r>
            <a:endParaRPr lang="en-US" sz="2400" dirty="0"/>
          </a:p>
        </p:txBody>
      </p:sp>
      <p:sp>
        <p:nvSpPr>
          <p:cNvPr id="13" name="Shape 11"/>
          <p:cNvSpPr/>
          <p:nvPr/>
        </p:nvSpPr>
        <p:spPr>
          <a:xfrm>
            <a:off x="2743200" y="914400"/>
            <a:ext cx="3657600" cy="3657600"/>
          </a:xfrm>
          <a:prstGeom prst="ellipse">
            <a:avLst/>
          </a:prstGeom>
          <a:solidFill>
            <a:srgbClr val="C8A96A">
              <a:alpha val="12000"/>
            </a:srgbClr>
          </a:solidFill>
          <a:ln w="19050">
            <a:solidFill>
              <a:srgbClr val="D4943A"/>
            </a:solidFill>
            <a:prstDash val="solid"/>
          </a:ln>
        </p:spPr>
      </p:sp>
      <p:sp>
        <p:nvSpPr>
          <p:cNvPr id="14" name="Shape 12"/>
          <p:cNvSpPr/>
          <p:nvPr/>
        </p:nvSpPr>
        <p:spPr>
          <a:xfrm>
            <a:off x="4023360" y="2194560"/>
            <a:ext cx="1097280" cy="1097280"/>
          </a:xfrm>
          <a:prstGeom prst="ellipse">
            <a:avLst/>
          </a:prstGeom>
          <a:solidFill>
            <a:srgbClr val="B87A2A"/>
          </a:solidFill>
          <a:ln w="19050">
            <a:solidFill>
              <a:srgbClr val="D4943A"/>
            </a:solidFill>
            <a:prstDash val="solid"/>
          </a:ln>
        </p:spPr>
      </p:sp>
      <p:sp>
        <p:nvSpPr>
          <p:cNvPr id="15" name="Shape 13"/>
          <p:cNvSpPr/>
          <p:nvPr/>
        </p:nvSpPr>
        <p:spPr>
          <a:xfrm>
            <a:off x="4489704" y="914400"/>
            <a:ext cx="164592" cy="1280160"/>
          </a:xfrm>
          <a:prstGeom prst="rect">
            <a:avLst/>
          </a:prstGeom>
          <a:solidFill>
            <a:srgbClr val="9B1C2E"/>
          </a:solidFill>
          <a:ln w="12700">
            <a:solidFill>
              <a:srgbClr val="333333"/>
            </a:solidFill>
            <a:prstDash val="solid"/>
          </a:ln>
        </p:spPr>
      </p:sp>
      <p:sp>
        <p:nvSpPr>
          <p:cNvPr id="16" name="Text 14"/>
          <p:cNvSpPr/>
          <p:nvPr/>
        </p:nvSpPr>
        <p:spPr>
          <a:xfrm>
            <a:off x="4114800" y="566928"/>
            <a:ext cx="914400" cy="402336"/>
          </a:xfrm>
          <a:prstGeom prst="rect">
            <a:avLst/>
          </a:prstGeom>
          <a:noFill/>
          <a:ln/>
        </p:spPr>
        <p:txBody>
          <a:bodyPr wrap="square" lIns="0" tIns="0" rIns="0" bIns="0" rtlCol="0" anchor="ctr"/>
          <a:lstStyle/>
          <a:p>
            <a:pPr algn="ctr" indent="0" marL="0">
              <a:buNone/>
            </a:pPr>
            <a:r>
              <a:rPr lang="en-US" sz="1800" b="1" dirty="0">
                <a:solidFill>
                  <a:srgbClr val="FF4444"/>
                </a:solidFill>
                <a:latin typeface="Cambria" pitchFamily="34" charset="0"/>
                <a:ea typeface="Cambria" pitchFamily="34" charset="-122"/>
                <a:cs typeface="Cambria" pitchFamily="34" charset="-120"/>
              </a:rPr>
              <a:t>N</a:t>
            </a:r>
            <a:endParaRPr lang="en-US" sz="1800" dirty="0"/>
          </a:p>
        </p:txBody>
      </p:sp>
      <p:sp>
        <p:nvSpPr>
          <p:cNvPr id="17" name="Shape 15"/>
          <p:cNvSpPr/>
          <p:nvPr/>
        </p:nvSpPr>
        <p:spPr>
          <a:xfrm>
            <a:off x="4489704" y="3291840"/>
            <a:ext cx="164592" cy="1280160"/>
          </a:xfrm>
          <a:prstGeom prst="rect">
            <a:avLst/>
          </a:prstGeom>
          <a:solidFill>
            <a:srgbClr val="C8A96A"/>
          </a:solidFill>
          <a:ln w="12700">
            <a:solidFill>
              <a:srgbClr val="333333"/>
            </a:solidFill>
            <a:prstDash val="solid"/>
          </a:ln>
        </p:spPr>
      </p:sp>
      <p:sp>
        <p:nvSpPr>
          <p:cNvPr id="18" name="Text 16"/>
          <p:cNvSpPr/>
          <p:nvPr/>
        </p:nvSpPr>
        <p:spPr>
          <a:xfrm>
            <a:off x="4114800" y="4663440"/>
            <a:ext cx="914400" cy="402336"/>
          </a:xfrm>
          <a:prstGeom prst="rect">
            <a:avLst/>
          </a:prstGeom>
          <a:noFill/>
          <a:ln/>
        </p:spPr>
        <p:txBody>
          <a:bodyPr wrap="square" lIns="0" tIns="0" rIns="0" bIns="0" rtlCol="0" anchor="ctr"/>
          <a:lstStyle/>
          <a:p>
            <a:pPr algn="ctr" indent="0" marL="0">
              <a:buNone/>
            </a:pPr>
            <a:r>
              <a:rPr lang="en-US" sz="1800" b="1" dirty="0">
                <a:solidFill>
                  <a:srgbClr val="FDF3E0"/>
                </a:solidFill>
                <a:latin typeface="Cambria" pitchFamily="34" charset="0"/>
                <a:ea typeface="Cambria" pitchFamily="34" charset="-122"/>
                <a:cs typeface="Cambria" pitchFamily="34" charset="-120"/>
              </a:rPr>
              <a:t>S</a:t>
            </a:r>
            <a:endParaRPr lang="en-US" sz="1800" dirty="0"/>
          </a:p>
        </p:txBody>
      </p:sp>
      <p:sp>
        <p:nvSpPr>
          <p:cNvPr id="19" name="Shape 17"/>
          <p:cNvSpPr/>
          <p:nvPr/>
        </p:nvSpPr>
        <p:spPr>
          <a:xfrm>
            <a:off x="5120640" y="2660904"/>
            <a:ext cx="1280160" cy="164592"/>
          </a:xfrm>
          <a:prstGeom prst="rect">
            <a:avLst/>
          </a:prstGeom>
          <a:solidFill>
            <a:srgbClr val="C8A96A"/>
          </a:solidFill>
          <a:ln w="12700">
            <a:solidFill>
              <a:srgbClr val="333333"/>
            </a:solidFill>
            <a:prstDash val="solid"/>
          </a:ln>
        </p:spPr>
      </p:sp>
      <p:sp>
        <p:nvSpPr>
          <p:cNvPr id="20" name="Text 18"/>
          <p:cNvSpPr/>
          <p:nvPr/>
        </p:nvSpPr>
        <p:spPr>
          <a:xfrm>
            <a:off x="6400800" y="2468880"/>
            <a:ext cx="402336" cy="548640"/>
          </a:xfrm>
          <a:prstGeom prst="rect">
            <a:avLst/>
          </a:prstGeom>
          <a:noFill/>
          <a:ln/>
        </p:spPr>
        <p:txBody>
          <a:bodyPr wrap="square" lIns="0" tIns="0" rIns="0" bIns="0" rtlCol="0" anchor="ctr"/>
          <a:lstStyle/>
          <a:p>
            <a:pPr algn="ctr" indent="0" marL="0">
              <a:buNone/>
            </a:pPr>
            <a:r>
              <a:rPr lang="en-US" sz="1800" b="1" dirty="0">
                <a:solidFill>
                  <a:srgbClr val="FDF3E0"/>
                </a:solidFill>
                <a:latin typeface="Cambria" pitchFamily="34" charset="0"/>
                <a:ea typeface="Cambria" pitchFamily="34" charset="-122"/>
                <a:cs typeface="Cambria" pitchFamily="34" charset="-120"/>
              </a:rPr>
              <a:t>E</a:t>
            </a:r>
            <a:endParaRPr lang="en-US" sz="1800" dirty="0"/>
          </a:p>
        </p:txBody>
      </p:sp>
      <p:sp>
        <p:nvSpPr>
          <p:cNvPr id="21" name="Shape 19"/>
          <p:cNvSpPr/>
          <p:nvPr/>
        </p:nvSpPr>
        <p:spPr>
          <a:xfrm>
            <a:off x="2743200" y="2660904"/>
            <a:ext cx="1280160" cy="164592"/>
          </a:xfrm>
          <a:prstGeom prst="rect">
            <a:avLst/>
          </a:prstGeom>
          <a:solidFill>
            <a:srgbClr val="C8A96A"/>
          </a:solidFill>
          <a:ln w="12700">
            <a:solidFill>
              <a:srgbClr val="333333"/>
            </a:solidFill>
            <a:prstDash val="solid"/>
          </a:ln>
        </p:spPr>
      </p:sp>
      <p:sp>
        <p:nvSpPr>
          <p:cNvPr id="22" name="Text 20"/>
          <p:cNvSpPr/>
          <p:nvPr/>
        </p:nvSpPr>
        <p:spPr>
          <a:xfrm>
            <a:off x="2231136" y="2468880"/>
            <a:ext cx="512064" cy="548640"/>
          </a:xfrm>
          <a:prstGeom prst="rect">
            <a:avLst/>
          </a:prstGeom>
          <a:noFill/>
          <a:ln/>
        </p:spPr>
        <p:txBody>
          <a:bodyPr wrap="square" lIns="0" tIns="0" rIns="0" bIns="0" rtlCol="0" anchor="ctr"/>
          <a:lstStyle/>
          <a:p>
            <a:pPr algn="ctr" indent="0" marL="0">
              <a:buNone/>
            </a:pPr>
            <a:r>
              <a:rPr lang="en-US" sz="1800" b="1" dirty="0">
                <a:solidFill>
                  <a:srgbClr val="FDF3E0"/>
                </a:solidFill>
                <a:latin typeface="Cambria" pitchFamily="34" charset="0"/>
                <a:ea typeface="Cambria" pitchFamily="34" charset="-122"/>
                <a:cs typeface="Cambria" pitchFamily="34" charset="-120"/>
              </a:rPr>
              <a:t>W</a:t>
            </a:r>
            <a:endParaRPr lang="en-US" sz="1800" dirty="0"/>
          </a:p>
        </p:txBody>
      </p:sp>
      <p:sp>
        <p:nvSpPr>
          <p:cNvPr id="23" name="Text 21"/>
          <p:cNvSpPr/>
          <p:nvPr/>
        </p:nvSpPr>
        <p:spPr>
          <a:xfrm>
            <a:off x="5394960" y="1737360"/>
            <a:ext cx="512064"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NE</a:t>
            </a:r>
            <a:endParaRPr lang="en-US" sz="1200" dirty="0"/>
          </a:p>
        </p:txBody>
      </p:sp>
      <p:sp>
        <p:nvSpPr>
          <p:cNvPr id="24" name="Text 22"/>
          <p:cNvSpPr/>
          <p:nvPr/>
        </p:nvSpPr>
        <p:spPr>
          <a:xfrm>
            <a:off x="3182112" y="1737360"/>
            <a:ext cx="512064"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NW</a:t>
            </a:r>
            <a:endParaRPr lang="en-US" sz="1200" dirty="0"/>
          </a:p>
        </p:txBody>
      </p:sp>
      <p:sp>
        <p:nvSpPr>
          <p:cNvPr id="25" name="Text 23"/>
          <p:cNvSpPr/>
          <p:nvPr/>
        </p:nvSpPr>
        <p:spPr>
          <a:xfrm>
            <a:off x="5394960" y="4224528"/>
            <a:ext cx="512064"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SE</a:t>
            </a:r>
            <a:endParaRPr lang="en-US" sz="1200" dirty="0"/>
          </a:p>
        </p:txBody>
      </p:sp>
      <p:sp>
        <p:nvSpPr>
          <p:cNvPr id="26" name="Text 24"/>
          <p:cNvSpPr/>
          <p:nvPr/>
        </p:nvSpPr>
        <p:spPr>
          <a:xfrm>
            <a:off x="3127248" y="4224528"/>
            <a:ext cx="512064"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SW</a:t>
            </a:r>
            <a:endParaRPr lang="en-US" sz="1200" dirty="0"/>
          </a:p>
        </p:txBody>
      </p:sp>
      <p:sp>
        <p:nvSpPr>
          <p:cNvPr id="27" name="Shape 25"/>
          <p:cNvSpPr/>
          <p:nvPr/>
        </p:nvSpPr>
        <p:spPr>
          <a:xfrm>
            <a:off x="6949440" y="640080"/>
            <a:ext cx="1828800" cy="4169664"/>
          </a:xfrm>
          <a:prstGeom prst="roundRect">
            <a:avLst>
              <a:gd name="adj" fmla="val 4500"/>
            </a:avLst>
          </a:prstGeom>
          <a:solidFill>
            <a:srgbClr val="D4943A">
              <a:alpha val="10000"/>
            </a:srgbClr>
          </a:solidFill>
          <a:ln w="15240">
            <a:solidFill>
              <a:srgbClr val="D4943A"/>
            </a:solidFill>
            <a:prstDash val="solid"/>
          </a:ln>
        </p:spPr>
      </p:sp>
      <p:sp>
        <p:nvSpPr>
          <p:cNvPr id="28" name="Text 26"/>
          <p:cNvSpPr/>
          <p:nvPr/>
        </p:nvSpPr>
        <p:spPr>
          <a:xfrm>
            <a:off x="7059168" y="731520"/>
            <a:ext cx="1627632" cy="658368"/>
          </a:xfrm>
          <a:prstGeom prst="rect">
            <a:avLst/>
          </a:prstGeom>
          <a:noFill/>
          <a:ln/>
        </p:spPr>
        <p:txBody>
          <a:bodyPr wrap="square" lIns="0" tIns="0" rIns="0" bIns="0" rtlCol="0" anchor="ctr"/>
          <a:lstStyle/>
          <a:p>
            <a:pPr algn="ctr" indent="0" marL="0">
              <a:buNone/>
            </a:pPr>
            <a:r>
              <a:rPr lang="en-US" sz="1100" b="1" dirty="0">
                <a:solidFill>
                  <a:srgbClr val="B87A2A"/>
                </a:solidFill>
                <a:latin typeface="Cambria" pitchFamily="34" charset="0"/>
                <a:ea typeface="Cambria" pitchFamily="34" charset="-122"/>
                <a:cs typeface="Cambria" pitchFamily="34" charset="-120"/>
              </a:rPr>
              <a:t>Cardinal</a:t>
            </a:r>
            <a:endParaRPr lang="en-US" sz="1100" dirty="0"/>
          </a:p>
          <a:p>
            <a:pPr algn="ctr" indent="0" marL="0">
              <a:buNone/>
            </a:pPr>
            <a:r>
              <a:rPr lang="en-US" sz="1100" b="1" dirty="0">
                <a:solidFill>
                  <a:srgbClr val="B87A2A"/>
                </a:solidFill>
                <a:latin typeface="Cambria" pitchFamily="34" charset="0"/>
                <a:ea typeface="Cambria" pitchFamily="34" charset="-122"/>
                <a:cs typeface="Cambria" pitchFamily="34" charset="-120"/>
              </a:rPr>
              <a:t>4 Directions</a:t>
            </a:r>
            <a:endParaRPr lang="en-US" sz="1100" dirty="0"/>
          </a:p>
        </p:txBody>
      </p:sp>
      <p:sp>
        <p:nvSpPr>
          <p:cNvPr id="29" name="Text 27"/>
          <p:cNvSpPr/>
          <p:nvPr/>
        </p:nvSpPr>
        <p:spPr>
          <a:xfrm>
            <a:off x="7059168" y="1408176"/>
            <a:ext cx="1627632" cy="402336"/>
          </a:xfrm>
          <a:prstGeom prst="rect">
            <a:avLst/>
          </a:prstGeom>
          <a:noFill/>
          <a:ln/>
        </p:spPr>
        <p:txBody>
          <a:bodyPr wrap="square" lIns="0" tIns="0" rIns="0" bIns="0" rtlCol="0" anchor="ctr"/>
          <a:lstStyle/>
          <a:p>
            <a:pPr algn="ctr" indent="0" marL="0">
              <a:buNone/>
            </a:pPr>
            <a:r>
              <a:rPr lang="en-US" sz="1300" b="1" dirty="0">
                <a:solidFill>
                  <a:srgbClr val="FF4444"/>
                </a:solidFill>
                <a:latin typeface="Cambria" pitchFamily="34" charset="0"/>
                <a:ea typeface="Cambria" pitchFamily="34" charset="-122"/>
                <a:cs typeface="Cambria" pitchFamily="34" charset="-120"/>
              </a:rPr>
              <a:t>N  S  E  W</a:t>
            </a:r>
            <a:endParaRPr lang="en-US" sz="1300" dirty="0"/>
          </a:p>
        </p:txBody>
      </p:sp>
      <p:sp>
        <p:nvSpPr>
          <p:cNvPr id="30" name="Text 28"/>
          <p:cNvSpPr/>
          <p:nvPr/>
        </p:nvSpPr>
        <p:spPr>
          <a:xfrm>
            <a:off x="7059168" y="1920240"/>
            <a:ext cx="1627632" cy="658368"/>
          </a:xfrm>
          <a:prstGeom prst="rect">
            <a:avLst/>
          </a:prstGeom>
          <a:noFill/>
          <a:ln/>
        </p:spPr>
        <p:txBody>
          <a:bodyPr wrap="square" lIns="0" tIns="0" rIns="0" bIns="0" rtlCol="0" anchor="ctr"/>
          <a:lstStyle/>
          <a:p>
            <a:pPr algn="ctr" indent="0" marL="0">
              <a:buNone/>
            </a:pPr>
            <a:r>
              <a:rPr lang="en-US" sz="1100" b="1" dirty="0">
                <a:solidFill>
                  <a:srgbClr val="4A8A42"/>
                </a:solidFill>
                <a:latin typeface="Cambria" pitchFamily="34" charset="0"/>
                <a:ea typeface="Cambria" pitchFamily="34" charset="-122"/>
                <a:cs typeface="Cambria" pitchFamily="34" charset="-120"/>
              </a:rPr>
              <a:t>Intermediate</a:t>
            </a:r>
            <a:endParaRPr lang="en-US" sz="1100" dirty="0"/>
          </a:p>
          <a:p>
            <a:pPr algn="ctr" indent="0" marL="0">
              <a:buNone/>
            </a:pPr>
            <a:r>
              <a:rPr lang="en-US" sz="1100" b="1" dirty="0">
                <a:solidFill>
                  <a:srgbClr val="4A8A42"/>
                </a:solidFill>
                <a:latin typeface="Cambria" pitchFamily="34" charset="0"/>
                <a:ea typeface="Cambria" pitchFamily="34" charset="-122"/>
                <a:cs typeface="Cambria" pitchFamily="34" charset="-120"/>
              </a:rPr>
              <a:t>4 Directions</a:t>
            </a:r>
            <a:endParaRPr lang="en-US" sz="1100" dirty="0"/>
          </a:p>
        </p:txBody>
      </p:sp>
      <p:sp>
        <p:nvSpPr>
          <p:cNvPr id="31" name="Text 29"/>
          <p:cNvSpPr/>
          <p:nvPr/>
        </p:nvSpPr>
        <p:spPr>
          <a:xfrm>
            <a:off x="7059168" y="2596896"/>
            <a:ext cx="1627632" cy="402336"/>
          </a:xfrm>
          <a:prstGeom prst="rect">
            <a:avLst/>
          </a:prstGeom>
          <a:noFill/>
          <a:ln/>
        </p:spPr>
        <p:txBody>
          <a:bodyPr wrap="square" lIns="0" tIns="0" rIns="0" bIns="0" rtlCol="0" anchor="ctr"/>
          <a:lstStyle/>
          <a:p>
            <a:pPr algn="ctr" indent="0" marL="0">
              <a:buNone/>
            </a:pPr>
            <a:r>
              <a:rPr lang="en-US" sz="1200" b="1" dirty="0">
                <a:solidFill>
                  <a:srgbClr val="D4EDD0"/>
                </a:solidFill>
                <a:latin typeface="Cambria" pitchFamily="34" charset="0"/>
                <a:ea typeface="Cambria" pitchFamily="34" charset="-122"/>
                <a:cs typeface="Cambria" pitchFamily="34" charset="-120"/>
              </a:rPr>
              <a:t>NE NW SE SW</a:t>
            </a:r>
            <a:endParaRPr lang="en-US" sz="1200" dirty="0"/>
          </a:p>
        </p:txBody>
      </p:sp>
      <p:sp>
        <p:nvSpPr>
          <p:cNvPr id="32" name="Text 30"/>
          <p:cNvSpPr/>
          <p:nvPr/>
        </p:nvSpPr>
        <p:spPr>
          <a:xfrm>
            <a:off x="7059168" y="3108960"/>
            <a:ext cx="1627632" cy="658368"/>
          </a:xfrm>
          <a:prstGeom prst="rect">
            <a:avLst/>
          </a:prstGeom>
          <a:noFill/>
          <a:ln/>
        </p:spPr>
        <p:txBody>
          <a:bodyPr wrap="square" lIns="0" tIns="0" rIns="0" bIns="0" rtlCol="0" anchor="ctr"/>
          <a:lstStyle/>
          <a:p>
            <a:pPr algn="ctr" indent="0" marL="0">
              <a:buNone/>
            </a:pPr>
            <a:r>
              <a:rPr lang="en-US" sz="1100" b="1" dirty="0">
                <a:solidFill>
                  <a:srgbClr val="D4943A"/>
                </a:solidFill>
                <a:latin typeface="Cambria" pitchFamily="34" charset="0"/>
                <a:ea typeface="Cambria" pitchFamily="34" charset="-122"/>
                <a:cs typeface="Cambria" pitchFamily="34" charset="-120"/>
              </a:rPr>
              <a:t>Together =</a:t>
            </a:r>
            <a:endParaRPr lang="en-US" sz="1100" dirty="0"/>
          </a:p>
          <a:p>
            <a:pPr algn="ctr" indent="0" marL="0">
              <a:buNone/>
            </a:pPr>
            <a:r>
              <a:rPr lang="en-US" sz="1100" b="1" dirty="0">
                <a:solidFill>
                  <a:srgbClr val="D4943A"/>
                </a:solidFill>
                <a:latin typeface="Cambria" pitchFamily="34" charset="0"/>
                <a:ea typeface="Cambria" pitchFamily="34" charset="-122"/>
                <a:cs typeface="Cambria" pitchFamily="34" charset="-120"/>
              </a:rPr>
              <a:t>8 Points</a:t>
            </a:r>
            <a:endParaRPr lang="en-US" sz="1100" dirty="0"/>
          </a:p>
        </p:txBody>
      </p:sp>
      <p:sp>
        <p:nvSpPr>
          <p:cNvPr id="33" name="Text 31"/>
          <p:cNvSpPr/>
          <p:nvPr/>
        </p:nvSpPr>
        <p:spPr>
          <a:xfrm>
            <a:off x="7059168" y="3785616"/>
            <a:ext cx="1627632" cy="402336"/>
          </a:xfrm>
          <a:prstGeom prst="rect">
            <a:avLst/>
          </a:prstGeom>
          <a:noFill/>
          <a:ln/>
        </p:spPr>
        <p:txBody>
          <a:bodyPr wrap="square" lIns="0" tIns="0" rIns="0" bIns="0" rtlCol="0" anchor="ctr"/>
          <a:lstStyle/>
          <a:p>
            <a:pPr algn="ctr" indent="0" marL="0">
              <a:buNone/>
            </a:pPr>
            <a:r>
              <a:rPr lang="en-US" sz="1000" i="1" dirty="0">
                <a:solidFill>
                  <a:srgbClr val="F5EDD8"/>
                </a:solidFill>
                <a:latin typeface="Calibri" pitchFamily="34" charset="0"/>
                <a:ea typeface="Calibri" pitchFamily="34" charset="-122"/>
                <a:cs typeface="Calibri" pitchFamily="34" charset="-120"/>
              </a:rPr>
              <a:t>of a compass</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AF5"/>
        </a:solidFill>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B87A2A"/>
          </a:solidFill>
          <a:ln w="12700">
            <a:solidFill>
              <a:srgbClr val="333333"/>
            </a:solidFill>
            <a:prstDash val="solid"/>
          </a:ln>
        </p:spPr>
      </p:sp>
      <p:sp>
        <p:nvSpPr>
          <p:cNvPr id="3" name="Text 1"/>
          <p:cNvSpPr/>
          <p:nvPr/>
        </p:nvSpPr>
        <p:spPr>
          <a:xfrm>
            <a:off x="457200" y="54864"/>
            <a:ext cx="8229600" cy="530352"/>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Memory Tools for Directions</a:t>
            </a:r>
            <a:endParaRPr lang="en-US" sz="2200" dirty="0"/>
          </a:p>
        </p:txBody>
      </p:sp>
      <p:sp>
        <p:nvSpPr>
          <p:cNvPr id="4" name="Shape 2"/>
          <p:cNvSpPr/>
          <p:nvPr/>
        </p:nvSpPr>
        <p:spPr>
          <a:xfrm>
            <a:off x="402336" y="768096"/>
            <a:ext cx="8339328" cy="1828800"/>
          </a:xfrm>
          <a:prstGeom prst="roundRect">
            <a:avLst>
              <a:gd name="adj" fmla="val 5000"/>
            </a:avLst>
          </a:prstGeom>
          <a:solidFill>
            <a:srgbClr val="B87A2A">
              <a:alpha val="12000"/>
            </a:srgbClr>
          </a:solidFill>
          <a:ln w="19050">
            <a:solidFill>
              <a:srgbClr val="B87A2A"/>
            </a:solidFill>
            <a:prstDash val="solid"/>
          </a:ln>
        </p:spPr>
      </p:sp>
      <p:sp>
        <p:nvSpPr>
          <p:cNvPr id="5" name="Text 3"/>
          <p:cNvSpPr/>
          <p:nvPr/>
        </p:nvSpPr>
        <p:spPr>
          <a:xfrm>
            <a:off x="585216" y="841248"/>
            <a:ext cx="7973568" cy="402336"/>
          </a:xfrm>
          <a:prstGeom prst="rect">
            <a:avLst/>
          </a:prstGeom>
          <a:noFill/>
          <a:ln/>
        </p:spPr>
        <p:txBody>
          <a:bodyPr wrap="square" lIns="0" tIns="0" rIns="0" bIns="0" rtlCol="0" anchor="ctr"/>
          <a:lstStyle/>
          <a:p>
            <a:pPr indent="0" marL="0">
              <a:buNone/>
            </a:pPr>
            <a:r>
              <a:rPr lang="en-US" sz="1300" b="1" dirty="0">
                <a:solidFill>
                  <a:srgbClr val="B87A2A"/>
                </a:solidFill>
                <a:latin typeface="Cambria" pitchFamily="34" charset="0"/>
                <a:ea typeface="Cambria" pitchFamily="34" charset="-122"/>
                <a:cs typeface="Cambria" pitchFamily="34" charset="-120"/>
              </a:rPr>
              <a:t>Cardinal Direction Mnemonic:</a:t>
            </a:r>
            <a:endParaRPr lang="en-US" sz="1300" dirty="0"/>
          </a:p>
        </p:txBody>
      </p:sp>
      <p:sp>
        <p:nvSpPr>
          <p:cNvPr id="6" name="Text 4"/>
          <p:cNvSpPr/>
          <p:nvPr/>
        </p:nvSpPr>
        <p:spPr>
          <a:xfrm>
            <a:off x="585216" y="1261872"/>
            <a:ext cx="7973568" cy="1243584"/>
          </a:xfrm>
          <a:prstGeom prst="rect">
            <a:avLst/>
          </a:prstGeom>
          <a:noFill/>
          <a:ln/>
        </p:spPr>
        <p:txBody>
          <a:bodyPr wrap="square" lIns="0" tIns="0" rIns="0" bIns="0" rtlCol="0" anchor="ctr"/>
          <a:lstStyle/>
          <a:p>
            <a:pPr indent="0" marL="0">
              <a:lnSpc>
                <a:spcPct val="140000"/>
              </a:lnSpc>
              <a:buNone/>
            </a:pPr>
            <a:r>
              <a:rPr lang="en-US" sz="1300" dirty="0">
                <a:solidFill>
                  <a:srgbClr val="3A4A6B"/>
                </a:solidFill>
                <a:latin typeface="Calibri" pitchFamily="34" charset="0"/>
                <a:ea typeface="Calibri" pitchFamily="34" charset="-122"/>
                <a:cs typeface="Calibri" pitchFamily="34" charset="-120"/>
              </a:rPr>
              <a:t>Never Eat Soggy Waffles  →  N-E-S-W (clockwise from North)</a:t>
            </a:r>
            <a:endParaRPr lang="en-US" sz="1300" dirty="0"/>
          </a:p>
          <a:p>
            <a:pPr indent="0" marL="0">
              <a:lnSpc>
                <a:spcPct val="140000"/>
              </a:lnSpc>
              <a:buNone/>
            </a:pPr>
            <a:endParaRPr lang="en-US" sz="1300" dirty="0"/>
          </a:p>
          <a:p>
            <a:pPr indent="0" marL="0">
              <a:lnSpc>
                <a:spcPct val="140000"/>
              </a:lnSpc>
              <a:buNone/>
            </a:pPr>
            <a:r>
              <a:rPr lang="en-US" sz="1300" dirty="0">
                <a:solidFill>
                  <a:srgbClr val="3A4A6B"/>
                </a:solidFill>
                <a:latin typeface="Calibri" pitchFamily="34" charset="0"/>
                <a:ea typeface="Calibri" pitchFamily="34" charset="-122"/>
                <a:cs typeface="Calibri" pitchFamily="34" charset="-120"/>
              </a:rPr>
              <a:t>Or make your own: Never Eat Slimy Worms? Never Eat Spinach... Whatever?</a:t>
            </a:r>
            <a:endParaRPr lang="en-US" sz="1300" dirty="0"/>
          </a:p>
          <a:p>
            <a:pPr indent="0" marL="0">
              <a:lnSpc>
                <a:spcPct val="140000"/>
              </a:lnSpc>
              <a:buNone/>
            </a:pPr>
            <a:r>
              <a:rPr lang="en-US" sz="1300" dirty="0">
                <a:solidFill>
                  <a:srgbClr val="3A4A6B"/>
                </a:solidFill>
                <a:latin typeface="Calibri" pitchFamily="34" charset="0"/>
                <a:ea typeface="Calibri" pitchFamily="34" charset="-122"/>
                <a:cs typeface="Calibri" pitchFamily="34" charset="-120"/>
              </a:rPr>
              <a:t>The sentence just has to start with N, E, S, W — in that clockwise order.</a:t>
            </a:r>
            <a:endParaRPr lang="en-US" sz="1300" dirty="0"/>
          </a:p>
        </p:txBody>
      </p:sp>
      <p:sp>
        <p:nvSpPr>
          <p:cNvPr id="7" name="Shape 5"/>
          <p:cNvSpPr/>
          <p:nvPr/>
        </p:nvSpPr>
        <p:spPr>
          <a:xfrm>
            <a:off x="402336" y="2706624"/>
            <a:ext cx="8339328" cy="2194560"/>
          </a:xfrm>
          <a:prstGeom prst="roundRect">
            <a:avLst>
              <a:gd name="adj" fmla="val 4167"/>
            </a:avLst>
          </a:prstGeom>
          <a:solidFill>
            <a:srgbClr val="2D5A27">
              <a:alpha val="10000"/>
            </a:srgbClr>
          </a:solidFill>
          <a:ln w="19050">
            <a:solidFill>
              <a:srgbClr val="4A8A42"/>
            </a:solidFill>
            <a:prstDash val="solid"/>
          </a:ln>
        </p:spPr>
      </p:sp>
      <p:sp>
        <p:nvSpPr>
          <p:cNvPr id="8" name="Text 6"/>
          <p:cNvSpPr/>
          <p:nvPr/>
        </p:nvSpPr>
        <p:spPr>
          <a:xfrm>
            <a:off x="585216" y="2779776"/>
            <a:ext cx="7973568" cy="402336"/>
          </a:xfrm>
          <a:prstGeom prst="rect">
            <a:avLst/>
          </a:prstGeom>
          <a:noFill/>
          <a:ln/>
        </p:spPr>
        <p:txBody>
          <a:bodyPr wrap="square" lIns="0" tIns="0" rIns="0" bIns="0" rtlCol="0" anchor="ctr"/>
          <a:lstStyle/>
          <a:p>
            <a:pPr indent="0" marL="0">
              <a:buNone/>
            </a:pPr>
            <a:r>
              <a:rPr lang="en-US" sz="1300" b="1" dirty="0">
                <a:solidFill>
                  <a:srgbClr val="4A8A42"/>
                </a:solidFill>
                <a:latin typeface="Cambria" pitchFamily="34" charset="0"/>
                <a:ea typeface="Cambria" pitchFamily="34" charset="-122"/>
                <a:cs typeface="Cambria" pitchFamily="34" charset="-120"/>
              </a:rPr>
              <a:t>Why Clockwise?</a:t>
            </a:r>
            <a:endParaRPr lang="en-US" sz="1300" dirty="0"/>
          </a:p>
        </p:txBody>
      </p:sp>
      <p:sp>
        <p:nvSpPr>
          <p:cNvPr id="9" name="Text 7"/>
          <p:cNvSpPr/>
          <p:nvPr/>
        </p:nvSpPr>
        <p:spPr>
          <a:xfrm>
            <a:off x="585216" y="3218688"/>
            <a:ext cx="7973568" cy="1572768"/>
          </a:xfrm>
          <a:prstGeom prst="rect">
            <a:avLst/>
          </a:prstGeom>
          <a:noFill/>
          <a:ln/>
        </p:spPr>
        <p:txBody>
          <a:bodyPr wrap="square" lIns="0" tIns="0" rIns="0" bIns="0" rtlCol="0" anchor="ctr"/>
          <a:lstStyle/>
          <a:p>
            <a:pPr indent="0" marL="0">
              <a:lnSpc>
                <a:spcPct val="140000"/>
              </a:lnSpc>
              <a:buNone/>
            </a:pPr>
            <a:r>
              <a:rPr lang="en-US" sz="1250" dirty="0">
                <a:solidFill>
                  <a:srgbClr val="3A4A6B"/>
                </a:solidFill>
                <a:latin typeface="Calibri" pitchFamily="34" charset="0"/>
                <a:ea typeface="Calibri" pitchFamily="34" charset="-122"/>
                <a:cs typeface="Calibri" pitchFamily="34" charset="-120"/>
              </a:rPr>
              <a:t>The convention of reading compass points clockwise (N→E→S→W) comes from the way early compasses were read — the needle points North, and the face is read clockwise, like a clock. This was standardized in medieval Europe and has never changed.</a:t>
            </a:r>
            <a:endParaRPr lang="en-US" sz="1250" dirty="0"/>
          </a:p>
          <a:p>
            <a:pPr indent="0" marL="0">
              <a:lnSpc>
                <a:spcPct val="140000"/>
              </a:lnSpc>
              <a:buNone/>
            </a:pPr>
            <a:endParaRPr lang="en-US" sz="1250" dirty="0"/>
          </a:p>
          <a:p>
            <a:pPr indent="0" marL="0">
              <a:lnSpc>
                <a:spcPct val="140000"/>
              </a:lnSpc>
              <a:buNone/>
            </a:pPr>
            <a:r>
              <a:rPr lang="en-US" sz="1250" dirty="0">
                <a:solidFill>
                  <a:srgbClr val="3A4A6B"/>
                </a:solidFill>
                <a:latin typeface="Calibri" pitchFamily="34" charset="0"/>
                <a:ea typeface="Calibri" pitchFamily="34" charset="-122"/>
                <a:cs typeface="Calibri" pitchFamily="34" charset="-120"/>
              </a:rPr>
              <a:t>Intermediate directions fill the gaps: NE is between N and E, SE is between S and E, and so on.</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3A2C1A"/>
        </a:solidFill>
      </p:bgPr>
    </p:bg>
    <p:spTree>
      <p:nvGrpSpPr>
        <p:cNvPr id="1" name=""/>
        <p:cNvGrpSpPr/>
        <p:nvPr/>
      </p:nvGrpSpPr>
      <p:grpSpPr>
        <a:xfrm>
          <a:off x="0" y="0"/>
          <a:ext cx="0" cy="0"/>
          <a:chOff x="0" y="0"/>
          <a:chExt cx="0" cy="0"/>
        </a:xfrm>
      </p:grpSpPr>
      <p:sp>
        <p:nvSpPr>
          <p:cNvPr id="2" name="Shape 0"/>
          <p:cNvSpPr/>
          <p:nvPr/>
        </p:nvSpPr>
        <p:spPr>
          <a:xfrm>
            <a:off x="1524000" y="0"/>
            <a:ext cx="0" cy="5148072"/>
          </a:xfrm>
          <a:prstGeom prst="line">
            <a:avLst/>
          </a:prstGeom>
          <a:noFill/>
          <a:ln w="7620">
            <a:solidFill>
              <a:srgbClr val="C4B49A">
                <a:alpha val="50000"/>
              </a:srgbClr>
            </a:solidFill>
            <a:prstDash val="solid"/>
          </a:ln>
        </p:spPr>
      </p:sp>
      <p:sp>
        <p:nvSpPr>
          <p:cNvPr id="3" name="Shape 1"/>
          <p:cNvSpPr/>
          <p:nvPr/>
        </p:nvSpPr>
        <p:spPr>
          <a:xfrm>
            <a:off x="3048000" y="0"/>
            <a:ext cx="0" cy="5148072"/>
          </a:xfrm>
          <a:prstGeom prst="line">
            <a:avLst/>
          </a:prstGeom>
          <a:noFill/>
          <a:ln w="7620">
            <a:solidFill>
              <a:srgbClr val="C4B49A">
                <a:alpha val="50000"/>
              </a:srgbClr>
            </a:solidFill>
            <a:prstDash val="solid"/>
          </a:ln>
        </p:spPr>
      </p:sp>
      <p:sp>
        <p:nvSpPr>
          <p:cNvPr id="4" name="Shape 2"/>
          <p:cNvSpPr/>
          <p:nvPr/>
        </p:nvSpPr>
        <p:spPr>
          <a:xfrm>
            <a:off x="4572000" y="0"/>
            <a:ext cx="0" cy="5148072"/>
          </a:xfrm>
          <a:prstGeom prst="line">
            <a:avLst/>
          </a:prstGeom>
          <a:noFill/>
          <a:ln w="7620">
            <a:solidFill>
              <a:srgbClr val="C4B49A">
                <a:alpha val="50000"/>
              </a:srgbClr>
            </a:solidFill>
            <a:prstDash val="solid"/>
          </a:ln>
        </p:spPr>
      </p:sp>
      <p:sp>
        <p:nvSpPr>
          <p:cNvPr id="5" name="Shape 3"/>
          <p:cNvSpPr/>
          <p:nvPr/>
        </p:nvSpPr>
        <p:spPr>
          <a:xfrm>
            <a:off x="6096000" y="0"/>
            <a:ext cx="0" cy="5148072"/>
          </a:xfrm>
          <a:prstGeom prst="line">
            <a:avLst/>
          </a:prstGeom>
          <a:noFill/>
          <a:ln w="7620">
            <a:solidFill>
              <a:srgbClr val="C4B49A">
                <a:alpha val="50000"/>
              </a:srgbClr>
            </a:solidFill>
            <a:prstDash val="solid"/>
          </a:ln>
        </p:spPr>
      </p:sp>
      <p:sp>
        <p:nvSpPr>
          <p:cNvPr id="6" name="Shape 4"/>
          <p:cNvSpPr/>
          <p:nvPr/>
        </p:nvSpPr>
        <p:spPr>
          <a:xfrm>
            <a:off x="7620000" y="0"/>
            <a:ext cx="0" cy="5148072"/>
          </a:xfrm>
          <a:prstGeom prst="line">
            <a:avLst/>
          </a:prstGeom>
          <a:noFill/>
          <a:ln w="7620">
            <a:solidFill>
              <a:srgbClr val="C4B49A">
                <a:alpha val="50000"/>
              </a:srgbClr>
            </a:solidFill>
            <a:prstDash val="solid"/>
          </a:ln>
        </p:spPr>
      </p:sp>
      <p:sp>
        <p:nvSpPr>
          <p:cNvPr id="7" name="Shape 5"/>
          <p:cNvSpPr/>
          <p:nvPr/>
        </p:nvSpPr>
        <p:spPr>
          <a:xfrm>
            <a:off x="0" y="1287018"/>
            <a:ext cx="9144000" cy="0"/>
          </a:xfrm>
          <a:prstGeom prst="line">
            <a:avLst/>
          </a:prstGeom>
          <a:noFill/>
          <a:ln w="7620">
            <a:solidFill>
              <a:srgbClr val="C4B49A">
                <a:alpha val="50000"/>
              </a:srgbClr>
            </a:solidFill>
            <a:prstDash val="solid"/>
          </a:ln>
        </p:spPr>
      </p:sp>
      <p:sp>
        <p:nvSpPr>
          <p:cNvPr id="8" name="Shape 6"/>
          <p:cNvSpPr/>
          <p:nvPr/>
        </p:nvSpPr>
        <p:spPr>
          <a:xfrm>
            <a:off x="0" y="2574036"/>
            <a:ext cx="9144000" cy="0"/>
          </a:xfrm>
          <a:prstGeom prst="line">
            <a:avLst/>
          </a:prstGeom>
          <a:noFill/>
          <a:ln w="7620">
            <a:solidFill>
              <a:srgbClr val="C4B49A">
                <a:alpha val="50000"/>
              </a:srgbClr>
            </a:solidFill>
            <a:prstDash val="solid"/>
          </a:ln>
        </p:spPr>
      </p:sp>
      <p:sp>
        <p:nvSpPr>
          <p:cNvPr id="9" name="Shape 7"/>
          <p:cNvSpPr/>
          <p:nvPr/>
        </p:nvSpPr>
        <p:spPr>
          <a:xfrm>
            <a:off x="0" y="3861054"/>
            <a:ext cx="9144000" cy="0"/>
          </a:xfrm>
          <a:prstGeom prst="line">
            <a:avLst/>
          </a:prstGeom>
          <a:noFill/>
          <a:ln w="7620">
            <a:solidFill>
              <a:srgbClr val="C4B49A">
                <a:alpha val="50000"/>
              </a:srgbClr>
            </a:solidFill>
            <a:prstDash val="solid"/>
          </a:ln>
        </p:spPr>
      </p:sp>
      <p:sp>
        <p:nvSpPr>
          <p:cNvPr id="10" name="Shape 8"/>
          <p:cNvSpPr/>
          <p:nvPr/>
        </p:nvSpPr>
        <p:spPr>
          <a:xfrm>
            <a:off x="457200" y="502920"/>
            <a:ext cx="8229600" cy="4114800"/>
          </a:xfrm>
          <a:prstGeom prst="ellipse">
            <a:avLst/>
          </a:prstGeom>
          <a:solidFill>
            <a:srgbClr val="D4943A">
              <a:alpha val="15000"/>
            </a:srgbClr>
          </a:solidFill>
          <a:ln w="12700">
            <a:solidFill>
              <a:srgbClr val="333333"/>
            </a:solidFill>
            <a:prstDash val="solid"/>
          </a:ln>
        </p:spPr>
      </p:sp>
      <p:sp>
        <p:nvSpPr>
          <p:cNvPr id="11" name="Shape 9"/>
          <p:cNvSpPr/>
          <p:nvPr/>
        </p:nvSpPr>
        <p:spPr>
          <a:xfrm>
            <a:off x="2267712" y="1408176"/>
            <a:ext cx="4608576" cy="2304288"/>
          </a:xfrm>
          <a:prstGeom prst="ellipse">
            <a:avLst/>
          </a:prstGeom>
          <a:solidFill>
            <a:srgbClr val="D4943A">
              <a:alpha val="26000"/>
            </a:srgbClr>
          </a:solidFill>
          <a:ln w="12700">
            <a:solidFill>
              <a:srgbClr val="333333"/>
            </a:solidFill>
            <a:prstDash val="solid"/>
          </a:ln>
        </p:spPr>
      </p:sp>
      <p:sp>
        <p:nvSpPr>
          <p:cNvPr id="12" name="Text 10"/>
          <p:cNvSpPr/>
          <p:nvPr/>
        </p:nvSpPr>
        <p:spPr>
          <a:xfrm>
            <a:off x="457200" y="164592"/>
            <a:ext cx="8229600" cy="47548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Using Directions to Describe Location</a:t>
            </a:r>
            <a:endParaRPr lang="en-US" sz="2400" dirty="0"/>
          </a:p>
        </p:txBody>
      </p:sp>
      <p:sp>
        <p:nvSpPr>
          <p:cNvPr id="13" name="Shape 11"/>
          <p:cNvSpPr/>
          <p:nvPr/>
        </p:nvSpPr>
        <p:spPr>
          <a:xfrm>
            <a:off x="402336" y="768096"/>
            <a:ext cx="8339328" cy="548640"/>
          </a:xfrm>
          <a:prstGeom prst="roundRect">
            <a:avLst>
              <a:gd name="adj" fmla="val 15000"/>
            </a:avLst>
          </a:prstGeom>
          <a:solidFill>
            <a:srgbClr val="D4943A">
              <a:alpha val="18000"/>
            </a:srgbClr>
          </a:solidFill>
          <a:ln w="19050">
            <a:solidFill>
              <a:srgbClr val="D4943A"/>
            </a:solidFill>
            <a:prstDash val="solid"/>
          </a:ln>
        </p:spPr>
      </p:sp>
      <p:sp>
        <p:nvSpPr>
          <p:cNvPr id="14" name="Text 12"/>
          <p:cNvSpPr/>
          <p:nvPr/>
        </p:nvSpPr>
        <p:spPr>
          <a:xfrm>
            <a:off x="585216" y="804672"/>
            <a:ext cx="7973568" cy="475488"/>
          </a:xfrm>
          <a:prstGeom prst="rect">
            <a:avLst/>
          </a:prstGeom>
          <a:noFill/>
          <a:ln/>
        </p:spPr>
        <p:txBody>
          <a:bodyPr wrap="square" lIns="0" tIns="0" rIns="0" bIns="0" rtlCol="0" anchor="ctr"/>
          <a:lstStyle/>
          <a:p>
            <a:pPr algn="ctr" indent="0" marL="0">
              <a:buNone/>
            </a:pPr>
            <a:r>
              <a:rPr lang="en-US" sz="1250" b="1" dirty="0">
                <a:solidFill>
                  <a:srgbClr val="3A2C1A"/>
                </a:solidFill>
                <a:latin typeface="Calibri" pitchFamily="34" charset="0"/>
                <a:ea typeface="Calibri" pitchFamily="34" charset="-122"/>
                <a:cs typeface="Calibri" pitchFamily="34" charset="-120"/>
              </a:rPr>
              <a:t>Directions help us say WHERE something is RELATIVE to something else. Practice these patterns:</a:t>
            </a:r>
            <a:endParaRPr lang="en-US" sz="1250" dirty="0"/>
          </a:p>
        </p:txBody>
      </p:sp>
      <p:sp>
        <p:nvSpPr>
          <p:cNvPr id="15" name="Shape 13"/>
          <p:cNvSpPr/>
          <p:nvPr/>
        </p:nvSpPr>
        <p:spPr>
          <a:xfrm>
            <a:off x="402336" y="1426464"/>
            <a:ext cx="8339328" cy="621792"/>
          </a:xfrm>
          <a:prstGeom prst="roundRect">
            <a:avLst>
              <a:gd name="adj" fmla="val 10294"/>
            </a:avLst>
          </a:prstGeom>
          <a:solidFill>
            <a:srgbClr val="FFFFFF">
              <a:alpha val="10000"/>
            </a:srgbClr>
          </a:solidFill>
          <a:ln w="12700">
            <a:solidFill>
              <a:srgbClr val="2D5A27"/>
            </a:solidFill>
            <a:prstDash val="solid"/>
          </a:ln>
        </p:spPr>
      </p:sp>
      <p:sp>
        <p:nvSpPr>
          <p:cNvPr id="16" name="Text 14"/>
          <p:cNvSpPr/>
          <p:nvPr/>
        </p:nvSpPr>
        <p:spPr>
          <a:xfrm>
            <a:off x="585216" y="1444752"/>
            <a:ext cx="4407408" cy="274320"/>
          </a:xfrm>
          <a:prstGeom prst="rect">
            <a:avLst/>
          </a:prstGeom>
          <a:noFill/>
          <a:ln/>
        </p:spPr>
        <p:txBody>
          <a:bodyPr wrap="square" lIns="0" tIns="0" rIns="0" bIns="0" rtlCol="0" anchor="ctr"/>
          <a:lstStyle/>
          <a:p>
            <a:pPr indent="0" marL="0">
              <a:buNone/>
            </a:pPr>
            <a:r>
              <a:rPr lang="en-US" sz="1050" b="1" dirty="0">
                <a:solidFill>
                  <a:srgbClr val="FFFFFF"/>
                </a:solidFill>
                <a:latin typeface="Cambria" pitchFamily="34" charset="0"/>
                <a:ea typeface="Cambria" pitchFamily="34" charset="-122"/>
                <a:cs typeface="Cambria" pitchFamily="34" charset="-120"/>
              </a:rPr>
              <a:t>Pattern: [City A] is NORTH of [City B]</a:t>
            </a:r>
            <a:endParaRPr lang="en-US" sz="1050" dirty="0"/>
          </a:p>
        </p:txBody>
      </p:sp>
      <p:sp>
        <p:nvSpPr>
          <p:cNvPr id="17" name="Text 15"/>
          <p:cNvSpPr/>
          <p:nvPr/>
        </p:nvSpPr>
        <p:spPr>
          <a:xfrm>
            <a:off x="585216" y="1719072"/>
            <a:ext cx="7973568" cy="256032"/>
          </a:xfrm>
          <a:prstGeom prst="rect">
            <a:avLst/>
          </a:prstGeom>
          <a:noFill/>
          <a:ln/>
        </p:spPr>
        <p:txBody>
          <a:bodyPr wrap="square" lIns="0" tIns="0" rIns="0" bIns="0" rtlCol="0" anchor="ctr"/>
          <a:lstStyle/>
          <a:p>
            <a:pPr indent="0" marL="0">
              <a:buNone/>
            </a:pPr>
            <a:r>
              <a:rPr lang="en-US" sz="1050" i="1" dirty="0">
                <a:solidFill>
                  <a:srgbClr val="D4943A"/>
                </a:solidFill>
                <a:latin typeface="Calibri" pitchFamily="34" charset="0"/>
                <a:ea typeface="Calibri" pitchFamily="34" charset="-122"/>
                <a:cs typeface="Calibri" pitchFamily="34" charset="-120"/>
              </a:rPr>
              <a:t>Example: Orlando is north of Miami.</a:t>
            </a:r>
            <a:endParaRPr lang="en-US" sz="1050" dirty="0"/>
          </a:p>
        </p:txBody>
      </p:sp>
      <p:sp>
        <p:nvSpPr>
          <p:cNvPr id="18" name="Shape 16"/>
          <p:cNvSpPr/>
          <p:nvPr/>
        </p:nvSpPr>
        <p:spPr>
          <a:xfrm>
            <a:off x="402336" y="2121408"/>
            <a:ext cx="8339328" cy="621792"/>
          </a:xfrm>
          <a:prstGeom prst="roundRect">
            <a:avLst>
              <a:gd name="adj" fmla="val 10294"/>
            </a:avLst>
          </a:prstGeom>
          <a:solidFill>
            <a:srgbClr val="FFFFFF">
              <a:alpha val="10000"/>
            </a:srgbClr>
          </a:solidFill>
          <a:ln w="12700">
            <a:solidFill>
              <a:srgbClr val="1A3A8F"/>
            </a:solidFill>
            <a:prstDash val="solid"/>
          </a:ln>
        </p:spPr>
      </p:sp>
      <p:sp>
        <p:nvSpPr>
          <p:cNvPr id="19" name="Text 17"/>
          <p:cNvSpPr/>
          <p:nvPr/>
        </p:nvSpPr>
        <p:spPr>
          <a:xfrm>
            <a:off x="585216" y="2139696"/>
            <a:ext cx="4407408" cy="274320"/>
          </a:xfrm>
          <a:prstGeom prst="rect">
            <a:avLst/>
          </a:prstGeom>
          <a:noFill/>
          <a:ln/>
        </p:spPr>
        <p:txBody>
          <a:bodyPr wrap="square" lIns="0" tIns="0" rIns="0" bIns="0" rtlCol="0" anchor="ctr"/>
          <a:lstStyle/>
          <a:p>
            <a:pPr indent="0" marL="0">
              <a:buNone/>
            </a:pPr>
            <a:r>
              <a:rPr lang="en-US" sz="1050" b="1" dirty="0">
                <a:solidFill>
                  <a:srgbClr val="FFFFFF"/>
                </a:solidFill>
                <a:latin typeface="Cambria" pitchFamily="34" charset="0"/>
                <a:ea typeface="Cambria" pitchFamily="34" charset="-122"/>
                <a:cs typeface="Cambria" pitchFamily="34" charset="-120"/>
              </a:rPr>
              <a:t>Pattern: [Place A] is SOUTHEAST of [Place B]</a:t>
            </a:r>
            <a:endParaRPr lang="en-US" sz="1050" dirty="0"/>
          </a:p>
        </p:txBody>
      </p:sp>
      <p:sp>
        <p:nvSpPr>
          <p:cNvPr id="20" name="Text 18"/>
          <p:cNvSpPr/>
          <p:nvPr/>
        </p:nvSpPr>
        <p:spPr>
          <a:xfrm>
            <a:off x="585216" y="2414016"/>
            <a:ext cx="7973568" cy="256032"/>
          </a:xfrm>
          <a:prstGeom prst="rect">
            <a:avLst/>
          </a:prstGeom>
          <a:noFill/>
          <a:ln/>
        </p:spPr>
        <p:txBody>
          <a:bodyPr wrap="square" lIns="0" tIns="0" rIns="0" bIns="0" rtlCol="0" anchor="ctr"/>
          <a:lstStyle/>
          <a:p>
            <a:pPr indent="0" marL="0">
              <a:buNone/>
            </a:pPr>
            <a:r>
              <a:rPr lang="en-US" sz="1050" i="1" dirty="0">
                <a:solidFill>
                  <a:srgbClr val="D4943A"/>
                </a:solidFill>
                <a:latin typeface="Calibri" pitchFamily="34" charset="0"/>
                <a:ea typeface="Calibri" pitchFamily="34" charset="-122"/>
                <a:cs typeface="Calibri" pitchFamily="34" charset="-120"/>
              </a:rPr>
              <a:t>Example: The Atlantic Ocean is southeast of Florida's panhandle.</a:t>
            </a:r>
            <a:endParaRPr lang="en-US" sz="1050" dirty="0"/>
          </a:p>
        </p:txBody>
      </p:sp>
      <p:sp>
        <p:nvSpPr>
          <p:cNvPr id="21" name="Shape 19"/>
          <p:cNvSpPr/>
          <p:nvPr/>
        </p:nvSpPr>
        <p:spPr>
          <a:xfrm>
            <a:off x="402336" y="2816352"/>
            <a:ext cx="8339328" cy="621792"/>
          </a:xfrm>
          <a:prstGeom prst="roundRect">
            <a:avLst>
              <a:gd name="adj" fmla="val 10294"/>
            </a:avLst>
          </a:prstGeom>
          <a:solidFill>
            <a:srgbClr val="FFFFFF">
              <a:alpha val="10000"/>
            </a:srgbClr>
          </a:solidFill>
          <a:ln w="12700">
            <a:solidFill>
              <a:srgbClr val="2D5A27"/>
            </a:solidFill>
            <a:prstDash val="solid"/>
          </a:ln>
        </p:spPr>
      </p:sp>
      <p:sp>
        <p:nvSpPr>
          <p:cNvPr id="22" name="Text 20"/>
          <p:cNvSpPr/>
          <p:nvPr/>
        </p:nvSpPr>
        <p:spPr>
          <a:xfrm>
            <a:off x="585216" y="2834640"/>
            <a:ext cx="4407408" cy="274320"/>
          </a:xfrm>
          <a:prstGeom prst="rect">
            <a:avLst/>
          </a:prstGeom>
          <a:noFill/>
          <a:ln/>
        </p:spPr>
        <p:txBody>
          <a:bodyPr wrap="square" lIns="0" tIns="0" rIns="0" bIns="0" rtlCol="0" anchor="ctr"/>
          <a:lstStyle/>
          <a:p>
            <a:pPr indent="0" marL="0">
              <a:buNone/>
            </a:pPr>
            <a:r>
              <a:rPr lang="en-US" sz="1050" b="1" dirty="0">
                <a:solidFill>
                  <a:srgbClr val="FFFFFF"/>
                </a:solidFill>
                <a:latin typeface="Cambria" pitchFamily="34" charset="0"/>
                <a:ea typeface="Cambria" pitchFamily="34" charset="-122"/>
                <a:cs typeface="Cambria" pitchFamily="34" charset="-120"/>
              </a:rPr>
              <a:t>Pattern: Travel WEST from [Location] to reach [Destination]</a:t>
            </a:r>
            <a:endParaRPr lang="en-US" sz="1050" dirty="0"/>
          </a:p>
        </p:txBody>
      </p:sp>
      <p:sp>
        <p:nvSpPr>
          <p:cNvPr id="23" name="Text 21"/>
          <p:cNvSpPr/>
          <p:nvPr/>
        </p:nvSpPr>
        <p:spPr>
          <a:xfrm>
            <a:off x="585216" y="3108960"/>
            <a:ext cx="7973568" cy="256032"/>
          </a:xfrm>
          <a:prstGeom prst="rect">
            <a:avLst/>
          </a:prstGeom>
          <a:noFill/>
          <a:ln/>
        </p:spPr>
        <p:txBody>
          <a:bodyPr wrap="square" lIns="0" tIns="0" rIns="0" bIns="0" rtlCol="0" anchor="ctr"/>
          <a:lstStyle/>
          <a:p>
            <a:pPr indent="0" marL="0">
              <a:buNone/>
            </a:pPr>
            <a:r>
              <a:rPr lang="en-US" sz="1050" i="1" dirty="0">
                <a:solidFill>
                  <a:srgbClr val="D4943A"/>
                </a:solidFill>
                <a:latin typeface="Calibri" pitchFamily="34" charset="0"/>
                <a:ea typeface="Calibri" pitchFamily="34" charset="-122"/>
                <a:cs typeface="Calibri" pitchFamily="34" charset="-120"/>
              </a:rPr>
              <a:t>Example: Travel west from Atlanta to reach Birmingham, Alabama.</a:t>
            </a:r>
            <a:endParaRPr lang="en-US" sz="1050" dirty="0"/>
          </a:p>
        </p:txBody>
      </p:sp>
      <p:sp>
        <p:nvSpPr>
          <p:cNvPr id="24" name="Shape 22"/>
          <p:cNvSpPr/>
          <p:nvPr/>
        </p:nvSpPr>
        <p:spPr>
          <a:xfrm>
            <a:off x="402336" y="3511296"/>
            <a:ext cx="8339328" cy="621792"/>
          </a:xfrm>
          <a:prstGeom prst="roundRect">
            <a:avLst>
              <a:gd name="adj" fmla="val 10294"/>
            </a:avLst>
          </a:prstGeom>
          <a:solidFill>
            <a:srgbClr val="FFFFFF">
              <a:alpha val="10000"/>
            </a:srgbClr>
          </a:solidFill>
          <a:ln w="12700">
            <a:solidFill>
              <a:srgbClr val="1A3A8F"/>
            </a:solidFill>
            <a:prstDash val="solid"/>
          </a:ln>
        </p:spPr>
      </p:sp>
      <p:sp>
        <p:nvSpPr>
          <p:cNvPr id="25" name="Text 23"/>
          <p:cNvSpPr/>
          <p:nvPr/>
        </p:nvSpPr>
        <p:spPr>
          <a:xfrm>
            <a:off x="585216" y="3529584"/>
            <a:ext cx="4407408" cy="274320"/>
          </a:xfrm>
          <a:prstGeom prst="rect">
            <a:avLst/>
          </a:prstGeom>
          <a:noFill/>
          <a:ln/>
        </p:spPr>
        <p:txBody>
          <a:bodyPr wrap="square" lIns="0" tIns="0" rIns="0" bIns="0" rtlCol="0" anchor="ctr"/>
          <a:lstStyle/>
          <a:p>
            <a:pPr indent="0" marL="0">
              <a:buNone/>
            </a:pPr>
            <a:r>
              <a:rPr lang="en-US" sz="1050" b="1" dirty="0">
                <a:solidFill>
                  <a:srgbClr val="FFFFFF"/>
                </a:solidFill>
                <a:latin typeface="Cambria" pitchFamily="34" charset="0"/>
                <a:ea typeface="Cambria" pitchFamily="34" charset="-122"/>
                <a:cs typeface="Cambria" pitchFamily="34" charset="-120"/>
              </a:rPr>
              <a:t>Pattern: [Feature] runs EAST-WEST across [Region]</a:t>
            </a:r>
            <a:endParaRPr lang="en-US" sz="1050" dirty="0"/>
          </a:p>
        </p:txBody>
      </p:sp>
      <p:sp>
        <p:nvSpPr>
          <p:cNvPr id="26" name="Text 24"/>
          <p:cNvSpPr/>
          <p:nvPr/>
        </p:nvSpPr>
        <p:spPr>
          <a:xfrm>
            <a:off x="585216" y="3803904"/>
            <a:ext cx="7973568" cy="256032"/>
          </a:xfrm>
          <a:prstGeom prst="rect">
            <a:avLst/>
          </a:prstGeom>
          <a:noFill/>
          <a:ln/>
        </p:spPr>
        <p:txBody>
          <a:bodyPr wrap="square" lIns="0" tIns="0" rIns="0" bIns="0" rtlCol="0" anchor="ctr"/>
          <a:lstStyle/>
          <a:p>
            <a:pPr indent="0" marL="0">
              <a:buNone/>
            </a:pPr>
            <a:r>
              <a:rPr lang="en-US" sz="1050" i="1" dirty="0">
                <a:solidFill>
                  <a:srgbClr val="D4943A"/>
                </a:solidFill>
                <a:latin typeface="Calibri" pitchFamily="34" charset="0"/>
                <a:ea typeface="Calibri" pitchFamily="34" charset="-122"/>
                <a:cs typeface="Calibri" pitchFamily="34" charset="-120"/>
              </a:rPr>
              <a:t>Example: The Appalachian Mountains run northeast-southwest.</a:t>
            </a:r>
            <a:endParaRPr lang="en-US" sz="1050" dirty="0"/>
          </a:p>
        </p:txBody>
      </p:sp>
      <p:sp>
        <p:nvSpPr>
          <p:cNvPr id="27" name="Shape 25"/>
          <p:cNvSpPr/>
          <p:nvPr/>
        </p:nvSpPr>
        <p:spPr>
          <a:xfrm>
            <a:off x="402336" y="4206240"/>
            <a:ext cx="8339328" cy="621792"/>
          </a:xfrm>
          <a:prstGeom prst="roundRect">
            <a:avLst>
              <a:gd name="adj" fmla="val 10294"/>
            </a:avLst>
          </a:prstGeom>
          <a:solidFill>
            <a:srgbClr val="FFFFFF">
              <a:alpha val="10000"/>
            </a:srgbClr>
          </a:solidFill>
          <a:ln w="12700">
            <a:solidFill>
              <a:srgbClr val="2D5A27"/>
            </a:solidFill>
            <a:prstDash val="solid"/>
          </a:ln>
        </p:spPr>
      </p:sp>
      <p:sp>
        <p:nvSpPr>
          <p:cNvPr id="28" name="Text 26"/>
          <p:cNvSpPr/>
          <p:nvPr/>
        </p:nvSpPr>
        <p:spPr>
          <a:xfrm>
            <a:off x="585216" y="4224528"/>
            <a:ext cx="4407408" cy="274320"/>
          </a:xfrm>
          <a:prstGeom prst="rect">
            <a:avLst/>
          </a:prstGeom>
          <a:noFill/>
          <a:ln/>
        </p:spPr>
        <p:txBody>
          <a:bodyPr wrap="square" lIns="0" tIns="0" rIns="0" bIns="0" rtlCol="0" anchor="ctr"/>
          <a:lstStyle/>
          <a:p>
            <a:pPr indent="0" marL="0">
              <a:buNone/>
            </a:pPr>
            <a:r>
              <a:rPr lang="en-US" sz="1050" b="1" dirty="0">
                <a:solidFill>
                  <a:srgbClr val="FFFFFF"/>
                </a:solidFill>
                <a:latin typeface="Cambria" pitchFamily="34" charset="0"/>
                <a:ea typeface="Cambria" pitchFamily="34" charset="-122"/>
                <a:cs typeface="Cambria" pitchFamily="34" charset="-120"/>
              </a:rPr>
              <a:t>Pattern: [Point A] is in the NORTHWESTERN part of [Region]</a:t>
            </a:r>
            <a:endParaRPr lang="en-US" sz="1050" dirty="0"/>
          </a:p>
        </p:txBody>
      </p:sp>
      <p:sp>
        <p:nvSpPr>
          <p:cNvPr id="29" name="Text 27"/>
          <p:cNvSpPr/>
          <p:nvPr/>
        </p:nvSpPr>
        <p:spPr>
          <a:xfrm>
            <a:off x="585216" y="4498848"/>
            <a:ext cx="7973568" cy="256032"/>
          </a:xfrm>
          <a:prstGeom prst="rect">
            <a:avLst/>
          </a:prstGeom>
          <a:noFill/>
          <a:ln/>
        </p:spPr>
        <p:txBody>
          <a:bodyPr wrap="square" lIns="0" tIns="0" rIns="0" bIns="0" rtlCol="0" anchor="ctr"/>
          <a:lstStyle/>
          <a:p>
            <a:pPr indent="0" marL="0">
              <a:buNone/>
            </a:pPr>
            <a:r>
              <a:rPr lang="en-US" sz="1050" i="1" dirty="0">
                <a:solidFill>
                  <a:srgbClr val="D4943A"/>
                </a:solidFill>
                <a:latin typeface="Calibri" pitchFamily="34" charset="0"/>
                <a:ea typeface="Calibri" pitchFamily="34" charset="-122"/>
                <a:cs typeface="Calibri" pitchFamily="34" charset="-120"/>
              </a:rPr>
              <a:t>Example: Seattle is in the northwestern corner of the continental U.S.</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3A2C1A"/>
        </a:solidFill>
      </p:bgPr>
    </p:bg>
    <p:spTree>
      <p:nvGrpSpPr>
        <p:cNvPr id="1" name=""/>
        <p:cNvGrpSpPr/>
        <p:nvPr/>
      </p:nvGrpSpPr>
      <p:grpSpPr>
        <a:xfrm>
          <a:off x="0" y="0"/>
          <a:ext cx="0" cy="0"/>
          <a:chOff x="0" y="0"/>
          <a:chExt cx="0" cy="0"/>
        </a:xfrm>
      </p:grpSpPr>
      <p:sp>
        <p:nvSpPr>
          <p:cNvPr id="2" name="Shape 0"/>
          <p:cNvSpPr/>
          <p:nvPr/>
        </p:nvSpPr>
        <p:spPr>
          <a:xfrm>
            <a:off x="1524000" y="0"/>
            <a:ext cx="0" cy="5148072"/>
          </a:xfrm>
          <a:prstGeom prst="line">
            <a:avLst/>
          </a:prstGeom>
          <a:noFill/>
          <a:ln w="7620">
            <a:solidFill>
              <a:srgbClr val="C4B49A">
                <a:alpha val="50000"/>
              </a:srgbClr>
            </a:solidFill>
            <a:prstDash val="solid"/>
          </a:ln>
        </p:spPr>
      </p:sp>
      <p:sp>
        <p:nvSpPr>
          <p:cNvPr id="3" name="Shape 1"/>
          <p:cNvSpPr/>
          <p:nvPr/>
        </p:nvSpPr>
        <p:spPr>
          <a:xfrm>
            <a:off x="3048000" y="0"/>
            <a:ext cx="0" cy="5148072"/>
          </a:xfrm>
          <a:prstGeom prst="line">
            <a:avLst/>
          </a:prstGeom>
          <a:noFill/>
          <a:ln w="7620">
            <a:solidFill>
              <a:srgbClr val="C4B49A">
                <a:alpha val="50000"/>
              </a:srgbClr>
            </a:solidFill>
            <a:prstDash val="solid"/>
          </a:ln>
        </p:spPr>
      </p:sp>
      <p:sp>
        <p:nvSpPr>
          <p:cNvPr id="4" name="Shape 2"/>
          <p:cNvSpPr/>
          <p:nvPr/>
        </p:nvSpPr>
        <p:spPr>
          <a:xfrm>
            <a:off x="4572000" y="0"/>
            <a:ext cx="0" cy="5148072"/>
          </a:xfrm>
          <a:prstGeom prst="line">
            <a:avLst/>
          </a:prstGeom>
          <a:noFill/>
          <a:ln w="7620">
            <a:solidFill>
              <a:srgbClr val="C4B49A">
                <a:alpha val="50000"/>
              </a:srgbClr>
            </a:solidFill>
            <a:prstDash val="solid"/>
          </a:ln>
        </p:spPr>
      </p:sp>
      <p:sp>
        <p:nvSpPr>
          <p:cNvPr id="5" name="Shape 3"/>
          <p:cNvSpPr/>
          <p:nvPr/>
        </p:nvSpPr>
        <p:spPr>
          <a:xfrm>
            <a:off x="6096000" y="0"/>
            <a:ext cx="0" cy="5148072"/>
          </a:xfrm>
          <a:prstGeom prst="line">
            <a:avLst/>
          </a:prstGeom>
          <a:noFill/>
          <a:ln w="7620">
            <a:solidFill>
              <a:srgbClr val="C4B49A">
                <a:alpha val="50000"/>
              </a:srgbClr>
            </a:solidFill>
            <a:prstDash val="solid"/>
          </a:ln>
        </p:spPr>
      </p:sp>
      <p:sp>
        <p:nvSpPr>
          <p:cNvPr id="6" name="Shape 4"/>
          <p:cNvSpPr/>
          <p:nvPr/>
        </p:nvSpPr>
        <p:spPr>
          <a:xfrm>
            <a:off x="7620000" y="0"/>
            <a:ext cx="0" cy="5148072"/>
          </a:xfrm>
          <a:prstGeom prst="line">
            <a:avLst/>
          </a:prstGeom>
          <a:noFill/>
          <a:ln w="7620">
            <a:solidFill>
              <a:srgbClr val="C4B49A">
                <a:alpha val="50000"/>
              </a:srgbClr>
            </a:solidFill>
            <a:prstDash val="solid"/>
          </a:ln>
        </p:spPr>
      </p:sp>
      <p:sp>
        <p:nvSpPr>
          <p:cNvPr id="7" name="Shape 5"/>
          <p:cNvSpPr/>
          <p:nvPr/>
        </p:nvSpPr>
        <p:spPr>
          <a:xfrm>
            <a:off x="0" y="1287018"/>
            <a:ext cx="9144000" cy="0"/>
          </a:xfrm>
          <a:prstGeom prst="line">
            <a:avLst/>
          </a:prstGeom>
          <a:noFill/>
          <a:ln w="7620">
            <a:solidFill>
              <a:srgbClr val="C4B49A">
                <a:alpha val="50000"/>
              </a:srgbClr>
            </a:solidFill>
            <a:prstDash val="solid"/>
          </a:ln>
        </p:spPr>
      </p:sp>
      <p:sp>
        <p:nvSpPr>
          <p:cNvPr id="8" name="Shape 6"/>
          <p:cNvSpPr/>
          <p:nvPr/>
        </p:nvSpPr>
        <p:spPr>
          <a:xfrm>
            <a:off x="0" y="2574036"/>
            <a:ext cx="9144000" cy="0"/>
          </a:xfrm>
          <a:prstGeom prst="line">
            <a:avLst/>
          </a:prstGeom>
          <a:noFill/>
          <a:ln w="7620">
            <a:solidFill>
              <a:srgbClr val="C4B49A">
                <a:alpha val="50000"/>
              </a:srgbClr>
            </a:solidFill>
            <a:prstDash val="solid"/>
          </a:ln>
        </p:spPr>
      </p:sp>
      <p:sp>
        <p:nvSpPr>
          <p:cNvPr id="9" name="Shape 7"/>
          <p:cNvSpPr/>
          <p:nvPr/>
        </p:nvSpPr>
        <p:spPr>
          <a:xfrm>
            <a:off x="0" y="3861054"/>
            <a:ext cx="9144000" cy="0"/>
          </a:xfrm>
          <a:prstGeom prst="line">
            <a:avLst/>
          </a:prstGeom>
          <a:noFill/>
          <a:ln w="7620">
            <a:solidFill>
              <a:srgbClr val="C4B49A">
                <a:alpha val="50000"/>
              </a:srgbClr>
            </a:solidFill>
            <a:prstDash val="solid"/>
          </a:ln>
        </p:spPr>
      </p:sp>
      <p:sp>
        <p:nvSpPr>
          <p:cNvPr id="10" name="Shape 8"/>
          <p:cNvSpPr/>
          <p:nvPr/>
        </p:nvSpPr>
        <p:spPr>
          <a:xfrm>
            <a:off x="685800" y="502920"/>
            <a:ext cx="7772400" cy="4114800"/>
          </a:xfrm>
          <a:prstGeom prst="ellipse">
            <a:avLst/>
          </a:prstGeom>
          <a:solidFill>
            <a:srgbClr val="C7522A">
              <a:alpha val="15000"/>
            </a:srgbClr>
          </a:solidFill>
          <a:ln w="12700">
            <a:solidFill>
              <a:srgbClr val="333333"/>
            </a:solidFill>
            <a:prstDash val="solid"/>
          </a:ln>
        </p:spPr>
      </p:sp>
      <p:sp>
        <p:nvSpPr>
          <p:cNvPr id="11" name="Shape 9"/>
          <p:cNvSpPr/>
          <p:nvPr/>
        </p:nvSpPr>
        <p:spPr>
          <a:xfrm>
            <a:off x="2395728" y="1408176"/>
            <a:ext cx="4352544" cy="2304288"/>
          </a:xfrm>
          <a:prstGeom prst="ellipse">
            <a:avLst/>
          </a:prstGeom>
          <a:solidFill>
            <a:srgbClr val="C7522A">
              <a:alpha val="26000"/>
            </a:srgbClr>
          </a:solidFill>
          <a:ln w="12700">
            <a:solidFill>
              <a:srgbClr val="333333"/>
            </a:solidFill>
            <a:prstDash val="solid"/>
          </a:ln>
        </p:spPr>
      </p:sp>
      <p:sp>
        <p:nvSpPr>
          <p:cNvPr id="12" name="Text 10"/>
          <p:cNvSpPr/>
          <p:nvPr/>
        </p:nvSpPr>
        <p:spPr>
          <a:xfrm>
            <a:off x="457200" y="164592"/>
            <a:ext cx="8229600" cy="475488"/>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In Your Groups — Direction Detective</a:t>
            </a:r>
            <a:endParaRPr lang="en-US" sz="2600" dirty="0"/>
          </a:p>
        </p:txBody>
      </p:sp>
      <p:sp>
        <p:nvSpPr>
          <p:cNvPr id="13" name="Shape 11"/>
          <p:cNvSpPr/>
          <p:nvPr/>
        </p:nvSpPr>
        <p:spPr>
          <a:xfrm>
            <a:off x="402336" y="749808"/>
            <a:ext cx="8339328" cy="621792"/>
          </a:xfrm>
          <a:prstGeom prst="roundRect">
            <a:avLst>
              <a:gd name="adj" fmla="val 13235"/>
            </a:avLst>
          </a:prstGeom>
          <a:solidFill>
            <a:srgbClr val="C7522A">
              <a:alpha val="20000"/>
            </a:srgbClr>
          </a:solidFill>
          <a:ln w="19050">
            <a:solidFill>
              <a:srgbClr val="C7522A"/>
            </a:solidFill>
            <a:prstDash val="solid"/>
          </a:ln>
        </p:spPr>
      </p:sp>
      <p:sp>
        <p:nvSpPr>
          <p:cNvPr id="14" name="Text 12"/>
          <p:cNvSpPr/>
          <p:nvPr/>
        </p:nvSpPr>
        <p:spPr>
          <a:xfrm>
            <a:off x="585216" y="786384"/>
            <a:ext cx="7973568" cy="566928"/>
          </a:xfrm>
          <a:prstGeom prst="rect">
            <a:avLst/>
          </a:prstGeom>
          <a:noFill/>
          <a:ln/>
        </p:spPr>
        <p:txBody>
          <a:bodyPr wrap="square" rtlCol="0" anchor="ctr"/>
          <a:lstStyle/>
          <a:p>
            <a:pPr algn="l" indent="0" marL="0">
              <a:lnSpc>
                <a:spcPct val="130000"/>
              </a:lnSpc>
              <a:buNone/>
            </a:pPr>
            <a:r>
              <a:rPr lang="en-US" sz="1200" dirty="0">
                <a:solidFill>
                  <a:srgbClr val="FFFFFF"/>
                </a:solidFill>
                <a:latin typeface="Calibri" pitchFamily="34" charset="0"/>
                <a:ea typeface="Calibri" pitchFamily="34" charset="-122"/>
                <a:cs typeface="Calibri" pitchFamily="34" charset="-120"/>
              </a:rPr>
              <a:t>Answer each question using cardinal or intermediate directions. Write complete sentences using the patterns from the previous slide.</a:t>
            </a:r>
            <a:endParaRPr lang="en-US" sz="1200" dirty="0"/>
          </a:p>
        </p:txBody>
      </p:sp>
      <p:sp>
        <p:nvSpPr>
          <p:cNvPr id="15" name="Shape 13"/>
          <p:cNvSpPr/>
          <p:nvPr/>
        </p:nvSpPr>
        <p:spPr>
          <a:xfrm>
            <a:off x="402336" y="1481328"/>
            <a:ext cx="8339328" cy="493776"/>
          </a:xfrm>
          <a:prstGeom prst="roundRect">
            <a:avLst>
              <a:gd name="adj" fmla="val 12963"/>
            </a:avLst>
          </a:prstGeom>
          <a:solidFill>
            <a:srgbClr val="FFFFFF">
              <a:alpha val="8000"/>
            </a:srgbClr>
          </a:solidFill>
          <a:ln w="12700">
            <a:solidFill>
              <a:srgbClr val="D4943A"/>
            </a:solidFill>
            <a:prstDash val="solid"/>
          </a:ln>
        </p:spPr>
      </p:sp>
      <p:sp>
        <p:nvSpPr>
          <p:cNvPr id="16" name="Text 14"/>
          <p:cNvSpPr/>
          <p:nvPr/>
        </p:nvSpPr>
        <p:spPr>
          <a:xfrm>
            <a:off x="585216" y="1481328"/>
            <a:ext cx="7973568" cy="493776"/>
          </a:xfrm>
          <a:prstGeom prst="rect">
            <a:avLst/>
          </a:prstGeom>
          <a:noFill/>
          <a:ln/>
        </p:spPr>
        <p:txBody>
          <a:bodyPr wrap="square" lIns="0" tIns="0" rIns="0" bIns="0" rtlCol="0" anchor="ctr"/>
          <a:lstStyle/>
          <a:p>
            <a:pPr algn="l" indent="0" marL="0">
              <a:buNone/>
            </a:pPr>
            <a:r>
              <a:rPr lang="en-US" sz="1150" dirty="0">
                <a:solidFill>
                  <a:srgbClr val="FFFFFF"/>
                </a:solidFill>
                <a:latin typeface="Calibri" pitchFamily="34" charset="0"/>
                <a:ea typeface="Calibri" pitchFamily="34" charset="-122"/>
                <a:cs typeface="Calibri" pitchFamily="34" charset="-120"/>
              </a:rPr>
              <a:t>Florida is in the __________ part of the United States. (SOUTHEASTERN)</a:t>
            </a:r>
            <a:endParaRPr lang="en-US" sz="1150" dirty="0"/>
          </a:p>
        </p:txBody>
      </p:sp>
      <p:sp>
        <p:nvSpPr>
          <p:cNvPr id="17" name="Shape 15"/>
          <p:cNvSpPr/>
          <p:nvPr/>
        </p:nvSpPr>
        <p:spPr>
          <a:xfrm>
            <a:off x="402336" y="2048256"/>
            <a:ext cx="8339328" cy="493776"/>
          </a:xfrm>
          <a:prstGeom prst="roundRect">
            <a:avLst>
              <a:gd name="adj" fmla="val 12963"/>
            </a:avLst>
          </a:prstGeom>
          <a:solidFill>
            <a:srgbClr val="FFFFFF">
              <a:alpha val="8000"/>
            </a:srgbClr>
          </a:solidFill>
          <a:ln w="12700">
            <a:solidFill>
              <a:srgbClr val="D4943A"/>
            </a:solidFill>
            <a:prstDash val="solid"/>
          </a:ln>
        </p:spPr>
      </p:sp>
      <p:sp>
        <p:nvSpPr>
          <p:cNvPr id="18" name="Text 16"/>
          <p:cNvSpPr/>
          <p:nvPr/>
        </p:nvSpPr>
        <p:spPr>
          <a:xfrm>
            <a:off x="585216" y="2048256"/>
            <a:ext cx="7973568" cy="493776"/>
          </a:xfrm>
          <a:prstGeom prst="rect">
            <a:avLst/>
          </a:prstGeom>
          <a:noFill/>
          <a:ln/>
        </p:spPr>
        <p:txBody>
          <a:bodyPr wrap="square" lIns="0" tIns="0" rIns="0" bIns="0" rtlCol="0" anchor="ctr"/>
          <a:lstStyle/>
          <a:p>
            <a:pPr algn="l" indent="0" marL="0">
              <a:buNone/>
            </a:pPr>
            <a:r>
              <a:rPr lang="en-US" sz="1150" dirty="0">
                <a:solidFill>
                  <a:srgbClr val="FFFFFF"/>
                </a:solidFill>
                <a:latin typeface="Calibri" pitchFamily="34" charset="0"/>
                <a:ea typeface="Calibri" pitchFamily="34" charset="-122"/>
                <a:cs typeface="Calibri" pitchFamily="34" charset="-120"/>
              </a:rPr>
              <a:t>If you stand in New York and walk toward the Pacific Ocean, you walk _____. (WEST)</a:t>
            </a:r>
            <a:endParaRPr lang="en-US" sz="1150" dirty="0"/>
          </a:p>
        </p:txBody>
      </p:sp>
      <p:sp>
        <p:nvSpPr>
          <p:cNvPr id="19" name="Shape 17"/>
          <p:cNvSpPr/>
          <p:nvPr/>
        </p:nvSpPr>
        <p:spPr>
          <a:xfrm>
            <a:off x="402336" y="2615184"/>
            <a:ext cx="8339328" cy="493776"/>
          </a:xfrm>
          <a:prstGeom prst="roundRect">
            <a:avLst>
              <a:gd name="adj" fmla="val 12963"/>
            </a:avLst>
          </a:prstGeom>
          <a:solidFill>
            <a:srgbClr val="FFFFFF">
              <a:alpha val="8000"/>
            </a:srgbClr>
          </a:solidFill>
          <a:ln w="12700">
            <a:solidFill>
              <a:srgbClr val="D4943A"/>
            </a:solidFill>
            <a:prstDash val="solid"/>
          </a:ln>
        </p:spPr>
      </p:sp>
      <p:sp>
        <p:nvSpPr>
          <p:cNvPr id="20" name="Text 18"/>
          <p:cNvSpPr/>
          <p:nvPr/>
        </p:nvSpPr>
        <p:spPr>
          <a:xfrm>
            <a:off x="585216" y="2615184"/>
            <a:ext cx="7973568" cy="493776"/>
          </a:xfrm>
          <a:prstGeom prst="rect">
            <a:avLst/>
          </a:prstGeom>
          <a:noFill/>
          <a:ln/>
        </p:spPr>
        <p:txBody>
          <a:bodyPr wrap="square" lIns="0" tIns="0" rIns="0" bIns="0" rtlCol="0" anchor="ctr"/>
          <a:lstStyle/>
          <a:p>
            <a:pPr algn="l" indent="0" marL="0">
              <a:buNone/>
            </a:pPr>
            <a:r>
              <a:rPr lang="en-US" sz="1150" dirty="0">
                <a:solidFill>
                  <a:srgbClr val="FFFFFF"/>
                </a:solidFill>
                <a:latin typeface="Calibri" pitchFamily="34" charset="0"/>
                <a:ea typeface="Calibri" pitchFamily="34" charset="-122"/>
                <a:cs typeface="Calibri" pitchFamily="34" charset="-120"/>
              </a:rPr>
              <a:t>Canada is _____ of Mexico. (NORTH)</a:t>
            </a:r>
            <a:endParaRPr lang="en-US" sz="1150" dirty="0"/>
          </a:p>
        </p:txBody>
      </p:sp>
      <p:sp>
        <p:nvSpPr>
          <p:cNvPr id="21" name="Shape 19"/>
          <p:cNvSpPr/>
          <p:nvPr/>
        </p:nvSpPr>
        <p:spPr>
          <a:xfrm>
            <a:off x="402336" y="3182112"/>
            <a:ext cx="8339328" cy="493776"/>
          </a:xfrm>
          <a:prstGeom prst="roundRect">
            <a:avLst>
              <a:gd name="adj" fmla="val 12963"/>
            </a:avLst>
          </a:prstGeom>
          <a:solidFill>
            <a:srgbClr val="FFFFFF">
              <a:alpha val="8000"/>
            </a:srgbClr>
          </a:solidFill>
          <a:ln w="12700">
            <a:solidFill>
              <a:srgbClr val="D4943A"/>
            </a:solidFill>
            <a:prstDash val="solid"/>
          </a:ln>
        </p:spPr>
      </p:sp>
      <p:sp>
        <p:nvSpPr>
          <p:cNvPr id="22" name="Text 20"/>
          <p:cNvSpPr/>
          <p:nvPr/>
        </p:nvSpPr>
        <p:spPr>
          <a:xfrm>
            <a:off x="585216" y="3182112"/>
            <a:ext cx="7973568" cy="493776"/>
          </a:xfrm>
          <a:prstGeom prst="rect">
            <a:avLst/>
          </a:prstGeom>
          <a:noFill/>
          <a:ln/>
        </p:spPr>
        <p:txBody>
          <a:bodyPr wrap="square" lIns="0" tIns="0" rIns="0" bIns="0" rtlCol="0" anchor="ctr"/>
          <a:lstStyle/>
          <a:p>
            <a:pPr algn="l" indent="0" marL="0">
              <a:buNone/>
            </a:pPr>
            <a:r>
              <a:rPr lang="en-US" sz="1150" dirty="0">
                <a:solidFill>
                  <a:srgbClr val="FFFFFF"/>
                </a:solidFill>
                <a:latin typeface="Calibri" pitchFamily="34" charset="0"/>
                <a:ea typeface="Calibri" pitchFamily="34" charset="-122"/>
                <a:cs typeface="Calibri" pitchFamily="34" charset="-120"/>
              </a:rPr>
              <a:t>To sail from Spain to Florida, explorers traveled generally ________. (SOUTHWEST or WEST)</a:t>
            </a:r>
            <a:endParaRPr lang="en-US" sz="1150" dirty="0"/>
          </a:p>
        </p:txBody>
      </p:sp>
      <p:sp>
        <p:nvSpPr>
          <p:cNvPr id="23" name="Shape 21"/>
          <p:cNvSpPr/>
          <p:nvPr/>
        </p:nvSpPr>
        <p:spPr>
          <a:xfrm>
            <a:off x="402336" y="3749040"/>
            <a:ext cx="8339328" cy="493776"/>
          </a:xfrm>
          <a:prstGeom prst="roundRect">
            <a:avLst>
              <a:gd name="adj" fmla="val 12963"/>
            </a:avLst>
          </a:prstGeom>
          <a:solidFill>
            <a:srgbClr val="FFFFFF">
              <a:alpha val="8000"/>
            </a:srgbClr>
          </a:solidFill>
          <a:ln w="12700">
            <a:solidFill>
              <a:srgbClr val="D4943A"/>
            </a:solidFill>
            <a:prstDash val="solid"/>
          </a:ln>
        </p:spPr>
      </p:sp>
      <p:sp>
        <p:nvSpPr>
          <p:cNvPr id="24" name="Text 22"/>
          <p:cNvSpPr/>
          <p:nvPr/>
        </p:nvSpPr>
        <p:spPr>
          <a:xfrm>
            <a:off x="585216" y="3749040"/>
            <a:ext cx="7973568" cy="493776"/>
          </a:xfrm>
          <a:prstGeom prst="rect">
            <a:avLst/>
          </a:prstGeom>
          <a:noFill/>
          <a:ln/>
        </p:spPr>
        <p:txBody>
          <a:bodyPr wrap="square" lIns="0" tIns="0" rIns="0" bIns="0" rtlCol="0" anchor="ctr"/>
          <a:lstStyle/>
          <a:p>
            <a:pPr algn="l" indent="0" marL="0">
              <a:buNone/>
            </a:pPr>
            <a:r>
              <a:rPr lang="en-US" sz="1150" dirty="0">
                <a:solidFill>
                  <a:srgbClr val="FFFFFF"/>
                </a:solidFill>
                <a:latin typeface="Calibri" pitchFamily="34" charset="0"/>
                <a:ea typeface="Calibri" pitchFamily="34" charset="-122"/>
                <a:cs typeface="Calibri" pitchFamily="34" charset="-120"/>
              </a:rPr>
              <a:t>The sun rises in the _____ and sets in the _____. (EAST / WEST)</a:t>
            </a:r>
            <a:endParaRPr lang="en-US" sz="1150" dirty="0"/>
          </a:p>
        </p:txBody>
      </p:sp>
      <p:sp>
        <p:nvSpPr>
          <p:cNvPr id="25" name="Shape 23"/>
          <p:cNvSpPr/>
          <p:nvPr/>
        </p:nvSpPr>
        <p:spPr>
          <a:xfrm>
            <a:off x="402336" y="4315968"/>
            <a:ext cx="8339328" cy="493776"/>
          </a:xfrm>
          <a:prstGeom prst="roundRect">
            <a:avLst>
              <a:gd name="adj" fmla="val 12963"/>
            </a:avLst>
          </a:prstGeom>
          <a:solidFill>
            <a:srgbClr val="FFFFFF">
              <a:alpha val="8000"/>
            </a:srgbClr>
          </a:solidFill>
          <a:ln w="12700">
            <a:solidFill>
              <a:srgbClr val="D4943A"/>
            </a:solidFill>
            <a:prstDash val="solid"/>
          </a:ln>
        </p:spPr>
      </p:sp>
      <p:sp>
        <p:nvSpPr>
          <p:cNvPr id="26" name="Text 24"/>
          <p:cNvSpPr/>
          <p:nvPr/>
        </p:nvSpPr>
        <p:spPr>
          <a:xfrm>
            <a:off x="585216" y="4315968"/>
            <a:ext cx="7973568" cy="493776"/>
          </a:xfrm>
          <a:prstGeom prst="rect">
            <a:avLst/>
          </a:prstGeom>
          <a:noFill/>
          <a:ln/>
        </p:spPr>
        <p:txBody>
          <a:bodyPr wrap="square" lIns="0" tIns="0" rIns="0" bIns="0" rtlCol="0" anchor="ctr"/>
          <a:lstStyle/>
          <a:p>
            <a:pPr algn="l" indent="0" marL="0">
              <a:buNone/>
            </a:pPr>
            <a:r>
              <a:rPr lang="en-US" sz="1150" dirty="0">
                <a:solidFill>
                  <a:srgbClr val="FFFFFF"/>
                </a:solidFill>
                <a:latin typeface="Calibri" pitchFamily="34" charset="0"/>
                <a:ea typeface="Calibri" pitchFamily="34" charset="-122"/>
                <a:cs typeface="Calibri" pitchFamily="34" charset="-120"/>
              </a:rPr>
              <a:t>If you start in the center of the United States and travel _____, you'll reach the Atlantic Ocean. (EAST)</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3A2C1A"/>
        </a:solidFill>
      </p:bgPr>
    </p:bg>
    <p:spTree>
      <p:nvGrpSpPr>
        <p:cNvPr id="1" name=""/>
        <p:cNvGrpSpPr/>
        <p:nvPr/>
      </p:nvGrpSpPr>
      <p:grpSpPr>
        <a:xfrm>
          <a:off x="0" y="0"/>
          <a:ext cx="0" cy="0"/>
          <a:chOff x="0" y="0"/>
          <a:chExt cx="0" cy="0"/>
        </a:xfrm>
      </p:grpSpPr>
      <p:sp>
        <p:nvSpPr>
          <p:cNvPr id="2" name="Shape 0"/>
          <p:cNvSpPr/>
          <p:nvPr/>
        </p:nvSpPr>
        <p:spPr>
          <a:xfrm>
            <a:off x="1524000" y="0"/>
            <a:ext cx="0" cy="5148072"/>
          </a:xfrm>
          <a:prstGeom prst="line">
            <a:avLst/>
          </a:prstGeom>
          <a:noFill/>
          <a:ln w="7620">
            <a:solidFill>
              <a:srgbClr val="C4B49A">
                <a:alpha val="50000"/>
              </a:srgbClr>
            </a:solidFill>
            <a:prstDash val="solid"/>
          </a:ln>
        </p:spPr>
      </p:sp>
      <p:sp>
        <p:nvSpPr>
          <p:cNvPr id="3" name="Shape 1"/>
          <p:cNvSpPr/>
          <p:nvPr/>
        </p:nvSpPr>
        <p:spPr>
          <a:xfrm>
            <a:off x="3048000" y="0"/>
            <a:ext cx="0" cy="5148072"/>
          </a:xfrm>
          <a:prstGeom prst="line">
            <a:avLst/>
          </a:prstGeom>
          <a:noFill/>
          <a:ln w="7620">
            <a:solidFill>
              <a:srgbClr val="C4B49A">
                <a:alpha val="50000"/>
              </a:srgbClr>
            </a:solidFill>
            <a:prstDash val="solid"/>
          </a:ln>
        </p:spPr>
      </p:sp>
      <p:sp>
        <p:nvSpPr>
          <p:cNvPr id="4" name="Shape 2"/>
          <p:cNvSpPr/>
          <p:nvPr/>
        </p:nvSpPr>
        <p:spPr>
          <a:xfrm>
            <a:off x="4572000" y="0"/>
            <a:ext cx="0" cy="5148072"/>
          </a:xfrm>
          <a:prstGeom prst="line">
            <a:avLst/>
          </a:prstGeom>
          <a:noFill/>
          <a:ln w="7620">
            <a:solidFill>
              <a:srgbClr val="C4B49A">
                <a:alpha val="50000"/>
              </a:srgbClr>
            </a:solidFill>
            <a:prstDash val="solid"/>
          </a:ln>
        </p:spPr>
      </p:sp>
      <p:sp>
        <p:nvSpPr>
          <p:cNvPr id="5" name="Shape 3"/>
          <p:cNvSpPr/>
          <p:nvPr/>
        </p:nvSpPr>
        <p:spPr>
          <a:xfrm>
            <a:off x="6096000" y="0"/>
            <a:ext cx="0" cy="5148072"/>
          </a:xfrm>
          <a:prstGeom prst="line">
            <a:avLst/>
          </a:prstGeom>
          <a:noFill/>
          <a:ln w="7620">
            <a:solidFill>
              <a:srgbClr val="C4B49A">
                <a:alpha val="50000"/>
              </a:srgbClr>
            </a:solidFill>
            <a:prstDash val="solid"/>
          </a:ln>
        </p:spPr>
      </p:sp>
      <p:sp>
        <p:nvSpPr>
          <p:cNvPr id="6" name="Shape 4"/>
          <p:cNvSpPr/>
          <p:nvPr/>
        </p:nvSpPr>
        <p:spPr>
          <a:xfrm>
            <a:off x="7620000" y="0"/>
            <a:ext cx="0" cy="5148072"/>
          </a:xfrm>
          <a:prstGeom prst="line">
            <a:avLst/>
          </a:prstGeom>
          <a:noFill/>
          <a:ln w="7620">
            <a:solidFill>
              <a:srgbClr val="C4B49A">
                <a:alpha val="50000"/>
              </a:srgbClr>
            </a:solidFill>
            <a:prstDash val="solid"/>
          </a:ln>
        </p:spPr>
      </p:sp>
      <p:sp>
        <p:nvSpPr>
          <p:cNvPr id="7" name="Shape 5"/>
          <p:cNvSpPr/>
          <p:nvPr/>
        </p:nvSpPr>
        <p:spPr>
          <a:xfrm>
            <a:off x="0" y="1287018"/>
            <a:ext cx="9144000" cy="0"/>
          </a:xfrm>
          <a:prstGeom prst="line">
            <a:avLst/>
          </a:prstGeom>
          <a:noFill/>
          <a:ln w="7620">
            <a:solidFill>
              <a:srgbClr val="C4B49A">
                <a:alpha val="50000"/>
              </a:srgbClr>
            </a:solidFill>
            <a:prstDash val="solid"/>
          </a:ln>
        </p:spPr>
      </p:sp>
      <p:sp>
        <p:nvSpPr>
          <p:cNvPr id="8" name="Shape 6"/>
          <p:cNvSpPr/>
          <p:nvPr/>
        </p:nvSpPr>
        <p:spPr>
          <a:xfrm>
            <a:off x="0" y="2574036"/>
            <a:ext cx="9144000" cy="0"/>
          </a:xfrm>
          <a:prstGeom prst="line">
            <a:avLst/>
          </a:prstGeom>
          <a:noFill/>
          <a:ln w="7620">
            <a:solidFill>
              <a:srgbClr val="C4B49A">
                <a:alpha val="50000"/>
              </a:srgbClr>
            </a:solidFill>
            <a:prstDash val="solid"/>
          </a:ln>
        </p:spPr>
      </p:sp>
      <p:sp>
        <p:nvSpPr>
          <p:cNvPr id="9" name="Shape 7"/>
          <p:cNvSpPr/>
          <p:nvPr/>
        </p:nvSpPr>
        <p:spPr>
          <a:xfrm>
            <a:off x="0" y="3861054"/>
            <a:ext cx="9144000" cy="0"/>
          </a:xfrm>
          <a:prstGeom prst="line">
            <a:avLst/>
          </a:prstGeom>
          <a:noFill/>
          <a:ln w="7620">
            <a:solidFill>
              <a:srgbClr val="C4B49A">
                <a:alpha val="50000"/>
              </a:srgbClr>
            </a:solidFill>
            <a:prstDash val="solid"/>
          </a:ln>
        </p:spPr>
      </p:sp>
      <p:sp>
        <p:nvSpPr>
          <p:cNvPr id="10" name="Shape 8"/>
          <p:cNvSpPr/>
          <p:nvPr/>
        </p:nvSpPr>
        <p:spPr>
          <a:xfrm>
            <a:off x="914400" y="228600"/>
            <a:ext cx="7315200" cy="4114800"/>
          </a:xfrm>
          <a:prstGeom prst="ellipse">
            <a:avLst/>
          </a:prstGeom>
          <a:solidFill>
            <a:srgbClr val="D4943A">
              <a:alpha val="15000"/>
            </a:srgbClr>
          </a:solidFill>
          <a:ln w="12700">
            <a:solidFill>
              <a:srgbClr val="333333"/>
            </a:solidFill>
            <a:prstDash val="solid"/>
          </a:ln>
        </p:spPr>
      </p:sp>
      <p:sp>
        <p:nvSpPr>
          <p:cNvPr id="11" name="Shape 9"/>
          <p:cNvSpPr/>
          <p:nvPr/>
        </p:nvSpPr>
        <p:spPr>
          <a:xfrm>
            <a:off x="2523744" y="1133856"/>
            <a:ext cx="4096512" cy="2304288"/>
          </a:xfrm>
          <a:prstGeom prst="ellipse">
            <a:avLst/>
          </a:prstGeom>
          <a:solidFill>
            <a:srgbClr val="D4943A">
              <a:alpha val="26000"/>
            </a:srgbClr>
          </a:solidFill>
          <a:ln w="12700">
            <a:solidFill>
              <a:srgbClr val="333333"/>
            </a:solidFill>
            <a:prstDash val="solid"/>
          </a:ln>
        </p:spPr>
      </p:sp>
      <p:sp>
        <p:nvSpPr>
          <p:cNvPr id="12" name="Text 10"/>
          <p:cNvSpPr/>
          <p:nvPr/>
        </p:nvSpPr>
        <p:spPr>
          <a:xfrm>
            <a:off x="457200" y="182880"/>
            <a:ext cx="8229600" cy="548640"/>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Courtesy: Speaking the Same Language</a:t>
            </a:r>
            <a:endParaRPr lang="en-US" sz="2800" dirty="0"/>
          </a:p>
        </p:txBody>
      </p:sp>
      <p:sp>
        <p:nvSpPr>
          <p:cNvPr id="13" name="Shape 11"/>
          <p:cNvSpPr/>
          <p:nvPr/>
        </p:nvSpPr>
        <p:spPr>
          <a:xfrm>
            <a:off x="402336" y="859536"/>
            <a:ext cx="8339328" cy="1956816"/>
          </a:xfrm>
          <a:prstGeom prst="roundRect">
            <a:avLst>
              <a:gd name="adj" fmla="val 4673"/>
            </a:avLst>
          </a:prstGeom>
          <a:solidFill>
            <a:srgbClr val="2D5A27">
              <a:alpha val="18000"/>
            </a:srgbClr>
          </a:solidFill>
          <a:ln w="19050">
            <a:solidFill>
              <a:srgbClr val="4A8A42"/>
            </a:solidFill>
            <a:prstDash val="solid"/>
          </a:ln>
        </p:spPr>
      </p:sp>
      <p:sp>
        <p:nvSpPr>
          <p:cNvPr id="14" name="Text 12"/>
          <p:cNvSpPr/>
          <p:nvPr/>
        </p:nvSpPr>
        <p:spPr>
          <a:xfrm>
            <a:off x="585216" y="932688"/>
            <a:ext cx="7973568" cy="1792224"/>
          </a:xfrm>
          <a:prstGeom prst="rect">
            <a:avLst/>
          </a:prstGeom>
          <a:noFill/>
          <a:ln/>
        </p:spPr>
        <p:txBody>
          <a:bodyPr wrap="square" rtlCol="0" anchor="ctr"/>
          <a:lstStyle/>
          <a:p>
            <a:pPr algn="l" indent="0" marL="0">
              <a:lnSpc>
                <a:spcPct val="150000"/>
              </a:lnSpc>
              <a:buNone/>
            </a:pPr>
            <a:r>
              <a:rPr lang="en-US" sz="1300" dirty="0">
                <a:solidFill>
                  <a:srgbClr val="F5EDD8"/>
                </a:solidFill>
                <a:latin typeface="Calibri" pitchFamily="34" charset="0"/>
                <a:ea typeface="Calibri" pitchFamily="34" charset="-122"/>
                <a:cs typeface="Calibri" pitchFamily="34" charset="-120"/>
              </a:rPr>
              <a:t>Cardinal directions are a form of courtesy — they let you give directions that work for EVERYONE, not just people who share your perspective or know which way you're facing. When you say 'North,' you're speaking to every person on earth in a language they can understand. That's courtesy at the most practical level: clear, precise, universal communication.</a:t>
            </a:r>
            <a:endParaRPr lang="en-US" sz="1300" dirty="0"/>
          </a:p>
        </p:txBody>
      </p:sp>
      <p:sp>
        <p:nvSpPr>
          <p:cNvPr id="15" name="Shape 13"/>
          <p:cNvSpPr/>
          <p:nvPr/>
        </p:nvSpPr>
        <p:spPr>
          <a:xfrm>
            <a:off x="402336" y="2907792"/>
            <a:ext cx="8339328" cy="420624"/>
          </a:xfrm>
          <a:prstGeom prst="roundRect">
            <a:avLst>
              <a:gd name="adj" fmla="val 19565"/>
            </a:avLst>
          </a:prstGeom>
          <a:solidFill>
            <a:srgbClr val="1A8A7D">
              <a:alpha val="78000"/>
            </a:srgbClr>
          </a:solidFill>
          <a:ln w="19050">
            <a:solidFill>
              <a:srgbClr val="34B0A0"/>
            </a:solidFill>
            <a:prstDash val="solid"/>
          </a:ln>
        </p:spPr>
      </p:sp>
      <p:sp>
        <p:nvSpPr>
          <p:cNvPr id="16" name="Text 14"/>
          <p:cNvSpPr/>
          <p:nvPr/>
        </p:nvSpPr>
        <p:spPr>
          <a:xfrm>
            <a:off x="566928" y="2907792"/>
            <a:ext cx="801014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In the Chat: Describe where you live — relative to your school — using ONLY cardinal or intermediate directions and distances.</a:t>
            </a:r>
            <a:endParaRPr lang="en-US" sz="1300" dirty="0"/>
          </a:p>
        </p:txBody>
      </p:sp>
      <p:sp>
        <p:nvSpPr>
          <p:cNvPr id="17" name="Shape 15"/>
          <p:cNvSpPr/>
          <p:nvPr/>
        </p:nvSpPr>
        <p:spPr>
          <a:xfrm>
            <a:off x="1014984" y="4645152"/>
            <a:ext cx="164592" cy="256032"/>
          </a:xfrm>
          <a:prstGeom prst="ellipse">
            <a:avLst/>
          </a:prstGeom>
          <a:solidFill>
            <a:srgbClr val="D4943A"/>
          </a:solidFill>
          <a:ln w="12700">
            <a:solidFill>
              <a:srgbClr val="333333"/>
            </a:solidFill>
            <a:prstDash val="solid"/>
          </a:ln>
        </p:spPr>
      </p:sp>
      <p:sp>
        <p:nvSpPr>
          <p:cNvPr id="18" name="Shape 16"/>
          <p:cNvSpPr/>
          <p:nvPr/>
        </p:nvSpPr>
        <p:spPr>
          <a:xfrm>
            <a:off x="7964424" y="4645152"/>
            <a:ext cx="164592" cy="256032"/>
          </a:xfrm>
          <a:prstGeom prst="ellipse">
            <a:avLst/>
          </a:prstGeom>
          <a:solidFill>
            <a:srgbClr val="D4943A"/>
          </a:solidFill>
          <a:ln w="12700">
            <a:solidFill>
              <a:srgbClr val="333333"/>
            </a:solidFill>
            <a:prstDash val="solid"/>
          </a:ln>
        </p:spPr>
      </p:sp>
      <p:sp>
        <p:nvSpPr>
          <p:cNvPr id="19" name="Shape 17"/>
          <p:cNvSpPr/>
          <p:nvPr/>
        </p:nvSpPr>
        <p:spPr>
          <a:xfrm>
            <a:off x="1097280" y="4773168"/>
            <a:ext cx="6949440" cy="0"/>
          </a:xfrm>
          <a:prstGeom prst="line">
            <a:avLst/>
          </a:prstGeom>
          <a:noFill/>
          <a:ln w="31750">
            <a:solidFill>
              <a:srgbClr val="D4943A"/>
            </a:solidFill>
            <a:prstDash val="solid"/>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G3 SS 3.03.02 — Cardinal and Intermediate Directions</dc:title>
  <dc:subject>PptxGenJS Presentation</dc:subject>
  <dc:creator>PptxGenJS</dc:creator>
  <cp:lastModifiedBy>PptxGenJS</cp:lastModifiedBy>
  <cp:revision>1</cp:revision>
  <dcterms:created xsi:type="dcterms:W3CDTF">2026-07-06T23:19:56Z</dcterms:created>
  <dcterms:modified xsi:type="dcterms:W3CDTF">2026-07-06T23:19:56Z</dcterms:modified>
</cp:coreProperties>
</file>