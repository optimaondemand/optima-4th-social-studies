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museum's second wing opens today: the Explorer's Vault. This unit examines one of the most powerful human impulses — the drive to go beyond what is known. Begin: 'The doors of a new wing are opening. This wing is darker. More dangerous. And much more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dramatically. Pause after 'many of them never came back.' Let the silence sit. Then: 'So why did they go?' Don't answer yet — let students sit with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Push/pull is one of the most useful frameworks in all of social studies — it applies to immigration, migration, economic decisions, even everyday choices. Ask: 'Think about something YOU decided to do recently. Was there a push factor? A pull factor?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Gs are how the explorers themselves framed their missions — but historians push back: 'Who got to define what God wanted? Who decided what counted as glory? Were all three Gs truly equal, or did different people weight them differently?' These are the WHY/HOW questions of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1-Gold, 2-Glory, 3-God, 4-All three. The last one is the most interesting — explorers rarely had just ONE motivation. Ask: 'If YOU were an explorer in 1490, which G would be YOUR biggest reason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Socratic moment. Don't pick a winner — present all three as legitimate. Ask: 'Can ALL three be true at the same time?' Yes. That's the complexity of historical causation. No single reason explains why history happened the way it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discuss 3-4 minutes. When they return: ask each group to give a one-sentence decision and reason. Keep a tally on screen: Go vs. Stay. Discuss: 'Are the groups that said no less courageous than the ones that said yes? Or does courage look different for different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'These explorers shaped the world we live in — for better and for worse. Over the next several lessons you'll examine their tools, their routes, and their impact. Some of what you find will be inspiring. Some will be uncomfortable. Both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0" y="3474720"/>
            <a:ext cx="9144000" cy="1673352"/>
          </a:xfrm>
          <a:prstGeom prst="rect">
            <a:avLst/>
          </a:prstGeom>
          <a:solidFill>
            <a:srgbClr val="0D2E5A"/>
          </a:solidFill>
          <a:ln w="12700">
            <a:solidFill>
              <a:srgbClr val="333333"/>
            </a:solidFill>
            <a:prstDash val="solid"/>
          </a:ln>
        </p:spPr>
      </p:sp>
      <p:sp>
        <p:nvSpPr>
          <p:cNvPr id="3" name="Shape 1"/>
          <p:cNvSpPr/>
          <p:nvPr/>
        </p:nvSpPr>
        <p:spPr>
          <a:xfrm>
            <a:off x="0" y="2743200"/>
            <a:ext cx="9144000" cy="3657600"/>
          </a:xfrm>
          <a:prstGeom prst="ellipse">
            <a:avLst/>
          </a:prstGeom>
          <a:solidFill>
            <a:srgbClr val="D4AF37">
              <a:alpha val="14000"/>
            </a:srgbClr>
          </a:solidFill>
          <a:ln w="12700">
            <a:solidFill>
              <a:srgbClr val="333333"/>
            </a:solidFill>
            <a:prstDash val="solid"/>
          </a:ln>
        </p:spPr>
      </p:sp>
      <p:sp>
        <p:nvSpPr>
          <p:cNvPr id="4" name="Shape 2"/>
          <p:cNvSpPr/>
          <p:nvPr/>
        </p:nvSpPr>
        <p:spPr>
          <a:xfrm>
            <a:off x="2011680" y="3547872"/>
            <a:ext cx="5120640" cy="2048256"/>
          </a:xfrm>
          <a:prstGeom prst="ellipse">
            <a:avLst/>
          </a:prstGeom>
          <a:solidFill>
            <a:srgbClr val="D4AF37">
              <a:alpha val="25000"/>
            </a:srgbClr>
          </a:solidFill>
          <a:ln w="12700">
            <a:solidFill>
              <a:srgbClr val="333333"/>
            </a:solidFill>
            <a:prstDash val="solid"/>
          </a:ln>
        </p:spPr>
      </p:sp>
      <p:sp>
        <p:nvSpPr>
          <p:cNvPr id="5" name="Shape 3"/>
          <p:cNvSpPr/>
          <p:nvPr/>
        </p:nvSpPr>
        <p:spPr>
          <a:xfrm>
            <a:off x="0" y="3840480"/>
            <a:ext cx="9144000" cy="0"/>
          </a:xfrm>
          <a:prstGeom prst="line">
            <a:avLst/>
          </a:prstGeom>
          <a:noFill/>
          <a:ln w="6350">
            <a:solidFill>
              <a:srgbClr val="FFFFFF">
                <a:alpha val="6000"/>
              </a:srgbClr>
            </a:solidFill>
            <a:prstDash val="solid"/>
          </a:ln>
        </p:spPr>
      </p:sp>
      <p:sp>
        <p:nvSpPr>
          <p:cNvPr id="6" name="Shape 4"/>
          <p:cNvSpPr/>
          <p:nvPr/>
        </p:nvSpPr>
        <p:spPr>
          <a:xfrm>
            <a:off x="0" y="4041648"/>
            <a:ext cx="9144000" cy="0"/>
          </a:xfrm>
          <a:prstGeom prst="line">
            <a:avLst/>
          </a:prstGeom>
          <a:noFill/>
          <a:ln w="6350">
            <a:solidFill>
              <a:srgbClr val="FFFFFF">
                <a:alpha val="14000"/>
              </a:srgbClr>
            </a:solidFill>
            <a:prstDash val="solid"/>
          </a:ln>
        </p:spPr>
      </p:sp>
      <p:sp>
        <p:nvSpPr>
          <p:cNvPr id="7" name="Shape 5"/>
          <p:cNvSpPr/>
          <p:nvPr/>
        </p:nvSpPr>
        <p:spPr>
          <a:xfrm>
            <a:off x="0" y="4242816"/>
            <a:ext cx="9144000" cy="0"/>
          </a:xfrm>
          <a:prstGeom prst="line">
            <a:avLst/>
          </a:prstGeom>
          <a:noFill/>
          <a:ln w="6350">
            <a:solidFill>
              <a:srgbClr val="FFFFFF">
                <a:alpha val="22000"/>
              </a:srgbClr>
            </a:solidFill>
            <a:prstDash val="solid"/>
          </a:ln>
        </p:spPr>
      </p:sp>
      <p:sp>
        <p:nvSpPr>
          <p:cNvPr id="8" name="Shape 6"/>
          <p:cNvSpPr/>
          <p:nvPr/>
        </p:nvSpPr>
        <p:spPr>
          <a:xfrm>
            <a:off x="0" y="4443984"/>
            <a:ext cx="9144000" cy="0"/>
          </a:xfrm>
          <a:prstGeom prst="line">
            <a:avLst/>
          </a:prstGeom>
          <a:noFill/>
          <a:ln w="6350">
            <a:solidFill>
              <a:srgbClr val="FFFFFF">
                <a:alpha val="30000"/>
              </a:srgbClr>
            </a:solidFill>
            <a:prstDash val="solid"/>
          </a:ln>
        </p:spPr>
      </p:sp>
      <p:sp>
        <p:nvSpPr>
          <p:cNvPr id="9" name="Shape 7"/>
          <p:cNvSpPr/>
          <p:nvPr/>
        </p:nvSpPr>
        <p:spPr>
          <a:xfrm>
            <a:off x="0" y="4645152"/>
            <a:ext cx="9144000" cy="0"/>
          </a:xfrm>
          <a:prstGeom prst="line">
            <a:avLst/>
          </a:prstGeom>
          <a:noFill/>
          <a:ln w="6350">
            <a:solidFill>
              <a:srgbClr val="FFFFFF">
                <a:alpha val="38000"/>
              </a:srgbClr>
            </a:solidFill>
            <a:prstDash val="solid"/>
          </a:ln>
        </p:spPr>
      </p:sp>
      <p:sp>
        <p:nvSpPr>
          <p:cNvPr id="10" name="Shape 8"/>
          <p:cNvSpPr/>
          <p:nvPr/>
        </p:nvSpPr>
        <p:spPr>
          <a:xfrm>
            <a:off x="0" y="0"/>
            <a:ext cx="9144000" cy="50292"/>
          </a:xfrm>
          <a:prstGeom prst="rect">
            <a:avLst/>
          </a:prstGeom>
          <a:solidFill>
            <a:srgbClr val="D4AF37"/>
          </a:solidFill>
          <a:ln w="12700">
            <a:solidFill>
              <a:srgbClr val="333333"/>
            </a:solidFill>
            <a:prstDash val="solid"/>
          </a:ln>
        </p:spPr>
      </p:sp>
      <p:sp>
        <p:nvSpPr>
          <p:cNvPr id="11" name="Shape 9"/>
          <p:cNvSpPr/>
          <p:nvPr/>
        </p:nvSpPr>
        <p:spPr>
          <a:xfrm>
            <a:off x="1645920" y="164592"/>
            <a:ext cx="5852160" cy="475488"/>
          </a:xfrm>
          <a:prstGeom prst="roundRect">
            <a:avLst>
              <a:gd name="adj" fmla="val 13462"/>
            </a:avLst>
          </a:prstGeom>
          <a:solidFill>
            <a:srgbClr val="D4AF37">
              <a:alpha val="18000"/>
            </a:srgbClr>
          </a:solidFill>
          <a:ln w="12700">
            <a:solidFill>
              <a:srgbClr val="D4AF37"/>
            </a:solidFill>
            <a:prstDash val="solid"/>
          </a:ln>
        </p:spPr>
      </p:sp>
      <p:sp>
        <p:nvSpPr>
          <p:cNvPr id="12" name="Text 10"/>
          <p:cNvSpPr/>
          <p:nvPr/>
        </p:nvSpPr>
        <p:spPr>
          <a:xfrm>
            <a:off x="1645920" y="164592"/>
            <a:ext cx="5852160" cy="475488"/>
          </a:xfrm>
          <a:prstGeom prst="rect">
            <a:avLst/>
          </a:prstGeom>
          <a:noFill/>
          <a:ln/>
        </p:spPr>
        <p:txBody>
          <a:bodyPr wrap="square" lIns="0" tIns="0" rIns="0" bIns="0" rtlCol="0" anchor="ctr"/>
          <a:lstStyle/>
          <a:p>
            <a:pPr algn="ctr" indent="0" marL="0">
              <a:buNone/>
            </a:pPr>
            <a:r>
              <a:rPr lang="en-US" sz="1050" b="1" spc="250" kern="0" dirty="0">
                <a:solidFill>
                  <a:srgbClr val="D4AF37"/>
                </a:solidFill>
                <a:latin typeface="Calibri" pitchFamily="34" charset="0"/>
                <a:ea typeface="Calibri" pitchFamily="34" charset="-122"/>
                <a:cs typeface="Calibri" pitchFamily="34" charset="-120"/>
              </a:rPr>
              <a:t>EXPLORER'S VAULT  ·  UNIT 2  ·  WEEK 4</a:t>
            </a:r>
            <a:endParaRPr lang="en-US" sz="1050" dirty="0"/>
          </a:p>
        </p:txBody>
      </p:sp>
      <p:sp>
        <p:nvSpPr>
          <p:cNvPr id="13" name="Text 11"/>
          <p:cNvSpPr/>
          <p:nvPr/>
        </p:nvSpPr>
        <p:spPr>
          <a:xfrm>
            <a:off x="731520" y="768096"/>
            <a:ext cx="7680960" cy="2651760"/>
          </a:xfrm>
          <a:prstGeom prst="rect">
            <a:avLst/>
          </a:prstGeom>
          <a:noFill/>
          <a:ln/>
        </p:spPr>
        <p:txBody>
          <a:bodyPr wrap="square" lIns="0" tIns="0" rIns="0" bIns="0" rtlCol="0" anchor="ctr"/>
          <a:lstStyle/>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Why People</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Explore</a:t>
            </a:r>
            <a:endParaRPr lang="en-US" sz="5200" dirty="0"/>
          </a:p>
        </p:txBody>
      </p:sp>
      <p:sp>
        <p:nvSpPr>
          <p:cNvPr id="14" name="Text 12"/>
          <p:cNvSpPr/>
          <p:nvPr/>
        </p:nvSpPr>
        <p:spPr>
          <a:xfrm>
            <a:off x="1371600" y="3511296"/>
            <a:ext cx="6400800" cy="347472"/>
          </a:xfrm>
          <a:prstGeom prst="rect">
            <a:avLst/>
          </a:prstGeom>
          <a:noFill/>
          <a:ln/>
        </p:spPr>
        <p:txBody>
          <a:bodyPr wrap="square" lIns="0" tIns="0" rIns="0" bIns="0" rtlCol="0" anchor="ctr"/>
          <a:lstStyle/>
          <a:p>
            <a:pPr algn="ctr" indent="0" marL="0">
              <a:buNone/>
            </a:pPr>
            <a:r>
              <a:rPr lang="en-US" sz="1250" dirty="0">
                <a:solidFill>
                  <a:srgbClr val="D4AF37"/>
                </a:solidFill>
                <a:latin typeface="Calibri" pitchFamily="34" charset="0"/>
                <a:ea typeface="Calibri" pitchFamily="34" charset="-122"/>
                <a:cs typeface="Calibri" pitchFamily="34" charset="-120"/>
              </a:rPr>
              <a:t>Lesson 3.02.01  ·  3rd Grade Social Studies</a:t>
            </a:r>
            <a:endParaRPr lang="en-US" sz="1250" dirty="0"/>
          </a:p>
        </p:txBody>
      </p:sp>
      <p:sp>
        <p:nvSpPr>
          <p:cNvPr id="15" name="Shape 13"/>
          <p:cNvSpPr/>
          <p:nvPr/>
        </p:nvSpPr>
        <p:spPr>
          <a:xfrm>
            <a:off x="2560320" y="3931920"/>
            <a:ext cx="4023360" cy="603504"/>
          </a:xfrm>
          <a:prstGeom prst="roundRect">
            <a:avLst>
              <a:gd name="adj" fmla="val 15152"/>
            </a:avLst>
          </a:prstGeom>
          <a:solidFill>
            <a:srgbClr val="9B1C2E">
              <a:alpha val="20000"/>
            </a:srgbClr>
          </a:solidFill>
          <a:ln w="19050">
            <a:solidFill>
              <a:srgbClr val="9B1C2E"/>
            </a:solidFill>
            <a:prstDash val="solid"/>
          </a:ln>
        </p:spPr>
      </p:sp>
      <p:sp>
        <p:nvSpPr>
          <p:cNvPr id="16" name="Text 14"/>
          <p:cNvSpPr/>
          <p:nvPr/>
        </p:nvSpPr>
        <p:spPr>
          <a:xfrm>
            <a:off x="2560320" y="3931920"/>
            <a:ext cx="4023360"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Enter the Scene  ·  Virtue: Courage</a:t>
            </a:r>
            <a:endParaRPr lang="en-US" sz="1200" dirty="0"/>
          </a:p>
        </p:txBody>
      </p:sp>
      <p:sp>
        <p:nvSpPr>
          <p:cNvPr id="17" name="Shape 15"/>
          <p:cNvSpPr/>
          <p:nvPr/>
        </p:nvSpPr>
        <p:spPr>
          <a:xfrm>
            <a:off x="923544" y="4736592"/>
            <a:ext cx="164592" cy="256032"/>
          </a:xfrm>
          <a:prstGeom prst="ellipse">
            <a:avLst/>
          </a:prstGeom>
          <a:solidFill>
            <a:srgbClr val="D4AF37"/>
          </a:solidFill>
          <a:ln w="12700">
            <a:solidFill>
              <a:srgbClr val="333333"/>
            </a:solidFill>
            <a:prstDash val="solid"/>
          </a:ln>
        </p:spPr>
      </p:sp>
      <p:sp>
        <p:nvSpPr>
          <p:cNvPr id="18" name="Shape 16"/>
          <p:cNvSpPr/>
          <p:nvPr/>
        </p:nvSpPr>
        <p:spPr>
          <a:xfrm>
            <a:off x="8055864" y="4736592"/>
            <a:ext cx="164592" cy="256032"/>
          </a:xfrm>
          <a:prstGeom prst="ellipse">
            <a:avLst/>
          </a:prstGeom>
          <a:solidFill>
            <a:srgbClr val="D4AF37"/>
          </a:solidFill>
          <a:ln w="12700">
            <a:solidFill>
              <a:srgbClr val="333333"/>
            </a:solidFill>
            <a:prstDash val="solid"/>
          </a:ln>
        </p:spPr>
      </p:sp>
      <p:sp>
        <p:nvSpPr>
          <p:cNvPr id="19" name="Shape 17"/>
          <p:cNvSpPr/>
          <p:nvPr/>
        </p:nvSpPr>
        <p:spPr>
          <a:xfrm>
            <a:off x="1005840" y="4864608"/>
            <a:ext cx="7132320" cy="0"/>
          </a:xfrm>
          <a:prstGeom prst="line">
            <a:avLst/>
          </a:prstGeom>
          <a:noFill/>
          <a:ln w="31750">
            <a:solidFill>
              <a:srgbClr val="D4AF3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0" y="0"/>
            <a:ext cx="9144000" cy="5486400"/>
          </a:xfrm>
          <a:prstGeom prst="ellipse">
            <a:avLst/>
          </a:prstGeom>
          <a:solidFill>
            <a:srgbClr val="9B1C2E">
              <a:alpha val="14000"/>
            </a:srgbClr>
          </a:solidFill>
          <a:ln w="12700">
            <a:solidFill>
              <a:srgbClr val="333333"/>
            </a:solidFill>
            <a:prstDash val="solid"/>
          </a:ln>
        </p:spPr>
      </p:sp>
      <p:sp>
        <p:nvSpPr>
          <p:cNvPr id="3" name="Shape 1"/>
          <p:cNvSpPr/>
          <p:nvPr/>
        </p:nvSpPr>
        <p:spPr>
          <a:xfrm>
            <a:off x="2011680" y="1207008"/>
            <a:ext cx="5120640" cy="3072384"/>
          </a:xfrm>
          <a:prstGeom prst="ellipse">
            <a:avLst/>
          </a:prstGeom>
          <a:solidFill>
            <a:srgbClr val="9B1C2E">
              <a:alpha val="25000"/>
            </a:srgbClr>
          </a:solidFill>
          <a:ln w="12700">
            <a:solidFill>
              <a:srgbClr val="333333"/>
            </a:solidFill>
            <a:prstDash val="solid"/>
          </a:ln>
        </p:spPr>
      </p:sp>
      <p:sp>
        <p:nvSpPr>
          <p:cNvPr id="4" name="Shape 2"/>
          <p:cNvSpPr/>
          <p:nvPr/>
        </p:nvSpPr>
        <p:spPr>
          <a:xfrm>
            <a:off x="548640" y="274320"/>
            <a:ext cx="8046720" cy="4389120"/>
          </a:xfrm>
          <a:prstGeom prst="roundRect">
            <a:avLst>
              <a:gd name="adj" fmla="val 2917"/>
            </a:avLst>
          </a:prstGeom>
          <a:solidFill>
            <a:srgbClr val="0D2E5A">
              <a:alpha val="40000"/>
            </a:srgbClr>
          </a:solidFill>
          <a:ln w="25400">
            <a:solidFill>
              <a:srgbClr val="D4AF37"/>
            </a:solidFill>
            <a:prstDash val="solid"/>
          </a:ln>
          <a:effectLst>
            <a:outerShdw sx="100000" sy="100000" kx="0" ky="0" algn="bl" rotWithShape="0" blurRad="203200" dist="63500" dir="2700000">
              <a:srgbClr val="000000">
                <a:alpha val="25000"/>
              </a:srgbClr>
            </a:outerShdw>
          </a:effectLst>
        </p:spPr>
      </p:sp>
      <p:sp>
        <p:nvSpPr>
          <p:cNvPr id="5" name="Text 3"/>
          <p:cNvSpPr/>
          <p:nvPr/>
        </p:nvSpPr>
        <p:spPr>
          <a:xfrm>
            <a:off x="731520" y="475488"/>
            <a:ext cx="7680960" cy="566928"/>
          </a:xfrm>
          <a:prstGeom prst="rect">
            <a:avLst/>
          </a:prstGeom>
          <a:noFill/>
          <a:ln/>
        </p:spPr>
        <p:txBody>
          <a:bodyPr wrap="square" rtlCol="0" anchor="ctr"/>
          <a:lstStyle/>
          <a:p>
            <a:pPr algn="ctr" indent="0" marL="0">
              <a:buNone/>
            </a:pPr>
            <a:r>
              <a:rPr lang="en-US" sz="2400" b="1" dirty="0">
                <a:solidFill>
                  <a:srgbClr val="D4AF37"/>
                </a:solidFill>
                <a:latin typeface="Cambria" pitchFamily="34" charset="0"/>
                <a:ea typeface="Cambria" pitchFamily="34" charset="-122"/>
                <a:cs typeface="Cambria" pitchFamily="34" charset="-120"/>
              </a:rPr>
              <a:t>A new wing of the museum is open.</a:t>
            </a:r>
            <a:endParaRPr lang="en-US" sz="2400" dirty="0"/>
          </a:p>
        </p:txBody>
      </p:sp>
      <p:sp>
        <p:nvSpPr>
          <p:cNvPr id="6" name="Text 4"/>
          <p:cNvSpPr/>
          <p:nvPr/>
        </p:nvSpPr>
        <p:spPr>
          <a:xfrm>
            <a:off x="731520" y="1115568"/>
            <a:ext cx="7680960" cy="3383280"/>
          </a:xfrm>
          <a:prstGeom prst="rect">
            <a:avLst/>
          </a:prstGeom>
          <a:noFill/>
          <a:ln/>
        </p:spPr>
        <p:txBody>
          <a:bodyPr wrap="square" rtlCol="0" anchor="t"/>
          <a:lstStyle/>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The Explorer's Vault holds the stories of people who left everything they knew — and sailed into the unknown.</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They didn't have GPS. They couldn't video call home. They couldn't search for weather forecasts online.</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Many of them never came back.</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So why did they go?</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That is the question that opens this entire wing of the museum.</a:t>
            </a: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And it is not a simple question — because the answer is never just one thing.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71E3D"/>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Push and Pull: The Engine of Exploration</a:t>
            </a:r>
            <a:endParaRPr lang="en-US" sz="2200" dirty="0"/>
          </a:p>
        </p:txBody>
      </p:sp>
      <p:sp>
        <p:nvSpPr>
          <p:cNvPr id="4" name="Shape 2"/>
          <p:cNvSpPr/>
          <p:nvPr/>
        </p:nvSpPr>
        <p:spPr>
          <a:xfrm>
            <a:off x="347472" y="768096"/>
            <a:ext cx="4151376" cy="4224528"/>
          </a:xfrm>
          <a:prstGeom prst="roundRect">
            <a:avLst>
              <a:gd name="adj" fmla="val 2203"/>
            </a:avLst>
          </a:prstGeom>
          <a:solidFill>
            <a:srgbClr val="9B1C2E">
              <a:alpha val="8000"/>
            </a:srgbClr>
          </a:solidFill>
          <a:ln w="19050">
            <a:solidFill>
              <a:srgbClr val="9B1C2E"/>
            </a:solidFill>
            <a:prstDash val="solid"/>
          </a:ln>
        </p:spPr>
      </p:sp>
      <p:sp>
        <p:nvSpPr>
          <p:cNvPr id="5" name="Text 3"/>
          <p:cNvSpPr/>
          <p:nvPr/>
        </p:nvSpPr>
        <p:spPr>
          <a:xfrm>
            <a:off x="530352" y="859536"/>
            <a:ext cx="3785616" cy="438912"/>
          </a:xfrm>
          <a:prstGeom prst="rect">
            <a:avLst/>
          </a:prstGeom>
          <a:noFill/>
          <a:ln/>
        </p:spPr>
        <p:txBody>
          <a:bodyPr wrap="square" lIns="0" tIns="0" rIns="0" bIns="0" rtlCol="0" anchor="ctr"/>
          <a:lstStyle/>
          <a:p>
            <a:pPr algn="ctr" indent="0" marL="0">
              <a:buNone/>
            </a:pPr>
            <a:r>
              <a:rPr lang="en-US" sz="1400" b="1" spc="150" kern="0" dirty="0">
                <a:solidFill>
                  <a:srgbClr val="9B1C2E"/>
                </a:solidFill>
                <a:latin typeface="Cambria" pitchFamily="34" charset="0"/>
                <a:ea typeface="Cambria" pitchFamily="34" charset="-122"/>
                <a:cs typeface="Cambria" pitchFamily="34" charset="-120"/>
              </a:rPr>
              <a:t>PUSH FACTORS</a:t>
            </a:r>
            <a:endParaRPr lang="en-US" sz="1400" dirty="0"/>
          </a:p>
        </p:txBody>
      </p:sp>
      <p:sp>
        <p:nvSpPr>
          <p:cNvPr id="6" name="Text 4"/>
          <p:cNvSpPr/>
          <p:nvPr/>
        </p:nvSpPr>
        <p:spPr>
          <a:xfrm>
            <a:off x="530352" y="1316736"/>
            <a:ext cx="3785616" cy="530352"/>
          </a:xfrm>
          <a:prstGeom prst="rect">
            <a:avLst/>
          </a:prstGeom>
          <a:noFill/>
          <a:ln/>
        </p:spPr>
        <p:txBody>
          <a:bodyPr wrap="square" rtlCol="0" anchor="ctr"/>
          <a:lstStyle/>
          <a:p>
            <a:pPr algn="ctr" indent="0" marL="0">
              <a:lnSpc>
                <a:spcPct val="130000"/>
              </a:lnSpc>
              <a:buNone/>
            </a:pPr>
            <a:r>
              <a:rPr lang="en-US" sz="1200" i="1" dirty="0">
                <a:solidFill>
                  <a:srgbClr val="3A4A6B"/>
                </a:solidFill>
                <a:latin typeface="Calibri" pitchFamily="34" charset="0"/>
                <a:ea typeface="Calibri" pitchFamily="34" charset="-122"/>
                <a:cs typeface="Calibri" pitchFamily="34" charset="-120"/>
              </a:rPr>
              <a:t>Things that DROVE people</a:t>
            </a:r>
            <a:endParaRPr lang="en-US" sz="1200" dirty="0"/>
          </a:p>
          <a:p>
            <a:pPr algn="ctr" indent="0" marL="0">
              <a:lnSpc>
                <a:spcPct val="130000"/>
              </a:lnSpc>
              <a:buNone/>
            </a:pPr>
            <a:r>
              <a:rPr lang="en-US" sz="1200" i="1" dirty="0">
                <a:solidFill>
                  <a:srgbClr val="3A4A6B"/>
                </a:solidFill>
                <a:latin typeface="Calibri" pitchFamily="34" charset="0"/>
                <a:ea typeface="Calibri" pitchFamily="34" charset="-122"/>
                <a:cs typeface="Calibri" pitchFamily="34" charset="-120"/>
              </a:rPr>
              <a:t>AWAY from where they were</a:t>
            </a:r>
            <a:endParaRPr lang="en-US" sz="1200" dirty="0"/>
          </a:p>
        </p:txBody>
      </p:sp>
      <p:sp>
        <p:nvSpPr>
          <p:cNvPr id="7" name="Text 5"/>
          <p:cNvSpPr/>
          <p:nvPr/>
        </p:nvSpPr>
        <p:spPr>
          <a:xfrm>
            <a:off x="621792" y="1920240"/>
            <a:ext cx="369417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Poverty — not enough food or money</a:t>
            </a:r>
            <a:endParaRPr lang="en-US" sz="1150" dirty="0"/>
          </a:p>
        </p:txBody>
      </p:sp>
      <p:sp>
        <p:nvSpPr>
          <p:cNvPr id="8" name="Text 6"/>
          <p:cNvSpPr/>
          <p:nvPr/>
        </p:nvSpPr>
        <p:spPr>
          <a:xfrm>
            <a:off x="621792" y="2395728"/>
            <a:ext cx="369417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Religious persecution</a:t>
            </a:r>
            <a:endParaRPr lang="en-US" sz="1150" dirty="0"/>
          </a:p>
        </p:txBody>
      </p:sp>
      <p:sp>
        <p:nvSpPr>
          <p:cNvPr id="9" name="Text 7"/>
          <p:cNvSpPr/>
          <p:nvPr/>
        </p:nvSpPr>
        <p:spPr>
          <a:xfrm>
            <a:off x="621792" y="2871216"/>
            <a:ext cx="369417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War and conflict at home</a:t>
            </a:r>
            <a:endParaRPr lang="en-US" sz="1150" dirty="0"/>
          </a:p>
        </p:txBody>
      </p:sp>
      <p:sp>
        <p:nvSpPr>
          <p:cNvPr id="10" name="Text 8"/>
          <p:cNvSpPr/>
          <p:nvPr/>
        </p:nvSpPr>
        <p:spPr>
          <a:xfrm>
            <a:off x="621792" y="3346704"/>
            <a:ext cx="369417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Overpopulation, not enough land</a:t>
            </a:r>
            <a:endParaRPr lang="en-US" sz="1150" dirty="0"/>
          </a:p>
        </p:txBody>
      </p:sp>
      <p:sp>
        <p:nvSpPr>
          <p:cNvPr id="11" name="Text 9"/>
          <p:cNvSpPr/>
          <p:nvPr/>
        </p:nvSpPr>
        <p:spPr>
          <a:xfrm>
            <a:off x="621792" y="3822192"/>
            <a:ext cx="369417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Debt or legal trouble</a:t>
            </a:r>
            <a:endParaRPr lang="en-US" sz="1150" dirty="0"/>
          </a:p>
        </p:txBody>
      </p:sp>
      <p:sp>
        <p:nvSpPr>
          <p:cNvPr id="12" name="Shape 10"/>
          <p:cNvSpPr/>
          <p:nvPr/>
        </p:nvSpPr>
        <p:spPr>
          <a:xfrm>
            <a:off x="4645152" y="768096"/>
            <a:ext cx="4151376" cy="4224528"/>
          </a:xfrm>
          <a:prstGeom prst="roundRect">
            <a:avLst>
              <a:gd name="adj" fmla="val 2203"/>
            </a:avLst>
          </a:prstGeom>
          <a:solidFill>
            <a:srgbClr val="071E3D">
              <a:alpha val="10000"/>
            </a:srgbClr>
          </a:solidFill>
          <a:ln w="19050">
            <a:solidFill>
              <a:srgbClr val="071E3D"/>
            </a:solidFill>
            <a:prstDash val="solid"/>
          </a:ln>
        </p:spPr>
      </p:sp>
      <p:sp>
        <p:nvSpPr>
          <p:cNvPr id="13" name="Text 11"/>
          <p:cNvSpPr/>
          <p:nvPr/>
        </p:nvSpPr>
        <p:spPr>
          <a:xfrm>
            <a:off x="4828032" y="859536"/>
            <a:ext cx="3785616" cy="438912"/>
          </a:xfrm>
          <a:prstGeom prst="rect">
            <a:avLst/>
          </a:prstGeom>
          <a:noFill/>
          <a:ln/>
        </p:spPr>
        <p:txBody>
          <a:bodyPr wrap="square" lIns="0" tIns="0" rIns="0" bIns="0" rtlCol="0" anchor="ctr"/>
          <a:lstStyle/>
          <a:p>
            <a:pPr algn="ctr" indent="0" marL="0">
              <a:buNone/>
            </a:pPr>
            <a:r>
              <a:rPr lang="en-US" sz="1400" b="1" spc="150" kern="0" dirty="0">
                <a:solidFill>
                  <a:srgbClr val="1B4F72"/>
                </a:solidFill>
                <a:latin typeface="Cambria" pitchFamily="34" charset="0"/>
                <a:ea typeface="Cambria" pitchFamily="34" charset="-122"/>
                <a:cs typeface="Cambria" pitchFamily="34" charset="-120"/>
              </a:rPr>
              <a:t>PULL FACTORS</a:t>
            </a:r>
            <a:endParaRPr lang="en-US" sz="1400" dirty="0"/>
          </a:p>
        </p:txBody>
      </p:sp>
      <p:sp>
        <p:nvSpPr>
          <p:cNvPr id="14" name="Text 12"/>
          <p:cNvSpPr/>
          <p:nvPr/>
        </p:nvSpPr>
        <p:spPr>
          <a:xfrm>
            <a:off x="4828032" y="1316736"/>
            <a:ext cx="3785616" cy="530352"/>
          </a:xfrm>
          <a:prstGeom prst="rect">
            <a:avLst/>
          </a:prstGeom>
          <a:noFill/>
          <a:ln/>
        </p:spPr>
        <p:txBody>
          <a:bodyPr wrap="square" rtlCol="0" anchor="ctr"/>
          <a:lstStyle/>
          <a:p>
            <a:pPr algn="ctr" indent="0" marL="0">
              <a:lnSpc>
                <a:spcPct val="130000"/>
              </a:lnSpc>
              <a:buNone/>
            </a:pPr>
            <a:r>
              <a:rPr lang="en-US" sz="1200" i="1" dirty="0">
                <a:solidFill>
                  <a:srgbClr val="3A4A6B"/>
                </a:solidFill>
                <a:latin typeface="Calibri" pitchFamily="34" charset="0"/>
                <a:ea typeface="Calibri" pitchFamily="34" charset="-122"/>
                <a:cs typeface="Calibri" pitchFamily="34" charset="-120"/>
              </a:rPr>
              <a:t>Things that ATTRACTED people</a:t>
            </a:r>
            <a:endParaRPr lang="en-US" sz="1200" dirty="0"/>
          </a:p>
          <a:p>
            <a:pPr algn="ctr" indent="0" marL="0">
              <a:lnSpc>
                <a:spcPct val="130000"/>
              </a:lnSpc>
              <a:buNone/>
            </a:pPr>
            <a:r>
              <a:rPr lang="en-US" sz="1200" i="1" dirty="0">
                <a:solidFill>
                  <a:srgbClr val="3A4A6B"/>
                </a:solidFill>
                <a:latin typeface="Calibri" pitchFamily="34" charset="0"/>
                <a:ea typeface="Calibri" pitchFamily="34" charset="-122"/>
                <a:cs typeface="Calibri" pitchFamily="34" charset="-120"/>
              </a:rPr>
              <a:t>TO new places</a:t>
            </a:r>
            <a:endParaRPr lang="en-US" sz="1200" dirty="0"/>
          </a:p>
        </p:txBody>
      </p:sp>
      <p:sp>
        <p:nvSpPr>
          <p:cNvPr id="15" name="Text 13"/>
          <p:cNvSpPr/>
          <p:nvPr/>
        </p:nvSpPr>
        <p:spPr>
          <a:xfrm>
            <a:off x="4919472" y="1920240"/>
            <a:ext cx="378561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Promises of gold, silver, and treasure</a:t>
            </a:r>
            <a:endParaRPr lang="en-US" sz="1150" dirty="0"/>
          </a:p>
        </p:txBody>
      </p:sp>
      <p:sp>
        <p:nvSpPr>
          <p:cNvPr id="16" name="Text 14"/>
          <p:cNvSpPr/>
          <p:nvPr/>
        </p:nvSpPr>
        <p:spPr>
          <a:xfrm>
            <a:off x="4919472" y="2395728"/>
            <a:ext cx="378561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New trade routes to Asia's spices</a:t>
            </a:r>
            <a:endParaRPr lang="en-US" sz="1150" dirty="0"/>
          </a:p>
        </p:txBody>
      </p:sp>
      <p:sp>
        <p:nvSpPr>
          <p:cNvPr id="17" name="Text 15"/>
          <p:cNvSpPr/>
          <p:nvPr/>
        </p:nvSpPr>
        <p:spPr>
          <a:xfrm>
            <a:off x="4919472" y="2871216"/>
            <a:ext cx="378561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Land and resources</a:t>
            </a:r>
            <a:endParaRPr lang="en-US" sz="1150" dirty="0"/>
          </a:p>
        </p:txBody>
      </p:sp>
      <p:sp>
        <p:nvSpPr>
          <p:cNvPr id="18" name="Text 16"/>
          <p:cNvSpPr/>
          <p:nvPr/>
        </p:nvSpPr>
        <p:spPr>
          <a:xfrm>
            <a:off x="4919472" y="3346704"/>
            <a:ext cx="378561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Fame and royal recognition</a:t>
            </a:r>
            <a:endParaRPr lang="en-US" sz="1150" dirty="0"/>
          </a:p>
        </p:txBody>
      </p:sp>
      <p:sp>
        <p:nvSpPr>
          <p:cNvPr id="19" name="Text 17"/>
          <p:cNvSpPr/>
          <p:nvPr/>
        </p:nvSpPr>
        <p:spPr>
          <a:xfrm>
            <a:off x="4919472" y="3822192"/>
            <a:ext cx="3785616" cy="420624"/>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Religious freedom or mission work</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101F"/>
        </a:solidFill>
      </p:bgPr>
    </p:bg>
    <p:spTree>
      <p:nvGrpSpPr>
        <p:cNvPr id="1" name=""/>
        <p:cNvGrpSpPr/>
        <p:nvPr/>
      </p:nvGrpSpPr>
      <p:grpSpPr>
        <a:xfrm>
          <a:off x="0" y="0"/>
          <a:ext cx="0" cy="0"/>
          <a:chOff x="0" y="0"/>
          <a:chExt cx="0" cy="0"/>
        </a:xfrm>
      </p:grpSpPr>
      <p:sp>
        <p:nvSpPr>
          <p:cNvPr id="2" name="Shape 0"/>
          <p:cNvSpPr/>
          <p:nvPr/>
        </p:nvSpPr>
        <p:spPr>
          <a:xfrm>
            <a:off x="457200" y="274320"/>
            <a:ext cx="8229600" cy="4572000"/>
          </a:xfrm>
          <a:prstGeom prst="ellipse">
            <a:avLst/>
          </a:prstGeom>
          <a:solidFill>
            <a:srgbClr val="D4AF37">
              <a:alpha val="14000"/>
            </a:srgbClr>
          </a:solidFill>
          <a:ln w="12700">
            <a:solidFill>
              <a:srgbClr val="333333"/>
            </a:solidFill>
            <a:prstDash val="solid"/>
          </a:ln>
        </p:spPr>
      </p:sp>
      <p:sp>
        <p:nvSpPr>
          <p:cNvPr id="3" name="Shape 1"/>
          <p:cNvSpPr/>
          <p:nvPr/>
        </p:nvSpPr>
        <p:spPr>
          <a:xfrm>
            <a:off x="2267712" y="1280160"/>
            <a:ext cx="4608576" cy="2560320"/>
          </a:xfrm>
          <a:prstGeom prst="ellipse">
            <a:avLst/>
          </a:prstGeom>
          <a:solidFill>
            <a:srgbClr val="D4AF37">
              <a:alpha val="25000"/>
            </a:srgbClr>
          </a:solidFill>
          <a:ln w="12700">
            <a:solidFill>
              <a:srgbClr val="333333"/>
            </a:solidFill>
            <a:prstDash val="solid"/>
          </a:ln>
        </p:spPr>
      </p:sp>
      <p:sp>
        <p:nvSpPr>
          <p:cNvPr id="4" name="Text 2"/>
          <p:cNvSpPr/>
          <p:nvPr/>
        </p:nvSpPr>
        <p:spPr>
          <a:xfrm>
            <a:off x="457200" y="146304"/>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The 3 Gs of European Exploration</a:t>
            </a:r>
            <a:endParaRPr lang="en-US" sz="2600" dirty="0"/>
          </a:p>
        </p:txBody>
      </p:sp>
      <p:sp>
        <p:nvSpPr>
          <p:cNvPr id="5" name="Text 3"/>
          <p:cNvSpPr/>
          <p:nvPr/>
        </p:nvSpPr>
        <p:spPr>
          <a:xfrm>
            <a:off x="457200" y="640080"/>
            <a:ext cx="8229600" cy="310896"/>
          </a:xfrm>
          <a:prstGeom prst="rect">
            <a:avLst/>
          </a:prstGeom>
          <a:noFill/>
          <a:ln/>
        </p:spPr>
        <p:txBody>
          <a:bodyPr wrap="square" lIns="0" tIns="0" rIns="0" bIns="0" rtlCol="0" anchor="ctr"/>
          <a:lstStyle/>
          <a:p>
            <a:pPr algn="ctr" indent="0" marL="0">
              <a:buNone/>
            </a:pPr>
            <a:r>
              <a:rPr lang="en-US" sz="1250" i="1" dirty="0">
                <a:solidFill>
                  <a:srgbClr val="D4AF37"/>
                </a:solidFill>
                <a:latin typeface="Calibri" pitchFamily="34" charset="0"/>
                <a:ea typeface="Calibri" pitchFamily="34" charset="-122"/>
                <a:cs typeface="Calibri" pitchFamily="34" charset="-120"/>
              </a:rPr>
              <a:t>European explorers themselves described their motivations with three words.</a:t>
            </a:r>
            <a:endParaRPr lang="en-US" sz="1250" dirty="0"/>
          </a:p>
        </p:txBody>
      </p:sp>
      <p:sp>
        <p:nvSpPr>
          <p:cNvPr id="6" name="Shape 4"/>
          <p:cNvSpPr/>
          <p:nvPr/>
        </p:nvSpPr>
        <p:spPr>
          <a:xfrm>
            <a:off x="338328" y="978408"/>
            <a:ext cx="2688336" cy="3730752"/>
          </a:xfrm>
          <a:prstGeom prst="roundRect">
            <a:avLst>
              <a:gd name="adj" fmla="val 4762"/>
            </a:avLst>
          </a:prstGeom>
          <a:solidFill>
            <a:srgbClr val="D4AF37">
              <a:alpha val="30000"/>
            </a:srgbClr>
          </a:solidFill>
          <a:ln w="12700">
            <a:solidFill>
              <a:srgbClr val="333333"/>
            </a:solidFill>
            <a:prstDash val="solid"/>
          </a:ln>
        </p:spPr>
      </p:sp>
      <p:sp>
        <p:nvSpPr>
          <p:cNvPr id="7" name="Shape 5"/>
          <p:cNvSpPr/>
          <p:nvPr/>
        </p:nvSpPr>
        <p:spPr>
          <a:xfrm>
            <a:off x="402336" y="1042416"/>
            <a:ext cx="2560320" cy="3602736"/>
          </a:xfrm>
          <a:prstGeom prst="roundRect">
            <a:avLst>
              <a:gd name="adj" fmla="val 3214"/>
            </a:avLst>
          </a:prstGeom>
          <a:solidFill>
            <a:srgbClr val="04101F"/>
          </a:solidFill>
          <a:ln w="27940">
            <a:solidFill>
              <a:srgbClr val="D4AF37"/>
            </a:solidFill>
            <a:prstDash val="solid"/>
          </a:ln>
          <a:effectLst>
            <a:outerShdw sx="100000" sy="100000" kx="0" ky="0" algn="bl" rotWithShape="0" blurRad="203200" dist="63500" dir="2700000">
              <a:srgbClr val="000000">
                <a:alpha val="25000"/>
              </a:srgbClr>
            </a:outerShdw>
          </a:effectLst>
        </p:spPr>
      </p:sp>
      <p:sp>
        <p:nvSpPr>
          <p:cNvPr id="8" name="Shape 6"/>
          <p:cNvSpPr/>
          <p:nvPr/>
        </p:nvSpPr>
        <p:spPr>
          <a:xfrm>
            <a:off x="555955" y="1186525"/>
            <a:ext cx="2253082" cy="2233696"/>
          </a:xfrm>
          <a:prstGeom prst="ellipse">
            <a:avLst/>
          </a:prstGeom>
          <a:solidFill>
            <a:srgbClr val="D4AF37">
              <a:alpha val="14000"/>
            </a:srgbClr>
          </a:solidFill>
          <a:ln w="12700">
            <a:solidFill>
              <a:srgbClr val="333333"/>
            </a:solidFill>
            <a:prstDash val="solid"/>
          </a:ln>
        </p:spPr>
      </p:sp>
      <p:sp>
        <p:nvSpPr>
          <p:cNvPr id="9" name="Shape 7"/>
          <p:cNvSpPr/>
          <p:nvPr/>
        </p:nvSpPr>
        <p:spPr>
          <a:xfrm>
            <a:off x="1051633" y="1677939"/>
            <a:ext cx="1261726" cy="1250870"/>
          </a:xfrm>
          <a:prstGeom prst="ellipse">
            <a:avLst/>
          </a:prstGeom>
          <a:solidFill>
            <a:srgbClr val="D4AF37">
              <a:alpha val="25000"/>
            </a:srgbClr>
          </a:solidFill>
          <a:ln w="12700">
            <a:solidFill>
              <a:srgbClr val="333333"/>
            </a:solidFill>
            <a:prstDash val="solid"/>
          </a:ln>
        </p:spPr>
      </p:sp>
      <p:sp>
        <p:nvSpPr>
          <p:cNvPr id="10" name="Text 8"/>
          <p:cNvSpPr/>
          <p:nvPr/>
        </p:nvSpPr>
        <p:spPr>
          <a:xfrm>
            <a:off x="402336" y="1115568"/>
            <a:ext cx="2560320" cy="2161642"/>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1" name="Shape 9"/>
          <p:cNvSpPr/>
          <p:nvPr/>
        </p:nvSpPr>
        <p:spPr>
          <a:xfrm>
            <a:off x="530352" y="4169664"/>
            <a:ext cx="2304288" cy="384048"/>
          </a:xfrm>
          <a:prstGeom prst="roundRect">
            <a:avLst>
              <a:gd name="adj" fmla="val 11905"/>
            </a:avLst>
          </a:prstGeom>
          <a:solidFill>
            <a:srgbClr val="FDF6DC"/>
          </a:solidFill>
          <a:ln w="12700">
            <a:solidFill>
              <a:srgbClr val="D4AF37"/>
            </a:solidFill>
            <a:prstDash val="solid"/>
          </a:ln>
        </p:spPr>
      </p:sp>
      <p:sp>
        <p:nvSpPr>
          <p:cNvPr id="12" name="Text 10"/>
          <p:cNvSpPr/>
          <p:nvPr/>
        </p:nvSpPr>
        <p:spPr>
          <a:xfrm>
            <a:off x="530352" y="4169664"/>
            <a:ext cx="2304288" cy="384048"/>
          </a:xfrm>
          <a:prstGeom prst="rect">
            <a:avLst/>
          </a:prstGeom>
          <a:noFill/>
          <a:ln/>
        </p:spPr>
        <p:txBody>
          <a:bodyPr wrap="square" lIns="0" tIns="0" rIns="0" bIns="0" rtlCol="0" anchor="ctr"/>
          <a:lstStyle/>
          <a:p>
            <a:pPr algn="ctr" indent="0" marL="0">
              <a:buNone/>
            </a:pPr>
            <a:r>
              <a:rPr lang="en-US" sz="1100" b="1" dirty="0">
                <a:solidFill>
                  <a:srgbClr val="071E3D"/>
                </a:solidFill>
                <a:latin typeface="Cambria" pitchFamily="34" charset="0"/>
                <a:ea typeface="Cambria" pitchFamily="34" charset="-122"/>
                <a:cs typeface="Cambria" pitchFamily="34" charset="-120"/>
              </a:rPr>
              <a:t>GOLD</a:t>
            </a:r>
            <a:endParaRPr lang="en-US" sz="1100" dirty="0"/>
          </a:p>
          <a:p>
            <a:pPr algn="ctr" indent="0" marL="0">
              <a:buNone/>
            </a:pPr>
            <a:r>
              <a:rPr lang="en-US" sz="1100" b="1" dirty="0">
                <a:solidFill>
                  <a:srgbClr val="071E3D"/>
                </a:solidFill>
                <a:latin typeface="Cambria" pitchFamily="34" charset="0"/>
                <a:ea typeface="Cambria" pitchFamily="34" charset="-122"/>
                <a:cs typeface="Cambria" pitchFamily="34" charset="-120"/>
              </a:rPr>
              <a:t>Wealth from trade routes, silv...</a:t>
            </a:r>
            <a:endParaRPr lang="en-US" sz="1100" dirty="0"/>
          </a:p>
        </p:txBody>
      </p:sp>
      <p:sp>
        <p:nvSpPr>
          <p:cNvPr id="13" name="Shape 11"/>
          <p:cNvSpPr/>
          <p:nvPr/>
        </p:nvSpPr>
        <p:spPr>
          <a:xfrm>
            <a:off x="3191256" y="978408"/>
            <a:ext cx="2688336" cy="3730752"/>
          </a:xfrm>
          <a:prstGeom prst="roundRect">
            <a:avLst>
              <a:gd name="adj" fmla="val 4762"/>
            </a:avLst>
          </a:prstGeom>
          <a:solidFill>
            <a:srgbClr val="9B1C2E">
              <a:alpha val="30000"/>
            </a:srgbClr>
          </a:solidFill>
          <a:ln w="12700">
            <a:solidFill>
              <a:srgbClr val="333333"/>
            </a:solidFill>
            <a:prstDash val="solid"/>
          </a:ln>
        </p:spPr>
      </p:sp>
      <p:sp>
        <p:nvSpPr>
          <p:cNvPr id="14" name="Shape 12"/>
          <p:cNvSpPr/>
          <p:nvPr/>
        </p:nvSpPr>
        <p:spPr>
          <a:xfrm>
            <a:off x="3255264" y="1042416"/>
            <a:ext cx="2560320" cy="3602736"/>
          </a:xfrm>
          <a:prstGeom prst="roundRect">
            <a:avLst>
              <a:gd name="adj" fmla="val 3214"/>
            </a:avLst>
          </a:prstGeom>
          <a:solidFill>
            <a:srgbClr val="04101F"/>
          </a:solidFill>
          <a:ln w="27940">
            <a:solidFill>
              <a:srgbClr val="9B1C2E"/>
            </a:solidFill>
            <a:prstDash val="solid"/>
          </a:ln>
          <a:effectLst>
            <a:outerShdw sx="100000" sy="100000" kx="0" ky="0" algn="bl" rotWithShape="0" blurRad="203200" dist="63500" dir="2700000">
              <a:srgbClr val="000000">
                <a:alpha val="25000"/>
              </a:srgbClr>
            </a:outerShdw>
          </a:effectLst>
        </p:spPr>
      </p:sp>
      <p:sp>
        <p:nvSpPr>
          <p:cNvPr id="15" name="Shape 13"/>
          <p:cNvSpPr/>
          <p:nvPr/>
        </p:nvSpPr>
        <p:spPr>
          <a:xfrm>
            <a:off x="3408883" y="1186525"/>
            <a:ext cx="2253082" cy="2233696"/>
          </a:xfrm>
          <a:prstGeom prst="ellipse">
            <a:avLst/>
          </a:prstGeom>
          <a:solidFill>
            <a:srgbClr val="D4AF37">
              <a:alpha val="14000"/>
            </a:srgbClr>
          </a:solidFill>
          <a:ln w="12700">
            <a:solidFill>
              <a:srgbClr val="333333"/>
            </a:solidFill>
            <a:prstDash val="solid"/>
          </a:ln>
        </p:spPr>
      </p:sp>
      <p:sp>
        <p:nvSpPr>
          <p:cNvPr id="16" name="Shape 14"/>
          <p:cNvSpPr/>
          <p:nvPr/>
        </p:nvSpPr>
        <p:spPr>
          <a:xfrm>
            <a:off x="3904561" y="1677939"/>
            <a:ext cx="1261726" cy="1250870"/>
          </a:xfrm>
          <a:prstGeom prst="ellipse">
            <a:avLst/>
          </a:prstGeom>
          <a:solidFill>
            <a:srgbClr val="D4AF37">
              <a:alpha val="25000"/>
            </a:srgbClr>
          </a:solidFill>
          <a:ln w="12700">
            <a:solidFill>
              <a:srgbClr val="333333"/>
            </a:solidFill>
            <a:prstDash val="solid"/>
          </a:ln>
        </p:spPr>
      </p:sp>
      <p:sp>
        <p:nvSpPr>
          <p:cNvPr id="17" name="Text 15"/>
          <p:cNvSpPr/>
          <p:nvPr/>
        </p:nvSpPr>
        <p:spPr>
          <a:xfrm>
            <a:off x="3255264" y="1115568"/>
            <a:ext cx="2560320" cy="2161642"/>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8" name="Shape 16"/>
          <p:cNvSpPr/>
          <p:nvPr/>
        </p:nvSpPr>
        <p:spPr>
          <a:xfrm>
            <a:off x="3383280" y="4169664"/>
            <a:ext cx="2304288" cy="384048"/>
          </a:xfrm>
          <a:prstGeom prst="roundRect">
            <a:avLst>
              <a:gd name="adj" fmla="val 11905"/>
            </a:avLst>
          </a:prstGeom>
          <a:solidFill>
            <a:srgbClr val="FDF6DC"/>
          </a:solidFill>
          <a:ln w="12700">
            <a:solidFill>
              <a:srgbClr val="D4AF37"/>
            </a:solidFill>
            <a:prstDash val="solid"/>
          </a:ln>
        </p:spPr>
      </p:sp>
      <p:sp>
        <p:nvSpPr>
          <p:cNvPr id="19" name="Text 17"/>
          <p:cNvSpPr/>
          <p:nvPr/>
        </p:nvSpPr>
        <p:spPr>
          <a:xfrm>
            <a:off x="3383280" y="4169664"/>
            <a:ext cx="2304288" cy="384048"/>
          </a:xfrm>
          <a:prstGeom prst="rect">
            <a:avLst/>
          </a:prstGeom>
          <a:noFill/>
          <a:ln/>
        </p:spPr>
        <p:txBody>
          <a:bodyPr wrap="square" lIns="0" tIns="0" rIns="0" bIns="0" rtlCol="0" anchor="ctr"/>
          <a:lstStyle/>
          <a:p>
            <a:pPr algn="ctr" indent="0" marL="0">
              <a:buNone/>
            </a:pPr>
            <a:r>
              <a:rPr lang="en-US" sz="1100" b="1" dirty="0">
                <a:solidFill>
                  <a:srgbClr val="071E3D"/>
                </a:solidFill>
                <a:latin typeface="Cambria" pitchFamily="34" charset="0"/>
                <a:ea typeface="Cambria" pitchFamily="34" charset="-122"/>
                <a:cs typeface="Cambria" pitchFamily="34" charset="-120"/>
              </a:rPr>
              <a:t>GLORY</a:t>
            </a:r>
            <a:endParaRPr lang="en-US" sz="1100" dirty="0"/>
          </a:p>
          <a:p>
            <a:pPr algn="ctr" indent="0" marL="0">
              <a:buNone/>
            </a:pPr>
            <a:r>
              <a:rPr lang="en-US" sz="1100" b="1" dirty="0">
                <a:solidFill>
                  <a:srgbClr val="071E3D"/>
                </a:solidFill>
                <a:latin typeface="Cambria" pitchFamily="34" charset="0"/>
                <a:ea typeface="Cambria" pitchFamily="34" charset="-122"/>
                <a:cs typeface="Cambria" pitchFamily="34" charset="-120"/>
              </a:rPr>
              <a:t>Fame, honor, and royal favor. ...</a:t>
            </a:r>
            <a:endParaRPr lang="en-US" sz="1100" dirty="0"/>
          </a:p>
        </p:txBody>
      </p:sp>
      <p:sp>
        <p:nvSpPr>
          <p:cNvPr id="20" name="Shape 18"/>
          <p:cNvSpPr/>
          <p:nvPr/>
        </p:nvSpPr>
        <p:spPr>
          <a:xfrm>
            <a:off x="6044184" y="978408"/>
            <a:ext cx="2688336" cy="3730752"/>
          </a:xfrm>
          <a:prstGeom prst="roundRect">
            <a:avLst>
              <a:gd name="adj" fmla="val 4762"/>
            </a:avLst>
          </a:prstGeom>
          <a:solidFill>
            <a:srgbClr val="071E3D">
              <a:alpha val="30000"/>
            </a:srgbClr>
          </a:solidFill>
          <a:ln w="12700">
            <a:solidFill>
              <a:srgbClr val="333333"/>
            </a:solidFill>
            <a:prstDash val="solid"/>
          </a:ln>
        </p:spPr>
      </p:sp>
      <p:sp>
        <p:nvSpPr>
          <p:cNvPr id="21" name="Shape 19"/>
          <p:cNvSpPr/>
          <p:nvPr/>
        </p:nvSpPr>
        <p:spPr>
          <a:xfrm>
            <a:off x="6108192" y="1042416"/>
            <a:ext cx="2560320" cy="3602736"/>
          </a:xfrm>
          <a:prstGeom prst="roundRect">
            <a:avLst>
              <a:gd name="adj" fmla="val 3214"/>
            </a:avLst>
          </a:prstGeom>
          <a:solidFill>
            <a:srgbClr val="04101F"/>
          </a:solidFill>
          <a:ln w="27940">
            <a:solidFill>
              <a:srgbClr val="071E3D"/>
            </a:solidFill>
            <a:prstDash val="solid"/>
          </a:ln>
          <a:effectLst>
            <a:outerShdw sx="100000" sy="100000" kx="0" ky="0" algn="bl" rotWithShape="0" blurRad="203200" dist="63500" dir="2700000">
              <a:srgbClr val="000000">
                <a:alpha val="25000"/>
              </a:srgbClr>
            </a:outerShdw>
          </a:effectLst>
        </p:spPr>
      </p:sp>
      <p:sp>
        <p:nvSpPr>
          <p:cNvPr id="22" name="Shape 20"/>
          <p:cNvSpPr/>
          <p:nvPr/>
        </p:nvSpPr>
        <p:spPr>
          <a:xfrm>
            <a:off x="6261811" y="1186525"/>
            <a:ext cx="2253082" cy="2233696"/>
          </a:xfrm>
          <a:prstGeom prst="ellipse">
            <a:avLst/>
          </a:prstGeom>
          <a:solidFill>
            <a:srgbClr val="D4AF37">
              <a:alpha val="14000"/>
            </a:srgbClr>
          </a:solidFill>
          <a:ln w="12700">
            <a:solidFill>
              <a:srgbClr val="333333"/>
            </a:solidFill>
            <a:prstDash val="solid"/>
          </a:ln>
        </p:spPr>
      </p:sp>
      <p:sp>
        <p:nvSpPr>
          <p:cNvPr id="23" name="Shape 21"/>
          <p:cNvSpPr/>
          <p:nvPr/>
        </p:nvSpPr>
        <p:spPr>
          <a:xfrm>
            <a:off x="6757489" y="1677939"/>
            <a:ext cx="1261726" cy="1250870"/>
          </a:xfrm>
          <a:prstGeom prst="ellipse">
            <a:avLst/>
          </a:prstGeom>
          <a:solidFill>
            <a:srgbClr val="D4AF37">
              <a:alpha val="25000"/>
            </a:srgbClr>
          </a:solidFill>
          <a:ln w="12700">
            <a:solidFill>
              <a:srgbClr val="333333"/>
            </a:solidFill>
            <a:prstDash val="solid"/>
          </a:ln>
        </p:spPr>
      </p:sp>
      <p:sp>
        <p:nvSpPr>
          <p:cNvPr id="24" name="Text 22"/>
          <p:cNvSpPr/>
          <p:nvPr/>
        </p:nvSpPr>
        <p:spPr>
          <a:xfrm>
            <a:off x="6108192" y="1115568"/>
            <a:ext cx="2560320" cy="2161642"/>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5" name="Shape 23"/>
          <p:cNvSpPr/>
          <p:nvPr/>
        </p:nvSpPr>
        <p:spPr>
          <a:xfrm>
            <a:off x="6236208" y="4169664"/>
            <a:ext cx="2304288" cy="384048"/>
          </a:xfrm>
          <a:prstGeom prst="roundRect">
            <a:avLst>
              <a:gd name="adj" fmla="val 11905"/>
            </a:avLst>
          </a:prstGeom>
          <a:solidFill>
            <a:srgbClr val="FDF6DC"/>
          </a:solidFill>
          <a:ln w="12700">
            <a:solidFill>
              <a:srgbClr val="D4AF37"/>
            </a:solidFill>
            <a:prstDash val="solid"/>
          </a:ln>
        </p:spPr>
      </p:sp>
      <p:sp>
        <p:nvSpPr>
          <p:cNvPr id="26" name="Text 24"/>
          <p:cNvSpPr/>
          <p:nvPr/>
        </p:nvSpPr>
        <p:spPr>
          <a:xfrm>
            <a:off x="6236208" y="4169664"/>
            <a:ext cx="2304288" cy="384048"/>
          </a:xfrm>
          <a:prstGeom prst="rect">
            <a:avLst/>
          </a:prstGeom>
          <a:noFill/>
          <a:ln/>
        </p:spPr>
        <p:txBody>
          <a:bodyPr wrap="square" lIns="0" tIns="0" rIns="0" bIns="0" rtlCol="0" anchor="ctr"/>
          <a:lstStyle/>
          <a:p>
            <a:pPr algn="ctr" indent="0" marL="0">
              <a:buNone/>
            </a:pPr>
            <a:r>
              <a:rPr lang="en-US" sz="1100" b="1" dirty="0">
                <a:solidFill>
                  <a:srgbClr val="071E3D"/>
                </a:solidFill>
                <a:latin typeface="Cambria" pitchFamily="34" charset="0"/>
                <a:ea typeface="Cambria" pitchFamily="34" charset="-122"/>
                <a:cs typeface="Cambria" pitchFamily="34" charset="-120"/>
              </a:rPr>
              <a:t>GOD</a:t>
            </a:r>
            <a:endParaRPr lang="en-US" sz="1100" dirty="0"/>
          </a:p>
          <a:p>
            <a:pPr algn="ctr" indent="0" marL="0">
              <a:buNone/>
            </a:pPr>
            <a:r>
              <a:rPr lang="en-US" sz="1100" b="1" dirty="0">
                <a:solidFill>
                  <a:srgbClr val="071E3D"/>
                </a:solidFill>
                <a:latin typeface="Cambria" pitchFamily="34" charset="0"/>
                <a:ea typeface="Cambria" pitchFamily="34" charset="-122"/>
                <a:cs typeface="Cambria" pitchFamily="34" charset="-120"/>
              </a:rPr>
              <a:t>Spreading Christianity to new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457200" y="502920"/>
            <a:ext cx="8229600" cy="4114800"/>
          </a:xfrm>
          <a:prstGeom prst="ellipse">
            <a:avLst/>
          </a:prstGeom>
          <a:solidFill>
            <a:srgbClr val="D4AF37">
              <a:alpha val="14000"/>
            </a:srgbClr>
          </a:solidFill>
          <a:ln w="12700">
            <a:solidFill>
              <a:srgbClr val="333333"/>
            </a:solidFill>
            <a:prstDash val="solid"/>
          </a:ln>
        </p:spPr>
      </p:sp>
      <p:sp>
        <p:nvSpPr>
          <p:cNvPr id="3" name="Shape 1"/>
          <p:cNvSpPr/>
          <p:nvPr/>
        </p:nvSpPr>
        <p:spPr>
          <a:xfrm>
            <a:off x="2267712" y="1408176"/>
            <a:ext cx="4608576" cy="2304288"/>
          </a:xfrm>
          <a:prstGeom prst="ellipse">
            <a:avLst/>
          </a:prstGeom>
          <a:solidFill>
            <a:srgbClr val="D4AF37">
              <a:alpha val="25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Raise Your Hand — What Drives Exploration?</a:t>
            </a:r>
            <a:endParaRPr lang="en-US" sz="2600" dirty="0"/>
          </a:p>
        </p:txBody>
      </p:sp>
      <p:sp>
        <p:nvSpPr>
          <p:cNvPr id="5" name="Shape 3"/>
          <p:cNvSpPr/>
          <p:nvPr/>
        </p:nvSpPr>
        <p:spPr>
          <a:xfrm>
            <a:off x="402336" y="768096"/>
            <a:ext cx="8339328" cy="566928"/>
          </a:xfrm>
          <a:prstGeom prst="roundRect">
            <a:avLst>
              <a:gd name="adj" fmla="val 14516"/>
            </a:avLst>
          </a:prstGeom>
          <a:solidFill>
            <a:srgbClr val="D4AF37">
              <a:alpha val="18000"/>
            </a:srgbClr>
          </a:solidFill>
          <a:ln w="19050">
            <a:solidFill>
              <a:srgbClr val="D4AF37"/>
            </a:solidFill>
            <a:prstDash val="solid"/>
          </a:ln>
        </p:spPr>
      </p:sp>
      <p:sp>
        <p:nvSpPr>
          <p:cNvPr id="6" name="Text 4"/>
          <p:cNvSpPr/>
          <p:nvPr/>
        </p:nvSpPr>
        <p:spPr>
          <a:xfrm>
            <a:off x="585216" y="804672"/>
            <a:ext cx="7973568" cy="512064"/>
          </a:xfrm>
          <a:prstGeom prst="rect">
            <a:avLst/>
          </a:prstGeom>
          <a:noFill/>
          <a:ln/>
        </p:spPr>
        <p:txBody>
          <a:bodyPr wrap="square" lIns="0" tIns="0" rIns="0" bIns="0" rtlCol="0" anchor="ctr"/>
          <a:lstStyle/>
          <a:p>
            <a:pPr algn="ctr" indent="0" marL="0">
              <a:buNone/>
            </a:pPr>
            <a:r>
              <a:rPr lang="en-US" sz="1250" b="1" dirty="0">
                <a:solidFill>
                  <a:srgbClr val="071E3D"/>
                </a:solidFill>
                <a:latin typeface="Calibri" pitchFamily="34" charset="0"/>
                <a:ea typeface="Calibri" pitchFamily="34" charset="-122"/>
                <a:cs typeface="Calibri" pitchFamily="34" charset="-120"/>
              </a:rPr>
              <a:t>I'll read a scenario. Raise your hand if you think the main driver is GOLD. Stay down for GLORY. Wave for GOD.</a:t>
            </a:r>
            <a:endParaRPr lang="en-US" sz="1250" dirty="0"/>
          </a:p>
        </p:txBody>
      </p:sp>
      <p:sp>
        <p:nvSpPr>
          <p:cNvPr id="7" name="Shape 5"/>
          <p:cNvSpPr/>
          <p:nvPr/>
        </p:nvSpPr>
        <p:spPr>
          <a:xfrm>
            <a:off x="402336" y="1444752"/>
            <a:ext cx="8339328" cy="749808"/>
          </a:xfrm>
          <a:prstGeom prst="roundRect">
            <a:avLst>
              <a:gd name="adj" fmla="val 8537"/>
            </a:avLst>
          </a:prstGeom>
          <a:solidFill>
            <a:srgbClr val="FFFFFF">
              <a:alpha val="10000"/>
            </a:srgbClr>
          </a:solidFill>
          <a:ln w="12700">
            <a:solidFill>
              <a:srgbClr val="D4AF37"/>
            </a:solidFill>
            <a:prstDash val="solid"/>
          </a:ln>
        </p:spPr>
      </p:sp>
      <p:sp>
        <p:nvSpPr>
          <p:cNvPr id="8" name="Text 6"/>
          <p:cNvSpPr/>
          <p:nvPr/>
        </p:nvSpPr>
        <p:spPr>
          <a:xfrm>
            <a:off x="585216" y="1463040"/>
            <a:ext cx="7973568" cy="713232"/>
          </a:xfrm>
          <a:prstGeom prst="rect">
            <a:avLst/>
          </a:prstGeom>
          <a:noFill/>
          <a:ln/>
        </p:spPr>
        <p:txBody>
          <a:bodyPr wrap="square" lIns="0" tIns="0" rIns="0" bIns="0" rtlCol="0" anchor="ctr"/>
          <a:lstStyle/>
          <a:p>
            <a:pPr algn="l" indent="0" marL="0">
              <a:lnSpc>
                <a:spcPct val="130000"/>
              </a:lnSpc>
              <a:buNone/>
            </a:pPr>
            <a:r>
              <a:rPr lang="en-US" sz="1200" dirty="0">
                <a:solidFill>
                  <a:srgbClr val="FFFFFF"/>
                </a:solidFill>
                <a:latin typeface="Calibri" pitchFamily="34" charset="0"/>
                <a:ea typeface="Calibri" pitchFamily="34" charset="-122"/>
                <a:cs typeface="Calibri" pitchFamily="34" charset="-120"/>
              </a:rPr>
              <a:t>1.  A king funds a voyage because a spice merchant told him a new route would make Spain incredibly wealthy.</a:t>
            </a:r>
            <a:endParaRPr lang="en-US" sz="1200" dirty="0"/>
          </a:p>
        </p:txBody>
      </p:sp>
      <p:sp>
        <p:nvSpPr>
          <p:cNvPr id="9" name="Shape 7"/>
          <p:cNvSpPr/>
          <p:nvPr/>
        </p:nvSpPr>
        <p:spPr>
          <a:xfrm>
            <a:off x="402336" y="2286000"/>
            <a:ext cx="8339328" cy="749808"/>
          </a:xfrm>
          <a:prstGeom prst="roundRect">
            <a:avLst>
              <a:gd name="adj" fmla="val 8537"/>
            </a:avLst>
          </a:prstGeom>
          <a:solidFill>
            <a:srgbClr val="FFFFFF">
              <a:alpha val="10000"/>
            </a:srgbClr>
          </a:solidFill>
          <a:ln w="12700">
            <a:solidFill>
              <a:srgbClr val="D4AF37"/>
            </a:solidFill>
            <a:prstDash val="solid"/>
          </a:ln>
        </p:spPr>
      </p:sp>
      <p:sp>
        <p:nvSpPr>
          <p:cNvPr id="10" name="Text 8"/>
          <p:cNvSpPr/>
          <p:nvPr/>
        </p:nvSpPr>
        <p:spPr>
          <a:xfrm>
            <a:off x="585216" y="2304288"/>
            <a:ext cx="7973568" cy="713232"/>
          </a:xfrm>
          <a:prstGeom prst="rect">
            <a:avLst/>
          </a:prstGeom>
          <a:noFill/>
          <a:ln/>
        </p:spPr>
        <p:txBody>
          <a:bodyPr wrap="square" lIns="0" tIns="0" rIns="0" bIns="0" rtlCol="0" anchor="ctr"/>
          <a:lstStyle/>
          <a:p>
            <a:pPr algn="l" indent="0" marL="0">
              <a:lnSpc>
                <a:spcPct val="130000"/>
              </a:lnSpc>
              <a:buNone/>
            </a:pPr>
            <a:r>
              <a:rPr lang="en-US" sz="1200" dirty="0">
                <a:solidFill>
                  <a:srgbClr val="FFFFFF"/>
                </a:solidFill>
                <a:latin typeface="Calibri" pitchFamily="34" charset="0"/>
                <a:ea typeface="Calibri" pitchFamily="34" charset="-122"/>
                <a:cs typeface="Calibri" pitchFamily="34" charset="-120"/>
              </a:rPr>
              <a:t>2.  A sailor volunteers for a dangerous expedition because he wants his name in history books.</a:t>
            </a:r>
            <a:endParaRPr lang="en-US" sz="1200" dirty="0"/>
          </a:p>
        </p:txBody>
      </p:sp>
      <p:sp>
        <p:nvSpPr>
          <p:cNvPr id="11" name="Shape 9"/>
          <p:cNvSpPr/>
          <p:nvPr/>
        </p:nvSpPr>
        <p:spPr>
          <a:xfrm>
            <a:off x="402336" y="3127248"/>
            <a:ext cx="8339328" cy="749808"/>
          </a:xfrm>
          <a:prstGeom prst="roundRect">
            <a:avLst>
              <a:gd name="adj" fmla="val 8537"/>
            </a:avLst>
          </a:prstGeom>
          <a:solidFill>
            <a:srgbClr val="FFFFFF">
              <a:alpha val="10000"/>
            </a:srgbClr>
          </a:solidFill>
          <a:ln w="12700">
            <a:solidFill>
              <a:srgbClr val="D4AF37"/>
            </a:solidFill>
            <a:prstDash val="solid"/>
          </a:ln>
        </p:spPr>
      </p:sp>
      <p:sp>
        <p:nvSpPr>
          <p:cNvPr id="12" name="Text 10"/>
          <p:cNvSpPr/>
          <p:nvPr/>
        </p:nvSpPr>
        <p:spPr>
          <a:xfrm>
            <a:off x="585216" y="3145536"/>
            <a:ext cx="7973568" cy="713232"/>
          </a:xfrm>
          <a:prstGeom prst="rect">
            <a:avLst/>
          </a:prstGeom>
          <a:noFill/>
          <a:ln/>
        </p:spPr>
        <p:txBody>
          <a:bodyPr wrap="square" lIns="0" tIns="0" rIns="0" bIns="0" rtlCol="0" anchor="ctr"/>
          <a:lstStyle/>
          <a:p>
            <a:pPr algn="l" indent="0" marL="0">
              <a:lnSpc>
                <a:spcPct val="130000"/>
              </a:lnSpc>
              <a:buNone/>
            </a:pPr>
            <a:r>
              <a:rPr lang="en-US" sz="1200" dirty="0">
                <a:solidFill>
                  <a:srgbClr val="FFFFFF"/>
                </a:solidFill>
                <a:latin typeface="Calibri" pitchFamily="34" charset="0"/>
                <a:ea typeface="Calibri" pitchFamily="34" charset="-122"/>
                <a:cs typeface="Calibri" pitchFamily="34" charset="-120"/>
              </a:rPr>
              <a:t>3.  A priest joins an expedition specifically to meet and convert people living on other continents.</a:t>
            </a:r>
            <a:endParaRPr lang="en-US" sz="1200" dirty="0"/>
          </a:p>
        </p:txBody>
      </p:sp>
      <p:sp>
        <p:nvSpPr>
          <p:cNvPr id="13" name="Shape 11"/>
          <p:cNvSpPr/>
          <p:nvPr/>
        </p:nvSpPr>
        <p:spPr>
          <a:xfrm>
            <a:off x="402336" y="3968496"/>
            <a:ext cx="8339328" cy="749808"/>
          </a:xfrm>
          <a:prstGeom prst="roundRect">
            <a:avLst>
              <a:gd name="adj" fmla="val 8537"/>
            </a:avLst>
          </a:prstGeom>
          <a:solidFill>
            <a:srgbClr val="FFFFFF">
              <a:alpha val="10000"/>
            </a:srgbClr>
          </a:solidFill>
          <a:ln w="12700">
            <a:solidFill>
              <a:srgbClr val="D4AF37"/>
            </a:solidFill>
            <a:prstDash val="solid"/>
          </a:ln>
        </p:spPr>
      </p:sp>
      <p:sp>
        <p:nvSpPr>
          <p:cNvPr id="14" name="Text 12"/>
          <p:cNvSpPr/>
          <p:nvPr/>
        </p:nvSpPr>
        <p:spPr>
          <a:xfrm>
            <a:off x="585216" y="3986784"/>
            <a:ext cx="7973568" cy="713232"/>
          </a:xfrm>
          <a:prstGeom prst="rect">
            <a:avLst/>
          </a:prstGeom>
          <a:noFill/>
          <a:ln/>
        </p:spPr>
        <p:txBody>
          <a:bodyPr wrap="square" lIns="0" tIns="0" rIns="0" bIns="0" rtlCol="0" anchor="ctr"/>
          <a:lstStyle/>
          <a:p>
            <a:pPr algn="l" indent="0" marL="0">
              <a:lnSpc>
                <a:spcPct val="130000"/>
              </a:lnSpc>
              <a:buNone/>
            </a:pPr>
            <a:r>
              <a:rPr lang="en-US" sz="1200" dirty="0">
                <a:solidFill>
                  <a:srgbClr val="FFFFFF"/>
                </a:solidFill>
                <a:latin typeface="Calibri" pitchFamily="34" charset="0"/>
                <a:ea typeface="Calibri" pitchFamily="34" charset="-122"/>
                <a:cs typeface="Calibri" pitchFamily="34" charset="-120"/>
              </a:rPr>
              <a:t>4.  An explorer writes: 'We sailed to claim these lands for God, king, and the riches of Spain.'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B1C2E"/>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What Historians Argue</a:t>
            </a:r>
            <a:endParaRPr lang="en-US" sz="2200" dirty="0"/>
          </a:p>
        </p:txBody>
      </p:sp>
      <p:sp>
        <p:nvSpPr>
          <p:cNvPr id="4" name="Text 2"/>
          <p:cNvSpPr/>
          <p:nvPr/>
        </p:nvSpPr>
        <p:spPr>
          <a:xfrm>
            <a:off x="457200" y="731520"/>
            <a:ext cx="8229600" cy="347472"/>
          </a:xfrm>
          <a:prstGeom prst="rect">
            <a:avLst/>
          </a:prstGeom>
          <a:noFill/>
          <a:ln/>
        </p:spPr>
        <p:txBody>
          <a:bodyPr wrap="square" lIns="0" tIns="0" rIns="0" bIns="0" rtlCol="0" anchor="ctr"/>
          <a:lstStyle/>
          <a:p>
            <a:pPr algn="ctr" indent="0" marL="0">
              <a:buNone/>
            </a:pPr>
            <a:r>
              <a:rPr lang="en-US" sz="1250" dirty="0">
                <a:solidFill>
                  <a:srgbClr val="1A0A14"/>
                </a:solidFill>
                <a:latin typeface="Calibri" pitchFamily="34" charset="0"/>
                <a:ea typeface="Calibri" pitchFamily="34" charset="-122"/>
                <a:cs typeface="Calibri" pitchFamily="34" charset="-120"/>
              </a:rPr>
              <a:t>Not all historians agree on WHY exploration happened when it did. Here are three competing arguments:</a:t>
            </a:r>
            <a:endParaRPr lang="en-US" sz="1250" dirty="0"/>
          </a:p>
        </p:txBody>
      </p:sp>
      <p:sp>
        <p:nvSpPr>
          <p:cNvPr id="5" name="Shape 3"/>
          <p:cNvSpPr/>
          <p:nvPr/>
        </p:nvSpPr>
        <p:spPr>
          <a:xfrm>
            <a:off x="402336" y="1170432"/>
            <a:ext cx="8339328" cy="1115568"/>
          </a:xfrm>
          <a:prstGeom prst="roundRect">
            <a:avLst>
              <a:gd name="adj" fmla="val 8197"/>
            </a:avLst>
          </a:prstGeom>
          <a:solidFill>
            <a:srgbClr val="FFFFFF"/>
          </a:solidFill>
          <a:ln w="19050">
            <a:solidFill>
              <a:srgbClr val="9B1C2E"/>
            </a:solidFill>
            <a:prstDash val="solid"/>
          </a:ln>
          <a:effectLst>
            <a:outerShdw sx="100000" sy="100000" kx="0" ky="0" algn="bl" rotWithShape="0" blurRad="101600" dist="25400" dir="2700000">
              <a:srgbClr val="000000">
                <a:alpha val="12000"/>
              </a:srgbClr>
            </a:outerShdw>
          </a:effectLst>
        </p:spPr>
      </p:sp>
      <p:sp>
        <p:nvSpPr>
          <p:cNvPr id="6" name="Text 4"/>
          <p:cNvSpPr/>
          <p:nvPr/>
        </p:nvSpPr>
        <p:spPr>
          <a:xfrm>
            <a:off x="585216" y="1207008"/>
            <a:ext cx="7973568" cy="402336"/>
          </a:xfrm>
          <a:prstGeom prst="rect">
            <a:avLst/>
          </a:prstGeom>
          <a:noFill/>
          <a:ln/>
        </p:spPr>
        <p:txBody>
          <a:bodyPr wrap="square" lIns="0" tIns="0" rIns="0" bIns="0" rtlCol="0" anchor="ctr"/>
          <a:lstStyle/>
          <a:p>
            <a:pPr indent="0" marL="0">
              <a:buNone/>
            </a:pPr>
            <a:r>
              <a:rPr lang="en-US" sz="1300" b="1" dirty="0">
                <a:solidFill>
                  <a:srgbClr val="9B1C2E"/>
                </a:solidFill>
                <a:latin typeface="Cambria" pitchFamily="34" charset="0"/>
                <a:ea typeface="Cambria" pitchFamily="34" charset="-122"/>
                <a:cs typeface="Cambria" pitchFamily="34" charset="-120"/>
              </a:rPr>
              <a:t>The Economic Argument</a:t>
            </a:r>
            <a:endParaRPr lang="en-US" sz="1300" dirty="0"/>
          </a:p>
        </p:txBody>
      </p:sp>
      <p:sp>
        <p:nvSpPr>
          <p:cNvPr id="7" name="Text 5"/>
          <p:cNvSpPr/>
          <p:nvPr/>
        </p:nvSpPr>
        <p:spPr>
          <a:xfrm>
            <a:off x="585216" y="1609344"/>
            <a:ext cx="7973568" cy="603504"/>
          </a:xfrm>
          <a:prstGeom prst="rect">
            <a:avLst/>
          </a:prstGeom>
          <a:noFill/>
          <a:ln/>
        </p:spPr>
        <p:txBody>
          <a:bodyPr wrap="square" lIns="0" tIns="0" rIns="0" bIns="0" rtlCol="0" anchor="ctr"/>
          <a:lstStyle/>
          <a:p>
            <a:pPr indent="0" marL="0">
              <a:lnSpc>
                <a:spcPct val="130000"/>
              </a:lnSpc>
              <a:buNone/>
            </a:pPr>
            <a:r>
              <a:rPr lang="en-US" sz="1200" dirty="0">
                <a:solidFill>
                  <a:srgbClr val="3A4A6B"/>
                </a:solidFill>
                <a:latin typeface="Calibri" pitchFamily="34" charset="0"/>
                <a:ea typeface="Calibri" pitchFamily="34" charset="-122"/>
                <a:cs typeface="Calibri" pitchFamily="34" charset="-120"/>
              </a:rPr>
              <a:t>New land routes to Asia were blocked by the Ottoman Empire after 1453. European merchants NEEDED sea routes. Economics drove everything.</a:t>
            </a:r>
            <a:endParaRPr lang="en-US" sz="1200" dirty="0"/>
          </a:p>
        </p:txBody>
      </p:sp>
      <p:sp>
        <p:nvSpPr>
          <p:cNvPr id="8" name="Shape 6"/>
          <p:cNvSpPr/>
          <p:nvPr/>
        </p:nvSpPr>
        <p:spPr>
          <a:xfrm>
            <a:off x="402336" y="2414016"/>
            <a:ext cx="8339328" cy="1115568"/>
          </a:xfrm>
          <a:prstGeom prst="roundRect">
            <a:avLst>
              <a:gd name="adj" fmla="val 8197"/>
            </a:avLst>
          </a:prstGeom>
          <a:solidFill>
            <a:srgbClr val="FFFFFF"/>
          </a:solidFill>
          <a:ln w="19050">
            <a:solidFill>
              <a:srgbClr val="9B1C2E"/>
            </a:solidFill>
            <a:prstDash val="solid"/>
          </a:ln>
          <a:effectLst>
            <a:outerShdw sx="100000" sy="100000" kx="0" ky="0" algn="bl" rotWithShape="0" blurRad="101600" dist="25400" dir="2700000">
              <a:srgbClr val="000000">
                <a:alpha val="12000"/>
              </a:srgbClr>
            </a:outerShdw>
          </a:effectLst>
        </p:spPr>
      </p:sp>
      <p:sp>
        <p:nvSpPr>
          <p:cNvPr id="9" name="Text 7"/>
          <p:cNvSpPr/>
          <p:nvPr/>
        </p:nvSpPr>
        <p:spPr>
          <a:xfrm>
            <a:off x="585216" y="2450592"/>
            <a:ext cx="7973568" cy="402336"/>
          </a:xfrm>
          <a:prstGeom prst="rect">
            <a:avLst/>
          </a:prstGeom>
          <a:noFill/>
          <a:ln/>
        </p:spPr>
        <p:txBody>
          <a:bodyPr wrap="square" lIns="0" tIns="0" rIns="0" bIns="0" rtlCol="0" anchor="ctr"/>
          <a:lstStyle/>
          <a:p>
            <a:pPr indent="0" marL="0">
              <a:buNone/>
            </a:pPr>
            <a:r>
              <a:rPr lang="en-US" sz="1300" b="1" dirty="0">
                <a:solidFill>
                  <a:srgbClr val="9B1C2E"/>
                </a:solidFill>
                <a:latin typeface="Cambria" pitchFamily="34" charset="0"/>
                <a:ea typeface="Cambria" pitchFamily="34" charset="-122"/>
                <a:cs typeface="Cambria" pitchFamily="34" charset="-120"/>
              </a:rPr>
              <a:t>The Technology Argument</a:t>
            </a:r>
            <a:endParaRPr lang="en-US" sz="1300" dirty="0"/>
          </a:p>
        </p:txBody>
      </p:sp>
      <p:sp>
        <p:nvSpPr>
          <p:cNvPr id="10" name="Text 8"/>
          <p:cNvSpPr/>
          <p:nvPr/>
        </p:nvSpPr>
        <p:spPr>
          <a:xfrm>
            <a:off x="585216" y="2852928"/>
            <a:ext cx="7973568" cy="603504"/>
          </a:xfrm>
          <a:prstGeom prst="rect">
            <a:avLst/>
          </a:prstGeom>
          <a:noFill/>
          <a:ln/>
        </p:spPr>
        <p:txBody>
          <a:bodyPr wrap="square" lIns="0" tIns="0" rIns="0" bIns="0" rtlCol="0" anchor="ctr"/>
          <a:lstStyle/>
          <a:p>
            <a:pPr indent="0" marL="0">
              <a:lnSpc>
                <a:spcPct val="130000"/>
              </a:lnSpc>
              <a:buNone/>
            </a:pPr>
            <a:r>
              <a:rPr lang="en-US" sz="1200" dirty="0">
                <a:solidFill>
                  <a:srgbClr val="3A4A6B"/>
                </a:solidFill>
                <a:latin typeface="Calibri" pitchFamily="34" charset="0"/>
                <a:ea typeface="Calibri" pitchFamily="34" charset="-122"/>
                <a:cs typeface="Calibri" pitchFamily="34" charset="-120"/>
              </a:rPr>
              <a:t>Exploration was only possible because of new ship designs (caravels), better compasses, and improved maps. Without the tools, desire didn't matter.</a:t>
            </a:r>
            <a:endParaRPr lang="en-US" sz="1200" dirty="0"/>
          </a:p>
        </p:txBody>
      </p:sp>
      <p:sp>
        <p:nvSpPr>
          <p:cNvPr id="11" name="Shape 9"/>
          <p:cNvSpPr/>
          <p:nvPr/>
        </p:nvSpPr>
        <p:spPr>
          <a:xfrm>
            <a:off x="402336" y="3657600"/>
            <a:ext cx="8339328" cy="1115568"/>
          </a:xfrm>
          <a:prstGeom prst="roundRect">
            <a:avLst>
              <a:gd name="adj" fmla="val 8197"/>
            </a:avLst>
          </a:prstGeom>
          <a:solidFill>
            <a:srgbClr val="FFFFFF"/>
          </a:solidFill>
          <a:ln w="19050">
            <a:solidFill>
              <a:srgbClr val="9B1C2E"/>
            </a:solidFill>
            <a:prstDash val="solid"/>
          </a:ln>
          <a:effectLst>
            <a:outerShdw sx="100000" sy="100000" kx="0" ky="0" algn="bl" rotWithShape="0" blurRad="101600" dist="25400" dir="2700000">
              <a:srgbClr val="000000">
                <a:alpha val="12000"/>
              </a:srgbClr>
            </a:outerShdw>
          </a:effectLst>
        </p:spPr>
      </p:sp>
      <p:sp>
        <p:nvSpPr>
          <p:cNvPr id="12" name="Text 10"/>
          <p:cNvSpPr/>
          <p:nvPr/>
        </p:nvSpPr>
        <p:spPr>
          <a:xfrm>
            <a:off x="585216" y="3694176"/>
            <a:ext cx="7973568" cy="402336"/>
          </a:xfrm>
          <a:prstGeom prst="rect">
            <a:avLst/>
          </a:prstGeom>
          <a:noFill/>
          <a:ln/>
        </p:spPr>
        <p:txBody>
          <a:bodyPr wrap="square" lIns="0" tIns="0" rIns="0" bIns="0" rtlCol="0" anchor="ctr"/>
          <a:lstStyle/>
          <a:p>
            <a:pPr indent="0" marL="0">
              <a:buNone/>
            </a:pPr>
            <a:r>
              <a:rPr lang="en-US" sz="1300" b="1" dirty="0">
                <a:solidFill>
                  <a:srgbClr val="9B1C2E"/>
                </a:solidFill>
                <a:latin typeface="Cambria" pitchFamily="34" charset="0"/>
                <a:ea typeface="Cambria" pitchFamily="34" charset="-122"/>
                <a:cs typeface="Cambria" pitchFamily="34" charset="-120"/>
              </a:rPr>
              <a:t>The Power Argument</a:t>
            </a:r>
            <a:endParaRPr lang="en-US" sz="1300" dirty="0"/>
          </a:p>
        </p:txBody>
      </p:sp>
      <p:sp>
        <p:nvSpPr>
          <p:cNvPr id="13" name="Text 11"/>
          <p:cNvSpPr/>
          <p:nvPr/>
        </p:nvSpPr>
        <p:spPr>
          <a:xfrm>
            <a:off x="585216" y="4096512"/>
            <a:ext cx="7973568" cy="603504"/>
          </a:xfrm>
          <a:prstGeom prst="rect">
            <a:avLst/>
          </a:prstGeom>
          <a:noFill/>
          <a:ln/>
        </p:spPr>
        <p:txBody>
          <a:bodyPr wrap="square" lIns="0" tIns="0" rIns="0" bIns="0" rtlCol="0" anchor="ctr"/>
          <a:lstStyle/>
          <a:p>
            <a:pPr indent="0" marL="0">
              <a:lnSpc>
                <a:spcPct val="130000"/>
              </a:lnSpc>
              <a:buNone/>
            </a:pPr>
            <a:r>
              <a:rPr lang="en-US" sz="1200" dirty="0">
                <a:solidFill>
                  <a:srgbClr val="3A4A6B"/>
                </a:solidFill>
                <a:latin typeface="Calibri" pitchFamily="34" charset="0"/>
                <a:ea typeface="Calibri" pitchFamily="34" charset="-122"/>
                <a:cs typeface="Calibri" pitchFamily="34" charset="-120"/>
              </a:rPr>
              <a:t>Rival European kingdoms competed for dominance. Each feared falling behind the others. Exploration was as much about competition as about discovery.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685800" y="502920"/>
            <a:ext cx="7772400" cy="4114800"/>
          </a:xfrm>
          <a:prstGeom prst="ellipse">
            <a:avLst/>
          </a:prstGeom>
          <a:solidFill>
            <a:srgbClr val="C7522A">
              <a:alpha val="14000"/>
            </a:srgbClr>
          </a:solidFill>
          <a:ln w="12700">
            <a:solidFill>
              <a:srgbClr val="333333"/>
            </a:solidFill>
            <a:prstDash val="solid"/>
          </a:ln>
        </p:spPr>
      </p:sp>
      <p:sp>
        <p:nvSpPr>
          <p:cNvPr id="3" name="Shape 1"/>
          <p:cNvSpPr/>
          <p:nvPr/>
        </p:nvSpPr>
        <p:spPr>
          <a:xfrm>
            <a:off x="2395728" y="1408176"/>
            <a:ext cx="4352544" cy="2304288"/>
          </a:xfrm>
          <a:prstGeom prst="ellipse">
            <a:avLst/>
          </a:prstGeom>
          <a:solidFill>
            <a:srgbClr val="C7522A">
              <a:alpha val="25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In Your Groups — The Exploration Decision</a:t>
            </a:r>
            <a:endParaRPr lang="en-US" sz="2600" dirty="0"/>
          </a:p>
        </p:txBody>
      </p:sp>
      <p:sp>
        <p:nvSpPr>
          <p:cNvPr id="5" name="Shape 3"/>
          <p:cNvSpPr/>
          <p:nvPr/>
        </p:nvSpPr>
        <p:spPr>
          <a:xfrm>
            <a:off x="402336" y="749808"/>
            <a:ext cx="8339328" cy="694944"/>
          </a:xfrm>
          <a:prstGeom prst="roundRect">
            <a:avLst>
              <a:gd name="adj" fmla="val 11842"/>
            </a:avLst>
          </a:prstGeom>
          <a:solidFill>
            <a:srgbClr val="C7522A">
              <a:alpha val="20000"/>
            </a:srgbClr>
          </a:solidFill>
          <a:ln w="19050">
            <a:solidFill>
              <a:srgbClr val="C7522A"/>
            </a:solidFill>
            <a:prstDash val="solid"/>
          </a:ln>
        </p:spPr>
      </p:sp>
      <p:sp>
        <p:nvSpPr>
          <p:cNvPr id="6" name="Text 4"/>
          <p:cNvSpPr/>
          <p:nvPr/>
        </p:nvSpPr>
        <p:spPr>
          <a:xfrm>
            <a:off x="585216" y="786384"/>
            <a:ext cx="7973568" cy="658368"/>
          </a:xfrm>
          <a:prstGeom prst="rect">
            <a:avLst/>
          </a:prstGeom>
          <a:noFill/>
          <a:ln/>
        </p:spPr>
        <p:txBody>
          <a:bodyPr wrap="square" rtlCol="0" anchor="ctr"/>
          <a:lstStyle/>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It's 1491. Your group has been offered a spot on a voyage leaving Spain next spring. The ship might not return. Discuss:</a:t>
            </a:r>
            <a:endParaRPr lang="en-US" sz="1200" dirty="0"/>
          </a:p>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 What would your push and pull factors be?</a:t>
            </a:r>
            <a:endParaRPr lang="en-US" sz="1200" dirty="0"/>
          </a:p>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 Which of the 3 Gs matters most to your group?</a:t>
            </a:r>
            <a:endParaRPr lang="en-US" sz="1200" dirty="0"/>
          </a:p>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 Would your group take the voyage?</a:t>
            </a:r>
            <a:endParaRPr lang="en-US" sz="1200" dirty="0"/>
          </a:p>
        </p:txBody>
      </p:sp>
      <p:sp>
        <p:nvSpPr>
          <p:cNvPr id="7" name="Shape 5"/>
          <p:cNvSpPr/>
          <p:nvPr/>
        </p:nvSpPr>
        <p:spPr>
          <a:xfrm>
            <a:off x="402336" y="1572768"/>
            <a:ext cx="8339328" cy="1280160"/>
          </a:xfrm>
          <a:prstGeom prst="roundRect">
            <a:avLst>
              <a:gd name="adj" fmla="val 6429"/>
            </a:avLst>
          </a:prstGeom>
          <a:solidFill>
            <a:srgbClr val="A88920">
              <a:alpha val="18000"/>
            </a:srgbClr>
          </a:solidFill>
          <a:ln w="19050">
            <a:solidFill>
              <a:srgbClr val="D4AF37"/>
            </a:solidFill>
            <a:prstDash val="solid"/>
          </a:ln>
        </p:spPr>
      </p:sp>
      <p:sp>
        <p:nvSpPr>
          <p:cNvPr id="8" name="Text 6"/>
          <p:cNvSpPr/>
          <p:nvPr/>
        </p:nvSpPr>
        <p:spPr>
          <a:xfrm>
            <a:off x="585216" y="1645920"/>
            <a:ext cx="7973568" cy="402336"/>
          </a:xfrm>
          <a:prstGeom prst="rect">
            <a:avLst/>
          </a:prstGeom>
          <a:noFill/>
          <a:ln/>
        </p:spPr>
        <p:txBody>
          <a:bodyPr wrap="square" lIns="0" tIns="0" rIns="0" bIns="0" rtlCol="0" anchor="ctr"/>
          <a:lstStyle/>
          <a:p>
            <a:pPr indent="0" marL="0">
              <a:buNone/>
            </a:pPr>
            <a:r>
              <a:rPr lang="en-US" sz="1400" b="1" dirty="0">
                <a:solidFill>
                  <a:srgbClr val="D4AF37"/>
                </a:solidFill>
                <a:latin typeface="Cambria" pitchFamily="34" charset="0"/>
                <a:ea typeface="Cambria" pitchFamily="34" charset="-122"/>
                <a:cs typeface="Cambria" pitchFamily="34" charset="-120"/>
              </a:rPr>
              <a:t>Virtue Lens: Courage</a:t>
            </a:r>
            <a:endParaRPr lang="en-US" sz="1400" dirty="0"/>
          </a:p>
        </p:txBody>
      </p:sp>
      <p:sp>
        <p:nvSpPr>
          <p:cNvPr id="9" name="Text 7"/>
          <p:cNvSpPr/>
          <p:nvPr/>
        </p:nvSpPr>
        <p:spPr>
          <a:xfrm>
            <a:off x="585216" y="2066544"/>
            <a:ext cx="7973568" cy="694944"/>
          </a:xfrm>
          <a:prstGeom prst="rect">
            <a:avLst/>
          </a:prstGeom>
          <a:noFill/>
          <a:ln/>
        </p:spPr>
        <p:txBody>
          <a:bodyPr wrap="square" lIns="0" tIns="0" rIns="0" bIns="0" rtlCol="0" anchor="ctr"/>
          <a:lstStyle/>
          <a:p>
            <a:pPr indent="0" marL="0">
              <a:lnSpc>
                <a:spcPct val="135000"/>
              </a:lnSpc>
              <a:buNone/>
            </a:pPr>
            <a:r>
              <a:rPr lang="en-US" sz="1200" dirty="0">
                <a:solidFill>
                  <a:srgbClr val="FDF6DC"/>
                </a:solidFill>
                <a:latin typeface="Calibri" pitchFamily="34" charset="0"/>
                <a:ea typeface="Calibri" pitchFamily="34" charset="-122"/>
                <a:cs typeface="Calibri" pitchFamily="34" charset="-120"/>
              </a:rPr>
              <a:t>Courage isn't the absence of fear — it's acting in spite of it. Every explorer who sailed knew they might not return. What does it mean to choose something uncertain because it matters?</a:t>
            </a:r>
            <a:endParaRPr lang="en-US" sz="1200" dirty="0"/>
          </a:p>
        </p:txBody>
      </p:sp>
      <p:sp>
        <p:nvSpPr>
          <p:cNvPr id="10" name="Shape 8"/>
          <p:cNvSpPr/>
          <p:nvPr/>
        </p:nvSpPr>
        <p:spPr>
          <a:xfrm>
            <a:off x="402336" y="2944368"/>
            <a:ext cx="8339328" cy="1737360"/>
          </a:xfrm>
          <a:prstGeom prst="roundRect">
            <a:avLst>
              <a:gd name="adj" fmla="val 5263"/>
            </a:avLst>
          </a:prstGeom>
          <a:solidFill>
            <a:srgbClr val="E0F5F0"/>
          </a:solidFill>
          <a:ln w="22860">
            <a:solidFill>
              <a:srgbClr val="1A8A7D"/>
            </a:solidFill>
            <a:prstDash val="solid"/>
          </a:ln>
          <a:effectLst>
            <a:outerShdw sx="100000" sy="100000" kx="0" ky="0" algn="bl" rotWithShape="0" blurRad="101600" dist="25400" dir="2700000">
              <a:srgbClr val="000000">
                <a:alpha val="12000"/>
              </a:srgbClr>
            </a:outerShdw>
          </a:effectLst>
        </p:spPr>
      </p:sp>
      <p:sp>
        <p:nvSpPr>
          <p:cNvPr id="11" name="Text 9"/>
          <p:cNvSpPr/>
          <p:nvPr/>
        </p:nvSpPr>
        <p:spPr>
          <a:xfrm>
            <a:off x="539496" y="3035808"/>
            <a:ext cx="8065008" cy="320040"/>
          </a:xfrm>
          <a:prstGeom prst="rect">
            <a:avLst/>
          </a:prstGeom>
          <a:noFill/>
          <a:ln/>
        </p:spPr>
        <p:txBody>
          <a:bodyPr wrap="square" lIns="0" tIns="0" rIns="0" bIns="0" rtlCol="0" anchor="ctr"/>
          <a:lstStyle/>
          <a:p>
            <a:pPr indent="0" marL="0">
              <a:buNone/>
            </a:pPr>
            <a:r>
              <a:rPr lang="en-US" sz="1150" b="1" dirty="0">
                <a:solidFill>
                  <a:srgbClr val="1A8A7D"/>
                </a:solidFill>
                <a:latin typeface="Calibri" pitchFamily="34" charset="0"/>
                <a:ea typeface="Calibri" pitchFamily="34" charset="-122"/>
                <a:cs typeface="Calibri" pitchFamily="34" charset="-120"/>
              </a:rPr>
              <a:t>In the Chat</a:t>
            </a:r>
            <a:endParaRPr lang="en-US" sz="1150" dirty="0"/>
          </a:p>
        </p:txBody>
      </p:sp>
      <p:sp>
        <p:nvSpPr>
          <p:cNvPr id="12" name="Shape 10"/>
          <p:cNvSpPr/>
          <p:nvPr/>
        </p:nvSpPr>
        <p:spPr>
          <a:xfrm>
            <a:off x="539496" y="3374136"/>
            <a:ext cx="8065008" cy="0"/>
          </a:xfrm>
          <a:prstGeom prst="line">
            <a:avLst/>
          </a:prstGeom>
          <a:noFill/>
          <a:ln w="10160">
            <a:solidFill>
              <a:srgbClr val="1A8A7D"/>
            </a:solidFill>
            <a:prstDash val="solid"/>
          </a:ln>
        </p:spPr>
      </p:sp>
      <p:sp>
        <p:nvSpPr>
          <p:cNvPr id="13" name="Text 11"/>
          <p:cNvSpPr/>
          <p:nvPr/>
        </p:nvSpPr>
        <p:spPr>
          <a:xfrm>
            <a:off x="539496" y="3429000"/>
            <a:ext cx="8065008" cy="1143000"/>
          </a:xfrm>
          <a:prstGeom prst="rect">
            <a:avLst/>
          </a:prstGeom>
          <a:noFill/>
          <a:ln/>
        </p:spPr>
        <p:txBody>
          <a:bodyPr wrap="square" lIns="0" tIns="0" rIns="0" bIns="0" rtlCol="0" anchor="ctr"/>
          <a:lstStyle/>
          <a:p>
            <a:pPr algn="l" indent="0" marL="0">
              <a:lnSpc>
                <a:spcPct val="138000"/>
              </a:lnSpc>
              <a:buNone/>
            </a:pPr>
            <a:r>
              <a:rPr lang="en-US" sz="1250" dirty="0">
                <a:solidFill>
                  <a:srgbClr val="3A4A6B"/>
                </a:solidFill>
                <a:latin typeface="Calibri" pitchFamily="34" charset="0"/>
                <a:ea typeface="Calibri" pitchFamily="34" charset="-122"/>
                <a:cs typeface="Calibri" pitchFamily="34" charset="-120"/>
              </a:rPr>
              <a:t>Back together: Would your group sail? Share your decision AND the most important reason behind it — push factor, pull factor, or one of the 3 Gs.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914400" y="228600"/>
            <a:ext cx="7315200" cy="4114800"/>
          </a:xfrm>
          <a:prstGeom prst="ellipse">
            <a:avLst/>
          </a:prstGeom>
          <a:solidFill>
            <a:srgbClr val="D4AF37">
              <a:alpha val="14000"/>
            </a:srgbClr>
          </a:solidFill>
          <a:ln w="12700">
            <a:solidFill>
              <a:srgbClr val="333333"/>
            </a:solidFill>
            <a:prstDash val="solid"/>
          </a:ln>
        </p:spPr>
      </p:sp>
      <p:sp>
        <p:nvSpPr>
          <p:cNvPr id="3" name="Shape 1"/>
          <p:cNvSpPr/>
          <p:nvPr/>
        </p:nvSpPr>
        <p:spPr>
          <a:xfrm>
            <a:off x="2523744" y="1133856"/>
            <a:ext cx="4096512" cy="2304288"/>
          </a:xfrm>
          <a:prstGeom prst="ellipse">
            <a:avLst/>
          </a:prstGeom>
          <a:solidFill>
            <a:srgbClr val="D4AF37">
              <a:alpha val="25000"/>
            </a:srgbClr>
          </a:solidFill>
          <a:ln w="12700">
            <a:solidFill>
              <a:srgbClr val="333333"/>
            </a:solidFill>
            <a:prstDash val="solid"/>
          </a:ln>
        </p:spPr>
      </p:sp>
      <p:sp>
        <p:nvSpPr>
          <p:cNvPr id="4" name="Text 2"/>
          <p:cNvSpPr/>
          <p:nvPr/>
        </p:nvSpPr>
        <p:spPr>
          <a:xfrm>
            <a:off x="457200" y="822960"/>
            <a:ext cx="8229600" cy="621792"/>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The Explorer's Vault is open.</a:t>
            </a:r>
            <a:endParaRPr lang="en-US" sz="3200" dirty="0"/>
          </a:p>
        </p:txBody>
      </p:sp>
      <p:sp>
        <p:nvSpPr>
          <p:cNvPr id="5" name="Text 3"/>
          <p:cNvSpPr/>
          <p:nvPr/>
        </p:nvSpPr>
        <p:spPr>
          <a:xfrm>
            <a:off x="914400" y="1536192"/>
            <a:ext cx="7315200" cy="896112"/>
          </a:xfrm>
          <a:prstGeom prst="rect">
            <a:avLst/>
          </a:prstGeom>
          <a:noFill/>
          <a:ln/>
        </p:spPr>
        <p:txBody>
          <a:bodyPr wrap="square" rtlCol="0" anchor="ctr"/>
          <a:lstStyle/>
          <a:p>
            <a:pPr algn="ctr" indent="0" marL="0">
              <a:lnSpc>
                <a:spcPct val="150000"/>
              </a:lnSpc>
              <a:buNone/>
            </a:pPr>
            <a:r>
              <a:rPr lang="en-US" sz="1400" dirty="0">
                <a:solidFill>
                  <a:srgbClr val="D4AF37"/>
                </a:solidFill>
                <a:latin typeface="Calibri" pitchFamily="34" charset="0"/>
                <a:ea typeface="Calibri" pitchFamily="34" charset="-122"/>
                <a:cs typeface="Calibri" pitchFamily="34" charset="-120"/>
              </a:rPr>
              <a:t>Push factors. Pull factors. Gold, Glory, God.</a:t>
            </a:r>
            <a:endParaRPr lang="en-US" sz="1400" dirty="0"/>
          </a:p>
          <a:p>
            <a:pPr algn="ctr" indent="0" marL="0">
              <a:lnSpc>
                <a:spcPct val="150000"/>
              </a:lnSpc>
              <a:buNone/>
            </a:pPr>
            <a:r>
              <a:rPr lang="en-US" sz="1400" dirty="0">
                <a:solidFill>
                  <a:srgbClr val="D4AF37"/>
                </a:solidFill>
                <a:latin typeface="Calibri" pitchFamily="34" charset="0"/>
                <a:ea typeface="Calibri" pitchFamily="34" charset="-122"/>
                <a:cs typeface="Calibri" pitchFamily="34" charset="-120"/>
              </a:rPr>
              <a:t>Courage means going anyway — even when you're not sure.</a:t>
            </a:r>
            <a:endParaRPr lang="en-US" sz="1400" dirty="0"/>
          </a:p>
        </p:txBody>
      </p:sp>
      <p:sp>
        <p:nvSpPr>
          <p:cNvPr id="6" name="Shape 4"/>
          <p:cNvSpPr/>
          <p:nvPr/>
        </p:nvSpPr>
        <p:spPr>
          <a:xfrm>
            <a:off x="1014984" y="4645152"/>
            <a:ext cx="164592" cy="256032"/>
          </a:xfrm>
          <a:prstGeom prst="ellipse">
            <a:avLst/>
          </a:prstGeom>
          <a:solidFill>
            <a:srgbClr val="D4AF37"/>
          </a:solidFill>
          <a:ln w="12700">
            <a:solidFill>
              <a:srgbClr val="333333"/>
            </a:solidFill>
            <a:prstDash val="solid"/>
          </a:ln>
        </p:spPr>
      </p:sp>
      <p:sp>
        <p:nvSpPr>
          <p:cNvPr id="7" name="Shape 5"/>
          <p:cNvSpPr/>
          <p:nvPr/>
        </p:nvSpPr>
        <p:spPr>
          <a:xfrm>
            <a:off x="7964424" y="4645152"/>
            <a:ext cx="164592" cy="256032"/>
          </a:xfrm>
          <a:prstGeom prst="ellipse">
            <a:avLst/>
          </a:prstGeom>
          <a:solidFill>
            <a:srgbClr val="D4AF37"/>
          </a:solidFill>
          <a:ln w="12700">
            <a:solidFill>
              <a:srgbClr val="333333"/>
            </a:solidFill>
            <a:prstDash val="solid"/>
          </a:ln>
        </p:spPr>
      </p:sp>
      <p:sp>
        <p:nvSpPr>
          <p:cNvPr id="8" name="Shape 6"/>
          <p:cNvSpPr/>
          <p:nvPr/>
        </p:nvSpPr>
        <p:spPr>
          <a:xfrm>
            <a:off x="1097280" y="4773168"/>
            <a:ext cx="6949440" cy="0"/>
          </a:xfrm>
          <a:prstGeom prst="line">
            <a:avLst/>
          </a:prstGeom>
          <a:noFill/>
          <a:ln w="31750">
            <a:solidFill>
              <a:srgbClr val="D4AF37"/>
            </a:solidFill>
            <a:prstDash val="solid"/>
          </a:ln>
        </p:spPr>
      </p:sp>
      <p:sp>
        <p:nvSpPr>
          <p:cNvPr id="9" name="Text 7"/>
          <p:cNvSpPr/>
          <p:nvPr/>
        </p:nvSpPr>
        <p:spPr>
          <a:xfrm>
            <a:off x="457200" y="4480560"/>
            <a:ext cx="8229600" cy="475488"/>
          </a:xfrm>
          <a:prstGeom prst="rect">
            <a:avLst/>
          </a:prstGeom>
          <a:noFill/>
          <a:ln/>
        </p:spPr>
        <p:txBody>
          <a:bodyPr wrap="square" lIns="0" tIns="0" rIns="0" bIns="0"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Next lesson: The tools explorers used to navigate — and find their way back.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3.02.01 — Why People Explore</dc:title>
  <dc:subject>PptxGenJS Presentation</dc:subject>
  <dc:creator>PptxGenJS</dc:creator>
  <cp:lastModifiedBy>PptxGenJS</cp:lastModifiedBy>
  <cp:revision>1</cp:revision>
  <dcterms:created xsi:type="dcterms:W3CDTF">2026-07-06T23:18:23Z</dcterms:created>
  <dcterms:modified xsi:type="dcterms:W3CDTF">2026-07-06T23:18:23Z</dcterms:modified>
</cp:coreProperties>
</file>