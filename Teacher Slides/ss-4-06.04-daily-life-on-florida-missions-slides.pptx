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Dawn view of a reconstructed Florida mission -- Apalachee farmers heading toward cornfields in early morning mist, a small chapel bell tower visible in the background, thatched homes, warm pre-sunrise orange light. Mood: work begins, daily rhythm, perseverance.Title slide. Open: 'Same room, a wall of unlabeled scenes -- daily life on the missions. Canvas pulled the captions off. The exit has to be near the end of this wing, and we are deep in it now. Help me put the daily-life pieces back so the next door will load.' Under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Florida Files unlock. Read Ms. Rivera's message aloud. Ask: 'If someone woke you up before sunrise every single day to follow someone else's schedule, how would you feel -- and what would it take to keep doing it?' Let 2-3 students respond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Show the image silently for 30 seconds. Ask: 'What do you notice about who controls when things happen?' Do NOT explain the repartimiento yet. Let students type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discussion. The 'missing voice' question is critical for this native peoples lesson. Treat oral tradition as valid evidence. Don't resolve the repartimiento question yet -- it comes in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Study. Key move: this reconstruction was built from Spanish written records + archaeology. Apalachee oral tradition was a third source that is often excluded. Ask: 'Whose perspective shaped what was included in this reconstruction?'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a Florida mission reconstruction at sunset -- golden fields of corn and squash in the foreground, small chapel bell tower, thatched Apalachee homes, long shadows. Mood: a full day's work, perseverance, complex reality.Key concept reveal. Walk through each time block. Emphasize: the Three Sisters (corn, beans, squash) were APALACHEE crops already there. Wheat, peaches, cattle were Spanish additions. The repartimiento was the hardest and most resented part of mission life. End with retrieval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Multi-Source Compare. Key question: The Spanish friar wrote about a 'well-ordered' mission day. What does archaeology tell us about the parts of Apalachee life that were NOT 'well-ordered' from their perspective? Push students to defend with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Sunrise over flat Florida fields at a mission site -- long shadows across rows of corn and squash, a chapel bell tower silhouetted against the orange sky. Mood: perseverance, daily labor, quiet endurance.Virtue Spotlight: Perseverance. Read the text. Ask: 'The repartimiento walk was 200 miles, often barefoot. What would it take to keep going? And why did the Apalachee keep the old language and traditions even while living inside the mission system?' Under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Read the question exactly. Key move: students must NOT list corn, beans, or squash. Restate clearly: Three Sisters = Apalachee. Wheat, watermelon, peaches, cattle, pigs, chickens = Spanish additions. Any three from the Spanish list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 Multiple valid cause-effect pairs: bell -&gt; prayer and movement; repartimiento requirement -&gt; Apalachee men's long walks; Spanish adding crops -&gt; changes to Apalachee farming patterns. All are valid. Push for specific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Critique. Two clear errors: 1) Corn and beans are APALACHEE crops, not Spanish introductions. 2) The cause-effect is incomplete -- 'worked because the bell rang' does not explain the chain (bell rang -&gt; called to prayer -&gt; established the daily rhythm for everyone in the mission). Push students to find both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Tricky One. Genuinely ambiguous. The Apalachee people today still exist and maintain their heritage -- this is a present-tense reality, not just history. The pattern: perseverance under systemic pressure is a distinct form of the virtue. Accept both readings if evidence-backed.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Think aloud through Q3: 'If I am picking the Apalachee man on the repartimiento walk -- I would say: perseverance looked like walking 200 miles on foot carrying corn, often barefoot. It cost him time with his family, physical health, and his own traditions during that walk.' Walk through turn-in.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Sunset over flat Florida mission fields -- long golden light across rows of corn and squash, bell tower silhouette, thatched homes in the distance. The day is ending. Mood: file unlocked, almost there, the hallway is mostly lit now.Closing. Celebrate the team: they held the whole day -- bell, fields, meals, repartimiento, traditions. Recap the rhythm: bell, fields, midday meal, labor, elder traditions, sunset prayer. Honor perseverance without sentimentalizing. Tease 4.06.05. Under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017520"/>
            <a:ext cx="9144000" cy="2125980"/>
          </a:xfrm>
          <a:prstGeom prst="rect">
            <a:avLst/>
          </a:prstGeom>
          <a:solidFill>
            <a:srgbClr val="0E1C42">
              <a:alpha val="80000"/>
            </a:srgbClr>
          </a:solidFill>
          <a:ln/>
        </p:spPr>
      </p:sp>
      <p:sp>
        <p:nvSpPr>
          <p:cNvPr id="6" name="Text 3"/>
          <p:cNvSpPr/>
          <p:nvPr/>
        </p:nvSpPr>
        <p:spPr>
          <a:xfrm>
            <a:off x="365760" y="256032"/>
            <a:ext cx="8412480" cy="292608"/>
          </a:xfrm>
          <a:prstGeom prst="rect">
            <a:avLst/>
          </a:prstGeom>
          <a:noFill/>
          <a:ln/>
        </p:spPr>
        <p:txBody>
          <a:bodyPr wrap="square" rtlCol="0" anchor="ctr"/>
          <a:lstStyle/>
          <a:p>
            <a:pPr algn="l" indent="0" marL="0">
              <a:buNone/>
            </a:pPr>
            <a:r>
              <a:rPr lang="en-US" sz="1000" b="1" spc="200" kern="0" dirty="0">
                <a:solidFill>
                  <a:srgbClr val="55C8E8"/>
                </a:solidFill>
                <a:latin typeface="Calibri" pitchFamily="34" charset="0"/>
                <a:ea typeface="Calibri" pitchFamily="34" charset="-122"/>
                <a:cs typeface="Calibri" pitchFamily="34" charset="-120"/>
              </a:rPr>
              <a:t>FLORIDA FILES: ESCAPE FROM CANVAS</a:t>
            </a:r>
            <a:endParaRPr lang="en-US" sz="1000" dirty="0"/>
          </a:p>
        </p:txBody>
      </p:sp>
      <p:sp>
        <p:nvSpPr>
          <p:cNvPr id="7" name="Text 4"/>
          <p:cNvSpPr/>
          <p:nvPr/>
        </p:nvSpPr>
        <p:spPr>
          <a:xfrm>
            <a:off x="365760" y="621792"/>
            <a:ext cx="8412480" cy="621792"/>
          </a:xfrm>
          <a:prstGeom prst="rect">
            <a:avLst/>
          </a:prstGeom>
          <a:noFill/>
          <a:ln/>
        </p:spPr>
        <p:txBody>
          <a:bodyPr wrap="square"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Daily Life on Florida Missions:</a:t>
            </a:r>
            <a:endParaRPr lang="en-US" sz="3200" dirty="0"/>
          </a:p>
        </p:txBody>
      </p:sp>
      <p:sp>
        <p:nvSpPr>
          <p:cNvPr id="8" name="Text 5"/>
          <p:cNvSpPr/>
          <p:nvPr/>
        </p:nvSpPr>
        <p:spPr>
          <a:xfrm>
            <a:off x="365760" y="1261872"/>
            <a:ext cx="8412480" cy="475488"/>
          </a:xfrm>
          <a:prstGeom prst="rect">
            <a:avLst/>
          </a:prstGeom>
          <a:noFill/>
          <a:ln/>
        </p:spPr>
        <p:txBody>
          <a:bodyPr wrap="square" rtlCol="0" anchor="ctr"/>
          <a:lstStyle/>
          <a:p>
            <a:pPr algn="l" indent="0" marL="0">
              <a:buNone/>
            </a:pPr>
            <a:r>
              <a:rPr lang="en-US" sz="2600" dirty="0">
                <a:solidFill>
                  <a:srgbClr val="D4943A"/>
                </a:solidFill>
                <a:latin typeface="Cambria" pitchFamily="34" charset="0"/>
                <a:ea typeface="Cambria" pitchFamily="34" charset="-122"/>
                <a:cs typeface="Cambria" pitchFamily="34" charset="-120"/>
              </a:rPr>
              <a:t>Bell to Bell</a:t>
            </a:r>
            <a:endParaRPr lang="en-US" sz="2600" dirty="0"/>
          </a:p>
        </p:txBody>
      </p:sp>
      <p:sp>
        <p:nvSpPr>
          <p:cNvPr id="9" name="Text 6"/>
          <p:cNvSpPr/>
          <p:nvPr/>
        </p:nvSpPr>
        <p:spPr>
          <a:xfrm>
            <a:off x="365760" y="1828800"/>
            <a:ext cx="8412480" cy="274320"/>
          </a:xfrm>
          <a:prstGeom prst="rect">
            <a:avLst/>
          </a:prstGeom>
          <a:noFill/>
          <a:ln/>
        </p:spPr>
        <p:txBody>
          <a:bodyPr wrap="square" rtlCol="0" anchor="ctr"/>
          <a:lstStyle/>
          <a:p>
            <a:pPr algn="l" indent="0" marL="0">
              <a:buNone/>
            </a:pPr>
            <a:r>
              <a:rPr lang="en-US" sz="1200" dirty="0">
                <a:solidFill>
                  <a:srgbClr val="B0C0E0"/>
                </a:solidFill>
                <a:latin typeface="Calibri" pitchFamily="34" charset="0"/>
                <a:ea typeface="Calibri" pitchFamily="34" charset="-122"/>
                <a:cs typeface="Calibri" pitchFamily="34" charset="-120"/>
              </a:rPr>
              <a:t>Lesson 4.06.04  |  Florida History Team  |  Grade 4</a:t>
            </a:r>
            <a:endParaRPr lang="en-US" sz="1200" dirty="0"/>
          </a:p>
        </p:txBody>
      </p:sp>
      <p:sp>
        <p:nvSpPr>
          <p:cNvPr id="10" name="Shape 7"/>
          <p:cNvSpPr/>
          <p:nvPr/>
        </p:nvSpPr>
        <p:spPr>
          <a:xfrm>
            <a:off x="365760" y="2212848"/>
            <a:ext cx="3474720" cy="0"/>
          </a:xfrm>
          <a:prstGeom prst="line">
            <a:avLst/>
          </a:prstGeom>
          <a:noFill/>
          <a:ln w="25400">
            <a:solidFill>
              <a:srgbClr val="D4943A"/>
            </a:solidFill>
            <a:prstDash val="solid"/>
          </a:ln>
        </p:spPr>
      </p:sp>
      <p:sp>
        <p:nvSpPr>
          <p:cNvPr id="11" name="Text 8"/>
          <p:cNvSpPr/>
          <p:nvPr/>
        </p:nvSpPr>
        <p:spPr>
          <a:xfrm>
            <a:off x="365760" y="3154680"/>
            <a:ext cx="8412480" cy="777240"/>
          </a:xfrm>
          <a:prstGeom prst="rect">
            <a:avLst/>
          </a:prstGeom>
          <a:noFill/>
          <a:ln/>
        </p:spPr>
        <p:txBody>
          <a:bodyPr wrap="square" rtlCol="0" anchor="t"/>
          <a:lstStyle/>
          <a:p>
            <a:pPr algn="l" indent="0" marL="0">
              <a:buNone/>
            </a:pPr>
            <a:r>
              <a:rPr lang="en-US" sz="1400" i="1" dirty="0">
                <a:solidFill>
                  <a:srgbClr val="E8EEF8"/>
                </a:solidFill>
                <a:latin typeface="Calibri" pitchFamily="34" charset="0"/>
                <a:ea typeface="Calibri" pitchFamily="34" charset="-122"/>
                <a:cs typeface="Calibri" pitchFamily="34" charset="-120"/>
              </a:rPr>
              <a:t>Guiding Question: What was daily life like at a Florida mission -- and who got to decide how each part of the day happened?</a:t>
            </a:r>
            <a:endParaRPr lang="en-US" sz="1400" dirty="0"/>
          </a:p>
        </p:txBody>
      </p:sp>
      <p:sp>
        <p:nvSpPr>
          <p:cNvPr id="12" name="Text 9"/>
          <p:cNvSpPr/>
          <p:nvPr/>
        </p:nvSpPr>
        <p:spPr>
          <a:xfrm>
            <a:off x="365760" y="4773168"/>
            <a:ext cx="8412480" cy="201168"/>
          </a:xfrm>
          <a:prstGeom prst="rect">
            <a:avLst/>
          </a:prstGeom>
          <a:noFill/>
          <a:ln/>
        </p:spPr>
        <p:txBody>
          <a:bodyPr wrap="square" rtlCol="0" anchor="ctr"/>
          <a:lstStyle/>
          <a:p>
            <a:pPr algn="l" indent="0" marL="0">
              <a:buNone/>
            </a:pPr>
            <a:r>
              <a:rPr lang="en-US" sz="900" dirty="0">
                <a:solidFill>
                  <a:srgbClr val="7A88A8"/>
                </a:solidFill>
                <a:latin typeface="Calibri" pitchFamily="34" charset="0"/>
                <a:ea typeface="Calibri" pitchFamily="34" charset="-122"/>
                <a:cs typeface="Calibri" pitchFamily="34" charset="-120"/>
              </a:rPr>
              <a:t>SS.4.A.3.2 · SS.4.A.3.3 · SS.4.A.3.4 · SS.4.A.3.6 · SS.4.A.9.1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320040" y="256032"/>
            <a:ext cx="8503920" cy="960120"/>
          </a:xfrm>
          <a:prstGeom prst="roundRect">
            <a:avLst>
              <a:gd name="adj" fmla="val 11429"/>
            </a:avLst>
          </a:prstGeom>
          <a:solidFill>
            <a:srgbClr val="0E1C42"/>
          </a:solidFill>
          <a:ln/>
        </p:spPr>
      </p:sp>
      <p:sp>
        <p:nvSpPr>
          <p:cNvPr id="4" name="Text 2"/>
          <p:cNvSpPr/>
          <p:nvPr/>
        </p:nvSpPr>
        <p:spPr>
          <a:xfrm>
            <a:off x="502920" y="292608"/>
            <a:ext cx="8138160" cy="32004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FLORIDA FILES: MISSION UNLOCKED</a:t>
            </a:r>
            <a:endParaRPr lang="en-US" sz="1000" dirty="0"/>
          </a:p>
        </p:txBody>
      </p:sp>
      <p:sp>
        <p:nvSpPr>
          <p:cNvPr id="5" name="Text 3"/>
          <p:cNvSpPr/>
          <p:nvPr/>
        </p:nvSpPr>
        <p:spPr>
          <a:xfrm>
            <a:off x="502920" y="612648"/>
            <a:ext cx="8138160" cy="384048"/>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File 4.06.04 -- Daily Life: Bell, Field, Friary, and Everything In Between</a:t>
            </a:r>
            <a:endParaRPr lang="en-US" sz="1500" dirty="0"/>
          </a:p>
        </p:txBody>
      </p:sp>
      <p:sp>
        <p:nvSpPr>
          <p:cNvPr id="6" name="Shape 4"/>
          <p:cNvSpPr/>
          <p:nvPr/>
        </p:nvSpPr>
        <p:spPr>
          <a:xfrm>
            <a:off x="320040" y="1325880"/>
            <a:ext cx="8503920" cy="2377440"/>
          </a:xfrm>
          <a:prstGeom prst="roundRect">
            <a:avLst>
              <a:gd name="adj" fmla="val 5769"/>
            </a:avLst>
          </a:prstGeom>
          <a:solidFill>
            <a:srgbClr val="FFFFFF"/>
          </a:solidFill>
          <a:ln w="25400">
            <a:solidFill>
              <a:srgbClr val="D4943A"/>
            </a:solidFill>
            <a:prstDash val="solid"/>
          </a:ln>
        </p:spPr>
      </p:sp>
      <p:sp>
        <p:nvSpPr>
          <p:cNvPr id="7" name="Text 5"/>
          <p:cNvSpPr/>
          <p:nvPr/>
        </p:nvSpPr>
        <p:spPr>
          <a:xfrm>
            <a:off x="502920" y="1417320"/>
            <a:ext cx="3657600" cy="256032"/>
          </a:xfrm>
          <a:prstGeom prst="rect">
            <a:avLst/>
          </a:prstGeom>
          <a:noFill/>
          <a:ln/>
        </p:spPr>
        <p:txBody>
          <a:bodyPr wrap="square" rtlCol="0" anchor="ctr"/>
          <a:lstStyle/>
          <a:p>
            <a:pPr indent="0" marL="0">
              <a:buNone/>
            </a:pPr>
            <a:r>
              <a:rPr lang="en-US" sz="1000" b="1" spc="120" kern="0" dirty="0">
                <a:solidFill>
                  <a:srgbClr val="D4943A"/>
                </a:solidFill>
                <a:latin typeface="Calibri" pitchFamily="34" charset="0"/>
                <a:ea typeface="Calibri" pitchFamily="34" charset="-122"/>
                <a:cs typeface="Calibri" pitchFamily="34" charset="-120"/>
              </a:rPr>
              <a:t>Message from Ms. Rivera</a:t>
            </a:r>
            <a:endParaRPr lang="en-US" sz="1000" dirty="0"/>
          </a:p>
        </p:txBody>
      </p:sp>
      <p:sp>
        <p:nvSpPr>
          <p:cNvPr id="8" name="Text 6"/>
          <p:cNvSpPr/>
          <p:nvPr/>
        </p:nvSpPr>
        <p:spPr>
          <a:xfrm>
            <a:off x="502920" y="1691640"/>
            <a:ext cx="8138160" cy="1783080"/>
          </a:xfrm>
          <a:prstGeom prst="rect">
            <a:avLst/>
          </a:prstGeom>
          <a:noFill/>
          <a:ln/>
        </p:spPr>
        <p:txBody>
          <a:bodyPr wrap="square"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"Same room, a wall of unlabeled scenes -- daily life on the missions. Canvas pulled the captions off. The exit has got to be near the end of this wing, and we are deep in it now. Help me put the daily-life pieces back so the next door will load."</a:t>
            </a:r>
            <a:endParaRPr lang="en-US" sz="1400" dirty="0"/>
          </a:p>
          <a:p>
            <a:pPr indent="0" marL="0">
              <a:buNone/>
            </a:pPr>
            <a:r>
              <a:rPr lang="en-US" sz="1400" i="1" dirty="0">
                <a:solidFill>
                  <a:srgbClr val="0E1C42"/>
                </a:solidFill>
                <a:latin typeface="Cambria" pitchFamily="34" charset="0"/>
                <a:ea typeface="Cambria" pitchFamily="34" charset="-122"/>
                <a:cs typeface="Cambria" pitchFamily="34" charset="-120"/>
              </a:rPr>
              <a:t>-- Ms. Rivera, deep in the mission wing</a:t>
            </a:r>
            <a:endParaRPr lang="en-US" sz="1400" dirty="0"/>
          </a:p>
        </p:txBody>
      </p:sp>
      <p:sp>
        <p:nvSpPr>
          <p:cNvPr id="9" name="Shape 7"/>
          <p:cNvSpPr/>
          <p:nvPr/>
        </p:nvSpPr>
        <p:spPr>
          <a:xfrm>
            <a:off x="320040" y="3822192"/>
            <a:ext cx="8503920" cy="1005840"/>
          </a:xfrm>
          <a:prstGeom prst="roundRect">
            <a:avLst>
              <a:gd name="adj" fmla="val 10909"/>
            </a:avLst>
          </a:prstGeom>
          <a:solidFill>
            <a:srgbClr val="1A2D5A"/>
          </a:solidFill>
          <a:ln/>
        </p:spPr>
      </p:sp>
      <p:sp>
        <p:nvSpPr>
          <p:cNvPr id="10" name="Text 8"/>
          <p:cNvSpPr/>
          <p:nvPr/>
        </p:nvSpPr>
        <p:spPr>
          <a:xfrm>
            <a:off x="502920" y="3877056"/>
            <a:ext cx="2743200" cy="256032"/>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YOUR MISSION TODAY</a:t>
            </a:r>
            <a:endParaRPr lang="en-US" sz="900" dirty="0"/>
          </a:p>
        </p:txBody>
      </p:sp>
      <p:sp>
        <p:nvSpPr>
          <p:cNvPr id="11" name="Text 9"/>
          <p:cNvSpPr/>
          <p:nvPr/>
        </p:nvSpPr>
        <p:spPr>
          <a:xfrm>
            <a:off x="502920" y="4133088"/>
            <a:ext cx="8138160" cy="566928"/>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Trace the rhythm of one mission workday. Name what the Spanish introduced. Find a cause-effect pair. Apply the Virtue Lens on perseverance.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37160"/>
            <a:ext cx="6400800" cy="27432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CLUE BOX -- THE BELL BEFORE SUNRISE</a:t>
            </a:r>
            <a:endParaRPr lang="en-US" sz="900" dirty="0"/>
          </a:p>
        </p:txBody>
      </p:sp>
      <p:sp>
        <p:nvSpPr>
          <p:cNvPr id="4" name="Text 2"/>
          <p:cNvSpPr/>
          <p:nvPr/>
        </p:nvSpPr>
        <p:spPr>
          <a:xfrm>
            <a:off x="320040" y="438912"/>
            <a:ext cx="713232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does this scene tell you about who was in charge of the day?</a:t>
            </a:r>
            <a:endParaRPr lang="en-US" sz="2000" dirty="0"/>
          </a:p>
        </p:txBody>
      </p:sp>
      <p:sp>
        <p:nvSpPr>
          <p:cNvPr id="5" name="Shape 3"/>
          <p:cNvSpPr/>
          <p:nvPr/>
        </p:nvSpPr>
        <p:spPr>
          <a:xfrm>
            <a:off x="320040" y="932688"/>
            <a:ext cx="5029200" cy="3154680"/>
          </a:xfrm>
          <a:prstGeom prst="roundRect">
            <a:avLst>
              <a:gd name="adj" fmla="val 3478"/>
            </a:avLst>
          </a:prstGeom>
          <a:solidFill>
            <a:srgbClr val="E2E8F4"/>
          </a:solidFill>
          <a:ln w="19050">
            <a:solidFill>
              <a:srgbClr val="B0B8CC"/>
            </a:solidFill>
            <a:prstDash val="dash"/>
          </a:ln>
        </p:spPr>
      </p:sp>
      <p:sp>
        <p:nvSpPr>
          <p:cNvPr id="6" name="Text 4"/>
          <p:cNvSpPr/>
          <p:nvPr/>
        </p:nvSpPr>
        <p:spPr>
          <a:xfrm>
            <a:off x="320040" y="932688"/>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207008"/>
            <a:ext cx="4754880" cy="2788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reconstruction painting or photograph of daily life at a Spanish-Apalachee mission -- Apalachee farmers in cornfield, a friar near a chapel door, thatched homes, small bell tower. Source: Mission San Luis Living History Museum digital gallery (missionsanluis.org) or Florida Memory search 'Mission San Luis' or 'Apalachee mission.'</a:t>
            </a:r>
            <a:endParaRPr lang="en-US" sz="1100" dirty="0"/>
          </a:p>
        </p:txBody>
      </p:sp>
      <p:sp>
        <p:nvSpPr>
          <p:cNvPr id="8" name="Shape 6"/>
          <p:cNvSpPr/>
          <p:nvPr/>
        </p:nvSpPr>
        <p:spPr>
          <a:xfrm>
            <a:off x="5532120" y="932688"/>
            <a:ext cx="3291840" cy="1920240"/>
          </a:xfrm>
          <a:prstGeom prst="roundRect">
            <a:avLst>
              <a:gd name="adj" fmla="val 5714"/>
            </a:avLst>
          </a:prstGeom>
          <a:solidFill>
            <a:srgbClr val="1A2D5A"/>
          </a:solidFill>
          <a:ln/>
        </p:spPr>
      </p:sp>
      <p:sp>
        <p:nvSpPr>
          <p:cNvPr id="9" name="Text 7"/>
          <p:cNvSpPr/>
          <p:nvPr/>
        </p:nvSpPr>
        <p:spPr>
          <a:xfrm>
            <a:off x="5623560" y="987552"/>
            <a:ext cx="3108960" cy="438912"/>
          </a:xfrm>
          <a:prstGeom prst="rect">
            <a:avLst/>
          </a:prstGeom>
          <a:noFill/>
          <a:ln/>
        </p:spPr>
        <p:txBody>
          <a:bodyPr wrap="square"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The Bell</a:t>
            </a:r>
            <a:endParaRPr lang="en-US" sz="2400" dirty="0"/>
          </a:p>
        </p:txBody>
      </p:sp>
      <p:sp>
        <p:nvSpPr>
          <p:cNvPr id="10" name="Text 8"/>
          <p:cNvSpPr/>
          <p:nvPr/>
        </p:nvSpPr>
        <p:spPr>
          <a:xfrm>
            <a:off x="5623560" y="1444752"/>
            <a:ext cx="3108960" cy="1298448"/>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Rang BEFORE SUNRISE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for morning prayer</a:t>
            </a:r>
            <a:endParaRPr lang="en-US" sz="1100" dirty="0"/>
          </a:p>
          <a:p>
            <a:pPr algn="ctr" indent="0" marL="0">
              <a:buNone/>
            </a:pP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Rang at MIDDAY</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for the midday meal</a:t>
            </a:r>
            <a:endParaRPr lang="en-US" sz="1100" dirty="0"/>
          </a:p>
          <a:p>
            <a:pPr algn="ctr" indent="0" marL="0">
              <a:buNone/>
            </a:pP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Rang at SUNSET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for evening prayer</a:t>
            </a:r>
            <a:endParaRPr lang="en-US" sz="1100" dirty="0"/>
          </a:p>
        </p:txBody>
      </p:sp>
      <p:sp>
        <p:nvSpPr>
          <p:cNvPr id="11" name="Shape 9"/>
          <p:cNvSpPr/>
          <p:nvPr/>
        </p:nvSpPr>
        <p:spPr>
          <a:xfrm>
            <a:off x="5532120" y="2944368"/>
            <a:ext cx="3291840" cy="1572768"/>
          </a:xfrm>
          <a:prstGeom prst="roundRect">
            <a:avLst>
              <a:gd name="adj" fmla="val 6977"/>
            </a:avLst>
          </a:prstGeom>
          <a:solidFill>
            <a:srgbClr val="FFF3DC"/>
          </a:solidFill>
          <a:ln w="19050">
            <a:solidFill>
              <a:srgbClr val="F5E6C8"/>
            </a:solidFill>
            <a:prstDash val="solid"/>
          </a:ln>
        </p:spPr>
      </p:sp>
      <p:sp>
        <p:nvSpPr>
          <p:cNvPr id="12" name="Text 10"/>
          <p:cNvSpPr/>
          <p:nvPr/>
        </p:nvSpPr>
        <p:spPr>
          <a:xfrm>
            <a:off x="5669280" y="2999232"/>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669280" y="3200400"/>
            <a:ext cx="3017520" cy="12527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which makes me wonder who decided..."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bell controlled the day because..."</a:t>
            </a:r>
            <a:endParaRPr lang="en-US" sz="1200" dirty="0"/>
          </a:p>
        </p:txBody>
      </p:sp>
      <p:sp>
        <p:nvSpPr>
          <p:cNvPr id="14" name="Text 12"/>
          <p:cNvSpPr/>
          <p:nvPr/>
        </p:nvSpPr>
        <p:spPr>
          <a:xfrm>
            <a:off x="320040" y="4187952"/>
            <a:ext cx="5029200" cy="274320"/>
          </a:xfrm>
          <a:prstGeom prst="rect">
            <a:avLst/>
          </a:prstGeom>
          <a:noFill/>
          <a:ln/>
        </p:spPr>
        <p:txBody>
          <a:bodyPr wrap="square"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OBSERVE 30 SECONDS -- then type in chat.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64592"/>
            <a:ext cx="8503920" cy="475488"/>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Who got to decide how the day happened?</a:t>
            </a:r>
            <a:endParaRPr lang="en-US" sz="2400" dirty="0"/>
          </a:p>
        </p:txBody>
      </p:sp>
      <p:sp>
        <p:nvSpPr>
          <p:cNvPr id="4" name="Shape 2"/>
          <p:cNvSpPr/>
          <p:nvPr/>
        </p:nvSpPr>
        <p:spPr>
          <a:xfrm>
            <a:off x="320040" y="749808"/>
            <a:ext cx="5303520" cy="2633472"/>
          </a:xfrm>
          <a:prstGeom prst="roundRect">
            <a:avLst>
              <a:gd name="adj" fmla="val 5208"/>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02920" y="841248"/>
            <a:ext cx="4937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502920" y="1097280"/>
            <a:ext cx="4937760" cy="219456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mission bell rang before sunrise every day. Who decided when it rang -- and who had to obey? Why does that matter for understanding power at the mission?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Apalachee farmers had been growing corn, beans, and squash for hundreds of years before the Spanish arrived. Why do you think the Spanish added new crops? What does that change for the Apalachee?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voice is missing from Spanish written records about mission life? Where would a historian look to hear the Apalachee side of this daily routine?</a:t>
            </a:r>
            <a:endParaRPr lang="en-US" sz="1100" dirty="0"/>
          </a:p>
        </p:txBody>
      </p:sp>
      <p:sp>
        <p:nvSpPr>
          <p:cNvPr id="7" name="Shape 5"/>
          <p:cNvSpPr/>
          <p:nvPr/>
        </p:nvSpPr>
        <p:spPr>
          <a:xfrm>
            <a:off x="5760720" y="749808"/>
            <a:ext cx="3063240" cy="1828800"/>
          </a:xfrm>
          <a:prstGeom prst="roundRect">
            <a:avLst>
              <a:gd name="adj" fmla="val 6000"/>
            </a:avLst>
          </a:prstGeom>
          <a:solidFill>
            <a:srgbClr val="FFF3DC"/>
          </a:solidFill>
          <a:ln w="19050">
            <a:solidFill>
              <a:srgbClr val="F5E6C8"/>
            </a:solidFill>
            <a:prstDash val="solid"/>
          </a:ln>
        </p:spPr>
      </p:sp>
      <p:sp>
        <p:nvSpPr>
          <p:cNvPr id="8" name="Text 6"/>
          <p:cNvSpPr/>
          <p:nvPr/>
        </p:nvSpPr>
        <p:spPr>
          <a:xfrm>
            <a:off x="5897880" y="804672"/>
            <a:ext cx="2788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897880" y="1005840"/>
            <a:ext cx="278892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bell controlled the day because... and that tells us..."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voice missing from Spanish records is... I would look for evidence in..."</a:t>
            </a:r>
            <a:endParaRPr lang="en-US" sz="1200" dirty="0"/>
          </a:p>
        </p:txBody>
      </p:sp>
      <p:sp>
        <p:nvSpPr>
          <p:cNvPr id="10" name="Shape 8"/>
          <p:cNvSpPr/>
          <p:nvPr/>
        </p:nvSpPr>
        <p:spPr>
          <a:xfrm>
            <a:off x="320040" y="3493008"/>
            <a:ext cx="8503920" cy="1353312"/>
          </a:xfrm>
          <a:prstGeom prst="roundRect">
            <a:avLst>
              <a:gd name="adj" fmla="val 8108"/>
            </a:avLst>
          </a:prstGeom>
          <a:solidFill>
            <a:srgbClr val="FFFFFF"/>
          </a:solidFill>
          <a:ln w="12700">
            <a:solidFill>
              <a:srgbClr val="B0B8CC"/>
            </a:solidFill>
            <a:prstDash val="solid"/>
          </a:ln>
        </p:spPr>
      </p:sp>
      <p:sp>
        <p:nvSpPr>
          <p:cNvPr id="11" name="Text 9"/>
          <p:cNvSpPr/>
          <p:nvPr/>
        </p:nvSpPr>
        <p:spPr>
          <a:xfrm>
            <a:off x="502920" y="3566160"/>
            <a:ext cx="1828800" cy="228600"/>
          </a:xfrm>
          <a:prstGeom prst="rect">
            <a:avLst/>
          </a:prstGeom>
          <a:noFill/>
          <a:ln/>
        </p:spPr>
        <p:txBody>
          <a:bodyPr wrap="square"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TEACHER MOVE</a:t>
            </a:r>
            <a:endParaRPr lang="en-US" sz="900" dirty="0"/>
          </a:p>
        </p:txBody>
      </p:sp>
      <p:sp>
        <p:nvSpPr>
          <p:cNvPr id="12" name="Text 10"/>
          <p:cNvSpPr/>
          <p:nvPr/>
        </p:nvSpPr>
        <p:spPr>
          <a:xfrm>
            <a:off x="502920" y="3794760"/>
            <a:ext cx="7955280" cy="932688"/>
          </a:xfrm>
          <a:prstGeom prst="rect">
            <a:avLst/>
          </a:prstGeom>
          <a:noFill/>
          <a:ln/>
        </p:spPr>
        <p:txBody>
          <a:bodyPr wrap="square"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After Q2, push: 'Does adding crops mean replacing the old ones -- or adding to them? What is the difference, and why does it matter?' Don't introduce the repartimiento until the reveal slide.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37160"/>
            <a:ext cx="8503920" cy="27432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SOURCE STUDY -- Mission Workday Evidence</a:t>
            </a:r>
            <a:endParaRPr lang="en-US" sz="900" dirty="0"/>
          </a:p>
        </p:txBody>
      </p:sp>
      <p:sp>
        <p:nvSpPr>
          <p:cNvPr id="4" name="Text 2"/>
          <p:cNvSpPr/>
          <p:nvPr/>
        </p:nvSpPr>
        <p:spPr>
          <a:xfrm>
            <a:off x="320040" y="457200"/>
            <a:ext cx="850392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A Reconstruction Scene of Mission Daily Life</a:t>
            </a:r>
            <a:endParaRPr lang="en-US" sz="2000" dirty="0"/>
          </a:p>
        </p:txBody>
      </p:sp>
      <p:sp>
        <p:nvSpPr>
          <p:cNvPr id="5" name="Shape 3"/>
          <p:cNvSpPr/>
          <p:nvPr/>
        </p:nvSpPr>
        <p:spPr>
          <a:xfrm>
            <a:off x="320040" y="932688"/>
            <a:ext cx="4663440" cy="329184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320040" y="932688"/>
            <a:ext cx="46634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207008"/>
            <a:ext cx="438912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the modern Mission San Luis reconstruction site showing the plaza, fields, and reconstructed homes. OR a reconstruction painting showing Apalachee daily life -- farmers in field, women cooking, children, friars. Source: missionsanluis.org or Florida Memory search 'Mission San Luis' or 'Apalachee daily life.'</a:t>
            </a:r>
            <a:endParaRPr lang="en-US" sz="1100" dirty="0"/>
          </a:p>
        </p:txBody>
      </p:sp>
      <p:sp>
        <p:nvSpPr>
          <p:cNvPr id="8" name="Shape 6"/>
          <p:cNvSpPr/>
          <p:nvPr/>
        </p:nvSpPr>
        <p:spPr>
          <a:xfrm>
            <a:off x="5120640" y="932688"/>
            <a:ext cx="370332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303520" y="1024128"/>
            <a:ext cx="33375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0" name="Text 8"/>
          <p:cNvSpPr/>
          <p:nvPr/>
        </p:nvSpPr>
        <p:spPr>
          <a:xfrm>
            <a:off x="5303520" y="1280160"/>
            <a:ext cx="333756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is a modern RECONSTRUCTION of what the mission looked like. Who built it and decided what to include? Whose perspective guided the design?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parts of Apalachee daily life would be HARDEST to reconstruct from physical remains alone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repartimiento (labor draft) left few written Apalachee records. Why is oral tradition from Apalachee descendants an important source for this history?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92608"/>
            <a:ext cx="8229600" cy="27432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YOU DISCOVERED IT:</a:t>
            </a:r>
            <a:endParaRPr lang="en-US" sz="1000" dirty="0"/>
          </a:p>
        </p:txBody>
      </p:sp>
      <p:sp>
        <p:nvSpPr>
          <p:cNvPr id="6" name="Text 3"/>
          <p:cNvSpPr/>
          <p:nvPr/>
        </p:nvSpPr>
        <p:spPr>
          <a:xfrm>
            <a:off x="457200" y="594360"/>
            <a:ext cx="8229600" cy="5486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Bell to Bell -- The Whole Day</a:t>
            </a:r>
            <a:endParaRPr lang="en-US" sz="3400" dirty="0"/>
          </a:p>
        </p:txBody>
      </p:sp>
      <p:sp>
        <p:nvSpPr>
          <p:cNvPr id="7" name="Shape 4"/>
          <p:cNvSpPr/>
          <p:nvPr/>
        </p:nvSpPr>
        <p:spPr>
          <a:xfrm>
            <a:off x="457200" y="1261872"/>
            <a:ext cx="8229600" cy="530352"/>
          </a:xfrm>
          <a:prstGeom prst="roundRect">
            <a:avLst>
              <a:gd name="adj" fmla="val 13793"/>
            </a:avLst>
          </a:prstGeom>
          <a:solidFill>
            <a:srgbClr val="1A2D5A">
              <a:alpha val="80000"/>
            </a:srgbClr>
          </a:solidFill>
          <a:ln/>
        </p:spPr>
      </p:sp>
      <p:sp>
        <p:nvSpPr>
          <p:cNvPr id="8" name="Text 5"/>
          <p:cNvSpPr/>
          <p:nvPr/>
        </p:nvSpPr>
        <p:spPr>
          <a:xfrm>
            <a:off x="594360" y="1344168"/>
            <a:ext cx="19659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Before sunrise</a:t>
            </a:r>
            <a:endParaRPr lang="en-US" sz="1000" dirty="0"/>
          </a:p>
        </p:txBody>
      </p:sp>
      <p:sp>
        <p:nvSpPr>
          <p:cNvPr id="9" name="Text 6"/>
          <p:cNvSpPr/>
          <p:nvPr/>
        </p:nvSpPr>
        <p:spPr>
          <a:xfrm>
            <a:off x="2651760" y="1344168"/>
            <a:ext cx="58978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Bell rings. Morning prayer. Everyone in the mission moves at once.</a:t>
            </a:r>
            <a:endParaRPr lang="en-US" sz="1200" dirty="0"/>
          </a:p>
        </p:txBody>
      </p:sp>
      <p:sp>
        <p:nvSpPr>
          <p:cNvPr id="10" name="Shape 7"/>
          <p:cNvSpPr/>
          <p:nvPr/>
        </p:nvSpPr>
        <p:spPr>
          <a:xfrm>
            <a:off x="457200" y="1883664"/>
            <a:ext cx="8229600" cy="530352"/>
          </a:xfrm>
          <a:prstGeom prst="roundRect">
            <a:avLst>
              <a:gd name="adj" fmla="val 13793"/>
            </a:avLst>
          </a:prstGeom>
          <a:solidFill>
            <a:srgbClr val="1A2D5A">
              <a:alpha val="80000"/>
            </a:srgbClr>
          </a:solidFill>
          <a:ln/>
        </p:spPr>
      </p:sp>
      <p:sp>
        <p:nvSpPr>
          <p:cNvPr id="11" name="Text 8"/>
          <p:cNvSpPr/>
          <p:nvPr/>
        </p:nvSpPr>
        <p:spPr>
          <a:xfrm>
            <a:off x="594360" y="1965960"/>
            <a:ext cx="19659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Morning</a:t>
            </a:r>
            <a:endParaRPr lang="en-US" sz="1000" dirty="0"/>
          </a:p>
        </p:txBody>
      </p:sp>
      <p:sp>
        <p:nvSpPr>
          <p:cNvPr id="12" name="Text 9"/>
          <p:cNvSpPr/>
          <p:nvPr/>
        </p:nvSpPr>
        <p:spPr>
          <a:xfrm>
            <a:off x="2651760" y="1965960"/>
            <a:ext cx="58978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Apalachee men: corn, beans, squash (Three Sisters) + Spanish cattle, wheat, peaches.</a:t>
            </a:r>
            <a:endParaRPr lang="en-US" sz="1200" dirty="0"/>
          </a:p>
        </p:txBody>
      </p:sp>
      <p:sp>
        <p:nvSpPr>
          <p:cNvPr id="13" name="Shape 10"/>
          <p:cNvSpPr/>
          <p:nvPr/>
        </p:nvSpPr>
        <p:spPr>
          <a:xfrm>
            <a:off x="457200" y="2505456"/>
            <a:ext cx="8229600" cy="530352"/>
          </a:xfrm>
          <a:prstGeom prst="roundRect">
            <a:avLst>
              <a:gd name="adj" fmla="val 13793"/>
            </a:avLst>
          </a:prstGeom>
          <a:solidFill>
            <a:srgbClr val="1A2D5A">
              <a:alpha val="80000"/>
            </a:srgbClr>
          </a:solidFill>
          <a:ln/>
        </p:spPr>
      </p:sp>
      <p:sp>
        <p:nvSpPr>
          <p:cNvPr id="14" name="Text 11"/>
          <p:cNvSpPr/>
          <p:nvPr/>
        </p:nvSpPr>
        <p:spPr>
          <a:xfrm>
            <a:off x="594360" y="2587752"/>
            <a:ext cx="19659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Women &amp; elders</a:t>
            </a:r>
            <a:endParaRPr lang="en-US" sz="1000" dirty="0"/>
          </a:p>
        </p:txBody>
      </p:sp>
      <p:sp>
        <p:nvSpPr>
          <p:cNvPr id="15" name="Text 12"/>
          <p:cNvSpPr/>
          <p:nvPr/>
        </p:nvSpPr>
        <p:spPr>
          <a:xfrm>
            <a:off x="2651760" y="2587752"/>
            <a:ext cx="58978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Apalachee women cooked, wove, raised children. Elders kept clan traditions and old language.</a:t>
            </a:r>
            <a:endParaRPr lang="en-US" sz="1200" dirty="0"/>
          </a:p>
        </p:txBody>
      </p:sp>
      <p:sp>
        <p:nvSpPr>
          <p:cNvPr id="16" name="Shape 13"/>
          <p:cNvSpPr/>
          <p:nvPr/>
        </p:nvSpPr>
        <p:spPr>
          <a:xfrm>
            <a:off x="457200" y="3127248"/>
            <a:ext cx="8229600" cy="530352"/>
          </a:xfrm>
          <a:prstGeom prst="roundRect">
            <a:avLst>
              <a:gd name="adj" fmla="val 13793"/>
            </a:avLst>
          </a:prstGeom>
          <a:solidFill>
            <a:srgbClr val="1A2D5A">
              <a:alpha val="80000"/>
            </a:srgbClr>
          </a:solidFill>
          <a:ln/>
        </p:spPr>
      </p:sp>
      <p:sp>
        <p:nvSpPr>
          <p:cNvPr id="17" name="Text 14"/>
          <p:cNvSpPr/>
          <p:nvPr/>
        </p:nvSpPr>
        <p:spPr>
          <a:xfrm>
            <a:off x="594360" y="3209544"/>
            <a:ext cx="19659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Repartimiento</a:t>
            </a:r>
            <a:endParaRPr lang="en-US" sz="1000" dirty="0"/>
          </a:p>
        </p:txBody>
      </p:sp>
      <p:sp>
        <p:nvSpPr>
          <p:cNvPr id="18" name="Text 15"/>
          <p:cNvSpPr/>
          <p:nvPr/>
        </p:nvSpPr>
        <p:spPr>
          <a:xfrm>
            <a:off x="2651760" y="3209544"/>
            <a:ext cx="58978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Apalachee men sometimes drafted to carry loads on foot to St. Augustine -- 200 miles, often barefoot.</a:t>
            </a:r>
            <a:endParaRPr lang="en-US" sz="1200" dirty="0"/>
          </a:p>
        </p:txBody>
      </p:sp>
      <p:sp>
        <p:nvSpPr>
          <p:cNvPr id="19" name="Shape 16"/>
          <p:cNvSpPr/>
          <p:nvPr/>
        </p:nvSpPr>
        <p:spPr>
          <a:xfrm>
            <a:off x="457200" y="3749040"/>
            <a:ext cx="8229600" cy="530352"/>
          </a:xfrm>
          <a:prstGeom prst="roundRect">
            <a:avLst>
              <a:gd name="adj" fmla="val 13793"/>
            </a:avLst>
          </a:prstGeom>
          <a:solidFill>
            <a:srgbClr val="1A2D5A">
              <a:alpha val="80000"/>
            </a:srgbClr>
          </a:solidFill>
          <a:ln/>
        </p:spPr>
      </p:sp>
      <p:sp>
        <p:nvSpPr>
          <p:cNvPr id="20" name="Text 17"/>
          <p:cNvSpPr/>
          <p:nvPr/>
        </p:nvSpPr>
        <p:spPr>
          <a:xfrm>
            <a:off x="594360" y="3831336"/>
            <a:ext cx="1965960" cy="34747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Sunset</a:t>
            </a:r>
            <a:endParaRPr lang="en-US" sz="1000" dirty="0"/>
          </a:p>
        </p:txBody>
      </p:sp>
      <p:sp>
        <p:nvSpPr>
          <p:cNvPr id="21" name="Text 18"/>
          <p:cNvSpPr/>
          <p:nvPr/>
        </p:nvSpPr>
        <p:spPr>
          <a:xfrm>
            <a:off x="2651760" y="3831336"/>
            <a:ext cx="5897880" cy="34747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Bell rings. Evening prayer. Day ends. Cycle repeats.</a:t>
            </a:r>
            <a:endParaRPr lang="en-US" sz="1200" dirty="0"/>
          </a:p>
        </p:txBody>
      </p:sp>
      <p:sp>
        <p:nvSpPr>
          <p:cNvPr id="22" name="Shape 19"/>
          <p:cNvSpPr/>
          <p:nvPr/>
        </p:nvSpPr>
        <p:spPr>
          <a:xfrm>
            <a:off x="457200" y="4572000"/>
            <a:ext cx="8229600" cy="347472"/>
          </a:xfrm>
          <a:prstGeom prst="roundRect">
            <a:avLst>
              <a:gd name="adj" fmla="val 21053"/>
            </a:avLst>
          </a:prstGeom>
          <a:solidFill>
            <a:srgbClr val="D4943A">
              <a:alpha val="90000"/>
            </a:srgbClr>
          </a:solidFill>
          <a:ln/>
        </p:spPr>
      </p:sp>
      <p:sp>
        <p:nvSpPr>
          <p:cNvPr id="23" name="Text 20"/>
          <p:cNvSpPr/>
          <p:nvPr/>
        </p:nvSpPr>
        <p:spPr>
          <a:xfrm>
            <a:off x="640080" y="4617720"/>
            <a:ext cx="7863840" cy="237744"/>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RETRIEVAL: Cover your screen. Name three Spanish-introduced foods AND explain the repartimiento in one sentence.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20040" y="109728"/>
            <a:ext cx="8503920" cy="256032"/>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MULTI-SOURCE COMPARE</a:t>
            </a:r>
            <a:endParaRPr lang="en-US" sz="900" dirty="0"/>
          </a:p>
        </p:txBody>
      </p:sp>
      <p:sp>
        <p:nvSpPr>
          <p:cNvPr id="4" name="Text 2"/>
          <p:cNvSpPr/>
          <p:nvPr/>
        </p:nvSpPr>
        <p:spPr>
          <a:xfrm>
            <a:off x="320040" y="384048"/>
            <a:ext cx="8503920" cy="384048"/>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the Spanish Wrote vs. What Archaeology Shows</a:t>
            </a:r>
            <a:endParaRPr lang="en-US" sz="2000" dirty="0"/>
          </a:p>
        </p:txBody>
      </p:sp>
      <p:sp>
        <p:nvSpPr>
          <p:cNvPr id="5" name="Shape 3"/>
          <p:cNvSpPr/>
          <p:nvPr/>
        </p:nvSpPr>
        <p:spPr>
          <a:xfrm>
            <a:off x="320040" y="868680"/>
            <a:ext cx="3886200" cy="2670048"/>
          </a:xfrm>
          <a:prstGeom prst="roundRect">
            <a:avLst>
              <a:gd name="adj" fmla="val 4110"/>
            </a:avLst>
          </a:prstGeom>
          <a:solidFill>
            <a:srgbClr val="E2E8F4"/>
          </a:solidFill>
          <a:ln w="19050">
            <a:solidFill>
              <a:srgbClr val="B0B8CC"/>
            </a:solidFill>
            <a:prstDash val="dash"/>
          </a:ln>
        </p:spPr>
      </p:sp>
      <p:sp>
        <p:nvSpPr>
          <p:cNvPr id="6" name="Text 4"/>
          <p:cNvSpPr/>
          <p:nvPr/>
        </p:nvSpPr>
        <p:spPr>
          <a:xfrm>
            <a:off x="320040" y="868680"/>
            <a:ext cx="3886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57200" y="1143000"/>
            <a:ext cx="3611880" cy="230428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A: Spanish friar's written description of daily life at the mission -- describing the bell schedule, Apalachee attendance at Mass, crops grown, and the mission's orderly rhythm. A written excerpt or its illustration. Source: LOC Spanish colonial mission records or Florida Memory.</a:t>
            </a:r>
            <a:endParaRPr lang="en-US" sz="1100" dirty="0"/>
          </a:p>
        </p:txBody>
      </p:sp>
      <p:sp>
        <p:nvSpPr>
          <p:cNvPr id="8" name="Text 6"/>
          <p:cNvSpPr/>
          <p:nvPr/>
        </p:nvSpPr>
        <p:spPr>
          <a:xfrm>
            <a:off x="320040" y="3611880"/>
            <a:ext cx="388620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A: Spanish Friar's Written Record</a:t>
            </a:r>
            <a:endParaRPr lang="en-US" sz="1000" dirty="0"/>
          </a:p>
        </p:txBody>
      </p:sp>
      <p:sp>
        <p:nvSpPr>
          <p:cNvPr id="9" name="Shape 7"/>
          <p:cNvSpPr/>
          <p:nvPr/>
        </p:nvSpPr>
        <p:spPr>
          <a:xfrm>
            <a:off x="4937760" y="868680"/>
            <a:ext cx="3886200" cy="2670048"/>
          </a:xfrm>
          <a:prstGeom prst="roundRect">
            <a:avLst>
              <a:gd name="adj" fmla="val 4110"/>
            </a:avLst>
          </a:prstGeom>
          <a:solidFill>
            <a:srgbClr val="E2E8F4"/>
          </a:solidFill>
          <a:ln w="19050">
            <a:solidFill>
              <a:srgbClr val="B0B8CC"/>
            </a:solidFill>
            <a:prstDash val="dash"/>
          </a:ln>
        </p:spPr>
      </p:sp>
      <p:sp>
        <p:nvSpPr>
          <p:cNvPr id="10" name="Text 8"/>
          <p:cNvSpPr/>
          <p:nvPr/>
        </p:nvSpPr>
        <p:spPr>
          <a:xfrm>
            <a:off x="4937760" y="868680"/>
            <a:ext cx="3886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5074920" y="1143000"/>
            <a:ext cx="3611880" cy="230428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B: Archaeological evidence of daily life at Mission San Luis -- pottery fragments showing traditional Apalachee cooking styles, storage jars, food remains (corn cobs, animal bones), evidence of the repartimiento burden. Source: missionsanluis.org excavation gallery or Florida Division of Historical Resources.</a:t>
            </a:r>
            <a:endParaRPr lang="en-US" sz="1100" dirty="0"/>
          </a:p>
        </p:txBody>
      </p:sp>
      <p:sp>
        <p:nvSpPr>
          <p:cNvPr id="12" name="Text 10"/>
          <p:cNvSpPr/>
          <p:nvPr/>
        </p:nvSpPr>
        <p:spPr>
          <a:xfrm>
            <a:off x="4937760" y="3611880"/>
            <a:ext cx="388620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B: Archaeological Evidence of Apalachee Daily Life</a:t>
            </a:r>
            <a:endParaRPr lang="en-US" sz="1000" dirty="0"/>
          </a:p>
        </p:txBody>
      </p:sp>
      <p:sp>
        <p:nvSpPr>
          <p:cNvPr id="13" name="Shape 11"/>
          <p:cNvSpPr/>
          <p:nvPr/>
        </p:nvSpPr>
        <p:spPr>
          <a:xfrm>
            <a:off x="320040" y="3913632"/>
            <a:ext cx="8503920" cy="960120"/>
          </a:xfrm>
          <a:prstGeom prst="roundRect">
            <a:avLst>
              <a:gd name="adj" fmla="val 11429"/>
            </a:avLst>
          </a:prstGeom>
          <a:solidFill>
            <a:srgbClr val="FFF3DC"/>
          </a:solidFill>
          <a:ln w="19050">
            <a:solidFill>
              <a:srgbClr val="F5E6C8"/>
            </a:solidFill>
            <a:prstDash val="solid"/>
          </a:ln>
        </p:spPr>
      </p:sp>
      <p:sp>
        <p:nvSpPr>
          <p:cNvPr id="14" name="Text 12"/>
          <p:cNvSpPr/>
          <p:nvPr/>
        </p:nvSpPr>
        <p:spPr>
          <a:xfrm>
            <a:off x="457200" y="3968496"/>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57200" y="4169664"/>
            <a:ext cx="822960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about... but disagree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source that tells me more about the Apalachee perspective is...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526280"/>
          </a:xfrm>
          <a:prstGeom prst="roundRect">
            <a:avLst>
              <a:gd name="adj" fmla="val 3636"/>
            </a:avLst>
          </a:prstGeom>
          <a:solidFill>
            <a:srgbClr val="0E1C42">
              <a:alpha val="75000"/>
            </a:srgbClr>
          </a:solidFill>
          <a:ln/>
        </p:spPr>
      </p:sp>
      <p:sp>
        <p:nvSpPr>
          <p:cNvPr id="6" name="Text 3"/>
          <p:cNvSpPr/>
          <p:nvPr/>
        </p:nvSpPr>
        <p:spPr>
          <a:xfrm>
            <a:off x="640080" y="411480"/>
            <a:ext cx="7863840" cy="27432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7" name="Text 4"/>
          <p:cNvSpPr/>
          <p:nvPr/>
        </p:nvSpPr>
        <p:spPr>
          <a:xfrm>
            <a:off x="640080" y="713232"/>
            <a:ext cx="7863840" cy="64008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Perseverance</a:t>
            </a:r>
            <a:endParaRPr lang="en-US" sz="4200" dirty="0"/>
          </a:p>
        </p:txBody>
      </p:sp>
      <p:sp>
        <p:nvSpPr>
          <p:cNvPr id="8" name="Shape 5"/>
          <p:cNvSpPr/>
          <p:nvPr/>
        </p:nvSpPr>
        <p:spPr>
          <a:xfrm>
            <a:off x="640080" y="1389888"/>
            <a:ext cx="3200400" cy="0"/>
          </a:xfrm>
          <a:prstGeom prst="line">
            <a:avLst/>
          </a:prstGeom>
          <a:noFill/>
          <a:ln w="25400">
            <a:solidFill>
              <a:srgbClr val="D4943A"/>
            </a:solidFill>
            <a:prstDash val="solid"/>
          </a:ln>
        </p:spPr>
      </p:sp>
      <p:sp>
        <p:nvSpPr>
          <p:cNvPr id="9" name="Text 6"/>
          <p:cNvSpPr/>
          <p:nvPr/>
        </p:nvSpPr>
        <p:spPr>
          <a:xfrm>
            <a:off x="640080" y="1527048"/>
            <a:ext cx="7863840" cy="2057400"/>
          </a:xfrm>
          <a:prstGeom prst="rect">
            <a:avLst/>
          </a:prstGeom>
          <a:noFill/>
          <a:ln/>
        </p:spPr>
        <p:txBody>
          <a:bodyPr wrap="square" rtlCol="0" anchor="t"/>
          <a:lstStyle/>
          <a:p>
            <a:pPr indent="0" marL="0">
              <a:buNone/>
            </a:pPr>
            <a:r>
              <a:rPr lang="en-US" sz="1300" dirty="0">
                <a:solidFill>
                  <a:srgbClr val="E8EEF8"/>
                </a:solidFill>
                <a:latin typeface="Calibri" pitchFamily="34" charset="0"/>
                <a:ea typeface="Calibri" pitchFamily="34" charset="-122"/>
                <a:cs typeface="Calibri" pitchFamily="34" charset="-120"/>
              </a:rPr>
              <a:t>Daily life at a Florida mission was demanding. The bell rang before dawn. Fields stretched for acres. Friars worked through long days teaching and learning Apalachee words. Apalachee families farmed, hunted, raised children, attended Mass, kept old traditions when they could, and -- for the men -- were sometimes drafted to carry heavy loads of corn on foot all the way to St. Augustine.</a:t>
            </a:r>
            <a:endParaRPr lang="en-US" sz="1300" dirty="0"/>
          </a:p>
          <a:p>
            <a:pPr indent="0" marL="0">
              <a:buNone/>
            </a:pPr>
            <a:endParaRPr lang="en-US" sz="1300" dirty="0"/>
          </a:p>
          <a:p>
            <a:pPr indent="0" marL="0">
              <a:buNone/>
            </a:pPr>
            <a:r>
              <a:rPr lang="en-US" sz="1300" dirty="0">
                <a:solidFill>
                  <a:srgbClr val="E8EEF8"/>
                </a:solidFill>
                <a:latin typeface="Calibri" pitchFamily="34" charset="0"/>
                <a:ea typeface="Calibri" pitchFamily="34" charset="-122"/>
                <a:cs typeface="Calibri" pitchFamily="34" charset="-120"/>
              </a:rPr>
              <a:t>The Virtue Lens today is perseverance: the quiet, daily kind that keeps a community going through long, hard, repeating work.</a:t>
            </a:r>
            <a:endParaRPr lang="en-US" sz="1300" dirty="0"/>
          </a:p>
          <a:p>
            <a:pPr indent="0" marL="0">
              <a:buNone/>
            </a:pPr>
            <a:endParaRPr lang="en-US" sz="1300" dirty="0"/>
          </a:p>
          <a:p>
            <a:pPr indent="0" marL="0">
              <a:buNone/>
            </a:pPr>
            <a:r>
              <a:rPr lang="en-US" sz="1300" dirty="0">
                <a:solidFill>
                  <a:srgbClr val="E8EEF8"/>
                </a:solidFill>
                <a:latin typeface="Calibri" pitchFamily="34" charset="0"/>
                <a:ea typeface="Calibri" pitchFamily="34" charset="-122"/>
                <a:cs typeface="Calibri" pitchFamily="34" charset="-120"/>
              </a:rPr>
              <a:t>Today's question is not who was right or wrong. It is: who showed perseverance, and what did it cost them?</a:t>
            </a:r>
            <a:endParaRPr lang="en-US" sz="1300" dirty="0"/>
          </a:p>
        </p:txBody>
      </p:sp>
      <p:sp>
        <p:nvSpPr>
          <p:cNvPr id="10" name="Shape 7"/>
          <p:cNvSpPr/>
          <p:nvPr/>
        </p:nvSpPr>
        <p:spPr>
          <a:xfrm>
            <a:off x="640080" y="3657600"/>
            <a:ext cx="7863840" cy="1005840"/>
          </a:xfrm>
          <a:prstGeom prst="roundRect">
            <a:avLst>
              <a:gd name="adj" fmla="val 10909"/>
            </a:avLst>
          </a:prstGeom>
          <a:solidFill>
            <a:srgbClr val="FFF3DC"/>
          </a:solidFill>
          <a:ln w="19050">
            <a:solidFill>
              <a:srgbClr val="F5E6C8"/>
            </a:solidFill>
            <a:prstDash val="solid"/>
          </a:ln>
        </p:spPr>
      </p:sp>
      <p:sp>
        <p:nvSpPr>
          <p:cNvPr id="11" name="Text 8"/>
          <p:cNvSpPr/>
          <p:nvPr/>
        </p:nvSpPr>
        <p:spPr>
          <a:xfrm>
            <a:off x="777240" y="3712464"/>
            <a:ext cx="7589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9"/>
          <p:cNvSpPr/>
          <p:nvPr/>
        </p:nvSpPr>
        <p:spPr>
          <a:xfrm>
            <a:off x="777240" y="3913632"/>
            <a:ext cx="758952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person who showed the hardest perseverance at the mission was...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"Perseverance cost the Apalachee... because the evidence shows..."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GUIDED PRACTICE -- TEACHER MODELS</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Spanish-Introduced Foods: Assignment Question 1</a:t>
            </a:r>
            <a:endParaRPr lang="en-US" sz="2200" dirty="0"/>
          </a:p>
        </p:txBody>
      </p:sp>
      <p:sp>
        <p:nvSpPr>
          <p:cNvPr id="6" name="Shape 4"/>
          <p:cNvSpPr/>
          <p:nvPr/>
        </p:nvSpPr>
        <p:spPr>
          <a:xfrm>
            <a:off x="320040" y="1097280"/>
            <a:ext cx="8503920" cy="960120"/>
          </a:xfrm>
          <a:prstGeom prst="roundRect">
            <a:avLst>
              <a:gd name="adj" fmla="val 11429"/>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1 (exact wording)</a:t>
            </a:r>
            <a:endParaRPr lang="en-US" sz="900" dirty="0"/>
          </a:p>
        </p:txBody>
      </p:sp>
      <p:sp>
        <p:nvSpPr>
          <p:cNvPr id="8" name="Text 6"/>
          <p:cNvSpPr/>
          <p:nvPr/>
        </p:nvSpPr>
        <p:spPr>
          <a:xfrm>
            <a:off x="502920" y="1389888"/>
            <a:ext cx="8229600" cy="566928"/>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Name three foods or animals that the Spanish INTRODUCED to Florida missions (not Apalachee crops). Use details from the lesson.</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List at least three -- corn and squash do NOT count (those were already Apalachee crops).</a:t>
            </a:r>
            <a:endParaRPr lang="en-US" sz="1300" dirty="0"/>
          </a:p>
        </p:txBody>
      </p:sp>
      <p:sp>
        <p:nvSpPr>
          <p:cNvPr id="9" name="Shape 7"/>
          <p:cNvSpPr/>
          <p:nvPr/>
        </p:nvSpPr>
        <p:spPr>
          <a:xfrm>
            <a:off x="320040" y="2148840"/>
            <a:ext cx="8503920" cy="2670048"/>
          </a:xfrm>
          <a:prstGeom prst="roundRect">
            <a:avLst>
              <a:gd name="adj" fmla="val 4110"/>
            </a:avLst>
          </a:prstGeom>
          <a:solidFill>
            <a:srgbClr val="FFFFFF"/>
          </a:solidFill>
          <a:ln w="19050">
            <a:solidFill>
              <a:srgbClr val="D4943A"/>
            </a:solidFill>
            <a:prstDash val="solid"/>
          </a:ln>
        </p:spPr>
      </p:sp>
      <p:sp>
        <p:nvSpPr>
          <p:cNvPr id="10" name="Text 8"/>
          <p:cNvSpPr/>
          <p:nvPr/>
        </p:nvSpPr>
        <p:spPr>
          <a:xfrm>
            <a:off x="502920" y="2221992"/>
            <a:ext cx="2743200" cy="228600"/>
          </a:xfrm>
          <a:prstGeom prst="rect">
            <a:avLst/>
          </a:prstGeom>
          <a:noFill/>
          <a:ln/>
        </p:spPr>
        <p:txBody>
          <a:bodyPr wrap="square"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TEACHER THINK-ALOUD</a:t>
            </a:r>
            <a:endParaRPr lang="en-US" sz="900" dirty="0"/>
          </a:p>
        </p:txBody>
      </p:sp>
      <p:sp>
        <p:nvSpPr>
          <p:cNvPr id="11" name="Text 9"/>
          <p:cNvSpPr/>
          <p:nvPr/>
        </p:nvSpPr>
        <p:spPr>
          <a:xfrm>
            <a:off x="502920" y="2450592"/>
            <a:ext cx="8229600" cy="221284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question says NOT corn and squash -- because those were already Apalachee crops. So I need to think: what did the SPANISH bring? From the lesson: wheat (the Spanish introduced European grains), watermelon (brought from Spain), peaches (still grow wild near Tallahassee today!), cattle, pigs, and chickens.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My three: wheat, cattle, and peaches. Those three are all Spanish introductions -- not Apalachee crops."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1A8A7D"/>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GUIDED PRACTICE -- DEFEND IT</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Question 2 -- Cause and Effect</a:t>
            </a:r>
            <a:endParaRPr lang="en-US" sz="2200" dirty="0"/>
          </a:p>
        </p:txBody>
      </p:sp>
      <p:sp>
        <p:nvSpPr>
          <p:cNvPr id="6" name="Shape 4"/>
          <p:cNvSpPr/>
          <p:nvPr/>
        </p:nvSpPr>
        <p:spPr>
          <a:xfrm>
            <a:off x="320040" y="1097280"/>
            <a:ext cx="8503920" cy="932688"/>
          </a:xfrm>
          <a:prstGeom prst="roundRect">
            <a:avLst>
              <a:gd name="adj" fmla="val 11765"/>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2 (exact wording)</a:t>
            </a:r>
            <a:endParaRPr lang="en-US" sz="900" dirty="0"/>
          </a:p>
        </p:txBody>
      </p:sp>
      <p:sp>
        <p:nvSpPr>
          <p:cNvPr id="8" name="Text 6"/>
          <p:cNvSpPr/>
          <p:nvPr/>
        </p:nvSpPr>
        <p:spPr>
          <a:xfrm>
            <a:off x="502920" y="1389888"/>
            <a:ext cx="8229600" cy="5486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Explain one cause-and-effect link from the timeline. Use the frame: "____ happened because ____."</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Name what the bell signaled at different times of day.</a:t>
            </a:r>
            <a:endParaRPr lang="en-US" sz="1300" dirty="0"/>
          </a:p>
        </p:txBody>
      </p:sp>
      <p:sp>
        <p:nvSpPr>
          <p:cNvPr id="9" name="Shape 7"/>
          <p:cNvSpPr/>
          <p:nvPr/>
        </p:nvSpPr>
        <p:spPr>
          <a:xfrm>
            <a:off x="320040" y="2121408"/>
            <a:ext cx="5212080" cy="2212848"/>
          </a:xfrm>
          <a:prstGeom prst="roundRect">
            <a:avLst>
              <a:gd name="adj" fmla="val 6198"/>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02920" y="2212848"/>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02920" y="2468880"/>
            <a:ext cx="4846320" cy="177393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bell rang at sunrise, midday, and sunset. Which bell ring had the MOST significant effect on Apalachee daily life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argue the bell was more helpful than harmful? What evidence would they use? How would you respond?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 cause-effect relationship between the bell and daily movement strong enough that it would have happened WITHOUT the mission system? Explain.</a:t>
            </a:r>
            <a:endParaRPr lang="en-US" sz="1100" dirty="0"/>
          </a:p>
        </p:txBody>
      </p:sp>
      <p:sp>
        <p:nvSpPr>
          <p:cNvPr id="12" name="Shape 10"/>
          <p:cNvSpPr/>
          <p:nvPr/>
        </p:nvSpPr>
        <p:spPr>
          <a:xfrm>
            <a:off x="5669280" y="2121408"/>
            <a:ext cx="3154680" cy="2212848"/>
          </a:xfrm>
          <a:prstGeom prst="roundRect">
            <a:avLst>
              <a:gd name="adj" fmla="val 4959"/>
            </a:avLst>
          </a:prstGeom>
          <a:solidFill>
            <a:srgbClr val="FFF3DC"/>
          </a:solidFill>
          <a:ln w="19050">
            <a:solidFill>
              <a:srgbClr val="F5E6C8"/>
            </a:solidFill>
            <a:prstDash val="solid"/>
          </a:ln>
        </p:spPr>
      </p:sp>
      <p:sp>
        <p:nvSpPr>
          <p:cNvPr id="13" name="Text 11"/>
          <p:cNvSpPr/>
          <p:nvPr/>
        </p:nvSpPr>
        <p:spPr>
          <a:xfrm>
            <a:off x="5806440" y="2176272"/>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377440"/>
            <a:ext cx="2880360" cy="18928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"____ happened because 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bell had the biggest effect on daily life because... The evidence 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8B6FC0"/>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GUIDED PRACTICE -- CRITIQUE THE RESPONSE</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Does this answer earn full credit? Find the weakness.</a:t>
            </a:r>
            <a:endParaRPr lang="en-US" sz="2200" dirty="0"/>
          </a:p>
        </p:txBody>
      </p:sp>
      <p:sp>
        <p:nvSpPr>
          <p:cNvPr id="6" name="Shape 4"/>
          <p:cNvSpPr/>
          <p:nvPr/>
        </p:nvSpPr>
        <p:spPr>
          <a:xfrm>
            <a:off x="320040" y="1097280"/>
            <a:ext cx="8503920" cy="1371600"/>
          </a:xfrm>
          <a:prstGeom prst="roundRect">
            <a:avLst>
              <a:gd name="adj" fmla="val 8000"/>
            </a:avLst>
          </a:prstGeom>
          <a:solidFill>
            <a:srgbClr val="E2E8F4"/>
          </a:solidFill>
          <a:ln w="19050">
            <a:solidFill>
              <a:srgbClr val="B0B8CC"/>
            </a:solidFill>
            <a:prstDash val="solid"/>
          </a:ln>
        </p:spPr>
      </p:sp>
      <p:sp>
        <p:nvSpPr>
          <p:cNvPr id="7" name="Text 5"/>
          <p:cNvSpPr/>
          <p:nvPr/>
        </p:nvSpPr>
        <p:spPr>
          <a:xfrm>
            <a:off x="502920" y="1170432"/>
            <a:ext cx="3657600" cy="228600"/>
          </a:xfrm>
          <a:prstGeom prst="rect">
            <a:avLst/>
          </a:prstGeom>
          <a:noFill/>
          <a:ln/>
        </p:spPr>
        <p:txBody>
          <a:bodyPr wrap="square" rtlCol="0" anchor="ctr"/>
          <a:lstStyle/>
          <a:p>
            <a:pPr indent="0" marL="0">
              <a:buNone/>
            </a:pPr>
            <a:r>
              <a:rPr lang="en-US" sz="900" b="1" spc="120" kern="0" dirty="0">
                <a:solidFill>
                  <a:srgbClr val="8B6FC0"/>
                </a:solidFill>
                <a:latin typeface="Calibri" pitchFamily="34" charset="0"/>
                <a:ea typeface="Calibri" pitchFamily="34" charset="-122"/>
                <a:cs typeface="Calibri" pitchFamily="34" charset="-120"/>
              </a:rPr>
              <a:t>SAMPLE STUDENT RESPONSE</a:t>
            </a:r>
            <a:endParaRPr lang="en-US" sz="900" dirty="0"/>
          </a:p>
        </p:txBody>
      </p:sp>
      <p:sp>
        <p:nvSpPr>
          <p:cNvPr id="8" name="Text 6"/>
          <p:cNvSpPr/>
          <p:nvPr/>
        </p:nvSpPr>
        <p:spPr>
          <a:xfrm>
            <a:off x="502920" y="1389888"/>
            <a:ext cx="8229600" cy="932688"/>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"The Spanish introduced new foods to Florida missions. They grew things like corn and beans, and they also had cattle. The Apalachee worked in the fields every day because the bell rang."</a:t>
            </a:r>
            <a:endParaRPr lang="en-US" sz="1300" dirty="0"/>
          </a:p>
        </p:txBody>
      </p:sp>
      <p:sp>
        <p:nvSpPr>
          <p:cNvPr id="9" name="Shape 7"/>
          <p:cNvSpPr/>
          <p:nvPr/>
        </p:nvSpPr>
        <p:spPr>
          <a:xfrm>
            <a:off x="320040" y="2578608"/>
            <a:ext cx="5212080" cy="2084832"/>
          </a:xfrm>
          <a:prstGeom prst="roundRect">
            <a:avLst>
              <a:gd name="adj" fmla="val 6579"/>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02920" y="2670048"/>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02920" y="2926080"/>
            <a:ext cx="4846320" cy="1645920"/>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student lists corn and beans as Spanish introductions. Is that correct? What specific error did they make?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cause-effect sentence is weak: 'worked because the bell rang.' What is wrong with the explanation? What is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rewrite this response to earn full credit? What three changes would you make?</a:t>
            </a:r>
            <a:endParaRPr lang="en-US" sz="1100" dirty="0"/>
          </a:p>
        </p:txBody>
      </p:sp>
      <p:sp>
        <p:nvSpPr>
          <p:cNvPr id="12" name="Shape 10"/>
          <p:cNvSpPr/>
          <p:nvPr/>
        </p:nvSpPr>
        <p:spPr>
          <a:xfrm>
            <a:off x="5669280" y="2578608"/>
            <a:ext cx="3154680" cy="2084832"/>
          </a:xfrm>
          <a:prstGeom prst="roundRect">
            <a:avLst>
              <a:gd name="adj" fmla="val 5263"/>
            </a:avLst>
          </a:prstGeom>
          <a:solidFill>
            <a:srgbClr val="FFF3DC"/>
          </a:solidFill>
          <a:ln w="19050">
            <a:solidFill>
              <a:srgbClr val="F5E6C8"/>
            </a:solidFill>
            <a:prstDash val="solid"/>
          </a:ln>
        </p:spPr>
      </p:sp>
      <p:sp>
        <p:nvSpPr>
          <p:cNvPr id="13" name="Text 11"/>
          <p:cNvSpPr/>
          <p:nvPr/>
        </p:nvSpPr>
        <p:spPr>
          <a:xfrm>
            <a:off x="5806440" y="2633472"/>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06440" y="2834640"/>
            <a:ext cx="2880360" cy="176479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makes the mistake of... because corn and beans were actually..."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answer would correct this by..."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E8636B"/>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THE TRICKY ONE -- TRANSFERABLE PATTERN</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Q3 -- The Virtue Lens: Perseverance</a:t>
            </a:r>
            <a:endParaRPr lang="en-US" sz="2200" dirty="0"/>
          </a:p>
        </p:txBody>
      </p:sp>
      <p:sp>
        <p:nvSpPr>
          <p:cNvPr id="6" name="Shape 4"/>
          <p:cNvSpPr/>
          <p:nvPr/>
        </p:nvSpPr>
        <p:spPr>
          <a:xfrm>
            <a:off x="320040" y="1097280"/>
            <a:ext cx="8503920" cy="1024128"/>
          </a:xfrm>
          <a:prstGeom prst="roundRect">
            <a:avLst>
              <a:gd name="adj" fmla="val 10714"/>
            </a:avLst>
          </a:prstGeom>
          <a:solidFill>
            <a:srgbClr val="1A2D5A"/>
          </a:solidFill>
          <a:ln/>
        </p:spPr>
      </p:sp>
      <p:sp>
        <p:nvSpPr>
          <p:cNvPr id="7" name="Text 5"/>
          <p:cNvSpPr/>
          <p:nvPr/>
        </p:nvSpPr>
        <p:spPr>
          <a:xfrm>
            <a:off x="502920" y="1170432"/>
            <a:ext cx="4572000" cy="228600"/>
          </a:xfrm>
          <a:prstGeom prst="rect">
            <a:avLst/>
          </a:prstGeom>
          <a:noFill/>
          <a:ln/>
        </p:spPr>
        <p:txBody>
          <a:bodyPr wrap="square"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ASSIGNMENT QUESTION 3 (exact wording)</a:t>
            </a:r>
            <a:endParaRPr lang="en-US" sz="900" dirty="0"/>
          </a:p>
        </p:txBody>
      </p:sp>
      <p:sp>
        <p:nvSpPr>
          <p:cNvPr id="8" name="Text 6"/>
          <p:cNvSpPr/>
          <p:nvPr/>
        </p:nvSpPr>
        <p:spPr>
          <a:xfrm>
            <a:off x="502920" y="1389888"/>
            <a:ext cx="8229600" cy="64008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the Virtue Lens -- perseverance. Pick ONE person at the mission (Apalachee farmer, friar, Apalachee mother, Apalachee man on the repartimiento walk). What did perseverance look like for that person? What did it cost them?</a:t>
            </a:r>
            <a:endParaRPr lang="en-US" sz="1300" dirty="0"/>
          </a:p>
        </p:txBody>
      </p:sp>
      <p:sp>
        <p:nvSpPr>
          <p:cNvPr id="9" name="Shape 7"/>
          <p:cNvSpPr/>
          <p:nvPr/>
        </p:nvSpPr>
        <p:spPr>
          <a:xfrm>
            <a:off x="320040" y="2212848"/>
            <a:ext cx="8503920" cy="868680"/>
          </a:xfrm>
          <a:prstGeom prst="roundRect">
            <a:avLst>
              <a:gd name="adj" fmla="val 12632"/>
            </a:avLst>
          </a:prstGeom>
          <a:solidFill>
            <a:srgbClr val="FFFFFF"/>
          </a:solidFill>
          <a:ln w="25400">
            <a:solidFill>
              <a:srgbClr val="E8636B"/>
            </a:solidFill>
            <a:prstDash val="solid"/>
          </a:ln>
        </p:spPr>
      </p:sp>
      <p:sp>
        <p:nvSpPr>
          <p:cNvPr id="10" name="Text 8"/>
          <p:cNvSpPr/>
          <p:nvPr/>
        </p:nvSpPr>
        <p:spPr>
          <a:xfrm>
            <a:off x="502920" y="2286000"/>
            <a:ext cx="8229600" cy="731520"/>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PATTERN: Perseverance under pressure is different from perseverance by choice. When a system requires people to keep going -- through labor, loss of language, loss of land -- perseverance is not just a virtue. It is also a survival strategy. This pattern applies throughout history wherever one group has power over another's daily life.</a:t>
            </a:r>
            <a:endParaRPr lang="en-US" sz="1300" dirty="0"/>
          </a:p>
        </p:txBody>
      </p:sp>
      <p:sp>
        <p:nvSpPr>
          <p:cNvPr id="11" name="Shape 9"/>
          <p:cNvSpPr/>
          <p:nvPr/>
        </p:nvSpPr>
        <p:spPr>
          <a:xfrm>
            <a:off x="320040" y="3172968"/>
            <a:ext cx="5212080" cy="1783080"/>
          </a:xfrm>
          <a:prstGeom prst="roundRect">
            <a:avLst>
              <a:gd name="adj" fmla="val 7692"/>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02920" y="3264408"/>
            <a:ext cx="48463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02920" y="3520440"/>
            <a:ext cx="4846320" cy="13441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perseverance ALWAYS a virtue -- or does it matter why someone had to persevere? Can you give an example from this lesson?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Apalachee people today maintain their community and language. How does knowing that change how you think about the repartimiento and the mission system?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Reasonable people can disagree: was the mission system's daily structure 'organized' or 'controlling'? Use evidence from both the Spanish and Apalachee perspectives.</a:t>
            </a:r>
            <a:endParaRPr lang="en-US" sz="1100" dirty="0"/>
          </a:p>
        </p:txBody>
      </p:sp>
      <p:sp>
        <p:nvSpPr>
          <p:cNvPr id="14" name="Shape 12"/>
          <p:cNvSpPr/>
          <p:nvPr/>
        </p:nvSpPr>
        <p:spPr>
          <a:xfrm>
            <a:off x="5669280" y="3172968"/>
            <a:ext cx="3154680" cy="1783080"/>
          </a:xfrm>
          <a:prstGeom prst="roundRect">
            <a:avLst>
              <a:gd name="adj" fmla="val 6154"/>
            </a:avLst>
          </a:prstGeom>
          <a:solidFill>
            <a:srgbClr val="FFF3DC"/>
          </a:solidFill>
          <a:ln w="19050">
            <a:solidFill>
              <a:srgbClr val="F5E6C8"/>
            </a:solidFill>
            <a:prstDash val="solid"/>
          </a:ln>
        </p:spPr>
      </p:sp>
      <p:sp>
        <p:nvSpPr>
          <p:cNvPr id="15" name="Text 13"/>
          <p:cNvSpPr/>
          <p:nvPr/>
        </p:nvSpPr>
        <p:spPr>
          <a:xfrm>
            <a:off x="5806440" y="3227832"/>
            <a:ext cx="2880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06440" y="3429000"/>
            <a:ext cx="2880360" cy="14630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"Perseverance for the Apalachee man on the repartimiento walk meant... and it cost..."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"Reasonable people could describe the mission day as 'organized' or 'controlling' because..."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320040" y="109728"/>
            <a:ext cx="8503920" cy="292608"/>
          </a:xfrm>
          <a:prstGeom prst="rect">
            <a:avLst/>
          </a:prstGeom>
          <a:noFill/>
          <a:ln/>
        </p:spPr>
        <p:txBody>
          <a:bodyPr wrap="square"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ASSIGNMENT PREVIEW -- YOUR TURN</a:t>
            </a:r>
            <a:endParaRPr lang="en-US" sz="1100" dirty="0"/>
          </a:p>
        </p:txBody>
      </p:sp>
      <p:sp>
        <p:nvSpPr>
          <p:cNvPr id="5" name="Text 3"/>
          <p:cNvSpPr/>
          <p:nvPr/>
        </p:nvSpPr>
        <p:spPr>
          <a:xfrm>
            <a:off x="320040" y="594360"/>
            <a:ext cx="850392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Sequence the Mission Day and Explain One Cause and Effect</a:t>
            </a:r>
            <a:endParaRPr lang="en-US" sz="2200" dirty="0"/>
          </a:p>
        </p:txBody>
      </p:sp>
      <p:sp>
        <p:nvSpPr>
          <p:cNvPr id="6" name="Shape 4"/>
          <p:cNvSpPr/>
          <p:nvPr/>
        </p:nvSpPr>
        <p:spPr>
          <a:xfrm>
            <a:off x="320040" y="1097280"/>
            <a:ext cx="8503920" cy="914400"/>
          </a:xfrm>
          <a:prstGeom prst="roundRect">
            <a:avLst>
              <a:gd name="adj" fmla="val 10000"/>
            </a:avLst>
          </a:prstGeom>
          <a:solidFill>
            <a:srgbClr val="FFFFFF"/>
          </a:solidFill>
          <a:ln w="19050">
            <a:solidFill>
              <a:srgbClr val="D4943A"/>
            </a:solidFill>
            <a:prstDash val="solid"/>
          </a:ln>
        </p:spPr>
      </p:sp>
      <p:sp>
        <p:nvSpPr>
          <p:cNvPr id="7" name="Text 5"/>
          <p:cNvSpPr/>
          <p:nvPr/>
        </p:nvSpPr>
        <p:spPr>
          <a:xfrm>
            <a:off x="457200" y="1170432"/>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Q1</a:t>
            </a:r>
            <a:endParaRPr lang="en-US" sz="1400" dirty="0"/>
          </a:p>
        </p:txBody>
      </p:sp>
      <p:sp>
        <p:nvSpPr>
          <p:cNvPr id="8" name="Text 6"/>
          <p:cNvSpPr/>
          <p:nvPr/>
        </p:nvSpPr>
        <p:spPr>
          <a:xfrm>
            <a:off x="1005840" y="1170432"/>
            <a:ext cx="7680960" cy="768096"/>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Name three foods or animals that the Spanish INTRODUCED to Florida missions (not Apalachee crops). Use details from the lesson.</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List at least three -- corn and squash do NOT count (those were already Apalachee crops).</a:t>
            </a:r>
            <a:endParaRPr lang="en-US" sz="1100" dirty="0"/>
          </a:p>
        </p:txBody>
      </p:sp>
      <p:sp>
        <p:nvSpPr>
          <p:cNvPr id="9" name="Shape 7"/>
          <p:cNvSpPr/>
          <p:nvPr/>
        </p:nvSpPr>
        <p:spPr>
          <a:xfrm>
            <a:off x="320040" y="2103120"/>
            <a:ext cx="8503920" cy="914400"/>
          </a:xfrm>
          <a:prstGeom prst="roundRect">
            <a:avLst>
              <a:gd name="adj" fmla="val 10000"/>
            </a:avLst>
          </a:prstGeom>
          <a:solidFill>
            <a:srgbClr val="FFFFFF"/>
          </a:solidFill>
          <a:ln w="19050">
            <a:solidFill>
              <a:srgbClr val="D4943A"/>
            </a:solidFill>
            <a:prstDash val="solid"/>
          </a:ln>
        </p:spPr>
      </p:sp>
      <p:sp>
        <p:nvSpPr>
          <p:cNvPr id="10" name="Text 8"/>
          <p:cNvSpPr/>
          <p:nvPr/>
        </p:nvSpPr>
        <p:spPr>
          <a:xfrm>
            <a:off x="457200" y="2176272"/>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Q2</a:t>
            </a:r>
            <a:endParaRPr lang="en-US" sz="1400" dirty="0"/>
          </a:p>
        </p:txBody>
      </p:sp>
      <p:sp>
        <p:nvSpPr>
          <p:cNvPr id="11" name="Text 9"/>
          <p:cNvSpPr/>
          <p:nvPr/>
        </p:nvSpPr>
        <p:spPr>
          <a:xfrm>
            <a:off x="1005840" y="2176272"/>
            <a:ext cx="7680960" cy="768096"/>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Explain one cause-and-effect link from the timeline. Use the frame: "____ happened because ____." Name what the bell signaled at different times of day.</a:t>
            </a:r>
            <a:endParaRPr lang="en-US" sz="1100" dirty="0"/>
          </a:p>
        </p:txBody>
      </p:sp>
      <p:sp>
        <p:nvSpPr>
          <p:cNvPr id="12" name="Shape 10"/>
          <p:cNvSpPr/>
          <p:nvPr/>
        </p:nvSpPr>
        <p:spPr>
          <a:xfrm>
            <a:off x="320040" y="3108960"/>
            <a:ext cx="8503920" cy="914400"/>
          </a:xfrm>
          <a:prstGeom prst="roundRect">
            <a:avLst>
              <a:gd name="adj" fmla="val 10000"/>
            </a:avLst>
          </a:prstGeom>
          <a:solidFill>
            <a:srgbClr val="FFFFFF"/>
          </a:solidFill>
          <a:ln w="19050">
            <a:solidFill>
              <a:srgbClr val="D4943A"/>
            </a:solidFill>
            <a:prstDash val="solid"/>
          </a:ln>
        </p:spPr>
      </p:sp>
      <p:sp>
        <p:nvSpPr>
          <p:cNvPr id="13" name="Text 11"/>
          <p:cNvSpPr/>
          <p:nvPr/>
        </p:nvSpPr>
        <p:spPr>
          <a:xfrm>
            <a:off x="457200" y="3182112"/>
            <a:ext cx="457200" cy="347472"/>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Q3</a:t>
            </a:r>
            <a:endParaRPr lang="en-US" sz="1400" dirty="0"/>
          </a:p>
        </p:txBody>
      </p:sp>
      <p:sp>
        <p:nvSpPr>
          <p:cNvPr id="14" name="Text 12"/>
          <p:cNvSpPr/>
          <p:nvPr/>
        </p:nvSpPr>
        <p:spPr>
          <a:xfrm>
            <a:off x="1005840" y="3182112"/>
            <a:ext cx="7680960" cy="768096"/>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Use the Virtue Lens -- perseverance. Pick ONE person (Apalachee farmer, friar, Apalachee mother, Apalachee man on the repartimiento walk). What did perseverance look like for that person? What did it cost them?</a:t>
            </a:r>
            <a:endParaRPr lang="en-US" sz="1100" dirty="0"/>
          </a:p>
        </p:txBody>
      </p:sp>
      <p:sp>
        <p:nvSpPr>
          <p:cNvPr id="15" name="Shape 13"/>
          <p:cNvSpPr/>
          <p:nvPr/>
        </p:nvSpPr>
        <p:spPr>
          <a:xfrm>
            <a:off x="320040" y="4133088"/>
            <a:ext cx="8503920" cy="749808"/>
          </a:xfrm>
          <a:prstGeom prst="roundRect">
            <a:avLst>
              <a:gd name="adj" fmla="val 12195"/>
            </a:avLst>
          </a:prstGeom>
          <a:solidFill>
            <a:srgbClr val="1A2D5A"/>
          </a:solidFill>
          <a:ln/>
        </p:spPr>
      </p:sp>
      <p:sp>
        <p:nvSpPr>
          <p:cNvPr id="16" name="Text 14"/>
          <p:cNvSpPr/>
          <p:nvPr/>
        </p:nvSpPr>
        <p:spPr>
          <a:xfrm>
            <a:off x="502920" y="4197096"/>
            <a:ext cx="8229600" cy="5943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TIMELINE THREAD: 3-5 sentences -- workday events in order AND one cause-effect pair. Use sequence words (first, then, after that) AND cause-effect frames (because, led to, as a result). Include at least one specific name or group.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47472"/>
            <a:ext cx="8229600" cy="4370832"/>
          </a:xfrm>
          <a:prstGeom prst="roundRect">
            <a:avLst>
              <a:gd name="adj" fmla="val 3766"/>
            </a:avLst>
          </a:prstGeom>
          <a:solidFill>
            <a:srgbClr val="0E1C42">
              <a:alpha val="72000"/>
            </a:srgbClr>
          </a:solidFill>
          <a:ln/>
        </p:spPr>
      </p:sp>
      <p:sp>
        <p:nvSpPr>
          <p:cNvPr id="6" name="Text 3"/>
          <p:cNvSpPr/>
          <p:nvPr/>
        </p:nvSpPr>
        <p:spPr>
          <a:xfrm>
            <a:off x="640080" y="502920"/>
            <a:ext cx="7863840" cy="347472"/>
          </a:xfrm>
          <a:prstGeom prst="rect">
            <a:avLst/>
          </a:prstGeom>
          <a:noFill/>
          <a:ln/>
        </p:spPr>
        <p:txBody>
          <a:bodyPr wrap="square" rtlCol="0" anchor="ctr"/>
          <a:lstStyle/>
          <a:p>
            <a:pPr algn="ctr" indent="0" marL="0">
              <a:buNone/>
            </a:pPr>
            <a:r>
              <a:rPr lang="en-US" sz="1200" b="1" spc="250" kern="0" dirty="0">
                <a:solidFill>
                  <a:srgbClr val="D4943A"/>
                </a:solidFill>
                <a:latin typeface="Calibri" pitchFamily="34" charset="0"/>
                <a:ea typeface="Calibri" pitchFamily="34" charset="-122"/>
                <a:cs typeface="Calibri" pitchFamily="34" charset="-120"/>
              </a:rPr>
              <a:t>FILE SAVED</a:t>
            </a:r>
            <a:endParaRPr lang="en-US" sz="1200" dirty="0"/>
          </a:p>
        </p:txBody>
      </p:sp>
      <p:sp>
        <p:nvSpPr>
          <p:cNvPr id="7" name="Text 4"/>
          <p:cNvSpPr/>
          <p:nvPr/>
        </p:nvSpPr>
        <p:spPr>
          <a:xfrm>
            <a:off x="640080" y="868680"/>
            <a:ext cx="7863840" cy="59436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Mission Daily Life: Locked In</a:t>
            </a:r>
            <a:endParaRPr lang="en-US" sz="3400" dirty="0"/>
          </a:p>
        </p:txBody>
      </p:sp>
      <p:sp>
        <p:nvSpPr>
          <p:cNvPr id="8" name="Shape 5"/>
          <p:cNvSpPr/>
          <p:nvPr/>
        </p:nvSpPr>
        <p:spPr>
          <a:xfrm>
            <a:off x="2286000" y="1508760"/>
            <a:ext cx="4572000" cy="0"/>
          </a:xfrm>
          <a:prstGeom prst="line">
            <a:avLst/>
          </a:prstGeom>
          <a:noFill/>
          <a:ln w="25400">
            <a:solidFill>
              <a:srgbClr val="D4943A"/>
            </a:solidFill>
            <a:prstDash val="solid"/>
          </a:ln>
        </p:spPr>
      </p:sp>
      <p:sp>
        <p:nvSpPr>
          <p:cNvPr id="9" name="Text 6"/>
          <p:cNvSpPr/>
          <p:nvPr/>
        </p:nvSpPr>
        <p:spPr>
          <a:xfrm>
            <a:off x="640080" y="1645920"/>
            <a:ext cx="7863840" cy="1207008"/>
          </a:xfrm>
          <a:prstGeom prst="rect">
            <a:avLst/>
          </a:prstGeom>
          <a:noFill/>
          <a:ln/>
        </p:spPr>
        <p:txBody>
          <a:bodyPr wrap="square" rtlCol="0" anchor="t"/>
          <a:lstStyle/>
          <a:p>
            <a:pPr algn="ctr" indent="0" marL="0">
              <a:buNone/>
            </a:pPr>
            <a:r>
              <a:rPr lang="en-US" sz="1400" i="1" dirty="0">
                <a:solidFill>
                  <a:srgbClr val="E8EEF8"/>
                </a:solidFill>
                <a:latin typeface="Cambria" pitchFamily="34" charset="0"/>
                <a:ea typeface="Cambria" pitchFamily="34" charset="-122"/>
                <a:cs typeface="Cambria" pitchFamily="34" charset="-120"/>
              </a:rPr>
              <a:t>"Done -- mission daily life is back together: work, worship, contact, cooperation, and pressure, all of it. Most of this old hallway is lit now. Two more files in this wing and I think we reach the next door. Almost there." -- Ms. Rivera</a:t>
            </a:r>
            <a:endParaRPr lang="en-US" sz="1400" dirty="0"/>
          </a:p>
        </p:txBody>
      </p:sp>
      <p:sp>
        <p:nvSpPr>
          <p:cNvPr id="10" name="Shape 7"/>
          <p:cNvSpPr/>
          <p:nvPr/>
        </p:nvSpPr>
        <p:spPr>
          <a:xfrm>
            <a:off x="1371600" y="3035808"/>
            <a:ext cx="6400800" cy="804672"/>
          </a:xfrm>
          <a:prstGeom prst="roundRect">
            <a:avLst>
              <a:gd name="adj" fmla="val 13636"/>
            </a:avLst>
          </a:prstGeom>
          <a:solidFill>
            <a:srgbClr val="1A2D5A"/>
          </a:solidFill>
          <a:ln/>
        </p:spPr>
      </p:sp>
      <p:sp>
        <p:nvSpPr>
          <p:cNvPr id="11" name="Text 8"/>
          <p:cNvSpPr/>
          <p:nvPr/>
        </p:nvSpPr>
        <p:spPr>
          <a:xfrm>
            <a:off x="1554480" y="3108960"/>
            <a:ext cx="1828800" cy="2286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 PROVED:</a:t>
            </a:r>
            <a:endParaRPr lang="en-US" sz="900" dirty="0"/>
          </a:p>
        </p:txBody>
      </p:sp>
      <p:sp>
        <p:nvSpPr>
          <p:cNvPr id="12" name="Text 9"/>
          <p:cNvSpPr/>
          <p:nvPr/>
        </p:nvSpPr>
        <p:spPr>
          <a:xfrm>
            <a:off x="1554480" y="3337560"/>
            <a:ext cx="603504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Spanish crops named -- bell cause-effect explained -- perseverance virtue applied -- Apalachee perspective held</a:t>
            </a:r>
            <a:endParaRPr lang="en-US" sz="1200" dirty="0"/>
          </a:p>
        </p:txBody>
      </p:sp>
      <p:sp>
        <p:nvSpPr>
          <p:cNvPr id="13" name="Shape 10"/>
          <p:cNvSpPr/>
          <p:nvPr/>
        </p:nvSpPr>
        <p:spPr>
          <a:xfrm>
            <a:off x="1371600" y="3977640"/>
            <a:ext cx="6400800" cy="530352"/>
          </a:xfrm>
          <a:prstGeom prst="roundRect">
            <a:avLst>
              <a:gd name="adj" fmla="val 17241"/>
            </a:avLst>
          </a:prstGeom>
          <a:solidFill>
            <a:srgbClr val="D4943A">
              <a:alpha val="85000"/>
            </a:srgbClr>
          </a:solidFill>
          <a:ln/>
        </p:spPr>
      </p:sp>
      <p:sp>
        <p:nvSpPr>
          <p:cNvPr id="14" name="Text 11"/>
          <p:cNvSpPr/>
          <p:nvPr/>
        </p:nvSpPr>
        <p:spPr>
          <a:xfrm>
            <a:off x="1554480" y="4041648"/>
            <a:ext cx="6035040" cy="3657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COMING NEXT -- 4.06.05: Effects of Spanish Rule -- 200 years of change on the land, the language, and the people.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2026-07-14T00:28:21Z</dcterms:created>
  <dcterms:modified xsi:type="dcterms:W3CDTF">2026-07-14T00:28:21Z</dcterms:modified>
</cp:coreProperties>
</file>