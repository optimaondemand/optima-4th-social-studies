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Dark dusty corridor with old faded maps on the walls, one glowing panel in the distance, atmospheric mystery lightingSlide 1 — Title. Set the scene: this is the Unit 6 opener. The corridor feels different — older. Before any content, ask students: 'What do you think you'll find in this wing?' Pause for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Unlock the new wing. Read the Wonder Question aloud together. Ask: 'What do you already know about Spanish explorers? What do you predict we'll find in this wing?' Hold predictions —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Pure observation. Show the map with NO context. Give students 60 seconds of silent looking before opening the chat. Encourage: 'Don't try to explain it yet — just describe what you see.' Collect observations, then hold them for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Socratic discussion. Let students wrestle with Q1 first: who made this map? Guide toward Spain/Spanish cartographers. Key move is Q3 — whose perspective is missing. This seeds the entire lesson. Don't rush to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Formal source evaluation. Students have been observing and discussing; now they evaluate with historian's vocabulary. Push for Q4: this source is more useful for Spain's perspective. That's the key takeaway before we move to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Three images, no labels. Give students 45 seconds to look, then open the chat. Don't confirm answers yet. Let predictions build tension for the reveal on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Reveal the Three G's. Walk through each card. Then close the slide and do the retrieval prompt: 'Cover your screen — name all three reasons from memory.' Cold-call 2-3 students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Multi-source compare. Two sources, two perspectives, neither complete alone. Push: 'Which source was created with more power — and how does that affect what gets recorded?' Make sure students say something specific about BOTH sources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Timeline reveal. Walk through each explorer in order. Emphasize the pattern: Spain kept coming back. Push Q2 of the Socratic: 'Which had the most impact on the people already here?' De Soto's march inland with horses and soldiers is often the answer — but let students reason it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The other side. This is the moral and historical heart of the lesson. Do not rush it. Read the smallpox line slowly. Then ask: 'How does this change the story of exploration?' Hold space before moving on. The Courage line at the bottom sets up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Teacher think-aloud. Read Q1 aloud, then model the answer slowly, narrating your thinking: 'I'm starting with the reason name, then adding a specific detail from the lesson.' Then do Q2. Don't skip narrating the pattern box — students need to see the structure before they try Q3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Students defend Q3. Give 2 minutes to write in chat or a doc, then cold-call 2-3 students. Push back with the Socratic Q3: 'Could someone argue it doesn't matter? What would you say back?' That's where historical argument gets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Critique the weak answer. The word 'discovered' erases the people who were already there. Give students time to write a rewrite in the chat — then share 2-3 versions and discuss which is most historically honest. Model if needed: 'Juan Ponce de Leon reached a land in 1513 that was already home to the Calusa and other Native peoples — Spain called it La Florida.'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Assignment preview. Read all three evidence questions aloud together. Then read the Historian's Notebook entry requirements. Let students ask clarifying questions. End with: 'Before you close out, write your Historian's Sentence in the chat.'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Virtue Spotlight. Read the definition slowly: 'doing something hard or scary because it matters.' Ask: 'Who showed courage in today's story?' Let students name BOTH Spanish sailors AND the Native peoples. Key insight: courage is not the same as being right or having power — it's about what you face despite fear.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Old faded map on a wall in a dusty corridor, one glowing panel spreading warm light across the ancient paper — sense of discovery, one mystery solved, more to comeSlide 16 — Closing. Read the map file unlocked moment with energy. Then tease Coming Next: 'We found out WHO came and WHY — next lesson we find out what they BUILT and what that meant for everyone living here.' End with Historian's Sentence if not collected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20040" y="2286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4.06.01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8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SS.4.A.3.2  ·  SS.4.A.3.3  ·  SS.4.A.3.4  ·  SS.4.A.3.6  ·  SS.4.A.9.1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European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of Florida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20040" y="2834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4.06.01  —  Early Florida History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" y="3337560"/>
            <a:ext cx="8503920" cy="868680"/>
          </a:xfrm>
          <a:prstGeom prst="roundRect">
            <a:avLst>
              <a:gd name="adj" fmla="val 12632"/>
            </a:avLst>
          </a:prstGeom>
          <a:solidFill>
            <a:srgbClr val="0B1835">
              <a:alpha val="80000"/>
            </a:srgbClr>
          </a:solidFill>
          <a:ln w="12700">
            <a:solidFill>
              <a:srgbClr val="55C8E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02920" y="3401568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checkpoint, the corridor changed — older, dustier, walls covered in faded maps. The first map file won't load until students read it carefully.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FILES: ESCAPE FROM CANVAS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 — Early Florida History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68580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34B76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858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 OPENED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Florida Wing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743200" y="1993392"/>
            <a:ext cx="3657600" cy="36576"/>
          </a:xfrm>
          <a:prstGeom prst="rect">
            <a:avLst/>
          </a:prstGeom>
          <a:solidFill>
            <a:srgbClr val="55C8E8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8229600" cy="1005840"/>
          </a:xfrm>
          <a:prstGeom prst="roundRect">
            <a:avLst>
              <a:gd name="adj" fmla="val 12727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128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 QUESTION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4505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Europeans sail toward Florida — and what changed once they arrived?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map file won't load until students read it carefully.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3730752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VIRTUE: COURAGE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— THE 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this map carefully. What do you see? What looks strange or surprising?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16th-century Spanish map of La Florida — exaggerated peninsula, sea monsters or ships in surrounding waters, Spanish/Latin labels, decorative cartouche and compass rose. No context labels.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115568"/>
            <a:ext cx="2971800" cy="274320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170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2697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notice... I wonder..."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map looks different from a modern map because..."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9502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or context yet — pure observation. Let students look for 60 seconds before discussing.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DISCUSSION — READING THE 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let's think like historians.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394960" cy="2651760"/>
          </a:xfrm>
          <a:prstGeom prst="roundRect">
            <a:avLst>
              <a:gd name="adj" fmla="val 517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07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this map — and why does that matter for what it shows?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be WRONG about this map — and what does that tell us about what the mapmaker knew?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perspective is completely missing from this map? Where would a historian go to find it?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115568"/>
            <a:ext cx="2971800" cy="2651760"/>
          </a:xfrm>
          <a:prstGeom prst="roundRect">
            <a:avLst>
              <a:gd name="adj" fmla="val 4138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170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697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this map was made by ___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missing perspective is ___ because..."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58768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FFF3DC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tip: </a:t>
            </a:r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students to name WHO is missing — not just 'Native people' but the Calusa, Tequesta, Timucua, and Apalachee specifically. That's the historical precision we're building toward.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 — EVALUATE THE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4114800" cy="3950208"/>
          </a:xfrm>
          <a:prstGeom prst="roundRect">
            <a:avLst>
              <a:gd name="adj" fmla="val 277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21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3840480" cy="3584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16th-century map of La Florida — same map as Slide 3. Full view. Spanish/Latin labels, decorative cartouche, compass rose, exaggerated Florida peninsula, sea monsters or ships.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621792"/>
            <a:ext cx="4206240" cy="3950208"/>
          </a:xfrm>
          <a:prstGeom prst="roundRect">
            <a:avLst>
              <a:gd name="adj" fmla="val 347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969264"/>
            <a:ext cx="38404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 this source, and why — what was Spain trying to show?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map tell us about what Spanish people THOUGHT Florida was like?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from this map — whose voices and knowledge are not here?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source more useful for understanding Spain's perspective or Florida's reality?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— WHY DID SPAIN SAIL?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Before Definition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images. Three reasons Spain sent ships to Florida. What do you think each one represents?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coins or treasure — Spanish gold doubloons, glittering coins or a pile of riches. Rich warm tones.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115568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97180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138988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flag or royal banner — the flag of Spain in the 1500s, flying on a ship's mast or planted on land.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115568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66928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138988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cross — a simple wooden or stone cross, possibly with a church or mission building behind 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67328"/>
            <a:ext cx="8595360" cy="1051560"/>
          </a:xfrm>
          <a:prstGeom prst="roundRect">
            <a:avLst>
              <a:gd name="adj" fmla="val 1043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221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0233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Spain sailed for... because the image shows..."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"Of the three reasons, I think ___ mattered most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REVEAL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REASONS — GOLD, LAND, FAITH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1A2D5A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Riches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spread of cities full of gold. Hope was powerful — even when the stories weren't true.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36392" y="1261872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1A2D5A"/>
          </a:solidFill>
          <a:ln w="25400">
            <a:solidFill>
              <a:srgbClr val="1A8A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3258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73552" y="1783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to Claim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2148840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kingdoms competed to claim large pieces of the Americas for their crowns.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1261872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1A2D5A"/>
          </a:solidFill>
          <a:ln w="25400">
            <a:solidFill>
              <a:srgbClr val="8B6F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3258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35624" y="1783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Catholic Faith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35624" y="2148840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saw itself as Catholic. Expeditions brought priests — sometimes peaceful, often forced.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36484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three reasons came from Spain's world — but the ships landed in someone else's.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519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Cover your screen. Name all three reasons from memory.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COMPARE — TWO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ACCOUNT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59436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594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ACCOUNT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7432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1500s Spanish written record or illustrated account of landing in Florida — ship arriving at shore, Spanish soldiers, a priest, a flag being planted. European artistic style.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24128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298448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historian's reconstruction of the Calusa or Timucua perspective — Native people watching Spanish ships arrive from shore, their village visible, expressions wary or alarmed.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5394960" cy="1463040"/>
          </a:xfrm>
          <a:prstGeom prst="roundRect">
            <a:avLst>
              <a:gd name="adj" fmla="val 937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10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SOURCE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was created by the people with more power? How might that affect what it records?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details would the Spanish account include that the Calusa perspective might not — and vice versa?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3218688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2735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347472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Spanish account and the Calusa account would agree about ___ but disagree about ___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EXPLORERS — TIMELINE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4864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896112"/>
            <a:ext cx="320040" cy="320040"/>
          </a:xfrm>
          <a:prstGeom prst="ellipse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A8A7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243584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47472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15179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or illustration of Juan Ponce de Leon — Spanish explorer, 16th-century style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57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Ponce de Leon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Sailed from Puerto Rico · Named it 'La Florida' · First recorded Spanish landing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87952" y="896112"/>
            <a:ext cx="320040" cy="320040"/>
          </a:xfrm>
          <a:prstGeom prst="ellipse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594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1528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136392" y="1170432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9544" y="1243584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209544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46704" y="15179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or illustration of Panfilo de Narvaez — Spanish explorer, 16th-century style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7832" y="2157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Panfilo de Narvaez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27832" y="2487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men · Expedition destroyed by storms, hunger, and conflict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50024" y="896112"/>
            <a:ext cx="320040" cy="320040"/>
          </a:xfrm>
          <a:prstGeom prst="ellipse">
            <a:avLst/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594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1539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98464" y="1170432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1243584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71616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8776" y="15179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or illustration of Hernando de Soto — Spanish explorer, 16th-century style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9904" y="2157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Hernando de Soto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9904" y="2487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near Tampa Bay · Marched far inland with horses and armored soldiers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999232"/>
            <a:ext cx="8595360" cy="1536192"/>
          </a:xfrm>
          <a:prstGeom prst="roundRect">
            <a:avLst>
              <a:gd name="adj" fmla="val 8929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090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346704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each expedition come? Were the reasons the same or different?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expedition do you think had the most impact on Florida's First Peoples? Why?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OF THE 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FLORIDA WAS ALREADY HOME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Calusa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coast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29844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Tequesta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coast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29844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Apalachee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 Florida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29844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Timucua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North/Central Florida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0574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Towns, leaders, trade routes, and traditions stretching back thousands of years.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8595360" cy="841248"/>
          </a:xfrm>
          <a:prstGeom prst="roundRect">
            <a:avLst>
              <a:gd name="adj" fmla="val 13043"/>
            </a:avLst>
          </a:prstGeom>
          <a:solidFill>
            <a:srgbClr val="1A2D5A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03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ships brought diseases like smallpox that Native peoples had never faced. </a:t>
            </a:r>
            <a:pPr algn="ctr" indent="0" marL="0">
              <a:buNone/>
            </a:pPr>
            <a:r>
              <a:rPr lang="en-US" sz="13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villages became sick.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8595360" cy="475488"/>
          </a:xfrm>
          <a:prstGeom prst="roundRect">
            <a:avLst>
              <a:gd name="adj" fmla="val 19231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 showed up on EVERY side of this story.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977640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32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233672"/>
            <a:ext cx="8321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"Florida was not empty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"Historians need to remember the First Peoples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me answer the assignment questions. Notice the pattern.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85953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1A8A7D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06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Name two reasons Europeans sailed to Florida in the 1500s.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riches — Spanish explorers heard stories of cities full of gold, and hope was powerful even when the stories weren't true. </a:t>
            </a:r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to claim for Spain — European kingdoms competed to claim large pieces of the Americas.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FF3DC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</a:rPr>
              <a:t>Pattern: </a:t>
            </a:r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[Reason name] + [specific detail from the lesson] = complete answer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Who reached Florida in 1513, what did he name it, and where did he sail from?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Ponce de Leon reached Florida in 1513, named it </a:t>
            </a:r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Florida</a:t>
            </a:r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('the flowery one'), and sailed from Puerto Rico.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DEFEND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Scaffold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858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your turn. Pick ONE Native group who already lived in Florida when the Spanish arrived.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Choices: Calusa  ·  Tequesta  ·  Apalachee  ·  Timucua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389120" cy="1664208"/>
          </a:xfrm>
          <a:prstGeom prst="roundRect">
            <a:avLst>
              <a:gd name="adj" fmla="val 659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46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947672"/>
            <a:ext cx="41148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chose the ___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is important that historians remember them because... The evidence that supports this is..."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749040" cy="1664208"/>
          </a:xfrm>
          <a:prstGeom prst="roundRect">
            <a:avLst>
              <a:gd name="adj" fmla="val 824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783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2039112"/>
            <a:ext cx="3383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that historians remember them — what is lost if we don't?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remembering the First Peoples change the story of 'exploration'?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someone argue it doesn't matter? What would you say back?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38144"/>
            <a:ext cx="8595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7A88A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3502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ANSWER PATTERN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group + where they lived</a:t>
            </a:r>
            <a:pPr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historians need to remember them</a:t>
            </a:r>
            <a:pPr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be lost or incomplete without their story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CRITIQUE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96012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 TO CRITIQUE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326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"Juan Ponce de Leon explored Florida in 1513 and discovered it for Spain."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475488"/>
          </a:xfrm>
          <a:prstGeom prst="roundRect">
            <a:avLst>
              <a:gd name="adj" fmla="val 19231"/>
            </a:avLst>
          </a:prstGeom>
          <a:solidFill>
            <a:srgbClr val="FFF3DC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28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accurate in this sentence?  </a:t>
            </a:r>
            <a:pPr algn="ctr"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word is the problem — and why?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4754880" cy="1938528"/>
          </a:xfrm>
          <a:prstGeom prst="roundRect">
            <a:avLst>
              <a:gd name="adj" fmla="val 707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225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43891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'discovered' suggest about who was already there?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this sentence read differently from the Calusa's perspective?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rewrite it to be historically honest?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2231136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2487168"/>
            <a:ext cx="32918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sentence is partially accurate because... but the word 'discovered' is a problem because... I would rewrite it as..."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Historian's Notebook Entry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Up Your First Expedition Findings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859536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5400">
            <a:solidFill>
              <a:srgbClr val="1A8A7D"/>
            </a:solidFill>
            <a:prstDash val="solid"/>
          </a:ln>
          <a:effectLst>
            <a:outerShdw sx="100000" sy="100000" kx="0" ky="0" algn="bl" rotWithShape="0" blurRad="508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566928" cy="585216"/>
          </a:xfrm>
          <a:prstGeom prst="roundRect">
            <a:avLst>
              <a:gd name="adj" fmla="val 16129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78992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115568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reasons Europeans sailed to Florida in the 1500s.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  <a:effectLst>
            <a:outerShdw sx="100000" sy="100000" kx="0" ky="0" algn="bl" rotWithShape="0" blurRad="508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37360"/>
            <a:ext cx="566928" cy="585216"/>
          </a:xfrm>
          <a:prstGeom prst="roundRect">
            <a:avLst>
              <a:gd name="adj" fmla="val 16129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37360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1773936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reached Florida in 1513, what did he name it, and where did he sail from?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859536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  <a:effectLst>
            <a:outerShdw sx="100000" sy="100000" kx="0" ky="0" algn="bl" rotWithShape="0" blurRad="508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95728"/>
            <a:ext cx="566928" cy="585216"/>
          </a:xfrm>
          <a:prstGeom prst="roundRect">
            <a:avLst>
              <a:gd name="adj" fmla="val 16129"/>
            </a:avLst>
          </a:prstGeom>
          <a:solidFill>
            <a:srgbClr val="E8636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95728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43230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Native group who already lived in Florida when the Spanish arrived. Why is it important that historians remember them?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072384"/>
            <a:ext cx="5486400" cy="1207008"/>
          </a:xfrm>
          <a:prstGeom prst="roundRect">
            <a:avLst>
              <a:gd name="adj" fmla="val 909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3639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HISTORIAN'S NOTEBOOK ENTRY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sentences. Explain why Europeans came AND what happened to people already here. Include at least one specific name, date, or group.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8561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000" i="1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"Spanish explorers came because..."  ·  "The evidence shows..."  ·  "This matters because..."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072384"/>
            <a:ext cx="2834640" cy="804672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1363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HISTORIAN'S SENTENCE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3383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"Today I learned that ______ because ______."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3950208"/>
            <a:ext cx="28346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7A88A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080760" y="4005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TURN-IN CHECKLIST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4224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today's Florida source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all evidence questions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Historian's Notebook Entry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Historian's Sentence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Canvas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0" y="658368"/>
            <a:ext cx="2194560" cy="530352"/>
          </a:xfrm>
          <a:prstGeom prst="roundRect">
            <a:avLst>
              <a:gd name="adj" fmla="val 20690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6583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98448"/>
            <a:ext cx="7315200" cy="621792"/>
          </a:xfrm>
          <a:prstGeom prst="roundRect">
            <a:avLst>
              <a:gd name="adj" fmla="val 14706"/>
            </a:avLst>
          </a:prstGeom>
          <a:solidFill>
            <a:srgbClr val="1A2D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62456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"Doing something hard or scary because it matters."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069080" cy="1627632"/>
          </a:xfrm>
          <a:prstGeom prst="roundRect">
            <a:avLst>
              <a:gd name="adj" fmla="val 7865"/>
            </a:avLst>
          </a:prstGeom>
          <a:solidFill>
            <a:srgbClr val="1A2D5A"/>
          </a:solidFill>
          <a:ln w="2540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SAILORS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703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an ocean in wooden ships — navigating by stars, facing storms and the unknown, sailing toward a land no one in Spain had mapped.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029968"/>
            <a:ext cx="4069080" cy="1627632"/>
          </a:xfrm>
          <a:prstGeom prst="roundRect">
            <a:avLst>
              <a:gd name="adj" fmla="val 7865"/>
            </a:avLst>
          </a:prstGeom>
          <a:solidFill>
            <a:srgbClr val="1A2D5A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1031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CALUSA AND TIMUCUA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3703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their homes, families, and ways of life against armed strangers — facing weapons and diseases they had never seen before.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9392" y="2542032"/>
            <a:ext cx="585216" cy="585216"/>
          </a:xfrm>
          <a:prstGeom prst="ellipse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 showed up on EVERY side of this story. Notice it.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D5A">
              <a:alpha val="70000"/>
            </a:srgbClr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FILES: ESCAPE FROM CANVAS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4.06.01 — Complete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658368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34B76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658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FILE UNLOCKED!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26187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European exploration tied Florida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 much bigger Atlantic world.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1371600" y="2578608"/>
            <a:ext cx="6400800" cy="530352"/>
          </a:xfrm>
          <a:prstGeom prst="roundRect">
            <a:avLst>
              <a:gd name="adj" fmla="val 17241"/>
            </a:avLst>
          </a:prstGeom>
          <a:solidFill>
            <a:srgbClr val="1A2D5A">
              <a:alpha val="85000"/>
            </a:srgbClr>
          </a:solidFill>
          <a:ln w="12700">
            <a:solidFill>
              <a:srgbClr val="55C8E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554480" y="26334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panel of this old hallway is glowing now.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10370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4015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6758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Augustine — The Oldest Settlement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 continues  ·  Early Florida History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2026-07-14T00:27:16Z</dcterms:created>
  <dcterms:modified xsi:type="dcterms:W3CDTF">2026-07-14T00:27:16Z</dcterms:modified>
</cp:coreProperties>
</file>