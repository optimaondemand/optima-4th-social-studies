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Flat-lay arrangement of Florida natural materials: palmetto fronds, cypress wood, chert stone, shells, clay. Warm tones, respectful museum-display style.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cluttered historian's desk with unlabeled object cards: a chickee icon, a clay pot, dried fish on a rack, a chert spear point, a palmetto basket. Warm desk-lamp light.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sections. The lesson moves from environment (the clue) to specific solutions to source evaluation. Key mindset: the four problems (food, shelter, tools, resources) are universal. Every human community on Earth solves them. Florida's first peoples solved them with deep knowledge and creativity. Use present-tense awareness: these cultures persist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discovery entry point: students predict what they would do before seeing what Florida's peoples actually did. That gap — between prediction and reality — creates the learning. Let multiple students share predictions. Save their answers ('You said you'd fish — let's see if that matches what we find'). Environment shown: Florida Everglades / wetlands — this connects to multiple peoples including the Calusa and Tequesta.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students beyond surface answers. The goal: environment creates options, but knowledge and skill determine how well you use those options. The Calusa could eat thousands of oysters a day — that's not 'simple' eating; that's mastery of a marine ecosystem. Challenge easy answers: 'Could they eat only oysters? Why not? What nutritional problem would that create?' Push for thinking, not just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prompt: 30 seconds, no notes. Then reveal. This locks in the pattern: different peoples, different environments, different food strategies — all equally skilled. Resist any framing that suggests one food strategy is 'better.' The Calusa's seafood diet was nutritionally rich and sustainable for thousands of years. That's remarkable.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chickee is a masterpiece of environmental design. Students should be able to decode each feature before you explain it: raised floor (floods, snakes, insects), steep thatch roof (rain shedding, hot air rises out), open sides (airflow, stays cool in intense heat). This connects to Q2 in the assignment: 'Connect a tool, shelter, or food to Florida's environment. Why does it make sense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directly prepares students for Assignment Q2. Push hard on the 'simple' question — the honest word for Florida's shelter designs is 'clever.' Build the language before the assignment. Key facilitation move: 'You said the open sides are for airflow. Is that a guess or can you prove it? What in Florida's climate makes airflow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pattern to emphasize: every tool and shelter uses materials found within a few miles of home. Florida's environment wasn't a limitation — it was a fully stocked toolkit for people who knew it. The dugout canoe is particularly impressive: hollowing a 20-foot cypress log by controlled burning takes days of skill. Challenge the word 'simple' directly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compare challenge: can students match each artifact to the region of Florida it most likely came from? Chert = north Florida (stone deposits). Shell tools = coastal. Palmetto fiber = anywhere palms grow. Cypress canoe = wetlands. This is the Claim-Evidence-Explanation cycle for the assignment. After comparing, push: 'Does Source A tell us everything? Does Source B? What would we need BOTH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directly to the next lesson (4.03.04 — Artifacts as Evidence). Plant the seed here: 'We just used artifacts as evidence. Next lesson, we go even deeper — what can an artifact prove, and where does proof end and guessing begin?' For Assignment Q3 today: students need to use the word 'skill' or 'knowledge.' Make sure they've heard those words used respectfully about Florida's peoples in this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transferable pattern moment. Push students to apply it forward: 'What would you predict about Arctic peoples' tools before we look at any sources?' The key idea: deep environmental knowledge is the universal survival requirement. All cultures develop it. Florida's peoples are not unusual — they are exemplary.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virtue directly serves Assignment Q3: 'Be a historian-citizen and tell the honest truth: would you call the first peoples' lives simple?' Students need to use the word 'skill' or 'knowledge' in their answer. This slide gives them the language. The honest language check can be read aloud by students as a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models the full four-sentence structure. Read it out loud in first person, thinking aloud. Say: 'Watch how I move from the object's name to its material to its problem to the skill required.' This is the Unlock Challenge structure. Students copy the pattern — but choose their own object, which means each answer should be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to choose and defend an object. Then cold-call and challenge: 'You said the chickee makes sense because of Florida's heat. My pushback: every hot climate doesn't have chickees. What specifically about FLORIDA — not just heat — makes the chickee the right choice?' Push for Florida-specific details: flooding, humidity, insect life, available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answer has all the right facts but fails to use them. It doesn't explain the environmental logic (raised floor = flooding/snakes), doesn't use the word 'skill' or 'knowledge,' and doesn't prove the design was intentional. Students should identify all three missing pieces. This mirrors what a weak Assignment Q2 looks like — catch it in practice, not in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Q3 is: 'Be a historian-citizen and tell the honest truth: would you call the first peoples' lives simple?' This slide is the warm-up for that question. Let students argue both sides — but push back hard on the 'no electricity' standard. The honest standard is: did they meet their needs with skill and knowledge? The answer is unambiguously yes. The word 'simple' is the problem, not the peoples.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answers first, then reveal. Students who got all 3: ready for the assignment. Student who missed Q3: walk back through the Honesty virtue slide — the honest word is 'clever,' not 'simple.' This question is the exact topic of Assignment Q3, so make sure every student has the language before they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EXACT assignment questions from the Canvas lesson — use exact wording. Q3 requires the word 'skill' or 'knowledge.' Remind students before they write. Model Q1 briefly: 'The four problems are food, shelter, tools, resources — pick ONE, and name a specific solution, not just 'they made tools.' Which tool? What did it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Overhead view of a Florida natural environment at golden hour: Everglades wetlands with sawgrass, cypress trees, still water reflecting sunset. Peaceful, respectful, beautiful. No human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365760"/>
            <a:ext cx="8229600" cy="320040"/>
          </a:xfrm>
          <a:prstGeom prst="rect">
            <a:avLst/>
          </a:prstGeom>
          <a:noFill/>
          <a:ln/>
        </p:spPr>
        <p:txBody>
          <a:bodyPr wrap="square"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4.03.03</a:t>
            </a:r>
            <a:endParaRPr lang="en-US" sz="1300" dirty="0"/>
          </a:p>
        </p:txBody>
      </p:sp>
      <p:sp>
        <p:nvSpPr>
          <p:cNvPr id="6" name="Text 3"/>
          <p:cNvSpPr/>
          <p:nvPr/>
        </p:nvSpPr>
        <p:spPr>
          <a:xfrm>
            <a:off x="457200" y="731520"/>
            <a:ext cx="8229600" cy="137160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Food, Shelter, Tools,</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and Resources</a:t>
            </a:r>
            <a:endParaRPr lang="en-US" sz="3800" dirty="0"/>
          </a:p>
        </p:txBody>
      </p:sp>
      <p:sp>
        <p:nvSpPr>
          <p:cNvPr id="7" name="Shape 4"/>
          <p:cNvSpPr/>
          <p:nvPr/>
        </p:nvSpPr>
        <p:spPr>
          <a:xfrm>
            <a:off x="3200400" y="2240280"/>
            <a:ext cx="2743200" cy="54864"/>
          </a:xfrm>
          <a:prstGeom prst="rect">
            <a:avLst/>
          </a:prstGeom>
          <a:solidFill>
            <a:srgbClr val="D4943A"/>
          </a:solidFill>
          <a:ln w="12700">
            <a:solidFill>
              <a:srgbClr val="D4943A"/>
            </a:solidFill>
            <a:prstDash val="solid"/>
          </a:ln>
        </p:spPr>
      </p:sp>
      <p:sp>
        <p:nvSpPr>
          <p:cNvPr id="8" name="Text 5"/>
          <p:cNvSpPr/>
          <p:nvPr/>
        </p:nvSpPr>
        <p:spPr>
          <a:xfrm>
            <a:off x="731520" y="2377440"/>
            <a:ext cx="7680960" cy="640080"/>
          </a:xfrm>
          <a:prstGeom prst="rect">
            <a:avLst/>
          </a:prstGeom>
          <a:noFill/>
          <a:ln/>
        </p:spPr>
        <p:txBody>
          <a:bodyPr wrap="square" rtlCol="0" anchor="ctr"/>
          <a:lstStyle/>
          <a:p>
            <a:pPr algn="ctr" indent="0" marL="0">
              <a:buNone/>
            </a:pPr>
            <a:r>
              <a:rPr lang="en-US" sz="1700" i="1" dirty="0">
                <a:solidFill>
                  <a:srgbClr val="F0F2F8"/>
                </a:solidFill>
                <a:latin typeface="Cambria" pitchFamily="34" charset="0"/>
                <a:ea typeface="Cambria" pitchFamily="34" charset="-122"/>
                <a:cs typeface="Cambria" pitchFamily="34" charset="-120"/>
              </a:rPr>
              <a:t>How did Florida's first peoples solve the four big problems every community faces?</a:t>
            </a:r>
            <a:endParaRPr lang="en-US" sz="1700" dirty="0"/>
          </a:p>
        </p:txBody>
      </p:sp>
      <p:sp>
        <p:nvSpPr>
          <p:cNvPr id="9" name="Text 6"/>
          <p:cNvSpPr/>
          <p:nvPr/>
        </p:nvSpPr>
        <p:spPr>
          <a:xfrm>
            <a:off x="457200" y="4663440"/>
            <a:ext cx="8229600" cy="274320"/>
          </a:xfrm>
          <a:prstGeom prst="rect">
            <a:avLst/>
          </a:prstGeom>
          <a:noFill/>
          <a:ln/>
        </p:spPr>
        <p:txBody>
          <a:bodyPr wrap="square"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Grade 4 Social Studies · First Floridians · Week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320040"/>
            <a:ext cx="8229600" cy="4206240"/>
          </a:xfrm>
          <a:prstGeom prst="roundRect">
            <a:avLst>
              <a:gd name="adj" fmla="val 3913"/>
            </a:avLst>
          </a:prstGeom>
          <a:solidFill>
            <a:srgbClr val="1A2D5A">
              <a:alpha val="80000"/>
            </a:srgbClr>
          </a:solidFill>
          <a:ln w="19050">
            <a:solidFill>
              <a:srgbClr val="55C8E8"/>
            </a:solidFill>
            <a:prstDash val="solid"/>
          </a:ln>
        </p:spPr>
      </p:sp>
      <p:sp>
        <p:nvSpPr>
          <p:cNvPr id="6" name="Text 3"/>
          <p:cNvSpPr/>
          <p:nvPr/>
        </p:nvSpPr>
        <p:spPr>
          <a:xfrm>
            <a:off x="731520" y="457200"/>
            <a:ext cx="7680960" cy="274320"/>
          </a:xfrm>
          <a:prstGeom prst="rect">
            <a:avLst/>
          </a:prstGeom>
          <a:noFill/>
          <a:ln/>
        </p:spPr>
        <p:txBody>
          <a:bodyPr wrap="square" rtlCol="0" anchor="ctr"/>
          <a:lstStyle/>
          <a:p>
            <a:pPr algn="ctr" indent="0" marL="0">
              <a:buNone/>
            </a:pPr>
            <a:r>
              <a:rPr lang="en-US" sz="1000" b="1" spc="200" kern="0" dirty="0">
                <a:solidFill>
                  <a:srgbClr val="55C8E8"/>
                </a:solidFill>
                <a:latin typeface="Calibri" pitchFamily="34" charset="0"/>
                <a:ea typeface="Calibri" pitchFamily="34" charset="-122"/>
                <a:cs typeface="Calibri" pitchFamily="34" charset="-120"/>
              </a:rPr>
              <a:t>MESSAGE FROM INSIDE CANVAS</a:t>
            </a:r>
            <a:endParaRPr lang="en-US" sz="1000" dirty="0"/>
          </a:p>
        </p:txBody>
      </p:sp>
      <p:sp>
        <p:nvSpPr>
          <p:cNvPr id="7" name="Text 4"/>
          <p:cNvSpPr/>
          <p:nvPr/>
        </p:nvSpPr>
        <p:spPr>
          <a:xfrm>
            <a:off x="822960" y="822960"/>
            <a:ext cx="7498080" cy="594360"/>
          </a:xfrm>
          <a:prstGeom prst="rect">
            <a:avLst/>
          </a:prstGeom>
          <a:noFill/>
          <a:ln/>
        </p:spPr>
        <p:txBody>
          <a:bodyPr wrap="square" rtlCol="0" anchor="ctr"/>
          <a:lstStyle/>
          <a:p>
            <a:pPr algn="ctr" indent="0" marL="0">
              <a:buNone/>
            </a:pPr>
            <a:r>
              <a:rPr lang="en-US" sz="1500" dirty="0">
                <a:solidFill>
                  <a:srgbClr val="FFFFFF"/>
                </a:solidFill>
                <a:latin typeface="Cambria" pitchFamily="34" charset="0"/>
                <a:ea typeface="Cambria" pitchFamily="34" charset="-122"/>
                <a:cs typeface="Cambria" pitchFamily="34" charset="-120"/>
              </a:rPr>
              <a:t>Canvas just dropped a daily-life file on my desk — objects I recognize from Florida's first peoples, but none of the labels made it through.</a:t>
            </a:r>
            <a:endParaRPr lang="en-US" sz="1500" dirty="0"/>
          </a:p>
        </p:txBody>
      </p:sp>
      <p:sp>
        <p:nvSpPr>
          <p:cNvPr id="8" name="Text 5"/>
          <p:cNvSpPr/>
          <p:nvPr/>
        </p:nvSpPr>
        <p:spPr>
          <a:xfrm>
            <a:off x="822960" y="1508760"/>
            <a:ext cx="7498080" cy="685800"/>
          </a:xfrm>
          <a:prstGeom prst="rect">
            <a:avLst/>
          </a:prstGeom>
          <a:noFill/>
          <a:ln/>
        </p:spPr>
        <p:txBody>
          <a:bodyPr wrap="square" rtlCol="0" anchor="ctr"/>
          <a:lstStyle/>
          <a:p>
            <a:pPr algn="ctr" indent="0" marL="0">
              <a:buNone/>
            </a:pPr>
            <a:r>
              <a:rPr lang="en-US" sz="1400" i="1" dirty="0">
                <a:solidFill>
                  <a:srgbClr val="F0F2F8"/>
                </a:solidFill>
                <a:latin typeface="Cambria" pitchFamily="34" charset="0"/>
                <a:ea typeface="Cambria" pitchFamily="34" charset="-122"/>
                <a:cs typeface="Cambria" pitchFamily="34" charset="-120"/>
              </a:rPr>
              <a:t>I can see a chickee, a clay pot, dried fish on a rack, a chert spear point, and a palmetto basket — but the file won't tell me which need, resource, or environment each one connects to.</a:t>
            </a:r>
            <a:endParaRPr lang="en-US" sz="1400" dirty="0"/>
          </a:p>
        </p:txBody>
      </p:sp>
      <p:sp>
        <p:nvSpPr>
          <p:cNvPr id="9" name="Text 6"/>
          <p:cNvSpPr/>
          <p:nvPr/>
        </p:nvSpPr>
        <p:spPr>
          <a:xfrm>
            <a:off x="822960" y="2286000"/>
            <a:ext cx="7498080" cy="548640"/>
          </a:xfrm>
          <a:prstGeom prst="rect">
            <a:avLst/>
          </a:prstGeom>
          <a:noFill/>
          <a:ln/>
        </p:spPr>
        <p:txBody>
          <a:bodyPr wrap="square" rtlCol="0" anchor="ctr"/>
          <a:lstStyle/>
          <a:p>
            <a:pPr algn="ctr" indent="0" marL="0">
              <a:buNone/>
            </a:pPr>
            <a:r>
              <a:rPr lang="en-US" sz="1400" b="1" dirty="0">
                <a:solidFill>
                  <a:srgbClr val="D4943A"/>
                </a:solidFill>
                <a:latin typeface="Cambria" pitchFamily="34" charset="0"/>
                <a:ea typeface="Cambria" pitchFamily="34" charset="-122"/>
                <a:cs typeface="Cambria" pitchFamily="34" charset="-120"/>
              </a:rPr>
              <a:t>That's your job today. Help me match every object to the need it solved and the environment it came from — and we can lock this file in together.</a:t>
            </a:r>
            <a:endParaRPr lang="en-US" sz="1400" dirty="0"/>
          </a:p>
        </p:txBody>
      </p:sp>
      <p:sp>
        <p:nvSpPr>
          <p:cNvPr id="10" name="Text 7"/>
          <p:cNvSpPr/>
          <p:nvPr/>
        </p:nvSpPr>
        <p:spPr>
          <a:xfrm>
            <a:off x="822960" y="2926080"/>
            <a:ext cx="7498080" cy="365760"/>
          </a:xfrm>
          <a:prstGeom prst="rect">
            <a:avLst/>
          </a:prstGeom>
          <a:noFill/>
          <a:ln/>
        </p:spPr>
        <p:txBody>
          <a:bodyPr wrap="square"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 Your teacher, still inside Module 3 · Episode 3 of 13</a:t>
            </a:r>
            <a:endParaRPr lang="en-US" sz="1300" dirty="0"/>
          </a:p>
        </p:txBody>
      </p:sp>
      <p:sp>
        <p:nvSpPr>
          <p:cNvPr id="11" name="Text 8"/>
          <p:cNvSpPr/>
          <p:nvPr/>
        </p:nvSpPr>
        <p:spPr>
          <a:xfrm>
            <a:off x="822960" y="3383280"/>
            <a:ext cx="7498080" cy="320040"/>
          </a:xfrm>
          <a:prstGeom prst="rect">
            <a:avLst/>
          </a:prstGeom>
          <a:noFill/>
          <a:ln/>
        </p:spPr>
        <p:txBody>
          <a:bodyPr wrap="square" rtlCol="0" anchor="ctr"/>
          <a:lstStyle/>
          <a:p>
            <a:pPr algn="ctr" indent="0" marL="0">
              <a:buNone/>
            </a:pPr>
            <a:r>
              <a:rPr lang="en-US" sz="1300" b="1" dirty="0">
                <a:solidFill>
                  <a:srgbClr val="55C8E8"/>
                </a:solidFill>
                <a:latin typeface="Calibri" pitchFamily="34" charset="0"/>
                <a:ea typeface="Calibri" pitchFamily="34" charset="-122"/>
                <a:cs typeface="Calibri" pitchFamily="34" charset="-120"/>
              </a:rPr>
              <a:t>Your role: Florida Historian · Student Research Team</a:t>
            </a:r>
            <a:endParaRPr lang="en-US" sz="1300" dirty="0"/>
          </a:p>
        </p:txBody>
      </p:sp>
      <p:sp>
        <p:nvSpPr>
          <p:cNvPr id="12" name="Text 9"/>
          <p:cNvSpPr/>
          <p:nvPr/>
        </p:nvSpPr>
        <p:spPr>
          <a:xfrm>
            <a:off x="822960" y="3794760"/>
            <a:ext cx="7498080" cy="411480"/>
          </a:xfrm>
          <a:prstGeom prst="rect">
            <a:avLst/>
          </a:prstGeom>
          <a:noFill/>
          <a:ln/>
        </p:spPr>
        <p:txBody>
          <a:bodyPr wrap="square" rtlCol="0" anchor="ctr"/>
          <a:lstStyle/>
          <a:p>
            <a:pPr algn="ctr" indent="0" marL="0">
              <a:buNone/>
            </a:pPr>
            <a:r>
              <a:rPr lang="en-US" sz="1300" i="1" dirty="0">
                <a:solidFill>
                  <a:srgbClr val="F0F2F8"/>
                </a:solidFill>
                <a:latin typeface="Calibri" pitchFamily="34" charset="0"/>
                <a:ea typeface="Calibri" pitchFamily="34" charset="-122"/>
                <a:cs typeface="Calibri" pitchFamily="34" charset="-120"/>
              </a:rPr>
              <a:t>Today's question: How did Florida's first peoples solve food, shelter, tools, and resources?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228600"/>
            <a:ext cx="8412480" cy="320040"/>
          </a:xfrm>
          <a:prstGeom prst="rect">
            <a:avLst/>
          </a:prstGeom>
          <a:noFill/>
          <a:ln/>
        </p:spPr>
        <p:txBody>
          <a:bodyPr wrap="square" rtlCol="0" anchor="ctr"/>
          <a:lstStyle/>
          <a:p>
            <a:pPr indent="0" marL="0">
              <a:buNone/>
            </a:pPr>
            <a:r>
              <a:rPr lang="en-US" sz="1100" b="1" spc="200" kern="0" dirty="0">
                <a:solidFill>
                  <a:srgbClr val="7A88A8"/>
                </a:solidFill>
                <a:latin typeface="Calibri" pitchFamily="34" charset="0"/>
                <a:ea typeface="Calibri" pitchFamily="34" charset="-122"/>
                <a:cs typeface="Calibri" pitchFamily="34" charset="-120"/>
              </a:rPr>
              <a:t>TODAY'S PATH</a:t>
            </a:r>
            <a:endParaRPr lang="en-US" sz="1100" dirty="0"/>
          </a:p>
        </p:txBody>
      </p:sp>
      <p:sp>
        <p:nvSpPr>
          <p:cNvPr id="4" name="Text 2"/>
          <p:cNvSpPr/>
          <p:nvPr/>
        </p:nvSpPr>
        <p:spPr>
          <a:xfrm>
            <a:off x="365760" y="548640"/>
            <a:ext cx="8412480" cy="59436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Four Problems, Many Clever Solutions</a:t>
            </a:r>
            <a:endParaRPr lang="en-US" sz="2600" dirty="0"/>
          </a:p>
        </p:txBody>
      </p:sp>
      <p:sp>
        <p:nvSpPr>
          <p:cNvPr id="5" name="Shape 3"/>
          <p:cNvSpPr/>
          <p:nvPr/>
        </p:nvSpPr>
        <p:spPr>
          <a:xfrm>
            <a:off x="365760" y="1280160"/>
            <a:ext cx="457200" cy="457200"/>
          </a:xfrm>
          <a:prstGeom prst="roundRect">
            <a:avLst>
              <a:gd name="adj" fmla="val 20000"/>
            </a:avLst>
          </a:prstGeom>
          <a:solidFill>
            <a:srgbClr val="1A8A7D"/>
          </a:solidFill>
          <a:ln w="12700">
            <a:solidFill>
              <a:srgbClr val="1A8A7D"/>
            </a:solidFill>
            <a:prstDash val="solid"/>
          </a:ln>
        </p:spPr>
      </p:sp>
      <p:sp>
        <p:nvSpPr>
          <p:cNvPr id="6" name="Text 4"/>
          <p:cNvSpPr/>
          <p:nvPr/>
        </p:nvSpPr>
        <p:spPr>
          <a:xfrm>
            <a:off x="365760" y="1325880"/>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60120" y="1298448"/>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The Environment Clue</a:t>
            </a:r>
            <a:endParaRPr lang="en-US" sz="1400" dirty="0"/>
          </a:p>
        </p:txBody>
      </p:sp>
      <p:sp>
        <p:nvSpPr>
          <p:cNvPr id="8" name="Text 6"/>
          <p:cNvSpPr/>
          <p:nvPr/>
        </p:nvSpPr>
        <p:spPr>
          <a:xfrm>
            <a:off x="960120" y="1527048"/>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Look at a Florida landscape — predict what a community would need</a:t>
            </a:r>
            <a:endParaRPr lang="en-US" sz="1100" dirty="0"/>
          </a:p>
        </p:txBody>
      </p:sp>
      <p:sp>
        <p:nvSpPr>
          <p:cNvPr id="9" name="Shape 7"/>
          <p:cNvSpPr/>
          <p:nvPr/>
        </p:nvSpPr>
        <p:spPr>
          <a:xfrm>
            <a:off x="365760" y="1938528"/>
            <a:ext cx="457200" cy="457200"/>
          </a:xfrm>
          <a:prstGeom prst="roundRect">
            <a:avLst>
              <a:gd name="adj" fmla="val 20000"/>
            </a:avLst>
          </a:prstGeom>
          <a:solidFill>
            <a:srgbClr val="1A8A7D"/>
          </a:solidFill>
          <a:ln w="12700">
            <a:solidFill>
              <a:srgbClr val="1A8A7D"/>
            </a:solidFill>
            <a:prstDash val="solid"/>
          </a:ln>
        </p:spPr>
      </p:sp>
      <p:sp>
        <p:nvSpPr>
          <p:cNvPr id="10" name="Text 8"/>
          <p:cNvSpPr/>
          <p:nvPr/>
        </p:nvSpPr>
        <p:spPr>
          <a:xfrm>
            <a:off x="365760" y="1984248"/>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960120" y="1956816"/>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Food Solutions</a:t>
            </a:r>
            <a:endParaRPr lang="en-US" sz="1400" dirty="0"/>
          </a:p>
        </p:txBody>
      </p:sp>
      <p:sp>
        <p:nvSpPr>
          <p:cNvPr id="12" name="Text 10"/>
          <p:cNvSpPr/>
          <p:nvPr/>
        </p:nvSpPr>
        <p:spPr>
          <a:xfrm>
            <a:off x="960120" y="2185416"/>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How different peoples adapted to different Florida environments</a:t>
            </a:r>
            <a:endParaRPr lang="en-US" sz="1100" dirty="0"/>
          </a:p>
        </p:txBody>
      </p:sp>
      <p:sp>
        <p:nvSpPr>
          <p:cNvPr id="13" name="Shape 11"/>
          <p:cNvSpPr/>
          <p:nvPr/>
        </p:nvSpPr>
        <p:spPr>
          <a:xfrm>
            <a:off x="365760" y="2596896"/>
            <a:ext cx="457200" cy="457200"/>
          </a:xfrm>
          <a:prstGeom prst="roundRect">
            <a:avLst>
              <a:gd name="adj" fmla="val 20000"/>
            </a:avLst>
          </a:prstGeom>
          <a:solidFill>
            <a:srgbClr val="1A8A7D"/>
          </a:solidFill>
          <a:ln w="12700">
            <a:solidFill>
              <a:srgbClr val="1A8A7D"/>
            </a:solidFill>
            <a:prstDash val="solid"/>
          </a:ln>
        </p:spPr>
      </p:sp>
      <p:sp>
        <p:nvSpPr>
          <p:cNvPr id="14" name="Text 12"/>
          <p:cNvSpPr/>
          <p:nvPr/>
        </p:nvSpPr>
        <p:spPr>
          <a:xfrm>
            <a:off x="365760" y="2642616"/>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960120" y="2615184"/>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Shelter and Tools</a:t>
            </a:r>
            <a:endParaRPr lang="en-US" sz="1400" dirty="0"/>
          </a:p>
        </p:txBody>
      </p:sp>
      <p:sp>
        <p:nvSpPr>
          <p:cNvPr id="16" name="Text 14"/>
          <p:cNvSpPr/>
          <p:nvPr/>
        </p:nvSpPr>
        <p:spPr>
          <a:xfrm>
            <a:off x="960120" y="2843784"/>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The chickee, dugout canoe, and other brilliant designs</a:t>
            </a:r>
            <a:endParaRPr lang="en-US" sz="1100" dirty="0"/>
          </a:p>
        </p:txBody>
      </p:sp>
      <p:sp>
        <p:nvSpPr>
          <p:cNvPr id="17" name="Shape 15"/>
          <p:cNvSpPr/>
          <p:nvPr/>
        </p:nvSpPr>
        <p:spPr>
          <a:xfrm>
            <a:off x="365760" y="3255264"/>
            <a:ext cx="457200" cy="457200"/>
          </a:xfrm>
          <a:prstGeom prst="roundRect">
            <a:avLst>
              <a:gd name="adj" fmla="val 20000"/>
            </a:avLst>
          </a:prstGeom>
          <a:solidFill>
            <a:srgbClr val="1A8A7D"/>
          </a:solidFill>
          <a:ln w="12700">
            <a:solidFill>
              <a:srgbClr val="1A8A7D"/>
            </a:solidFill>
            <a:prstDash val="solid"/>
          </a:ln>
        </p:spPr>
      </p:sp>
      <p:sp>
        <p:nvSpPr>
          <p:cNvPr id="18" name="Text 16"/>
          <p:cNvSpPr/>
          <p:nvPr/>
        </p:nvSpPr>
        <p:spPr>
          <a:xfrm>
            <a:off x="365760" y="3300984"/>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960120" y="3273552"/>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Source Study — Real Artifacts</a:t>
            </a:r>
            <a:endParaRPr lang="en-US" sz="1400" dirty="0"/>
          </a:p>
        </p:txBody>
      </p:sp>
      <p:sp>
        <p:nvSpPr>
          <p:cNvPr id="20" name="Text 18"/>
          <p:cNvSpPr/>
          <p:nvPr/>
        </p:nvSpPr>
        <p:spPr>
          <a:xfrm>
            <a:off x="960120" y="3502152"/>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Matching tools to environments using physical evidence</a:t>
            </a:r>
            <a:endParaRPr lang="en-US" sz="1100" dirty="0"/>
          </a:p>
        </p:txBody>
      </p:sp>
      <p:sp>
        <p:nvSpPr>
          <p:cNvPr id="21" name="Shape 19"/>
          <p:cNvSpPr/>
          <p:nvPr/>
        </p:nvSpPr>
        <p:spPr>
          <a:xfrm>
            <a:off x="365760" y="3913632"/>
            <a:ext cx="457200" cy="457200"/>
          </a:xfrm>
          <a:prstGeom prst="roundRect">
            <a:avLst>
              <a:gd name="adj" fmla="val 20000"/>
            </a:avLst>
          </a:prstGeom>
          <a:solidFill>
            <a:srgbClr val="1A8A7D"/>
          </a:solidFill>
          <a:ln w="12700">
            <a:solidFill>
              <a:srgbClr val="1A8A7D"/>
            </a:solidFill>
            <a:prstDash val="solid"/>
          </a:ln>
        </p:spPr>
      </p:sp>
      <p:sp>
        <p:nvSpPr>
          <p:cNvPr id="22" name="Text 20"/>
          <p:cNvSpPr/>
          <p:nvPr/>
        </p:nvSpPr>
        <p:spPr>
          <a:xfrm>
            <a:off x="365760" y="3959352"/>
            <a:ext cx="457200"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960120" y="3931920"/>
            <a:ext cx="3200400" cy="22860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Guided Practice + Assignment</a:t>
            </a:r>
            <a:endParaRPr lang="en-US" sz="1400" dirty="0"/>
          </a:p>
        </p:txBody>
      </p:sp>
      <p:sp>
        <p:nvSpPr>
          <p:cNvPr id="24" name="Text 22"/>
          <p:cNvSpPr/>
          <p:nvPr/>
        </p:nvSpPr>
        <p:spPr>
          <a:xfrm>
            <a:off x="960120" y="4160520"/>
            <a:ext cx="7498080" cy="201168"/>
          </a:xfrm>
          <a:prstGeom prst="rect">
            <a:avLst/>
          </a:prstGeom>
          <a:noFill/>
          <a:ln/>
        </p:spPr>
        <p:txBody>
          <a:bodyPr wrap="square" rtlCol="0" anchor="ctr"/>
          <a:lstStyle/>
          <a:p>
            <a:pPr indent="0" marL="0">
              <a:buNone/>
            </a:pPr>
            <a:r>
              <a:rPr lang="en-US" sz="1100" dirty="0">
                <a:solidFill>
                  <a:srgbClr val="7A88A8"/>
                </a:solidFill>
                <a:latin typeface="Calibri" pitchFamily="34" charset="0"/>
                <a:ea typeface="Calibri" pitchFamily="34" charset="-122"/>
                <a:cs typeface="Calibri" pitchFamily="34" charset="-120"/>
              </a:rPr>
              <a:t>Catalog one object with evidence and honest language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502920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CLUE BOX — ENVIRONMENT</a:t>
            </a:r>
            <a:endParaRPr lang="en-US" sz="1000" dirty="0"/>
          </a:p>
        </p:txBody>
      </p:sp>
      <p:sp>
        <p:nvSpPr>
          <p:cNvPr id="4" name="Text 2"/>
          <p:cNvSpPr/>
          <p:nvPr/>
        </p:nvSpPr>
        <p:spPr>
          <a:xfrm>
            <a:off x="365760" y="457200"/>
            <a:ext cx="5029200" cy="50292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If You Lived Here, What Would You Do?</a:t>
            </a:r>
            <a:endParaRPr lang="en-US" sz="2000" dirty="0"/>
          </a:p>
        </p:txBody>
      </p:sp>
      <p:sp>
        <p:nvSpPr>
          <p:cNvPr id="5" name="Shape 3"/>
          <p:cNvSpPr/>
          <p:nvPr/>
        </p:nvSpPr>
        <p:spPr>
          <a:xfrm>
            <a:off x="365760" y="1051560"/>
            <a:ext cx="4754880" cy="3474720"/>
          </a:xfrm>
          <a:prstGeom prst="roundRect">
            <a:avLst>
              <a:gd name="adj" fmla="val 3158"/>
            </a:avLst>
          </a:prstGeom>
          <a:solidFill>
            <a:srgbClr val="E2E8F4"/>
          </a:solidFill>
          <a:ln w="19050">
            <a:solidFill>
              <a:srgbClr val="B0B8CC"/>
            </a:solidFill>
            <a:prstDash val="dash"/>
          </a:ln>
        </p:spPr>
      </p:sp>
      <p:sp>
        <p:nvSpPr>
          <p:cNvPr id="6" name="Text 4"/>
          <p:cNvSpPr/>
          <p:nvPr/>
        </p:nvSpPr>
        <p:spPr>
          <a:xfrm>
            <a:off x="365760" y="105156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325880"/>
            <a:ext cx="448056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Aerial view of the Florida Everglades: sawgrass marshes, slow-moving water, cypress trees, wildlife visible (birds, fish). No human figures. Vast, wild, lush green.</a:t>
            </a:r>
            <a:endParaRPr lang="en-US" sz="1100" dirty="0"/>
          </a:p>
        </p:txBody>
      </p:sp>
      <p:sp>
        <p:nvSpPr>
          <p:cNvPr id="8" name="Text 6"/>
          <p:cNvSpPr/>
          <p:nvPr/>
        </p:nvSpPr>
        <p:spPr>
          <a:xfrm>
            <a:off x="365760" y="4572000"/>
            <a:ext cx="4754880" cy="256032"/>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5 seconds — observe before you answer.</a:t>
            </a:r>
            <a:endParaRPr lang="en-US" sz="1100" dirty="0"/>
          </a:p>
        </p:txBody>
      </p:sp>
      <p:sp>
        <p:nvSpPr>
          <p:cNvPr id="9" name="Shape 7"/>
          <p:cNvSpPr/>
          <p:nvPr/>
        </p:nvSpPr>
        <p:spPr>
          <a:xfrm>
            <a:off x="5303520" y="1051560"/>
            <a:ext cx="3520440" cy="2011680"/>
          </a:xfrm>
          <a:prstGeom prst="roundRect">
            <a:avLst>
              <a:gd name="adj" fmla="val 5455"/>
            </a:avLst>
          </a:prstGeom>
          <a:solidFill>
            <a:srgbClr val="FFF3DC"/>
          </a:solidFill>
          <a:ln w="19050">
            <a:solidFill>
              <a:srgbClr val="F5E6C8"/>
            </a:solidFill>
            <a:prstDash val="solid"/>
          </a:ln>
        </p:spPr>
      </p:sp>
      <p:sp>
        <p:nvSpPr>
          <p:cNvPr id="10" name="Text 8"/>
          <p:cNvSpPr/>
          <p:nvPr/>
        </p:nvSpPr>
        <p:spPr>
          <a:xfrm>
            <a:off x="5440680" y="1106424"/>
            <a:ext cx="32461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440680" y="1307592"/>
            <a:ext cx="324612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lived here, I would eat...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shelter I would build would be... because this environment has..."</a:t>
            </a:r>
            <a:endParaRPr lang="en-US" sz="1200" dirty="0"/>
          </a:p>
        </p:txBody>
      </p:sp>
      <p:sp>
        <p:nvSpPr>
          <p:cNvPr id="12" name="Shape 10"/>
          <p:cNvSpPr/>
          <p:nvPr/>
        </p:nvSpPr>
        <p:spPr>
          <a:xfrm>
            <a:off x="5303520" y="3200400"/>
            <a:ext cx="3520440" cy="1645920"/>
          </a:xfrm>
          <a:prstGeom prst="roundRect">
            <a:avLst>
              <a:gd name="adj" fmla="val 6667"/>
            </a:avLst>
          </a:prstGeom>
          <a:solidFill>
            <a:srgbClr val="FFFFFF"/>
          </a:solidFill>
          <a:ln w="12700">
            <a:solidFill>
              <a:srgbClr val="1A8A7D"/>
            </a:solidFill>
            <a:prstDash val="solid"/>
          </a:ln>
        </p:spPr>
      </p:sp>
      <p:sp>
        <p:nvSpPr>
          <p:cNvPr id="13" name="Text 11"/>
          <p:cNvSpPr/>
          <p:nvPr/>
        </p:nvSpPr>
        <p:spPr>
          <a:xfrm>
            <a:off x="5486400" y="3291840"/>
            <a:ext cx="315468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ENVIRONMENT CHECKLIST</a:t>
            </a:r>
            <a:endParaRPr lang="en-US" sz="900" dirty="0"/>
          </a:p>
        </p:txBody>
      </p:sp>
      <p:sp>
        <p:nvSpPr>
          <p:cNvPr id="14" name="Text 12"/>
          <p:cNvSpPr/>
          <p:nvPr/>
        </p:nvSpPr>
        <p:spPr>
          <a:xfrm>
            <a:off x="5486400" y="3566160"/>
            <a:ext cx="3154680" cy="118872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What food is nearby?</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What building materials exist?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What challenges does this place create?</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What tools would be most useful?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DISCUSSION — ENVIRONMENT AND FOOD</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Why Didn't Everyone Eat the Same Thing?</a:t>
            </a:r>
            <a:endParaRPr lang="en-US" sz="2400" dirty="0"/>
          </a:p>
        </p:txBody>
      </p:sp>
      <p:sp>
        <p:nvSpPr>
          <p:cNvPr id="5" name="Shape 3"/>
          <p:cNvSpPr/>
          <p:nvPr/>
        </p:nvSpPr>
        <p:spPr>
          <a:xfrm>
            <a:off x="365760" y="1143000"/>
            <a:ext cx="512064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23444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490472"/>
            <a:ext cx="475488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people in the coastal Everglades grow corn? What's stopping them?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inland peoples get their protein from the sea? What would that require?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you think the Apalachee (north Florida) grew large corn fields when the Calusa (southwest) did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the environment decide everything — or do people also make choices? Give evidence.</a:t>
            </a:r>
            <a:endParaRPr lang="en-US" sz="1100" dirty="0"/>
          </a:p>
        </p:txBody>
      </p:sp>
      <p:sp>
        <p:nvSpPr>
          <p:cNvPr id="8" name="Shape 6"/>
          <p:cNvSpPr/>
          <p:nvPr/>
        </p:nvSpPr>
        <p:spPr>
          <a:xfrm>
            <a:off x="5669280" y="1143000"/>
            <a:ext cx="320040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806440" y="11978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399032"/>
            <a:ext cx="292608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Calusa didn't farm much because their environment..."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"Knowing the food in your environment is a skill because..."</a:t>
            </a:r>
            <a:endParaRPr lang="en-US" sz="1200" dirty="0"/>
          </a:p>
        </p:txBody>
      </p:sp>
      <p:sp>
        <p:nvSpPr>
          <p:cNvPr id="11" name="Shape 9"/>
          <p:cNvSpPr/>
          <p:nvPr/>
        </p:nvSpPr>
        <p:spPr>
          <a:xfrm>
            <a:off x="5669280" y="3566160"/>
            <a:ext cx="3200400" cy="1188720"/>
          </a:xfrm>
          <a:prstGeom prst="roundRect">
            <a:avLst>
              <a:gd name="adj" fmla="val 7692"/>
            </a:avLst>
          </a:prstGeom>
          <a:solidFill>
            <a:srgbClr val="FFFFFF"/>
          </a:solidFill>
          <a:ln w="12700">
            <a:solidFill>
              <a:srgbClr val="1A8A7D"/>
            </a:solidFill>
            <a:prstDash val="solid"/>
          </a:ln>
        </p:spPr>
      </p:sp>
      <p:sp>
        <p:nvSpPr>
          <p:cNvPr id="12" name="Text 10"/>
          <p:cNvSpPr/>
          <p:nvPr/>
        </p:nvSpPr>
        <p:spPr>
          <a:xfrm>
            <a:off x="5852160" y="3657600"/>
            <a:ext cx="283464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THREE FLORIDA PEOPLES — FOOD</a:t>
            </a:r>
            <a:endParaRPr lang="en-US" sz="900" dirty="0"/>
          </a:p>
        </p:txBody>
      </p:sp>
      <p:sp>
        <p:nvSpPr>
          <p:cNvPr id="13" name="Text 11"/>
          <p:cNvSpPr/>
          <p:nvPr/>
        </p:nvSpPr>
        <p:spPr>
          <a:xfrm>
            <a:off x="5852160" y="3931920"/>
            <a:ext cx="2834640" cy="73152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Apalachee: corn, beans, squash</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Timucua: deer, fish, gardens</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Calusa/Tequesta: fish, oysters, sea animals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34B76F"/>
          </a:solidFill>
          <a:ln w="12700">
            <a:solidFill>
              <a:srgbClr val="34B76F"/>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34B76F"/>
                </a:solidFill>
                <a:latin typeface="Calibri" pitchFamily="34" charset="0"/>
                <a:ea typeface="Calibri" pitchFamily="34" charset="-122"/>
                <a:cs typeface="Calibri" pitchFamily="34" charset="-120"/>
              </a:rPr>
              <a:t>YOU DISCOVERED: FOOD SOLUTIONS</a:t>
            </a:r>
            <a:endParaRPr lang="en-US" sz="1100" dirty="0"/>
          </a:p>
        </p:txBody>
      </p:sp>
      <p:sp>
        <p:nvSpPr>
          <p:cNvPr id="5" name="Text 3"/>
          <p:cNvSpPr/>
          <p:nvPr/>
        </p:nvSpPr>
        <p:spPr>
          <a:xfrm>
            <a:off x="457200" y="502920"/>
            <a:ext cx="8229600" cy="5943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Different Lands, Different Strategies</a:t>
            </a:r>
            <a:endParaRPr lang="en-US" sz="2600" dirty="0"/>
          </a:p>
        </p:txBody>
      </p:sp>
      <p:sp>
        <p:nvSpPr>
          <p:cNvPr id="6" name="Shape 4"/>
          <p:cNvSpPr/>
          <p:nvPr/>
        </p:nvSpPr>
        <p:spPr>
          <a:xfrm>
            <a:off x="365760" y="1261872"/>
            <a:ext cx="1737360" cy="502920"/>
          </a:xfrm>
          <a:prstGeom prst="roundRect">
            <a:avLst>
              <a:gd name="adj" fmla="val 18182"/>
            </a:avLst>
          </a:prstGeom>
          <a:solidFill>
            <a:srgbClr val="34B76F"/>
          </a:solidFill>
          <a:ln w="12700">
            <a:solidFill>
              <a:srgbClr val="34B76F"/>
            </a:solidFill>
            <a:prstDash val="solid"/>
          </a:ln>
        </p:spPr>
      </p:sp>
      <p:sp>
        <p:nvSpPr>
          <p:cNvPr id="7" name="Text 5"/>
          <p:cNvSpPr/>
          <p:nvPr/>
        </p:nvSpPr>
        <p:spPr>
          <a:xfrm>
            <a:off x="365760" y="1335024"/>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APALACHEE</a:t>
            </a:r>
            <a:endParaRPr lang="en-US" sz="1000" dirty="0"/>
          </a:p>
        </p:txBody>
      </p:sp>
      <p:sp>
        <p:nvSpPr>
          <p:cNvPr id="8" name="Text 6"/>
          <p:cNvSpPr/>
          <p:nvPr/>
        </p:nvSpPr>
        <p:spPr>
          <a:xfrm>
            <a:off x="2286000" y="1307592"/>
            <a:ext cx="6492240" cy="530352"/>
          </a:xfrm>
          <a:prstGeom prst="rect">
            <a:avLst/>
          </a:prstGeom>
          <a:noFill/>
          <a:ln/>
        </p:spPr>
        <p:txBody>
          <a:bodyPr wrap="square" rtlCol="0" anchor="ctr"/>
          <a:lstStyle/>
          <a:p>
            <a:pPr indent="0" marL="0">
              <a:buNone/>
            </a:pPr>
            <a:r>
              <a:rPr lang="en-US" sz="1250" dirty="0">
                <a:solidFill>
                  <a:srgbClr val="F0F2F8"/>
                </a:solidFill>
                <a:latin typeface="Calibri" pitchFamily="34" charset="0"/>
                <a:ea typeface="Calibri" pitchFamily="34" charset="-122"/>
                <a:cs typeface="Calibri" pitchFamily="34" charset="-120"/>
              </a:rPr>
              <a:t>North Florida. Grew big fields of corn, beans, and squash — 'Three Sisters.' Best farming land in Florida.</a:t>
            </a:r>
            <a:endParaRPr lang="en-US" sz="1250" dirty="0"/>
          </a:p>
        </p:txBody>
      </p:sp>
      <p:sp>
        <p:nvSpPr>
          <p:cNvPr id="9" name="Shape 7"/>
          <p:cNvSpPr/>
          <p:nvPr/>
        </p:nvSpPr>
        <p:spPr>
          <a:xfrm>
            <a:off x="365760" y="2011680"/>
            <a:ext cx="1737360" cy="502920"/>
          </a:xfrm>
          <a:prstGeom prst="roundRect">
            <a:avLst>
              <a:gd name="adj" fmla="val 18182"/>
            </a:avLst>
          </a:prstGeom>
          <a:solidFill>
            <a:srgbClr val="1A8A7D"/>
          </a:solidFill>
          <a:ln w="12700">
            <a:solidFill>
              <a:srgbClr val="1A8A7D"/>
            </a:solidFill>
            <a:prstDash val="solid"/>
          </a:ln>
        </p:spPr>
      </p:sp>
      <p:sp>
        <p:nvSpPr>
          <p:cNvPr id="10" name="Text 8"/>
          <p:cNvSpPr/>
          <p:nvPr/>
        </p:nvSpPr>
        <p:spPr>
          <a:xfrm>
            <a:off x="365760" y="2084832"/>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TIMUCUA</a:t>
            </a:r>
            <a:endParaRPr lang="en-US" sz="1000" dirty="0"/>
          </a:p>
        </p:txBody>
      </p:sp>
      <p:sp>
        <p:nvSpPr>
          <p:cNvPr id="11" name="Text 9"/>
          <p:cNvSpPr/>
          <p:nvPr/>
        </p:nvSpPr>
        <p:spPr>
          <a:xfrm>
            <a:off x="2286000" y="2057400"/>
            <a:ext cx="6492240" cy="530352"/>
          </a:xfrm>
          <a:prstGeom prst="rect">
            <a:avLst/>
          </a:prstGeom>
          <a:noFill/>
          <a:ln/>
        </p:spPr>
        <p:txBody>
          <a:bodyPr wrap="square" rtlCol="0" anchor="ctr"/>
          <a:lstStyle/>
          <a:p>
            <a:pPr indent="0" marL="0">
              <a:buNone/>
            </a:pPr>
            <a:r>
              <a:rPr lang="en-US" sz="1250" dirty="0">
                <a:solidFill>
                  <a:srgbClr val="F0F2F8"/>
                </a:solidFill>
                <a:latin typeface="Calibri" pitchFamily="34" charset="0"/>
                <a:ea typeface="Calibri" pitchFamily="34" charset="-122"/>
                <a:cs typeface="Calibri" pitchFamily="34" charset="-120"/>
              </a:rPr>
              <a:t>Inland forests and rivers. Hunted deer, fished freshwater rivers, kept gardens of corn and vegetables.</a:t>
            </a:r>
            <a:endParaRPr lang="en-US" sz="1250" dirty="0"/>
          </a:p>
        </p:txBody>
      </p:sp>
      <p:sp>
        <p:nvSpPr>
          <p:cNvPr id="12" name="Shape 10"/>
          <p:cNvSpPr/>
          <p:nvPr/>
        </p:nvSpPr>
        <p:spPr>
          <a:xfrm>
            <a:off x="365760" y="2761488"/>
            <a:ext cx="1737360" cy="502920"/>
          </a:xfrm>
          <a:prstGeom prst="roundRect">
            <a:avLst>
              <a:gd name="adj" fmla="val 18182"/>
            </a:avLst>
          </a:prstGeom>
          <a:solidFill>
            <a:srgbClr val="55C8E8"/>
          </a:solidFill>
          <a:ln w="12700">
            <a:solidFill>
              <a:srgbClr val="55C8E8"/>
            </a:solidFill>
            <a:prstDash val="solid"/>
          </a:ln>
        </p:spPr>
      </p:sp>
      <p:sp>
        <p:nvSpPr>
          <p:cNvPr id="13" name="Text 11"/>
          <p:cNvSpPr/>
          <p:nvPr/>
        </p:nvSpPr>
        <p:spPr>
          <a:xfrm>
            <a:off x="365760" y="2834640"/>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CALUSA + TEQUESTA</a:t>
            </a:r>
            <a:endParaRPr lang="en-US" sz="1000" dirty="0"/>
          </a:p>
        </p:txBody>
      </p:sp>
      <p:sp>
        <p:nvSpPr>
          <p:cNvPr id="14" name="Text 12"/>
          <p:cNvSpPr/>
          <p:nvPr/>
        </p:nvSpPr>
        <p:spPr>
          <a:xfrm>
            <a:off x="2286000" y="2807208"/>
            <a:ext cx="6492240" cy="530352"/>
          </a:xfrm>
          <a:prstGeom prst="rect">
            <a:avLst/>
          </a:prstGeom>
          <a:noFill/>
          <a:ln/>
        </p:spPr>
        <p:txBody>
          <a:bodyPr wrap="square" rtlCol="0" anchor="ctr"/>
          <a:lstStyle/>
          <a:p>
            <a:pPr indent="0" marL="0">
              <a:buNone/>
            </a:pPr>
            <a:r>
              <a:rPr lang="en-US" sz="1250" dirty="0">
                <a:solidFill>
                  <a:srgbClr val="F0F2F8"/>
                </a:solidFill>
                <a:latin typeface="Calibri" pitchFamily="34" charset="0"/>
                <a:ea typeface="Calibri" pitchFamily="34" charset="-122"/>
                <a:cs typeface="Calibri" pitchFamily="34" charset="-120"/>
              </a:rPr>
              <a:t>Southwest coast and mangroves. Fish, oysters, conch, sea turtle, manatee — the sea gave them more than enough.</a:t>
            </a:r>
            <a:endParaRPr lang="en-US" sz="1250" dirty="0"/>
          </a:p>
        </p:txBody>
      </p:sp>
      <p:sp>
        <p:nvSpPr>
          <p:cNvPr id="15" name="Shape 13"/>
          <p:cNvSpPr/>
          <p:nvPr/>
        </p:nvSpPr>
        <p:spPr>
          <a:xfrm>
            <a:off x="365760" y="3511296"/>
            <a:ext cx="1737360" cy="502920"/>
          </a:xfrm>
          <a:prstGeom prst="roundRect">
            <a:avLst>
              <a:gd name="adj" fmla="val 18182"/>
            </a:avLst>
          </a:prstGeom>
          <a:solidFill>
            <a:srgbClr val="D4943A"/>
          </a:solidFill>
          <a:ln w="12700">
            <a:solidFill>
              <a:srgbClr val="D4943A"/>
            </a:solidFill>
            <a:prstDash val="solid"/>
          </a:ln>
        </p:spPr>
      </p:sp>
      <p:sp>
        <p:nvSpPr>
          <p:cNvPr id="16" name="Text 14"/>
          <p:cNvSpPr/>
          <p:nvPr/>
        </p:nvSpPr>
        <p:spPr>
          <a:xfrm>
            <a:off x="365760" y="3584448"/>
            <a:ext cx="17373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PRESERVATION</a:t>
            </a:r>
            <a:endParaRPr lang="en-US" sz="1000" dirty="0"/>
          </a:p>
        </p:txBody>
      </p:sp>
      <p:sp>
        <p:nvSpPr>
          <p:cNvPr id="17" name="Text 15"/>
          <p:cNvSpPr/>
          <p:nvPr/>
        </p:nvSpPr>
        <p:spPr>
          <a:xfrm>
            <a:off x="2286000" y="3557016"/>
            <a:ext cx="6492240" cy="530352"/>
          </a:xfrm>
          <a:prstGeom prst="rect">
            <a:avLst/>
          </a:prstGeom>
          <a:noFill/>
          <a:ln/>
        </p:spPr>
        <p:txBody>
          <a:bodyPr wrap="square" rtlCol="0" anchor="ctr"/>
          <a:lstStyle/>
          <a:p>
            <a:pPr indent="0" marL="0">
              <a:buNone/>
            </a:pPr>
            <a:r>
              <a:rPr lang="en-US" sz="1250" dirty="0">
                <a:solidFill>
                  <a:srgbClr val="F0F2F8"/>
                </a:solidFill>
                <a:latin typeface="Calibri" pitchFamily="34" charset="0"/>
                <a:ea typeface="Calibri" pitchFamily="34" charset="-122"/>
                <a:cs typeface="Calibri" pitchFamily="34" charset="-120"/>
              </a:rPr>
              <a:t>All groups smoked fish, stored corn in baskets/pots. Deep knowledge = food all year, not just harvest season.</a:t>
            </a:r>
            <a:endParaRPr lang="en-US" sz="1250" dirty="0"/>
          </a:p>
        </p:txBody>
      </p:sp>
      <p:sp>
        <p:nvSpPr>
          <p:cNvPr id="18" name="Shape 16"/>
          <p:cNvSpPr/>
          <p:nvPr/>
        </p:nvSpPr>
        <p:spPr>
          <a:xfrm>
            <a:off x="365760" y="4297680"/>
            <a:ext cx="8412480" cy="502920"/>
          </a:xfrm>
          <a:prstGeom prst="roundRect">
            <a:avLst>
              <a:gd name="adj" fmla="val 18182"/>
            </a:avLst>
          </a:prstGeom>
          <a:solidFill>
            <a:srgbClr val="1A2D5A"/>
          </a:solidFill>
          <a:ln w="12700">
            <a:solidFill>
              <a:srgbClr val="34B76F"/>
            </a:solidFill>
            <a:prstDash val="solid"/>
          </a:ln>
        </p:spPr>
      </p:sp>
      <p:sp>
        <p:nvSpPr>
          <p:cNvPr id="19" name="Text 17"/>
          <p:cNvSpPr/>
          <p:nvPr/>
        </p:nvSpPr>
        <p:spPr>
          <a:xfrm>
            <a:off x="548640" y="4361688"/>
            <a:ext cx="8046720" cy="347472"/>
          </a:xfrm>
          <a:prstGeom prst="rect">
            <a:avLst/>
          </a:prstGeom>
          <a:noFill/>
          <a:ln/>
        </p:spPr>
        <p:txBody>
          <a:bodyPr wrap="square"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RETRIEVAL: Name the food strategy for ONE Florida people from memory. Include the environment that made it work.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502920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CLUE BOX — SHELTER</a:t>
            </a:r>
            <a:endParaRPr lang="en-US" sz="1000" dirty="0"/>
          </a:p>
        </p:txBody>
      </p:sp>
      <p:sp>
        <p:nvSpPr>
          <p:cNvPr id="4" name="Text 2"/>
          <p:cNvSpPr/>
          <p:nvPr/>
        </p:nvSpPr>
        <p:spPr>
          <a:xfrm>
            <a:off x="365760" y="457200"/>
            <a:ext cx="5029200" cy="50292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The Smartest House in Florida</a:t>
            </a:r>
            <a:endParaRPr lang="en-US" sz="2000" dirty="0"/>
          </a:p>
        </p:txBody>
      </p:sp>
      <p:sp>
        <p:nvSpPr>
          <p:cNvPr id="5" name="Shape 3"/>
          <p:cNvSpPr/>
          <p:nvPr/>
        </p:nvSpPr>
        <p:spPr>
          <a:xfrm>
            <a:off x="365760" y="1051560"/>
            <a:ext cx="4754880" cy="3474720"/>
          </a:xfrm>
          <a:prstGeom prst="roundRect">
            <a:avLst>
              <a:gd name="adj" fmla="val 3158"/>
            </a:avLst>
          </a:prstGeom>
          <a:solidFill>
            <a:srgbClr val="E2E8F4"/>
          </a:solidFill>
          <a:ln w="19050">
            <a:solidFill>
              <a:srgbClr val="B0B8CC"/>
            </a:solidFill>
            <a:prstDash val="dash"/>
          </a:ln>
        </p:spPr>
      </p:sp>
      <p:sp>
        <p:nvSpPr>
          <p:cNvPr id="6" name="Text 4"/>
          <p:cNvSpPr/>
          <p:nvPr/>
        </p:nvSpPr>
        <p:spPr>
          <a:xfrm>
            <a:off x="365760" y="1051560"/>
            <a:ext cx="47548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325880"/>
            <a:ext cx="448056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Traditional Seminole/Florida peoples chickee structure: raised wooden platform, steep palmetto-thatch roof, open sides with no walls. Surrounded by subtropical vegetation. Respectful, clear photography or illustration. No human figures.</a:t>
            </a:r>
            <a:endParaRPr lang="en-US" sz="1100" dirty="0"/>
          </a:p>
        </p:txBody>
      </p:sp>
      <p:sp>
        <p:nvSpPr>
          <p:cNvPr id="8" name="Text 6"/>
          <p:cNvSpPr/>
          <p:nvPr/>
        </p:nvSpPr>
        <p:spPr>
          <a:xfrm>
            <a:off x="365760" y="4572000"/>
            <a:ext cx="4754880" cy="256032"/>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Why is this house open on all sides?</a:t>
            </a:r>
            <a:endParaRPr lang="en-US" sz="1200" dirty="0"/>
          </a:p>
        </p:txBody>
      </p:sp>
      <p:sp>
        <p:nvSpPr>
          <p:cNvPr id="9" name="Shape 7"/>
          <p:cNvSpPr/>
          <p:nvPr/>
        </p:nvSpPr>
        <p:spPr>
          <a:xfrm>
            <a:off x="5303520" y="1051560"/>
            <a:ext cx="3520440" cy="2011680"/>
          </a:xfrm>
          <a:prstGeom prst="roundRect">
            <a:avLst>
              <a:gd name="adj" fmla="val 5455"/>
            </a:avLst>
          </a:prstGeom>
          <a:solidFill>
            <a:srgbClr val="FFF3DC"/>
          </a:solidFill>
          <a:ln w="19050">
            <a:solidFill>
              <a:srgbClr val="F5E6C8"/>
            </a:solidFill>
            <a:prstDash val="solid"/>
          </a:ln>
        </p:spPr>
      </p:sp>
      <p:sp>
        <p:nvSpPr>
          <p:cNvPr id="10" name="Text 8"/>
          <p:cNvSpPr/>
          <p:nvPr/>
        </p:nvSpPr>
        <p:spPr>
          <a:xfrm>
            <a:off x="5440680" y="1106424"/>
            <a:ext cx="32461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440680" y="1307592"/>
            <a:ext cx="324612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raised floor solves... because Florida has..."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open walls make sense because..."</a:t>
            </a:r>
            <a:endParaRPr lang="en-US" sz="1200" dirty="0"/>
          </a:p>
        </p:txBody>
      </p:sp>
      <p:sp>
        <p:nvSpPr>
          <p:cNvPr id="12" name="Shape 10"/>
          <p:cNvSpPr/>
          <p:nvPr/>
        </p:nvSpPr>
        <p:spPr>
          <a:xfrm>
            <a:off x="5303520" y="3200400"/>
            <a:ext cx="3520440" cy="1645920"/>
          </a:xfrm>
          <a:prstGeom prst="roundRect">
            <a:avLst>
              <a:gd name="adj" fmla="val 6667"/>
            </a:avLst>
          </a:prstGeom>
          <a:solidFill>
            <a:srgbClr val="FFFFFF"/>
          </a:solidFill>
          <a:ln w="12700">
            <a:solidFill>
              <a:srgbClr val="D4943A"/>
            </a:solidFill>
            <a:prstDash val="solid"/>
          </a:ln>
        </p:spPr>
      </p:sp>
      <p:sp>
        <p:nvSpPr>
          <p:cNvPr id="13" name="Text 11"/>
          <p:cNvSpPr/>
          <p:nvPr/>
        </p:nvSpPr>
        <p:spPr>
          <a:xfrm>
            <a:off x="5486400" y="3291840"/>
            <a:ext cx="3154680" cy="274320"/>
          </a:xfrm>
          <a:prstGeom prst="rect">
            <a:avLst/>
          </a:prstGeom>
          <a:noFill/>
          <a:ln/>
        </p:spPr>
        <p:txBody>
          <a:bodyPr wrap="square" rtlCol="0" anchor="ctr"/>
          <a:lstStyle/>
          <a:p>
            <a:pPr indent="0" marL="0">
              <a:buNone/>
            </a:pPr>
            <a:r>
              <a:rPr lang="en-US" sz="900" b="1" spc="120" kern="0" dirty="0">
                <a:solidFill>
                  <a:srgbClr val="D4943A"/>
                </a:solidFill>
                <a:latin typeface="Calibri" pitchFamily="34" charset="0"/>
                <a:ea typeface="Calibri" pitchFamily="34" charset="-122"/>
                <a:cs typeface="Calibri" pitchFamily="34" charset="-120"/>
              </a:rPr>
              <a:t>CHICKEE PARTS — WHAT DO YOU SEE?</a:t>
            </a:r>
            <a:endParaRPr lang="en-US" sz="900" dirty="0"/>
          </a:p>
        </p:txBody>
      </p:sp>
      <p:sp>
        <p:nvSpPr>
          <p:cNvPr id="14" name="Text 12"/>
          <p:cNvSpPr/>
          <p:nvPr/>
        </p:nvSpPr>
        <p:spPr>
          <a:xfrm>
            <a:off x="5486400" y="3611880"/>
            <a:ext cx="3154680" cy="1143000"/>
          </a:xfrm>
          <a:prstGeom prst="rect">
            <a:avLst/>
          </a:prstGeom>
          <a:noFill/>
          <a:ln/>
        </p:spPr>
        <p:txBody>
          <a:bodyPr wrap="square" rtlCol="0" anchor="t"/>
          <a:lstStyle/>
          <a:p>
            <a:pPr indent="0" marL="0">
              <a:buNone/>
            </a:pPr>
            <a:r>
              <a:rPr lang="en-US" sz="1000" dirty="0">
                <a:solidFill>
                  <a:srgbClr val="0E1C42"/>
                </a:solidFill>
                <a:latin typeface="Calibri" pitchFamily="34" charset="0"/>
                <a:ea typeface="Calibri" pitchFamily="34" charset="-122"/>
                <a:cs typeface="Calibri" pitchFamily="34" charset="-120"/>
              </a:rPr>
              <a:t>Raised floor: why elevated?</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Steep roof: what's it shedding?</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Open sides: what's passing through?</a:t>
            </a:r>
            <a:endParaRPr lang="en-US" sz="1000" dirty="0"/>
          </a:p>
          <a:p>
            <a:pPr indent="0" marL="0">
              <a:buNone/>
            </a:pPr>
            <a:r>
              <a:rPr lang="en-US" sz="1000" dirty="0">
                <a:solidFill>
                  <a:srgbClr val="0E1C42"/>
                </a:solidFill>
                <a:latin typeface="Calibri" pitchFamily="34" charset="0"/>
                <a:ea typeface="Calibri" pitchFamily="34" charset="-122"/>
                <a:cs typeface="Calibri" pitchFamily="34" charset="-120"/>
              </a:rPr>
              <a:t>No stone or brick: what materials are available?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DISCUSSION — SHELTER</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Every Part Has a Reason</a:t>
            </a:r>
            <a:endParaRPr lang="en-US" sz="2400" dirty="0"/>
          </a:p>
        </p:txBody>
      </p:sp>
      <p:sp>
        <p:nvSpPr>
          <p:cNvPr id="5" name="Shape 3"/>
          <p:cNvSpPr/>
          <p:nvPr/>
        </p:nvSpPr>
        <p:spPr>
          <a:xfrm>
            <a:off x="365760" y="1143000"/>
            <a:ext cx="512064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23444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490472"/>
            <a:ext cx="475488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you raise the floor instead of just building on the ground in Florida?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 steep thatch roof: is that a cultural choice, or a response to Florida's weather?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Calusa built houses on raised shell platforms over the water. Why? What problem does that solve?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from a cold climate look at a chickee and call it 'simple'? Why would that be wrong?</a:t>
            </a:r>
            <a:endParaRPr lang="en-US" sz="1100" dirty="0"/>
          </a:p>
        </p:txBody>
      </p:sp>
      <p:sp>
        <p:nvSpPr>
          <p:cNvPr id="8" name="Shape 6"/>
          <p:cNvSpPr/>
          <p:nvPr/>
        </p:nvSpPr>
        <p:spPr>
          <a:xfrm>
            <a:off x="5669280" y="1143000"/>
            <a:ext cx="320040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806440" y="11978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806440" y="1399032"/>
            <a:ext cx="292608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chickee's design makes sense in Florida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"Calling the chickee 'simple' would be wrong because..."</a:t>
            </a:r>
            <a:endParaRPr lang="en-US" sz="1200" dirty="0"/>
          </a:p>
        </p:txBody>
      </p:sp>
      <p:sp>
        <p:nvSpPr>
          <p:cNvPr id="11" name="Shape 9"/>
          <p:cNvSpPr/>
          <p:nvPr/>
        </p:nvSpPr>
        <p:spPr>
          <a:xfrm>
            <a:off x="5669280" y="3566160"/>
            <a:ext cx="3200400" cy="1188720"/>
          </a:xfrm>
          <a:prstGeom prst="roundRect">
            <a:avLst>
              <a:gd name="adj" fmla="val 7692"/>
            </a:avLst>
          </a:prstGeom>
          <a:solidFill>
            <a:srgbClr val="FFFFFF"/>
          </a:solidFill>
          <a:ln w="12700">
            <a:solidFill>
              <a:srgbClr val="D4943A"/>
            </a:solidFill>
            <a:prstDash val="solid"/>
          </a:ln>
        </p:spPr>
      </p:sp>
      <p:sp>
        <p:nvSpPr>
          <p:cNvPr id="12" name="Text 10"/>
          <p:cNvSpPr/>
          <p:nvPr/>
        </p:nvSpPr>
        <p:spPr>
          <a:xfrm>
            <a:off x="5852160" y="3657600"/>
            <a:ext cx="283464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ASSIGNMENT PREVIEW</a:t>
            </a:r>
            <a:endParaRPr lang="en-US" sz="900" dirty="0"/>
          </a:p>
        </p:txBody>
      </p:sp>
      <p:sp>
        <p:nvSpPr>
          <p:cNvPr id="13" name="Text 11"/>
          <p:cNvSpPr/>
          <p:nvPr/>
        </p:nvSpPr>
        <p:spPr>
          <a:xfrm>
            <a:off x="5852160" y="3931920"/>
            <a:ext cx="2834640" cy="685800"/>
          </a:xfrm>
          <a:prstGeom prst="rect">
            <a:avLst/>
          </a:prstGeom>
          <a:noFill/>
          <a:ln/>
        </p:spPr>
        <p:txBody>
          <a:bodyPr wrap="square" rtlCol="0" anchor="t"/>
          <a:lstStyle/>
          <a:p>
            <a:pPr indent="0" marL="0">
              <a:buNone/>
            </a:pPr>
            <a:r>
              <a:rPr lang="en-US" sz="1000" i="1" dirty="0">
                <a:solidFill>
                  <a:srgbClr val="5A4A3A"/>
                </a:solidFill>
                <a:latin typeface="Calibri" pitchFamily="34" charset="0"/>
                <a:ea typeface="Calibri" pitchFamily="34" charset="-122"/>
                <a:cs typeface="Calibri" pitchFamily="34" charset="-120"/>
              </a:rPr>
              <a:t>Q2 later: Connect a tool, shelter, or food to Florida's environment — why does it make sense here?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YOU DISCOVERED: SHELTER + TOOLS</a:t>
            </a:r>
            <a:endParaRPr lang="en-US" sz="1100" dirty="0"/>
          </a:p>
        </p:txBody>
      </p:sp>
      <p:sp>
        <p:nvSpPr>
          <p:cNvPr id="5" name="Text 3"/>
          <p:cNvSpPr/>
          <p:nvPr/>
        </p:nvSpPr>
        <p:spPr>
          <a:xfrm>
            <a:off x="457200" y="530352"/>
            <a:ext cx="8229600" cy="59436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The Environment Was the Hardware Store</a:t>
            </a:r>
            <a:endParaRPr lang="en-US" sz="2600" dirty="0"/>
          </a:p>
        </p:txBody>
      </p:sp>
      <p:sp>
        <p:nvSpPr>
          <p:cNvPr id="6" name="Shape 4"/>
          <p:cNvSpPr/>
          <p:nvPr/>
        </p:nvSpPr>
        <p:spPr>
          <a:xfrm>
            <a:off x="365760" y="1298448"/>
            <a:ext cx="1645920" cy="502920"/>
          </a:xfrm>
          <a:prstGeom prst="roundRect">
            <a:avLst>
              <a:gd name="adj" fmla="val 18182"/>
            </a:avLst>
          </a:prstGeom>
          <a:solidFill>
            <a:srgbClr val="D4943A"/>
          </a:solidFill>
          <a:ln w="12700">
            <a:solidFill>
              <a:srgbClr val="D4943A"/>
            </a:solidFill>
            <a:prstDash val="solid"/>
          </a:ln>
        </p:spPr>
      </p:sp>
      <p:sp>
        <p:nvSpPr>
          <p:cNvPr id="7" name="Text 5"/>
          <p:cNvSpPr/>
          <p:nvPr/>
        </p:nvSpPr>
        <p:spPr>
          <a:xfrm>
            <a:off x="365760" y="1371600"/>
            <a:ext cx="16459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CHICKEE</a:t>
            </a:r>
            <a:endParaRPr lang="en-US" sz="1000" dirty="0"/>
          </a:p>
        </p:txBody>
      </p:sp>
      <p:sp>
        <p:nvSpPr>
          <p:cNvPr id="8" name="Text 6"/>
          <p:cNvSpPr/>
          <p:nvPr/>
        </p:nvSpPr>
        <p:spPr>
          <a:xfrm>
            <a:off x="2194560" y="1362456"/>
            <a:ext cx="658368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Raised floor, steep thatch roof, open walls. A brilliant response to Florida heat, rain, flooding, and insects.</a:t>
            </a:r>
            <a:endParaRPr lang="en-US" sz="1300" dirty="0"/>
          </a:p>
        </p:txBody>
      </p:sp>
      <p:sp>
        <p:nvSpPr>
          <p:cNvPr id="9" name="Shape 7"/>
          <p:cNvSpPr/>
          <p:nvPr/>
        </p:nvSpPr>
        <p:spPr>
          <a:xfrm>
            <a:off x="365760" y="2048256"/>
            <a:ext cx="1645920" cy="502920"/>
          </a:xfrm>
          <a:prstGeom prst="roundRect">
            <a:avLst>
              <a:gd name="adj" fmla="val 18182"/>
            </a:avLst>
          </a:prstGeom>
          <a:solidFill>
            <a:srgbClr val="55C8E8"/>
          </a:solidFill>
          <a:ln w="12700">
            <a:solidFill>
              <a:srgbClr val="55C8E8"/>
            </a:solidFill>
            <a:prstDash val="solid"/>
          </a:ln>
        </p:spPr>
      </p:sp>
      <p:sp>
        <p:nvSpPr>
          <p:cNvPr id="10" name="Text 8"/>
          <p:cNvSpPr/>
          <p:nvPr/>
        </p:nvSpPr>
        <p:spPr>
          <a:xfrm>
            <a:off x="365760" y="2121408"/>
            <a:ext cx="16459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CALUSA HOUSES</a:t>
            </a:r>
            <a:endParaRPr lang="en-US" sz="1000" dirty="0"/>
          </a:p>
        </p:txBody>
      </p:sp>
      <p:sp>
        <p:nvSpPr>
          <p:cNvPr id="11" name="Text 9"/>
          <p:cNvSpPr/>
          <p:nvPr/>
        </p:nvSpPr>
        <p:spPr>
          <a:xfrm>
            <a:off x="2194560" y="2112264"/>
            <a:ext cx="658368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Built on shell-platform islands above the water. The shells were the building materials AND the foundation.</a:t>
            </a:r>
            <a:endParaRPr lang="en-US" sz="1300" dirty="0"/>
          </a:p>
        </p:txBody>
      </p:sp>
      <p:sp>
        <p:nvSpPr>
          <p:cNvPr id="12" name="Shape 10"/>
          <p:cNvSpPr/>
          <p:nvPr/>
        </p:nvSpPr>
        <p:spPr>
          <a:xfrm>
            <a:off x="365760" y="2798064"/>
            <a:ext cx="1645920" cy="502920"/>
          </a:xfrm>
          <a:prstGeom prst="roundRect">
            <a:avLst>
              <a:gd name="adj" fmla="val 18182"/>
            </a:avLst>
          </a:prstGeom>
          <a:solidFill>
            <a:srgbClr val="34B76F"/>
          </a:solidFill>
          <a:ln w="12700">
            <a:solidFill>
              <a:srgbClr val="34B76F"/>
            </a:solidFill>
            <a:prstDash val="solid"/>
          </a:ln>
        </p:spPr>
      </p:sp>
      <p:sp>
        <p:nvSpPr>
          <p:cNvPr id="13" name="Text 11"/>
          <p:cNvSpPr/>
          <p:nvPr/>
        </p:nvSpPr>
        <p:spPr>
          <a:xfrm>
            <a:off x="365760" y="2871216"/>
            <a:ext cx="16459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TOOLS: CHERT</a:t>
            </a:r>
            <a:endParaRPr lang="en-US" sz="1000" dirty="0"/>
          </a:p>
        </p:txBody>
      </p:sp>
      <p:sp>
        <p:nvSpPr>
          <p:cNvPr id="14" name="Text 12"/>
          <p:cNvSpPr/>
          <p:nvPr/>
        </p:nvSpPr>
        <p:spPr>
          <a:xfrm>
            <a:off x="2194560" y="2862072"/>
            <a:ext cx="658368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Chipped into spear points, knives, and scrapers. Hard stone + skilled hands = sharp, effective tools.</a:t>
            </a:r>
            <a:endParaRPr lang="en-US" sz="1300" dirty="0"/>
          </a:p>
        </p:txBody>
      </p:sp>
      <p:sp>
        <p:nvSpPr>
          <p:cNvPr id="15" name="Shape 13"/>
          <p:cNvSpPr/>
          <p:nvPr/>
        </p:nvSpPr>
        <p:spPr>
          <a:xfrm>
            <a:off x="365760" y="3547872"/>
            <a:ext cx="1645920" cy="502920"/>
          </a:xfrm>
          <a:prstGeom prst="roundRect">
            <a:avLst>
              <a:gd name="adj" fmla="val 18182"/>
            </a:avLst>
          </a:prstGeom>
          <a:solidFill>
            <a:srgbClr val="8B6FC0"/>
          </a:solidFill>
          <a:ln w="12700">
            <a:solidFill>
              <a:srgbClr val="8B6FC0"/>
            </a:solidFill>
            <a:prstDash val="solid"/>
          </a:ln>
        </p:spPr>
      </p:sp>
      <p:sp>
        <p:nvSpPr>
          <p:cNvPr id="16" name="Text 14"/>
          <p:cNvSpPr/>
          <p:nvPr/>
        </p:nvSpPr>
        <p:spPr>
          <a:xfrm>
            <a:off x="365760" y="3621024"/>
            <a:ext cx="164592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TOOLS: SHELL + CANOE</a:t>
            </a:r>
            <a:endParaRPr lang="en-US" sz="1000" dirty="0"/>
          </a:p>
        </p:txBody>
      </p:sp>
      <p:sp>
        <p:nvSpPr>
          <p:cNvPr id="17" name="Text 15"/>
          <p:cNvSpPr/>
          <p:nvPr/>
        </p:nvSpPr>
        <p:spPr>
          <a:xfrm>
            <a:off x="2194560" y="3611880"/>
            <a:ext cx="6583680" cy="530352"/>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Shells carved into hammers and fishhooks. Cypress logs burned and scraped into 20-foot dugout canoes.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37160"/>
            <a:ext cx="8412480" cy="256032"/>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MULTI-SOURCE COMPARE</a:t>
            </a:r>
            <a:endParaRPr lang="en-US" sz="1000" dirty="0"/>
          </a:p>
        </p:txBody>
      </p:sp>
      <p:sp>
        <p:nvSpPr>
          <p:cNvPr id="4" name="Text 2"/>
          <p:cNvSpPr/>
          <p:nvPr/>
        </p:nvSpPr>
        <p:spPr>
          <a:xfrm>
            <a:off x="365760" y="393192"/>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Object Matches the Environment</a:t>
            </a:r>
            <a:endParaRPr lang="en-US" sz="2200" dirty="0"/>
          </a:p>
        </p:txBody>
      </p:sp>
      <p:sp>
        <p:nvSpPr>
          <p:cNvPr id="5" name="Shape 3"/>
          <p:cNvSpPr/>
          <p:nvPr/>
        </p:nvSpPr>
        <p:spPr>
          <a:xfrm>
            <a:off x="274320" y="960120"/>
            <a:ext cx="4023360" cy="3886200"/>
          </a:xfrm>
          <a:prstGeom prst="roundRect">
            <a:avLst>
              <a:gd name="adj" fmla="val 3529"/>
            </a:avLst>
          </a:prstGeom>
          <a:solidFill>
            <a:srgbClr val="FFFFFF"/>
          </a:solidFill>
          <a:ln w="25400">
            <a:solidFill>
              <a:srgbClr val="1A8A7D"/>
            </a:solidFill>
            <a:prstDash val="solid"/>
          </a:ln>
        </p:spPr>
      </p:sp>
      <p:sp>
        <p:nvSpPr>
          <p:cNvPr id="6" name="Text 4"/>
          <p:cNvSpPr/>
          <p:nvPr/>
        </p:nvSpPr>
        <p:spPr>
          <a:xfrm>
            <a:off x="457200" y="1051560"/>
            <a:ext cx="3657600" cy="274320"/>
          </a:xfrm>
          <a:prstGeom prst="rect">
            <a:avLst/>
          </a:prstGeom>
          <a:noFill/>
          <a:ln/>
        </p:spPr>
        <p:txBody>
          <a:bodyPr wrap="square" rtlCol="0" anchor="ctr"/>
          <a:lstStyle/>
          <a:p>
            <a:pPr algn="ctr" indent="0" marL="0">
              <a:buNone/>
            </a:pPr>
            <a:r>
              <a:rPr lang="en-US" sz="1100" b="1" dirty="0">
                <a:solidFill>
                  <a:srgbClr val="1A8A7D"/>
                </a:solidFill>
                <a:latin typeface="Calibri" pitchFamily="34" charset="0"/>
                <a:ea typeface="Calibri" pitchFamily="34" charset="-122"/>
                <a:cs typeface="Calibri" pitchFamily="34" charset="-120"/>
              </a:rPr>
              <a:t>SOURCE A: ARTIFACT EVIDENCE</a:t>
            </a:r>
            <a:endParaRPr lang="en-US" sz="1100" dirty="0"/>
          </a:p>
        </p:txBody>
      </p:sp>
      <p:sp>
        <p:nvSpPr>
          <p:cNvPr id="7" name="Shape 5"/>
          <p:cNvSpPr/>
          <p:nvPr/>
        </p:nvSpPr>
        <p:spPr>
          <a:xfrm>
            <a:off x="411480" y="1371600"/>
            <a:ext cx="3657600" cy="1737360"/>
          </a:xfrm>
          <a:prstGeom prst="roundRect">
            <a:avLst>
              <a:gd name="adj" fmla="val 6316"/>
            </a:avLst>
          </a:prstGeom>
          <a:solidFill>
            <a:srgbClr val="E2E8F4"/>
          </a:solidFill>
          <a:ln w="19050">
            <a:solidFill>
              <a:srgbClr val="B0B8CC"/>
            </a:solidFill>
            <a:prstDash val="dash"/>
          </a:ln>
        </p:spPr>
      </p:sp>
      <p:sp>
        <p:nvSpPr>
          <p:cNvPr id="8" name="Text 6"/>
          <p:cNvSpPr/>
          <p:nvPr/>
        </p:nvSpPr>
        <p:spPr>
          <a:xfrm>
            <a:off x="411480" y="137160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548640" y="1645920"/>
            <a:ext cx="3383280" cy="1371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photo collage of pre-contact Florida tools: chert spear point, shell gouge/hammer, palmetto fiber cord fragment, clay pottery shard, small wooden carving. Clean studio background. No human figures.</a:t>
            </a:r>
            <a:endParaRPr lang="en-US" sz="1100" dirty="0"/>
          </a:p>
        </p:txBody>
      </p:sp>
      <p:sp>
        <p:nvSpPr>
          <p:cNvPr id="10" name="Text 8"/>
          <p:cNvSpPr/>
          <p:nvPr/>
        </p:nvSpPr>
        <p:spPr>
          <a:xfrm>
            <a:off x="457200" y="3200400"/>
            <a:ext cx="3657600" cy="150876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Physical objects: chert, shell, palm fiber, clay</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Each tool = a material from Florida</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Each material = a clue about the environment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These objects ARE the evidence.</a:t>
            </a:r>
            <a:endParaRPr lang="en-US" sz="1100" dirty="0"/>
          </a:p>
        </p:txBody>
      </p:sp>
      <p:sp>
        <p:nvSpPr>
          <p:cNvPr id="11" name="Shape 9"/>
          <p:cNvSpPr/>
          <p:nvPr/>
        </p:nvSpPr>
        <p:spPr>
          <a:xfrm>
            <a:off x="4572000" y="960120"/>
            <a:ext cx="4023360" cy="3886200"/>
          </a:xfrm>
          <a:prstGeom prst="roundRect">
            <a:avLst>
              <a:gd name="adj" fmla="val 3529"/>
            </a:avLst>
          </a:prstGeom>
          <a:solidFill>
            <a:srgbClr val="FFFFFF"/>
          </a:solidFill>
          <a:ln w="25400">
            <a:solidFill>
              <a:srgbClr val="D4943A"/>
            </a:solidFill>
            <a:prstDash val="solid"/>
          </a:ln>
        </p:spPr>
      </p:sp>
      <p:sp>
        <p:nvSpPr>
          <p:cNvPr id="12" name="Text 10"/>
          <p:cNvSpPr/>
          <p:nvPr/>
        </p:nvSpPr>
        <p:spPr>
          <a:xfrm>
            <a:off x="4754880" y="1051560"/>
            <a:ext cx="3657600" cy="274320"/>
          </a:xfrm>
          <a:prstGeom prst="rect">
            <a:avLst/>
          </a:prstGeom>
          <a:noFill/>
          <a:ln/>
        </p:spPr>
        <p:txBody>
          <a:bodyPr wrap="square" rtlCol="0" anchor="ctr"/>
          <a:lstStyle/>
          <a:p>
            <a:pPr algn="ctr" indent="0" marL="0">
              <a:buNone/>
            </a:pPr>
            <a:r>
              <a:rPr lang="en-US" sz="1100" b="1" dirty="0">
                <a:solidFill>
                  <a:srgbClr val="D4943A"/>
                </a:solidFill>
                <a:latin typeface="Calibri" pitchFamily="34" charset="0"/>
                <a:ea typeface="Calibri" pitchFamily="34" charset="-122"/>
                <a:cs typeface="Calibri" pitchFamily="34" charset="-120"/>
              </a:rPr>
              <a:t>SOURCE B: ENVIRONMENT MAP</a:t>
            </a:r>
            <a:endParaRPr lang="en-US" sz="1100" dirty="0"/>
          </a:p>
        </p:txBody>
      </p:sp>
      <p:sp>
        <p:nvSpPr>
          <p:cNvPr id="13" name="Shape 11"/>
          <p:cNvSpPr/>
          <p:nvPr/>
        </p:nvSpPr>
        <p:spPr>
          <a:xfrm>
            <a:off x="4709160" y="1371600"/>
            <a:ext cx="3657600" cy="1737360"/>
          </a:xfrm>
          <a:prstGeom prst="roundRect">
            <a:avLst>
              <a:gd name="adj" fmla="val 6316"/>
            </a:avLst>
          </a:prstGeom>
          <a:solidFill>
            <a:srgbClr val="E2E8F4"/>
          </a:solidFill>
          <a:ln w="19050">
            <a:solidFill>
              <a:srgbClr val="B0B8CC"/>
            </a:solidFill>
            <a:prstDash val="dash"/>
          </a:ln>
        </p:spPr>
      </p:sp>
      <p:sp>
        <p:nvSpPr>
          <p:cNvPr id="14" name="Text 12"/>
          <p:cNvSpPr/>
          <p:nvPr/>
        </p:nvSpPr>
        <p:spPr>
          <a:xfrm>
            <a:off x="4709160" y="137160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4846320" y="1645920"/>
            <a:ext cx="3383280" cy="1371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map of Florida showing major biomes/environments: northern pine forests, central scrub, Everglades wetlands, coastal mangroves (southwest), springs (north-central). Color-coded regions. No human figures.</a:t>
            </a:r>
            <a:endParaRPr lang="en-US" sz="1100" dirty="0"/>
          </a:p>
        </p:txBody>
      </p:sp>
      <p:sp>
        <p:nvSpPr>
          <p:cNvPr id="16" name="Text 14"/>
          <p:cNvSpPr/>
          <p:nvPr/>
        </p:nvSpPr>
        <p:spPr>
          <a:xfrm>
            <a:off x="4754880" y="3200400"/>
            <a:ext cx="3657600" cy="150876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Different Florida environments: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North: pine forests, chert deposits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Coastal SW: shells, fish, cypress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Everglades: palmetto, sawgrass, deer</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Rivers: freshwater fish, clay soil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EVALUATE THE SOURCE — ARTIFACT COLLECTION</a:t>
            </a:r>
            <a:endParaRPr lang="en-US" sz="1000" dirty="0"/>
          </a:p>
        </p:txBody>
      </p:sp>
      <p:sp>
        <p:nvSpPr>
          <p:cNvPr id="4" name="Text 2"/>
          <p:cNvSpPr/>
          <p:nvPr/>
        </p:nvSpPr>
        <p:spPr>
          <a:xfrm>
            <a:off x="365760" y="457200"/>
            <a:ext cx="8412480" cy="54864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Can These Objects Speak for Themselves?</a:t>
            </a:r>
            <a:endParaRPr lang="en-US" sz="2400" dirty="0"/>
          </a:p>
        </p:txBody>
      </p:sp>
      <p:sp>
        <p:nvSpPr>
          <p:cNvPr id="5" name="Shape 3"/>
          <p:cNvSpPr/>
          <p:nvPr/>
        </p:nvSpPr>
        <p:spPr>
          <a:xfrm>
            <a:off x="365760" y="1097280"/>
            <a:ext cx="5029200" cy="3566160"/>
          </a:xfrm>
          <a:prstGeom prst="roundRect">
            <a:avLst>
              <a:gd name="adj" fmla="val 384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188720"/>
            <a:ext cx="466344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7" name="Text 5"/>
          <p:cNvSpPr/>
          <p:nvPr/>
        </p:nvSpPr>
        <p:spPr>
          <a:xfrm>
            <a:off x="548640" y="1444752"/>
            <a:ext cx="4663440" cy="3127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collected these artifacts, and does that affect what we're looking 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can an artifact prove on its own — without any written explanation?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could these objects NOT tell us, even if we studied them for years?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a physical object more or less reliable than a written account? Give a reason.</a:t>
            </a:r>
            <a:endParaRPr lang="en-US" sz="1100" dirty="0"/>
          </a:p>
        </p:txBody>
      </p:sp>
      <p:sp>
        <p:nvSpPr>
          <p:cNvPr id="8" name="Shape 6"/>
          <p:cNvSpPr/>
          <p:nvPr/>
        </p:nvSpPr>
        <p:spPr>
          <a:xfrm>
            <a:off x="5577840" y="1097280"/>
            <a:ext cx="3246120" cy="2286000"/>
          </a:xfrm>
          <a:prstGeom prst="roundRect">
            <a:avLst>
              <a:gd name="adj" fmla="val 4800"/>
            </a:avLst>
          </a:prstGeom>
          <a:solidFill>
            <a:srgbClr val="FFF3DC"/>
          </a:solidFill>
          <a:ln w="19050">
            <a:solidFill>
              <a:srgbClr val="F5E6C8"/>
            </a:solidFill>
            <a:prstDash val="solid"/>
          </a:ln>
        </p:spPr>
      </p:sp>
      <p:sp>
        <p:nvSpPr>
          <p:cNvPr id="9" name="Text 7"/>
          <p:cNvSpPr/>
          <p:nvPr/>
        </p:nvSpPr>
        <p:spPr>
          <a:xfrm>
            <a:off x="5715000" y="115214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715000" y="1353312"/>
            <a:ext cx="2971800" cy="1965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"These artifacts are strong evidence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"But artifacts can't prove... because..."</a:t>
            </a:r>
            <a:endParaRPr lang="en-US" sz="1200" dirty="0"/>
          </a:p>
        </p:txBody>
      </p:sp>
      <p:sp>
        <p:nvSpPr>
          <p:cNvPr id="11" name="Shape 9"/>
          <p:cNvSpPr/>
          <p:nvPr/>
        </p:nvSpPr>
        <p:spPr>
          <a:xfrm>
            <a:off x="5577840" y="3520440"/>
            <a:ext cx="3246120" cy="1188720"/>
          </a:xfrm>
          <a:prstGeom prst="roundRect">
            <a:avLst>
              <a:gd name="adj" fmla="val 7692"/>
            </a:avLst>
          </a:prstGeom>
          <a:solidFill>
            <a:srgbClr val="FFFFFF"/>
          </a:solidFill>
          <a:ln w="12700">
            <a:solidFill>
              <a:srgbClr val="D4943A"/>
            </a:solidFill>
            <a:prstDash val="solid"/>
          </a:ln>
        </p:spPr>
      </p:sp>
      <p:sp>
        <p:nvSpPr>
          <p:cNvPr id="12" name="Text 10"/>
          <p:cNvSpPr/>
          <p:nvPr/>
        </p:nvSpPr>
        <p:spPr>
          <a:xfrm>
            <a:off x="5760720" y="3611880"/>
            <a:ext cx="288036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HONEST VOCABULARY</a:t>
            </a:r>
            <a:endParaRPr lang="en-US" sz="900" dirty="0"/>
          </a:p>
        </p:txBody>
      </p:sp>
      <p:sp>
        <p:nvSpPr>
          <p:cNvPr id="13" name="Text 11"/>
          <p:cNvSpPr/>
          <p:nvPr/>
        </p:nvSpPr>
        <p:spPr>
          <a:xfrm>
            <a:off x="5760720" y="3886200"/>
            <a:ext cx="2880360" cy="73152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Artifact shows: what the object IS</a:t>
            </a:r>
            <a:endParaRPr lang="en-US" sz="1000" dirty="0"/>
          </a:p>
          <a:p>
            <a:pPr indent="0" marL="0">
              <a:buNone/>
            </a:pPr>
            <a:r>
              <a:rPr lang="en-US" sz="1000" i="1" dirty="0">
                <a:solidFill>
                  <a:srgbClr val="0E1C42"/>
                </a:solidFill>
                <a:latin typeface="Calibri" pitchFamily="34" charset="0"/>
                <a:ea typeface="Calibri" pitchFamily="34" charset="-122"/>
                <a:cs typeface="Calibri" pitchFamily="34" charset="-120"/>
              </a:rPr>
              <a:t>Artifact proves: what we can demonstrate</a:t>
            </a:r>
            <a:endParaRPr lang="en-US" sz="1000" dirty="0"/>
          </a:p>
          <a:p>
            <a:pPr indent="0" marL="0">
              <a:buNone/>
            </a:pPr>
            <a:r>
              <a:rPr lang="en-US" sz="1000" i="1" dirty="0">
                <a:solidFill>
                  <a:srgbClr val="0E1C42"/>
                </a:solidFill>
                <a:latin typeface="Calibri" pitchFamily="34" charset="0"/>
                <a:ea typeface="Calibri" pitchFamily="34" charset="-122"/>
                <a:cs typeface="Calibri" pitchFamily="34" charset="-120"/>
              </a:rPr>
              <a:t>Artifact suggests: what we can carefully guess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55C8E8"/>
          </a:solidFill>
          <a:ln w="12700">
            <a:solidFill>
              <a:srgbClr val="55C8E8"/>
            </a:solidFill>
            <a:prstDash val="solid"/>
          </a:ln>
        </p:spPr>
      </p:sp>
      <p:sp>
        <p:nvSpPr>
          <p:cNvPr id="4" name="Text 2"/>
          <p:cNvSpPr/>
          <p:nvPr/>
        </p:nvSpPr>
        <p:spPr>
          <a:xfrm>
            <a:off x="457200" y="182880"/>
            <a:ext cx="8229600" cy="292608"/>
          </a:xfrm>
          <a:prstGeom prst="rect">
            <a:avLst/>
          </a:prstGeom>
          <a:noFill/>
          <a:ln/>
        </p:spPr>
        <p:txBody>
          <a:bodyPr wrap="square"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TRANSFERABLE PATTERN</a:t>
            </a:r>
            <a:endParaRPr lang="en-US" sz="1100" dirty="0"/>
          </a:p>
        </p:txBody>
      </p:sp>
      <p:sp>
        <p:nvSpPr>
          <p:cNvPr id="5" name="Text 3"/>
          <p:cNvSpPr/>
          <p:nvPr/>
        </p:nvSpPr>
        <p:spPr>
          <a:xfrm>
            <a:off x="457200" y="502920"/>
            <a:ext cx="8229600" cy="640080"/>
          </a:xfrm>
          <a:prstGeom prst="rect">
            <a:avLst/>
          </a:prstGeom>
          <a:noFill/>
          <a:ln/>
        </p:spPr>
        <p:txBody>
          <a:bodyPr wrap="square"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Deep Environmental Knowledge IS the Resource</a:t>
            </a:r>
            <a:endParaRPr lang="en-US" sz="2500" dirty="0"/>
          </a:p>
        </p:txBody>
      </p:sp>
      <p:sp>
        <p:nvSpPr>
          <p:cNvPr id="6" name="Shape 4"/>
          <p:cNvSpPr/>
          <p:nvPr/>
        </p:nvSpPr>
        <p:spPr>
          <a:xfrm>
            <a:off x="457200" y="1280160"/>
            <a:ext cx="8229600" cy="1005840"/>
          </a:xfrm>
          <a:prstGeom prst="roundRect">
            <a:avLst>
              <a:gd name="adj" fmla="val 13636"/>
            </a:avLst>
          </a:prstGeom>
          <a:solidFill>
            <a:srgbClr val="1A2D5A"/>
          </a:solidFill>
          <a:ln w="19050">
            <a:solidFill>
              <a:srgbClr val="55C8E8"/>
            </a:solidFill>
            <a:prstDash val="solid"/>
          </a:ln>
        </p:spPr>
      </p:sp>
      <p:sp>
        <p:nvSpPr>
          <p:cNvPr id="7" name="Text 5"/>
          <p:cNvSpPr/>
          <p:nvPr/>
        </p:nvSpPr>
        <p:spPr>
          <a:xfrm>
            <a:off x="685800" y="1371600"/>
            <a:ext cx="7772400" cy="822960"/>
          </a:xfrm>
          <a:prstGeom prst="rect">
            <a:avLst/>
          </a:prstGeom>
          <a:noFill/>
          <a:ln/>
        </p:spPr>
        <p:txBody>
          <a:bodyPr wrap="square"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Florida's first peoples solved food, shelter, tools, and resources with deep knowledge of their land and impressive skill. Calling their lives 'simple' misses how clever each solution really was.</a:t>
            </a:r>
            <a:endParaRPr lang="en-US" sz="1500" dirty="0"/>
          </a:p>
        </p:txBody>
      </p:sp>
      <p:sp>
        <p:nvSpPr>
          <p:cNvPr id="8" name="Text 6"/>
          <p:cNvSpPr/>
          <p:nvPr/>
        </p:nvSpPr>
        <p:spPr>
          <a:xfrm>
            <a:off x="457200" y="2423160"/>
            <a:ext cx="8229600" cy="292608"/>
          </a:xfrm>
          <a:prstGeom prst="rect">
            <a:avLst/>
          </a:prstGeom>
          <a:noFill/>
          <a:ln/>
        </p:spPr>
        <p:txBody>
          <a:bodyPr wrap="square" rtlCol="0" anchor="ctr"/>
          <a:lstStyle/>
          <a:p>
            <a:pPr indent="0" marL="0">
              <a:buNone/>
            </a:pPr>
            <a:r>
              <a:rPr lang="en-US" sz="1200" b="1" spc="100" kern="0" dirty="0">
                <a:solidFill>
                  <a:srgbClr val="D4943A"/>
                </a:solidFill>
                <a:latin typeface="Calibri" pitchFamily="34" charset="0"/>
                <a:ea typeface="Calibri" pitchFamily="34" charset="-122"/>
                <a:cs typeface="Calibri" pitchFamily="34" charset="-120"/>
              </a:rPr>
              <a:t>WHAT THIS PATTERN PREDICTS:</a:t>
            </a:r>
            <a:endParaRPr lang="en-US" sz="1200" dirty="0"/>
          </a:p>
        </p:txBody>
      </p:sp>
      <p:sp>
        <p:nvSpPr>
          <p:cNvPr id="9" name="Text 7"/>
          <p:cNvSpPr/>
          <p:nvPr/>
        </p:nvSpPr>
        <p:spPr>
          <a:xfrm>
            <a:off x="457200" y="2715768"/>
            <a:ext cx="8229600" cy="594360"/>
          </a:xfrm>
          <a:prstGeom prst="rect">
            <a:avLst/>
          </a:prstGeom>
          <a:noFill/>
          <a:ln/>
        </p:spPr>
        <p:txBody>
          <a:bodyPr wrap="square" rtlCol="0" anchor="ctr"/>
          <a:lstStyle/>
          <a:p>
            <a:pPr indent="0" marL="0">
              <a:buNone/>
            </a:pPr>
            <a:r>
              <a:rPr lang="en-US" sz="1400" i="1" dirty="0">
                <a:solidFill>
                  <a:srgbClr val="F0F2F8"/>
                </a:solidFill>
                <a:latin typeface="Cambria" pitchFamily="34" charset="0"/>
                <a:ea typeface="Cambria" pitchFamily="34" charset="-122"/>
                <a:cs typeface="Cambria" pitchFamily="34" charset="-120"/>
              </a:rPr>
              <a:t>Any community that has lived in one place for centuries will develop deep knowledge of that environment. That knowledge — knowing which plant, which stone, when to gather it — is its own kind of treasure.</a:t>
            </a:r>
            <a:endParaRPr lang="en-US" sz="1400" dirty="0"/>
          </a:p>
        </p:txBody>
      </p:sp>
      <p:sp>
        <p:nvSpPr>
          <p:cNvPr id="10" name="Shape 8"/>
          <p:cNvSpPr/>
          <p:nvPr/>
        </p:nvSpPr>
        <p:spPr>
          <a:xfrm>
            <a:off x="457200" y="3429000"/>
            <a:ext cx="8229600" cy="1280160"/>
          </a:xfrm>
          <a:prstGeom prst="roundRect">
            <a:avLst>
              <a:gd name="adj" fmla="val 8571"/>
            </a:avLst>
          </a:prstGeom>
          <a:solidFill>
            <a:srgbClr val="0B1835"/>
          </a:solidFill>
          <a:ln w="12700">
            <a:solidFill>
              <a:srgbClr val="D4943A"/>
            </a:solidFill>
            <a:prstDash val="solid"/>
          </a:ln>
        </p:spPr>
      </p:sp>
      <p:sp>
        <p:nvSpPr>
          <p:cNvPr id="11" name="Text 9"/>
          <p:cNvSpPr/>
          <p:nvPr/>
        </p:nvSpPr>
        <p:spPr>
          <a:xfrm>
            <a:off x="685800" y="3538728"/>
            <a:ext cx="7772400" cy="274320"/>
          </a:xfrm>
          <a:prstGeom prst="rect">
            <a:avLst/>
          </a:prstGeom>
          <a:noFill/>
          <a:ln/>
        </p:spPr>
        <p:txBody>
          <a:bodyPr wrap="square" rtlCol="0" anchor="ctr"/>
          <a:lstStyle/>
          <a:p>
            <a:pPr indent="0" marL="0">
              <a:buNone/>
            </a:pPr>
            <a:r>
              <a:rPr lang="en-US" sz="1100" b="1" spc="100" kern="0" dirty="0">
                <a:solidFill>
                  <a:srgbClr val="D4943A"/>
                </a:solidFill>
                <a:latin typeface="Calibri" pitchFamily="34" charset="0"/>
                <a:ea typeface="Calibri" pitchFamily="34" charset="-122"/>
                <a:cs typeface="Calibri" pitchFamily="34" charset="-120"/>
              </a:rPr>
              <a:t>APPLY THIS PATTERN:</a:t>
            </a:r>
            <a:endParaRPr lang="en-US" sz="1100" dirty="0"/>
          </a:p>
        </p:txBody>
      </p:sp>
      <p:sp>
        <p:nvSpPr>
          <p:cNvPr id="12" name="Text 10"/>
          <p:cNvSpPr/>
          <p:nvPr/>
        </p:nvSpPr>
        <p:spPr>
          <a:xfrm>
            <a:off x="685800" y="3822192"/>
            <a:ext cx="7772400" cy="795528"/>
          </a:xfrm>
          <a:prstGeom prst="rect">
            <a:avLst/>
          </a:prstGeom>
          <a:noFill/>
          <a:ln/>
        </p:spPr>
        <p:txBody>
          <a:bodyPr wrap="square" rtlCol="0" anchor="t"/>
          <a:lstStyle/>
          <a:p>
            <a:pPr indent="0" marL="0">
              <a:buNone/>
            </a:pPr>
            <a:r>
              <a:rPr lang="en-US" sz="1200" i="1" dirty="0">
                <a:solidFill>
                  <a:srgbClr val="F0F2F8"/>
                </a:solidFill>
                <a:latin typeface="Calibri" pitchFamily="34" charset="0"/>
                <a:ea typeface="Calibri" pitchFamily="34" charset="-122"/>
                <a:cs typeface="Calibri" pitchFamily="34" charset="-120"/>
              </a:rPr>
              <a:t>Could you use this pattern to predict how Arctic peoples built shelters — before learning about igloos? How about desert communities? This is how historians think across time and place.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0E1C42"/>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457200" y="228600"/>
            <a:ext cx="8229600" cy="274320"/>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VIRTUE SPOTLIGHT</a:t>
            </a:r>
            <a:endParaRPr lang="en-US" sz="1100" dirty="0"/>
          </a:p>
        </p:txBody>
      </p:sp>
      <p:sp>
        <p:nvSpPr>
          <p:cNvPr id="5" name="Text 3"/>
          <p:cNvSpPr/>
          <p:nvPr/>
        </p:nvSpPr>
        <p:spPr>
          <a:xfrm>
            <a:off x="457200" y="548640"/>
            <a:ext cx="8229600" cy="82296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Honesty</a:t>
            </a:r>
            <a:endParaRPr lang="en-US" sz="4800" dirty="0"/>
          </a:p>
        </p:txBody>
      </p:sp>
      <p:sp>
        <p:nvSpPr>
          <p:cNvPr id="6" name="Shape 4"/>
          <p:cNvSpPr/>
          <p:nvPr/>
        </p:nvSpPr>
        <p:spPr>
          <a:xfrm>
            <a:off x="731520" y="1463040"/>
            <a:ext cx="7680960" cy="1828800"/>
          </a:xfrm>
          <a:prstGeom prst="roundRect">
            <a:avLst>
              <a:gd name="adj" fmla="val 9000"/>
            </a:avLst>
          </a:prstGeom>
          <a:solidFill>
            <a:srgbClr val="1A2D5A"/>
          </a:solidFill>
          <a:ln w="19050">
            <a:solidFill>
              <a:srgbClr val="D4943A"/>
            </a:solidFill>
            <a:prstDash val="solid"/>
          </a:ln>
        </p:spPr>
      </p:sp>
      <p:sp>
        <p:nvSpPr>
          <p:cNvPr id="7" name="Text 5"/>
          <p:cNvSpPr/>
          <p:nvPr/>
        </p:nvSpPr>
        <p:spPr>
          <a:xfrm>
            <a:off x="960120" y="1581912"/>
            <a:ext cx="7223760" cy="777240"/>
          </a:xfrm>
          <a:prstGeom prst="rect">
            <a:avLst/>
          </a:prstGeom>
          <a:noFill/>
          <a:ln/>
        </p:spPr>
        <p:txBody>
          <a:bodyPr wrap="square" rtlCol="0" anchor="t"/>
          <a:lstStyle/>
          <a:p>
            <a:pPr indent="0" marL="0">
              <a:buNone/>
            </a:pPr>
            <a:r>
              <a:rPr lang="en-US" sz="1500" i="1" dirty="0">
                <a:solidFill>
                  <a:srgbClr val="FFFFFF"/>
                </a:solidFill>
                <a:latin typeface="Cambria" pitchFamily="34" charset="0"/>
                <a:ea typeface="Cambria" pitchFamily="34" charset="-122"/>
                <a:cs typeface="Cambria" pitchFamily="34" charset="-120"/>
              </a:rPr>
              <a:t>Today's honest truth: Florida's first peoples were extremely skilled. They knew their plants, their fish, their weather, and their tools better than most modern people ever will.</a:t>
            </a:r>
            <a:endParaRPr lang="en-US" sz="1500" dirty="0"/>
          </a:p>
        </p:txBody>
      </p:sp>
      <p:sp>
        <p:nvSpPr>
          <p:cNvPr id="8" name="Text 6"/>
          <p:cNvSpPr/>
          <p:nvPr/>
        </p:nvSpPr>
        <p:spPr>
          <a:xfrm>
            <a:off x="960120" y="2395728"/>
            <a:ext cx="7223760" cy="502920"/>
          </a:xfrm>
          <a:prstGeom prst="rect">
            <a:avLst/>
          </a:prstGeom>
          <a:noFill/>
          <a:ln/>
        </p:spPr>
        <p:txBody>
          <a:bodyPr wrap="square" rtlCol="0" anchor="t"/>
          <a:lstStyle/>
          <a:p>
            <a:pPr indent="0" marL="0">
              <a:buNone/>
            </a:pPr>
            <a:r>
              <a:rPr lang="en-US" sz="1400" b="1" dirty="0">
                <a:solidFill>
                  <a:srgbClr val="D4943A"/>
                </a:solidFill>
                <a:latin typeface="Cambria" pitchFamily="34" charset="0"/>
                <a:ea typeface="Cambria" pitchFamily="34" charset="-122"/>
                <a:cs typeface="Cambria" pitchFamily="34" charset="-120"/>
              </a:rPr>
              <a:t>When a historian-citizen describes their lives, the honest word is clever — not 'simple.'</a:t>
            </a:r>
            <a:endParaRPr lang="en-US" sz="1400" dirty="0"/>
          </a:p>
        </p:txBody>
      </p:sp>
      <p:sp>
        <p:nvSpPr>
          <p:cNvPr id="9" name="Shape 7"/>
          <p:cNvSpPr/>
          <p:nvPr/>
        </p:nvSpPr>
        <p:spPr>
          <a:xfrm>
            <a:off x="731520" y="3401568"/>
            <a:ext cx="7680960" cy="1417320"/>
          </a:xfrm>
          <a:prstGeom prst="roundRect">
            <a:avLst>
              <a:gd name="adj" fmla="val 7742"/>
            </a:avLst>
          </a:prstGeom>
          <a:solidFill>
            <a:srgbClr val="0B1835"/>
          </a:solidFill>
          <a:ln w="12700">
            <a:solidFill>
              <a:srgbClr val="55C8E8"/>
            </a:solidFill>
            <a:prstDash val="solid"/>
          </a:ln>
        </p:spPr>
      </p:sp>
      <p:sp>
        <p:nvSpPr>
          <p:cNvPr id="10" name="Text 8"/>
          <p:cNvSpPr/>
          <p:nvPr/>
        </p:nvSpPr>
        <p:spPr>
          <a:xfrm>
            <a:off x="960120" y="3502152"/>
            <a:ext cx="722376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Honest language check:</a:t>
            </a:r>
            <a:endParaRPr lang="en-US" sz="1100" dirty="0"/>
          </a:p>
        </p:txBody>
      </p:sp>
      <p:sp>
        <p:nvSpPr>
          <p:cNvPr id="11" name="Text 9"/>
          <p:cNvSpPr/>
          <p:nvPr/>
        </p:nvSpPr>
        <p:spPr>
          <a:xfrm>
            <a:off x="960120" y="3776472"/>
            <a:ext cx="7223760" cy="932688"/>
          </a:xfrm>
          <a:prstGeom prst="rect">
            <a:avLst/>
          </a:prstGeom>
          <a:noFill/>
          <a:ln/>
        </p:spPr>
        <p:txBody>
          <a:bodyPr wrap="square" rtlCol="0" anchor="t"/>
          <a:lstStyle/>
          <a:p>
            <a:pPr indent="0" marL="0">
              <a:buNone/>
            </a:pPr>
            <a:r>
              <a:rPr lang="en-US" sz="1200" i="1" dirty="0">
                <a:solidFill>
                  <a:srgbClr val="F0F2F8"/>
                </a:solidFill>
                <a:latin typeface="Calibri" pitchFamily="34" charset="0"/>
                <a:ea typeface="Calibri" pitchFamily="34" charset="-122"/>
                <a:cs typeface="Calibri" pitchFamily="34" charset="-120"/>
              </a:rPr>
              <a:t>Instead of: 'They lived simply.'</a:t>
            </a:r>
            <a:endParaRPr lang="en-US" sz="1200" dirty="0"/>
          </a:p>
          <a:p>
            <a:pPr indent="0" marL="0">
              <a:buNone/>
            </a:pPr>
            <a:r>
              <a:rPr lang="en-US" sz="1200" i="1" dirty="0">
                <a:solidFill>
                  <a:srgbClr val="F0F2F8"/>
                </a:solidFill>
                <a:latin typeface="Calibri" pitchFamily="34" charset="0"/>
                <a:ea typeface="Calibri" pitchFamily="34" charset="-122"/>
                <a:cs typeface="Calibri" pitchFamily="34" charset="-120"/>
              </a:rPr>
              <a:t>Say: 'They used deep knowledge to solve complex problems.'</a:t>
            </a:r>
            <a:endParaRPr lang="en-US" sz="1200" dirty="0"/>
          </a:p>
          <a:p>
            <a:pPr indent="0" marL="0">
              <a:buNone/>
            </a:pPr>
            <a:r>
              <a:rPr lang="en-US" sz="1200" i="1" dirty="0">
                <a:solidFill>
                  <a:srgbClr val="F0F2F8"/>
                </a:solidFill>
                <a:latin typeface="Calibri" pitchFamily="34" charset="0"/>
                <a:ea typeface="Calibri" pitchFamily="34" charset="-122"/>
                <a:cs typeface="Calibri" pitchFamily="34" charset="-120"/>
              </a:rPr>
              <a:t>Instead of: 'They didn't have technology.'</a:t>
            </a:r>
            <a:endParaRPr lang="en-US" sz="1200" dirty="0"/>
          </a:p>
          <a:p>
            <a:pPr indent="0" marL="0">
              <a:buNone/>
            </a:pPr>
            <a:r>
              <a:rPr lang="en-US" sz="1200" i="1" dirty="0">
                <a:solidFill>
                  <a:srgbClr val="F0F2F8"/>
                </a:solidFill>
                <a:latin typeface="Calibri" pitchFamily="34" charset="0"/>
                <a:ea typeface="Calibri" pitchFamily="34" charset="-122"/>
                <a:cs typeface="Calibri" pitchFamily="34" charset="-120"/>
              </a:rPr>
              <a:t>Say: 'Their technology used different materials.'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73152"/>
          </a:xfrm>
          <a:prstGeom prst="rect">
            <a:avLst/>
          </a:prstGeom>
          <a:solidFill>
            <a:srgbClr val="1A8A7D"/>
          </a:solidFill>
          <a:ln w="12700">
            <a:solidFill>
              <a:srgbClr val="1A8A7D"/>
            </a:solidFill>
            <a:prstDash val="solid"/>
          </a:ln>
        </p:spPr>
      </p:sp>
      <p:sp>
        <p:nvSpPr>
          <p:cNvPr id="4" name="Text 2"/>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TEACHER MODELS</a:t>
            </a:r>
            <a:endParaRPr lang="en-US" sz="1000" dirty="0"/>
          </a:p>
        </p:txBody>
      </p:sp>
      <p:sp>
        <p:nvSpPr>
          <p:cNvPr id="5" name="Text 3"/>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Watch: One Object, Four Sentences</a:t>
            </a:r>
            <a:endParaRPr lang="en-US" sz="2200" dirty="0"/>
          </a:p>
        </p:txBody>
      </p:sp>
      <p:sp>
        <p:nvSpPr>
          <p:cNvPr id="6" name="Shape 4"/>
          <p:cNvSpPr/>
          <p:nvPr/>
        </p:nvSpPr>
        <p:spPr>
          <a:xfrm>
            <a:off x="365760" y="1051560"/>
            <a:ext cx="8412480" cy="502920"/>
          </a:xfrm>
          <a:prstGeom prst="roundRect">
            <a:avLst>
              <a:gd name="adj" fmla="val 21818"/>
            </a:avLst>
          </a:prstGeom>
          <a:solidFill>
            <a:srgbClr val="E2F4F0"/>
          </a:solidFill>
          <a:ln w="19050">
            <a:solidFill>
              <a:srgbClr val="1A8A7D"/>
            </a:solidFill>
            <a:prstDash val="solid"/>
          </a:ln>
        </p:spPr>
      </p:sp>
      <p:sp>
        <p:nvSpPr>
          <p:cNvPr id="7" name="Text 5"/>
          <p:cNvSpPr/>
          <p:nvPr/>
        </p:nvSpPr>
        <p:spPr>
          <a:xfrm>
            <a:off x="548640" y="1115568"/>
            <a:ext cx="8046720" cy="3657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Unlock Challenge: Pick ONE object and write 4 sentences: (1) name, (2) material, (3) problem it solved, (4) honest sentence about the skill it took.</a:t>
            </a:r>
            <a:endParaRPr lang="en-US" sz="1200" dirty="0"/>
          </a:p>
        </p:txBody>
      </p:sp>
      <p:sp>
        <p:nvSpPr>
          <p:cNvPr id="8" name="Shape 6"/>
          <p:cNvSpPr/>
          <p:nvPr/>
        </p:nvSpPr>
        <p:spPr>
          <a:xfrm>
            <a:off x="365760" y="1691640"/>
            <a:ext cx="8412480" cy="2560320"/>
          </a:xfrm>
          <a:prstGeom prst="roundRect">
            <a:avLst>
              <a:gd name="adj" fmla="val 5357"/>
            </a:avLst>
          </a:prstGeom>
          <a:solidFill>
            <a:srgbClr val="FFFFFF"/>
          </a:solidFill>
          <a:ln w="12700">
            <a:solidFill>
              <a:srgbClr val="1A8A7D"/>
            </a:solidFill>
            <a:prstDash val="solid"/>
          </a:ln>
        </p:spPr>
      </p:sp>
      <p:sp>
        <p:nvSpPr>
          <p:cNvPr id="9" name="Text 7"/>
          <p:cNvSpPr/>
          <p:nvPr/>
        </p:nvSpPr>
        <p:spPr>
          <a:xfrm>
            <a:off x="594360" y="1801368"/>
            <a:ext cx="7955280" cy="256032"/>
          </a:xfrm>
          <a:prstGeom prst="rect">
            <a:avLst/>
          </a:prstGeom>
          <a:noFill/>
          <a:ln/>
        </p:spPr>
        <p:txBody>
          <a:bodyPr wrap="square" rtlCol="0" anchor="ctr"/>
          <a:lstStyle/>
          <a:p>
            <a:pPr indent="0" marL="0">
              <a:buNone/>
            </a:pPr>
            <a:r>
              <a:rPr lang="en-US" sz="1000" b="1" spc="100" kern="0" dirty="0">
                <a:solidFill>
                  <a:srgbClr val="1A8A7D"/>
                </a:solidFill>
                <a:latin typeface="Calibri" pitchFamily="34" charset="0"/>
                <a:ea typeface="Calibri" pitchFamily="34" charset="-122"/>
                <a:cs typeface="Calibri" pitchFamily="34" charset="-120"/>
              </a:rPr>
              <a:t>THINK-ALOUD (Teacher models the chickee):</a:t>
            </a:r>
            <a:endParaRPr lang="en-US" sz="1000" dirty="0"/>
          </a:p>
        </p:txBody>
      </p:sp>
      <p:sp>
        <p:nvSpPr>
          <p:cNvPr id="10" name="Text 8"/>
          <p:cNvSpPr/>
          <p:nvPr/>
        </p:nvSpPr>
        <p:spPr>
          <a:xfrm>
            <a:off x="594360" y="2084832"/>
            <a:ext cx="7955280" cy="202996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(1) Name: 'The object is a chickee — a type of shelter.'</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(2) Material: 'It was made from wooden posts, palm thatch, and rope woven from plant fiber.'</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(3) Problem: 'It solved the problem of shelter in Florida's hot, wet climate by raising people above floods and letting air flow through.'</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(4) Skill: 'Building a chickee took real skill — choosing the right wood, weaving thatch tightly enough to shed rain, and designing for the exact weather of this specific place.'</a:t>
            </a:r>
            <a:endParaRPr lang="en-US" sz="1200" dirty="0"/>
          </a:p>
        </p:txBody>
      </p:sp>
      <p:sp>
        <p:nvSpPr>
          <p:cNvPr id="11" name="Shape 9"/>
          <p:cNvSpPr/>
          <p:nvPr/>
        </p:nvSpPr>
        <p:spPr>
          <a:xfrm>
            <a:off x="365760" y="4343400"/>
            <a:ext cx="8412480" cy="502920"/>
          </a:xfrm>
          <a:prstGeom prst="roundRect">
            <a:avLst>
              <a:gd name="adj" fmla="val 18182"/>
            </a:avLst>
          </a:prstGeom>
          <a:solidFill>
            <a:srgbClr val="FFF3DC"/>
          </a:solidFill>
          <a:ln w="12700">
            <a:solidFill>
              <a:srgbClr val="D4943A"/>
            </a:solidFill>
            <a:prstDash val="solid"/>
          </a:ln>
        </p:spPr>
      </p:sp>
      <p:sp>
        <p:nvSpPr>
          <p:cNvPr id="12" name="Text 10"/>
          <p:cNvSpPr/>
          <p:nvPr/>
        </p:nvSpPr>
        <p:spPr>
          <a:xfrm>
            <a:off x="594360" y="4407408"/>
            <a:ext cx="7955280" cy="365760"/>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Your turn: pick any object from today — chickee, canoe, clay pot, chert spear, shell tool, palmetto basket — and use the same four-sentence structure.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INVESTIGATE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Connect the Object to the Environment</a:t>
            </a:r>
            <a:endParaRPr lang="en-US" sz="2200" dirty="0"/>
          </a:p>
        </p:txBody>
      </p:sp>
      <p:sp>
        <p:nvSpPr>
          <p:cNvPr id="5" name="Shape 3"/>
          <p:cNvSpPr/>
          <p:nvPr/>
        </p:nvSpPr>
        <p:spPr>
          <a:xfrm>
            <a:off x="365760" y="1051560"/>
            <a:ext cx="8412480" cy="502920"/>
          </a:xfrm>
          <a:prstGeom prst="roundRect">
            <a:avLst>
              <a:gd name="adj" fmla="val 21818"/>
            </a:avLst>
          </a:prstGeom>
          <a:solidFill>
            <a:srgbClr val="E8F4FF"/>
          </a:solidFill>
          <a:ln w="19050">
            <a:solidFill>
              <a:srgbClr val="55C8E8"/>
            </a:solidFill>
            <a:prstDash val="solid"/>
          </a:ln>
        </p:spPr>
      </p:sp>
      <p:sp>
        <p:nvSpPr>
          <p:cNvPr id="6" name="Text 4"/>
          <p:cNvSpPr/>
          <p:nvPr/>
        </p:nvSpPr>
        <p:spPr>
          <a:xfrm>
            <a:off x="548640" y="1115568"/>
            <a:ext cx="8046720" cy="36576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Assignment Q2: Connect a tool, shelter, or food to Florida's environment. Why does it make sense here?</a:t>
            </a:r>
            <a:endParaRPr lang="en-US" sz="1200" dirty="0"/>
          </a:p>
        </p:txBody>
      </p:sp>
      <p:sp>
        <p:nvSpPr>
          <p:cNvPr id="7" name="Shape 5"/>
          <p:cNvSpPr/>
          <p:nvPr/>
        </p:nvSpPr>
        <p:spPr>
          <a:xfrm>
            <a:off x="365760" y="1691640"/>
            <a:ext cx="5029200" cy="32004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48640" y="178308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2039112"/>
            <a:ext cx="4663440" cy="2761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specifically about Florida makes your chosen object the right choice — not just any climate?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use the same object in a northern snowy climate?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argue if they thought your object was just a lucky guess?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would you need to prove the connection is intentional, not accidental?</a:t>
            </a:r>
            <a:endParaRPr lang="en-US" sz="1100" dirty="0"/>
          </a:p>
        </p:txBody>
      </p:sp>
      <p:sp>
        <p:nvSpPr>
          <p:cNvPr id="10" name="Shape 8"/>
          <p:cNvSpPr/>
          <p:nvPr/>
        </p:nvSpPr>
        <p:spPr>
          <a:xfrm>
            <a:off x="5577840" y="1691640"/>
            <a:ext cx="3246120" cy="1828800"/>
          </a:xfrm>
          <a:prstGeom prst="roundRect">
            <a:avLst>
              <a:gd name="adj" fmla="val 6000"/>
            </a:avLst>
          </a:prstGeom>
          <a:solidFill>
            <a:srgbClr val="FFF3DC"/>
          </a:solidFill>
          <a:ln w="19050">
            <a:solidFill>
              <a:srgbClr val="F5E6C8"/>
            </a:solidFill>
            <a:prstDash val="solid"/>
          </a:ln>
        </p:spPr>
      </p:sp>
      <p:sp>
        <p:nvSpPr>
          <p:cNvPr id="11" name="Text 9"/>
          <p:cNvSpPr/>
          <p:nvPr/>
        </p:nvSpPr>
        <p:spPr>
          <a:xfrm>
            <a:off x="5715000" y="174650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715000" y="1947672"/>
            <a:ext cx="2971800" cy="1508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chose the [object]. It makes sense in Florida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could argue this doesn't prove skill, but I would say... because..."</a:t>
            </a:r>
            <a:endParaRPr lang="en-US" sz="1200" dirty="0"/>
          </a:p>
        </p:txBody>
      </p:sp>
      <p:sp>
        <p:nvSpPr>
          <p:cNvPr id="13" name="Shape 11"/>
          <p:cNvSpPr/>
          <p:nvPr/>
        </p:nvSpPr>
        <p:spPr>
          <a:xfrm>
            <a:off x="5577840" y="3657600"/>
            <a:ext cx="3246120" cy="1188720"/>
          </a:xfrm>
          <a:prstGeom prst="roundRect">
            <a:avLst>
              <a:gd name="adj" fmla="val 7692"/>
            </a:avLst>
          </a:prstGeom>
          <a:solidFill>
            <a:srgbClr val="FFFFFF"/>
          </a:solidFill>
          <a:ln w="12700">
            <a:solidFill>
              <a:srgbClr val="1A8A7D"/>
            </a:solidFill>
            <a:prstDash val="solid"/>
          </a:ln>
        </p:spPr>
      </p:sp>
      <p:sp>
        <p:nvSpPr>
          <p:cNvPr id="14" name="Text 12"/>
          <p:cNvSpPr/>
          <p:nvPr/>
        </p:nvSpPr>
        <p:spPr>
          <a:xfrm>
            <a:off x="5760720" y="3749040"/>
            <a:ext cx="288036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SCAFFOLD</a:t>
            </a:r>
            <a:endParaRPr lang="en-US" sz="900" dirty="0"/>
          </a:p>
        </p:txBody>
      </p:sp>
      <p:sp>
        <p:nvSpPr>
          <p:cNvPr id="15" name="Text 13"/>
          <p:cNvSpPr/>
          <p:nvPr/>
        </p:nvSpPr>
        <p:spPr>
          <a:xfrm>
            <a:off x="5760720" y="4023360"/>
            <a:ext cx="2880360" cy="73152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Object: ______</a:t>
            </a:r>
            <a:endParaRPr lang="en-US" sz="1000" dirty="0"/>
          </a:p>
          <a:p>
            <a:pPr indent="0" marL="0">
              <a:buNone/>
            </a:pPr>
            <a:r>
              <a:rPr lang="en-US" sz="1000" i="1" dirty="0">
                <a:solidFill>
                  <a:srgbClr val="0E1C42"/>
                </a:solidFill>
                <a:latin typeface="Calibri" pitchFamily="34" charset="0"/>
                <a:ea typeface="Calibri" pitchFamily="34" charset="-122"/>
                <a:cs typeface="Calibri" pitchFamily="34" charset="-120"/>
              </a:rPr>
              <a:t>Environment feature: ______</a:t>
            </a:r>
            <a:endParaRPr lang="en-US" sz="1000" dirty="0"/>
          </a:p>
          <a:p>
            <a:pPr indent="0" marL="0">
              <a:buNone/>
            </a:pPr>
            <a:r>
              <a:rPr lang="en-US" sz="1000" i="1" dirty="0">
                <a:solidFill>
                  <a:srgbClr val="0E1C42"/>
                </a:solidFill>
                <a:latin typeface="Calibri" pitchFamily="34" charset="0"/>
                <a:ea typeface="Calibri" pitchFamily="34" charset="-122"/>
                <a:cs typeface="Calibri" pitchFamily="34" charset="-120"/>
              </a:rPr>
              <a:t>This works here because: ______</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CRITIQUE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Makes This Answer Stronger?</a:t>
            </a:r>
            <a:endParaRPr lang="en-US" sz="2200" dirty="0"/>
          </a:p>
        </p:txBody>
      </p:sp>
      <p:sp>
        <p:nvSpPr>
          <p:cNvPr id="5" name="Shape 3"/>
          <p:cNvSpPr/>
          <p:nvPr/>
        </p:nvSpPr>
        <p:spPr>
          <a:xfrm>
            <a:off x="365760" y="1051560"/>
            <a:ext cx="8412480" cy="1280160"/>
          </a:xfrm>
          <a:prstGeom prst="roundRect">
            <a:avLst>
              <a:gd name="adj" fmla="val 10714"/>
            </a:avLst>
          </a:prstGeom>
          <a:solidFill>
            <a:srgbClr val="FFFFFF"/>
          </a:solidFill>
          <a:ln w="25400">
            <a:solidFill>
              <a:srgbClr val="E8636B"/>
            </a:solidFill>
            <a:prstDash val="solid"/>
          </a:ln>
        </p:spPr>
      </p:sp>
      <p:sp>
        <p:nvSpPr>
          <p:cNvPr id="6" name="Text 4"/>
          <p:cNvSpPr/>
          <p:nvPr/>
        </p:nvSpPr>
        <p:spPr>
          <a:xfrm>
            <a:off x="594360" y="1161288"/>
            <a:ext cx="7955280" cy="256032"/>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SAMPLE ANSWER — find what's missing:</a:t>
            </a:r>
            <a:endParaRPr lang="en-US" sz="1000" dirty="0"/>
          </a:p>
        </p:txBody>
      </p:sp>
      <p:sp>
        <p:nvSpPr>
          <p:cNvPr id="7" name="Text 5"/>
          <p:cNvSpPr/>
          <p:nvPr/>
        </p:nvSpPr>
        <p:spPr>
          <a:xfrm>
            <a:off x="594360" y="1444752"/>
            <a:ext cx="7955280" cy="777240"/>
          </a:xfrm>
          <a:prstGeom prst="rect">
            <a:avLst/>
          </a:prstGeom>
          <a:noFill/>
          <a:ln/>
        </p:spPr>
        <p:txBody>
          <a:bodyPr wrap="square"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"Florida's first peoples had a chickee for shelter. It was made of sticks and leaves. They used it because they lived in Florida and it was hot there."</a:t>
            </a:r>
            <a:endParaRPr lang="en-US" sz="1300" dirty="0"/>
          </a:p>
        </p:txBody>
      </p:sp>
      <p:sp>
        <p:nvSpPr>
          <p:cNvPr id="8" name="Shape 6"/>
          <p:cNvSpPr/>
          <p:nvPr/>
        </p:nvSpPr>
        <p:spPr>
          <a:xfrm>
            <a:off x="365760" y="2468880"/>
            <a:ext cx="5029200" cy="237744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56032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816352"/>
            <a:ext cx="4663440" cy="19385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This answer names the object and material — what's still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'because it was hot' really explain the chickee design? What's more specific?</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is the word 'skill' or 'knowledge' — and why does it matter?</a:t>
            </a:r>
            <a:endParaRPr lang="en-US" sz="1100" dirty="0"/>
          </a:p>
        </p:txBody>
      </p:sp>
      <p:sp>
        <p:nvSpPr>
          <p:cNvPr id="11" name="Shape 9"/>
          <p:cNvSpPr/>
          <p:nvPr/>
        </p:nvSpPr>
        <p:spPr>
          <a:xfrm>
            <a:off x="5577840" y="2468880"/>
            <a:ext cx="3246120" cy="1920240"/>
          </a:xfrm>
          <a:prstGeom prst="roundRect">
            <a:avLst>
              <a:gd name="adj" fmla="val 5714"/>
            </a:avLst>
          </a:prstGeom>
          <a:solidFill>
            <a:srgbClr val="FFF3DC"/>
          </a:solidFill>
          <a:ln w="19050">
            <a:solidFill>
              <a:srgbClr val="F5E6C8"/>
            </a:solidFill>
            <a:prstDash val="solid"/>
          </a:ln>
        </p:spPr>
      </p:sp>
      <p:sp>
        <p:nvSpPr>
          <p:cNvPr id="12" name="Text 10"/>
          <p:cNvSpPr/>
          <p:nvPr/>
        </p:nvSpPr>
        <p:spPr>
          <a:xfrm>
            <a:off x="5715000" y="252374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724912"/>
            <a:ext cx="2971800" cy="1600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answer is weak because it doesn't explain..."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sentence about the chickee would say... because..."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THE TRICKY ONE</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Can We Call This Simple?</a:t>
            </a:r>
            <a:endParaRPr lang="en-US" sz="2200" dirty="0"/>
          </a:p>
        </p:txBody>
      </p:sp>
      <p:sp>
        <p:nvSpPr>
          <p:cNvPr id="5" name="Shape 3"/>
          <p:cNvSpPr/>
          <p:nvPr/>
        </p:nvSpPr>
        <p:spPr>
          <a:xfrm>
            <a:off x="365760" y="1051560"/>
            <a:ext cx="8412480" cy="1188720"/>
          </a:xfrm>
          <a:prstGeom prst="roundRect">
            <a:avLst>
              <a:gd name="adj" fmla="val 11538"/>
            </a:avLst>
          </a:prstGeom>
          <a:solidFill>
            <a:srgbClr val="1A2D5A"/>
          </a:solidFill>
          <a:ln w="25400">
            <a:solidFill>
              <a:srgbClr val="8B6FC0"/>
            </a:solidFill>
            <a:prstDash val="solid"/>
          </a:ln>
        </p:spPr>
      </p:sp>
      <p:sp>
        <p:nvSpPr>
          <p:cNvPr id="6" name="Text 4"/>
          <p:cNvSpPr/>
          <p:nvPr/>
        </p:nvSpPr>
        <p:spPr>
          <a:xfrm>
            <a:off x="594360" y="1161288"/>
            <a:ext cx="7955280" cy="256032"/>
          </a:xfrm>
          <a:prstGeom prst="rect">
            <a:avLst/>
          </a:prstGeom>
          <a:noFill/>
          <a:ln/>
        </p:spPr>
        <p:txBody>
          <a:bodyPr wrap="square" rtlCol="0" anchor="ctr"/>
          <a:lstStyle/>
          <a:p>
            <a:pPr indent="0" marL="0">
              <a:buNone/>
            </a:pPr>
            <a:r>
              <a:rPr lang="en-US" sz="1000" b="1" spc="100" kern="0" dirty="0">
                <a:solidFill>
                  <a:srgbClr val="8B6FC0"/>
                </a:solidFill>
                <a:latin typeface="Calibri" pitchFamily="34" charset="0"/>
                <a:ea typeface="Calibri" pitchFamily="34" charset="-122"/>
                <a:cs typeface="Calibri" pitchFamily="34" charset="-120"/>
              </a:rPr>
              <a:t>THE TRICKY ONE:</a:t>
            </a:r>
            <a:endParaRPr lang="en-US" sz="1000" dirty="0"/>
          </a:p>
        </p:txBody>
      </p:sp>
      <p:sp>
        <p:nvSpPr>
          <p:cNvPr id="7" name="Text 5"/>
          <p:cNvSpPr/>
          <p:nvPr/>
        </p:nvSpPr>
        <p:spPr>
          <a:xfrm>
            <a:off x="594360" y="1417320"/>
            <a:ext cx="7955280" cy="749808"/>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"Some people say Florida's first peoples had a 'simple' life because they didn't have electricity, cars, or factories. Using today's evidence, would you agree — and how honest is that claim?"</a:t>
            </a:r>
            <a:endParaRPr lang="en-US" sz="1300" dirty="0"/>
          </a:p>
        </p:txBody>
      </p:sp>
      <p:sp>
        <p:nvSpPr>
          <p:cNvPr id="8" name="Shape 6"/>
          <p:cNvSpPr/>
          <p:nvPr/>
        </p:nvSpPr>
        <p:spPr>
          <a:xfrm>
            <a:off x="365760" y="2377440"/>
            <a:ext cx="5029200" cy="2514600"/>
          </a:xfrm>
          <a:prstGeom prst="roundRect">
            <a:avLst>
              <a:gd name="adj" fmla="val 5455"/>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46888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724912"/>
            <a:ext cx="4663440" cy="20756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word 'simple' actually mean — and is it being used fairly here?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build a 20-foot dugout canoe, a waterproof thatch roof, or a sharp chert point? What does that say about the skill level?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'no electricity' a fair standard for evaluating any culture?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Reasonable people can disagree: is there any sense in which the word 'simple' is defensible?</a:t>
            </a:r>
            <a:endParaRPr lang="en-US" sz="1100" dirty="0"/>
          </a:p>
        </p:txBody>
      </p:sp>
      <p:sp>
        <p:nvSpPr>
          <p:cNvPr id="11" name="Shape 9"/>
          <p:cNvSpPr/>
          <p:nvPr/>
        </p:nvSpPr>
        <p:spPr>
          <a:xfrm>
            <a:off x="5577840" y="2377440"/>
            <a:ext cx="3246120" cy="1920240"/>
          </a:xfrm>
          <a:prstGeom prst="roundRect">
            <a:avLst>
              <a:gd name="adj" fmla="val 5714"/>
            </a:avLst>
          </a:prstGeom>
          <a:solidFill>
            <a:srgbClr val="FFF3DC"/>
          </a:solidFill>
          <a:ln w="19050">
            <a:solidFill>
              <a:srgbClr val="F5E6C8"/>
            </a:solidFill>
            <a:prstDash val="solid"/>
          </a:ln>
        </p:spPr>
      </p:sp>
      <p:sp>
        <p:nvSpPr>
          <p:cNvPr id="12" name="Text 10"/>
          <p:cNvSpPr/>
          <p:nvPr/>
        </p:nvSpPr>
        <p:spPr>
          <a:xfrm>
            <a:off x="5715000" y="2432304"/>
            <a:ext cx="29718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2633472"/>
            <a:ext cx="2971800" cy="1600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"Calling this 'simple' is dishonest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had to defend the word 'simple,' I would say... but the problem with that is..."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Three Quick Questions — Cover Your Notes</a:t>
            </a:r>
            <a:endParaRPr lang="en-US" sz="2200" dirty="0"/>
          </a:p>
        </p:txBody>
      </p:sp>
      <p:sp>
        <p:nvSpPr>
          <p:cNvPr id="5" name="Shape 3"/>
          <p:cNvSpPr/>
          <p:nvPr/>
        </p:nvSpPr>
        <p:spPr>
          <a:xfrm>
            <a:off x="365760" y="1097280"/>
            <a:ext cx="8412480" cy="1097280"/>
          </a:xfrm>
          <a:prstGeom prst="roundRect">
            <a:avLst>
              <a:gd name="adj" fmla="val 10000"/>
            </a:avLst>
          </a:prstGeom>
          <a:solidFill>
            <a:srgbClr val="FFFFFF"/>
          </a:solidFill>
          <a:ln w="12700">
            <a:solidFill>
              <a:srgbClr val="B0B8CC"/>
            </a:solidFill>
            <a:prstDash val="solid"/>
          </a:ln>
        </p:spPr>
      </p:sp>
      <p:sp>
        <p:nvSpPr>
          <p:cNvPr id="6" name="Shape 4"/>
          <p:cNvSpPr/>
          <p:nvPr/>
        </p:nvSpPr>
        <p:spPr>
          <a:xfrm>
            <a:off x="502920" y="1188720"/>
            <a:ext cx="457200" cy="457200"/>
          </a:xfrm>
          <a:prstGeom prst="roundRect">
            <a:avLst>
              <a:gd name="adj" fmla="val 20000"/>
            </a:avLst>
          </a:prstGeom>
          <a:solidFill>
            <a:srgbClr val="0E1C42"/>
          </a:solidFill>
          <a:ln w="12700">
            <a:solidFill>
              <a:srgbClr val="0E1C42"/>
            </a:solidFill>
            <a:prstDash val="solid"/>
          </a:ln>
        </p:spPr>
      </p:sp>
      <p:sp>
        <p:nvSpPr>
          <p:cNvPr id="7" name="Text 5"/>
          <p:cNvSpPr/>
          <p:nvPr/>
        </p:nvSpPr>
        <p:spPr>
          <a:xfrm>
            <a:off x="502920" y="1234440"/>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1170432"/>
            <a:ext cx="7406640" cy="347472"/>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 chickee has a raised floor, steep thatch roof, and open sides. What problem is each part solving?</a:t>
            </a:r>
            <a:endParaRPr lang="en-US" sz="1200" dirty="0"/>
          </a:p>
        </p:txBody>
      </p:sp>
      <p:sp>
        <p:nvSpPr>
          <p:cNvPr id="9" name="Text 7"/>
          <p:cNvSpPr/>
          <p:nvPr/>
        </p:nvSpPr>
        <p:spPr>
          <a:xfrm>
            <a:off x="1097280" y="1554480"/>
            <a:ext cx="7406640" cy="530352"/>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Raised floor: floods/snakes; steep thatch: hot air out/rain shed; open sides: cooling breezes.</a:t>
            </a:r>
            <a:endParaRPr lang="en-US" sz="1100" dirty="0"/>
          </a:p>
        </p:txBody>
      </p:sp>
      <p:sp>
        <p:nvSpPr>
          <p:cNvPr id="10" name="Shape 8"/>
          <p:cNvSpPr/>
          <p:nvPr/>
        </p:nvSpPr>
        <p:spPr>
          <a:xfrm>
            <a:off x="365760" y="2286000"/>
            <a:ext cx="8412480" cy="1097280"/>
          </a:xfrm>
          <a:prstGeom prst="roundRect">
            <a:avLst>
              <a:gd name="adj" fmla="val 10000"/>
            </a:avLst>
          </a:prstGeom>
          <a:solidFill>
            <a:srgbClr val="FFFFFF"/>
          </a:solidFill>
          <a:ln w="12700">
            <a:solidFill>
              <a:srgbClr val="B0B8CC"/>
            </a:solidFill>
            <a:prstDash val="solid"/>
          </a:ln>
        </p:spPr>
      </p:sp>
      <p:sp>
        <p:nvSpPr>
          <p:cNvPr id="11" name="Shape 9"/>
          <p:cNvSpPr/>
          <p:nvPr/>
        </p:nvSpPr>
        <p:spPr>
          <a:xfrm>
            <a:off x="502920" y="2377440"/>
            <a:ext cx="457200" cy="457200"/>
          </a:xfrm>
          <a:prstGeom prst="roundRect">
            <a:avLst>
              <a:gd name="adj" fmla="val 20000"/>
            </a:avLst>
          </a:prstGeom>
          <a:solidFill>
            <a:srgbClr val="0E1C42"/>
          </a:solidFill>
          <a:ln w="12700">
            <a:solidFill>
              <a:srgbClr val="0E1C42"/>
            </a:solidFill>
            <a:prstDash val="solid"/>
          </a:ln>
        </p:spPr>
      </p:sp>
      <p:sp>
        <p:nvSpPr>
          <p:cNvPr id="12" name="Text 10"/>
          <p:cNvSpPr/>
          <p:nvPr/>
        </p:nvSpPr>
        <p:spPr>
          <a:xfrm>
            <a:off x="502920" y="2423160"/>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097280" y="2359152"/>
            <a:ext cx="7406640" cy="347472"/>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What does a dugout canoe tell us about how the Calusa lived?</a:t>
            </a:r>
            <a:endParaRPr lang="en-US" sz="1200" dirty="0"/>
          </a:p>
        </p:txBody>
      </p:sp>
      <p:sp>
        <p:nvSpPr>
          <p:cNvPr id="14" name="Text 12"/>
          <p:cNvSpPr/>
          <p:nvPr/>
        </p:nvSpPr>
        <p:spPr>
          <a:xfrm>
            <a:off x="1097280" y="2743200"/>
            <a:ext cx="7406640" cy="530352"/>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Water travel and fishing were central to daily life — canoes required for most activities.</a:t>
            </a:r>
            <a:endParaRPr lang="en-US" sz="1100" dirty="0"/>
          </a:p>
        </p:txBody>
      </p:sp>
      <p:sp>
        <p:nvSpPr>
          <p:cNvPr id="15" name="Shape 13"/>
          <p:cNvSpPr/>
          <p:nvPr/>
        </p:nvSpPr>
        <p:spPr>
          <a:xfrm>
            <a:off x="365760" y="3474720"/>
            <a:ext cx="8412480" cy="1097280"/>
          </a:xfrm>
          <a:prstGeom prst="roundRect">
            <a:avLst>
              <a:gd name="adj" fmla="val 10000"/>
            </a:avLst>
          </a:prstGeom>
          <a:solidFill>
            <a:srgbClr val="FFFFFF"/>
          </a:solidFill>
          <a:ln w="12700">
            <a:solidFill>
              <a:srgbClr val="B0B8CC"/>
            </a:solidFill>
            <a:prstDash val="solid"/>
          </a:ln>
        </p:spPr>
      </p:sp>
      <p:sp>
        <p:nvSpPr>
          <p:cNvPr id="16" name="Shape 14"/>
          <p:cNvSpPr/>
          <p:nvPr/>
        </p:nvSpPr>
        <p:spPr>
          <a:xfrm>
            <a:off x="502920" y="3566160"/>
            <a:ext cx="457200" cy="457200"/>
          </a:xfrm>
          <a:prstGeom prst="roundRect">
            <a:avLst>
              <a:gd name="adj" fmla="val 20000"/>
            </a:avLst>
          </a:prstGeom>
          <a:solidFill>
            <a:srgbClr val="0E1C42"/>
          </a:solidFill>
          <a:ln w="12700">
            <a:solidFill>
              <a:srgbClr val="0E1C42"/>
            </a:solidFill>
            <a:prstDash val="solid"/>
          </a:ln>
        </p:spPr>
      </p:sp>
      <p:sp>
        <p:nvSpPr>
          <p:cNvPr id="17" name="Text 15"/>
          <p:cNvSpPr/>
          <p:nvPr/>
        </p:nvSpPr>
        <p:spPr>
          <a:xfrm>
            <a:off x="502920" y="3611880"/>
            <a:ext cx="4572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097280" y="3547872"/>
            <a:ext cx="7406640" cy="347472"/>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Someone calls first peoples' lives 'simple.' What's the most honest response?</a:t>
            </a:r>
            <a:endParaRPr lang="en-US" sz="1200" dirty="0"/>
          </a:p>
        </p:txBody>
      </p:sp>
      <p:sp>
        <p:nvSpPr>
          <p:cNvPr id="19" name="Text 17"/>
          <p:cNvSpPr/>
          <p:nvPr/>
        </p:nvSpPr>
        <p:spPr>
          <a:xfrm>
            <a:off x="1097280" y="3931920"/>
            <a:ext cx="7406640" cy="530352"/>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Answer: 'Simple' is wrong. Their lives required deep knowledge of plants, animals, weather, and toolmaking.</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73152"/>
          </a:xfrm>
          <a:prstGeom prst="rect">
            <a:avLst/>
          </a:prstGeom>
          <a:solidFill>
            <a:srgbClr val="D4943A"/>
          </a:solidFill>
          <a:ln w="12700">
            <a:solidFill>
              <a:srgbClr val="D4943A"/>
            </a:solidFill>
            <a:prstDash val="solid"/>
          </a:ln>
        </p:spPr>
      </p:sp>
      <p:sp>
        <p:nvSpPr>
          <p:cNvPr id="4" name="Text 2"/>
          <p:cNvSpPr/>
          <p:nvPr/>
        </p:nvSpPr>
        <p:spPr>
          <a:xfrm>
            <a:off x="365760" y="182880"/>
            <a:ext cx="8412480" cy="274320"/>
          </a:xfrm>
          <a:prstGeom prst="rect">
            <a:avLst/>
          </a:prstGeom>
          <a:noFill/>
          <a:ln/>
        </p:spPr>
        <p:txBody>
          <a:bodyPr wrap="square"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ASSIGNMENT</a:t>
            </a:r>
            <a:endParaRPr lang="en-US" sz="1000" dirty="0"/>
          </a:p>
        </p:txBody>
      </p:sp>
      <p:sp>
        <p:nvSpPr>
          <p:cNvPr id="5" name="Text 3"/>
          <p:cNvSpPr/>
          <p:nvPr/>
        </p:nvSpPr>
        <p:spPr>
          <a:xfrm>
            <a:off x="365760" y="457200"/>
            <a:ext cx="8412480" cy="50292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Tools and Resources Notebook Entry</a:t>
            </a:r>
            <a:endParaRPr lang="en-US" sz="2200" dirty="0"/>
          </a:p>
        </p:txBody>
      </p:sp>
      <p:sp>
        <p:nvSpPr>
          <p:cNvPr id="6" name="Shape 4"/>
          <p:cNvSpPr/>
          <p:nvPr/>
        </p:nvSpPr>
        <p:spPr>
          <a:xfrm>
            <a:off x="365760" y="1097280"/>
            <a:ext cx="8412480" cy="685800"/>
          </a:xfrm>
          <a:prstGeom prst="roundRect">
            <a:avLst>
              <a:gd name="adj" fmla="val 13333"/>
            </a:avLst>
          </a:prstGeom>
          <a:solidFill>
            <a:srgbClr val="FFFFFF"/>
          </a:solidFill>
          <a:ln w="19050">
            <a:solidFill>
              <a:srgbClr val="D4943A"/>
            </a:solidFill>
            <a:prstDash val="solid"/>
          </a:ln>
        </p:spPr>
      </p:sp>
      <p:sp>
        <p:nvSpPr>
          <p:cNvPr id="7" name="Text 5"/>
          <p:cNvSpPr/>
          <p:nvPr/>
        </p:nvSpPr>
        <p:spPr>
          <a:xfrm>
            <a:off x="594360" y="1188720"/>
            <a:ext cx="7955280" cy="5029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 Pick one of the four problems (food, shelter, tools, or resources). Describe one specific way Florida's first peoples solved it.</a:t>
            </a:r>
            <a:endParaRPr lang="en-US" sz="1200" dirty="0"/>
          </a:p>
        </p:txBody>
      </p:sp>
      <p:sp>
        <p:nvSpPr>
          <p:cNvPr id="8" name="Shape 6"/>
          <p:cNvSpPr/>
          <p:nvPr/>
        </p:nvSpPr>
        <p:spPr>
          <a:xfrm>
            <a:off x="365760" y="1847088"/>
            <a:ext cx="8412480" cy="685800"/>
          </a:xfrm>
          <a:prstGeom prst="roundRect">
            <a:avLst>
              <a:gd name="adj" fmla="val 13333"/>
            </a:avLst>
          </a:prstGeom>
          <a:solidFill>
            <a:srgbClr val="FFFFFF"/>
          </a:solidFill>
          <a:ln w="19050">
            <a:solidFill>
              <a:srgbClr val="D4943A"/>
            </a:solidFill>
            <a:prstDash val="solid"/>
          </a:ln>
        </p:spPr>
      </p:sp>
      <p:sp>
        <p:nvSpPr>
          <p:cNvPr id="9" name="Text 7"/>
          <p:cNvSpPr/>
          <p:nvPr/>
        </p:nvSpPr>
        <p:spPr>
          <a:xfrm>
            <a:off x="594360" y="1938528"/>
            <a:ext cx="7955280" cy="5029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2. Connect a tool, shelter, or food to Florida's environment. Why does it make sense here?</a:t>
            </a:r>
            <a:endParaRPr lang="en-US" sz="1200" dirty="0"/>
          </a:p>
        </p:txBody>
      </p:sp>
      <p:sp>
        <p:nvSpPr>
          <p:cNvPr id="10" name="Shape 8"/>
          <p:cNvSpPr/>
          <p:nvPr/>
        </p:nvSpPr>
        <p:spPr>
          <a:xfrm>
            <a:off x="365760" y="2596896"/>
            <a:ext cx="8412480" cy="685800"/>
          </a:xfrm>
          <a:prstGeom prst="roundRect">
            <a:avLst>
              <a:gd name="adj" fmla="val 13333"/>
            </a:avLst>
          </a:prstGeom>
          <a:solidFill>
            <a:srgbClr val="FFFFFF"/>
          </a:solidFill>
          <a:ln w="19050">
            <a:solidFill>
              <a:srgbClr val="D4943A"/>
            </a:solidFill>
            <a:prstDash val="solid"/>
          </a:ln>
        </p:spPr>
      </p:sp>
      <p:sp>
        <p:nvSpPr>
          <p:cNvPr id="11" name="Text 9"/>
          <p:cNvSpPr/>
          <p:nvPr/>
        </p:nvSpPr>
        <p:spPr>
          <a:xfrm>
            <a:off x="594360" y="2688336"/>
            <a:ext cx="7955280" cy="5029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3. Be a historian-citizen and tell the honest truth: would you call the first peoples' lives "simple"? Why or why not?</a:t>
            </a:r>
            <a:endParaRPr lang="en-US" sz="1200" dirty="0"/>
          </a:p>
        </p:txBody>
      </p:sp>
      <p:sp>
        <p:nvSpPr>
          <p:cNvPr id="12" name="Shape 10"/>
          <p:cNvSpPr/>
          <p:nvPr/>
        </p:nvSpPr>
        <p:spPr>
          <a:xfrm>
            <a:off x="365760" y="3383280"/>
            <a:ext cx="8412480" cy="960120"/>
          </a:xfrm>
          <a:prstGeom prst="roundRect">
            <a:avLst>
              <a:gd name="adj" fmla="val 11429"/>
            </a:avLst>
          </a:prstGeom>
          <a:solidFill>
            <a:srgbClr val="FFF3DC"/>
          </a:solidFill>
          <a:ln w="19050">
            <a:solidFill>
              <a:srgbClr val="D4943A"/>
            </a:solidFill>
            <a:prstDash val="solid"/>
          </a:ln>
        </p:spPr>
      </p:sp>
      <p:sp>
        <p:nvSpPr>
          <p:cNvPr id="13" name="Text 11"/>
          <p:cNvSpPr/>
          <p:nvPr/>
        </p:nvSpPr>
        <p:spPr>
          <a:xfrm>
            <a:off x="594360" y="3474720"/>
            <a:ext cx="795528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 Historian's Notebook Entry:</a:t>
            </a:r>
            <a:endParaRPr lang="en-US" sz="1000" dirty="0"/>
          </a:p>
        </p:txBody>
      </p:sp>
      <p:sp>
        <p:nvSpPr>
          <p:cNvPr id="14" name="Text 12"/>
          <p:cNvSpPr/>
          <p:nvPr/>
        </p:nvSpPr>
        <p:spPr>
          <a:xfrm>
            <a:off x="594360" y="3749040"/>
            <a:ext cx="7955280" cy="502920"/>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Pick ONE object (chickee, dugout canoe, palmetto basket, clay pot, chert spear point, shell tool). Write 4 sentences: (1) name, (2) material, (3) problem it solved, (4) one honest sentence about the skill it took.</a:t>
            </a:r>
            <a:endParaRPr lang="en-US" sz="1100" dirty="0"/>
          </a:p>
        </p:txBody>
      </p:sp>
      <p:sp>
        <p:nvSpPr>
          <p:cNvPr id="15" name="Shape 13"/>
          <p:cNvSpPr/>
          <p:nvPr/>
        </p:nvSpPr>
        <p:spPr>
          <a:xfrm>
            <a:off x="365760" y="4434840"/>
            <a:ext cx="8412480" cy="411480"/>
          </a:xfrm>
          <a:prstGeom prst="roundRect">
            <a:avLst>
              <a:gd name="adj" fmla="val 22222"/>
            </a:avLst>
          </a:prstGeom>
          <a:solidFill>
            <a:srgbClr val="E2F4F0"/>
          </a:solidFill>
          <a:ln w="12700">
            <a:solidFill>
              <a:srgbClr val="1A8A7D"/>
            </a:solidFill>
            <a:prstDash val="solid"/>
          </a:ln>
        </p:spPr>
      </p:sp>
      <p:sp>
        <p:nvSpPr>
          <p:cNvPr id="16" name="Text 14"/>
          <p:cNvSpPr/>
          <p:nvPr/>
        </p:nvSpPr>
        <p:spPr>
          <a:xfrm>
            <a:off x="594360" y="4480560"/>
            <a:ext cx="7955280" cy="320040"/>
          </a:xfrm>
          <a:prstGeom prst="rect">
            <a:avLst/>
          </a:prstGeom>
          <a:noFill/>
          <a:ln/>
        </p:spPr>
        <p:txBody>
          <a:bodyPr wrap="square"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Historian's Sentence: 'In this lesson, I learned that ______ because ______.'</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548640"/>
            <a:ext cx="8229600" cy="365760"/>
          </a:xfrm>
          <a:prstGeom prst="rect">
            <a:avLst/>
          </a:prstGeom>
          <a:noFill/>
          <a:ln/>
        </p:spPr>
        <p:txBody>
          <a:bodyPr wrap="square" rtlCol="0" anchor="ctr"/>
          <a:lstStyle/>
          <a:p>
            <a:pPr algn="ctr" indent="0" marL="0">
              <a:buNone/>
            </a:pPr>
            <a:r>
              <a:rPr lang="en-US" sz="1400" b="1" spc="300" kern="0" dirty="0">
                <a:solidFill>
                  <a:srgbClr val="D4943A"/>
                </a:solidFill>
                <a:latin typeface="Calibri" pitchFamily="34" charset="0"/>
                <a:ea typeface="Calibri" pitchFamily="34" charset="-122"/>
                <a:cs typeface="Calibri" pitchFamily="34" charset="-120"/>
              </a:rPr>
              <a:t>FILE UNLOCKED</a:t>
            </a:r>
            <a:endParaRPr lang="en-US" sz="1400" dirty="0"/>
          </a:p>
        </p:txBody>
      </p:sp>
      <p:sp>
        <p:nvSpPr>
          <p:cNvPr id="6" name="Text 3"/>
          <p:cNvSpPr/>
          <p:nvPr/>
        </p:nvSpPr>
        <p:spPr>
          <a:xfrm>
            <a:off x="457200" y="1005840"/>
            <a:ext cx="8229600" cy="128016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Great Work,</a:t>
            </a:r>
            <a:endParaRPr lang="en-US" sz="4000" dirty="0"/>
          </a:p>
          <a:p>
            <a:pPr algn="ctr" indent="0" marL="0">
              <a:buNone/>
            </a:pPr>
            <a:r>
              <a:rPr lang="en-US" sz="4000" b="1" dirty="0">
                <a:solidFill>
                  <a:srgbClr val="FFFFFF"/>
                </a:solidFill>
                <a:latin typeface="Cambria" pitchFamily="34" charset="0"/>
                <a:ea typeface="Cambria" pitchFamily="34" charset="-122"/>
                <a:cs typeface="Cambria" pitchFamily="34" charset="-120"/>
              </a:rPr>
              <a:t>Florida Historian.</a:t>
            </a:r>
            <a:endParaRPr lang="en-US" sz="4000" dirty="0"/>
          </a:p>
        </p:txBody>
      </p:sp>
      <p:sp>
        <p:nvSpPr>
          <p:cNvPr id="7" name="Shape 4"/>
          <p:cNvSpPr/>
          <p:nvPr/>
        </p:nvSpPr>
        <p:spPr>
          <a:xfrm>
            <a:off x="914400" y="2423160"/>
            <a:ext cx="7315200" cy="1280160"/>
          </a:xfrm>
          <a:prstGeom prst="roundRect">
            <a:avLst>
              <a:gd name="adj" fmla="val 12857"/>
            </a:avLst>
          </a:prstGeom>
          <a:solidFill>
            <a:srgbClr val="1A2D5A">
              <a:alpha val="85000"/>
            </a:srgbClr>
          </a:solidFill>
          <a:ln w="19050">
            <a:solidFill>
              <a:srgbClr val="55C8E8"/>
            </a:solidFill>
            <a:prstDash val="solid"/>
          </a:ln>
        </p:spPr>
      </p:sp>
      <p:sp>
        <p:nvSpPr>
          <p:cNvPr id="8" name="Text 5"/>
          <p:cNvSpPr/>
          <p:nvPr/>
        </p:nvSpPr>
        <p:spPr>
          <a:xfrm>
            <a:off x="1143000" y="2542032"/>
            <a:ext cx="6858000" cy="105156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Food, shelter, tools, and resources show how people met needs and used their environment wisely. Florida's first peoples solved every one of these four problems — not with luck, but with deep knowledge and real skill.</a:t>
            </a:r>
            <a:endParaRPr lang="en-US" sz="1300" dirty="0"/>
          </a:p>
        </p:txBody>
      </p:sp>
      <p:sp>
        <p:nvSpPr>
          <p:cNvPr id="9" name="Text 6"/>
          <p:cNvSpPr/>
          <p:nvPr/>
        </p:nvSpPr>
        <p:spPr>
          <a:xfrm>
            <a:off x="914400" y="3822192"/>
            <a:ext cx="7315200" cy="256032"/>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COMING UP NEXT:</a:t>
            </a:r>
            <a:endParaRPr lang="en-US" sz="1100" dirty="0"/>
          </a:p>
        </p:txBody>
      </p:sp>
      <p:sp>
        <p:nvSpPr>
          <p:cNvPr id="10" name="Text 7"/>
          <p:cNvSpPr/>
          <p:nvPr/>
        </p:nvSpPr>
        <p:spPr>
          <a:xfrm>
            <a:off x="914400" y="4087368"/>
            <a:ext cx="7315200" cy="411480"/>
          </a:xfrm>
          <a:prstGeom prst="rect">
            <a:avLst/>
          </a:prstGeom>
          <a:noFill/>
          <a:ln/>
        </p:spPr>
        <p:txBody>
          <a:bodyPr wrap="square" rtlCol="0" anchor="ctr"/>
          <a:lstStyle/>
          <a:p>
            <a:pPr algn="ctr" indent="0" marL="0">
              <a:buNone/>
            </a:pPr>
            <a:r>
              <a:rPr lang="en-US" sz="1300" i="1" dirty="0">
                <a:solidFill>
                  <a:srgbClr val="F0F2F8"/>
                </a:solidFill>
                <a:latin typeface="Cambria" pitchFamily="34" charset="0"/>
                <a:ea typeface="Cambria" pitchFamily="34" charset="-122"/>
                <a:cs typeface="Cambria" pitchFamily="34" charset="-120"/>
              </a:rPr>
              <a:t>Lesson 4.03.04 — Artifacts as Evidence: How do historians read objects when there are no written records?</a:t>
            </a:r>
            <a:endParaRPr lang="en-US" sz="1300" dirty="0"/>
          </a:p>
        </p:txBody>
      </p:sp>
      <p:sp>
        <p:nvSpPr>
          <p:cNvPr id="11" name="Text 8"/>
          <p:cNvSpPr/>
          <p:nvPr/>
        </p:nvSpPr>
        <p:spPr>
          <a:xfrm>
            <a:off x="914400" y="4572000"/>
            <a:ext cx="7315200" cy="292608"/>
          </a:xfrm>
          <a:prstGeom prst="rect">
            <a:avLst/>
          </a:prstGeom>
          <a:noFill/>
          <a:ln/>
        </p:spPr>
        <p:txBody>
          <a:bodyPr wrap="square" rtlCol="0" anchor="ctr"/>
          <a:lstStyle/>
          <a:p>
            <a:pPr algn="ctr" indent="0" marL="0">
              <a:buNone/>
            </a:pPr>
            <a:r>
              <a:rPr lang="en-US" sz="1200" b="1" dirty="0">
                <a:solidFill>
                  <a:srgbClr val="55C8E8"/>
                </a:solidFill>
                <a:latin typeface="Calibri" pitchFamily="34" charset="0"/>
                <a:ea typeface="Calibri" pitchFamily="34" charset="-122"/>
                <a:cs typeface="Calibri" pitchFamily="34" charset="-120"/>
              </a:rPr>
              <a:t>Copy or download your work and submit to Canvas!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2026-07-13T20:42:46Z</dcterms:created>
  <dcterms:modified xsi:type="dcterms:W3CDTF">2026-07-13T20:42:46Z</dcterms:modified>
</cp:coreProperties>
</file>