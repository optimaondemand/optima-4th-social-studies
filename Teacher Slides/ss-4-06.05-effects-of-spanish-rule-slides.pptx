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TO INSERT: Aerial view of Castillo de San Marcos at St. Augustine, Florida -- dramatic overhead shot showing coquina stone star fort and the bay, warm golden light, painted illustration style evoking colonial Florida. Teacher note: welcome students to Lesson 4.06.05. Today is about tracing effects -- not just what Spain did, but what changed as a result and for whom.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TO INSERT: Interior of a dimly lit archive room, old Spanish colonial documents and maps spread across a stone table, a doorway glowing at the far end. Dramatic shadows. Painted illustration style. Set the scene with energy. Ask: What does it mean to have your evidence disconnected? A historian who only sees causes but no effects is like a detective with clues but no conclusion. Do NOT preview the four effects yet -- build suspense around the unlocked door.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image silently for 5 seconds. Then: What do you notice about this structure? Type in chat -- do not answer out loud yet. After chat responses: Why might Spain have built something like this in Florida? What problem were they solving? Do NOT give the name Castillo yet. Let students land near: defense, protection, permanence.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Push beyond 'they needed defense.' Ask: defense from WHOM? England, pirates, and competing Native nations all had interests in Florida. The Castillo was built from coquina -- a shell-rock that absorbed cannonballs rather than shattering. Ask: why does building material matter as evidence? If a student says Spain wanted to own Florida, ask: what is the difference between claiming land and governing it?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move: the fort is a primary source but an incomplete one. It shows WHAT was built; it does not tell us what Native people nearby thought about it, or how workers who helped build it experienced it. Ask: Who gets left out when the only source is the victor's building? Push for the perspective question -- the missing voice is essential to historical thinking.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TO INSERT: Split image -- left side shows a Spanish mission bell tower in a Florida forest clearing; right side shows early cattle ranching on Florida flatlands. Warm golden light. Painted illustration style. Name the concepts only AFTER students discuss: Spain did not just plant a flag -- they built systems. Retrieval check: ask 2-3 students to name all four effects (defense, religion, economy, effects on Native peoples -- coming next).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multi-source synthesis move. Ask: Can we get the full picture of Spanish rule from just the fort? What does Source B add that Source A cannot tell us? Students should see: military control (defense) and cultural/economic control (missions, ranching) are DIFFERENT kinds of effects -- and both matter. Push for the because in the second chat frame.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TO INSERT: Quiet, dignified illustration of a Florida landscape at dusk -- Timucua village or Calusa coastal community. Warm but somber tones. No violent imagery. Respectful, reflective mood. Approach with care -- this is not a both-sides moment. The evidence is not balanced. Disease and disruption caused catastrophic harm to Native communities. Ask: why might some accounts leave this out? What does that tell us about whose stories get recorded?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think-aloud aloud -- do not just show it on screen. Then ask: What did I do first? (stated a claim). What came next? (cited evidence with a source and detail). What last? (explained the connection -- why this counts as a lasting effect). Emphasize the because structure. This is the exact scaffold for both assignment questions and the Unlock Challenge.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2 minutes to type their claim and defense in chat. Then call on 2-3 students and plant a counterargument: Could someone argue this was not really a lasting effect? Students should respond using their evidence. Do not resolve -- ask: Is the evidence strong enough? What would make it stronger? This rehearses what they need for Assignment Questions 1 and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sample aloud. Ask: Is this a passing response? Students often say yes too quickly. Push: does it explain WHY the Castillo is evidence of a lasting effect? Does it name the cause? 'They changed stuff' is intentionally vague -- call it out. A good critique names WHAT is missing, not just 'needs more detail.' Expect students to identify: no cause named, no explanation of what specifically changed, evidence is just a name not a described artifact.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resolve this question for students. Hold the tension. If students want a definitive answer, say: Historians disagree about this too. A careful historian states a position AND acknowledges the strongest counter-evidence. The goal: students see that 'it depends on whose perspective' is a legitimate historical answer when backed by evidence. This directly prepares them for the Unlock Challenge.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question before releasing students to work. Ask: Have we talked about an effect on land or buildings? Yes -- the Castillo and the mission chain. Have we talked about effects on people? Yes -- Native peoples, mission communities, traders. Students should feel prepared because they have already practiced both question types in Slides 10 and 11. Point out: the Unlock Challenge structure matches exactly what we modeled in the teacher think-aloud on Slide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TO INSERT: The archive room from Slide 2 -- now with documents reconnected, causes and effects pinned together on the wall with golden thread, a door at the far end standing open and glowing with warm light. Celebratory but dignified. Painted illustration style. Teacher note: celebrate the thinking work, not just the content. Today students evaluated evidence, defended claims, and named who suffered. That is what historians do. Connect Self-Governance: historians govern their own thinking -- they decide what to believe based on evidence. Coming next teaser: if Spain put so much into Florida, why did they eventually give it up?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835"/>
          </a:solidFill>
          <a:ln w="19050">
            <a:solidFill>
              <a:srgbClr val="3A5080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1C42">
              <a:alpha val="62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3474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4.06.05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749808"/>
            <a:ext cx="8229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Effects of Spanish Rule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Florida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3200400" y="2578608"/>
            <a:ext cx="2743200" cy="45720"/>
          </a:xfrm>
          <a:prstGeom prst="rect">
            <a:avLst/>
          </a:prstGeom>
          <a:solidFill>
            <a:srgbClr val="D4943A"/>
          </a:solidFill>
          <a:ln w="12700">
            <a:solidFill>
              <a:srgbClr val="D4943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2724912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3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did Spanish rule change life and land in Florida?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4400" y="34290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Florida Files -- Field Historian on the Florida History Team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14400" y="448056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SS.4.A.3.2 | SS.4.A.3.3 | SS.4.A.3.4 | SS.4.A.3.6 | SS.4.A.9.1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835"/>
          </a:solidFill>
          <a:ln w="19050">
            <a:solidFill>
              <a:srgbClr val="3A5080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1C42">
              <a:alpha val="6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FLORIDA FILES: MISSION BRIEF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49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 Ms. Rivera is trapped inside Canvas.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8046720" cy="1828800"/>
          </a:xfrm>
          <a:prstGeom prst="roundRect">
            <a:avLst>
              <a:gd name="adj" fmla="val 7500"/>
            </a:avLst>
          </a:prstGeom>
          <a:solidFill>
            <a:srgbClr val="1A2D5A"/>
          </a:solidFill>
          <a:ln w="19050">
            <a:solidFill>
              <a:srgbClr val="3A50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25880"/>
            <a:ext cx="753465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"We're near the end of this old wing. Canvas split a Spanish Florida file into causes on one wall and effects on the other -- with the connections wiped out. I can see a door at the far end. I think it's the way to the next part of the course. Help me reconnect the evidence."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18211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ROLE: Field Historian -- Florida History Team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356616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Mission: Reconnect causes and effects of Spanish rule in Florida.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evidence to trace what changed -- and for whom.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CLUE BOX: SOURCE STUDY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47548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 you observe here?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754880" cy="3291840"/>
          </a:xfrm>
          <a:prstGeom prst="roundRect">
            <a:avLst>
              <a:gd name="adj" fmla="val 3333"/>
            </a:avLst>
          </a:prstGeom>
          <a:solidFill>
            <a:srgbClr val="E2E8F4"/>
          </a:solidFill>
          <a:ln w="19050">
            <a:solidFill>
              <a:srgbClr val="B0B8CC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274320" y="9601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234440"/>
            <a:ext cx="44805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Castillo de San Marcos, St. Augustine, Florida -- star-shaped coquina stone fort with moat and cannon placements. Built by Spain starting 1672 to defend against English and pirate attacks.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43434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closely. Notice materials, shape, size, location.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212080" y="960120"/>
            <a:ext cx="3383280" cy="2011680"/>
          </a:xfrm>
          <a:prstGeom prst="roundRect">
            <a:avLst>
              <a:gd name="adj" fmla="val 5455"/>
            </a:avLst>
          </a:prstGeom>
          <a:solidFill>
            <a:srgbClr val="FFF3DC"/>
          </a:solidFill>
          <a:ln w="19050">
            <a:solidFill>
              <a:srgbClr val="F5E6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49240" y="101498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FRAME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349240" y="1216152"/>
            <a:ext cx="31089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 notice... which makes me think..."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"This looks like it was built to... because..."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212080" y="3090672"/>
            <a:ext cx="3383280" cy="685800"/>
          </a:xfrm>
          <a:prstGeom prst="roundRect">
            <a:avLst>
              <a:gd name="adj" fmla="val 13333"/>
            </a:avLst>
          </a:prstGeom>
          <a:solidFill>
            <a:srgbClr val="E8F4EE"/>
          </a:solidFill>
          <a:ln w="12700">
            <a:solidFill>
              <a:srgbClr val="9ECF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49240" y="31546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SILENCE CUE: 5 seconds to observe before sharing.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DISCUSSION: GOVERNMENT AND DEFENSE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475488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would Spain build a permanent fort in Florida?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5029200" cy="3246120"/>
          </a:xfrm>
          <a:prstGeom prst="roundRect">
            <a:avLst>
              <a:gd name="adj" fmla="val 4225"/>
            </a:avLst>
          </a:prstGeom>
          <a:solidFill>
            <a:srgbClr val="1A2D5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972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QUESTIONS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53312"/>
            <a:ext cx="4663440" cy="2807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a fort tell us about what Spain was afraid of -- and who else wanted Florida?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permanent structure is different from just claiming land. Why does that distinction matter?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evidence best supports the idea that Spain intended to stay in Florida?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this decision show Spain governing Florida, not just visiting it?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005840"/>
            <a:ext cx="3200400" cy="2194560"/>
          </a:xfrm>
          <a:prstGeom prst="roundRect">
            <a:avLst>
              <a:gd name="adj" fmla="val 5000"/>
            </a:avLst>
          </a:prstGeom>
          <a:solidFill>
            <a:srgbClr val="FFF3DC"/>
          </a:solidFill>
          <a:ln w="19050">
            <a:solidFill>
              <a:srgbClr val="F5E6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23560" y="106070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FRAME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623560" y="1261872"/>
            <a:ext cx="29260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"Spain built the Castillo because..."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 strongest evidence that Spain intended to stay is... because..."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0" y="3337560"/>
            <a:ext cx="3200400" cy="914400"/>
          </a:xfrm>
          <a:prstGeom prst="roundRect">
            <a:avLst>
              <a:gd name="adj" fmla="val 10000"/>
            </a:avLst>
          </a:prstGeom>
          <a:solidFill>
            <a:srgbClr val="DDE8F5"/>
          </a:solidFill>
          <a:ln w="12700">
            <a:solidFill>
              <a:srgbClr val="B0C8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23560" y="3401568"/>
            <a:ext cx="29260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Context: Spain founded St. Augustine in 1565 -- the oldest continuously occupied European settlement in what is now the United States.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EVALUATION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475488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we use the Castillo as historical evidence?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3200400" cy="2331720"/>
          </a:xfrm>
          <a:prstGeom prst="roundRect">
            <a:avLst>
              <a:gd name="adj" fmla="val 4706"/>
            </a:avLst>
          </a:prstGeom>
          <a:solidFill>
            <a:srgbClr val="E2E8F4"/>
          </a:solidFill>
          <a:ln w="19050">
            <a:solidFill>
              <a:srgbClr val="B0B8CC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274320" y="10241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298448"/>
            <a:ext cx="292608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Castillo de San Marcos -- same image as Slide 3, smaller reference copy for source evaluation.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1024128"/>
            <a:ext cx="4937760" cy="3154680"/>
          </a:xfrm>
          <a:prstGeom prst="roundRect">
            <a:avLst>
              <a:gd name="adj" fmla="val 4348"/>
            </a:avLst>
          </a:prstGeom>
          <a:solidFill>
            <a:srgbClr val="1A2D5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840480" y="11155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THE SOURCE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40480" y="1371600"/>
            <a:ext cx="4572000" cy="2715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created this structure, and why? Does the creator's purpose affect what it tells us?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building a reliable source? What can buildings NOT tell us?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Whose perspective is missing -- whose story does this structure NOT show?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would this source compare to a written account from the same era?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3493008"/>
            <a:ext cx="3200400" cy="749808"/>
          </a:xfrm>
          <a:prstGeom prst="roundRect">
            <a:avLst>
              <a:gd name="adj" fmla="val 12195"/>
            </a:avLst>
          </a:prstGeom>
          <a:solidFill>
            <a:srgbClr val="DDE8F5"/>
          </a:solidFill>
          <a:ln w="12700">
            <a:solidFill>
              <a:srgbClr val="B0C8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3547872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Chat: I would / would not trust this source for ___ because...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835"/>
          </a:solidFill>
          <a:ln w="19050">
            <a:solidFill>
              <a:srgbClr val="3A5080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1C42">
              <a:alpha val="6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DISCOVERED IT.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Spain changed more than just the defense of Florida.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4023360" cy="2514600"/>
          </a:xfrm>
          <a:prstGeom prst="roundRect">
            <a:avLst>
              <a:gd name="adj" fmla="val 5455"/>
            </a:avLst>
          </a:prstGeom>
          <a:solidFill>
            <a:srgbClr val="1A2D5A"/>
          </a:solidFill>
          <a:ln w="19050">
            <a:solidFill>
              <a:srgbClr val="3A50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5331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RELIGION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664208"/>
            <a:ext cx="3657600" cy="1993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Missionaries built a chain of missions across Florida.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taught Catholic faith and Spanish language to Native communities.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mission system became a new form of Spanish authority over land and people.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261872"/>
            <a:ext cx="4023360" cy="2514600"/>
          </a:xfrm>
          <a:prstGeom prst="roundRect">
            <a:avLst>
              <a:gd name="adj" fmla="val 5455"/>
            </a:avLst>
          </a:prstGeom>
          <a:solidFill>
            <a:srgbClr val="1A2D5A"/>
          </a:solidFill>
          <a:ln w="19050">
            <a:solidFill>
              <a:srgbClr val="3A50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35331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ECONOMY AND TRADE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37760" y="1664208"/>
            <a:ext cx="3657600" cy="1993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Spain introduced cattle ranching and new crops.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connected Florida to Cuba and other Spanish colonies.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changed what people in Florida ate, raised, and exchanged.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3950208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Retrieval: Cover this slide. Name all FOUR effects of Spanish rule we have found so far.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COMPARE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45720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sources. One question: What changed in Florida under Spanish rule?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74320" y="9875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A: Castillo de San Marcos (physical structure, built 1672)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298448"/>
            <a:ext cx="4114800" cy="2331720"/>
          </a:xfrm>
          <a:prstGeom prst="roundRect">
            <a:avLst>
              <a:gd name="adj" fmla="val 4706"/>
            </a:avLst>
          </a:prstGeom>
          <a:solidFill>
            <a:srgbClr val="E2E8F4"/>
          </a:solidFill>
          <a:ln w="19050">
            <a:solidFill>
              <a:srgbClr val="B0B8CC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274320" y="12984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1572768"/>
            <a:ext cx="384048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Castillo de San Marcos -- star-shaped coquina fort, aerial or ground-level view representing Spanish military defense of St. Augustine.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0" y="9875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B: Spanish Mission Chain Map (1600s-1700s)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1298448"/>
            <a:ext cx="4114800" cy="2331720"/>
          </a:xfrm>
          <a:prstGeom prst="roundRect">
            <a:avLst>
              <a:gd name="adj" fmla="val 4706"/>
            </a:avLst>
          </a:prstGeom>
          <a:solidFill>
            <a:srgbClr val="E2E8F4"/>
          </a:solidFill>
          <a:ln w="19050">
            <a:solidFill>
              <a:srgbClr val="B0B8CC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4572000" y="12984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709160" y="1572768"/>
            <a:ext cx="384048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map showing the chain of Spanish missions across Florida, OR a colonial-era document showing a cattle rancho land grant. Should visually contrast with the military fort of Source A.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3767328"/>
            <a:ext cx="8595360" cy="1024128"/>
          </a:xfrm>
          <a:prstGeom prst="roundRect">
            <a:avLst>
              <a:gd name="adj" fmla="val 10714"/>
            </a:avLst>
          </a:prstGeom>
          <a:solidFill>
            <a:srgbClr val="FFF3DC"/>
          </a:solidFill>
          <a:ln w="19050">
            <a:solidFill>
              <a:srgbClr val="F5E6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82219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FRAME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11480" y="4023360"/>
            <a:ext cx="83210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"Source A and Source B agree about... but disagree about..."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"Together, these sources help me conclude that... because both show that Spain was trying to..."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835"/>
          </a:solidFill>
          <a:ln w="19050">
            <a:solidFill>
              <a:srgbClr val="3A5080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1C42">
              <a:alpha val="6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EFFECTS ON NATIVE PEOPLES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D49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careful historian remembers all of these effects.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8229600" cy="2240280"/>
          </a:xfrm>
          <a:prstGeom prst="roundRect">
            <a:avLst>
              <a:gd name="adj" fmla="val 6122"/>
            </a:avLst>
          </a:prstGeom>
          <a:solidFill>
            <a:srgbClr val="1A2D5A"/>
          </a:solidFill>
          <a:ln w="19050">
            <a:solidFill>
              <a:srgbClr val="3A50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298448"/>
            <a:ext cx="77724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Calusa, Timucua, and other Native nations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were already living in Florida before Spanish arrival.
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mission system changed Native daily life -- new religious practices, Spanish language, and new labor systems were introduced.
</a:t>
            </a:r>
            <a:pPr indent="0" marL="0">
              <a:buNone/>
            </a:pPr>
            <a:r>
              <a:rPr lang="en-US" sz="1300" i="1" dirty="0">
                <a:solidFill>
                  <a:srgbClr val="E8B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Diseases like smallpox, brought by Europeans, caused devastating loss of life in Native communities.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547872"/>
            <a:ext cx="8229600" cy="1170432"/>
          </a:xfrm>
          <a:prstGeom prst="roundRect">
            <a:avLst>
              <a:gd name="adj" fmla="val 11719"/>
            </a:avLst>
          </a:prstGeom>
          <a:solidFill>
            <a:srgbClr val="1A2D5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363931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QUESTIONS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3895344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benefited from Spanish rule in Florida -- and who suffered? What evidence supports each side?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answer change depending on whose perspective you take?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might some historical accounts leave this part of the story out?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PRACTICE: TEACHER MODEL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475488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how I build a cause-and-effect claim.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8595360" cy="1828800"/>
          </a:xfrm>
          <a:prstGeom prst="roundRect">
            <a:avLst>
              <a:gd name="adj" fmla="val 7500"/>
            </a:avLst>
          </a:prstGeom>
          <a:solidFill>
            <a:srgbClr val="1A2D5A"/>
          </a:solidFill>
          <a:ln w="19050">
            <a:solidFill>
              <a:srgbClr val="3A50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6070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THINK-ALOUD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44168"/>
            <a:ext cx="822960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"My claim: One effect of Spanish rule on Florida's defense was the building of the Castillo de San Marcos.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evidence: Spain built the Castillo from coquina stone starting in 1672 to protect St. Augustine from English and pirate attacks.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explanation: Because England threatened Spain's settlements, Spain built a permanent fort -- which shows that Spanish rule created a lasting physical change on Florida's land and defense."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2944368"/>
            <a:ext cx="8595360" cy="658368"/>
          </a:xfrm>
          <a:prstGeom prst="roundRect">
            <a:avLst>
              <a:gd name="adj" fmla="val 16667"/>
            </a:avLst>
          </a:prstGeom>
          <a:solidFill>
            <a:srgbClr val="E8F4EE"/>
          </a:solidFill>
          <a:ln w="19050">
            <a:solidFill>
              <a:srgbClr val="9ECF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0175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PATTERN: Because [CAUSE], [EFFECT] happened. The evidence is [SOURCE].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37490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STRUCTURE:  Claim  --&gt;  Evidence  --&gt;  Explanation  --&gt;  Connection to Pattern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" y="41605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you try it. Keep this structure in mind.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PRACTICE: DEFEND YOUR CLAIM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475488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pick an effect. You defend it.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8595360" cy="640080"/>
          </a:xfrm>
          <a:prstGeom prst="roundRect">
            <a:avLst>
              <a:gd name="adj" fmla="val 17143"/>
            </a:avLst>
          </a:prstGeom>
          <a:solidFill>
            <a:srgbClr val="DDE8F5"/>
          </a:solidFill>
          <a:ln w="19050">
            <a:solidFill>
              <a:srgbClr val="B0C8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today's evidence, choose ONE effect of Spanish rule. Build your claim using: Claim -- Evidence -- Explanation.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783080"/>
            <a:ext cx="4754880" cy="2514600"/>
          </a:xfrm>
          <a:prstGeom prst="roundRect">
            <a:avLst>
              <a:gd name="adj" fmla="val 5455"/>
            </a:avLst>
          </a:prstGeom>
          <a:solidFill>
            <a:srgbClr val="1A2D5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87452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QUESTIONS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2130552"/>
            <a:ext cx="4389120" cy="2075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effect will you defend, and what is your strongest piece of evidence?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someone who DISAGREES with your claim say?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your evidence strong enough to withstand that challenge -- and why?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212080" y="1783080"/>
            <a:ext cx="3474720" cy="2514600"/>
          </a:xfrm>
          <a:prstGeom prst="roundRect">
            <a:avLst>
              <a:gd name="adj" fmla="val 4364"/>
            </a:avLst>
          </a:prstGeom>
          <a:solidFill>
            <a:srgbClr val="FFF3DC"/>
          </a:solidFill>
          <a:ln w="19050">
            <a:solidFill>
              <a:srgbClr val="F5E6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49240" y="183794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FRAME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349240" y="2039112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"My strongest evidence for this effect is ___ because..."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"Someone might disagree by saying ___, but I would respond that... because the evidence shows..."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PRACTICE: EVIDENCE CRITIQUE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475488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this response strong -- or weak?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8595360" cy="1353312"/>
          </a:xfrm>
          <a:prstGeom prst="roundRect">
            <a:avLst>
              <a:gd name="adj" fmla="val 10135"/>
            </a:avLst>
          </a:prstGeom>
          <a:solidFill>
            <a:srgbClr val="FFFBE8"/>
          </a:solidFill>
          <a:ln w="25400">
            <a:solidFill>
              <a:srgbClr val="E0D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6070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B0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SAMPLE RESPONSE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"One effect of Spanish rule was that they built things. Spain was in Florida for a long time and they changed stuff. My evidence is the Castillo de San Marcos."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2487168"/>
            <a:ext cx="4937760" cy="2148840"/>
          </a:xfrm>
          <a:prstGeom prst="roundRect">
            <a:avLst>
              <a:gd name="adj" fmla="val 6383"/>
            </a:avLst>
          </a:prstGeom>
          <a:solidFill>
            <a:srgbClr val="1A2D5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25786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QUESTIONS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834640"/>
            <a:ext cx="457200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response names a claim and cites a source. What is it missing?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phrase 'changed stuff' is vague. What specific effect should replace it?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would you revise the explanation to show a clear cause-and-effect connection?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one sentence would make this response significantly stronger?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94960" y="2487168"/>
            <a:ext cx="3291840" cy="2148840"/>
          </a:xfrm>
          <a:prstGeom prst="roundRect">
            <a:avLst>
              <a:gd name="adj" fmla="val 5106"/>
            </a:avLst>
          </a:prstGeom>
          <a:solidFill>
            <a:srgbClr val="FFF3DC"/>
          </a:solidFill>
          <a:ln w="19050">
            <a:solidFill>
              <a:srgbClr val="F5E6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32120" y="254203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FRAME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532120" y="274320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"This response is weak because it does not explain... I would revise it to say..."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"A stronger version would include... because that would show..."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8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TRICKY ONE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457200"/>
            <a:ext cx="8595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Spanish rule overall beneficial or harmful for Florida?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8595360" cy="548640"/>
          </a:xfrm>
          <a:prstGeom prst="roundRect">
            <a:avLst>
              <a:gd name="adj" fmla="val 16667"/>
            </a:avLst>
          </a:prstGeom>
          <a:solidFill>
            <a:srgbClr val="DDE8F5"/>
          </a:solidFill>
          <a:ln w="12700">
            <a:solidFill>
              <a:srgbClr val="B0C8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15568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question historians genuinely debate. There is more than one defensible answer -- as long as it is supported by evidence.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737360"/>
            <a:ext cx="5029200" cy="2880360"/>
          </a:xfrm>
          <a:prstGeom prst="roundRect">
            <a:avLst>
              <a:gd name="adj" fmla="val 4762"/>
            </a:avLst>
          </a:prstGeom>
          <a:solidFill>
            <a:srgbClr val="1A2D5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82880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QUESTIONS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2084832"/>
            <a:ext cx="4663440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evidence would you use to argue it was BENEFICIAL? For whom?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evidence would you use to argue it was HARMFUL? For whom?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answer change depending on whose perspective you take?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change your mind?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0" y="1737360"/>
            <a:ext cx="3200400" cy="1353312"/>
          </a:xfrm>
          <a:prstGeom prst="roundRect">
            <a:avLst>
              <a:gd name="adj" fmla="val 8108"/>
            </a:avLst>
          </a:prstGeom>
          <a:solidFill>
            <a:srgbClr val="1A2D5A"/>
          </a:solidFill>
          <a:ln w="19050">
            <a:solidFill>
              <a:srgbClr val="3A50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23560" y="1828800"/>
            <a:ext cx="2944368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Reasonable people can disagree here.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strong historian defends a position with evidence -- and can explain the strongest counter-evidence too.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0" y="3246120"/>
            <a:ext cx="3200400" cy="1353312"/>
          </a:xfrm>
          <a:prstGeom prst="roundRect">
            <a:avLst>
              <a:gd name="adj" fmla="val 8108"/>
            </a:avLst>
          </a:prstGeom>
          <a:solidFill>
            <a:srgbClr val="FFF3DC"/>
          </a:solidFill>
          <a:ln w="19050">
            <a:solidFill>
              <a:srgbClr val="F5E6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23560" y="330098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FRAME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623560" y="3502152"/>
            <a:ext cx="292608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 think Spanish rule was more ___ because the evidence shows... However, someone could argue the opposite because..."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PREVIEW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45720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Historian's Notebook -- Lesson 4.06.05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5303520" cy="2423160"/>
          </a:xfrm>
          <a:prstGeom prst="roundRect">
            <a:avLst>
              <a:gd name="adj" fmla="val 5660"/>
            </a:avLst>
          </a:prstGeom>
          <a:solidFill>
            <a:srgbClr val="1A2D5A"/>
          </a:solidFill>
          <a:ln w="19050">
            <a:solidFill>
              <a:srgbClr val="3A50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33272"/>
            <a:ext cx="4937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QUESTIONS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16736"/>
            <a:ext cx="4937760" cy="1993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"Name one effect of Spanish rule on Florida's land, buildings, or defense, and give your evidence."
</a:t>
            </a:r>
            <a:pPr indent="0" marL="0">
              <a:buNone/>
            </a:pPr>
            <a:r>
              <a:rPr lang="en-US" sz="1200" b="1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"Name one effect of Spanish rule on people in Florida, and give your evidence."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760720" y="960120"/>
            <a:ext cx="3063240" cy="1536192"/>
          </a:xfrm>
          <a:prstGeom prst="roundRect">
            <a:avLst>
              <a:gd name="adj" fmla="val 7143"/>
            </a:avLst>
          </a:prstGeom>
          <a:solidFill>
            <a:srgbClr val="2A1A5A"/>
          </a:solidFill>
          <a:ln w="19050">
            <a:solidFill>
              <a:srgbClr val="8B6F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97880" y="1033272"/>
            <a:ext cx="2788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 CHALLENGE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897880" y="1316736"/>
            <a:ext cx="2788920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"Write 3-5 sentences explaining TWO effects of Spanish rule in Florida. Support each effect with evidence, and include one clear cause-and-effect connection (because ___, ___ happened)."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760720" y="2633472"/>
            <a:ext cx="3063240" cy="1737360"/>
          </a:xfrm>
          <a:prstGeom prst="roundRect">
            <a:avLst>
              <a:gd name="adj" fmla="val 6316"/>
            </a:avLst>
          </a:prstGeom>
          <a:solidFill>
            <a:srgbClr val="E8F4EE"/>
          </a:solidFill>
          <a:ln w="19050">
            <a:solidFill>
              <a:srgbClr val="9ECF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97880" y="2697480"/>
            <a:ext cx="2788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TURN-IN CHECKLIST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897880" y="2980944"/>
            <a:ext cx="27889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Studied Spanish-rule sources including Castillo de San Marcos
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Answered both evidence questions with evidence
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Wrote Historian's Notebook entry explaining TWO effects with a cause-and-effect connection
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Copied or downloaded work and submitted to Canvas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3520440"/>
            <a:ext cx="5303520" cy="1005840"/>
          </a:xfrm>
          <a:prstGeom prst="roundRect">
            <a:avLst>
              <a:gd name="adj" fmla="val 9091"/>
            </a:avLst>
          </a:prstGeom>
          <a:solidFill>
            <a:srgbClr val="DDE8F5"/>
          </a:solidFill>
          <a:ln w="12700">
            <a:solidFill>
              <a:srgbClr val="B0C8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584448"/>
            <a:ext cx="4937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VOCABULARY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3822192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colony -- land ruled by a faraway country          presidio -- Spanish fort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missionary -- person who came to teach religion    economy -- way people make, buy, and sell goods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835"/>
          </a:solidFill>
          <a:ln w="19050">
            <a:solidFill>
              <a:srgbClr val="3A5080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1C42">
              <a:alpha val="62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3657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SAVED.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89611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Causes and effects -- reconnected.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3200400" y="1536192"/>
            <a:ext cx="2743200" cy="45720"/>
          </a:xfrm>
          <a:prstGeom prst="rect">
            <a:avLst/>
          </a:prstGeom>
          <a:solidFill>
            <a:srgbClr val="D4943A"/>
          </a:solidFill>
          <a:ln w="12700">
            <a:solidFill>
              <a:srgbClr val="D4943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169164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1A2D5A"/>
          </a:solidFill>
          <a:ln w="19050">
            <a:solidFill>
              <a:srgbClr val="3A508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178308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 traced FOUR effects of Spanish rule: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and Defense  |  Religion  |  Economy and Trade  |  Effects on Native Peoples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evaluated sources, compared evidence, and defended claims.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careful historian names ALL the effects -- including who suffered.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097280" y="3218688"/>
            <a:ext cx="6949440" cy="841248"/>
          </a:xfrm>
          <a:prstGeom prst="roundRect">
            <a:avLst>
              <a:gd name="adj" fmla="val 13043"/>
            </a:avLst>
          </a:prstGeom>
          <a:solidFill>
            <a:srgbClr val="2A1A5A"/>
          </a:solidFill>
          <a:ln w="19050">
            <a:solidFill>
              <a:srgbClr val="8B6FC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80160" y="3291840"/>
            <a:ext cx="6583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VIRTUE: SELF-GOVERNANCE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280160" y="3547872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3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 you made your own decisions about which evidence to trust and which claims to defend.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FFF3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That is what self-governance looks like in the mind of a historian.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14400" y="4343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Next: The end of Spanish rule -- and what came after.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2026-07-14T00:31:18Z</dcterms:created>
  <dcterms:modified xsi:type="dcterms:W3CDTF">2026-07-14T00:31:18Z</dcterms:modified>
</cp:coreProperties>
</file>