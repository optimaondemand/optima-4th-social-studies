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Lst>
  <p:notesMasterIdLst>
    <p:notesMasterId r:id="rId2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presProps" Target="presProps.xml"/><Relationship Id="rId25" Type="http://schemas.openxmlformats.org/officeDocument/2006/relationships/viewProps" Target="viewProps.xml"/><Relationship Id="rId26" Type="http://schemas.openxmlformats.org/officeDocument/2006/relationships/theme" Target="theme/theme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dramatic wide-angle view of a 16th-century Spanish galleon at full sail on the Atlantic Ocean, warm golden-hour light on the horizon, no human faces, colonial-era illustration style with rich saturated colors.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story beat. Read the message aloud as if it just arrived from Ms. Rivera. Build curiosity: 'Yesterday we met the explorers. Today we ask a harder question: WHY did they keep coming back, even after disaster after disaster?' Pause before introducing the three motives.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students 60 seconds to look at the image. Cold call 2-3 students using the chat frame starters. Listen for: tools of navigation/exploration, risk-taking, planning a voyage. Do NOT introduce the motives yet. Ask: 'We know HOW they traveled. Today we find out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big question aloud. Connect to yesterday: 'We met Ponce de Leon, de Soto, Narvaez. Today we ask WHY they kept coming.' Preview the Virtue Lens briefly: 'A Virtue Lens lets us look at the same action two ways — what it took AND what it cost. Both belong in the historical record.'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tell students the three motives yet. Push for reasoning: 'What makes you say that? What evidence would you need to be sure?' Goal: surface the ideas of religion, wealth, and power before the reveal. Take 3-4 student responses.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directly scaffolds Assignment Question 1. Walk through the document image slowly. Model observation: 'I see a wax seal — official. Handwritten script — personal and formal. A coat of arms — from someone with royal authority.' Let students practice using the evaluate panel. Remind them: 'You will answer a version of Q1 in your assignment.' Aim 4-5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Three symbols side by side: a Catholic cross (God), a gold coin or treasure chest (Gold), and a royal coat of arms or crown (Glory) — illustrated in rich saturated colors, no human faces. Read each motive dramatically. Then ask: 'Which G do you think caused the most harm?' Hold the debate for later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the last two facts: this was not a gentle exchange of ideas — it involved pressure, threat, and force. Push for specific examples: 'Which Native group resisted? What happened?' Connect to de Soto's expedition: priests were with him too.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point: de Soto took food stored for winter from the Apalachee — people starved. The Gold motive was not just about searching; it meant taking from people already there. Ask: 'If the cities of gold did not exist, why did Spain keep sending people?' Connect to the royal decree from slide 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distinction: Glory was personal AND national. The explorer got status; Spain got territory. Both required taking something from people who already lived there. Ask: 'Is claiming something the same as owning it? Who decides?' Note that France and England will be in the NEXT lesson — today is about understanding WHY everyone wanted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'Which source tells us MORE about the harm of first contact? Why?' Push students to see that the Spanish royal decree describes motives — but the Apalachee account describes consequences. Both are needed for honest history. Key insight: a document written by the person doing the harm will not fully describe the harm. Ask: 'What is missing from Source 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rehearses Assignment Question 2. Quick show of hands for each motive. Call on 1-2 from each group. Push for specifics: 'Name a real event from the lesson that shows that motive causing harm.' Do NOT give the right answer. Reasonable people can disagree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both halves with equal weight. Model the language: 'I can say the explorers were brave AND I can say their bravery caused harm. Both things are true at the same time.' Key line: 'Both halves belong in the record.' Do NOT let students skip to one side — press for both. This directly scaffolds Assignment Question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this slowly and verbally. Narrate EVERY step as you go. The four-step pattern (pick, find detail, connect to harm, Virtue Lens) is the exact pattern for the assignment. After modeling, say: 'Your turn — now try with GOD or GLORY.'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90 seconds to think, then cold call 3 students. One who agrees, one who disagrees, one who is unsure. Validate both sides — 'Reasonable people can disagree about which motive caused the most harm. What matters is you pick a specific detail and explain the connection.' Preview pass for Assignment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flawed argument aloud without giving away the problems. Give 60 seconds of think time. Then reveal Problems 1 and 2. Key pattern: historians reject 'adventure' as the sole explanation because REAL evidence — written documents, physical records, patterns of behavior — shows specific, serious purposes. Reinforces why primary sources matter.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 NOT resolve this question for students. If they say 'intention does not matter' — push back: 'Does it matter whether someone planned to hurt someone or did it by accident?' If they say 'good intentions make it okay' — push back: 'If someone takes your food thinking they are helping you — are you still hungry?' The goal is productive tension, not a settled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dramatic illustration of a lone compass resting on a rough wooden ship's railing with a stormy Atlantic ocean in the background — no human faces, dark moody colors with gold light breaking through clouds. Read the virtue definition aloud. Key question: 'What was the bravery FOR? And was that a wise use of it?' Sets up Q3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each question aloud. Connect to earlier slides: 'Q1 — we studied the document together on slide 6. Q2 — you ranked the motives on slide 12. Q3 — we used the Virtue Lens on slides 13 and 18.' Walk through the four-step model from slide 14 one more time as the writing strategy. Every question was practiced before today. Under 3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Click through these quickly. For any student who got #3 wrong, re-read the Virtue Lens definition one more time. Affirm: 'These match what you will see in the assignment. You already know this.' High energy.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IMAGE TO INSERT: A sealed treasure chest next to a rolled parchment map on a ship deck, with golden light and an open ocean horizon — no human faces, rich saturated colors. Open with the File Saved beat — read Ms. Rivera's message aloud with celebration. Tease Lesson 4.04.03: 'Next time: France and England enter the story. Three flags. One coastline. One people already living there.' Under 2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0" y="4846320"/>
            <a:ext cx="9144000" cy="91440"/>
          </a:xfrm>
          <a:prstGeom prst="rect">
            <a:avLst/>
          </a:prstGeom>
          <a:solidFill>
            <a:srgbClr val="D4943A"/>
          </a:solidFill>
          <a:ln w="12700">
            <a:solidFill>
              <a:srgbClr val="D4943A"/>
            </a:solidFill>
            <a:prstDash val="solid"/>
          </a:ln>
        </p:spPr>
      </p:sp>
      <p:sp>
        <p:nvSpPr>
          <p:cNvPr id="5" name="Shape 3"/>
          <p:cNvSpPr/>
          <p:nvPr/>
        </p:nvSpPr>
        <p:spPr>
          <a:xfrm>
            <a:off x="457200" y="320040"/>
            <a:ext cx="2194560" cy="347472"/>
          </a:xfrm>
          <a:prstGeom prst="roundRect">
            <a:avLst>
              <a:gd name="adj" fmla="val 26316"/>
            </a:avLst>
          </a:prstGeom>
          <a:solidFill>
            <a:srgbClr val="D4943A"/>
          </a:solidFill>
          <a:ln w="12700">
            <a:solidFill>
              <a:srgbClr val="D4943A"/>
            </a:solidFill>
            <a:prstDash val="solid"/>
          </a:ln>
        </p:spPr>
      </p:sp>
      <p:sp>
        <p:nvSpPr>
          <p:cNvPr id="6" name="Text 4"/>
          <p:cNvSpPr/>
          <p:nvPr/>
        </p:nvSpPr>
        <p:spPr>
          <a:xfrm>
            <a:off x="457200" y="320040"/>
            <a:ext cx="2194560" cy="347472"/>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FLORIDA FILES</a:t>
            </a:r>
            <a:endParaRPr lang="en-US" sz="1100" dirty="0"/>
          </a:p>
        </p:txBody>
      </p:sp>
      <p:sp>
        <p:nvSpPr>
          <p:cNvPr id="7" name="Text 5"/>
          <p:cNvSpPr/>
          <p:nvPr/>
        </p:nvSpPr>
        <p:spPr>
          <a:xfrm>
            <a:off x="2834640" y="384048"/>
            <a:ext cx="5486400" cy="256032"/>
          </a:xfrm>
          <a:prstGeom prst="rect">
            <a:avLst/>
          </a:prstGeom>
          <a:noFill/>
          <a:ln/>
        </p:spPr>
        <p:txBody>
          <a:bodyPr wrap="square" lIns="0" tIns="0" rIns="0" bIns="0" rtlCol="0" anchor="ctr"/>
          <a:lstStyle/>
          <a:p>
            <a:pPr algn="l" indent="0" marL="0">
              <a:buNone/>
            </a:pPr>
            <a:r>
              <a:rPr lang="en-US" sz="1000" b="1" spc="100" kern="0" dirty="0">
                <a:solidFill>
                  <a:srgbClr val="55C8E8"/>
                </a:solidFill>
                <a:latin typeface="Calibri" pitchFamily="34" charset="0"/>
                <a:ea typeface="Calibri" pitchFamily="34" charset="-122"/>
                <a:cs typeface="Calibri" pitchFamily="34" charset="-120"/>
              </a:rPr>
              <a:t>FILE 1 OF 3  |  UNIT 4: NEW SPAIN AND EXPLORATION</a:t>
            </a:r>
            <a:endParaRPr lang="en-US" sz="1000" dirty="0"/>
          </a:p>
        </p:txBody>
      </p:sp>
      <p:sp>
        <p:nvSpPr>
          <p:cNvPr id="8" name="Text 6"/>
          <p:cNvSpPr/>
          <p:nvPr/>
        </p:nvSpPr>
        <p:spPr>
          <a:xfrm>
            <a:off x="457200" y="868680"/>
            <a:ext cx="8229600" cy="1828800"/>
          </a:xfrm>
          <a:prstGeom prst="rect">
            <a:avLst/>
          </a:prstGeom>
          <a:noFill/>
          <a:ln/>
        </p:spPr>
        <p:txBody>
          <a:bodyPr wrap="square" lIns="0" tIns="0" rIns="0" bIns="0" rtlCol="0" anchor="t"/>
          <a:lstStyle/>
          <a:p>
            <a:pPr algn="l" indent="0" marL="0">
              <a:buNone/>
            </a:pPr>
            <a:r>
              <a:rPr lang="en-US" sz="4400" b="1" dirty="0">
                <a:solidFill>
                  <a:srgbClr val="FFFFFF"/>
                </a:solidFill>
                <a:latin typeface="Cambria" pitchFamily="34" charset="0"/>
                <a:ea typeface="Cambria" pitchFamily="34" charset="-122"/>
                <a:cs typeface="Cambria" pitchFamily="34" charset="-120"/>
              </a:rPr>
              <a:t>Motives for European</a:t>
            </a:r>
            <a:endParaRPr lang="en-US" sz="4400" dirty="0"/>
          </a:p>
          <a:p>
            <a:pPr algn="l" indent="0" marL="0">
              <a:buNone/>
            </a:pPr>
            <a:r>
              <a:rPr lang="en-US" sz="4400" b="1" dirty="0">
                <a:solidFill>
                  <a:srgbClr val="FFFFFF"/>
                </a:solidFill>
                <a:latin typeface="Cambria" pitchFamily="34" charset="0"/>
                <a:ea typeface="Cambria" pitchFamily="34" charset="-122"/>
                <a:cs typeface="Cambria" pitchFamily="34" charset="-120"/>
              </a:rPr>
              <a:t>Expeditions</a:t>
            </a:r>
            <a:endParaRPr lang="en-US" sz="4400" dirty="0"/>
          </a:p>
        </p:txBody>
      </p:sp>
      <p:sp>
        <p:nvSpPr>
          <p:cNvPr id="9" name="Shape 7"/>
          <p:cNvSpPr/>
          <p:nvPr/>
        </p:nvSpPr>
        <p:spPr>
          <a:xfrm>
            <a:off x="457200" y="2788920"/>
            <a:ext cx="5029200" cy="36576"/>
          </a:xfrm>
          <a:prstGeom prst="rect">
            <a:avLst/>
          </a:prstGeom>
          <a:solidFill>
            <a:srgbClr val="55C8E8"/>
          </a:solidFill>
          <a:ln w="12700">
            <a:solidFill>
              <a:srgbClr val="55C8E8"/>
            </a:solidFill>
            <a:prstDash val="solid"/>
          </a:ln>
        </p:spPr>
      </p:sp>
      <p:sp>
        <p:nvSpPr>
          <p:cNvPr id="10" name="Text 8"/>
          <p:cNvSpPr/>
          <p:nvPr/>
        </p:nvSpPr>
        <p:spPr>
          <a:xfrm>
            <a:off x="457200" y="2926080"/>
            <a:ext cx="8046720" cy="822960"/>
          </a:xfrm>
          <a:prstGeom prst="rect">
            <a:avLst/>
          </a:prstGeom>
          <a:noFill/>
          <a:ln/>
        </p:spPr>
        <p:txBody>
          <a:bodyPr wrap="square" lIns="0" tIns="0" rIns="0" bIns="0" rtlCol="0" anchor="t"/>
          <a:lstStyle/>
          <a:p>
            <a:pPr algn="l" indent="0" marL="0">
              <a:buNone/>
            </a:pPr>
            <a:r>
              <a:rPr lang="en-US" sz="1600" i="1" dirty="0">
                <a:solidFill>
                  <a:srgbClr val="F0F2F8"/>
                </a:solidFill>
                <a:latin typeface="Calibri" pitchFamily="34" charset="0"/>
                <a:ea typeface="Calibri" pitchFamily="34" charset="-122"/>
                <a:cs typeface="Calibri" pitchFamily="34" charset="-120"/>
              </a:rPr>
              <a:t>Why did Spain send explorer after explorer to Florida?</a:t>
            </a:r>
            <a:endParaRPr lang="en-US" sz="1600" dirty="0"/>
          </a:p>
          <a:p>
            <a:pPr algn="l" indent="0" marL="0">
              <a:buNone/>
            </a:pPr>
            <a:r>
              <a:rPr lang="en-US" sz="1600" i="1" dirty="0">
                <a:solidFill>
                  <a:srgbClr val="F0F2F8"/>
                </a:solidFill>
                <a:latin typeface="Calibri" pitchFamily="34" charset="0"/>
                <a:ea typeface="Calibri" pitchFamily="34" charset="-122"/>
                <a:cs typeface="Calibri" pitchFamily="34" charset="-120"/>
              </a:rPr>
              <a:t>God. Gold. Glory. — Lesson 4.04.02</a:t>
            </a:r>
            <a:endParaRPr lang="en-US" sz="1600" dirty="0"/>
          </a:p>
        </p:txBody>
      </p:sp>
      <p:sp>
        <p:nvSpPr>
          <p:cNvPr id="11" name="Text 9"/>
          <p:cNvSpPr/>
          <p:nvPr/>
        </p:nvSpPr>
        <p:spPr>
          <a:xfrm>
            <a:off x="457200" y="4663440"/>
            <a:ext cx="8229600" cy="256032"/>
          </a:xfrm>
          <a:prstGeom prst="rect">
            <a:avLst/>
          </a:prstGeom>
          <a:noFill/>
          <a:ln/>
        </p:spPr>
        <p:txBody>
          <a:bodyPr wrap="square" lIns="0" tIns="0" rIns="0" bIns="0" rtlCol="0" anchor="ctr"/>
          <a:lstStyle/>
          <a:p>
            <a:pPr algn="l" indent="0" marL="0">
              <a:buNone/>
            </a:pPr>
            <a:r>
              <a:rPr lang="en-US" sz="1000" dirty="0">
                <a:solidFill>
                  <a:srgbClr val="7A88A8"/>
                </a:solidFill>
                <a:latin typeface="Calibri" pitchFamily="34" charset="0"/>
                <a:ea typeface="Calibri" pitchFamily="34" charset="-122"/>
                <a:cs typeface="Calibri" pitchFamily="34" charset="-120"/>
              </a:rPr>
              <a:t>SS.4.A.3.1  |  SS.4.A.3.2  |  Grade 4 Social Studies  |  Florida History Team</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E1C42"/>
          </a:solidFill>
          <a:ln w="12700">
            <a:solidFill>
              <a:srgbClr val="3A5080"/>
            </a:solidFill>
            <a:prstDash val="dash"/>
          </a:ln>
        </p:spPr>
      </p:sp>
      <p:sp>
        <p:nvSpPr>
          <p:cNvPr id="3" name="Shape 1"/>
          <p:cNvSpPr/>
          <p:nvPr/>
        </p:nvSpPr>
        <p:spPr>
          <a:xfrm>
            <a:off x="457200" y="274320"/>
            <a:ext cx="3200400" cy="384048"/>
          </a:xfrm>
          <a:prstGeom prst="roundRect">
            <a:avLst>
              <a:gd name="adj" fmla="val 23810"/>
            </a:avLst>
          </a:prstGeom>
          <a:solidFill>
            <a:srgbClr val="34B76F"/>
          </a:solidFill>
          <a:ln w="12700">
            <a:solidFill>
              <a:srgbClr val="34B76F"/>
            </a:solidFill>
            <a:prstDash val="solid"/>
          </a:ln>
        </p:spPr>
      </p:sp>
      <p:sp>
        <p:nvSpPr>
          <p:cNvPr id="4" name="Text 2"/>
          <p:cNvSpPr/>
          <p:nvPr/>
        </p:nvSpPr>
        <p:spPr>
          <a:xfrm>
            <a:off x="457200" y="274320"/>
            <a:ext cx="3200400" cy="384048"/>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FILE UNLOCKED</a:t>
            </a:r>
            <a:endParaRPr lang="en-US" sz="1300" dirty="0"/>
          </a:p>
        </p:txBody>
      </p:sp>
      <p:sp>
        <p:nvSpPr>
          <p:cNvPr id="5" name="Text 3"/>
          <p:cNvSpPr/>
          <p:nvPr/>
        </p:nvSpPr>
        <p:spPr>
          <a:xfrm>
            <a:off x="457200" y="822960"/>
            <a:ext cx="8229600" cy="594360"/>
          </a:xfrm>
          <a:prstGeom prst="rect">
            <a:avLst/>
          </a:prstGeom>
          <a:noFill/>
          <a:ln/>
        </p:spPr>
        <p:txBody>
          <a:bodyPr wrap="square" lIns="0" tIns="0" rIns="0" bIns="0" rtlCol="0" anchor="ctr"/>
          <a:lstStyle/>
          <a:p>
            <a:pPr algn="l" indent="0" marL="0">
              <a:buNone/>
            </a:pPr>
            <a:r>
              <a:rPr lang="en-US" sz="3000" b="1" dirty="0">
                <a:solidFill>
                  <a:srgbClr val="FFFFFF"/>
                </a:solidFill>
                <a:latin typeface="Cambria" pitchFamily="34" charset="0"/>
                <a:ea typeface="Cambria" pitchFamily="34" charset="-122"/>
                <a:cs typeface="Cambria" pitchFamily="34" charset="-120"/>
              </a:rPr>
              <a:t>The Motives Chart</a:t>
            </a:r>
            <a:endParaRPr lang="en-US" sz="3000" dirty="0"/>
          </a:p>
        </p:txBody>
      </p:sp>
      <p:sp>
        <p:nvSpPr>
          <p:cNvPr id="6" name="Shape 4"/>
          <p:cNvSpPr/>
          <p:nvPr/>
        </p:nvSpPr>
        <p:spPr>
          <a:xfrm>
            <a:off x="457200" y="1554480"/>
            <a:ext cx="8046720" cy="1463040"/>
          </a:xfrm>
          <a:prstGeom prst="roundRect">
            <a:avLst>
              <a:gd name="adj" fmla="val 8750"/>
            </a:avLst>
          </a:prstGeom>
          <a:solidFill>
            <a:srgbClr val="1A2D5A"/>
          </a:solidFill>
          <a:ln w="19050">
            <a:solidFill>
              <a:srgbClr val="55C8E8"/>
            </a:solidFill>
            <a:prstDash val="solid"/>
          </a:ln>
        </p:spPr>
      </p:sp>
      <p:sp>
        <p:nvSpPr>
          <p:cNvPr id="7" name="Text 5"/>
          <p:cNvSpPr/>
          <p:nvPr/>
        </p:nvSpPr>
        <p:spPr>
          <a:xfrm>
            <a:off x="640080" y="1627632"/>
            <a:ext cx="7498080" cy="256032"/>
          </a:xfrm>
          <a:prstGeom prst="rect">
            <a:avLst/>
          </a:prstGeom>
          <a:noFill/>
          <a:ln/>
        </p:spPr>
        <p:txBody>
          <a:bodyPr wrap="square" lIns="0" tIns="0" rIns="0" bIns="0" rtlCol="0" anchor="ctr"/>
          <a:lstStyle/>
          <a:p>
            <a:pPr indent="0" marL="0">
              <a:buNone/>
            </a:pPr>
            <a:r>
              <a:rPr lang="en-US" sz="1000" b="1" spc="100" kern="0" dirty="0">
                <a:solidFill>
                  <a:srgbClr val="55C8E8"/>
                </a:solidFill>
                <a:latin typeface="Calibri" pitchFamily="34" charset="0"/>
                <a:ea typeface="Calibri" pitchFamily="34" charset="-122"/>
                <a:cs typeface="Calibri" pitchFamily="34" charset="-120"/>
              </a:rPr>
              <a:t>Message from inside Canvas:</a:t>
            </a:r>
            <a:endParaRPr lang="en-US" sz="1000" dirty="0"/>
          </a:p>
        </p:txBody>
      </p:sp>
      <p:sp>
        <p:nvSpPr>
          <p:cNvPr id="8" name="Text 6"/>
          <p:cNvSpPr/>
          <p:nvPr/>
        </p:nvSpPr>
        <p:spPr>
          <a:xfrm>
            <a:off x="640080" y="1901952"/>
            <a:ext cx="7498080" cy="1024128"/>
          </a:xfrm>
          <a:prstGeom prst="rect">
            <a:avLst/>
          </a:prstGeom>
          <a:noFill/>
          <a:ln/>
        </p:spPr>
        <p:txBody>
          <a:bodyPr wrap="square" lIns="0" tIns="0" rIns="0" bIns="0" rtlCol="0" anchor="t"/>
          <a:lstStyle/>
          <a:p>
            <a:pPr algn="l" indent="0" marL="0">
              <a:buNone/>
            </a:pPr>
            <a:r>
              <a:rPr lang="en-US" sz="1300" i="1" dirty="0">
                <a:solidFill>
                  <a:srgbClr val="F0F2F8"/>
                </a:solidFill>
                <a:latin typeface="Calibri" pitchFamily="34" charset="0"/>
                <a:ea typeface="Calibri" pitchFamily="34" charset="-122"/>
                <a:cs typeface="Calibri" pitchFamily="34" charset="-120"/>
              </a:rPr>
              <a:t>Canvas loaded the ships from our last file, but the motives section is still locked. I can see the chart title — "Why They Sailed" — but every row is blank. Help me fill it in. The file won't open until we figure out what was really driving those expeditions.</a:t>
            </a:r>
            <a:endParaRPr lang="en-US" sz="1300" dirty="0"/>
          </a:p>
          <a:p>
            <a:pPr algn="l" indent="0" marL="0">
              <a:buNone/>
            </a:pPr>
            <a:r>
              <a:rPr lang="en-US" sz="1300" i="1" dirty="0">
                <a:solidFill>
                  <a:srgbClr val="F0F2F8"/>
                </a:solidFill>
                <a:latin typeface="Calibri" pitchFamily="34" charset="0"/>
                <a:ea typeface="Calibri" pitchFamily="34" charset="-122"/>
                <a:cs typeface="Calibri" pitchFamily="34" charset="-120"/>
              </a:rPr>
              <a:t>— Your teacher, still inside Module 4</a:t>
            </a:r>
            <a:endParaRPr lang="en-US" sz="1300" dirty="0"/>
          </a:p>
        </p:txBody>
      </p:sp>
      <p:sp>
        <p:nvSpPr>
          <p:cNvPr id="9" name="Shape 7"/>
          <p:cNvSpPr/>
          <p:nvPr/>
        </p:nvSpPr>
        <p:spPr>
          <a:xfrm>
            <a:off x="457200" y="3200400"/>
            <a:ext cx="8046720" cy="960120"/>
          </a:xfrm>
          <a:prstGeom prst="roundRect">
            <a:avLst>
              <a:gd name="adj" fmla="val 11429"/>
            </a:avLst>
          </a:prstGeom>
          <a:solidFill>
            <a:srgbClr val="0B1835"/>
          </a:solidFill>
          <a:ln w="19050">
            <a:solidFill>
              <a:srgbClr val="D4943A"/>
            </a:solidFill>
            <a:prstDash val="solid"/>
          </a:ln>
        </p:spPr>
      </p:sp>
      <p:sp>
        <p:nvSpPr>
          <p:cNvPr id="10" name="Text 8"/>
          <p:cNvSpPr/>
          <p:nvPr/>
        </p:nvSpPr>
        <p:spPr>
          <a:xfrm>
            <a:off x="640080" y="3273552"/>
            <a:ext cx="2743200" cy="219456"/>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TODAY'S MISSION</a:t>
            </a:r>
            <a:endParaRPr lang="en-US" sz="900" dirty="0"/>
          </a:p>
        </p:txBody>
      </p:sp>
      <p:sp>
        <p:nvSpPr>
          <p:cNvPr id="11" name="Text 9"/>
          <p:cNvSpPr/>
          <p:nvPr/>
        </p:nvSpPr>
        <p:spPr>
          <a:xfrm>
            <a:off x="640080" y="3511296"/>
            <a:ext cx="7406640" cy="566928"/>
          </a:xfrm>
          <a:prstGeom prst="rect">
            <a:avLst/>
          </a:prstGeom>
          <a:noFill/>
          <a:ln/>
        </p:spPr>
        <p:txBody>
          <a:bodyPr wrap="square" lIns="0" tIns="0" rIns="0" bIns="0" rtlCol="0" anchor="t"/>
          <a:lstStyle/>
          <a:p>
            <a:pPr algn="l" indent="0" marL="0">
              <a:buNone/>
            </a:pPr>
            <a:r>
              <a:rPr lang="en-US" sz="1200" dirty="0">
                <a:solidFill>
                  <a:srgbClr val="FFFFFF"/>
                </a:solidFill>
                <a:latin typeface="Calibri" pitchFamily="34" charset="0"/>
                <a:ea typeface="Calibri" pitchFamily="34" charset="-122"/>
                <a:cs typeface="Calibri" pitchFamily="34" charset="-120"/>
              </a:rPr>
              <a:t>Examine the evidence, identify the three motives behind Spanish expeditions to Florida, and unlock the "Why They Sailed" chart. Use a Virtue Lens to evaluate whether the explorers' courage was used wisely.</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CLUE BOX  |  ENTERING THE SCENE</a:t>
            </a:r>
            <a:endParaRPr lang="en-US" sz="1000" dirty="0"/>
          </a:p>
        </p:txBody>
      </p:sp>
      <p:sp>
        <p:nvSpPr>
          <p:cNvPr id="5" name="Text 3"/>
          <p:cNvSpPr/>
          <p:nvPr/>
        </p:nvSpPr>
        <p:spPr>
          <a:xfrm>
            <a:off x="365760" y="594360"/>
            <a:ext cx="8229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Do You Notice?</a:t>
            </a:r>
            <a:endParaRPr lang="en-US" sz="2400" dirty="0"/>
          </a:p>
        </p:txBody>
      </p:sp>
      <p:sp>
        <p:nvSpPr>
          <p:cNvPr id="6" name="Shape 4"/>
          <p:cNvSpPr/>
          <p:nvPr/>
        </p:nvSpPr>
        <p:spPr>
          <a:xfrm>
            <a:off x="365760" y="1170432"/>
            <a:ext cx="4114800" cy="2834640"/>
          </a:xfrm>
          <a:prstGeom prst="roundRect">
            <a:avLst>
              <a:gd name="adj" fmla="val 3871"/>
            </a:avLst>
          </a:prstGeom>
          <a:solidFill>
            <a:srgbClr val="E2E8F4"/>
          </a:solidFill>
          <a:ln w="19050">
            <a:solidFill>
              <a:srgbClr val="B0B8CC"/>
            </a:solidFill>
            <a:prstDash val="dash"/>
          </a:ln>
        </p:spPr>
      </p:sp>
      <p:sp>
        <p:nvSpPr>
          <p:cNvPr id="7" name="Text 5"/>
          <p:cNvSpPr/>
          <p:nvPr/>
        </p:nvSpPr>
        <p:spPr>
          <a:xfrm>
            <a:off x="365760" y="1170432"/>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444752"/>
            <a:ext cx="3840480" cy="246888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16th-century Spanish explorer's compass and a rolled parchment map of the Americas side by side on a wooden table — warm light, no human faces, objects only</a:t>
            </a:r>
            <a:endParaRPr lang="en-US" sz="1100" dirty="0"/>
          </a:p>
        </p:txBody>
      </p:sp>
      <p:sp>
        <p:nvSpPr>
          <p:cNvPr id="9" name="Shape 7"/>
          <p:cNvSpPr/>
          <p:nvPr/>
        </p:nvSpPr>
        <p:spPr>
          <a:xfrm>
            <a:off x="4663440" y="1170432"/>
            <a:ext cx="3840480" cy="1371600"/>
          </a:xfrm>
          <a:prstGeom prst="roundRect">
            <a:avLst>
              <a:gd name="adj" fmla="val 8000"/>
            </a:avLst>
          </a:prstGeom>
          <a:solidFill>
            <a:srgbClr val="FFFFFF"/>
          </a:solidFill>
          <a:ln w="19050">
            <a:solidFill>
              <a:srgbClr val="B0B8CC"/>
            </a:solidFill>
            <a:prstDash val="solid"/>
          </a:ln>
        </p:spPr>
      </p:sp>
      <p:sp>
        <p:nvSpPr>
          <p:cNvPr id="10" name="Text 8"/>
          <p:cNvSpPr/>
          <p:nvPr/>
        </p:nvSpPr>
        <p:spPr>
          <a:xfrm>
            <a:off x="4800600" y="1234440"/>
            <a:ext cx="3566160" cy="274320"/>
          </a:xfrm>
          <a:prstGeom prst="rect">
            <a:avLst/>
          </a:prstGeom>
          <a:noFill/>
          <a:ln/>
        </p:spPr>
        <p:txBody>
          <a:bodyPr wrap="square" lIns="0" tIns="0" rIns="0" bIns="0" rtlCol="0" anchor="ctr"/>
          <a:lstStyle/>
          <a:p>
            <a:pPr indent="0" marL="0">
              <a:buNone/>
            </a:pPr>
            <a:r>
              <a:rPr lang="en-US" sz="1300" b="1" dirty="0">
                <a:solidFill>
                  <a:srgbClr val="0E1C42"/>
                </a:solidFill>
                <a:latin typeface="Calibri" pitchFamily="34" charset="0"/>
                <a:ea typeface="Calibri" pitchFamily="34" charset="-122"/>
                <a:cs typeface="Calibri" pitchFamily="34" charset="-120"/>
              </a:rPr>
              <a:t>Look at the compass and the map.</a:t>
            </a:r>
            <a:endParaRPr lang="en-US" sz="1300" dirty="0"/>
          </a:p>
        </p:txBody>
      </p:sp>
      <p:sp>
        <p:nvSpPr>
          <p:cNvPr id="11" name="Text 9"/>
          <p:cNvSpPr/>
          <p:nvPr/>
        </p:nvSpPr>
        <p:spPr>
          <a:xfrm>
            <a:off x="4800600" y="1508760"/>
            <a:ext cx="3566160" cy="8229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What kind of person carried tools like these? What were they planning to do? What risks would they face?</a:t>
            </a:r>
            <a:endParaRPr lang="en-US" sz="1200" dirty="0"/>
          </a:p>
        </p:txBody>
      </p:sp>
      <p:sp>
        <p:nvSpPr>
          <p:cNvPr id="12" name="Shape 10"/>
          <p:cNvSpPr/>
          <p:nvPr/>
        </p:nvSpPr>
        <p:spPr>
          <a:xfrm>
            <a:off x="4663440" y="2670048"/>
            <a:ext cx="3840480" cy="1335024"/>
          </a:xfrm>
          <a:prstGeom prst="roundRect">
            <a:avLst>
              <a:gd name="adj" fmla="val 8219"/>
            </a:avLst>
          </a:prstGeom>
          <a:solidFill>
            <a:srgbClr val="FFF3DC"/>
          </a:solidFill>
          <a:ln w="19050">
            <a:solidFill>
              <a:srgbClr val="F5E6C8"/>
            </a:solidFill>
            <a:prstDash val="solid"/>
          </a:ln>
        </p:spPr>
      </p:sp>
      <p:sp>
        <p:nvSpPr>
          <p:cNvPr id="13" name="Text 11"/>
          <p:cNvSpPr/>
          <p:nvPr/>
        </p:nvSpPr>
        <p:spPr>
          <a:xfrm>
            <a:off x="4800600" y="2724912"/>
            <a:ext cx="3566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4800600" y="2926080"/>
            <a:ext cx="3566160" cy="1014984"/>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notice ______ which makes me think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"Someone would carry these tools because ______."</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FLORIDA HISTORIAN'S QUESTION  |  LESSON 4.04.02</a:t>
            </a:r>
            <a:endParaRPr lang="en-US" sz="1000" dirty="0"/>
          </a:p>
        </p:txBody>
      </p:sp>
      <p:sp>
        <p:nvSpPr>
          <p:cNvPr id="5" name="Shape 3"/>
          <p:cNvSpPr/>
          <p:nvPr/>
        </p:nvSpPr>
        <p:spPr>
          <a:xfrm>
            <a:off x="365760" y="621792"/>
            <a:ext cx="8412480" cy="1097280"/>
          </a:xfrm>
          <a:prstGeom prst="roundRect">
            <a:avLst>
              <a:gd name="adj" fmla="val 11667"/>
            </a:avLst>
          </a:prstGeom>
          <a:solidFill>
            <a:srgbClr val="0E1C42"/>
          </a:solidFill>
          <a:ln w="25400">
            <a:solidFill>
              <a:srgbClr val="D4943A"/>
            </a:solidFill>
            <a:prstDash val="solid"/>
          </a:ln>
        </p:spPr>
      </p:sp>
      <p:sp>
        <p:nvSpPr>
          <p:cNvPr id="6" name="Text 4"/>
          <p:cNvSpPr/>
          <p:nvPr/>
        </p:nvSpPr>
        <p:spPr>
          <a:xfrm>
            <a:off x="548640" y="658368"/>
            <a:ext cx="3657600" cy="256032"/>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Today's Big Question</a:t>
            </a:r>
            <a:endParaRPr lang="en-US" sz="1000" dirty="0"/>
          </a:p>
        </p:txBody>
      </p:sp>
      <p:sp>
        <p:nvSpPr>
          <p:cNvPr id="7" name="Text 5"/>
          <p:cNvSpPr/>
          <p:nvPr/>
        </p:nvSpPr>
        <p:spPr>
          <a:xfrm>
            <a:off x="548640" y="932688"/>
            <a:ext cx="8046720" cy="713232"/>
          </a:xfrm>
          <a:prstGeom prst="rect">
            <a:avLst/>
          </a:prstGeom>
          <a:noFill/>
          <a:ln/>
        </p:spPr>
        <p:txBody>
          <a:bodyPr wrap="square" lIns="0" tIns="0" rIns="0" bIns="0" rtlCol="0" anchor="ctr"/>
          <a:lstStyle/>
          <a:p>
            <a:pPr algn="l" indent="0" marL="0">
              <a:buNone/>
            </a:pPr>
            <a:r>
              <a:rPr lang="en-US" sz="1500" b="1" dirty="0">
                <a:solidFill>
                  <a:srgbClr val="FFFFFF"/>
                </a:solidFill>
                <a:latin typeface="Cambria" pitchFamily="34" charset="0"/>
                <a:ea typeface="Cambria" pitchFamily="34" charset="-122"/>
                <a:cs typeface="Cambria" pitchFamily="34" charset="-120"/>
              </a:rPr>
              <a:t>What does a Spanish royal document tell us about the real reasons Europeans came to Florida — and which of those reasons made first contact so harmful?</a:t>
            </a:r>
            <a:endParaRPr lang="en-US" sz="1500" dirty="0"/>
          </a:p>
        </p:txBody>
      </p:sp>
      <p:sp>
        <p:nvSpPr>
          <p:cNvPr id="8" name="Text 6"/>
          <p:cNvSpPr/>
          <p:nvPr/>
        </p:nvSpPr>
        <p:spPr>
          <a:xfrm>
            <a:off x="365760" y="1874520"/>
            <a:ext cx="8229600" cy="347472"/>
          </a:xfrm>
          <a:prstGeom prst="rect">
            <a:avLst/>
          </a:prstGeom>
          <a:noFill/>
          <a:ln/>
        </p:spPr>
        <p:txBody>
          <a:bodyPr wrap="square" lIns="0" tIns="0" rIns="0" bIns="0" rtlCol="0" anchor="ctr"/>
          <a:lstStyle/>
          <a:p>
            <a:pPr indent="0" marL="0">
              <a:buNone/>
            </a:pPr>
            <a:r>
              <a:rPr lang="en-US" sz="1600" b="1" dirty="0">
                <a:solidFill>
                  <a:srgbClr val="0E1C42"/>
                </a:solidFill>
                <a:latin typeface="Cambria" pitchFamily="34" charset="0"/>
                <a:ea typeface="Cambria" pitchFamily="34" charset="-122"/>
                <a:cs typeface="Cambria" pitchFamily="34" charset="-120"/>
              </a:rPr>
              <a:t>What You Will Learn Today</a:t>
            </a:r>
            <a:endParaRPr lang="en-US" sz="1600" dirty="0"/>
          </a:p>
        </p:txBody>
      </p:sp>
      <p:sp>
        <p:nvSpPr>
          <p:cNvPr id="9" name="Shape 7"/>
          <p:cNvSpPr/>
          <p:nvPr/>
        </p:nvSpPr>
        <p:spPr>
          <a:xfrm>
            <a:off x="365760" y="2304288"/>
            <a:ext cx="8412480" cy="566928"/>
          </a:xfrm>
          <a:prstGeom prst="roundRect">
            <a:avLst>
              <a:gd name="adj" fmla="val 16129"/>
            </a:avLst>
          </a:prstGeom>
          <a:solidFill>
            <a:srgbClr val="FFFFFF"/>
          </a:solidFill>
          <a:ln w="19050">
            <a:solidFill>
              <a:srgbClr val="D4943A"/>
            </a:solidFill>
            <a:prstDash val="solid"/>
          </a:ln>
        </p:spPr>
      </p:sp>
      <p:sp>
        <p:nvSpPr>
          <p:cNvPr id="10" name="Shape 8"/>
          <p:cNvSpPr/>
          <p:nvPr/>
        </p:nvSpPr>
        <p:spPr>
          <a:xfrm>
            <a:off x="365760" y="2304288"/>
            <a:ext cx="1280160" cy="566928"/>
          </a:xfrm>
          <a:prstGeom prst="roundRect">
            <a:avLst>
              <a:gd name="adj" fmla="val 16129"/>
            </a:avLst>
          </a:prstGeom>
          <a:solidFill>
            <a:srgbClr val="D4943A"/>
          </a:solidFill>
          <a:ln w="12700">
            <a:solidFill>
              <a:srgbClr val="D4943A"/>
            </a:solidFill>
            <a:prstDash val="solid"/>
          </a:ln>
        </p:spPr>
      </p:sp>
      <p:sp>
        <p:nvSpPr>
          <p:cNvPr id="11" name="Text 9"/>
          <p:cNvSpPr/>
          <p:nvPr/>
        </p:nvSpPr>
        <p:spPr>
          <a:xfrm>
            <a:off x="384048" y="2304288"/>
            <a:ext cx="1243584" cy="56692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GOD, GOLD, GLORY</a:t>
            </a:r>
            <a:endParaRPr lang="en-US" sz="800" dirty="0"/>
          </a:p>
        </p:txBody>
      </p:sp>
      <p:sp>
        <p:nvSpPr>
          <p:cNvPr id="12" name="Text 10"/>
          <p:cNvSpPr/>
          <p:nvPr/>
        </p:nvSpPr>
        <p:spPr>
          <a:xfrm>
            <a:off x="1783080" y="2359152"/>
            <a:ext cx="6858000" cy="457200"/>
          </a:xfrm>
          <a:prstGeom prst="rect">
            <a:avLst/>
          </a:prstGeom>
          <a:noFill/>
          <a:ln/>
        </p:spPr>
        <p:txBody>
          <a:bodyPr wrap="square" lIns="0" tIns="0" rIns="0" bIns="0" rtlCol="0" anchor="ctr"/>
          <a:lstStyle/>
          <a:p>
            <a:pPr algn="l" indent="0" marL="0">
              <a:buNone/>
            </a:pPr>
            <a:r>
              <a:rPr lang="en-US" sz="1300" dirty="0">
                <a:solidFill>
                  <a:srgbClr val="0E1C42"/>
                </a:solidFill>
                <a:latin typeface="Calibri" pitchFamily="34" charset="0"/>
                <a:ea typeface="Calibri" pitchFamily="34" charset="-122"/>
                <a:cs typeface="Calibri" pitchFamily="34" charset="-120"/>
              </a:rPr>
              <a:t>Identify the three main reasons — God, Gold, and Glory — that Europeans sailed to Florida.</a:t>
            </a:r>
            <a:endParaRPr lang="en-US" sz="1300" dirty="0"/>
          </a:p>
        </p:txBody>
      </p:sp>
      <p:sp>
        <p:nvSpPr>
          <p:cNvPr id="13" name="Shape 11"/>
          <p:cNvSpPr/>
          <p:nvPr/>
        </p:nvSpPr>
        <p:spPr>
          <a:xfrm>
            <a:off x="365760" y="2990088"/>
            <a:ext cx="8412480" cy="566928"/>
          </a:xfrm>
          <a:prstGeom prst="roundRect">
            <a:avLst>
              <a:gd name="adj" fmla="val 16129"/>
            </a:avLst>
          </a:prstGeom>
          <a:solidFill>
            <a:srgbClr val="FFFFFF"/>
          </a:solidFill>
          <a:ln w="19050">
            <a:solidFill>
              <a:srgbClr val="1A8A7D"/>
            </a:solidFill>
            <a:prstDash val="solid"/>
          </a:ln>
        </p:spPr>
      </p:sp>
      <p:sp>
        <p:nvSpPr>
          <p:cNvPr id="14" name="Shape 12"/>
          <p:cNvSpPr/>
          <p:nvPr/>
        </p:nvSpPr>
        <p:spPr>
          <a:xfrm>
            <a:off x="365760" y="2990088"/>
            <a:ext cx="1280160" cy="566928"/>
          </a:xfrm>
          <a:prstGeom prst="roundRect">
            <a:avLst>
              <a:gd name="adj" fmla="val 16129"/>
            </a:avLst>
          </a:prstGeom>
          <a:solidFill>
            <a:srgbClr val="1A8A7D"/>
          </a:solidFill>
          <a:ln w="12700">
            <a:solidFill>
              <a:srgbClr val="1A8A7D"/>
            </a:solidFill>
            <a:prstDash val="solid"/>
          </a:ln>
        </p:spPr>
      </p:sp>
      <p:sp>
        <p:nvSpPr>
          <p:cNvPr id="15" name="Text 13"/>
          <p:cNvSpPr/>
          <p:nvPr/>
        </p:nvSpPr>
        <p:spPr>
          <a:xfrm>
            <a:off x="384048" y="2990088"/>
            <a:ext cx="1243584" cy="56692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SOURCE STUDY</a:t>
            </a:r>
            <a:endParaRPr lang="en-US" sz="800" dirty="0"/>
          </a:p>
        </p:txBody>
      </p:sp>
      <p:sp>
        <p:nvSpPr>
          <p:cNvPr id="16" name="Text 14"/>
          <p:cNvSpPr/>
          <p:nvPr/>
        </p:nvSpPr>
        <p:spPr>
          <a:xfrm>
            <a:off x="1783080" y="3044952"/>
            <a:ext cx="6858000" cy="457200"/>
          </a:xfrm>
          <a:prstGeom prst="rect">
            <a:avLst/>
          </a:prstGeom>
          <a:noFill/>
          <a:ln/>
        </p:spPr>
        <p:txBody>
          <a:bodyPr wrap="square" lIns="0" tIns="0" rIns="0" bIns="0" rtlCol="0" anchor="ctr"/>
          <a:lstStyle/>
          <a:p>
            <a:pPr algn="l" indent="0" marL="0">
              <a:buNone/>
            </a:pPr>
            <a:r>
              <a:rPr lang="en-US" sz="1300" dirty="0">
                <a:solidFill>
                  <a:srgbClr val="0E1C42"/>
                </a:solidFill>
                <a:latin typeface="Calibri" pitchFamily="34" charset="0"/>
                <a:ea typeface="Calibri" pitchFamily="34" charset="-122"/>
                <a:cs typeface="Calibri" pitchFamily="34" charset="-120"/>
              </a:rPr>
              <a:t>Study a Spanish royal document and explain what it shows about Spanish motives.</a:t>
            </a:r>
            <a:endParaRPr lang="en-US" sz="1300" dirty="0"/>
          </a:p>
        </p:txBody>
      </p:sp>
      <p:sp>
        <p:nvSpPr>
          <p:cNvPr id="17" name="Shape 15"/>
          <p:cNvSpPr/>
          <p:nvPr/>
        </p:nvSpPr>
        <p:spPr>
          <a:xfrm>
            <a:off x="365760" y="3675888"/>
            <a:ext cx="8412480" cy="566928"/>
          </a:xfrm>
          <a:prstGeom prst="roundRect">
            <a:avLst>
              <a:gd name="adj" fmla="val 16129"/>
            </a:avLst>
          </a:prstGeom>
          <a:solidFill>
            <a:srgbClr val="FFFFFF"/>
          </a:solidFill>
          <a:ln w="19050">
            <a:solidFill>
              <a:srgbClr val="8B6FC0"/>
            </a:solidFill>
            <a:prstDash val="solid"/>
          </a:ln>
        </p:spPr>
      </p:sp>
      <p:sp>
        <p:nvSpPr>
          <p:cNvPr id="18" name="Shape 16"/>
          <p:cNvSpPr/>
          <p:nvPr/>
        </p:nvSpPr>
        <p:spPr>
          <a:xfrm>
            <a:off x="365760" y="3675888"/>
            <a:ext cx="1280160" cy="566928"/>
          </a:xfrm>
          <a:prstGeom prst="roundRect">
            <a:avLst>
              <a:gd name="adj" fmla="val 16129"/>
            </a:avLst>
          </a:prstGeom>
          <a:solidFill>
            <a:srgbClr val="8B6FC0"/>
          </a:solidFill>
          <a:ln w="12700">
            <a:solidFill>
              <a:srgbClr val="8B6FC0"/>
            </a:solidFill>
            <a:prstDash val="solid"/>
          </a:ln>
        </p:spPr>
      </p:sp>
      <p:sp>
        <p:nvSpPr>
          <p:cNvPr id="19" name="Text 17"/>
          <p:cNvSpPr/>
          <p:nvPr/>
        </p:nvSpPr>
        <p:spPr>
          <a:xfrm>
            <a:off x="384048" y="3675888"/>
            <a:ext cx="1243584" cy="566928"/>
          </a:xfrm>
          <a:prstGeom prst="rect">
            <a:avLst/>
          </a:prstGeom>
          <a:noFill/>
          <a:ln/>
        </p:spPr>
        <p:txBody>
          <a:bodyPr wrap="square" lIns="0" tIns="0" rIns="0" bIns="0" rtlCol="0" anchor="ctr"/>
          <a:lstStyle/>
          <a:p>
            <a:pPr algn="ctr" indent="0" marL="0">
              <a:buNone/>
            </a:pPr>
            <a:r>
              <a:rPr lang="en-US" sz="800" b="1" spc="50" kern="0" dirty="0">
                <a:solidFill>
                  <a:srgbClr val="FFFFFF"/>
                </a:solidFill>
                <a:latin typeface="Calibri" pitchFamily="34" charset="0"/>
                <a:ea typeface="Calibri" pitchFamily="34" charset="-122"/>
                <a:cs typeface="Calibri" pitchFamily="34" charset="-120"/>
              </a:rPr>
              <a:t>VIRTUE LENS</a:t>
            </a:r>
            <a:endParaRPr lang="en-US" sz="800" dirty="0"/>
          </a:p>
        </p:txBody>
      </p:sp>
      <p:sp>
        <p:nvSpPr>
          <p:cNvPr id="20" name="Text 18"/>
          <p:cNvSpPr/>
          <p:nvPr/>
        </p:nvSpPr>
        <p:spPr>
          <a:xfrm>
            <a:off x="1783080" y="3730752"/>
            <a:ext cx="6858000" cy="457200"/>
          </a:xfrm>
          <a:prstGeom prst="rect">
            <a:avLst/>
          </a:prstGeom>
          <a:noFill/>
          <a:ln/>
        </p:spPr>
        <p:txBody>
          <a:bodyPr wrap="square" lIns="0" tIns="0" rIns="0" bIns="0" rtlCol="0" anchor="ctr"/>
          <a:lstStyle/>
          <a:p>
            <a:pPr algn="l" indent="0" marL="0">
              <a:buNone/>
            </a:pPr>
            <a:r>
              <a:rPr lang="en-US" sz="1300" dirty="0">
                <a:solidFill>
                  <a:srgbClr val="0E1C42"/>
                </a:solidFill>
                <a:latin typeface="Calibri" pitchFamily="34" charset="0"/>
                <a:ea typeface="Calibri" pitchFamily="34" charset="-122"/>
                <a:cs typeface="Calibri" pitchFamily="34" charset="-120"/>
              </a:rPr>
              <a:t>Write a supported explanation using the Virtue Lens to weigh courage against the costs.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OPENING DISCUSSION</a:t>
            </a:r>
            <a:endParaRPr lang="en-US" sz="1000" dirty="0"/>
          </a:p>
        </p:txBody>
      </p:sp>
      <p:sp>
        <p:nvSpPr>
          <p:cNvPr id="5" name="Text 3"/>
          <p:cNvSpPr/>
          <p:nvPr/>
        </p:nvSpPr>
        <p:spPr>
          <a:xfrm>
            <a:off x="365760" y="594360"/>
            <a:ext cx="8229600" cy="457200"/>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Before We Look at Evidence...</a:t>
            </a:r>
            <a:endParaRPr lang="en-US" sz="2400" dirty="0"/>
          </a:p>
        </p:txBody>
      </p:sp>
      <p:sp>
        <p:nvSpPr>
          <p:cNvPr id="6" name="Text 4"/>
          <p:cNvSpPr/>
          <p:nvPr/>
        </p:nvSpPr>
        <p:spPr>
          <a:xfrm>
            <a:off x="365760" y="1078992"/>
            <a:ext cx="8412480" cy="320040"/>
          </a:xfrm>
          <a:prstGeom prst="rect">
            <a:avLst/>
          </a:prstGeom>
          <a:noFill/>
          <a:ln/>
        </p:spPr>
        <p:txBody>
          <a:bodyPr wrap="square" lIns="0" tIns="0" rIns="0" bIns="0" rtlCol="0" anchor="ctr"/>
          <a:lstStyle/>
          <a:p>
            <a:pPr indent="0" marL="0">
              <a:buNone/>
            </a:pPr>
            <a:r>
              <a:rPr lang="en-US" sz="1300" i="1" dirty="0">
                <a:solidFill>
                  <a:srgbClr val="7A88A8"/>
                </a:solidFill>
                <a:latin typeface="Calibri" pitchFamily="34" charset="0"/>
                <a:ea typeface="Calibri" pitchFamily="34" charset="-122"/>
                <a:cs typeface="Calibri" pitchFamily="34" charset="-120"/>
              </a:rPr>
              <a:t>Think about what you already know. Then discuss with the questions below.</a:t>
            </a:r>
            <a:endParaRPr lang="en-US" sz="1300" dirty="0"/>
          </a:p>
        </p:txBody>
      </p:sp>
      <p:sp>
        <p:nvSpPr>
          <p:cNvPr id="7" name="Shape 5"/>
          <p:cNvSpPr/>
          <p:nvPr/>
        </p:nvSpPr>
        <p:spPr>
          <a:xfrm>
            <a:off x="365760" y="1481328"/>
            <a:ext cx="8412480" cy="2743200"/>
          </a:xfrm>
          <a:prstGeom prst="roundRect">
            <a:avLst>
              <a:gd name="adj" fmla="val 5000"/>
            </a:avLst>
          </a:prstGeom>
          <a:solidFill>
            <a:srgbClr val="1A2D5A"/>
          </a:solidFill>
          <a:ln/>
          <a:effectLst>
            <a:outerShdw sx="100000" sy="100000" kx="0" ky="0" algn="bl" rotWithShape="0" blurRad="101600" dist="38100" dir="8100000">
              <a:srgbClr val="000000">
                <a:alpha val="20000"/>
              </a:srgbClr>
            </a:outerShdw>
          </a:effectLst>
        </p:spPr>
      </p:sp>
      <p:sp>
        <p:nvSpPr>
          <p:cNvPr id="8" name="Text 6"/>
          <p:cNvSpPr/>
          <p:nvPr/>
        </p:nvSpPr>
        <p:spPr>
          <a:xfrm>
            <a:off x="548640" y="1572768"/>
            <a:ext cx="8046720" cy="256032"/>
          </a:xfrm>
          <a:prstGeom prst="rect">
            <a:avLst/>
          </a:prstGeom>
          <a:noFill/>
          <a:ln/>
        </p:spPr>
        <p:txBody>
          <a:bodyPr wrap="square" lIns="0" tIns="0" rIns="0" bIns="0" rtlCol="0" anchor="ctr"/>
          <a:lstStyle/>
          <a:p>
            <a:pPr indent="0" marL="0">
              <a:buNone/>
            </a:pPr>
            <a:r>
              <a:rPr lang="en-US" sz="900" b="1" spc="150" kern="0" dirty="0">
                <a:solidFill>
                  <a:srgbClr val="55C8E8"/>
                </a:solidFill>
                <a:latin typeface="Calibri" pitchFamily="34" charset="0"/>
                <a:ea typeface="Calibri" pitchFamily="34" charset="-122"/>
                <a:cs typeface="Calibri" pitchFamily="34" charset="-120"/>
              </a:rPr>
              <a:t>SOCRATIC QUESTIONS</a:t>
            </a:r>
            <a:endParaRPr lang="en-US" sz="900" dirty="0"/>
          </a:p>
        </p:txBody>
      </p:sp>
      <p:sp>
        <p:nvSpPr>
          <p:cNvPr id="9" name="Text 7"/>
          <p:cNvSpPr/>
          <p:nvPr/>
        </p:nvSpPr>
        <p:spPr>
          <a:xfrm>
            <a:off x="548640" y="1828800"/>
            <a:ext cx="8046720" cy="230428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When someone does something dangerous and difficult — like sailing across an unknown ocean — historians say they cannot just call it 'adventure.' What else might be pushing them? Defend your idea.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Spain had already found gold in Mexico and Peru. How do you think that would change what the next explorer was willing to do — or risk — in Florida?</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If a country sends soldiers, priests, and explorers all at the same time, what does that tell you about what that country actually wants? What is one thing they are probably NOT just doing for adventure?</a:t>
            </a:r>
            <a:endParaRPr lang="en-US" sz="1100" dirty="0"/>
          </a:p>
        </p:txBody>
      </p:sp>
      <p:sp>
        <p:nvSpPr>
          <p:cNvPr id="10" name="Shape 8"/>
          <p:cNvSpPr/>
          <p:nvPr/>
        </p:nvSpPr>
        <p:spPr>
          <a:xfrm>
            <a:off x="365760" y="4297680"/>
            <a:ext cx="8412480" cy="566928"/>
          </a:xfrm>
          <a:prstGeom prst="roundRect">
            <a:avLst>
              <a:gd name="adj" fmla="val 19355"/>
            </a:avLst>
          </a:prstGeom>
          <a:solidFill>
            <a:srgbClr val="FFF3DC"/>
          </a:solidFill>
          <a:ln w="19050">
            <a:solidFill>
              <a:srgbClr val="F5E6C8"/>
            </a:solidFill>
            <a:prstDash val="solid"/>
          </a:ln>
        </p:spPr>
      </p:sp>
      <p:sp>
        <p:nvSpPr>
          <p:cNvPr id="11" name="Text 9"/>
          <p:cNvSpPr/>
          <p:nvPr/>
        </p:nvSpPr>
        <p:spPr>
          <a:xfrm>
            <a:off x="502920" y="435254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02920" y="4553712"/>
            <a:ext cx="8138160" cy="24688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they were not just adventuring — they were also ______ because ______."</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SOURCE STUDY  |  SPANISH ROYAL DOCUMENT</a:t>
            </a:r>
            <a:endParaRPr lang="en-US" sz="1000" dirty="0"/>
          </a:p>
        </p:txBody>
      </p:sp>
      <p:sp>
        <p:nvSpPr>
          <p:cNvPr id="5" name="Text 3"/>
          <p:cNvSpPr/>
          <p:nvPr/>
        </p:nvSpPr>
        <p:spPr>
          <a:xfrm>
            <a:off x="365760" y="594360"/>
            <a:ext cx="8229600" cy="4114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A Cedula Real — A King's Order</a:t>
            </a:r>
            <a:endParaRPr lang="en-US" sz="2200" dirty="0"/>
          </a:p>
        </p:txBody>
      </p:sp>
      <p:sp>
        <p:nvSpPr>
          <p:cNvPr id="6" name="Shape 4"/>
          <p:cNvSpPr/>
          <p:nvPr/>
        </p:nvSpPr>
        <p:spPr>
          <a:xfrm>
            <a:off x="365760" y="1115568"/>
            <a:ext cx="3840480" cy="3017520"/>
          </a:xfrm>
          <a:prstGeom prst="roundRect">
            <a:avLst>
              <a:gd name="adj" fmla="val 3636"/>
            </a:avLst>
          </a:prstGeom>
          <a:solidFill>
            <a:srgbClr val="E2E8F4"/>
          </a:solidFill>
          <a:ln w="19050">
            <a:solidFill>
              <a:srgbClr val="B0B8CC"/>
            </a:solidFill>
            <a:prstDash val="dash"/>
          </a:ln>
        </p:spPr>
      </p:sp>
      <p:sp>
        <p:nvSpPr>
          <p:cNvPr id="7" name="Text 5"/>
          <p:cNvSpPr/>
          <p:nvPr/>
        </p:nvSpPr>
        <p:spPr>
          <a:xfrm>
            <a:off x="365760" y="1115568"/>
            <a:ext cx="384048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389888"/>
            <a:ext cx="3566160" cy="265176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16th-century Spanish royal decree (cedula real) — cream-colored parchment with handwritten Spanish text, a red wax seal at the bottom, and a small royal coat of arms. Source: Archivo General de Indias, Seville, Spain.</a:t>
            </a:r>
            <a:endParaRPr lang="en-US" sz="1100" dirty="0"/>
          </a:p>
        </p:txBody>
      </p:sp>
      <p:sp>
        <p:nvSpPr>
          <p:cNvPr id="9" name="Shape 7"/>
          <p:cNvSpPr/>
          <p:nvPr/>
        </p:nvSpPr>
        <p:spPr>
          <a:xfrm>
            <a:off x="365760" y="4206240"/>
            <a:ext cx="3840480" cy="347472"/>
          </a:xfrm>
          <a:prstGeom prst="roundRect">
            <a:avLst>
              <a:gd name="adj" fmla="val 21053"/>
            </a:avLst>
          </a:prstGeom>
          <a:solidFill>
            <a:srgbClr val="0E1C42"/>
          </a:solidFill>
          <a:ln w="12700">
            <a:solidFill>
              <a:srgbClr val="0E1C42"/>
            </a:solidFill>
            <a:prstDash val="solid"/>
          </a:ln>
        </p:spPr>
      </p:sp>
      <p:sp>
        <p:nvSpPr>
          <p:cNvPr id="10" name="Text 8"/>
          <p:cNvSpPr/>
          <p:nvPr/>
        </p:nvSpPr>
        <p:spPr>
          <a:xfrm>
            <a:off x="384048" y="4215384"/>
            <a:ext cx="3803904" cy="329184"/>
          </a:xfrm>
          <a:prstGeom prst="rect">
            <a:avLst/>
          </a:prstGeom>
          <a:noFill/>
          <a:ln/>
        </p:spPr>
        <p:txBody>
          <a:bodyPr wrap="square" lIns="0" tIns="0" rIns="0" bIns="0" rtlCol="0" anchor="ctr"/>
          <a:lstStyle/>
          <a:p>
            <a:pPr algn="ctr" indent="0" marL="0">
              <a:buNone/>
            </a:pPr>
            <a:r>
              <a:rPr lang="en-US" sz="900" dirty="0">
                <a:solidFill>
                  <a:srgbClr val="F0F2F8"/>
                </a:solidFill>
                <a:latin typeface="Calibri" pitchFamily="34" charset="0"/>
                <a:ea typeface="Calibri" pitchFamily="34" charset="-122"/>
                <a:cs typeface="Calibri" pitchFamily="34" charset="-120"/>
              </a:rPr>
              <a:t>Primary Source  |  Spanish royal document, mid-1500s  |  Archivo General de Indias</a:t>
            </a:r>
            <a:endParaRPr lang="en-US" sz="900" dirty="0"/>
          </a:p>
        </p:txBody>
      </p:sp>
      <p:sp>
        <p:nvSpPr>
          <p:cNvPr id="11" name="Shape 9"/>
          <p:cNvSpPr/>
          <p:nvPr/>
        </p:nvSpPr>
        <p:spPr>
          <a:xfrm>
            <a:off x="4343400" y="1115568"/>
            <a:ext cx="4389120" cy="3017520"/>
          </a:xfrm>
          <a:prstGeom prst="roundRect">
            <a:avLst>
              <a:gd name="adj" fmla="val 4545"/>
            </a:avLst>
          </a:prstGeom>
          <a:solidFill>
            <a:srgbClr val="1A2D5A"/>
          </a:solidFill>
          <a:ln/>
          <a:effectLst>
            <a:outerShdw sx="100000" sy="100000" kx="0" ky="0" algn="bl" rotWithShape="0" blurRad="101600" dist="38100" dir="8100000">
              <a:srgbClr val="000000">
                <a:alpha val="20000"/>
              </a:srgbClr>
            </a:outerShdw>
          </a:effectLst>
        </p:spPr>
      </p:sp>
      <p:sp>
        <p:nvSpPr>
          <p:cNvPr id="12" name="Text 10"/>
          <p:cNvSpPr/>
          <p:nvPr/>
        </p:nvSpPr>
        <p:spPr>
          <a:xfrm>
            <a:off x="4526280" y="1207008"/>
            <a:ext cx="402336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EVALUATE THE SOURCE</a:t>
            </a:r>
            <a:endParaRPr lang="en-US" sz="900" dirty="0"/>
          </a:p>
        </p:txBody>
      </p:sp>
      <p:sp>
        <p:nvSpPr>
          <p:cNvPr id="13" name="Text 11"/>
          <p:cNvSpPr/>
          <p:nvPr/>
        </p:nvSpPr>
        <p:spPr>
          <a:xfrm>
            <a:off x="4526280" y="1463040"/>
            <a:ext cx="4023360" cy="2578608"/>
          </a:xfrm>
          <a:prstGeom prst="rect">
            <a:avLst/>
          </a:prstGeom>
          <a:noFill/>
          <a:ln/>
        </p:spPr>
        <p:txBody>
          <a:bodyPr wrap="square" lIns="0" tIns="0" rIns="0" bIns="0" rtlCol="0" anchor="t"/>
          <a:lstStyle/>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kind of document is this — a personal letter, a king's order, or a map? What clues (the seal, the handwriting, the layout) helped you decide?</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Who made this document, and why would a Spanish king need to write orders about new lands? What motives does that suggest?</a:t>
            </a:r>
            <a:endParaRPr lang="en-US" sz="1100" dirty="0"/>
          </a:p>
          <a:p>
            <a:pPr marL="342900" indent="-342900">
              <a:spcAft>
                <a:spcPts val="400"/>
              </a:spcAft>
              <a:buSzPct val="100000"/>
              <a:buChar char="•"/>
            </a:pPr>
            <a:r>
              <a:rPr lang="en-US" sz="1100" i="1" dirty="0">
                <a:solidFill>
                  <a:srgbClr val="FFFFFF"/>
                </a:solidFill>
                <a:latin typeface="Calibri" pitchFamily="34" charset="0"/>
                <a:ea typeface="Calibri" pitchFamily="34" charset="-122"/>
                <a:cs typeface="Calibri" pitchFamily="34" charset="-120"/>
              </a:rPr>
              <a:t>What can a written order tell us about Spanish motives that a painting of an explorer cannot?</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457200" y="274320"/>
            <a:ext cx="2743200" cy="347472"/>
          </a:xfrm>
          <a:prstGeom prst="roundRect">
            <a:avLst>
              <a:gd name="adj" fmla="val 26316"/>
            </a:avLst>
          </a:prstGeom>
          <a:solidFill>
            <a:srgbClr val="D4943A"/>
          </a:solidFill>
          <a:ln w="12700">
            <a:solidFill>
              <a:srgbClr val="D4943A"/>
            </a:solidFill>
            <a:prstDash val="solid"/>
          </a:ln>
        </p:spPr>
      </p:sp>
      <p:sp>
        <p:nvSpPr>
          <p:cNvPr id="5" name="Text 3"/>
          <p:cNvSpPr/>
          <p:nvPr/>
        </p:nvSpPr>
        <p:spPr>
          <a:xfrm>
            <a:off x="457200" y="274320"/>
            <a:ext cx="2743200" cy="347472"/>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KEY CONCEPT FOUND</a:t>
            </a:r>
            <a:endParaRPr lang="en-US" sz="1100" dirty="0"/>
          </a:p>
        </p:txBody>
      </p:sp>
      <p:sp>
        <p:nvSpPr>
          <p:cNvPr id="6" name="Text 4"/>
          <p:cNvSpPr/>
          <p:nvPr/>
        </p:nvSpPr>
        <p:spPr>
          <a:xfrm>
            <a:off x="457200" y="777240"/>
            <a:ext cx="8229600" cy="320040"/>
          </a:xfrm>
          <a:prstGeom prst="rect">
            <a:avLst/>
          </a:prstGeom>
          <a:noFill/>
          <a:ln/>
        </p:spPr>
        <p:txBody>
          <a:bodyPr wrap="square" lIns="0" tIns="0" rIns="0" bIns="0" rtlCol="0" anchor="ctr"/>
          <a:lstStyle/>
          <a:p>
            <a:pPr indent="0" marL="0">
              <a:buNone/>
            </a:pPr>
            <a:r>
              <a:rPr lang="en-US" sz="1400" i="1" dirty="0">
                <a:solidFill>
                  <a:srgbClr val="55C8E8"/>
                </a:solidFill>
                <a:latin typeface="Calibri" pitchFamily="34" charset="0"/>
                <a:ea typeface="Calibri" pitchFamily="34" charset="-122"/>
                <a:cs typeface="Calibri" pitchFamily="34" charset="-120"/>
              </a:rPr>
              <a:t>You found it:</a:t>
            </a:r>
            <a:endParaRPr lang="en-US" sz="1400" dirty="0"/>
          </a:p>
        </p:txBody>
      </p:sp>
      <p:sp>
        <p:nvSpPr>
          <p:cNvPr id="7" name="Text 5"/>
          <p:cNvSpPr/>
          <p:nvPr/>
        </p:nvSpPr>
        <p:spPr>
          <a:xfrm>
            <a:off x="457200" y="1097280"/>
            <a:ext cx="8229600" cy="822960"/>
          </a:xfrm>
          <a:prstGeom prst="rect">
            <a:avLst/>
          </a:prstGeom>
          <a:noFill/>
          <a:ln/>
        </p:spPr>
        <p:txBody>
          <a:bodyPr wrap="square" lIns="0" tIns="0" rIns="0" bIns="0" rtlCol="0" anchor="ctr"/>
          <a:lstStyle/>
          <a:p>
            <a:pPr indent="0" marL="0">
              <a:buNone/>
            </a:pPr>
            <a:r>
              <a:rPr lang="en-US" sz="4600" b="1" dirty="0">
                <a:solidFill>
                  <a:srgbClr val="D4943A"/>
                </a:solidFill>
                <a:latin typeface="Cambria" pitchFamily="34" charset="0"/>
                <a:ea typeface="Cambria" pitchFamily="34" charset="-122"/>
                <a:cs typeface="Cambria" pitchFamily="34" charset="-120"/>
              </a:rPr>
              <a:t>God, Gold, and Glory</a:t>
            </a:r>
            <a:endParaRPr lang="en-US" sz="4600" dirty="0"/>
          </a:p>
        </p:txBody>
      </p:sp>
      <p:sp>
        <p:nvSpPr>
          <p:cNvPr id="8" name="Shape 6"/>
          <p:cNvSpPr/>
          <p:nvPr/>
        </p:nvSpPr>
        <p:spPr>
          <a:xfrm>
            <a:off x="457200" y="1993392"/>
            <a:ext cx="8229600" cy="36576"/>
          </a:xfrm>
          <a:prstGeom prst="rect">
            <a:avLst/>
          </a:prstGeom>
          <a:solidFill>
            <a:srgbClr val="55C8E8"/>
          </a:solidFill>
          <a:ln w="12700">
            <a:solidFill>
              <a:srgbClr val="55C8E8"/>
            </a:solidFill>
            <a:prstDash val="solid"/>
          </a:ln>
        </p:spPr>
      </p:sp>
      <p:sp>
        <p:nvSpPr>
          <p:cNvPr id="9" name="Text 7"/>
          <p:cNvSpPr/>
          <p:nvPr/>
        </p:nvSpPr>
        <p:spPr>
          <a:xfrm>
            <a:off x="457200" y="2121408"/>
            <a:ext cx="8229600" cy="594360"/>
          </a:xfrm>
          <a:prstGeom prst="rect">
            <a:avLst/>
          </a:prstGeom>
          <a:noFill/>
          <a:ln/>
        </p:spPr>
        <p:txBody>
          <a:bodyPr wrap="square" lIns="0" tIns="0" rIns="0" bIns="0" rtlCol="0" anchor="t"/>
          <a:lstStyle/>
          <a:p>
            <a:pPr algn="l" indent="0" marL="0">
              <a:buNone/>
            </a:pPr>
            <a:r>
              <a:rPr lang="en-US" sz="1400" dirty="0">
                <a:solidFill>
                  <a:srgbClr val="F0F2F8"/>
                </a:solidFill>
                <a:latin typeface="Calibri" pitchFamily="34" charset="0"/>
                <a:ea typeface="Calibri" pitchFamily="34" charset="-122"/>
                <a:cs typeface="Calibri" pitchFamily="34" charset="-120"/>
              </a:rPr>
              <a:t>When historians study why Spain sent expedition after expedition to Florida, they point to three motives. They all start with G.</a:t>
            </a:r>
            <a:endParaRPr lang="en-US" sz="1400" dirty="0"/>
          </a:p>
        </p:txBody>
      </p:sp>
      <p:sp>
        <p:nvSpPr>
          <p:cNvPr id="10" name="Shape 8"/>
          <p:cNvSpPr/>
          <p:nvPr/>
        </p:nvSpPr>
        <p:spPr>
          <a:xfrm>
            <a:off x="457200" y="2816352"/>
            <a:ext cx="2606040" cy="1920240"/>
          </a:xfrm>
          <a:prstGeom prst="roundRect">
            <a:avLst>
              <a:gd name="adj" fmla="val 6667"/>
            </a:avLst>
          </a:prstGeom>
          <a:solidFill>
            <a:srgbClr val="8B6FC0"/>
          </a:solidFill>
          <a:ln w="12700">
            <a:solidFill>
              <a:srgbClr val="8B6FC0"/>
            </a:solidFill>
            <a:prstDash val="solid"/>
          </a:ln>
        </p:spPr>
      </p:sp>
      <p:sp>
        <p:nvSpPr>
          <p:cNvPr id="11" name="Text 9"/>
          <p:cNvSpPr/>
          <p:nvPr/>
        </p:nvSpPr>
        <p:spPr>
          <a:xfrm>
            <a:off x="548640" y="2852928"/>
            <a:ext cx="2423160" cy="420624"/>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GOD</a:t>
            </a:r>
            <a:endParaRPr lang="en-US" sz="2600" dirty="0"/>
          </a:p>
        </p:txBody>
      </p:sp>
      <p:sp>
        <p:nvSpPr>
          <p:cNvPr id="12" name="Shape 10"/>
          <p:cNvSpPr/>
          <p:nvPr/>
        </p:nvSpPr>
        <p:spPr>
          <a:xfrm>
            <a:off x="685800" y="3291840"/>
            <a:ext cx="2148840" cy="27432"/>
          </a:xfrm>
          <a:prstGeom prst="rect">
            <a:avLst/>
          </a:prstGeom>
          <a:solidFill>
            <a:srgbClr val="FFFFFF">
              <a:alpha val="50000"/>
            </a:srgbClr>
          </a:solidFill>
          <a:ln w="12700">
            <a:solidFill>
              <a:srgbClr val="FFFFFF">
                <a:alpha val="50000"/>
              </a:srgbClr>
            </a:solidFill>
            <a:prstDash val="solid"/>
          </a:ln>
        </p:spPr>
      </p:sp>
      <p:sp>
        <p:nvSpPr>
          <p:cNvPr id="13" name="Text 11"/>
          <p:cNvSpPr/>
          <p:nvPr/>
        </p:nvSpPr>
        <p:spPr>
          <a:xfrm>
            <a:off x="548640" y="3364992"/>
            <a:ext cx="2423160" cy="1261872"/>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Spreading the Catholic faith. Priests sailed with explorers and built missions to convert Native peoples.</a:t>
            </a:r>
            <a:endParaRPr lang="en-US" sz="1100" dirty="0"/>
          </a:p>
        </p:txBody>
      </p:sp>
      <p:sp>
        <p:nvSpPr>
          <p:cNvPr id="14" name="Shape 12"/>
          <p:cNvSpPr/>
          <p:nvPr/>
        </p:nvSpPr>
        <p:spPr>
          <a:xfrm>
            <a:off x="3291840" y="2816352"/>
            <a:ext cx="2606040" cy="1920240"/>
          </a:xfrm>
          <a:prstGeom prst="roundRect">
            <a:avLst>
              <a:gd name="adj" fmla="val 6667"/>
            </a:avLst>
          </a:prstGeom>
          <a:solidFill>
            <a:srgbClr val="D4943A"/>
          </a:solidFill>
          <a:ln w="12700">
            <a:solidFill>
              <a:srgbClr val="D4943A"/>
            </a:solidFill>
            <a:prstDash val="solid"/>
          </a:ln>
        </p:spPr>
      </p:sp>
      <p:sp>
        <p:nvSpPr>
          <p:cNvPr id="15" name="Text 13"/>
          <p:cNvSpPr/>
          <p:nvPr/>
        </p:nvSpPr>
        <p:spPr>
          <a:xfrm>
            <a:off x="3383280" y="2852928"/>
            <a:ext cx="2423160" cy="420624"/>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GOLD</a:t>
            </a:r>
            <a:endParaRPr lang="en-US" sz="2600" dirty="0"/>
          </a:p>
        </p:txBody>
      </p:sp>
      <p:sp>
        <p:nvSpPr>
          <p:cNvPr id="16" name="Shape 14"/>
          <p:cNvSpPr/>
          <p:nvPr/>
        </p:nvSpPr>
        <p:spPr>
          <a:xfrm>
            <a:off x="3520440" y="3291840"/>
            <a:ext cx="2148840" cy="27432"/>
          </a:xfrm>
          <a:prstGeom prst="rect">
            <a:avLst/>
          </a:prstGeom>
          <a:solidFill>
            <a:srgbClr val="FFFFFF">
              <a:alpha val="50000"/>
            </a:srgbClr>
          </a:solidFill>
          <a:ln w="12700">
            <a:solidFill>
              <a:srgbClr val="FFFFFF">
                <a:alpha val="50000"/>
              </a:srgbClr>
            </a:solidFill>
            <a:prstDash val="solid"/>
          </a:ln>
        </p:spPr>
      </p:sp>
      <p:sp>
        <p:nvSpPr>
          <p:cNvPr id="17" name="Text 15"/>
          <p:cNvSpPr/>
          <p:nvPr/>
        </p:nvSpPr>
        <p:spPr>
          <a:xfrm>
            <a:off x="3383280" y="3364992"/>
            <a:ext cx="2423160" cy="1261872"/>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Finding wealth — silver, gold, pearls — to send back to Spain. De Soto searched for cities of gold that did not exist.</a:t>
            </a:r>
            <a:endParaRPr lang="en-US" sz="1100" dirty="0"/>
          </a:p>
        </p:txBody>
      </p:sp>
      <p:sp>
        <p:nvSpPr>
          <p:cNvPr id="18" name="Shape 16"/>
          <p:cNvSpPr/>
          <p:nvPr/>
        </p:nvSpPr>
        <p:spPr>
          <a:xfrm>
            <a:off x="6126480" y="2816352"/>
            <a:ext cx="2606040" cy="1920240"/>
          </a:xfrm>
          <a:prstGeom prst="roundRect">
            <a:avLst>
              <a:gd name="adj" fmla="val 6667"/>
            </a:avLst>
          </a:prstGeom>
          <a:solidFill>
            <a:srgbClr val="1A8A7D"/>
          </a:solidFill>
          <a:ln w="12700">
            <a:solidFill>
              <a:srgbClr val="1A8A7D"/>
            </a:solidFill>
            <a:prstDash val="solid"/>
          </a:ln>
        </p:spPr>
      </p:sp>
      <p:sp>
        <p:nvSpPr>
          <p:cNvPr id="19" name="Text 17"/>
          <p:cNvSpPr/>
          <p:nvPr/>
        </p:nvSpPr>
        <p:spPr>
          <a:xfrm>
            <a:off x="6217920" y="2852928"/>
            <a:ext cx="2423160" cy="420624"/>
          </a:xfrm>
          <a:prstGeom prst="rect">
            <a:avLst/>
          </a:prstGeom>
          <a:noFill/>
          <a:ln/>
        </p:spPr>
        <p:txBody>
          <a:bodyPr wrap="square" lIns="0" tIns="0" rIns="0" bIns="0" rtlCol="0" anchor="ctr"/>
          <a:lstStyle/>
          <a:p>
            <a:pPr algn="ctr" indent="0" marL="0">
              <a:buNone/>
            </a:pPr>
            <a:r>
              <a:rPr lang="en-US" sz="2600" b="1" dirty="0">
                <a:solidFill>
                  <a:srgbClr val="FFFFFF"/>
                </a:solidFill>
                <a:latin typeface="Cambria" pitchFamily="34" charset="0"/>
                <a:ea typeface="Cambria" pitchFamily="34" charset="-122"/>
                <a:cs typeface="Cambria" pitchFamily="34" charset="-120"/>
              </a:rPr>
              <a:t>GLORY</a:t>
            </a:r>
            <a:endParaRPr lang="en-US" sz="2600" dirty="0"/>
          </a:p>
        </p:txBody>
      </p:sp>
      <p:sp>
        <p:nvSpPr>
          <p:cNvPr id="20" name="Shape 18"/>
          <p:cNvSpPr/>
          <p:nvPr/>
        </p:nvSpPr>
        <p:spPr>
          <a:xfrm>
            <a:off x="6355080" y="3291840"/>
            <a:ext cx="2148840" cy="27432"/>
          </a:xfrm>
          <a:prstGeom prst="rect">
            <a:avLst/>
          </a:prstGeom>
          <a:solidFill>
            <a:srgbClr val="FFFFFF">
              <a:alpha val="50000"/>
            </a:srgbClr>
          </a:solidFill>
          <a:ln w="12700">
            <a:solidFill>
              <a:srgbClr val="FFFFFF">
                <a:alpha val="50000"/>
              </a:srgbClr>
            </a:solidFill>
            <a:prstDash val="solid"/>
          </a:ln>
        </p:spPr>
      </p:sp>
      <p:sp>
        <p:nvSpPr>
          <p:cNvPr id="21" name="Text 19"/>
          <p:cNvSpPr/>
          <p:nvPr/>
        </p:nvSpPr>
        <p:spPr>
          <a:xfrm>
            <a:off x="6217920" y="3364992"/>
            <a:ext cx="2423160" cy="1261872"/>
          </a:xfrm>
          <a:prstGeom prst="rect">
            <a:avLst/>
          </a:prstGeom>
          <a:noFill/>
          <a:ln/>
        </p:spPr>
        <p:txBody>
          <a:bodyPr wrap="square" lIns="0" tIns="0" rIns="0" bIns="0" rtlCol="0" anchor="t"/>
          <a:lstStyle/>
          <a:p>
            <a:pPr algn="ctr" indent="0" marL="0">
              <a:buNone/>
            </a:pPr>
            <a:r>
              <a:rPr lang="en-US" sz="1100" dirty="0">
                <a:solidFill>
                  <a:srgbClr val="FFFFFF"/>
                </a:solidFill>
                <a:latin typeface="Calibri" pitchFamily="34" charset="0"/>
                <a:ea typeface="Calibri" pitchFamily="34" charset="-122"/>
                <a:cs typeface="Calibri" pitchFamily="34" charset="-120"/>
              </a:rPr>
              <a:t>Claiming land for the Spanish crown. Explorers earned noble titles and rewards by planting Spain's flag first.</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8B6FC0"/>
          </a:solidFill>
          <a:ln w="12700">
            <a:solidFill>
              <a:srgbClr val="8B6FC0"/>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MOTIVE 1: GOD — RELIGION AND MISSIONS</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Spreading the Catholic Faith</a:t>
            </a:r>
            <a:endParaRPr lang="en-US" sz="2400" dirty="0"/>
          </a:p>
        </p:txBody>
      </p:sp>
      <p:sp>
        <p:nvSpPr>
          <p:cNvPr id="6" name="Shape 4"/>
          <p:cNvSpPr/>
          <p:nvPr/>
        </p:nvSpPr>
        <p:spPr>
          <a:xfrm>
            <a:off x="365760" y="1143000"/>
            <a:ext cx="3657600" cy="2697480"/>
          </a:xfrm>
          <a:prstGeom prst="roundRect">
            <a:avLst>
              <a:gd name="adj" fmla="val 4068"/>
            </a:avLst>
          </a:prstGeom>
          <a:solidFill>
            <a:srgbClr val="E2E8F4"/>
          </a:solidFill>
          <a:ln w="19050">
            <a:solidFill>
              <a:srgbClr val="B0B8CC"/>
            </a:solidFill>
            <a:prstDash val="dash"/>
          </a:ln>
        </p:spPr>
      </p:sp>
      <p:sp>
        <p:nvSpPr>
          <p:cNvPr id="7" name="Text 5"/>
          <p:cNvSpPr/>
          <p:nvPr/>
        </p:nvSpPr>
        <p:spPr>
          <a:xfrm>
            <a:off x="365760" y="114300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417320"/>
            <a:ext cx="3383280" cy="2331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16th-century Spanish mission church building with a bell tower in a Florida landscape with palm trees — no human faces, warm golden light, illustrated colonial-era style</a:t>
            </a:r>
            <a:endParaRPr lang="en-US" sz="1100" dirty="0"/>
          </a:p>
        </p:txBody>
      </p:sp>
      <p:sp>
        <p:nvSpPr>
          <p:cNvPr id="9" name="Shape 7"/>
          <p:cNvSpPr/>
          <p:nvPr/>
        </p:nvSpPr>
        <p:spPr>
          <a:xfrm>
            <a:off x="4206240" y="1143000"/>
            <a:ext cx="4480560" cy="2697480"/>
          </a:xfrm>
          <a:prstGeom prst="roundRect">
            <a:avLst>
              <a:gd name="adj" fmla="val 4068"/>
            </a:avLst>
          </a:prstGeom>
          <a:solidFill>
            <a:srgbClr val="FFFFFF"/>
          </a:solidFill>
          <a:ln w="19050">
            <a:solidFill>
              <a:srgbClr val="8B6FC0"/>
            </a:solidFill>
            <a:prstDash val="solid"/>
          </a:ln>
        </p:spPr>
      </p:sp>
      <p:sp>
        <p:nvSpPr>
          <p:cNvPr id="10" name="Text 8"/>
          <p:cNvSpPr/>
          <p:nvPr/>
        </p:nvSpPr>
        <p:spPr>
          <a:xfrm>
            <a:off x="4370832" y="1261872"/>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Spain was a Catholic country — the king believed it was his duty to spread the faith to new lands.</a:t>
            </a:r>
            <a:endParaRPr lang="en-US" sz="1200" dirty="0"/>
          </a:p>
        </p:txBody>
      </p:sp>
      <p:sp>
        <p:nvSpPr>
          <p:cNvPr id="11" name="Text 9"/>
          <p:cNvSpPr/>
          <p:nvPr/>
        </p:nvSpPr>
        <p:spPr>
          <a:xfrm>
            <a:off x="4370832" y="1737360"/>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Priests traveled with every expedition and later built churches called missions.</a:t>
            </a:r>
            <a:endParaRPr lang="en-US" sz="1200" dirty="0"/>
          </a:p>
        </p:txBody>
      </p:sp>
      <p:sp>
        <p:nvSpPr>
          <p:cNvPr id="12" name="Text 10"/>
          <p:cNvSpPr/>
          <p:nvPr/>
        </p:nvSpPr>
        <p:spPr>
          <a:xfrm>
            <a:off x="4370832" y="2212848"/>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Missions were established near the Calusa, Timucua, Apalachee, and Tequesta peoples.</a:t>
            </a:r>
            <a:endParaRPr lang="en-US" sz="1200" dirty="0"/>
          </a:p>
        </p:txBody>
      </p:sp>
      <p:sp>
        <p:nvSpPr>
          <p:cNvPr id="13" name="Text 11"/>
          <p:cNvSpPr/>
          <p:nvPr/>
        </p:nvSpPr>
        <p:spPr>
          <a:xfrm>
            <a:off x="4370832" y="2688336"/>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Some Native people accepted Christianity. Many resisted — they had their own beliefs and way of life.</a:t>
            </a:r>
            <a:endParaRPr lang="en-US" sz="1200" dirty="0"/>
          </a:p>
        </p:txBody>
      </p:sp>
      <p:sp>
        <p:nvSpPr>
          <p:cNvPr id="14" name="Text 12"/>
          <p:cNvSpPr/>
          <p:nvPr/>
        </p:nvSpPr>
        <p:spPr>
          <a:xfrm>
            <a:off x="4370832" y="3163824"/>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Resistance to conversion sometimes led to violence and forced removal.</a:t>
            </a:r>
            <a:endParaRPr lang="en-US" sz="1200" dirty="0"/>
          </a:p>
        </p:txBody>
      </p:sp>
      <p:sp>
        <p:nvSpPr>
          <p:cNvPr id="15" name="Shape 13"/>
          <p:cNvSpPr/>
          <p:nvPr/>
        </p:nvSpPr>
        <p:spPr>
          <a:xfrm>
            <a:off x="365760" y="3950208"/>
            <a:ext cx="8412480" cy="621792"/>
          </a:xfrm>
          <a:prstGeom prst="roundRect">
            <a:avLst>
              <a:gd name="adj" fmla="val 17647"/>
            </a:avLst>
          </a:prstGeom>
          <a:solidFill>
            <a:srgbClr val="FFF3DC"/>
          </a:solidFill>
          <a:ln w="19050">
            <a:solidFill>
              <a:srgbClr val="F5E6C8"/>
            </a:solidFill>
            <a:prstDash val="solid"/>
          </a:ln>
        </p:spPr>
      </p:sp>
      <p:sp>
        <p:nvSpPr>
          <p:cNvPr id="16" name="Text 14"/>
          <p:cNvSpPr/>
          <p:nvPr/>
        </p:nvSpPr>
        <p:spPr>
          <a:xfrm>
            <a:off x="502920" y="400507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4206240"/>
            <a:ext cx="8138160" cy="30175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God motive caused harm because ______."</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D4943A"/>
          </a:solidFill>
          <a:ln w="12700">
            <a:solidFill>
              <a:srgbClr val="D4943A"/>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MOTIVE 2: GOLD — THE SEARCH FOR WEALTH</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Cities of Gold That Did Not Exist</a:t>
            </a:r>
            <a:endParaRPr lang="en-US" sz="2400" dirty="0"/>
          </a:p>
        </p:txBody>
      </p:sp>
      <p:sp>
        <p:nvSpPr>
          <p:cNvPr id="6" name="Shape 4"/>
          <p:cNvSpPr/>
          <p:nvPr/>
        </p:nvSpPr>
        <p:spPr>
          <a:xfrm>
            <a:off x="365760" y="1143000"/>
            <a:ext cx="3657600" cy="2697480"/>
          </a:xfrm>
          <a:prstGeom prst="roundRect">
            <a:avLst>
              <a:gd name="adj" fmla="val 4068"/>
            </a:avLst>
          </a:prstGeom>
          <a:solidFill>
            <a:srgbClr val="E2E8F4"/>
          </a:solidFill>
          <a:ln w="19050">
            <a:solidFill>
              <a:srgbClr val="B0B8CC"/>
            </a:solidFill>
            <a:prstDash val="dash"/>
          </a:ln>
        </p:spPr>
      </p:sp>
      <p:sp>
        <p:nvSpPr>
          <p:cNvPr id="7" name="Text 5"/>
          <p:cNvSpPr/>
          <p:nvPr/>
        </p:nvSpPr>
        <p:spPr>
          <a:xfrm>
            <a:off x="365760" y="114300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417320"/>
            <a:ext cx="3383280" cy="2331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treasure chest overflowing with gold coins and jewels on a rough wooden ship deck, ocean waves visible in background — illustrated style, no faces, warm rich colors</a:t>
            </a:r>
            <a:endParaRPr lang="en-US" sz="1100" dirty="0"/>
          </a:p>
        </p:txBody>
      </p:sp>
      <p:sp>
        <p:nvSpPr>
          <p:cNvPr id="9" name="Shape 7"/>
          <p:cNvSpPr/>
          <p:nvPr/>
        </p:nvSpPr>
        <p:spPr>
          <a:xfrm>
            <a:off x="4206240" y="1143000"/>
            <a:ext cx="4480560" cy="2697480"/>
          </a:xfrm>
          <a:prstGeom prst="roundRect">
            <a:avLst>
              <a:gd name="adj" fmla="val 4068"/>
            </a:avLst>
          </a:prstGeom>
          <a:solidFill>
            <a:srgbClr val="FFFFFF"/>
          </a:solidFill>
          <a:ln w="19050">
            <a:solidFill>
              <a:srgbClr val="D4943A"/>
            </a:solidFill>
            <a:prstDash val="solid"/>
          </a:ln>
        </p:spPr>
      </p:sp>
      <p:sp>
        <p:nvSpPr>
          <p:cNvPr id="10" name="Text 8"/>
          <p:cNvSpPr/>
          <p:nvPr/>
        </p:nvSpPr>
        <p:spPr>
          <a:xfrm>
            <a:off x="4370832" y="1261872"/>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Spain already found enormous silver and gold in Mexico and Peru — and wanted more.</a:t>
            </a:r>
            <a:endParaRPr lang="en-US" sz="1200" dirty="0"/>
          </a:p>
        </p:txBody>
      </p:sp>
      <p:sp>
        <p:nvSpPr>
          <p:cNvPr id="11" name="Text 9"/>
          <p:cNvSpPr/>
          <p:nvPr/>
        </p:nvSpPr>
        <p:spPr>
          <a:xfrm>
            <a:off x="4370832" y="1737360"/>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Explorers believed Florida hid the same kind of treasure: gold, silver, and pearls.</a:t>
            </a:r>
            <a:endParaRPr lang="en-US" sz="1200" dirty="0"/>
          </a:p>
        </p:txBody>
      </p:sp>
      <p:sp>
        <p:nvSpPr>
          <p:cNvPr id="12" name="Text 10"/>
          <p:cNvSpPr/>
          <p:nvPr/>
        </p:nvSpPr>
        <p:spPr>
          <a:xfrm>
            <a:off x="4370832" y="2212848"/>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Hernando de Soto marched 4,000 soldiers across Florida for 3 years searching for cities of gold.</a:t>
            </a:r>
            <a:endParaRPr lang="en-US" sz="1200" dirty="0"/>
          </a:p>
        </p:txBody>
      </p:sp>
      <p:sp>
        <p:nvSpPr>
          <p:cNvPr id="13" name="Text 11"/>
          <p:cNvSpPr/>
          <p:nvPr/>
        </p:nvSpPr>
        <p:spPr>
          <a:xfrm>
            <a:off x="4370832" y="2688336"/>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The cities (called Cibola) did not exist — but the Spanish kept searching for decades anyway.</a:t>
            </a:r>
            <a:endParaRPr lang="en-US" sz="1200" dirty="0"/>
          </a:p>
        </p:txBody>
      </p:sp>
      <p:sp>
        <p:nvSpPr>
          <p:cNvPr id="14" name="Text 12"/>
          <p:cNvSpPr/>
          <p:nvPr/>
        </p:nvSpPr>
        <p:spPr>
          <a:xfrm>
            <a:off x="4370832" y="3163824"/>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The Gold motive pushed explorers to take food, labor, and resources from Native peoples by force.</a:t>
            </a:r>
            <a:endParaRPr lang="en-US" sz="1200" dirty="0"/>
          </a:p>
        </p:txBody>
      </p:sp>
      <p:sp>
        <p:nvSpPr>
          <p:cNvPr id="15" name="Shape 13"/>
          <p:cNvSpPr/>
          <p:nvPr/>
        </p:nvSpPr>
        <p:spPr>
          <a:xfrm>
            <a:off x="365760" y="3950208"/>
            <a:ext cx="8412480" cy="749808"/>
          </a:xfrm>
          <a:prstGeom prst="roundRect">
            <a:avLst>
              <a:gd name="adj" fmla="val 14634"/>
            </a:avLst>
          </a:prstGeom>
          <a:solidFill>
            <a:srgbClr val="FFF3DC"/>
          </a:solidFill>
          <a:ln w="19050">
            <a:solidFill>
              <a:srgbClr val="F5E6C8"/>
            </a:solidFill>
            <a:prstDash val="solid"/>
          </a:ln>
        </p:spPr>
      </p:sp>
      <p:sp>
        <p:nvSpPr>
          <p:cNvPr id="16" name="Text 14"/>
          <p:cNvSpPr/>
          <p:nvPr/>
        </p:nvSpPr>
        <p:spPr>
          <a:xfrm>
            <a:off x="502920" y="400507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4206240"/>
            <a:ext cx="8138160" cy="4297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Gold motive was different from God because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"De Soto's search caused harm because ______."</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1A8A7D"/>
          </a:solidFill>
          <a:ln w="12700">
            <a:solidFill>
              <a:srgbClr val="1A8A7D"/>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FFFFFF"/>
                </a:solidFill>
                <a:latin typeface="Calibri" pitchFamily="34" charset="0"/>
                <a:ea typeface="Calibri" pitchFamily="34" charset="-122"/>
                <a:cs typeface="Calibri" pitchFamily="34" charset="-120"/>
              </a:rPr>
              <a:t>MOTIVE 3: GLORY — HONOR, LAND, AND RIVALRY</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Planting Spain's Flag First</a:t>
            </a:r>
            <a:endParaRPr lang="en-US" sz="2400" dirty="0"/>
          </a:p>
        </p:txBody>
      </p:sp>
      <p:sp>
        <p:nvSpPr>
          <p:cNvPr id="6" name="Shape 4"/>
          <p:cNvSpPr/>
          <p:nvPr/>
        </p:nvSpPr>
        <p:spPr>
          <a:xfrm>
            <a:off x="365760" y="1143000"/>
            <a:ext cx="3657600" cy="2697480"/>
          </a:xfrm>
          <a:prstGeom prst="roundRect">
            <a:avLst>
              <a:gd name="adj" fmla="val 4068"/>
            </a:avLst>
          </a:prstGeom>
          <a:solidFill>
            <a:srgbClr val="E2E8F4"/>
          </a:solidFill>
          <a:ln w="19050">
            <a:solidFill>
              <a:srgbClr val="B0B8CC"/>
            </a:solidFill>
            <a:prstDash val="dash"/>
          </a:ln>
        </p:spPr>
      </p:sp>
      <p:sp>
        <p:nvSpPr>
          <p:cNvPr id="7" name="Text 5"/>
          <p:cNvSpPr/>
          <p:nvPr/>
        </p:nvSpPr>
        <p:spPr>
          <a:xfrm>
            <a:off x="365760" y="1143000"/>
            <a:ext cx="36576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8" name="Text 6"/>
          <p:cNvSpPr/>
          <p:nvPr/>
        </p:nvSpPr>
        <p:spPr>
          <a:xfrm>
            <a:off x="502920" y="1417320"/>
            <a:ext cx="3383280" cy="233172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 Spanish royal coat of arms or flag planted on a sandy Florida beach with palm trees, ocean visible, dramatic sky — no human faces, illustrated colonial-era style</a:t>
            </a:r>
            <a:endParaRPr lang="en-US" sz="1100" dirty="0"/>
          </a:p>
        </p:txBody>
      </p:sp>
      <p:sp>
        <p:nvSpPr>
          <p:cNvPr id="9" name="Shape 7"/>
          <p:cNvSpPr/>
          <p:nvPr/>
        </p:nvSpPr>
        <p:spPr>
          <a:xfrm>
            <a:off x="4206240" y="1143000"/>
            <a:ext cx="4480560" cy="2697480"/>
          </a:xfrm>
          <a:prstGeom prst="roundRect">
            <a:avLst>
              <a:gd name="adj" fmla="val 4068"/>
            </a:avLst>
          </a:prstGeom>
          <a:solidFill>
            <a:srgbClr val="FFFFFF"/>
          </a:solidFill>
          <a:ln w="19050">
            <a:solidFill>
              <a:srgbClr val="1A8A7D"/>
            </a:solidFill>
            <a:prstDash val="solid"/>
          </a:ln>
        </p:spPr>
      </p:sp>
      <p:sp>
        <p:nvSpPr>
          <p:cNvPr id="10" name="Text 8"/>
          <p:cNvSpPr/>
          <p:nvPr/>
        </p:nvSpPr>
        <p:spPr>
          <a:xfrm>
            <a:off x="4370832" y="1261872"/>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An explorer who claimed new land for the king could earn a noble title, land, and a share of wealth.</a:t>
            </a:r>
            <a:endParaRPr lang="en-US" sz="1200" dirty="0"/>
          </a:p>
        </p:txBody>
      </p:sp>
      <p:sp>
        <p:nvSpPr>
          <p:cNvPr id="11" name="Text 9"/>
          <p:cNvSpPr/>
          <p:nvPr/>
        </p:nvSpPr>
        <p:spPr>
          <a:xfrm>
            <a:off x="4370832" y="1737360"/>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Spain was racing France and England — every country wanted to plant its flag in the Americas first.</a:t>
            </a:r>
            <a:endParaRPr lang="en-US" sz="1200" dirty="0"/>
          </a:p>
        </p:txBody>
      </p:sp>
      <p:sp>
        <p:nvSpPr>
          <p:cNvPr id="12" name="Text 10"/>
          <p:cNvSpPr/>
          <p:nvPr/>
        </p:nvSpPr>
        <p:spPr>
          <a:xfrm>
            <a:off x="4370832" y="2212848"/>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Ponce de Leon claimed Florida for Spain in 1513 — this was Glory in action.</a:t>
            </a:r>
            <a:endParaRPr lang="en-US" sz="1200" dirty="0"/>
          </a:p>
        </p:txBody>
      </p:sp>
      <p:sp>
        <p:nvSpPr>
          <p:cNvPr id="13" name="Text 11"/>
          <p:cNvSpPr/>
          <p:nvPr/>
        </p:nvSpPr>
        <p:spPr>
          <a:xfrm>
            <a:off x="4370832" y="2688336"/>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Claiming land meant declaring that Native peoples' land now 'belonged' to a European king.</a:t>
            </a:r>
            <a:endParaRPr lang="en-US" sz="1200" dirty="0"/>
          </a:p>
        </p:txBody>
      </p:sp>
      <p:sp>
        <p:nvSpPr>
          <p:cNvPr id="14" name="Text 12"/>
          <p:cNvSpPr/>
          <p:nvPr/>
        </p:nvSpPr>
        <p:spPr>
          <a:xfrm>
            <a:off x="4370832" y="3163824"/>
            <a:ext cx="4206240" cy="438912"/>
          </a:xfrm>
          <a:prstGeom prst="rect">
            <a:avLst/>
          </a:prstGeom>
          <a:noFill/>
          <a:ln/>
        </p:spPr>
        <p:txBody>
          <a:bodyPr wrap="square" lIns="0" tIns="0" rIns="0" bIns="0" rtlCol="0" anchor="t"/>
          <a:lstStyle/>
          <a:p>
            <a:pPr algn="l" indent="0" marL="0">
              <a:buNone/>
            </a:pPr>
            <a:r>
              <a:rPr lang="en-US" sz="1200" dirty="0">
                <a:solidFill>
                  <a:srgbClr val="0E1C42"/>
                </a:solidFill>
                <a:latin typeface="Calibri" pitchFamily="34" charset="0"/>
                <a:ea typeface="Calibri" pitchFamily="34" charset="-122"/>
                <a:cs typeface="Calibri" pitchFamily="34" charset="-120"/>
              </a:rPr>
              <a:t>• The Glory motive drove expeditions even when they failed — the prize was too big to ignore.</a:t>
            </a:r>
            <a:endParaRPr lang="en-US" sz="1200" dirty="0"/>
          </a:p>
        </p:txBody>
      </p:sp>
      <p:sp>
        <p:nvSpPr>
          <p:cNvPr id="15" name="Shape 13"/>
          <p:cNvSpPr/>
          <p:nvPr/>
        </p:nvSpPr>
        <p:spPr>
          <a:xfrm>
            <a:off x="365760" y="3950208"/>
            <a:ext cx="8412480" cy="621792"/>
          </a:xfrm>
          <a:prstGeom prst="roundRect">
            <a:avLst>
              <a:gd name="adj" fmla="val 17647"/>
            </a:avLst>
          </a:prstGeom>
          <a:solidFill>
            <a:srgbClr val="FFF3DC"/>
          </a:solidFill>
          <a:ln w="19050">
            <a:solidFill>
              <a:srgbClr val="F5E6C8"/>
            </a:solidFill>
            <a:prstDash val="solid"/>
          </a:ln>
        </p:spPr>
      </p:sp>
      <p:sp>
        <p:nvSpPr>
          <p:cNvPr id="16" name="Text 14"/>
          <p:cNvSpPr/>
          <p:nvPr/>
        </p:nvSpPr>
        <p:spPr>
          <a:xfrm>
            <a:off x="502920" y="400507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7" name="Text 15"/>
          <p:cNvSpPr/>
          <p:nvPr/>
        </p:nvSpPr>
        <p:spPr>
          <a:xfrm>
            <a:off x="502920" y="4206240"/>
            <a:ext cx="8138160" cy="30175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Glory motive caused harm because ______."</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MULTI-SOURCE COMPARE  |  TWO PERSPECTIVES ON CONTACT</a:t>
            </a:r>
            <a:endParaRPr lang="en-US" sz="1000" dirty="0"/>
          </a:p>
        </p:txBody>
      </p:sp>
      <p:sp>
        <p:nvSpPr>
          <p:cNvPr id="5" name="Text 3"/>
          <p:cNvSpPr/>
          <p:nvPr/>
        </p:nvSpPr>
        <p:spPr>
          <a:xfrm>
            <a:off x="365760" y="594360"/>
            <a:ext cx="8229600" cy="411480"/>
          </a:xfrm>
          <a:prstGeom prst="rect">
            <a:avLst/>
          </a:prstGeom>
          <a:noFill/>
          <a:ln/>
        </p:spPr>
        <p:txBody>
          <a:bodyPr wrap="square" lIns="0" tIns="0" rIns="0" bIns="0" rtlCol="0" anchor="ctr"/>
          <a:lstStyle/>
          <a:p>
            <a:pPr indent="0" marL="0">
              <a:buNone/>
            </a:pPr>
            <a:r>
              <a:rPr lang="en-US" sz="2200" b="1" dirty="0">
                <a:solidFill>
                  <a:srgbClr val="0E1C42"/>
                </a:solidFill>
                <a:latin typeface="Cambria" pitchFamily="34" charset="0"/>
                <a:ea typeface="Cambria" pitchFamily="34" charset="-122"/>
                <a:cs typeface="Cambria" pitchFamily="34" charset="-120"/>
              </a:rPr>
              <a:t>One Event — Two Very Different Stories</a:t>
            </a:r>
            <a:endParaRPr lang="en-US" sz="2200" dirty="0"/>
          </a:p>
        </p:txBody>
      </p:sp>
      <p:sp>
        <p:nvSpPr>
          <p:cNvPr id="6" name="Shape 4"/>
          <p:cNvSpPr/>
          <p:nvPr/>
        </p:nvSpPr>
        <p:spPr>
          <a:xfrm>
            <a:off x="365760" y="1115568"/>
            <a:ext cx="1005840" cy="329184"/>
          </a:xfrm>
          <a:prstGeom prst="roundRect">
            <a:avLst>
              <a:gd name="adj" fmla="val 22222"/>
            </a:avLst>
          </a:prstGeom>
          <a:solidFill>
            <a:srgbClr val="D4943A"/>
          </a:solidFill>
          <a:ln w="12700">
            <a:solidFill>
              <a:srgbClr val="D4943A"/>
            </a:solidFill>
            <a:prstDash val="solid"/>
          </a:ln>
        </p:spPr>
      </p:sp>
      <p:sp>
        <p:nvSpPr>
          <p:cNvPr id="7" name="Text 5"/>
          <p:cNvSpPr/>
          <p:nvPr/>
        </p:nvSpPr>
        <p:spPr>
          <a:xfrm>
            <a:off x="365760" y="1115568"/>
            <a:ext cx="100584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SOURCE A</a:t>
            </a:r>
            <a:endParaRPr lang="en-US" sz="900" dirty="0"/>
          </a:p>
        </p:txBody>
      </p:sp>
      <p:sp>
        <p:nvSpPr>
          <p:cNvPr id="8" name="Text 6"/>
          <p:cNvSpPr/>
          <p:nvPr/>
        </p:nvSpPr>
        <p:spPr>
          <a:xfrm>
            <a:off x="1481328" y="1143000"/>
            <a:ext cx="3200400" cy="2743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Spanish Royal Decree</a:t>
            </a:r>
            <a:endParaRPr lang="en-US" sz="1200" dirty="0"/>
          </a:p>
        </p:txBody>
      </p:sp>
      <p:sp>
        <p:nvSpPr>
          <p:cNvPr id="9" name="Shape 7"/>
          <p:cNvSpPr/>
          <p:nvPr/>
        </p:nvSpPr>
        <p:spPr>
          <a:xfrm>
            <a:off x="365760" y="1508760"/>
            <a:ext cx="4114800" cy="1965960"/>
          </a:xfrm>
          <a:prstGeom prst="roundRect">
            <a:avLst>
              <a:gd name="adj" fmla="val 5581"/>
            </a:avLst>
          </a:prstGeom>
          <a:solidFill>
            <a:srgbClr val="E2E8F4"/>
          </a:solidFill>
          <a:ln w="19050">
            <a:solidFill>
              <a:srgbClr val="B0B8CC"/>
            </a:solidFill>
            <a:prstDash val="dash"/>
          </a:ln>
        </p:spPr>
      </p:sp>
      <p:sp>
        <p:nvSpPr>
          <p:cNvPr id="10" name="Text 8"/>
          <p:cNvSpPr/>
          <p:nvPr/>
        </p:nvSpPr>
        <p:spPr>
          <a:xfrm>
            <a:off x="365760" y="150876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1" name="Text 9"/>
          <p:cNvSpPr/>
          <p:nvPr/>
        </p:nvSpPr>
        <p:spPr>
          <a:xfrm>
            <a:off x="502920" y="1783080"/>
            <a:ext cx="3840480" cy="1600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The Spanish royal decree (parchment, wax seal, handwritten text) from the Source Study slide — official document from Archivo General de Indias</a:t>
            </a:r>
            <a:endParaRPr lang="en-US" sz="1100" dirty="0"/>
          </a:p>
        </p:txBody>
      </p:sp>
      <p:sp>
        <p:nvSpPr>
          <p:cNvPr id="12" name="Shape 10"/>
          <p:cNvSpPr/>
          <p:nvPr/>
        </p:nvSpPr>
        <p:spPr>
          <a:xfrm>
            <a:off x="365760" y="3547872"/>
            <a:ext cx="4114800" cy="530352"/>
          </a:xfrm>
          <a:prstGeom prst="roundRect">
            <a:avLst>
              <a:gd name="adj" fmla="val 17241"/>
            </a:avLst>
          </a:prstGeom>
          <a:solidFill>
            <a:srgbClr val="FFFFFF"/>
          </a:solidFill>
          <a:ln w="19050">
            <a:solidFill>
              <a:srgbClr val="D4943A"/>
            </a:solidFill>
            <a:prstDash val="solid"/>
          </a:ln>
        </p:spPr>
      </p:sp>
      <p:sp>
        <p:nvSpPr>
          <p:cNvPr id="13" name="Text 11"/>
          <p:cNvSpPr/>
          <p:nvPr/>
        </p:nvSpPr>
        <p:spPr>
          <a:xfrm>
            <a:off x="502920" y="3566160"/>
            <a:ext cx="3840480" cy="457200"/>
          </a:xfrm>
          <a:prstGeom prst="rect">
            <a:avLst/>
          </a:prstGeom>
          <a:noFill/>
          <a:ln/>
        </p:spPr>
        <p:txBody>
          <a:bodyPr wrap="square" lIns="0" tIns="0" rIns="0" bIns="0" rtlCol="0" anchor="t"/>
          <a:lstStyle/>
          <a:p>
            <a:pPr algn="l" indent="0" marL="0">
              <a:buNone/>
            </a:pPr>
            <a:r>
              <a:rPr lang="en-US" sz="1000" dirty="0">
                <a:solidFill>
                  <a:srgbClr val="0E1C42"/>
                </a:solidFill>
                <a:latin typeface="Calibri" pitchFamily="34" charset="0"/>
                <a:ea typeface="Calibri" pitchFamily="34" charset="-122"/>
                <a:cs typeface="Calibri" pitchFamily="34" charset="-120"/>
              </a:rPr>
              <a:t>Spanish perspective: The king authorizes the expedition to spread the faith and claim land — framed as a service to God and country.</a:t>
            </a:r>
            <a:endParaRPr lang="en-US" sz="1000" dirty="0"/>
          </a:p>
        </p:txBody>
      </p:sp>
      <p:sp>
        <p:nvSpPr>
          <p:cNvPr id="14" name="Shape 12"/>
          <p:cNvSpPr/>
          <p:nvPr/>
        </p:nvSpPr>
        <p:spPr>
          <a:xfrm>
            <a:off x="4663440" y="1115568"/>
            <a:ext cx="1005840" cy="329184"/>
          </a:xfrm>
          <a:prstGeom prst="roundRect">
            <a:avLst>
              <a:gd name="adj" fmla="val 22222"/>
            </a:avLst>
          </a:prstGeom>
          <a:solidFill>
            <a:srgbClr val="1A8A7D"/>
          </a:solidFill>
          <a:ln w="12700">
            <a:solidFill>
              <a:srgbClr val="1A8A7D"/>
            </a:solidFill>
            <a:prstDash val="solid"/>
          </a:ln>
        </p:spPr>
      </p:sp>
      <p:sp>
        <p:nvSpPr>
          <p:cNvPr id="15" name="Text 13"/>
          <p:cNvSpPr/>
          <p:nvPr/>
        </p:nvSpPr>
        <p:spPr>
          <a:xfrm>
            <a:off x="4663440" y="1115568"/>
            <a:ext cx="1005840" cy="329184"/>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SOURCE B</a:t>
            </a:r>
            <a:endParaRPr lang="en-US" sz="900" dirty="0"/>
          </a:p>
        </p:txBody>
      </p:sp>
      <p:sp>
        <p:nvSpPr>
          <p:cNvPr id="16" name="Text 14"/>
          <p:cNvSpPr/>
          <p:nvPr/>
        </p:nvSpPr>
        <p:spPr>
          <a:xfrm>
            <a:off x="5779008" y="1143000"/>
            <a:ext cx="2926080" cy="274320"/>
          </a:xfrm>
          <a:prstGeom prst="rect">
            <a:avLst/>
          </a:prstGeom>
          <a:noFill/>
          <a:ln/>
        </p:spPr>
        <p:txBody>
          <a:bodyPr wrap="square" lIns="0" tIns="0" rIns="0" bIns="0" rtlCol="0" anchor="ctr"/>
          <a:lstStyle/>
          <a:p>
            <a:pPr indent="0" marL="0">
              <a:buNone/>
            </a:pPr>
            <a:r>
              <a:rPr lang="en-US" sz="1200" b="1" dirty="0">
                <a:solidFill>
                  <a:srgbClr val="0E1C42"/>
                </a:solidFill>
                <a:latin typeface="Calibri" pitchFamily="34" charset="0"/>
                <a:ea typeface="Calibri" pitchFamily="34" charset="-122"/>
                <a:cs typeface="Calibri" pitchFamily="34" charset="-120"/>
              </a:rPr>
              <a:t>Native Oral Account (Apalachee)</a:t>
            </a:r>
            <a:endParaRPr lang="en-US" sz="1200" dirty="0"/>
          </a:p>
        </p:txBody>
      </p:sp>
      <p:sp>
        <p:nvSpPr>
          <p:cNvPr id="17" name="Shape 15"/>
          <p:cNvSpPr/>
          <p:nvPr/>
        </p:nvSpPr>
        <p:spPr>
          <a:xfrm>
            <a:off x="4663440" y="1508760"/>
            <a:ext cx="4114800" cy="1965960"/>
          </a:xfrm>
          <a:prstGeom prst="roundRect">
            <a:avLst>
              <a:gd name="adj" fmla="val 5581"/>
            </a:avLst>
          </a:prstGeom>
          <a:solidFill>
            <a:srgbClr val="E2E8F4"/>
          </a:solidFill>
          <a:ln w="19050">
            <a:solidFill>
              <a:srgbClr val="B0B8CC"/>
            </a:solidFill>
            <a:prstDash val="dash"/>
          </a:ln>
        </p:spPr>
      </p:sp>
      <p:sp>
        <p:nvSpPr>
          <p:cNvPr id="18" name="Text 16"/>
          <p:cNvSpPr/>
          <p:nvPr/>
        </p:nvSpPr>
        <p:spPr>
          <a:xfrm>
            <a:off x="4663440" y="1508760"/>
            <a:ext cx="4114800" cy="274320"/>
          </a:xfrm>
          <a:prstGeom prst="rect">
            <a:avLst/>
          </a:prstGeom>
          <a:noFill/>
          <a:ln/>
        </p:spPr>
        <p:txBody>
          <a:bodyPr wrap="square" lIns="0" tIns="0" rIns="0" bIns="0" rtlCol="0" anchor="ctr"/>
          <a:lstStyle/>
          <a:p>
            <a:pPr algn="ctr" indent="0" marL="0">
              <a:buNone/>
            </a:pPr>
            <a:r>
              <a:rPr lang="en-US" sz="900" b="1" spc="150" kern="0" dirty="0">
                <a:solidFill>
                  <a:srgbClr val="7A88A8"/>
                </a:solidFill>
                <a:latin typeface="Calibri" pitchFamily="34" charset="0"/>
                <a:ea typeface="Calibri" pitchFamily="34" charset="-122"/>
                <a:cs typeface="Calibri" pitchFamily="34" charset="-120"/>
              </a:rPr>
              <a:t>INSERT IMAGE</a:t>
            </a:r>
            <a:endParaRPr lang="en-US" sz="900" dirty="0"/>
          </a:p>
        </p:txBody>
      </p:sp>
      <p:sp>
        <p:nvSpPr>
          <p:cNvPr id="19" name="Text 17"/>
          <p:cNvSpPr/>
          <p:nvPr/>
        </p:nvSpPr>
        <p:spPr>
          <a:xfrm>
            <a:off x="4800600" y="1783080"/>
            <a:ext cx="3840480" cy="1600200"/>
          </a:xfrm>
          <a:prstGeom prst="rect">
            <a:avLst/>
          </a:prstGeom>
          <a:noFill/>
          <a:ln/>
        </p:spPr>
        <p:txBody>
          <a:bodyPr wrap="square" rtlCol="0" anchor="ctr"/>
          <a:lstStyle/>
          <a:p>
            <a:pPr algn="ctr" indent="0" marL="0">
              <a:buNone/>
            </a:pPr>
            <a:r>
              <a:rPr lang="en-US" sz="1100" i="1" dirty="0">
                <a:solidFill>
                  <a:srgbClr val="7A88A8"/>
                </a:solidFill>
                <a:latin typeface="Calibri" pitchFamily="34" charset="0"/>
                <a:ea typeface="Calibri" pitchFamily="34" charset="-122"/>
                <a:cs typeface="Calibri" pitchFamily="34" charset="-120"/>
              </a:rPr>
              <a:t>An illustration of an Apalachee village — thatched structures, storage areas with corn, surrounded by a wooden palisade fence — warm colors, no human faces, illustrated style</a:t>
            </a:r>
            <a:endParaRPr lang="en-US" sz="1100" dirty="0"/>
          </a:p>
        </p:txBody>
      </p:sp>
      <p:sp>
        <p:nvSpPr>
          <p:cNvPr id="20" name="Shape 18"/>
          <p:cNvSpPr/>
          <p:nvPr/>
        </p:nvSpPr>
        <p:spPr>
          <a:xfrm>
            <a:off x="4663440" y="3547872"/>
            <a:ext cx="4114800" cy="530352"/>
          </a:xfrm>
          <a:prstGeom prst="roundRect">
            <a:avLst>
              <a:gd name="adj" fmla="val 17241"/>
            </a:avLst>
          </a:prstGeom>
          <a:solidFill>
            <a:srgbClr val="FFFFFF"/>
          </a:solidFill>
          <a:ln w="19050">
            <a:solidFill>
              <a:srgbClr val="1A8A7D"/>
            </a:solidFill>
            <a:prstDash val="solid"/>
          </a:ln>
        </p:spPr>
      </p:sp>
      <p:sp>
        <p:nvSpPr>
          <p:cNvPr id="21" name="Text 19"/>
          <p:cNvSpPr/>
          <p:nvPr/>
        </p:nvSpPr>
        <p:spPr>
          <a:xfrm>
            <a:off x="4800600" y="3566160"/>
            <a:ext cx="3840480" cy="457200"/>
          </a:xfrm>
          <a:prstGeom prst="rect">
            <a:avLst/>
          </a:prstGeom>
          <a:noFill/>
          <a:ln/>
        </p:spPr>
        <p:txBody>
          <a:bodyPr wrap="square" lIns="0" tIns="0" rIns="0" bIns="0" rtlCol="0" anchor="t"/>
          <a:lstStyle/>
          <a:p>
            <a:pPr algn="l" indent="0" marL="0">
              <a:buNone/>
            </a:pPr>
            <a:r>
              <a:rPr lang="en-US" sz="1000" dirty="0">
                <a:solidFill>
                  <a:srgbClr val="0E1C42"/>
                </a:solidFill>
                <a:latin typeface="Calibri" pitchFamily="34" charset="0"/>
                <a:ea typeface="Calibri" pitchFamily="34" charset="-122"/>
                <a:cs typeface="Calibri" pitchFamily="34" charset="-120"/>
              </a:rPr>
              <a:t>Native perspective: De Soto's soldiers took stored winter food from Apalachee villages. Families faced starvation. The visitors were not just spreading faith — they were taking what belonged to others.</a:t>
            </a:r>
            <a:endParaRPr lang="en-US" sz="1000" dirty="0"/>
          </a:p>
        </p:txBody>
      </p:sp>
      <p:sp>
        <p:nvSpPr>
          <p:cNvPr id="22" name="Shape 20"/>
          <p:cNvSpPr/>
          <p:nvPr/>
        </p:nvSpPr>
        <p:spPr>
          <a:xfrm>
            <a:off x="365760" y="4160520"/>
            <a:ext cx="8412480" cy="621792"/>
          </a:xfrm>
          <a:prstGeom prst="roundRect">
            <a:avLst>
              <a:gd name="adj" fmla="val 17647"/>
            </a:avLst>
          </a:prstGeom>
          <a:solidFill>
            <a:srgbClr val="FFF3DC"/>
          </a:solidFill>
          <a:ln w="19050">
            <a:solidFill>
              <a:srgbClr val="F5E6C8"/>
            </a:solidFill>
            <a:prstDash val="solid"/>
          </a:ln>
        </p:spPr>
      </p:sp>
      <p:sp>
        <p:nvSpPr>
          <p:cNvPr id="23" name="Text 21"/>
          <p:cNvSpPr/>
          <p:nvPr/>
        </p:nvSpPr>
        <p:spPr>
          <a:xfrm>
            <a:off x="502920" y="421538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24" name="Text 22"/>
          <p:cNvSpPr/>
          <p:nvPr/>
        </p:nvSpPr>
        <p:spPr>
          <a:xfrm>
            <a:off x="502920" y="4416552"/>
            <a:ext cx="8138160" cy="301752"/>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"These sources are different because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"The Spanish document does NOT show ______ because ______."</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ANALYSIS  |  WHICH MOTIVE WAS MOST HARMFUL?</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Pause and Think — Rank the Motives</a:t>
            </a:r>
            <a:endParaRPr lang="en-US" sz="2400" dirty="0"/>
          </a:p>
        </p:txBody>
      </p:sp>
      <p:sp>
        <p:nvSpPr>
          <p:cNvPr id="6" name="Text 4"/>
          <p:cNvSpPr/>
          <p:nvPr/>
        </p:nvSpPr>
        <p:spPr>
          <a:xfrm>
            <a:off x="365760" y="1115568"/>
            <a:ext cx="8412480" cy="640080"/>
          </a:xfrm>
          <a:prstGeom prst="rect">
            <a:avLst/>
          </a:prstGeom>
          <a:noFill/>
          <a:ln/>
        </p:spPr>
        <p:txBody>
          <a:bodyPr wrap="square" lIns="0" tIns="0" rIns="0" bIns="0" rtlCol="0" anchor="t"/>
          <a:lstStyle/>
          <a:p>
            <a:pPr algn="l" indent="0" marL="0">
              <a:buNone/>
            </a:pPr>
            <a:r>
              <a:rPr lang="en-US" sz="1400" dirty="0">
                <a:solidFill>
                  <a:srgbClr val="0E1C42"/>
                </a:solidFill>
                <a:latin typeface="Calibri" pitchFamily="34" charset="0"/>
                <a:ea typeface="Calibri" pitchFamily="34" charset="-122"/>
                <a:cs typeface="Calibri" pitchFamily="34" charset="-120"/>
              </a:rPr>
              <a:t>If you had to rank God, Gold, and Glory in order of which one made first contact MOST harmful for the people already living in Florida — which would you put first? Why?</a:t>
            </a:r>
            <a:endParaRPr lang="en-US" sz="1400" dirty="0"/>
          </a:p>
        </p:txBody>
      </p:sp>
      <p:sp>
        <p:nvSpPr>
          <p:cNvPr id="7" name="Shape 5"/>
          <p:cNvSpPr/>
          <p:nvPr/>
        </p:nvSpPr>
        <p:spPr>
          <a:xfrm>
            <a:off x="365760" y="1920240"/>
            <a:ext cx="2606040" cy="2011680"/>
          </a:xfrm>
          <a:prstGeom prst="roundRect">
            <a:avLst>
              <a:gd name="adj" fmla="val 6364"/>
            </a:avLst>
          </a:prstGeom>
          <a:solidFill>
            <a:srgbClr val="FFFFFF"/>
          </a:solidFill>
          <a:ln w="25400">
            <a:solidFill>
              <a:srgbClr val="8B6FC0"/>
            </a:solidFill>
            <a:prstDash val="solid"/>
          </a:ln>
        </p:spPr>
      </p:sp>
      <p:sp>
        <p:nvSpPr>
          <p:cNvPr id="8" name="Shape 6"/>
          <p:cNvSpPr/>
          <p:nvPr/>
        </p:nvSpPr>
        <p:spPr>
          <a:xfrm>
            <a:off x="365760" y="1920240"/>
            <a:ext cx="2606040" cy="457200"/>
          </a:xfrm>
          <a:prstGeom prst="roundRect">
            <a:avLst>
              <a:gd name="adj" fmla="val 28000"/>
            </a:avLst>
          </a:prstGeom>
          <a:solidFill>
            <a:srgbClr val="8B6FC0"/>
          </a:solidFill>
          <a:ln w="12700">
            <a:solidFill>
              <a:srgbClr val="8B6FC0"/>
            </a:solidFill>
            <a:prstDash val="solid"/>
          </a:ln>
        </p:spPr>
      </p:sp>
      <p:sp>
        <p:nvSpPr>
          <p:cNvPr id="9" name="Text 7"/>
          <p:cNvSpPr/>
          <p:nvPr/>
        </p:nvSpPr>
        <p:spPr>
          <a:xfrm>
            <a:off x="365760" y="1920240"/>
            <a:ext cx="26060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GOD</a:t>
            </a:r>
            <a:endParaRPr lang="en-US" sz="1800" dirty="0"/>
          </a:p>
        </p:txBody>
      </p:sp>
      <p:sp>
        <p:nvSpPr>
          <p:cNvPr id="10" name="Text 8"/>
          <p:cNvSpPr/>
          <p:nvPr/>
        </p:nvSpPr>
        <p:spPr>
          <a:xfrm>
            <a:off x="475488" y="2450592"/>
            <a:ext cx="2386584" cy="1389888"/>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Forced conversion, missions, religious pressure on Native peoples with their own beliefs.</a:t>
            </a:r>
            <a:endParaRPr lang="en-US" sz="1100" dirty="0"/>
          </a:p>
        </p:txBody>
      </p:sp>
      <p:sp>
        <p:nvSpPr>
          <p:cNvPr id="11" name="Shape 9"/>
          <p:cNvSpPr/>
          <p:nvPr/>
        </p:nvSpPr>
        <p:spPr>
          <a:xfrm>
            <a:off x="3200400" y="1920240"/>
            <a:ext cx="2606040" cy="2011680"/>
          </a:xfrm>
          <a:prstGeom prst="roundRect">
            <a:avLst>
              <a:gd name="adj" fmla="val 6364"/>
            </a:avLst>
          </a:prstGeom>
          <a:solidFill>
            <a:srgbClr val="FFFFFF"/>
          </a:solidFill>
          <a:ln w="25400">
            <a:solidFill>
              <a:srgbClr val="D4943A"/>
            </a:solidFill>
            <a:prstDash val="solid"/>
          </a:ln>
        </p:spPr>
      </p:sp>
      <p:sp>
        <p:nvSpPr>
          <p:cNvPr id="12" name="Shape 10"/>
          <p:cNvSpPr/>
          <p:nvPr/>
        </p:nvSpPr>
        <p:spPr>
          <a:xfrm>
            <a:off x="3200400" y="1920240"/>
            <a:ext cx="2606040" cy="457200"/>
          </a:xfrm>
          <a:prstGeom prst="roundRect">
            <a:avLst>
              <a:gd name="adj" fmla="val 28000"/>
            </a:avLst>
          </a:prstGeom>
          <a:solidFill>
            <a:srgbClr val="D4943A"/>
          </a:solidFill>
          <a:ln w="12700">
            <a:solidFill>
              <a:srgbClr val="D4943A"/>
            </a:solidFill>
            <a:prstDash val="solid"/>
          </a:ln>
        </p:spPr>
      </p:sp>
      <p:sp>
        <p:nvSpPr>
          <p:cNvPr id="13" name="Text 11"/>
          <p:cNvSpPr/>
          <p:nvPr/>
        </p:nvSpPr>
        <p:spPr>
          <a:xfrm>
            <a:off x="3200400" y="1920240"/>
            <a:ext cx="26060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GOLD</a:t>
            </a:r>
            <a:endParaRPr lang="en-US" sz="1800" dirty="0"/>
          </a:p>
        </p:txBody>
      </p:sp>
      <p:sp>
        <p:nvSpPr>
          <p:cNvPr id="14" name="Text 12"/>
          <p:cNvSpPr/>
          <p:nvPr/>
        </p:nvSpPr>
        <p:spPr>
          <a:xfrm>
            <a:off x="3310128" y="2450592"/>
            <a:ext cx="2386584" cy="1389888"/>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Took food and resources from Native peoples by force; pushed explorers deeper into the land.</a:t>
            </a:r>
            <a:endParaRPr lang="en-US" sz="1100" dirty="0"/>
          </a:p>
        </p:txBody>
      </p:sp>
      <p:sp>
        <p:nvSpPr>
          <p:cNvPr id="15" name="Shape 13"/>
          <p:cNvSpPr/>
          <p:nvPr/>
        </p:nvSpPr>
        <p:spPr>
          <a:xfrm>
            <a:off x="6035040" y="1920240"/>
            <a:ext cx="2606040" cy="2011680"/>
          </a:xfrm>
          <a:prstGeom prst="roundRect">
            <a:avLst>
              <a:gd name="adj" fmla="val 6364"/>
            </a:avLst>
          </a:prstGeom>
          <a:solidFill>
            <a:srgbClr val="FFFFFF"/>
          </a:solidFill>
          <a:ln w="25400">
            <a:solidFill>
              <a:srgbClr val="1A8A7D"/>
            </a:solidFill>
            <a:prstDash val="solid"/>
          </a:ln>
        </p:spPr>
      </p:sp>
      <p:sp>
        <p:nvSpPr>
          <p:cNvPr id="16" name="Shape 14"/>
          <p:cNvSpPr/>
          <p:nvPr/>
        </p:nvSpPr>
        <p:spPr>
          <a:xfrm>
            <a:off x="6035040" y="1920240"/>
            <a:ext cx="2606040" cy="457200"/>
          </a:xfrm>
          <a:prstGeom prst="roundRect">
            <a:avLst>
              <a:gd name="adj" fmla="val 28000"/>
            </a:avLst>
          </a:prstGeom>
          <a:solidFill>
            <a:srgbClr val="1A8A7D"/>
          </a:solidFill>
          <a:ln w="12700">
            <a:solidFill>
              <a:srgbClr val="1A8A7D"/>
            </a:solidFill>
            <a:prstDash val="solid"/>
          </a:ln>
        </p:spPr>
      </p:sp>
      <p:sp>
        <p:nvSpPr>
          <p:cNvPr id="17" name="Text 15"/>
          <p:cNvSpPr/>
          <p:nvPr/>
        </p:nvSpPr>
        <p:spPr>
          <a:xfrm>
            <a:off x="6035040" y="1920240"/>
            <a:ext cx="2606040" cy="45720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GLORY</a:t>
            </a:r>
            <a:endParaRPr lang="en-US" sz="1800" dirty="0"/>
          </a:p>
        </p:txBody>
      </p:sp>
      <p:sp>
        <p:nvSpPr>
          <p:cNvPr id="18" name="Text 16"/>
          <p:cNvSpPr/>
          <p:nvPr/>
        </p:nvSpPr>
        <p:spPr>
          <a:xfrm>
            <a:off x="6144768" y="2450592"/>
            <a:ext cx="2386584" cy="1389888"/>
          </a:xfrm>
          <a:prstGeom prst="rect">
            <a:avLst/>
          </a:prstGeom>
          <a:noFill/>
          <a:ln/>
        </p:spPr>
        <p:txBody>
          <a:bodyPr wrap="square" lIns="0" tIns="0" rIns="0" bIns="0" rtlCol="0" anchor="t"/>
          <a:lstStyle/>
          <a:p>
            <a:pPr algn="l" indent="0" marL="0">
              <a:buNone/>
            </a:pPr>
            <a:r>
              <a:rPr lang="en-US" sz="1100" dirty="0">
                <a:solidFill>
                  <a:srgbClr val="0E1C42"/>
                </a:solidFill>
                <a:latin typeface="Calibri" pitchFamily="34" charset="0"/>
                <a:ea typeface="Calibri" pitchFamily="34" charset="-122"/>
                <a:cs typeface="Calibri" pitchFamily="34" charset="-120"/>
              </a:rPr>
              <a:t>Land claims erased Native ownership; rivalries brought more and more European armies to Florida.</a:t>
            </a:r>
            <a:endParaRPr lang="en-US" sz="1100" dirty="0"/>
          </a:p>
        </p:txBody>
      </p:sp>
      <p:sp>
        <p:nvSpPr>
          <p:cNvPr id="19" name="Shape 17"/>
          <p:cNvSpPr/>
          <p:nvPr/>
        </p:nvSpPr>
        <p:spPr>
          <a:xfrm>
            <a:off x="365760" y="4005072"/>
            <a:ext cx="8412480" cy="658368"/>
          </a:xfrm>
          <a:prstGeom prst="roundRect">
            <a:avLst>
              <a:gd name="adj" fmla="val 16667"/>
            </a:avLst>
          </a:prstGeom>
          <a:solidFill>
            <a:srgbClr val="FFFFFF"/>
          </a:solidFill>
          <a:ln w="19050">
            <a:solidFill>
              <a:srgbClr val="B0B8CC"/>
            </a:solidFill>
            <a:prstDash val="solid"/>
          </a:ln>
        </p:spPr>
      </p:sp>
      <p:sp>
        <p:nvSpPr>
          <p:cNvPr id="20" name="Text 18"/>
          <p:cNvSpPr/>
          <p:nvPr/>
        </p:nvSpPr>
        <p:spPr>
          <a:xfrm>
            <a:off x="502920" y="4041648"/>
            <a:ext cx="8046720" cy="566928"/>
          </a:xfrm>
          <a:prstGeom prst="rect">
            <a:avLst/>
          </a:prstGeom>
          <a:noFill/>
          <a:ln/>
        </p:spPr>
        <p:txBody>
          <a:bodyPr wrap="square" lIns="0" tIns="0" rIns="0" bIns="0" rtlCol="0" anchor="ctr"/>
          <a:lstStyle/>
          <a:p>
            <a:pPr algn="l" indent="0" marL="0">
              <a:buNone/>
            </a:pPr>
            <a:r>
              <a:rPr lang="en-US" sz="1300" i="1" dirty="0">
                <a:solidFill>
                  <a:srgbClr val="5A4A3A"/>
                </a:solidFill>
                <a:latin typeface="Calibri" pitchFamily="34" charset="0"/>
                <a:ea typeface="Calibri" pitchFamily="34" charset="-122"/>
                <a:cs typeface="Calibri" pitchFamily="34" charset="-120"/>
              </a:rPr>
              <a:t>My rank: Most harmful = ______. I chose this because ______ [name a specific example from the lesson].</a:t>
            </a:r>
            <a:endParaRPr lang="en-US" sz="13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VIRTUE LENS  |  SEEING BOTH SIDES</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Is a Virtue Lens?</a:t>
            </a:r>
            <a:endParaRPr lang="en-US" sz="2400" dirty="0"/>
          </a:p>
        </p:txBody>
      </p:sp>
      <p:sp>
        <p:nvSpPr>
          <p:cNvPr id="6" name="Text 4"/>
          <p:cNvSpPr/>
          <p:nvPr/>
        </p:nvSpPr>
        <p:spPr>
          <a:xfrm>
            <a:off x="365760" y="1097280"/>
            <a:ext cx="8412480" cy="548640"/>
          </a:xfrm>
          <a:prstGeom prst="rect">
            <a:avLst/>
          </a:prstGeom>
          <a:noFill/>
          <a:ln/>
        </p:spPr>
        <p:txBody>
          <a:bodyPr wrap="square" lIns="0" tIns="0" rIns="0" bIns="0" rtlCol="0" anchor="t"/>
          <a:lstStyle/>
          <a:p>
            <a:pPr algn="l" indent="0" marL="0">
              <a:buNone/>
            </a:pPr>
            <a:r>
              <a:rPr lang="en-US" sz="1400" dirty="0">
                <a:solidFill>
                  <a:srgbClr val="0E1C42"/>
                </a:solidFill>
                <a:latin typeface="Calibri" pitchFamily="34" charset="0"/>
                <a:ea typeface="Calibri" pitchFamily="34" charset="-122"/>
                <a:cs typeface="Calibri" pitchFamily="34" charset="-120"/>
              </a:rPr>
              <a:t>A Virtue Lens helps a historian look at the same action two ways — what it took to do it AND what it cost the people on the other end.</a:t>
            </a:r>
            <a:endParaRPr lang="en-US" sz="1400" dirty="0"/>
          </a:p>
        </p:txBody>
      </p:sp>
      <p:sp>
        <p:nvSpPr>
          <p:cNvPr id="7" name="Shape 5"/>
          <p:cNvSpPr/>
          <p:nvPr/>
        </p:nvSpPr>
        <p:spPr>
          <a:xfrm>
            <a:off x="365760" y="1755648"/>
            <a:ext cx="3931920" cy="2286000"/>
          </a:xfrm>
          <a:prstGeom prst="roundRect">
            <a:avLst>
              <a:gd name="adj" fmla="val 5600"/>
            </a:avLst>
          </a:prstGeom>
          <a:solidFill>
            <a:srgbClr val="1A2D5A"/>
          </a:solidFill>
          <a:ln w="25400">
            <a:solidFill>
              <a:srgbClr val="55C8E8"/>
            </a:solidFill>
            <a:prstDash val="solid"/>
          </a:ln>
        </p:spPr>
      </p:sp>
      <p:sp>
        <p:nvSpPr>
          <p:cNvPr id="8" name="Text 6"/>
          <p:cNvSpPr/>
          <p:nvPr/>
        </p:nvSpPr>
        <p:spPr>
          <a:xfrm>
            <a:off x="502920" y="1801368"/>
            <a:ext cx="3657600" cy="274320"/>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HALF 1: WHAT IT TOOK</a:t>
            </a:r>
            <a:endParaRPr lang="en-US" sz="1000" dirty="0"/>
          </a:p>
        </p:txBody>
      </p:sp>
      <p:sp>
        <p:nvSpPr>
          <p:cNvPr id="9" name="Text 7"/>
          <p:cNvSpPr/>
          <p:nvPr/>
        </p:nvSpPr>
        <p:spPr>
          <a:xfrm>
            <a:off x="502920" y="2121408"/>
            <a:ext cx="3657600" cy="1810512"/>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Crossing an unknown ocean took enormous courage, skill, and endurance. The explorers faced disease, starvation, storms, and shipwreck. Historians acknowledge this.</a:t>
            </a:r>
            <a:endParaRPr lang="en-US" sz="1300" dirty="0"/>
          </a:p>
        </p:txBody>
      </p:sp>
      <p:sp>
        <p:nvSpPr>
          <p:cNvPr id="10" name="Shape 8"/>
          <p:cNvSpPr/>
          <p:nvPr/>
        </p:nvSpPr>
        <p:spPr>
          <a:xfrm>
            <a:off x="4663440" y="1755648"/>
            <a:ext cx="4114800" cy="2286000"/>
          </a:xfrm>
          <a:prstGeom prst="roundRect">
            <a:avLst>
              <a:gd name="adj" fmla="val 5600"/>
            </a:avLst>
          </a:prstGeom>
          <a:solidFill>
            <a:srgbClr val="2A1040"/>
          </a:solidFill>
          <a:ln w="25400">
            <a:solidFill>
              <a:srgbClr val="E8636B"/>
            </a:solidFill>
            <a:prstDash val="solid"/>
          </a:ln>
        </p:spPr>
      </p:sp>
      <p:sp>
        <p:nvSpPr>
          <p:cNvPr id="11" name="Text 9"/>
          <p:cNvSpPr/>
          <p:nvPr/>
        </p:nvSpPr>
        <p:spPr>
          <a:xfrm>
            <a:off x="4800600" y="1801368"/>
            <a:ext cx="3749040" cy="274320"/>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HALF 2: WHAT IT COST</a:t>
            </a:r>
            <a:endParaRPr lang="en-US" sz="1000" dirty="0"/>
          </a:p>
        </p:txBody>
      </p:sp>
      <p:sp>
        <p:nvSpPr>
          <p:cNvPr id="12" name="Text 10"/>
          <p:cNvSpPr/>
          <p:nvPr/>
        </p:nvSpPr>
        <p:spPr>
          <a:xfrm>
            <a:off x="4800600" y="2121408"/>
            <a:ext cx="3840480" cy="1810512"/>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The Calusa, Timucua, Apalachee, and Tequesta paid the cost. Their food was taken. Their land was claimed. Their beliefs were pressured. Their people were enslaved. Historians name this too.</a:t>
            </a:r>
            <a:endParaRPr lang="en-US" sz="1300" dirty="0"/>
          </a:p>
        </p:txBody>
      </p:sp>
      <p:sp>
        <p:nvSpPr>
          <p:cNvPr id="13" name="Shape 11"/>
          <p:cNvSpPr/>
          <p:nvPr/>
        </p:nvSpPr>
        <p:spPr>
          <a:xfrm>
            <a:off x="365760" y="4133088"/>
            <a:ext cx="8412480" cy="512064"/>
          </a:xfrm>
          <a:prstGeom prst="roundRect">
            <a:avLst>
              <a:gd name="adj" fmla="val 21429"/>
            </a:avLst>
          </a:prstGeom>
          <a:solidFill>
            <a:srgbClr val="FFFFFF"/>
          </a:solidFill>
          <a:ln w="19050">
            <a:solidFill>
              <a:srgbClr val="7A88A8"/>
            </a:solidFill>
            <a:prstDash val="solid"/>
          </a:ln>
        </p:spPr>
      </p:sp>
      <p:sp>
        <p:nvSpPr>
          <p:cNvPr id="14" name="Text 12"/>
          <p:cNvSpPr/>
          <p:nvPr/>
        </p:nvSpPr>
        <p:spPr>
          <a:xfrm>
            <a:off x="502920" y="4169664"/>
            <a:ext cx="8138160" cy="420624"/>
          </a:xfrm>
          <a:prstGeom prst="rect">
            <a:avLst/>
          </a:prstGeom>
          <a:noFill/>
          <a:ln/>
        </p:spPr>
        <p:txBody>
          <a:bodyPr wrap="square" lIns="0" tIns="0" rIns="0" bIns="0" rtlCol="0" anchor="ctr"/>
          <a:lstStyle/>
          <a:p>
            <a:pPr algn="ctr" indent="0" marL="0">
              <a:buNone/>
            </a:pPr>
            <a:r>
              <a:rPr lang="en-US" sz="1300" b="1" dirty="0">
                <a:solidFill>
                  <a:srgbClr val="0E1C42"/>
                </a:solidFill>
                <a:latin typeface="Calibri" pitchFamily="34" charset="0"/>
                <a:ea typeface="Calibri" pitchFamily="34" charset="-122"/>
                <a:cs typeface="Calibri" pitchFamily="34" charset="-120"/>
              </a:rPr>
              <a:t>Honest history keeps BOTH halves. You will use the Virtue Lens in your assignment today.</a:t>
            </a:r>
            <a:endParaRPr lang="en-US" sz="13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34B76F"/>
                </a:solidFill>
                <a:latin typeface="Calibri" pitchFamily="34" charset="0"/>
                <a:ea typeface="Calibri" pitchFamily="34" charset="-122"/>
                <a:cs typeface="Calibri" pitchFamily="34" charset="-120"/>
              </a:rPr>
              <a:t>GUIDED PRACTICE  |  TEACHER MODEL</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Watch How I Think Through It</a:t>
            </a:r>
            <a:endParaRPr lang="en-US" sz="2400" dirty="0"/>
          </a:p>
        </p:txBody>
      </p:sp>
      <p:sp>
        <p:nvSpPr>
          <p:cNvPr id="6" name="Shape 4"/>
          <p:cNvSpPr/>
          <p:nvPr/>
        </p:nvSpPr>
        <p:spPr>
          <a:xfrm>
            <a:off x="365760" y="1143000"/>
            <a:ext cx="8412480" cy="621792"/>
          </a:xfrm>
          <a:prstGeom prst="roundRect">
            <a:avLst>
              <a:gd name="adj" fmla="val 17647"/>
            </a:avLst>
          </a:prstGeom>
          <a:solidFill>
            <a:srgbClr val="0E1C42"/>
          </a:solidFill>
          <a:ln w="19050">
            <a:solidFill>
              <a:srgbClr val="D4943A"/>
            </a:solidFill>
            <a:prstDash val="solid"/>
          </a:ln>
        </p:spPr>
      </p:sp>
      <p:sp>
        <p:nvSpPr>
          <p:cNvPr id="7" name="Text 5"/>
          <p:cNvSpPr/>
          <p:nvPr/>
        </p:nvSpPr>
        <p:spPr>
          <a:xfrm>
            <a:off x="502920" y="1188720"/>
            <a:ext cx="8138160" cy="512064"/>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ea typeface="Calibri" pitchFamily="34" charset="-122"/>
                <a:cs typeface="Calibri" pitchFamily="34" charset="-120"/>
              </a:rPr>
              <a:t>Prompt: Which motive — God, Gold, or Glory — made first contact most harmful? Use a detail from the lesson.</a:t>
            </a:r>
            <a:endParaRPr lang="en-US" sz="1300" dirty="0"/>
          </a:p>
        </p:txBody>
      </p:sp>
      <p:sp>
        <p:nvSpPr>
          <p:cNvPr id="8" name="Shape 6"/>
          <p:cNvSpPr/>
          <p:nvPr/>
        </p:nvSpPr>
        <p:spPr>
          <a:xfrm>
            <a:off x="365760" y="1874520"/>
            <a:ext cx="8412480" cy="2633472"/>
          </a:xfrm>
          <a:prstGeom prst="roundRect">
            <a:avLst>
              <a:gd name="adj" fmla="val 4167"/>
            </a:avLst>
          </a:prstGeom>
          <a:solidFill>
            <a:srgbClr val="FFFFFF"/>
          </a:solidFill>
          <a:ln w="19050">
            <a:solidFill>
              <a:srgbClr val="34B76F"/>
            </a:solidFill>
            <a:prstDash val="solid"/>
          </a:ln>
        </p:spPr>
      </p:sp>
      <p:sp>
        <p:nvSpPr>
          <p:cNvPr id="9" name="Text 7"/>
          <p:cNvSpPr/>
          <p:nvPr/>
        </p:nvSpPr>
        <p:spPr>
          <a:xfrm>
            <a:off x="502920" y="1938528"/>
            <a:ext cx="1828800" cy="237744"/>
          </a:xfrm>
          <a:prstGeom prst="rect">
            <a:avLst/>
          </a:prstGeom>
          <a:noFill/>
          <a:ln/>
        </p:spPr>
        <p:txBody>
          <a:bodyPr wrap="square" lIns="0" tIns="0" rIns="0" bIns="0" rtlCol="0" anchor="ctr"/>
          <a:lstStyle/>
          <a:p>
            <a:pPr indent="0" marL="0">
              <a:buNone/>
            </a:pPr>
            <a:r>
              <a:rPr lang="en-US" sz="900" b="1" spc="150" kern="0" dirty="0">
                <a:solidFill>
                  <a:srgbClr val="34B76F"/>
                </a:solidFill>
                <a:latin typeface="Calibri" pitchFamily="34" charset="0"/>
                <a:ea typeface="Calibri" pitchFamily="34" charset="-122"/>
                <a:cs typeface="Calibri" pitchFamily="34" charset="-120"/>
              </a:rPr>
              <a:t>MY THINKING</a:t>
            </a:r>
            <a:endParaRPr lang="en-US" sz="900" dirty="0"/>
          </a:p>
        </p:txBody>
      </p:sp>
      <p:sp>
        <p:nvSpPr>
          <p:cNvPr id="10" name="Text 8"/>
          <p:cNvSpPr/>
          <p:nvPr/>
        </p:nvSpPr>
        <p:spPr>
          <a:xfrm>
            <a:off x="502920" y="2212848"/>
            <a:ext cx="8046720" cy="2231136"/>
          </a:xfrm>
          <a:prstGeom prst="rect">
            <a:avLst/>
          </a:prstGeom>
          <a:noFill/>
          <a:ln/>
        </p:spPr>
        <p:txBody>
          <a:bodyPr wrap="square" lIns="0" tIns="0" rIns="0" bIns="0" rtlCol="0" anchor="t"/>
          <a:lstStyle/>
          <a:p>
            <a:pPr indent="0" marL="0">
              <a:buNone/>
            </a:pPr>
            <a:r>
              <a:rPr lang="en-US" sz="1200" b="1" dirty="0">
                <a:solidFill>
                  <a:srgbClr val="0E1C42"/>
                </a:solidFill>
                <a:latin typeface="Calibri" pitchFamily="34" charset="0"/>
                <a:ea typeface="Calibri" pitchFamily="34" charset="-122"/>
                <a:cs typeface="Calibri" pitchFamily="34" charset="-120"/>
              </a:rPr>
              <a:t>Step 1 — Pick one: </a:t>
            </a:r>
            <a:pPr indent="0" marL="0">
              <a:buNone/>
            </a:pPr>
            <a:r>
              <a:rPr lang="en-US" sz="1200" b="1" dirty="0">
                <a:solidFill>
                  <a:srgbClr val="D4943A"/>
                </a:solidFill>
                <a:latin typeface="Calibri" pitchFamily="34" charset="0"/>
                <a:ea typeface="Calibri" pitchFamily="34" charset="-122"/>
                <a:cs typeface="Calibri" pitchFamily="34" charset="-120"/>
              </a:rPr>
              <a:t>I pick Gold.
</a:t>
            </a:r>
            <a:pPr indent="0" marL="0">
              <a:buNone/>
            </a:pPr>
            <a:r>
              <a:rPr lang="en-US" sz="1200" b="1" dirty="0">
                <a:solidFill>
                  <a:srgbClr val="0E1C42"/>
                </a:solidFill>
                <a:latin typeface="Calibri" pitchFamily="34" charset="0"/>
                <a:ea typeface="Calibri" pitchFamily="34" charset="-122"/>
                <a:cs typeface="Calibri" pitchFamily="34" charset="-120"/>
              </a:rPr>
              <a:t>Step 2 — Find a detail: </a:t>
            </a:r>
            <a:pPr indent="0" marL="0">
              <a:buNone/>
            </a:pPr>
            <a:r>
              <a:rPr lang="en-US" sz="1200" dirty="0">
                <a:solidFill>
                  <a:srgbClr val="0E1C42"/>
                </a:solidFill>
                <a:latin typeface="Calibri" pitchFamily="34" charset="0"/>
                <a:ea typeface="Calibri" pitchFamily="34" charset="-122"/>
                <a:cs typeface="Calibri" pitchFamily="34" charset="-120"/>
              </a:rPr>
              <a:t>De Soto's soldiers took stored winter food from the Apalachee — people's food supply was gone.
</a:t>
            </a:r>
            <a:pPr indent="0" marL="0">
              <a:buNone/>
            </a:pPr>
            <a:r>
              <a:rPr lang="en-US" sz="1200" b="1" dirty="0">
                <a:solidFill>
                  <a:srgbClr val="0E1C42"/>
                </a:solidFill>
                <a:latin typeface="Calibri" pitchFamily="34" charset="0"/>
                <a:ea typeface="Calibri" pitchFamily="34" charset="-122"/>
                <a:cs typeface="Calibri" pitchFamily="34" charset="-120"/>
              </a:rPr>
              <a:t>Step 3 — Connect to harm: </a:t>
            </a:r>
            <a:pPr indent="0" marL="0">
              <a:buNone/>
            </a:pPr>
            <a:r>
              <a:rPr lang="en-US" sz="1200" dirty="0">
                <a:solidFill>
                  <a:srgbClr val="0E1C42"/>
                </a:solidFill>
                <a:latin typeface="Calibri" pitchFamily="34" charset="0"/>
                <a:ea typeface="Calibri" pitchFamily="34" charset="-122"/>
                <a:cs typeface="Calibri" pitchFamily="34" charset="-120"/>
              </a:rPr>
              <a:t>The search for Gold pushed explorers to take things by force. That caused starvation and violence, not just once, but on every expedition.
</a:t>
            </a:r>
            <a:pPr indent="0" marL="0">
              <a:buNone/>
            </a:pPr>
            <a:r>
              <a:rPr lang="en-US" sz="1200" b="1" dirty="0">
                <a:solidFill>
                  <a:srgbClr val="0E1C42"/>
                </a:solidFill>
                <a:latin typeface="Calibri" pitchFamily="34" charset="0"/>
                <a:ea typeface="Calibri" pitchFamily="34" charset="-122"/>
                <a:cs typeface="Calibri" pitchFamily="34" charset="-120"/>
              </a:rPr>
              <a:t>Step 4 — Virtue Lens: </a:t>
            </a:r>
            <a:pPr indent="0" marL="0">
              <a:buNone/>
            </a:pPr>
            <a:r>
              <a:rPr lang="en-US" sz="1200" dirty="0">
                <a:solidFill>
                  <a:srgbClr val="0E1C42"/>
                </a:solidFill>
                <a:latin typeface="Calibri" pitchFamily="34" charset="0"/>
                <a:ea typeface="Calibri" pitchFamily="34" charset="-122"/>
                <a:cs typeface="Calibri" pitchFamily="34" charset="-120"/>
              </a:rPr>
              <a:t>De Soto had courage — crossing swamps and mountains took real bravery. But he used that courage to take food from families. That is not a wise use of courage.</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55C8E8"/>
                </a:solidFill>
                <a:latin typeface="Calibri" pitchFamily="34" charset="0"/>
                <a:ea typeface="Calibri" pitchFamily="34" charset="-122"/>
                <a:cs typeface="Calibri" pitchFamily="34" charset="-120"/>
              </a:rPr>
              <a:t>GUIDED PRACTICE  |  YOUR TURN: DEFEND A CLAIM</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Defend Your Position</a:t>
            </a:r>
            <a:endParaRPr lang="en-US" sz="2400" dirty="0"/>
          </a:p>
        </p:txBody>
      </p:sp>
      <p:sp>
        <p:nvSpPr>
          <p:cNvPr id="6" name="Shape 4"/>
          <p:cNvSpPr/>
          <p:nvPr/>
        </p:nvSpPr>
        <p:spPr>
          <a:xfrm>
            <a:off x="365760" y="1143000"/>
            <a:ext cx="8412480" cy="658368"/>
          </a:xfrm>
          <a:prstGeom prst="roundRect">
            <a:avLst>
              <a:gd name="adj" fmla="val 16667"/>
            </a:avLst>
          </a:prstGeom>
          <a:solidFill>
            <a:srgbClr val="0E1C42"/>
          </a:solidFill>
          <a:ln w="19050">
            <a:solidFill>
              <a:srgbClr val="55C8E8"/>
            </a:solidFill>
            <a:prstDash val="solid"/>
          </a:ln>
        </p:spPr>
      </p:sp>
      <p:sp>
        <p:nvSpPr>
          <p:cNvPr id="7" name="Text 5"/>
          <p:cNvSpPr/>
          <p:nvPr/>
        </p:nvSpPr>
        <p:spPr>
          <a:xfrm>
            <a:off x="502920" y="1188720"/>
            <a:ext cx="8138160" cy="548640"/>
          </a:xfrm>
          <a:prstGeom prst="rect">
            <a:avLst/>
          </a:prstGeom>
          <a:noFill/>
          <a:ln/>
        </p:spPr>
        <p:txBody>
          <a:bodyPr wrap="square" lIns="0" tIns="0" rIns="0" bIns="0" rtlCol="0" anchor="ctr"/>
          <a:lstStyle/>
          <a:p>
            <a:pPr algn="l" indent="0" marL="0">
              <a:buNone/>
            </a:pPr>
            <a:r>
              <a:rPr lang="en-US" sz="1300" dirty="0">
                <a:solidFill>
                  <a:srgbClr val="FFFFFF"/>
                </a:solidFill>
                <a:latin typeface="Calibri" pitchFamily="34" charset="0"/>
                <a:ea typeface="Calibri" pitchFamily="34" charset="-122"/>
                <a:cs typeface="Calibri" pitchFamily="34" charset="-120"/>
              </a:rPr>
              <a:t>Claim: "The Glory motive — claiming land for the Spanish crown — was the most harmful because it never stopped. Even when expeditions failed, more kept coming."</a:t>
            </a:r>
            <a:endParaRPr lang="en-US" sz="1300" dirty="0"/>
          </a:p>
        </p:txBody>
      </p:sp>
      <p:sp>
        <p:nvSpPr>
          <p:cNvPr id="8" name="Text 6"/>
          <p:cNvSpPr/>
          <p:nvPr/>
        </p:nvSpPr>
        <p:spPr>
          <a:xfrm>
            <a:off x="365760" y="1901952"/>
            <a:ext cx="8412480" cy="457200"/>
          </a:xfrm>
          <a:prstGeom prst="rect">
            <a:avLst/>
          </a:prstGeom>
          <a:noFill/>
          <a:ln/>
        </p:spPr>
        <p:txBody>
          <a:bodyPr wrap="square" lIns="0" tIns="0" rIns="0" bIns="0" rtlCol="0" anchor="t"/>
          <a:lstStyle/>
          <a:p>
            <a:pPr algn="l" indent="0" marL="0">
              <a:buNone/>
            </a:pPr>
            <a:r>
              <a:rPr lang="en-US" sz="1400" dirty="0">
                <a:solidFill>
                  <a:srgbClr val="0E1C42"/>
                </a:solidFill>
                <a:latin typeface="Calibri" pitchFamily="34" charset="0"/>
                <a:ea typeface="Calibri" pitchFamily="34" charset="-122"/>
                <a:cs typeface="Calibri" pitchFamily="34" charset="-120"/>
              </a:rPr>
              <a:t>Do you agree or disagree? Find ONE detail from the lesson that supports OR challenges this claim.</a:t>
            </a:r>
            <a:endParaRPr lang="en-US" sz="1400" dirty="0"/>
          </a:p>
        </p:txBody>
      </p:sp>
      <p:sp>
        <p:nvSpPr>
          <p:cNvPr id="9" name="Shape 7"/>
          <p:cNvSpPr/>
          <p:nvPr/>
        </p:nvSpPr>
        <p:spPr>
          <a:xfrm>
            <a:off x="365760" y="2450592"/>
            <a:ext cx="8412480" cy="914400"/>
          </a:xfrm>
          <a:prstGeom prst="roundRect">
            <a:avLst>
              <a:gd name="adj" fmla="val 12000"/>
            </a:avLst>
          </a:prstGeom>
          <a:solidFill>
            <a:srgbClr val="FFFFFF"/>
          </a:solidFill>
          <a:ln w="19050">
            <a:solidFill>
              <a:srgbClr val="B0B8CC"/>
            </a:solidFill>
            <a:prstDash val="solid"/>
          </a:ln>
        </p:spPr>
      </p:sp>
      <p:sp>
        <p:nvSpPr>
          <p:cNvPr id="10" name="Text 8"/>
          <p:cNvSpPr/>
          <p:nvPr/>
        </p:nvSpPr>
        <p:spPr>
          <a:xfrm>
            <a:off x="502920" y="2487168"/>
            <a:ext cx="1828800" cy="256032"/>
          </a:xfrm>
          <a:prstGeom prst="rect">
            <a:avLst/>
          </a:prstGeom>
          <a:noFill/>
          <a:ln/>
        </p:spPr>
        <p:txBody>
          <a:bodyPr wrap="square" lIns="0" tIns="0" rIns="0" bIns="0" rtlCol="0" anchor="ctr"/>
          <a:lstStyle/>
          <a:p>
            <a:pPr indent="0" marL="0">
              <a:buNone/>
            </a:pPr>
            <a:r>
              <a:rPr lang="en-US" sz="1100" b="1" dirty="0">
                <a:solidFill>
                  <a:srgbClr val="0E1C42"/>
                </a:solidFill>
                <a:latin typeface="Calibri" pitchFamily="34" charset="0"/>
                <a:ea typeface="Calibri" pitchFamily="34" charset="-122"/>
                <a:cs typeface="Calibri" pitchFamily="34" charset="-120"/>
              </a:rPr>
              <a:t>My evidence:</a:t>
            </a:r>
            <a:endParaRPr lang="en-US" sz="1100" dirty="0"/>
          </a:p>
        </p:txBody>
      </p:sp>
      <p:sp>
        <p:nvSpPr>
          <p:cNvPr id="11" name="Text 9"/>
          <p:cNvSpPr/>
          <p:nvPr/>
        </p:nvSpPr>
        <p:spPr>
          <a:xfrm>
            <a:off x="502920" y="2743200"/>
            <a:ext cx="8046720" cy="548640"/>
          </a:xfrm>
          <a:prstGeom prst="rect">
            <a:avLst/>
          </a:prstGeom>
          <a:noFill/>
          <a:ln/>
        </p:spPr>
        <p:txBody>
          <a:bodyPr wrap="square" lIns="0" tIns="0" rIns="0" bIns="0" rtlCol="0" anchor="t"/>
          <a:lstStyle/>
          <a:p>
            <a:pPr algn="l" indent="0" marL="0">
              <a:buNone/>
            </a:pPr>
            <a:r>
              <a:rPr lang="en-US" sz="1300" i="1" dirty="0">
                <a:solidFill>
                  <a:srgbClr val="7A88A8"/>
                </a:solidFill>
                <a:latin typeface="Calibri" pitchFamily="34" charset="0"/>
                <a:ea typeface="Calibri" pitchFamily="34" charset="-122"/>
                <a:cs typeface="Calibri" pitchFamily="34" charset="-120"/>
              </a:rPr>
              <a:t>I [agree / disagree] because ______ [specific detail from the lesson].</a:t>
            </a:r>
            <a:endParaRPr lang="en-US" sz="1300" dirty="0"/>
          </a:p>
        </p:txBody>
      </p:sp>
      <p:sp>
        <p:nvSpPr>
          <p:cNvPr id="12" name="Shape 10"/>
          <p:cNvSpPr/>
          <p:nvPr/>
        </p:nvSpPr>
        <p:spPr>
          <a:xfrm>
            <a:off x="365760" y="3493008"/>
            <a:ext cx="8412480" cy="777240"/>
          </a:xfrm>
          <a:prstGeom prst="roundRect">
            <a:avLst>
              <a:gd name="adj" fmla="val 14118"/>
            </a:avLst>
          </a:prstGeom>
          <a:solidFill>
            <a:srgbClr val="FFF3DC"/>
          </a:solidFill>
          <a:ln w="19050">
            <a:solidFill>
              <a:srgbClr val="F5E6C8"/>
            </a:solidFill>
            <a:prstDash val="solid"/>
          </a:ln>
        </p:spPr>
      </p:sp>
      <p:sp>
        <p:nvSpPr>
          <p:cNvPr id="13" name="Text 11"/>
          <p:cNvSpPr/>
          <p:nvPr/>
        </p:nvSpPr>
        <p:spPr>
          <a:xfrm>
            <a:off x="502920" y="3547872"/>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4" name="Text 12"/>
          <p:cNvSpPr/>
          <p:nvPr/>
        </p:nvSpPr>
        <p:spPr>
          <a:xfrm>
            <a:off x="502920" y="3749040"/>
            <a:ext cx="8138160" cy="457200"/>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[agree / disagree] because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detail that supports this is ______ because ______."</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E8636B"/>
                </a:solidFill>
                <a:latin typeface="Calibri" pitchFamily="34" charset="0"/>
                <a:ea typeface="Calibri" pitchFamily="34" charset="-122"/>
                <a:cs typeface="Calibri" pitchFamily="34" charset="-120"/>
              </a:rPr>
              <a:t>GUIDED PRACTICE  |  CRITIQUE THE ARGUMENT</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What Is Wrong With This Reasoning?</a:t>
            </a:r>
            <a:endParaRPr lang="en-US" sz="2400" dirty="0"/>
          </a:p>
        </p:txBody>
      </p:sp>
      <p:sp>
        <p:nvSpPr>
          <p:cNvPr id="6" name="Shape 4"/>
          <p:cNvSpPr/>
          <p:nvPr/>
        </p:nvSpPr>
        <p:spPr>
          <a:xfrm>
            <a:off x="365760" y="1143000"/>
            <a:ext cx="8412480" cy="1234440"/>
          </a:xfrm>
          <a:prstGeom prst="roundRect">
            <a:avLst>
              <a:gd name="adj" fmla="val 10370"/>
            </a:avLst>
          </a:prstGeom>
          <a:solidFill>
            <a:srgbClr val="FFF0F0"/>
          </a:solidFill>
          <a:ln w="25400">
            <a:solidFill>
              <a:srgbClr val="E8636B"/>
            </a:solidFill>
            <a:prstDash val="solid"/>
          </a:ln>
        </p:spPr>
      </p:sp>
      <p:sp>
        <p:nvSpPr>
          <p:cNvPr id="7" name="Shape 5"/>
          <p:cNvSpPr/>
          <p:nvPr/>
        </p:nvSpPr>
        <p:spPr>
          <a:xfrm>
            <a:off x="365760" y="1143000"/>
            <a:ext cx="1554480" cy="347472"/>
          </a:xfrm>
          <a:prstGeom prst="roundRect">
            <a:avLst>
              <a:gd name="adj" fmla="val 26316"/>
            </a:avLst>
          </a:prstGeom>
          <a:solidFill>
            <a:srgbClr val="E8636B"/>
          </a:solidFill>
          <a:ln w="12700">
            <a:solidFill>
              <a:srgbClr val="E8636B"/>
            </a:solidFill>
            <a:prstDash val="solid"/>
          </a:ln>
        </p:spPr>
      </p:sp>
      <p:sp>
        <p:nvSpPr>
          <p:cNvPr id="8" name="Text 6"/>
          <p:cNvSpPr/>
          <p:nvPr/>
        </p:nvSpPr>
        <p:spPr>
          <a:xfrm>
            <a:off x="384048" y="1143000"/>
            <a:ext cx="1517904" cy="34747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FLAWED ARGUMENT</a:t>
            </a:r>
            <a:endParaRPr lang="en-US" sz="900" dirty="0"/>
          </a:p>
        </p:txBody>
      </p:sp>
      <p:sp>
        <p:nvSpPr>
          <p:cNvPr id="9" name="Text 7"/>
          <p:cNvSpPr/>
          <p:nvPr/>
        </p:nvSpPr>
        <p:spPr>
          <a:xfrm>
            <a:off x="502920" y="1536192"/>
            <a:ext cx="8046720" cy="768096"/>
          </a:xfrm>
          <a:prstGeom prst="rect">
            <a:avLst/>
          </a:prstGeom>
          <a:noFill/>
          <a:ln/>
        </p:spPr>
        <p:txBody>
          <a:bodyPr wrap="square" lIns="0" tIns="0" rIns="0" bIns="0" rtlCol="0" anchor="t"/>
          <a:lstStyle/>
          <a:p>
            <a:pPr algn="l" indent="0" marL="0">
              <a:buNone/>
            </a:pPr>
            <a:r>
              <a:rPr lang="en-US" sz="1300" i="1" dirty="0">
                <a:solidFill>
                  <a:srgbClr val="5A3A3A"/>
                </a:solidFill>
                <a:latin typeface="Cambria" pitchFamily="34" charset="0"/>
                <a:ea typeface="Cambria" pitchFamily="34" charset="-122"/>
                <a:cs typeface="Cambria" pitchFamily="34" charset="-120"/>
              </a:rPr>
              <a:t>"The Spanish explorers came to Florida just for adventure. They were brave and curious people who liked to explore new places. The motives we studied — God, Gold, and Glory — are things historians made up later. The explorers were really just adventurers."</a:t>
            </a:r>
            <a:endParaRPr lang="en-US" sz="1300" dirty="0"/>
          </a:p>
        </p:txBody>
      </p:sp>
      <p:sp>
        <p:nvSpPr>
          <p:cNvPr id="10" name="Text 8"/>
          <p:cNvSpPr/>
          <p:nvPr/>
        </p:nvSpPr>
        <p:spPr>
          <a:xfrm>
            <a:off x="365760" y="2450592"/>
            <a:ext cx="8412480" cy="365760"/>
          </a:xfrm>
          <a:prstGeom prst="rect">
            <a:avLst/>
          </a:prstGeom>
          <a:noFill/>
          <a:ln/>
        </p:spPr>
        <p:txBody>
          <a:bodyPr wrap="square" lIns="0" tIns="0" rIns="0" bIns="0" rtlCol="0" anchor="ctr"/>
          <a:lstStyle/>
          <a:p>
            <a:pPr indent="0" marL="0">
              <a:buNone/>
            </a:pPr>
            <a:r>
              <a:rPr lang="en-US" sz="1400" b="1" dirty="0">
                <a:solidFill>
                  <a:srgbClr val="0E1C42"/>
                </a:solidFill>
                <a:latin typeface="Calibri" pitchFamily="34" charset="0"/>
                <a:ea typeface="Calibri" pitchFamily="34" charset="-122"/>
                <a:cs typeface="Calibri" pitchFamily="34" charset="-120"/>
              </a:rPr>
              <a:t>What is wrong with this reasoning? Find at least TWO specific problems.</a:t>
            </a:r>
            <a:endParaRPr lang="en-US" sz="1400" dirty="0"/>
          </a:p>
        </p:txBody>
      </p:sp>
      <p:sp>
        <p:nvSpPr>
          <p:cNvPr id="11" name="Shape 9"/>
          <p:cNvSpPr/>
          <p:nvPr/>
        </p:nvSpPr>
        <p:spPr>
          <a:xfrm>
            <a:off x="365760" y="2880360"/>
            <a:ext cx="4023360" cy="1417320"/>
          </a:xfrm>
          <a:prstGeom prst="roundRect">
            <a:avLst>
              <a:gd name="adj" fmla="val 7742"/>
            </a:avLst>
          </a:prstGeom>
          <a:solidFill>
            <a:srgbClr val="FFFFFF"/>
          </a:solidFill>
          <a:ln w="19050">
            <a:solidFill>
              <a:srgbClr val="E8636B"/>
            </a:solidFill>
            <a:prstDash val="solid"/>
          </a:ln>
        </p:spPr>
      </p:sp>
      <p:sp>
        <p:nvSpPr>
          <p:cNvPr id="12" name="Text 10"/>
          <p:cNvSpPr/>
          <p:nvPr/>
        </p:nvSpPr>
        <p:spPr>
          <a:xfrm>
            <a:off x="502920" y="2926080"/>
            <a:ext cx="3749040" cy="237744"/>
          </a:xfrm>
          <a:prstGeom prst="rect">
            <a:avLst/>
          </a:prstGeom>
          <a:noFill/>
          <a:ln/>
        </p:spPr>
        <p:txBody>
          <a:bodyPr wrap="square" lIns="0" tIns="0" rIns="0" bIns="0" rtlCol="0" anchor="ctr"/>
          <a:lstStyle/>
          <a:p>
            <a:pPr indent="0" marL="0">
              <a:buNone/>
            </a:pPr>
            <a:r>
              <a:rPr lang="en-US" sz="1100" b="1" dirty="0">
                <a:solidFill>
                  <a:srgbClr val="E8636B"/>
                </a:solidFill>
                <a:latin typeface="Calibri" pitchFamily="34" charset="0"/>
                <a:ea typeface="Calibri" pitchFamily="34" charset="-122"/>
                <a:cs typeface="Calibri" pitchFamily="34" charset="-120"/>
              </a:rPr>
              <a:t>Problem 1:</a:t>
            </a:r>
            <a:endParaRPr lang="en-US" sz="1100" dirty="0"/>
          </a:p>
        </p:txBody>
      </p:sp>
      <p:sp>
        <p:nvSpPr>
          <p:cNvPr id="13" name="Text 11"/>
          <p:cNvSpPr/>
          <p:nvPr/>
        </p:nvSpPr>
        <p:spPr>
          <a:xfrm>
            <a:off x="502920" y="3182112"/>
            <a:ext cx="3749040" cy="10515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The Spanish royal decree shows the king authorized the expeditions in writing — kings do not write official orders just for 'adventure.'</a:t>
            </a:r>
            <a:endParaRPr lang="en-US" sz="1200" dirty="0"/>
          </a:p>
        </p:txBody>
      </p:sp>
      <p:sp>
        <p:nvSpPr>
          <p:cNvPr id="14" name="Shape 12"/>
          <p:cNvSpPr/>
          <p:nvPr/>
        </p:nvSpPr>
        <p:spPr>
          <a:xfrm>
            <a:off x="4572000" y="2880360"/>
            <a:ext cx="4206240" cy="1417320"/>
          </a:xfrm>
          <a:prstGeom prst="roundRect">
            <a:avLst>
              <a:gd name="adj" fmla="val 7742"/>
            </a:avLst>
          </a:prstGeom>
          <a:solidFill>
            <a:srgbClr val="FFFFFF"/>
          </a:solidFill>
          <a:ln w="19050">
            <a:solidFill>
              <a:srgbClr val="E8636B"/>
            </a:solidFill>
            <a:prstDash val="solid"/>
          </a:ln>
        </p:spPr>
      </p:sp>
      <p:sp>
        <p:nvSpPr>
          <p:cNvPr id="15" name="Text 13"/>
          <p:cNvSpPr/>
          <p:nvPr/>
        </p:nvSpPr>
        <p:spPr>
          <a:xfrm>
            <a:off x="4709160" y="2926080"/>
            <a:ext cx="3931920" cy="237744"/>
          </a:xfrm>
          <a:prstGeom prst="rect">
            <a:avLst/>
          </a:prstGeom>
          <a:noFill/>
          <a:ln/>
        </p:spPr>
        <p:txBody>
          <a:bodyPr wrap="square" lIns="0" tIns="0" rIns="0" bIns="0" rtlCol="0" anchor="ctr"/>
          <a:lstStyle/>
          <a:p>
            <a:pPr indent="0" marL="0">
              <a:buNone/>
            </a:pPr>
            <a:r>
              <a:rPr lang="en-US" sz="1100" b="1" dirty="0">
                <a:solidFill>
                  <a:srgbClr val="E8636B"/>
                </a:solidFill>
                <a:latin typeface="Calibri" pitchFamily="34" charset="0"/>
                <a:ea typeface="Calibri" pitchFamily="34" charset="-122"/>
                <a:cs typeface="Calibri" pitchFamily="34" charset="-120"/>
              </a:rPr>
              <a:t>Problem 2:</a:t>
            </a:r>
            <a:endParaRPr lang="en-US" sz="1100" dirty="0"/>
          </a:p>
        </p:txBody>
      </p:sp>
      <p:sp>
        <p:nvSpPr>
          <p:cNvPr id="16" name="Text 14"/>
          <p:cNvSpPr/>
          <p:nvPr/>
        </p:nvSpPr>
        <p:spPr>
          <a:xfrm>
            <a:off x="4709160" y="3182112"/>
            <a:ext cx="3931920" cy="1051560"/>
          </a:xfrm>
          <a:prstGeom prst="rect">
            <a:avLst/>
          </a:prstGeom>
          <a:noFill/>
          <a:ln/>
        </p:spPr>
        <p:txBody>
          <a:bodyPr wrap="square" lIns="0" tIns="0" rIns="0" bIns="0" rtlCol="0" anchor="t"/>
          <a:lstStyle/>
          <a:p>
            <a:pPr indent="0" marL="0">
              <a:buNone/>
            </a:pPr>
            <a:r>
              <a:rPr lang="en-US" sz="1200" dirty="0">
                <a:solidFill>
                  <a:srgbClr val="0E1C42"/>
                </a:solidFill>
                <a:latin typeface="Calibri" pitchFamily="34" charset="0"/>
                <a:ea typeface="Calibri" pitchFamily="34" charset="-122"/>
                <a:cs typeface="Calibri" pitchFamily="34" charset="-120"/>
              </a:rPr>
              <a:t>De Soto marched for 3 years taking food from Native peoples by force. That is not 'curiosity.' Real motives push people to do things that hurt others — and the evidence shows they did.</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GUIDED PRACTICE  |  THE TRICKY ONE</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A Genuinely Hard Question</a:t>
            </a:r>
            <a:endParaRPr lang="en-US" sz="2400" dirty="0"/>
          </a:p>
        </p:txBody>
      </p:sp>
      <p:sp>
        <p:nvSpPr>
          <p:cNvPr id="6" name="Shape 4"/>
          <p:cNvSpPr/>
          <p:nvPr/>
        </p:nvSpPr>
        <p:spPr>
          <a:xfrm>
            <a:off x="365760" y="1143000"/>
            <a:ext cx="8412480" cy="1444752"/>
          </a:xfrm>
          <a:prstGeom prst="roundRect">
            <a:avLst>
              <a:gd name="adj" fmla="val 8861"/>
            </a:avLst>
          </a:prstGeom>
          <a:solidFill>
            <a:srgbClr val="FFF3DC"/>
          </a:solidFill>
          <a:ln w="25400">
            <a:solidFill>
              <a:srgbClr val="D4943A"/>
            </a:solidFill>
            <a:prstDash val="solid"/>
          </a:ln>
        </p:spPr>
      </p:sp>
      <p:sp>
        <p:nvSpPr>
          <p:cNvPr id="7" name="Text 5"/>
          <p:cNvSpPr/>
          <p:nvPr/>
        </p:nvSpPr>
        <p:spPr>
          <a:xfrm>
            <a:off x="502920" y="1188720"/>
            <a:ext cx="1828800" cy="274320"/>
          </a:xfrm>
          <a:prstGeom prst="rect">
            <a:avLst/>
          </a:prstGeom>
          <a:noFill/>
          <a:ln/>
        </p:spPr>
        <p:txBody>
          <a:bodyPr wrap="square" lIns="0" tIns="0" rIns="0" bIns="0" rtlCol="0" anchor="ctr"/>
          <a:lstStyle/>
          <a:p>
            <a:pPr indent="0" marL="0">
              <a:buNone/>
            </a:pPr>
            <a:r>
              <a:rPr lang="en-US" sz="1000" b="1" dirty="0">
                <a:solidFill>
                  <a:srgbClr val="D4943A"/>
                </a:solidFill>
                <a:latin typeface="Calibri" pitchFamily="34" charset="0"/>
                <a:ea typeface="Calibri" pitchFamily="34" charset="-122"/>
                <a:cs typeface="Calibri" pitchFamily="34" charset="-120"/>
              </a:rPr>
              <a:t>Consider this:</a:t>
            </a:r>
            <a:endParaRPr lang="en-US" sz="1000" dirty="0"/>
          </a:p>
        </p:txBody>
      </p:sp>
      <p:sp>
        <p:nvSpPr>
          <p:cNvPr id="8" name="Text 6"/>
          <p:cNvSpPr/>
          <p:nvPr/>
        </p:nvSpPr>
        <p:spPr>
          <a:xfrm>
            <a:off x="502920" y="1481328"/>
            <a:ext cx="8046720" cy="1005840"/>
          </a:xfrm>
          <a:prstGeom prst="rect">
            <a:avLst/>
          </a:prstGeom>
          <a:noFill/>
          <a:ln/>
        </p:spPr>
        <p:txBody>
          <a:bodyPr wrap="square" lIns="0" tIns="0" rIns="0" bIns="0" rtlCol="0" anchor="t"/>
          <a:lstStyle/>
          <a:p>
            <a:pPr algn="l" indent="0" marL="0">
              <a:buNone/>
            </a:pPr>
            <a:r>
              <a:rPr lang="en-US" sz="1300" i="1" dirty="0">
                <a:solidFill>
                  <a:srgbClr val="5A4A3A"/>
                </a:solidFill>
                <a:latin typeface="Cambria" pitchFamily="34" charset="0"/>
                <a:ea typeface="Cambria" pitchFamily="34" charset="-122"/>
                <a:cs typeface="Cambria" pitchFamily="34" charset="-120"/>
              </a:rPr>
              <a:t>Some Spanish priests who sailed to Florida genuinely believed they were helping the Native peoples by teaching them Christianity. They thought they were saving souls — not causing harm. Meanwhile, those same missions disrupted Native societies, forced labor, and spread disease.</a:t>
            </a:r>
            <a:endParaRPr lang="en-US" sz="1300" dirty="0"/>
          </a:p>
        </p:txBody>
      </p:sp>
      <p:sp>
        <p:nvSpPr>
          <p:cNvPr id="9" name="Text 7"/>
          <p:cNvSpPr/>
          <p:nvPr/>
        </p:nvSpPr>
        <p:spPr>
          <a:xfrm>
            <a:off x="365760" y="2697480"/>
            <a:ext cx="8412480" cy="502920"/>
          </a:xfrm>
          <a:prstGeom prst="rect">
            <a:avLst/>
          </a:prstGeom>
          <a:noFill/>
          <a:ln/>
        </p:spPr>
        <p:txBody>
          <a:bodyPr wrap="square" lIns="0" tIns="0" rIns="0" bIns="0" rtlCol="0" anchor="t"/>
          <a:lstStyle/>
          <a:p>
            <a:pPr algn="l" indent="0" marL="0">
              <a:buNone/>
            </a:pPr>
            <a:r>
              <a:rPr lang="en-US" sz="1400" b="1" dirty="0">
                <a:solidFill>
                  <a:srgbClr val="0E1C42"/>
                </a:solidFill>
                <a:latin typeface="Calibri" pitchFamily="34" charset="0"/>
                <a:ea typeface="Calibri" pitchFamily="34" charset="-122"/>
                <a:cs typeface="Calibri" pitchFamily="34" charset="-120"/>
              </a:rPr>
              <a:t>Can a person cause serious harm even when they believe they are doing something good? Does the belief change the harm?</a:t>
            </a:r>
            <a:endParaRPr lang="en-US" sz="1400" dirty="0"/>
          </a:p>
        </p:txBody>
      </p:sp>
      <p:sp>
        <p:nvSpPr>
          <p:cNvPr id="10" name="Shape 8"/>
          <p:cNvSpPr/>
          <p:nvPr/>
        </p:nvSpPr>
        <p:spPr>
          <a:xfrm>
            <a:off x="365760" y="3291840"/>
            <a:ext cx="8412480" cy="749808"/>
          </a:xfrm>
          <a:prstGeom prst="roundRect">
            <a:avLst>
              <a:gd name="adj" fmla="val 14634"/>
            </a:avLst>
          </a:prstGeom>
          <a:solidFill>
            <a:srgbClr val="FFF3DC"/>
          </a:solidFill>
          <a:ln w="19050">
            <a:solidFill>
              <a:srgbClr val="F5E6C8"/>
            </a:solidFill>
            <a:prstDash val="solid"/>
          </a:ln>
        </p:spPr>
      </p:sp>
      <p:sp>
        <p:nvSpPr>
          <p:cNvPr id="11" name="Text 9"/>
          <p:cNvSpPr/>
          <p:nvPr/>
        </p:nvSpPr>
        <p:spPr>
          <a:xfrm>
            <a:off x="502920" y="3346704"/>
            <a:ext cx="8138160" cy="201168"/>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CHAT FRAME</a:t>
            </a:r>
            <a:endParaRPr lang="en-US" sz="900" dirty="0"/>
          </a:p>
        </p:txBody>
      </p:sp>
      <p:sp>
        <p:nvSpPr>
          <p:cNvPr id="12" name="Text 10"/>
          <p:cNvSpPr/>
          <p:nvPr/>
        </p:nvSpPr>
        <p:spPr>
          <a:xfrm>
            <a:off x="502920" y="3547872"/>
            <a:ext cx="8138160" cy="429768"/>
          </a:xfrm>
          <a:prstGeom prst="rect">
            <a:avLst/>
          </a:prstGeom>
          <a:noFill/>
          <a:ln/>
        </p:spPr>
        <p:txBody>
          <a:bodyPr wrap="square" lIns="0" tIns="0" rIns="0" bIns="0" rtlCol="0" anchor="t"/>
          <a:lstStyle/>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"I think [belief / harm] matters more because ______."</a:t>
            </a:r>
            <a:endParaRPr lang="en-US" sz="1200" dirty="0"/>
          </a:p>
          <a:p>
            <a:pPr indent="0" marL="0">
              <a:spcAft>
                <a:spcPts val="500"/>
              </a:spcAft>
              <a:buNone/>
            </a:pPr>
            <a:r>
              <a:rPr lang="en-US" sz="1200" i="1" dirty="0">
                <a:solidFill>
                  <a:srgbClr val="5A4A3A"/>
                </a:solidFill>
                <a:latin typeface="Cambria" pitchFamily="34" charset="0"/>
                <a:ea typeface="Cambria" pitchFamily="34" charset="-122"/>
                <a:cs typeface="Cambria" pitchFamily="34" charset="-120"/>
              </a:rPr>
              <a:t>"A historian should focus on ______ because ______."</a:t>
            </a:r>
            <a:endParaRPr lang="en-US" sz="1200" dirty="0"/>
          </a:p>
        </p:txBody>
      </p:sp>
      <p:sp>
        <p:nvSpPr>
          <p:cNvPr id="13" name="Shape 11"/>
          <p:cNvSpPr/>
          <p:nvPr/>
        </p:nvSpPr>
        <p:spPr>
          <a:xfrm>
            <a:off x="365760" y="4114800"/>
            <a:ext cx="8412480" cy="566928"/>
          </a:xfrm>
          <a:prstGeom prst="roundRect">
            <a:avLst>
              <a:gd name="adj" fmla="val 16129"/>
            </a:avLst>
          </a:prstGeom>
          <a:solidFill>
            <a:srgbClr val="1A2D5A"/>
          </a:solidFill>
          <a:ln w="19050">
            <a:solidFill>
              <a:srgbClr val="55C8E8"/>
            </a:solidFill>
            <a:prstDash val="solid"/>
          </a:ln>
        </p:spPr>
      </p:sp>
      <p:sp>
        <p:nvSpPr>
          <p:cNvPr id="14" name="Text 12"/>
          <p:cNvSpPr/>
          <p:nvPr/>
        </p:nvSpPr>
        <p:spPr>
          <a:xfrm>
            <a:off x="502920" y="4160520"/>
            <a:ext cx="8092440" cy="475488"/>
          </a:xfrm>
          <a:prstGeom prst="rect">
            <a:avLst/>
          </a:prstGeom>
          <a:noFill/>
          <a:ln/>
        </p:spPr>
        <p:txBody>
          <a:bodyPr wrap="square" lIns="0" tIns="0" rIns="0" bIns="0" rtlCol="0" anchor="ctr"/>
          <a:lstStyle/>
          <a:p>
            <a:pPr algn="l" indent="0" marL="0">
              <a:buNone/>
            </a:pPr>
            <a:r>
              <a:rPr lang="en-US" sz="1100" b="1" dirty="0">
                <a:solidFill>
                  <a:srgbClr val="55C8E8"/>
                </a:solidFill>
                <a:latin typeface="Calibri" pitchFamily="34" charset="0"/>
                <a:ea typeface="Calibri" pitchFamily="34" charset="-122"/>
                <a:cs typeface="Calibri" pitchFamily="34" charset="-120"/>
              </a:rPr>
              <a:t>Pattern: Historians evaluate actions by their consequences, not only by the intentions behind them. Both matter — but consequences are what people actually experienced.</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457200" y="274320"/>
            <a:ext cx="2743200" cy="365760"/>
          </a:xfrm>
          <a:prstGeom prst="roundRect">
            <a:avLst>
              <a:gd name="adj" fmla="val 25000"/>
            </a:avLst>
          </a:prstGeom>
          <a:solidFill>
            <a:srgbClr val="8B6FC0"/>
          </a:solidFill>
          <a:ln w="12700">
            <a:solidFill>
              <a:srgbClr val="8B6FC0"/>
            </a:solidFill>
            <a:prstDash val="solid"/>
          </a:ln>
        </p:spPr>
      </p:sp>
      <p:sp>
        <p:nvSpPr>
          <p:cNvPr id="5" name="Text 3"/>
          <p:cNvSpPr/>
          <p:nvPr/>
        </p:nvSpPr>
        <p:spPr>
          <a:xfrm>
            <a:off x="457200" y="274320"/>
            <a:ext cx="2743200" cy="365760"/>
          </a:xfrm>
          <a:prstGeom prst="rect">
            <a:avLst/>
          </a:prstGeom>
          <a:noFill/>
          <a:ln/>
        </p:spPr>
        <p:txBody>
          <a:bodyPr wrap="square" lIns="0" tIns="0" rIns="0" bIns="0" rtlCol="0" anchor="ctr"/>
          <a:lstStyle/>
          <a:p>
            <a:pPr algn="ctr" indent="0" marL="0">
              <a:buNone/>
            </a:pPr>
            <a:r>
              <a:rPr lang="en-US" sz="1100" b="1" spc="150" kern="0" dirty="0">
                <a:solidFill>
                  <a:srgbClr val="FFFFFF"/>
                </a:solidFill>
                <a:latin typeface="Calibri" pitchFamily="34" charset="0"/>
                <a:ea typeface="Calibri" pitchFamily="34" charset="-122"/>
                <a:cs typeface="Calibri" pitchFamily="34" charset="-120"/>
              </a:rPr>
              <a:t>VIRTUE SPOTLIGHT</a:t>
            </a:r>
            <a:endParaRPr lang="en-US" sz="1100" dirty="0"/>
          </a:p>
        </p:txBody>
      </p:sp>
      <p:sp>
        <p:nvSpPr>
          <p:cNvPr id="6" name="Text 4"/>
          <p:cNvSpPr/>
          <p:nvPr/>
        </p:nvSpPr>
        <p:spPr>
          <a:xfrm>
            <a:off x="457200" y="804672"/>
            <a:ext cx="8229600" cy="822960"/>
          </a:xfrm>
          <a:prstGeom prst="rect">
            <a:avLst/>
          </a:prstGeom>
          <a:noFill/>
          <a:ln/>
        </p:spPr>
        <p:txBody>
          <a:bodyPr wrap="square" lIns="0" tIns="0" rIns="0" bIns="0" rtlCol="0" anchor="ctr"/>
          <a:lstStyle/>
          <a:p>
            <a:pPr indent="0" marL="0">
              <a:buNone/>
            </a:pPr>
            <a:r>
              <a:rPr lang="en-US" sz="5200" b="1" dirty="0">
                <a:solidFill>
                  <a:srgbClr val="D4943A"/>
                </a:solidFill>
                <a:latin typeface="Cambria" pitchFamily="34" charset="0"/>
                <a:ea typeface="Cambria" pitchFamily="34" charset="-122"/>
                <a:cs typeface="Cambria" pitchFamily="34" charset="-120"/>
              </a:rPr>
              <a:t>Courage</a:t>
            </a:r>
            <a:endParaRPr lang="en-US" sz="5200" dirty="0"/>
          </a:p>
        </p:txBody>
      </p:sp>
      <p:sp>
        <p:nvSpPr>
          <p:cNvPr id="7" name="Shape 5"/>
          <p:cNvSpPr/>
          <p:nvPr/>
        </p:nvSpPr>
        <p:spPr>
          <a:xfrm>
            <a:off x="457200" y="1691640"/>
            <a:ext cx="5486400" cy="36576"/>
          </a:xfrm>
          <a:prstGeom prst="rect">
            <a:avLst/>
          </a:prstGeom>
          <a:solidFill>
            <a:srgbClr val="55C8E8"/>
          </a:solidFill>
          <a:ln w="12700">
            <a:solidFill>
              <a:srgbClr val="55C8E8"/>
            </a:solidFill>
            <a:prstDash val="solid"/>
          </a:ln>
        </p:spPr>
      </p:sp>
      <p:sp>
        <p:nvSpPr>
          <p:cNvPr id="8" name="Text 6"/>
          <p:cNvSpPr/>
          <p:nvPr/>
        </p:nvSpPr>
        <p:spPr>
          <a:xfrm>
            <a:off x="457200" y="1828800"/>
            <a:ext cx="8229600" cy="502920"/>
          </a:xfrm>
          <a:prstGeom prst="rect">
            <a:avLst/>
          </a:prstGeom>
          <a:noFill/>
          <a:ln/>
        </p:spPr>
        <p:txBody>
          <a:bodyPr wrap="square" lIns="0" tIns="0" rIns="0" bIns="0" rtlCol="0" anchor="t"/>
          <a:lstStyle/>
          <a:p>
            <a:pPr algn="l" indent="0" marL="0">
              <a:buNone/>
            </a:pPr>
            <a:r>
              <a:rPr lang="en-US" sz="1600" i="1" dirty="0">
                <a:solidFill>
                  <a:srgbClr val="F0F2F8"/>
                </a:solidFill>
                <a:latin typeface="Calibri" pitchFamily="34" charset="0"/>
                <a:ea typeface="Calibri" pitchFamily="34" charset="-122"/>
                <a:cs typeface="Calibri" pitchFamily="34" charset="-120"/>
              </a:rPr>
              <a:t>The ability to face something difficult, dangerous, or uncertain without letting fear stop you.</a:t>
            </a:r>
            <a:endParaRPr lang="en-US" sz="1600" dirty="0"/>
          </a:p>
        </p:txBody>
      </p:sp>
      <p:sp>
        <p:nvSpPr>
          <p:cNvPr id="9" name="Shape 7"/>
          <p:cNvSpPr/>
          <p:nvPr/>
        </p:nvSpPr>
        <p:spPr>
          <a:xfrm>
            <a:off x="457200" y="2423160"/>
            <a:ext cx="8229600" cy="2029968"/>
          </a:xfrm>
          <a:prstGeom prst="roundRect">
            <a:avLst>
              <a:gd name="adj" fmla="val 6306"/>
            </a:avLst>
          </a:prstGeom>
          <a:solidFill>
            <a:srgbClr val="1A2D5A"/>
          </a:solidFill>
          <a:ln w="19050">
            <a:solidFill>
              <a:srgbClr val="8B6FC0"/>
            </a:solidFill>
            <a:prstDash val="solid"/>
          </a:ln>
        </p:spPr>
      </p:sp>
      <p:sp>
        <p:nvSpPr>
          <p:cNvPr id="10" name="Text 8"/>
          <p:cNvSpPr/>
          <p:nvPr/>
        </p:nvSpPr>
        <p:spPr>
          <a:xfrm>
            <a:off x="640080" y="2487168"/>
            <a:ext cx="4572000" cy="256032"/>
          </a:xfrm>
          <a:prstGeom prst="rect">
            <a:avLst/>
          </a:prstGeom>
          <a:noFill/>
          <a:ln/>
        </p:spPr>
        <p:txBody>
          <a:bodyPr wrap="square" lIns="0" tIns="0" rIns="0" bIns="0" rtlCol="0" anchor="ctr"/>
          <a:lstStyle/>
          <a:p>
            <a:pPr indent="0" marL="0">
              <a:buNone/>
            </a:pPr>
            <a:r>
              <a:rPr lang="en-US" sz="900" b="1" spc="150" kern="0" dirty="0">
                <a:solidFill>
                  <a:srgbClr val="8B6FC0"/>
                </a:solidFill>
                <a:latin typeface="Calibri" pitchFamily="34" charset="0"/>
                <a:ea typeface="Calibri" pitchFamily="34" charset="-122"/>
                <a:cs typeface="Calibri" pitchFamily="34" charset="-120"/>
              </a:rPr>
              <a:t>THE VIRTUE LENS ON COURAGE</a:t>
            </a:r>
            <a:endParaRPr lang="en-US" sz="900" dirty="0"/>
          </a:p>
        </p:txBody>
      </p:sp>
      <p:sp>
        <p:nvSpPr>
          <p:cNvPr id="11" name="Text 9"/>
          <p:cNvSpPr/>
          <p:nvPr/>
        </p:nvSpPr>
        <p:spPr>
          <a:xfrm>
            <a:off x="640080" y="2788920"/>
            <a:ext cx="7680960" cy="1591056"/>
          </a:xfrm>
          <a:prstGeom prst="rect">
            <a:avLst/>
          </a:prstGeom>
          <a:noFill/>
          <a:ln/>
        </p:spPr>
        <p:txBody>
          <a:bodyPr wrap="square" lIns="0" tIns="0" rIns="0" bIns="0" rtlCol="0" anchor="t"/>
          <a:lstStyle/>
          <a:p>
            <a:pPr algn="l" indent="0" marL="0">
              <a:buNone/>
            </a:pPr>
            <a:r>
              <a:rPr lang="en-US" sz="1300" dirty="0">
                <a:solidFill>
                  <a:srgbClr val="FFFFFF"/>
                </a:solidFill>
                <a:latin typeface="Calibri" pitchFamily="34" charset="0"/>
                <a:ea typeface="Calibri" pitchFamily="34" charset="-122"/>
                <a:cs typeface="Calibri" pitchFamily="34" charset="-120"/>
              </a:rPr>
              <a:t>Yesterday we said the Spanish explorers had courage. Today we ask a harder question: was their courage used for something good?</a:t>
            </a:r>
            <a:endParaRPr lang="en-US" sz="1300" dirty="0"/>
          </a:p>
          <a:p>
            <a:pPr algn="l" indent="0" marL="0">
              <a:buNone/>
            </a:pP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A Virtue Lens helps a historian look at the same action two ways — what it took to do it, AND what it cost the people on the other end. Both halves of that picture belong in the record.</a:t>
            </a:r>
            <a:endParaRPr lang="en-US" sz="1300" dirty="0"/>
          </a:p>
          <a:p>
            <a:pPr algn="l" indent="0" marL="0">
              <a:buNone/>
            </a:pPr>
            <a:endParaRPr lang="en-US" sz="1300" dirty="0"/>
          </a:p>
          <a:p>
            <a:pPr algn="l" indent="0" marL="0">
              <a:buNone/>
            </a:pPr>
            <a:r>
              <a:rPr lang="en-US" sz="1300" dirty="0">
                <a:solidFill>
                  <a:srgbClr val="FFFFFF"/>
                </a:solidFill>
                <a:latin typeface="Calibri" pitchFamily="34" charset="0"/>
                <a:ea typeface="Calibri" pitchFamily="34" charset="-122"/>
                <a:cs typeface="Calibri" pitchFamily="34" charset="-120"/>
              </a:rPr>
              <a:t>Your assignment asks you to use the Virtue Lens: name what their courage was used FOR, and decide whether that was a wise use of courage.</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D4943A"/>
                </a:solidFill>
                <a:latin typeface="Calibri" pitchFamily="34" charset="0"/>
                <a:ea typeface="Calibri" pitchFamily="34" charset="-122"/>
                <a:cs typeface="Calibri" pitchFamily="34" charset="-120"/>
              </a:rPr>
              <a:t>ASSIGNMENT  |  YOUR SOURCE STUDY RESPONSE</a:t>
            </a:r>
            <a:endParaRPr lang="en-US" sz="1000" dirty="0"/>
          </a:p>
        </p:txBody>
      </p:sp>
      <p:sp>
        <p:nvSpPr>
          <p:cNvPr id="5" name="Text 3"/>
          <p:cNvSpPr/>
          <p:nvPr/>
        </p:nvSpPr>
        <p:spPr>
          <a:xfrm>
            <a:off x="365760" y="594360"/>
            <a:ext cx="8412480" cy="411480"/>
          </a:xfrm>
          <a:prstGeom prst="rect">
            <a:avLst/>
          </a:prstGeom>
          <a:noFill/>
          <a:ln/>
        </p:spPr>
        <p:txBody>
          <a:bodyPr wrap="square" lIns="0" tIns="0" rIns="0" bIns="0" rtlCol="0" anchor="ctr"/>
          <a:lstStyle/>
          <a:p>
            <a:pPr indent="0" marL="0">
              <a:buNone/>
            </a:pPr>
            <a:r>
              <a:rPr lang="en-US" sz="2000" b="1" dirty="0">
                <a:solidFill>
                  <a:srgbClr val="0E1C42"/>
                </a:solidFill>
                <a:latin typeface="Cambria" pitchFamily="34" charset="0"/>
                <a:ea typeface="Cambria" pitchFamily="34" charset="-122"/>
                <a:cs typeface="Cambria" pitchFamily="34" charset="-120"/>
              </a:rPr>
              <a:t>Three Evidence Questions + Source Study Response</a:t>
            </a:r>
            <a:endParaRPr lang="en-US" sz="2000" dirty="0"/>
          </a:p>
        </p:txBody>
      </p:sp>
      <p:sp>
        <p:nvSpPr>
          <p:cNvPr id="6" name="Shape 4"/>
          <p:cNvSpPr/>
          <p:nvPr/>
        </p:nvSpPr>
        <p:spPr>
          <a:xfrm>
            <a:off x="365760" y="1097280"/>
            <a:ext cx="411480" cy="411480"/>
          </a:xfrm>
          <a:prstGeom prst="roundRect">
            <a:avLst>
              <a:gd name="adj" fmla="val 17778"/>
            </a:avLst>
          </a:prstGeom>
          <a:solidFill>
            <a:srgbClr val="D4943A"/>
          </a:solidFill>
          <a:ln w="12700">
            <a:solidFill>
              <a:srgbClr val="D4943A"/>
            </a:solidFill>
            <a:prstDash val="solid"/>
          </a:ln>
        </p:spPr>
      </p:sp>
      <p:sp>
        <p:nvSpPr>
          <p:cNvPr id="7" name="Text 5"/>
          <p:cNvSpPr/>
          <p:nvPr/>
        </p:nvSpPr>
        <p:spPr>
          <a:xfrm>
            <a:off x="365760" y="1097280"/>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8" name="Shape 6"/>
          <p:cNvSpPr/>
          <p:nvPr/>
        </p:nvSpPr>
        <p:spPr>
          <a:xfrm>
            <a:off x="868680" y="1097280"/>
            <a:ext cx="7909560" cy="566928"/>
          </a:xfrm>
          <a:prstGeom prst="roundRect">
            <a:avLst>
              <a:gd name="adj" fmla="val 16129"/>
            </a:avLst>
          </a:prstGeom>
          <a:solidFill>
            <a:srgbClr val="FFFFFF"/>
          </a:solidFill>
          <a:ln w="19050">
            <a:solidFill>
              <a:srgbClr val="D4943A"/>
            </a:solidFill>
            <a:prstDash val="solid"/>
          </a:ln>
        </p:spPr>
      </p:sp>
      <p:sp>
        <p:nvSpPr>
          <p:cNvPr id="9" name="Text 7"/>
          <p:cNvSpPr/>
          <p:nvPr/>
        </p:nvSpPr>
        <p:spPr>
          <a:xfrm>
            <a:off x="1005840" y="1152144"/>
            <a:ext cx="7635240" cy="457200"/>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What does the parchment document most likely show — a personal letter, a king's order, or a map? What evidence on the document made you decide?</a:t>
            </a:r>
            <a:endParaRPr lang="en-US" sz="1200" dirty="0"/>
          </a:p>
        </p:txBody>
      </p:sp>
      <p:sp>
        <p:nvSpPr>
          <p:cNvPr id="10" name="Shape 8"/>
          <p:cNvSpPr/>
          <p:nvPr/>
        </p:nvSpPr>
        <p:spPr>
          <a:xfrm>
            <a:off x="365760" y="1810512"/>
            <a:ext cx="411480" cy="411480"/>
          </a:xfrm>
          <a:prstGeom prst="roundRect">
            <a:avLst>
              <a:gd name="adj" fmla="val 17778"/>
            </a:avLst>
          </a:prstGeom>
          <a:solidFill>
            <a:srgbClr val="1A8A7D"/>
          </a:solidFill>
          <a:ln w="12700">
            <a:solidFill>
              <a:srgbClr val="1A8A7D"/>
            </a:solidFill>
            <a:prstDash val="solid"/>
          </a:ln>
        </p:spPr>
      </p:sp>
      <p:sp>
        <p:nvSpPr>
          <p:cNvPr id="11" name="Text 9"/>
          <p:cNvSpPr/>
          <p:nvPr/>
        </p:nvSpPr>
        <p:spPr>
          <a:xfrm>
            <a:off x="365760" y="1810512"/>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2" name="Shape 10"/>
          <p:cNvSpPr/>
          <p:nvPr/>
        </p:nvSpPr>
        <p:spPr>
          <a:xfrm>
            <a:off x="868680" y="1810512"/>
            <a:ext cx="7909560" cy="566928"/>
          </a:xfrm>
          <a:prstGeom prst="roundRect">
            <a:avLst>
              <a:gd name="adj" fmla="val 16129"/>
            </a:avLst>
          </a:prstGeom>
          <a:solidFill>
            <a:srgbClr val="FFFFFF"/>
          </a:solidFill>
          <a:ln w="19050">
            <a:solidFill>
              <a:srgbClr val="1A8A7D"/>
            </a:solidFill>
            <a:prstDash val="solid"/>
          </a:ln>
        </p:spPr>
      </p:sp>
      <p:sp>
        <p:nvSpPr>
          <p:cNvPr id="13" name="Text 11"/>
          <p:cNvSpPr/>
          <p:nvPr/>
        </p:nvSpPr>
        <p:spPr>
          <a:xfrm>
            <a:off x="1005840" y="1865376"/>
            <a:ext cx="7635240" cy="457200"/>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Of the three motives — God, Gold, and Glory — which one do you think made first contact MOST harmful for the people already living in Florida? Why?</a:t>
            </a:r>
            <a:endParaRPr lang="en-US" sz="1200" dirty="0"/>
          </a:p>
        </p:txBody>
      </p:sp>
      <p:sp>
        <p:nvSpPr>
          <p:cNvPr id="14" name="Shape 12"/>
          <p:cNvSpPr/>
          <p:nvPr/>
        </p:nvSpPr>
        <p:spPr>
          <a:xfrm>
            <a:off x="365760" y="2523744"/>
            <a:ext cx="411480" cy="411480"/>
          </a:xfrm>
          <a:prstGeom prst="roundRect">
            <a:avLst>
              <a:gd name="adj" fmla="val 17778"/>
            </a:avLst>
          </a:prstGeom>
          <a:solidFill>
            <a:srgbClr val="8B6FC0"/>
          </a:solidFill>
          <a:ln w="12700">
            <a:solidFill>
              <a:srgbClr val="8B6FC0"/>
            </a:solidFill>
            <a:prstDash val="solid"/>
          </a:ln>
        </p:spPr>
      </p:sp>
      <p:sp>
        <p:nvSpPr>
          <p:cNvPr id="15" name="Text 13"/>
          <p:cNvSpPr/>
          <p:nvPr/>
        </p:nvSpPr>
        <p:spPr>
          <a:xfrm>
            <a:off x="365760" y="2523744"/>
            <a:ext cx="411480" cy="41148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6" name="Shape 14"/>
          <p:cNvSpPr/>
          <p:nvPr/>
        </p:nvSpPr>
        <p:spPr>
          <a:xfrm>
            <a:off x="868680" y="2523744"/>
            <a:ext cx="7909560" cy="566928"/>
          </a:xfrm>
          <a:prstGeom prst="roundRect">
            <a:avLst>
              <a:gd name="adj" fmla="val 16129"/>
            </a:avLst>
          </a:prstGeom>
          <a:solidFill>
            <a:srgbClr val="FFFFFF"/>
          </a:solidFill>
          <a:ln w="19050">
            <a:solidFill>
              <a:srgbClr val="8B6FC0"/>
            </a:solidFill>
            <a:prstDash val="solid"/>
          </a:ln>
        </p:spPr>
      </p:sp>
      <p:sp>
        <p:nvSpPr>
          <p:cNvPr id="17" name="Text 15"/>
          <p:cNvSpPr/>
          <p:nvPr/>
        </p:nvSpPr>
        <p:spPr>
          <a:xfrm>
            <a:off x="1005840" y="2578608"/>
            <a:ext cx="7635240" cy="457200"/>
          </a:xfrm>
          <a:prstGeom prst="rect">
            <a:avLst/>
          </a:prstGeom>
          <a:noFill/>
          <a:ln/>
        </p:spPr>
        <p:txBody>
          <a:bodyPr wrap="square" lIns="0" tIns="0" rIns="0" bIns="0" rtlCol="0" anchor="ctr"/>
          <a:lstStyle/>
          <a:p>
            <a:pPr algn="l" indent="0" marL="0">
              <a:buNone/>
            </a:pPr>
            <a:r>
              <a:rPr lang="en-US" sz="1200" dirty="0">
                <a:solidFill>
                  <a:srgbClr val="0E1C42"/>
                </a:solidFill>
                <a:latin typeface="Calibri" pitchFamily="34" charset="0"/>
                <a:ea typeface="Calibri" pitchFamily="34" charset="-122"/>
                <a:cs typeface="Calibri" pitchFamily="34" charset="-120"/>
              </a:rPr>
              <a:t>Use the Virtue Lens. Spanish explorers had courage — but their courage was used FOR something. What was it used for, and was that a wise use of courage?</a:t>
            </a:r>
            <a:endParaRPr lang="en-US" sz="1200" dirty="0"/>
          </a:p>
        </p:txBody>
      </p:sp>
      <p:sp>
        <p:nvSpPr>
          <p:cNvPr id="18" name="Shape 16"/>
          <p:cNvSpPr/>
          <p:nvPr/>
        </p:nvSpPr>
        <p:spPr>
          <a:xfrm>
            <a:off x="365760" y="3246120"/>
            <a:ext cx="8412480" cy="804672"/>
          </a:xfrm>
          <a:prstGeom prst="roundRect">
            <a:avLst>
              <a:gd name="adj" fmla="val 13636"/>
            </a:avLst>
          </a:prstGeom>
          <a:solidFill>
            <a:srgbClr val="0E1C42"/>
          </a:solidFill>
          <a:ln w="19050">
            <a:solidFill>
              <a:srgbClr val="D4943A"/>
            </a:solidFill>
            <a:prstDash val="solid"/>
          </a:ln>
        </p:spPr>
      </p:sp>
      <p:sp>
        <p:nvSpPr>
          <p:cNvPr id="19" name="Text 17"/>
          <p:cNvSpPr/>
          <p:nvPr/>
        </p:nvSpPr>
        <p:spPr>
          <a:xfrm>
            <a:off x="502920" y="3291840"/>
            <a:ext cx="4572000" cy="237744"/>
          </a:xfrm>
          <a:prstGeom prst="rect">
            <a:avLst/>
          </a:prstGeom>
          <a:noFill/>
          <a:ln/>
        </p:spPr>
        <p:txBody>
          <a:bodyPr wrap="square" lIns="0" tIns="0" rIns="0" bIns="0" rtlCol="0" anchor="ctr"/>
          <a:lstStyle/>
          <a:p>
            <a:pPr indent="0" marL="0">
              <a:buNone/>
            </a:pPr>
            <a:r>
              <a:rPr lang="en-US" sz="900" b="1" spc="100" kern="0" dirty="0">
                <a:solidFill>
                  <a:srgbClr val="D4943A"/>
                </a:solidFill>
                <a:latin typeface="Calibri" pitchFamily="34" charset="0"/>
                <a:ea typeface="Calibri" pitchFamily="34" charset="-122"/>
                <a:cs typeface="Calibri" pitchFamily="34" charset="-120"/>
              </a:rPr>
              <a:t>SOURCE STUDY RESPONSE (4-6 sentences):</a:t>
            </a:r>
            <a:endParaRPr lang="en-US" sz="900" dirty="0"/>
          </a:p>
        </p:txBody>
      </p:sp>
      <p:sp>
        <p:nvSpPr>
          <p:cNvPr id="20" name="Text 18"/>
          <p:cNvSpPr/>
          <p:nvPr/>
        </p:nvSpPr>
        <p:spPr>
          <a:xfrm>
            <a:off x="502920" y="3547872"/>
            <a:ext cx="8046720" cy="438912"/>
          </a:xfrm>
          <a:prstGeom prst="rect">
            <a:avLst/>
          </a:prstGeom>
          <a:noFill/>
          <a:ln/>
        </p:spPr>
        <p:txBody>
          <a:bodyPr wrap="square" lIns="0" tIns="0" rIns="0" bIns="0" rtlCol="0" anchor="t"/>
          <a:lstStyle/>
          <a:p>
            <a:pPr algn="l" indent="0" marL="0">
              <a:buNone/>
            </a:pPr>
            <a:r>
              <a:rPr lang="en-US" sz="1200" dirty="0">
                <a:solidFill>
                  <a:srgbClr val="F0F2F8"/>
                </a:solidFill>
                <a:latin typeface="Calibri" pitchFamily="34" charset="0"/>
                <a:ea typeface="Calibri" pitchFamily="34" charset="-122"/>
                <a:cs typeface="Calibri" pitchFamily="34" charset="-120"/>
              </a:rPr>
              <a:t>Based on the document and today's lesson, what were the Spanish really hoping to gain in Florida — and was their courage used wisely? Name at least one motive and give one specific detail.</a:t>
            </a:r>
            <a:endParaRPr lang="en-US" sz="1200" dirty="0"/>
          </a:p>
        </p:txBody>
      </p:sp>
      <p:sp>
        <p:nvSpPr>
          <p:cNvPr id="21" name="Shape 19"/>
          <p:cNvSpPr/>
          <p:nvPr/>
        </p:nvSpPr>
        <p:spPr>
          <a:xfrm>
            <a:off x="365760" y="4133088"/>
            <a:ext cx="8412480" cy="566928"/>
          </a:xfrm>
          <a:prstGeom prst="roundRect">
            <a:avLst>
              <a:gd name="adj" fmla="val 16129"/>
            </a:avLst>
          </a:prstGeom>
          <a:solidFill>
            <a:srgbClr val="FFF3DC"/>
          </a:solidFill>
          <a:ln w="19050">
            <a:solidFill>
              <a:srgbClr val="F5E6C8"/>
            </a:solidFill>
            <a:prstDash val="solid"/>
          </a:ln>
        </p:spPr>
      </p:sp>
      <p:sp>
        <p:nvSpPr>
          <p:cNvPr id="22" name="Text 20"/>
          <p:cNvSpPr/>
          <p:nvPr/>
        </p:nvSpPr>
        <p:spPr>
          <a:xfrm>
            <a:off x="502920" y="4178808"/>
            <a:ext cx="8046720" cy="457200"/>
          </a:xfrm>
          <a:prstGeom prst="rect">
            <a:avLst/>
          </a:prstGeom>
          <a:noFill/>
          <a:ln/>
        </p:spPr>
        <p:txBody>
          <a:bodyPr wrap="square" lIns="0" tIns="0" rIns="0" bIns="0" rtlCol="0" anchor="ctr"/>
          <a:lstStyle/>
          <a:p>
            <a:pPr algn="l" indent="0" marL="0">
              <a:buNone/>
            </a:pPr>
            <a:r>
              <a:rPr lang="en-US" sz="1300" i="1" dirty="0">
                <a:solidFill>
                  <a:srgbClr val="5A4A3A"/>
                </a:solidFill>
                <a:latin typeface="Cambria" pitchFamily="34" charset="0"/>
                <a:ea typeface="Cambria" pitchFamily="34" charset="-122"/>
                <a:cs typeface="Cambria" pitchFamily="34" charset="-120"/>
              </a:rPr>
              <a:t>Historian's Sentence: "Today I learned that ______ because ______."</a:t>
            </a:r>
            <a:endParaRPr lang="en-US" sz="13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0F2F8"/>
          </a:solidFill>
          <a:ln w="12700">
            <a:solidFill>
              <a:srgbClr val="F0F2F8"/>
            </a:solidFill>
            <a:prstDash val="solid"/>
          </a:ln>
        </p:spPr>
      </p:sp>
      <p:sp>
        <p:nvSpPr>
          <p:cNvPr id="3" name="Shape 1"/>
          <p:cNvSpPr/>
          <p:nvPr/>
        </p:nvSpPr>
        <p:spPr>
          <a:xfrm>
            <a:off x="0" y="0"/>
            <a:ext cx="9144000" cy="475488"/>
          </a:xfrm>
          <a:prstGeom prst="rect">
            <a:avLst/>
          </a:prstGeom>
          <a:solidFill>
            <a:srgbClr val="0E1C42"/>
          </a:solidFill>
          <a:ln w="12700">
            <a:solidFill>
              <a:srgbClr val="0E1C42"/>
            </a:solidFill>
            <a:prstDash val="solid"/>
          </a:ln>
        </p:spPr>
      </p:sp>
      <p:sp>
        <p:nvSpPr>
          <p:cNvPr id="4" name="Text 2"/>
          <p:cNvSpPr/>
          <p:nvPr/>
        </p:nvSpPr>
        <p:spPr>
          <a:xfrm>
            <a:off x="365760" y="0"/>
            <a:ext cx="8229600" cy="475488"/>
          </a:xfrm>
          <a:prstGeom prst="rect">
            <a:avLst/>
          </a:prstGeom>
          <a:noFill/>
          <a:ln/>
        </p:spPr>
        <p:txBody>
          <a:bodyPr wrap="square" lIns="0" tIns="0" rIns="0" bIns="0" rtlCol="0" anchor="ctr"/>
          <a:lstStyle/>
          <a:p>
            <a:pPr indent="0" marL="0">
              <a:buNone/>
            </a:pPr>
            <a:r>
              <a:rPr lang="en-US" sz="1000" b="1" spc="150" kern="0" dirty="0">
                <a:solidFill>
                  <a:srgbClr val="34B76F"/>
                </a:solidFill>
                <a:latin typeface="Calibri" pitchFamily="34" charset="0"/>
                <a:ea typeface="Calibri" pitchFamily="34" charset="-122"/>
                <a:cs typeface="Calibri" pitchFamily="34" charset="-120"/>
              </a:rPr>
              <a:t>SELF-CHECK  |  NOT GRADED — JUST FOR YOU</a:t>
            </a:r>
            <a:endParaRPr lang="en-US" sz="1000" dirty="0"/>
          </a:p>
        </p:txBody>
      </p:sp>
      <p:sp>
        <p:nvSpPr>
          <p:cNvPr id="5" name="Text 3"/>
          <p:cNvSpPr/>
          <p:nvPr/>
        </p:nvSpPr>
        <p:spPr>
          <a:xfrm>
            <a:off x="365760" y="594360"/>
            <a:ext cx="8229600" cy="438912"/>
          </a:xfrm>
          <a:prstGeom prst="rect">
            <a:avLst/>
          </a:prstGeom>
          <a:noFill/>
          <a:ln/>
        </p:spPr>
        <p:txBody>
          <a:bodyPr wrap="square" lIns="0" tIns="0" rIns="0" bIns="0" rtlCol="0" anchor="ctr"/>
          <a:lstStyle/>
          <a:p>
            <a:pPr indent="0" marL="0">
              <a:buNone/>
            </a:pPr>
            <a:r>
              <a:rPr lang="en-US" sz="2400" b="1" dirty="0">
                <a:solidFill>
                  <a:srgbClr val="0E1C42"/>
                </a:solidFill>
                <a:latin typeface="Cambria" pitchFamily="34" charset="0"/>
                <a:ea typeface="Cambria" pitchFamily="34" charset="-122"/>
                <a:cs typeface="Cambria" pitchFamily="34" charset="-120"/>
              </a:rPr>
              <a:t>Quick Self-Check — 3 Questions</a:t>
            </a:r>
            <a:endParaRPr lang="en-US" sz="2400" dirty="0"/>
          </a:p>
        </p:txBody>
      </p:sp>
      <p:sp>
        <p:nvSpPr>
          <p:cNvPr id="6" name="Shape 4"/>
          <p:cNvSpPr/>
          <p:nvPr/>
        </p:nvSpPr>
        <p:spPr>
          <a:xfrm>
            <a:off x="365760" y="1115568"/>
            <a:ext cx="8412480" cy="1097280"/>
          </a:xfrm>
          <a:prstGeom prst="roundRect">
            <a:avLst>
              <a:gd name="adj" fmla="val 8333"/>
            </a:avLst>
          </a:prstGeom>
          <a:solidFill>
            <a:srgbClr val="FFFFFF"/>
          </a:solidFill>
          <a:ln w="12700">
            <a:solidFill>
              <a:srgbClr val="B0B8CC"/>
            </a:solidFill>
            <a:prstDash val="solid"/>
          </a:ln>
        </p:spPr>
      </p:sp>
      <p:sp>
        <p:nvSpPr>
          <p:cNvPr id="7" name="Text 5"/>
          <p:cNvSpPr/>
          <p:nvPr/>
        </p:nvSpPr>
        <p:spPr>
          <a:xfrm>
            <a:off x="502920" y="1170432"/>
            <a:ext cx="8138160" cy="274320"/>
          </a:xfrm>
          <a:prstGeom prst="rect">
            <a:avLst/>
          </a:prstGeom>
          <a:noFill/>
          <a:ln/>
        </p:spPr>
        <p:txBody>
          <a:bodyPr wrap="square" lIns="0" tIns="0" rIns="0" bIns="0" rtlCol="0" anchor="t"/>
          <a:lstStyle/>
          <a:p>
            <a:pPr algn="l" indent="0" marL="0">
              <a:buNone/>
            </a:pPr>
            <a:r>
              <a:rPr lang="en-US" sz="1200" b="1" dirty="0">
                <a:solidFill>
                  <a:srgbClr val="0E1C42"/>
                </a:solidFill>
                <a:latin typeface="Calibri" pitchFamily="34" charset="0"/>
                <a:ea typeface="Calibri" pitchFamily="34" charset="-122"/>
                <a:cs typeface="Calibri" pitchFamily="34" charset="-120"/>
              </a:rPr>
              <a:t>1.  Which set of words best describes the three main motives that brought Europeans to Florida?</a:t>
            </a:r>
            <a:endParaRPr lang="en-US" sz="1200" dirty="0"/>
          </a:p>
        </p:txBody>
      </p:sp>
      <p:sp>
        <p:nvSpPr>
          <p:cNvPr id="8" name="Shape 6"/>
          <p:cNvSpPr/>
          <p:nvPr/>
        </p:nvSpPr>
        <p:spPr>
          <a:xfrm>
            <a:off x="502920" y="1481328"/>
            <a:ext cx="3749040" cy="219456"/>
          </a:xfrm>
          <a:prstGeom prst="roundRect">
            <a:avLst>
              <a:gd name="adj" fmla="val 25000"/>
            </a:avLst>
          </a:prstGeom>
          <a:solidFill>
            <a:srgbClr val="E8636B"/>
          </a:solidFill>
          <a:ln w="12700">
            <a:solidFill>
              <a:srgbClr val="E8636B"/>
            </a:solidFill>
            <a:prstDash val="solid"/>
          </a:ln>
        </p:spPr>
      </p:sp>
      <p:sp>
        <p:nvSpPr>
          <p:cNvPr id="9" name="Text 7"/>
          <p:cNvSpPr/>
          <p:nvPr/>
        </p:nvSpPr>
        <p:spPr>
          <a:xfrm>
            <a:off x="530352" y="1481328"/>
            <a:ext cx="3694176" cy="219456"/>
          </a:xfrm>
          <a:prstGeom prst="rect">
            <a:avLst/>
          </a:prstGeom>
          <a:noFill/>
          <a:ln/>
        </p:spPr>
        <p:txBody>
          <a:bodyPr wrap="square" lIns="25400" tIns="25400" rIns="25400" bIns="2540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WRONG: A — Adventure, friendship, and trade</a:t>
            </a:r>
            <a:endParaRPr lang="en-US" sz="1000" dirty="0"/>
          </a:p>
        </p:txBody>
      </p:sp>
      <p:sp>
        <p:nvSpPr>
          <p:cNvPr id="10" name="Shape 8"/>
          <p:cNvSpPr/>
          <p:nvPr/>
        </p:nvSpPr>
        <p:spPr>
          <a:xfrm>
            <a:off x="4343400" y="1481328"/>
            <a:ext cx="4389120" cy="219456"/>
          </a:xfrm>
          <a:prstGeom prst="roundRect">
            <a:avLst>
              <a:gd name="adj" fmla="val 25000"/>
            </a:avLst>
          </a:prstGeom>
          <a:solidFill>
            <a:srgbClr val="34B76F"/>
          </a:solidFill>
          <a:ln w="12700">
            <a:solidFill>
              <a:srgbClr val="34B76F"/>
            </a:solidFill>
            <a:prstDash val="solid"/>
          </a:ln>
        </p:spPr>
      </p:sp>
      <p:sp>
        <p:nvSpPr>
          <p:cNvPr id="11" name="Text 9"/>
          <p:cNvSpPr/>
          <p:nvPr/>
        </p:nvSpPr>
        <p:spPr>
          <a:xfrm>
            <a:off x="4370832" y="1481328"/>
            <a:ext cx="4334256" cy="219456"/>
          </a:xfrm>
          <a:prstGeom prst="rect">
            <a:avLst/>
          </a:prstGeom>
          <a:noFill/>
          <a:ln/>
        </p:spPr>
        <p:txBody>
          <a:bodyPr wrap="square" lIns="25400" tIns="25400" rIns="25400" bIns="2540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RIGHT: C — God, Gold, and Glory</a:t>
            </a:r>
            <a:endParaRPr lang="en-US" sz="1000" dirty="0"/>
          </a:p>
        </p:txBody>
      </p:sp>
      <p:sp>
        <p:nvSpPr>
          <p:cNvPr id="12" name="Text 10"/>
          <p:cNvSpPr/>
          <p:nvPr/>
        </p:nvSpPr>
        <p:spPr>
          <a:xfrm>
            <a:off x="502920" y="1737360"/>
            <a:ext cx="8138160" cy="420624"/>
          </a:xfrm>
          <a:prstGeom prst="rect">
            <a:avLst/>
          </a:prstGeom>
          <a:noFill/>
          <a:ln/>
        </p:spPr>
        <p:txBody>
          <a:bodyPr wrap="square" lIns="0" tIns="0" rIns="0" bIns="0" rtlCol="0" anchor="t"/>
          <a:lstStyle/>
          <a:p>
            <a:pPr algn="l" indent="0" marL="0">
              <a:buNone/>
            </a:pPr>
            <a:r>
              <a:rPr lang="en-US" sz="1100" i="1" dirty="0">
                <a:solidFill>
                  <a:srgbClr val="7A88A8"/>
                </a:solidFill>
                <a:latin typeface="Calibri" pitchFamily="34" charset="0"/>
                <a:ea typeface="Calibri" pitchFamily="34" charset="-122"/>
                <a:cs typeface="Calibri" pitchFamily="34" charset="-120"/>
              </a:rPr>
              <a:t>Historians use God, Gold, and Glory because they describe the actual purposes — religion, wealth, and honor — not just adventure.</a:t>
            </a:r>
            <a:endParaRPr lang="en-US" sz="1100" dirty="0"/>
          </a:p>
        </p:txBody>
      </p:sp>
      <p:sp>
        <p:nvSpPr>
          <p:cNvPr id="13" name="Shape 11"/>
          <p:cNvSpPr/>
          <p:nvPr/>
        </p:nvSpPr>
        <p:spPr>
          <a:xfrm>
            <a:off x="365760" y="2322576"/>
            <a:ext cx="8412480" cy="1097280"/>
          </a:xfrm>
          <a:prstGeom prst="roundRect">
            <a:avLst>
              <a:gd name="adj" fmla="val 8333"/>
            </a:avLst>
          </a:prstGeom>
          <a:solidFill>
            <a:srgbClr val="FFFFFF"/>
          </a:solidFill>
          <a:ln w="12700">
            <a:solidFill>
              <a:srgbClr val="B0B8CC"/>
            </a:solidFill>
            <a:prstDash val="solid"/>
          </a:ln>
        </p:spPr>
      </p:sp>
      <p:sp>
        <p:nvSpPr>
          <p:cNvPr id="14" name="Text 12"/>
          <p:cNvSpPr/>
          <p:nvPr/>
        </p:nvSpPr>
        <p:spPr>
          <a:xfrm>
            <a:off x="502920" y="2377440"/>
            <a:ext cx="8138160" cy="274320"/>
          </a:xfrm>
          <a:prstGeom prst="rect">
            <a:avLst/>
          </a:prstGeom>
          <a:noFill/>
          <a:ln/>
        </p:spPr>
        <p:txBody>
          <a:bodyPr wrap="square" lIns="0" tIns="0" rIns="0" bIns="0" rtlCol="0" anchor="t"/>
          <a:lstStyle/>
          <a:p>
            <a:pPr algn="l" indent="0" marL="0">
              <a:buNone/>
            </a:pPr>
            <a:r>
              <a:rPr lang="en-US" sz="1200" b="1" dirty="0">
                <a:solidFill>
                  <a:srgbClr val="0E1C42"/>
                </a:solidFill>
                <a:latin typeface="Calibri" pitchFamily="34" charset="0"/>
                <a:ea typeface="Calibri" pitchFamily="34" charset="-122"/>
                <a:cs typeface="Calibri" pitchFamily="34" charset="-120"/>
              </a:rPr>
              <a:t>2.  What was the GOLD motive about?</a:t>
            </a:r>
            <a:endParaRPr lang="en-US" sz="1200" dirty="0"/>
          </a:p>
        </p:txBody>
      </p:sp>
      <p:sp>
        <p:nvSpPr>
          <p:cNvPr id="15" name="Shape 13"/>
          <p:cNvSpPr/>
          <p:nvPr/>
        </p:nvSpPr>
        <p:spPr>
          <a:xfrm>
            <a:off x="502920" y="2688336"/>
            <a:ext cx="3749040" cy="219456"/>
          </a:xfrm>
          <a:prstGeom prst="roundRect">
            <a:avLst>
              <a:gd name="adj" fmla="val 25000"/>
            </a:avLst>
          </a:prstGeom>
          <a:solidFill>
            <a:srgbClr val="E8636B"/>
          </a:solidFill>
          <a:ln w="12700">
            <a:solidFill>
              <a:srgbClr val="E8636B"/>
            </a:solidFill>
            <a:prstDash val="solid"/>
          </a:ln>
        </p:spPr>
      </p:sp>
      <p:sp>
        <p:nvSpPr>
          <p:cNvPr id="16" name="Text 14"/>
          <p:cNvSpPr/>
          <p:nvPr/>
        </p:nvSpPr>
        <p:spPr>
          <a:xfrm>
            <a:off x="530352" y="2688336"/>
            <a:ext cx="3694176" cy="219456"/>
          </a:xfrm>
          <a:prstGeom prst="rect">
            <a:avLst/>
          </a:prstGeom>
          <a:noFill/>
          <a:ln/>
        </p:spPr>
        <p:txBody>
          <a:bodyPr wrap="square" lIns="25400" tIns="25400" rIns="25400" bIns="2540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WRONG: B — Building mission churches</a:t>
            </a:r>
            <a:endParaRPr lang="en-US" sz="1000" dirty="0"/>
          </a:p>
        </p:txBody>
      </p:sp>
      <p:sp>
        <p:nvSpPr>
          <p:cNvPr id="17" name="Shape 15"/>
          <p:cNvSpPr/>
          <p:nvPr/>
        </p:nvSpPr>
        <p:spPr>
          <a:xfrm>
            <a:off x="4343400" y="2688336"/>
            <a:ext cx="4389120" cy="219456"/>
          </a:xfrm>
          <a:prstGeom prst="roundRect">
            <a:avLst>
              <a:gd name="adj" fmla="val 25000"/>
            </a:avLst>
          </a:prstGeom>
          <a:solidFill>
            <a:srgbClr val="34B76F"/>
          </a:solidFill>
          <a:ln w="12700">
            <a:solidFill>
              <a:srgbClr val="34B76F"/>
            </a:solidFill>
            <a:prstDash val="solid"/>
          </a:ln>
        </p:spPr>
      </p:sp>
      <p:sp>
        <p:nvSpPr>
          <p:cNvPr id="18" name="Text 16"/>
          <p:cNvSpPr/>
          <p:nvPr/>
        </p:nvSpPr>
        <p:spPr>
          <a:xfrm>
            <a:off x="4370832" y="2688336"/>
            <a:ext cx="4334256" cy="219456"/>
          </a:xfrm>
          <a:prstGeom prst="rect">
            <a:avLst/>
          </a:prstGeom>
          <a:noFill/>
          <a:ln/>
        </p:spPr>
        <p:txBody>
          <a:bodyPr wrap="square" lIns="25400" tIns="25400" rIns="25400" bIns="2540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RIGHT: A — Searching for silver, gold, and other wealth to send back to Spain</a:t>
            </a:r>
            <a:endParaRPr lang="en-US" sz="1000" dirty="0"/>
          </a:p>
        </p:txBody>
      </p:sp>
      <p:sp>
        <p:nvSpPr>
          <p:cNvPr id="19" name="Text 17"/>
          <p:cNvSpPr/>
          <p:nvPr/>
        </p:nvSpPr>
        <p:spPr>
          <a:xfrm>
            <a:off x="502920" y="2944368"/>
            <a:ext cx="8138160" cy="420624"/>
          </a:xfrm>
          <a:prstGeom prst="rect">
            <a:avLst/>
          </a:prstGeom>
          <a:noFill/>
          <a:ln/>
        </p:spPr>
        <p:txBody>
          <a:bodyPr wrap="square" lIns="0" tIns="0" rIns="0" bIns="0" rtlCol="0" anchor="t"/>
          <a:lstStyle/>
          <a:p>
            <a:pPr algn="l" indent="0" marL="0">
              <a:buNone/>
            </a:pPr>
            <a:r>
              <a:rPr lang="en-US" sz="1100" i="1" dirty="0">
                <a:solidFill>
                  <a:srgbClr val="7A88A8"/>
                </a:solidFill>
                <a:latin typeface="Calibri" pitchFamily="34" charset="0"/>
                <a:ea typeface="Calibri" pitchFamily="34" charset="-122"/>
                <a:cs typeface="Calibri" pitchFamily="34" charset="-120"/>
              </a:rPr>
              <a:t>Gold meant wealth. De Soto marched for three years searching for cities of gold that did not exist.</a:t>
            </a:r>
            <a:endParaRPr lang="en-US" sz="1100" dirty="0"/>
          </a:p>
        </p:txBody>
      </p:sp>
      <p:sp>
        <p:nvSpPr>
          <p:cNvPr id="20" name="Shape 18"/>
          <p:cNvSpPr/>
          <p:nvPr/>
        </p:nvSpPr>
        <p:spPr>
          <a:xfrm>
            <a:off x="365760" y="3529584"/>
            <a:ext cx="8412480" cy="1097280"/>
          </a:xfrm>
          <a:prstGeom prst="roundRect">
            <a:avLst>
              <a:gd name="adj" fmla="val 8333"/>
            </a:avLst>
          </a:prstGeom>
          <a:solidFill>
            <a:srgbClr val="FFFFFF"/>
          </a:solidFill>
          <a:ln w="12700">
            <a:solidFill>
              <a:srgbClr val="B0B8CC"/>
            </a:solidFill>
            <a:prstDash val="solid"/>
          </a:ln>
        </p:spPr>
      </p:sp>
      <p:sp>
        <p:nvSpPr>
          <p:cNvPr id="21" name="Text 19"/>
          <p:cNvSpPr/>
          <p:nvPr/>
        </p:nvSpPr>
        <p:spPr>
          <a:xfrm>
            <a:off x="502920" y="3584448"/>
            <a:ext cx="8138160" cy="274320"/>
          </a:xfrm>
          <a:prstGeom prst="rect">
            <a:avLst/>
          </a:prstGeom>
          <a:noFill/>
          <a:ln/>
        </p:spPr>
        <p:txBody>
          <a:bodyPr wrap="square" lIns="0" tIns="0" rIns="0" bIns="0" rtlCol="0" anchor="t"/>
          <a:lstStyle/>
          <a:p>
            <a:pPr algn="l" indent="0" marL="0">
              <a:buNone/>
            </a:pPr>
            <a:r>
              <a:rPr lang="en-US" sz="1200" b="1" dirty="0">
                <a:solidFill>
                  <a:srgbClr val="0E1C42"/>
                </a:solidFill>
                <a:latin typeface="Calibri" pitchFamily="34" charset="0"/>
                <a:ea typeface="Calibri" pitchFamily="34" charset="-122"/>
                <a:cs typeface="Calibri" pitchFamily="34" charset="-120"/>
              </a:rPr>
              <a:t>3.  Why is using a Virtue Lens helpful when studying the explorers' courage?</a:t>
            </a:r>
            <a:endParaRPr lang="en-US" sz="1200" dirty="0"/>
          </a:p>
        </p:txBody>
      </p:sp>
      <p:sp>
        <p:nvSpPr>
          <p:cNvPr id="22" name="Shape 20"/>
          <p:cNvSpPr/>
          <p:nvPr/>
        </p:nvSpPr>
        <p:spPr>
          <a:xfrm>
            <a:off x="502920" y="3895344"/>
            <a:ext cx="3749040" cy="219456"/>
          </a:xfrm>
          <a:prstGeom prst="roundRect">
            <a:avLst>
              <a:gd name="adj" fmla="val 25000"/>
            </a:avLst>
          </a:prstGeom>
          <a:solidFill>
            <a:srgbClr val="E8636B"/>
          </a:solidFill>
          <a:ln w="12700">
            <a:solidFill>
              <a:srgbClr val="E8636B"/>
            </a:solidFill>
            <a:prstDash val="solid"/>
          </a:ln>
        </p:spPr>
      </p:sp>
      <p:sp>
        <p:nvSpPr>
          <p:cNvPr id="23" name="Text 21"/>
          <p:cNvSpPr/>
          <p:nvPr/>
        </p:nvSpPr>
        <p:spPr>
          <a:xfrm>
            <a:off x="530352" y="3895344"/>
            <a:ext cx="3694176" cy="219456"/>
          </a:xfrm>
          <a:prstGeom prst="rect">
            <a:avLst/>
          </a:prstGeom>
          <a:noFill/>
          <a:ln/>
        </p:spPr>
        <p:txBody>
          <a:bodyPr wrap="square" lIns="25400" tIns="25400" rIns="25400" bIns="2540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WRONG: A — It proves the explorers were not brave at all</a:t>
            </a:r>
            <a:endParaRPr lang="en-US" sz="1000" dirty="0"/>
          </a:p>
        </p:txBody>
      </p:sp>
      <p:sp>
        <p:nvSpPr>
          <p:cNvPr id="24" name="Shape 22"/>
          <p:cNvSpPr/>
          <p:nvPr/>
        </p:nvSpPr>
        <p:spPr>
          <a:xfrm>
            <a:off x="4343400" y="3895344"/>
            <a:ext cx="4389120" cy="219456"/>
          </a:xfrm>
          <a:prstGeom prst="roundRect">
            <a:avLst>
              <a:gd name="adj" fmla="val 25000"/>
            </a:avLst>
          </a:prstGeom>
          <a:solidFill>
            <a:srgbClr val="34B76F"/>
          </a:solidFill>
          <a:ln w="12700">
            <a:solidFill>
              <a:srgbClr val="34B76F"/>
            </a:solidFill>
            <a:prstDash val="solid"/>
          </a:ln>
        </p:spPr>
      </p:sp>
      <p:sp>
        <p:nvSpPr>
          <p:cNvPr id="25" name="Text 23"/>
          <p:cNvSpPr/>
          <p:nvPr/>
        </p:nvSpPr>
        <p:spPr>
          <a:xfrm>
            <a:off x="4370832" y="3895344"/>
            <a:ext cx="4334256" cy="219456"/>
          </a:xfrm>
          <a:prstGeom prst="rect">
            <a:avLst/>
          </a:prstGeom>
          <a:noFill/>
          <a:ln/>
        </p:spPr>
        <p:txBody>
          <a:bodyPr wrap="square" lIns="25400" tIns="25400" rIns="25400" bIns="25400" rtlCol="0" anchor="ctr"/>
          <a:lstStyle/>
          <a:p>
            <a:pPr algn="l" indent="0" marL="0">
              <a:buNone/>
            </a:pPr>
            <a:r>
              <a:rPr lang="en-US" sz="1000" dirty="0">
                <a:solidFill>
                  <a:srgbClr val="FFFFFF"/>
                </a:solidFill>
                <a:latin typeface="Calibri" pitchFamily="34" charset="0"/>
                <a:ea typeface="Calibri" pitchFamily="34" charset="-122"/>
                <a:cs typeface="Calibri" pitchFamily="34" charset="-120"/>
              </a:rPr>
              <a:t>RIGHT: B — It lets us see what their courage took AND what it cost the people they met</a:t>
            </a:r>
            <a:endParaRPr lang="en-US" sz="1000" dirty="0"/>
          </a:p>
        </p:txBody>
      </p:sp>
      <p:sp>
        <p:nvSpPr>
          <p:cNvPr id="26" name="Text 24"/>
          <p:cNvSpPr/>
          <p:nvPr/>
        </p:nvSpPr>
        <p:spPr>
          <a:xfrm>
            <a:off x="502920" y="4151376"/>
            <a:ext cx="8138160" cy="420624"/>
          </a:xfrm>
          <a:prstGeom prst="rect">
            <a:avLst/>
          </a:prstGeom>
          <a:noFill/>
          <a:ln/>
        </p:spPr>
        <p:txBody>
          <a:bodyPr wrap="square" lIns="0" tIns="0" rIns="0" bIns="0" rtlCol="0" anchor="t"/>
          <a:lstStyle/>
          <a:p>
            <a:pPr algn="l" indent="0" marL="0">
              <a:buNone/>
            </a:pPr>
            <a:r>
              <a:rPr lang="en-US" sz="1100" i="1" dirty="0">
                <a:solidFill>
                  <a:srgbClr val="7A88A8"/>
                </a:solidFill>
                <a:latin typeface="Calibri" pitchFamily="34" charset="0"/>
                <a:ea typeface="Calibri" pitchFamily="34" charset="-122"/>
                <a:cs typeface="Calibri" pitchFamily="34" charset="-120"/>
              </a:rPr>
              <a:t>A Virtue Lens shows both halves — the courage of the voyage AND the cost to the Calusa, Timucua, Apalachee, and Tequesta.</a:t>
            </a:r>
            <a:endParaRPr lang="en-US" sz="11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0B1835"/>
          </a:solidFill>
          <a:ln w="19050">
            <a:solidFill>
              <a:srgbClr val="3A5080"/>
            </a:solidFill>
            <a:prstDash val="dash"/>
          </a:ln>
        </p:spPr>
      </p:sp>
      <p:sp>
        <p:nvSpPr>
          <p:cNvPr id="3" name="Shape 1"/>
          <p:cNvSpPr/>
          <p:nvPr/>
        </p:nvSpPr>
        <p:spPr>
          <a:xfrm>
            <a:off x="0" y="0"/>
            <a:ext cx="9144000" cy="5143500"/>
          </a:xfrm>
          <a:prstGeom prst="rect">
            <a:avLst/>
          </a:prstGeom>
          <a:solidFill>
            <a:srgbClr val="0E1C42">
              <a:alpha val="62000"/>
            </a:srgbClr>
          </a:solidFill>
          <a:ln/>
        </p:spPr>
      </p:sp>
      <p:sp>
        <p:nvSpPr>
          <p:cNvPr id="4" name="Shape 2"/>
          <p:cNvSpPr/>
          <p:nvPr/>
        </p:nvSpPr>
        <p:spPr>
          <a:xfrm>
            <a:off x="457200" y="274320"/>
            <a:ext cx="3200400" cy="402336"/>
          </a:xfrm>
          <a:prstGeom prst="roundRect">
            <a:avLst>
              <a:gd name="adj" fmla="val 22727"/>
            </a:avLst>
          </a:prstGeom>
          <a:solidFill>
            <a:srgbClr val="34B76F"/>
          </a:solidFill>
          <a:ln w="12700">
            <a:solidFill>
              <a:srgbClr val="34B76F"/>
            </a:solidFill>
            <a:prstDash val="solid"/>
          </a:ln>
        </p:spPr>
      </p:sp>
      <p:sp>
        <p:nvSpPr>
          <p:cNvPr id="5" name="Text 3"/>
          <p:cNvSpPr/>
          <p:nvPr/>
        </p:nvSpPr>
        <p:spPr>
          <a:xfrm>
            <a:off x="457200" y="274320"/>
            <a:ext cx="3200400" cy="402336"/>
          </a:xfrm>
          <a:prstGeom prst="rect">
            <a:avLst/>
          </a:prstGeom>
          <a:noFill/>
          <a:ln/>
        </p:spPr>
        <p:txBody>
          <a:bodyPr wrap="square" lIns="0" tIns="0" rIns="0" bIns="0" rtlCol="0" anchor="ctr"/>
          <a:lstStyle/>
          <a:p>
            <a:pPr algn="ctr" indent="0" marL="0">
              <a:buNone/>
            </a:pPr>
            <a:r>
              <a:rPr lang="en-US" sz="1400" b="1" spc="200" kern="0" dirty="0">
                <a:solidFill>
                  <a:srgbClr val="FFFFFF"/>
                </a:solidFill>
                <a:latin typeface="Calibri" pitchFamily="34" charset="0"/>
                <a:ea typeface="Calibri" pitchFamily="34" charset="-122"/>
                <a:cs typeface="Calibri" pitchFamily="34" charset="-120"/>
              </a:rPr>
              <a:t>FILE SAVED</a:t>
            </a:r>
            <a:endParaRPr lang="en-US" sz="1400" dirty="0"/>
          </a:p>
        </p:txBody>
      </p:sp>
      <p:sp>
        <p:nvSpPr>
          <p:cNvPr id="6" name="Text 4"/>
          <p:cNvSpPr/>
          <p:nvPr/>
        </p:nvSpPr>
        <p:spPr>
          <a:xfrm>
            <a:off x="457200" y="822960"/>
            <a:ext cx="8229600" cy="658368"/>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The Motives Chart Is Filled In</a:t>
            </a:r>
            <a:endParaRPr lang="en-US" sz="3200" dirty="0"/>
          </a:p>
        </p:txBody>
      </p:sp>
      <p:sp>
        <p:nvSpPr>
          <p:cNvPr id="7" name="Shape 5"/>
          <p:cNvSpPr/>
          <p:nvPr/>
        </p:nvSpPr>
        <p:spPr>
          <a:xfrm>
            <a:off x="457200" y="1554480"/>
            <a:ext cx="7772400" cy="36576"/>
          </a:xfrm>
          <a:prstGeom prst="rect">
            <a:avLst/>
          </a:prstGeom>
          <a:solidFill>
            <a:srgbClr val="D4943A"/>
          </a:solidFill>
          <a:ln w="12700">
            <a:solidFill>
              <a:srgbClr val="D4943A"/>
            </a:solidFill>
            <a:prstDash val="solid"/>
          </a:ln>
        </p:spPr>
      </p:sp>
      <p:sp>
        <p:nvSpPr>
          <p:cNvPr id="8" name="Shape 6"/>
          <p:cNvSpPr/>
          <p:nvPr/>
        </p:nvSpPr>
        <p:spPr>
          <a:xfrm>
            <a:off x="457200" y="1691640"/>
            <a:ext cx="8046720" cy="1188720"/>
          </a:xfrm>
          <a:prstGeom prst="roundRect">
            <a:avLst>
              <a:gd name="adj" fmla="val 10769"/>
            </a:avLst>
          </a:prstGeom>
          <a:solidFill>
            <a:srgbClr val="1A2D5A"/>
          </a:solidFill>
          <a:ln w="19050">
            <a:solidFill>
              <a:srgbClr val="55C8E8"/>
            </a:solidFill>
            <a:prstDash val="solid"/>
          </a:ln>
        </p:spPr>
      </p:sp>
      <p:sp>
        <p:nvSpPr>
          <p:cNvPr id="9" name="Text 7"/>
          <p:cNvSpPr/>
          <p:nvPr/>
        </p:nvSpPr>
        <p:spPr>
          <a:xfrm>
            <a:off x="640080" y="1755648"/>
            <a:ext cx="7589520" cy="1042416"/>
          </a:xfrm>
          <a:prstGeom prst="rect">
            <a:avLst/>
          </a:prstGeom>
          <a:noFill/>
          <a:ln/>
        </p:spPr>
        <p:txBody>
          <a:bodyPr wrap="square" lIns="0" tIns="0" rIns="0" bIns="0" rtlCol="0" anchor="t"/>
          <a:lstStyle/>
          <a:p>
            <a:pPr algn="l" indent="0" marL="0">
              <a:buNone/>
            </a:pPr>
            <a:r>
              <a:rPr lang="en-US" sz="1400" i="1" dirty="0">
                <a:solidFill>
                  <a:srgbClr val="F0F2F8"/>
                </a:solidFill>
                <a:latin typeface="Calibri" pitchFamily="34" charset="0"/>
                <a:ea typeface="Calibri" pitchFamily="34" charset="-122"/>
                <a:cs typeface="Calibri" pitchFamily="34" charset="-120"/>
              </a:rPr>
              <a:t>Good news from inside Canvas — you did it. The motives chart is filled in and the file is unlocked. European expeditions were shaped by motives such as wealth, trade, land, religion, and power. The course path is one step clearer.</a:t>
            </a:r>
            <a:endParaRPr lang="en-US" sz="1400" dirty="0"/>
          </a:p>
          <a:p>
            <a:pPr algn="l" indent="0" marL="0">
              <a:buNone/>
            </a:pPr>
            <a:r>
              <a:rPr lang="en-US" sz="1400" i="1" dirty="0">
                <a:solidFill>
                  <a:srgbClr val="F0F2F8"/>
                </a:solidFill>
                <a:latin typeface="Calibri" pitchFamily="34" charset="0"/>
                <a:ea typeface="Calibri" pitchFamily="34" charset="-122"/>
                <a:cs typeface="Calibri" pitchFamily="34" charset="-120"/>
              </a:rPr>
              <a:t>— Your teacher, Episode 4 of 13</a:t>
            </a:r>
            <a:endParaRPr lang="en-US" sz="1400" dirty="0"/>
          </a:p>
        </p:txBody>
      </p:sp>
      <p:sp>
        <p:nvSpPr>
          <p:cNvPr id="10" name="Shape 8"/>
          <p:cNvSpPr/>
          <p:nvPr/>
        </p:nvSpPr>
        <p:spPr>
          <a:xfrm>
            <a:off x="457200" y="2999232"/>
            <a:ext cx="8046720" cy="868680"/>
          </a:xfrm>
          <a:prstGeom prst="roundRect">
            <a:avLst>
              <a:gd name="adj" fmla="val 14737"/>
            </a:avLst>
          </a:prstGeom>
          <a:solidFill>
            <a:srgbClr val="0B1835"/>
          </a:solidFill>
          <a:ln w="25400">
            <a:solidFill>
              <a:srgbClr val="D4943A"/>
            </a:solidFill>
            <a:prstDash val="solid"/>
          </a:ln>
        </p:spPr>
      </p:sp>
      <p:sp>
        <p:nvSpPr>
          <p:cNvPr id="11" name="Text 9"/>
          <p:cNvSpPr/>
          <p:nvPr/>
        </p:nvSpPr>
        <p:spPr>
          <a:xfrm>
            <a:off x="640080" y="3044952"/>
            <a:ext cx="2743200" cy="256032"/>
          </a:xfrm>
          <a:prstGeom prst="rect">
            <a:avLst/>
          </a:prstGeom>
          <a:noFill/>
          <a:ln/>
        </p:spPr>
        <p:txBody>
          <a:bodyPr wrap="square" lIns="0" tIns="0" rIns="0" bIns="0" rtlCol="0" anchor="ctr"/>
          <a:lstStyle/>
          <a:p>
            <a:pPr indent="0" marL="0">
              <a:buNone/>
            </a:pPr>
            <a:r>
              <a:rPr lang="en-US" sz="900" b="1" spc="150" kern="0" dirty="0">
                <a:solidFill>
                  <a:srgbClr val="D4943A"/>
                </a:solidFill>
                <a:latin typeface="Calibri" pitchFamily="34" charset="0"/>
                <a:ea typeface="Calibri" pitchFamily="34" charset="-122"/>
                <a:cs typeface="Calibri" pitchFamily="34" charset="-120"/>
              </a:rPr>
              <a:t>TODAY'S INSIGHT</a:t>
            </a:r>
            <a:endParaRPr lang="en-US" sz="900" dirty="0"/>
          </a:p>
        </p:txBody>
      </p:sp>
      <p:sp>
        <p:nvSpPr>
          <p:cNvPr id="12" name="Text 10"/>
          <p:cNvSpPr/>
          <p:nvPr/>
        </p:nvSpPr>
        <p:spPr>
          <a:xfrm>
            <a:off x="640080" y="3319272"/>
            <a:ext cx="7498080" cy="475488"/>
          </a:xfrm>
          <a:prstGeom prst="rect">
            <a:avLst/>
          </a:prstGeom>
          <a:noFill/>
          <a:ln/>
        </p:spPr>
        <p:txBody>
          <a:bodyPr wrap="square" lIns="0" tIns="0" rIns="0" bIns="0" rtlCol="0" anchor="t"/>
          <a:lstStyle/>
          <a:p>
            <a:pPr algn="l" indent="0" marL="0">
              <a:buNone/>
            </a:pPr>
            <a:r>
              <a:rPr lang="en-US" sz="1400" b="1" dirty="0">
                <a:solidFill>
                  <a:srgbClr val="FFFFFF"/>
                </a:solidFill>
                <a:latin typeface="Cambria" pitchFamily="34" charset="0"/>
                <a:ea typeface="Cambria" pitchFamily="34" charset="-122"/>
                <a:cs typeface="Cambria" pitchFamily="34" charset="-120"/>
              </a:rPr>
              <a:t>When we name the real motives — not just 'adventure' — we can explain why first contact so often led to harm. Honest history names both what courage took AND what it cost.</a:t>
            </a:r>
            <a:endParaRPr lang="en-US" sz="1400" dirty="0"/>
          </a:p>
        </p:txBody>
      </p:sp>
      <p:sp>
        <p:nvSpPr>
          <p:cNvPr id="13" name="Shape 11"/>
          <p:cNvSpPr/>
          <p:nvPr/>
        </p:nvSpPr>
        <p:spPr>
          <a:xfrm>
            <a:off x="457200" y="3931920"/>
            <a:ext cx="8046720" cy="658368"/>
          </a:xfrm>
          <a:prstGeom prst="roundRect">
            <a:avLst>
              <a:gd name="adj" fmla="val 13889"/>
            </a:avLst>
          </a:prstGeom>
          <a:solidFill>
            <a:srgbClr val="1A2D5A"/>
          </a:solidFill>
          <a:ln w="12700">
            <a:solidFill>
              <a:srgbClr val="55C8E8"/>
            </a:solidFill>
            <a:prstDash val="solid"/>
          </a:ln>
        </p:spPr>
      </p:sp>
      <p:sp>
        <p:nvSpPr>
          <p:cNvPr id="14" name="Text 12"/>
          <p:cNvSpPr/>
          <p:nvPr/>
        </p:nvSpPr>
        <p:spPr>
          <a:xfrm>
            <a:off x="640080" y="3968496"/>
            <a:ext cx="3200400" cy="237744"/>
          </a:xfrm>
          <a:prstGeom prst="rect">
            <a:avLst/>
          </a:prstGeom>
          <a:noFill/>
          <a:ln/>
        </p:spPr>
        <p:txBody>
          <a:bodyPr wrap="square" lIns="0" tIns="0" rIns="0" bIns="0" rtlCol="0" anchor="ctr"/>
          <a:lstStyle/>
          <a:p>
            <a:pPr indent="0" marL="0">
              <a:buNone/>
            </a:pPr>
            <a:r>
              <a:rPr lang="en-US" sz="900" b="1" spc="100" kern="0" dirty="0">
                <a:solidFill>
                  <a:srgbClr val="55C8E8"/>
                </a:solidFill>
                <a:latin typeface="Calibri" pitchFamily="34" charset="0"/>
                <a:ea typeface="Calibri" pitchFamily="34" charset="-122"/>
                <a:cs typeface="Calibri" pitchFamily="34" charset="-120"/>
              </a:rPr>
              <a:t>COMING NEXT: Lesson 4.04.03</a:t>
            </a:r>
            <a:endParaRPr lang="en-US" sz="900" dirty="0"/>
          </a:p>
        </p:txBody>
      </p:sp>
      <p:sp>
        <p:nvSpPr>
          <p:cNvPr id="15" name="Text 13"/>
          <p:cNvSpPr/>
          <p:nvPr/>
        </p:nvSpPr>
        <p:spPr>
          <a:xfrm>
            <a:off x="640080" y="4206240"/>
            <a:ext cx="7315200" cy="329184"/>
          </a:xfrm>
          <a:prstGeom prst="rect">
            <a:avLst/>
          </a:prstGeom>
          <a:noFill/>
          <a:ln/>
        </p:spPr>
        <p:txBody>
          <a:bodyPr wrap="square" lIns="0" tIns="0" rIns="0" bIns="0" rtlCol="0" anchor="t"/>
          <a:lstStyle/>
          <a:p>
            <a:pPr algn="l" indent="0" marL="0">
              <a:buNone/>
            </a:pPr>
            <a:r>
              <a:rPr lang="en-US" sz="1300" i="1" dirty="0">
                <a:solidFill>
                  <a:srgbClr val="F0F2F8"/>
                </a:solidFill>
                <a:latin typeface="Calibri" pitchFamily="34" charset="0"/>
                <a:ea typeface="Calibri" pitchFamily="34" charset="-122"/>
                <a:cs typeface="Calibri" pitchFamily="34" charset="-120"/>
              </a:rPr>
              <a:t>Spain, France, and England in Florida — all three powers wanted the same coast. What happened when they collided?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21</Slides>
  <Notes>21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21</vt:i4>
      </vt:variant>
    </vt:vector>
  </HeadingPairs>
  <TitlesOfParts>
    <vt:vector size="2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Optima Academy Online</dc:creator>
  <cp:lastModifiedBy>Optima Academy Online</cp:lastModifiedBy>
  <cp:revision>1</cp:revision>
  <dcterms:created xsi:type="dcterms:W3CDTF">2026-07-14T00:34:19Z</dcterms:created>
  <dcterms:modified xsi:type="dcterms:W3CDTF">2026-07-14T00:34:19Z</dcterms:modified>
</cp:coreProperties>
</file>