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view of Florida peninsula showing ocean, sun rays, and storm clouds — dramatic mood, vibrant colors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mission brief aloud dramatically. Ask: What do you already know about weather vs. climate? Take 2-3 quick responses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briefly. Students should know where they're headed before 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map for 5 seconds without comment. Then ask: What do you see? What is this map measuring? Do NOT reveal yet whether it shows weather or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60 seconds to type in chat. Then cold-call 2-3 students for the follow-up: How is that DIFFERENT from a regular weather map? Don't resolve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Then confirm: Weather = today. Climate = the long pattern over years. Ask: How many years counts as climate? Usually 30+ years of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compare both maps simultaneously. Key question: Which map would a builder use? Which would a vacationer use?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evaluation -- not just classification. Push: Is knowing who made it enough to trust it? Coach: don't give the answer -- let students argue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all three. These are PATTERNS over time, not today's forecast. Hurricane season June-November is driven by warm ocean water -- geography shapes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pick specific cities: Pensacola (north) vs. Miami or Key West (south). Key teaching: Florida is not uniform -- geography shapes local climate even within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Primes assignment Q2 and the tricky one about one hot year vs. climate change. Let students disagree. Coach: What evidence would you need to say climate has changed -- not just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Transferable pattern: climate shapes life everywhere. Ask: What would change if Florida's climate suddenly became cold and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 Copywork sentence. Connect root to content: a thermometer measures the heat that IS part of every Florida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virtue slide directly primes assignment Q3. Ask: What does it mean to be responsible about something you cannot control? Let students share before moving to guided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think-aloud slowly and visibly. Point to each part of the structure as you name it. Tell students: In a moment you'll pick your OWN climate pattern and build this same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3-4 minutes. Ask 2-3 students to face the counterargument: What would someone who thinks daily weather matters more say? Don't rescue students from the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answer is deliberately vague -- not wrong, just unsupported. Students identify what's missing: specificity, climate data, evidence. Ask: How would YOU strengthen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Genuine argument -- both positions can be defended. Don't resolve it for students. Coach: What evidence does each side need? The POINT is that climate requires a pattern, not a single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answers first -- ask students to respond before revealing. Use call-and-response or quick chat. Then reveal. Ask: Did anything surprise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assignment question aloud before students begin. Q1 = map reading (primed slides 4-5). Q2 = discussed on slide 11. Q3 = virtue slide 14. Unlock Challenge is extension for early finishers.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view of Florida at sunset with storm clouds forming on one side and clear skies on the other -- representing the contrast of weather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164592" cy="5143500"/>
          </a:xfrm>
          <a:prstGeom prst="rect">
            <a:avLst/>
          </a:prstGeom>
          <a:solidFill>
            <a:srgbClr val="D4943A"/>
          </a:solidFill>
          <a:ln w="12700">
            <a:solidFill>
              <a:srgbClr val="D4943A"/>
            </a:solidFill>
            <a:prstDash val="solid"/>
          </a:ln>
        </p:spPr>
      </p:sp>
      <p:sp>
        <p:nvSpPr>
          <p:cNvPr id="6" name="Text 3"/>
          <p:cNvSpPr/>
          <p:nvPr/>
        </p:nvSpPr>
        <p:spPr>
          <a:xfrm>
            <a:off x="320040" y="292608"/>
            <a:ext cx="8503920" cy="256032"/>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LESSON 4.02.03  |  GRADE 4 SOCIAL STUDIES</a:t>
            </a:r>
            <a:endParaRPr lang="en-US" sz="900" dirty="0"/>
          </a:p>
        </p:txBody>
      </p:sp>
      <p:sp>
        <p:nvSpPr>
          <p:cNvPr id="7" name="Text 4"/>
          <p:cNvSpPr/>
          <p:nvPr/>
        </p:nvSpPr>
        <p:spPr>
          <a:xfrm>
            <a:off x="320040" y="658368"/>
            <a:ext cx="8503920" cy="1737360"/>
          </a:xfrm>
          <a:prstGeom prst="rect">
            <a:avLst/>
          </a:prstGeom>
          <a:noFill/>
          <a:ln/>
        </p:spPr>
        <p:txBody>
          <a:bodyPr wrap="square" lIns="0" tIns="0" rIns="0" bIns="0" rtlCol="0" anchor="ctr"/>
          <a:lstStyle/>
          <a:p>
            <a:pPr algn="l" indent="0" marL="0">
              <a:lnSpc>
                <a:spcPct val="110000"/>
              </a:lnSpc>
              <a:buNone/>
            </a:pPr>
            <a:r>
              <a:rPr lang="en-US" sz="4400" b="1" dirty="0">
                <a:solidFill>
                  <a:srgbClr val="FFFFFF"/>
                </a:solidFill>
                <a:latin typeface="Cambria" pitchFamily="34" charset="0"/>
                <a:ea typeface="Cambria" pitchFamily="34" charset="-122"/>
                <a:cs typeface="Cambria" pitchFamily="34" charset="-120"/>
              </a:rPr>
              <a:t>Weather and Climate</a:t>
            </a:r>
            <a:endParaRPr lang="en-US" sz="4400" dirty="0"/>
          </a:p>
          <a:p>
            <a:pPr algn="l" indent="0" marL="0">
              <a:lnSpc>
                <a:spcPct val="110000"/>
              </a:lnSpc>
              <a:buNone/>
            </a:pPr>
            <a:r>
              <a:rPr lang="en-US" sz="4400" b="1" dirty="0">
                <a:solidFill>
                  <a:srgbClr val="FFFFFF"/>
                </a:solidFill>
                <a:latin typeface="Cambria" pitchFamily="34" charset="0"/>
                <a:ea typeface="Cambria" pitchFamily="34" charset="-122"/>
                <a:cs typeface="Cambria" pitchFamily="34" charset="-120"/>
              </a:rPr>
              <a:t>of Florida</a:t>
            </a:r>
            <a:endParaRPr lang="en-US" sz="4400" dirty="0"/>
          </a:p>
        </p:txBody>
      </p:sp>
      <p:sp>
        <p:nvSpPr>
          <p:cNvPr id="8" name="Shape 5"/>
          <p:cNvSpPr/>
          <p:nvPr/>
        </p:nvSpPr>
        <p:spPr>
          <a:xfrm>
            <a:off x="320040" y="2487168"/>
            <a:ext cx="3840480" cy="45720"/>
          </a:xfrm>
          <a:prstGeom prst="rect">
            <a:avLst/>
          </a:prstGeom>
          <a:solidFill>
            <a:srgbClr val="D4943A"/>
          </a:solidFill>
          <a:ln w="12700">
            <a:solidFill>
              <a:srgbClr val="D4943A"/>
            </a:solidFill>
            <a:prstDash val="solid"/>
          </a:ln>
        </p:spPr>
      </p:sp>
      <p:sp>
        <p:nvSpPr>
          <p:cNvPr id="9" name="Text 6"/>
          <p:cNvSpPr/>
          <p:nvPr/>
        </p:nvSpPr>
        <p:spPr>
          <a:xfrm>
            <a:off x="320040" y="2606040"/>
            <a:ext cx="8503920" cy="256032"/>
          </a:xfrm>
          <a:prstGeom prst="rect">
            <a:avLst/>
          </a:prstGeom>
          <a:noFill/>
          <a:ln/>
        </p:spPr>
        <p:txBody>
          <a:bodyPr wrap="square" lIns="0" tIns="0" rIns="0" bIns="0" rtlCol="0" anchor="ctr"/>
          <a:lstStyle/>
          <a:p>
            <a:pPr indent="0" marL="0">
              <a:buNone/>
            </a:pPr>
            <a:r>
              <a:rPr lang="en-US" sz="1100" b="1" spc="100" kern="0" dirty="0">
                <a:solidFill>
                  <a:srgbClr val="D4943A"/>
                </a:solidFill>
                <a:latin typeface="Calibri" pitchFamily="34" charset="0"/>
                <a:ea typeface="Calibri" pitchFamily="34" charset="-122"/>
                <a:cs typeface="Calibri" pitchFamily="34" charset="-120"/>
              </a:rPr>
              <a:t>Big Question:</a:t>
            </a:r>
            <a:endParaRPr lang="en-US" sz="1100" dirty="0"/>
          </a:p>
        </p:txBody>
      </p:sp>
      <p:sp>
        <p:nvSpPr>
          <p:cNvPr id="10" name="Text 7"/>
          <p:cNvSpPr/>
          <p:nvPr/>
        </p:nvSpPr>
        <p:spPr>
          <a:xfrm>
            <a:off x="320040" y="2880360"/>
            <a:ext cx="8503920" cy="822960"/>
          </a:xfrm>
          <a:prstGeom prst="rect">
            <a:avLst/>
          </a:prstGeom>
          <a:noFill/>
          <a:ln/>
        </p:spPr>
        <p:txBody>
          <a:bodyPr wrap="square" lIns="0" tIns="0" rIns="0" bIns="0" rtlCol="0" anchor="ctr"/>
          <a:lstStyle/>
          <a:p>
            <a:pPr indent="0" marL="0">
              <a:lnSpc>
                <a:spcPct val="120000"/>
              </a:lnSpc>
              <a:buNone/>
            </a:pPr>
            <a:r>
              <a:rPr lang="en-US" sz="1500" i="1" dirty="0">
                <a:solidFill>
                  <a:srgbClr val="F0F2F8"/>
                </a:solidFill>
                <a:latin typeface="Cambria" pitchFamily="34" charset="0"/>
                <a:ea typeface="Cambria" pitchFamily="34" charset="-122"/>
                <a:cs typeface="Cambria" pitchFamily="34" charset="-120"/>
              </a:rPr>
              <a:t>What patterns of sun, rain, heat, and storms shape Florida—and how do we read them on a map?</a:t>
            </a:r>
            <a:endParaRPr lang="en-US" sz="1500" dirty="0"/>
          </a:p>
        </p:txBody>
      </p:sp>
      <p:sp>
        <p:nvSpPr>
          <p:cNvPr id="11" name="Shape 8"/>
          <p:cNvSpPr/>
          <p:nvPr/>
        </p:nvSpPr>
        <p:spPr>
          <a:xfrm>
            <a:off x="320040" y="3858768"/>
            <a:ext cx="3108960" cy="868680"/>
          </a:xfrm>
          <a:prstGeom prst="roundRect">
            <a:avLst>
              <a:gd name="adj" fmla="val 12632"/>
            </a:avLst>
          </a:prstGeom>
          <a:solidFill>
            <a:srgbClr val="1A2D5A"/>
          </a:solidFill>
          <a:ln w="12700">
            <a:solidFill>
              <a:srgbClr val="55C8E8"/>
            </a:solidFill>
            <a:prstDash val="solid"/>
          </a:ln>
        </p:spPr>
      </p:sp>
      <p:sp>
        <p:nvSpPr>
          <p:cNvPr id="12" name="Text 9"/>
          <p:cNvSpPr/>
          <p:nvPr/>
        </p:nvSpPr>
        <p:spPr>
          <a:xfrm>
            <a:off x="411480" y="3931920"/>
            <a:ext cx="2926080" cy="228600"/>
          </a:xfrm>
          <a:prstGeom prst="rect">
            <a:avLst/>
          </a:prstGeom>
          <a:noFill/>
          <a:ln/>
        </p:spPr>
        <p:txBody>
          <a:bodyPr wrap="square" lIns="0" tIns="0" rIns="0" bIns="0" rtlCol="0" anchor="ctr"/>
          <a:lstStyle/>
          <a:p>
            <a:pPr indent="0" marL="0">
              <a:buNone/>
            </a:pPr>
            <a:r>
              <a:rPr lang="en-US" sz="800" b="1" spc="200" kern="0" dirty="0">
                <a:solidFill>
                  <a:srgbClr val="55C8E8"/>
                </a:solidFill>
                <a:latin typeface="Calibri" pitchFamily="34" charset="0"/>
                <a:ea typeface="Calibri" pitchFamily="34" charset="-122"/>
                <a:cs typeface="Calibri" pitchFamily="34" charset="-120"/>
              </a:rPr>
              <a:t>FLORIDA FILES</a:t>
            </a:r>
            <a:endParaRPr lang="en-US" sz="800" dirty="0"/>
          </a:p>
        </p:txBody>
      </p:sp>
      <p:sp>
        <p:nvSpPr>
          <p:cNvPr id="13" name="Text 10"/>
          <p:cNvSpPr/>
          <p:nvPr/>
        </p:nvSpPr>
        <p:spPr>
          <a:xfrm>
            <a:off x="411480" y="4160520"/>
            <a:ext cx="2926080" cy="475488"/>
          </a:xfrm>
          <a:prstGeom prst="rect">
            <a:avLst/>
          </a:prstGeom>
          <a:noFill/>
          <a:ln/>
        </p:spPr>
        <p:txBody>
          <a:bodyPr wrap="square" lIns="0" tIns="0" rIns="0" bIns="0" rtlCol="0" anchor="ctr"/>
          <a:lstStyle/>
          <a:p>
            <a:pPr indent="0" marL="0">
              <a:buNone/>
            </a:pPr>
            <a:r>
              <a:rPr lang="en-US" sz="1300" dirty="0">
                <a:solidFill>
                  <a:srgbClr val="FFFFFF"/>
                </a:solidFill>
                <a:latin typeface="Cambria" pitchFamily="34" charset="0"/>
                <a:ea typeface="Cambria" pitchFamily="34" charset="-122"/>
                <a:cs typeface="Cambria" pitchFamily="34" charset="-120"/>
              </a:rPr>
              <a:t>Module 2 — Map Room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164592" cy="5143500"/>
          </a:xfrm>
          <a:prstGeom prst="rect">
            <a:avLst/>
          </a:prstGeom>
          <a:solidFill>
            <a:srgbClr val="D4943A"/>
          </a:solidFill>
          <a:ln w="12700">
            <a:solidFill>
              <a:srgbClr val="D4943A"/>
            </a:solidFill>
            <a:prstDash val="solid"/>
          </a:ln>
        </p:spPr>
      </p:sp>
      <p:sp>
        <p:nvSpPr>
          <p:cNvPr id="4" name="Text 2"/>
          <p:cNvSpPr/>
          <p:nvPr/>
        </p:nvSpPr>
        <p:spPr>
          <a:xfrm>
            <a:off x="320040" y="201168"/>
            <a:ext cx="8503920" cy="256032"/>
          </a:xfrm>
          <a:prstGeom prst="rect">
            <a:avLst/>
          </a:prstGeom>
          <a:noFill/>
          <a:ln/>
        </p:spPr>
        <p:txBody>
          <a:bodyPr wrap="square" lIns="0" tIns="0" rIns="0" bIns="0" rtlCol="0" anchor="ctr"/>
          <a:lstStyle/>
          <a:p>
            <a:pPr indent="0" marL="0">
              <a:buNone/>
            </a:pPr>
            <a:r>
              <a:rPr lang="en-US" sz="900" b="1" spc="200" kern="0" dirty="0">
                <a:solidFill>
                  <a:srgbClr val="D4943A"/>
                </a:solidFill>
                <a:latin typeface="Calibri" pitchFamily="34" charset="0"/>
                <a:ea typeface="Calibri" pitchFamily="34" charset="-122"/>
                <a:cs typeface="Calibri" pitchFamily="34" charset="-120"/>
              </a:rPr>
              <a:t>FLORIDA FILES  |  MISSION BRIEF</a:t>
            </a:r>
            <a:endParaRPr lang="en-US" sz="900" dirty="0"/>
          </a:p>
        </p:txBody>
      </p:sp>
      <p:sp>
        <p:nvSpPr>
          <p:cNvPr id="5" name="Shape 3"/>
          <p:cNvSpPr/>
          <p:nvPr/>
        </p:nvSpPr>
        <p:spPr>
          <a:xfrm>
            <a:off x="320040" y="548640"/>
            <a:ext cx="8503920" cy="2514600"/>
          </a:xfrm>
          <a:prstGeom prst="roundRect">
            <a:avLst>
              <a:gd name="adj" fmla="val 5455"/>
            </a:avLst>
          </a:prstGeom>
          <a:solidFill>
            <a:srgbClr val="1A2D5A"/>
          </a:solidFill>
          <a:ln w="12700">
            <a:solidFill>
              <a:srgbClr val="55C8E8"/>
            </a:solidFill>
            <a:prstDash val="solid"/>
          </a:ln>
        </p:spPr>
      </p:sp>
      <p:sp>
        <p:nvSpPr>
          <p:cNvPr id="6" name="Text 4"/>
          <p:cNvSpPr/>
          <p:nvPr/>
        </p:nvSpPr>
        <p:spPr>
          <a:xfrm>
            <a:off x="548640" y="685800"/>
            <a:ext cx="8046720" cy="365760"/>
          </a:xfrm>
          <a:prstGeom prst="rect">
            <a:avLst/>
          </a:prstGeom>
          <a:noFill/>
          <a:ln/>
        </p:spPr>
        <p:txBody>
          <a:bodyPr wrap="square" lIns="0" tIns="0" rIns="0" bIns="0" rtlCol="0" anchor="ctr"/>
          <a:lstStyle/>
          <a:p>
            <a:pPr indent="0" marL="0">
              <a:buNone/>
            </a:pPr>
            <a:r>
              <a:rPr lang="en-US" sz="1600" b="1" dirty="0">
                <a:solidFill>
                  <a:srgbClr val="55C8E8"/>
                </a:solidFill>
                <a:latin typeface="Cambria" pitchFamily="34" charset="0"/>
                <a:ea typeface="Cambria" pitchFamily="34" charset="-122"/>
                <a:cs typeface="Cambria" pitchFamily="34" charset="-120"/>
              </a:rPr>
              <a:t>Canvas has scrambled the Map Room's weather panel.</a:t>
            </a:r>
            <a:endParaRPr lang="en-US" sz="1600" dirty="0"/>
          </a:p>
        </p:txBody>
      </p:sp>
      <p:sp>
        <p:nvSpPr>
          <p:cNvPr id="7" name="Text 5"/>
          <p:cNvSpPr/>
          <p:nvPr/>
        </p:nvSpPr>
        <p:spPr>
          <a:xfrm>
            <a:off x="548640" y="1115568"/>
            <a:ext cx="8046720" cy="1719072"/>
          </a:xfrm>
          <a:prstGeom prst="rect">
            <a:avLst/>
          </a:prstGeom>
          <a:noFill/>
          <a:ln/>
        </p:spPr>
        <p:txBody>
          <a:bodyPr wrap="square" lIns="0" tIns="0" rIns="0" bIns="0" rtlCol="0" anchor="t"/>
          <a:lstStyle/>
          <a:p>
            <a:pPr indent="0" marL="0">
              <a:lnSpc>
                <a:spcPct val="130000"/>
              </a:lnSpc>
              <a:buNone/>
            </a:pPr>
            <a:r>
              <a:rPr lang="en-US" sz="1300" i="1" dirty="0">
                <a:solidFill>
                  <a:srgbClr val="F0F2F8"/>
                </a:solidFill>
                <a:latin typeface="Cambria" pitchFamily="34" charset="0"/>
                <a:ea typeface="Cambria" pitchFamily="34" charset="-122"/>
                <a:cs typeface="Cambria" pitchFamily="34" charset="-120"/>
              </a:rPr>
              <a:t>It's mixing up daily weather conditions with long-term climate patterns—and I can't sort them from in here. Florida's geography file won't open until someone untangles the two.</a:t>
            </a:r>
            <a:endParaRPr lang="en-US" sz="1300" dirty="0"/>
          </a:p>
          <a:p>
            <a:pPr indent="0" marL="0">
              <a:lnSpc>
                <a:spcPct val="130000"/>
              </a:lnSpc>
              <a:buNone/>
            </a:pPr>
            <a:endParaRPr lang="en-US" sz="1300" dirty="0"/>
          </a:p>
          <a:p>
            <a:pPr indent="0" marL="0">
              <a:lnSpc>
                <a:spcPct val="130000"/>
              </a:lnSpc>
              <a:buNone/>
            </a:pPr>
            <a:r>
              <a:rPr lang="en-US" sz="1300" i="1" dirty="0">
                <a:solidFill>
                  <a:srgbClr val="F0F2F8"/>
                </a:solidFill>
                <a:latin typeface="Cambria" pitchFamily="34" charset="0"/>
                <a:ea typeface="Cambria" pitchFamily="34" charset="-122"/>
                <a:cs typeface="Cambria" pitchFamily="34" charset="-120"/>
              </a:rPr>
              <a:t>Help me get this right: study the climate map, figure out what makes weather different from climate, and unlock the panel.</a:t>
            </a:r>
            <a:endParaRPr lang="en-US" sz="1300" dirty="0"/>
          </a:p>
        </p:txBody>
      </p:sp>
      <p:sp>
        <p:nvSpPr>
          <p:cNvPr id="8" name="Text 6"/>
          <p:cNvSpPr/>
          <p:nvPr/>
        </p:nvSpPr>
        <p:spPr>
          <a:xfrm>
            <a:off x="548640" y="2880360"/>
            <a:ext cx="8046720" cy="274320"/>
          </a:xfrm>
          <a:prstGeom prst="rect">
            <a:avLst/>
          </a:prstGeom>
          <a:noFill/>
          <a:ln/>
        </p:spPr>
        <p:txBody>
          <a:bodyPr wrap="square" lIns="0" tIns="0" rIns="0" bIns="0" rtlCol="0" anchor="ctr"/>
          <a:lstStyle/>
          <a:p>
            <a:pPr algn="r" indent="0" marL="0">
              <a:buNone/>
            </a:pPr>
            <a:r>
              <a:rPr lang="en-US" sz="1100" i="1" dirty="0">
                <a:solidFill>
                  <a:srgbClr val="D4943A"/>
                </a:solidFill>
                <a:latin typeface="Cambria" pitchFamily="34" charset="0"/>
                <a:ea typeface="Cambria" pitchFamily="34" charset="-122"/>
                <a:cs typeface="Cambria" pitchFamily="34" charset="-120"/>
              </a:rPr>
              <a:t>— Your teacher, still inside Module 2</a:t>
            </a:r>
            <a:endParaRPr lang="en-US" sz="1100" dirty="0"/>
          </a:p>
        </p:txBody>
      </p:sp>
      <p:sp>
        <p:nvSpPr>
          <p:cNvPr id="9" name="Shape 7"/>
          <p:cNvSpPr/>
          <p:nvPr/>
        </p:nvSpPr>
        <p:spPr>
          <a:xfrm>
            <a:off x="320040" y="3246120"/>
            <a:ext cx="8503920" cy="1417320"/>
          </a:xfrm>
          <a:prstGeom prst="roundRect">
            <a:avLst>
              <a:gd name="adj" fmla="val 7742"/>
            </a:avLst>
          </a:prstGeom>
          <a:solidFill>
            <a:srgbClr val="D4943A">
              <a:alpha val="15000"/>
            </a:srgbClr>
          </a:solidFill>
          <a:ln w="19050">
            <a:solidFill>
              <a:srgbClr val="D4943A"/>
            </a:solidFill>
            <a:prstDash val="solid"/>
          </a:ln>
        </p:spPr>
      </p:sp>
      <p:sp>
        <p:nvSpPr>
          <p:cNvPr id="10" name="Text 8"/>
          <p:cNvSpPr/>
          <p:nvPr/>
        </p:nvSpPr>
        <p:spPr>
          <a:xfrm>
            <a:off x="502920" y="3337560"/>
            <a:ext cx="8138160" cy="256032"/>
          </a:xfrm>
          <a:prstGeom prst="rect">
            <a:avLst/>
          </a:prstGeom>
          <a:noFill/>
          <a:ln/>
        </p:spPr>
        <p:txBody>
          <a:bodyPr wrap="square" lIns="0" tIns="0" rIns="0" bIns="0" rtlCol="0" anchor="ctr"/>
          <a:lstStyle/>
          <a:p>
            <a:pPr indent="0" marL="0">
              <a:buNone/>
            </a:pPr>
            <a:r>
              <a:rPr lang="en-US" sz="900" b="1" spc="200" kern="0" dirty="0">
                <a:solidFill>
                  <a:srgbClr val="D4943A"/>
                </a:solidFill>
                <a:latin typeface="Calibri" pitchFamily="34" charset="0"/>
                <a:ea typeface="Calibri" pitchFamily="34" charset="-122"/>
                <a:cs typeface="Calibri" pitchFamily="34" charset="-120"/>
              </a:rPr>
              <a:t>YOUR MISSION</a:t>
            </a:r>
            <a:endParaRPr lang="en-US" sz="900" dirty="0"/>
          </a:p>
        </p:txBody>
      </p:sp>
      <p:sp>
        <p:nvSpPr>
          <p:cNvPr id="11" name="Text 9"/>
          <p:cNvSpPr/>
          <p:nvPr/>
        </p:nvSpPr>
        <p:spPr>
          <a:xfrm>
            <a:off x="502920" y="3639312"/>
            <a:ext cx="8138160" cy="86868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Untangle weather from climate. Read the map. Unlock the panel.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D4943A"/>
          </a:solidFill>
          <a:ln w="12700">
            <a:solidFill>
              <a:srgbClr val="D4943A"/>
            </a:solidFill>
            <a:prstDash val="solid"/>
          </a:ln>
        </p:spPr>
      </p:sp>
      <p:sp>
        <p:nvSpPr>
          <p:cNvPr id="4" name="Text 2"/>
          <p:cNvSpPr/>
          <p:nvPr/>
        </p:nvSpPr>
        <p:spPr>
          <a:xfrm>
            <a:off x="320040" y="201168"/>
            <a:ext cx="822960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TODAY'S PATH</a:t>
            </a:r>
            <a:endParaRPr lang="en-US" sz="900" dirty="0"/>
          </a:p>
        </p:txBody>
      </p:sp>
      <p:sp>
        <p:nvSpPr>
          <p:cNvPr id="5" name="Text 3"/>
          <p:cNvSpPr/>
          <p:nvPr/>
        </p:nvSpPr>
        <p:spPr>
          <a:xfrm>
            <a:off x="320040" y="530352"/>
            <a:ext cx="8229600" cy="50292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How We'll Unlock the Panel</a:t>
            </a:r>
            <a:endParaRPr lang="en-US" sz="2600" dirty="0"/>
          </a:p>
        </p:txBody>
      </p:sp>
      <p:sp>
        <p:nvSpPr>
          <p:cNvPr id="6" name="Shape 4"/>
          <p:cNvSpPr/>
          <p:nvPr/>
        </p:nvSpPr>
        <p:spPr>
          <a:xfrm>
            <a:off x="320040" y="1097280"/>
            <a:ext cx="3474720" cy="36576"/>
          </a:xfrm>
          <a:prstGeom prst="rect">
            <a:avLst/>
          </a:prstGeom>
          <a:solidFill>
            <a:srgbClr val="D4943A"/>
          </a:solidFill>
          <a:ln w="12700">
            <a:solidFill>
              <a:srgbClr val="D4943A"/>
            </a:solidFill>
            <a:prstDash val="solid"/>
          </a:ln>
        </p:spPr>
      </p:sp>
      <p:sp>
        <p:nvSpPr>
          <p:cNvPr id="7" name="Shape 5"/>
          <p:cNvSpPr/>
          <p:nvPr/>
        </p:nvSpPr>
        <p:spPr>
          <a:xfrm>
            <a:off x="320040" y="1298448"/>
            <a:ext cx="1965960" cy="3383280"/>
          </a:xfrm>
          <a:prstGeom prst="roundRect">
            <a:avLst>
              <a:gd name="adj" fmla="val 6977"/>
            </a:avLst>
          </a:prstGeom>
          <a:solidFill>
            <a:srgbClr val="FFFFFF"/>
          </a:solidFill>
          <a:ln w="25400">
            <a:solidFill>
              <a:srgbClr val="1A8A7D"/>
            </a:solidFill>
            <a:prstDash val="solid"/>
          </a:ln>
          <a:effectLst>
            <a:outerShdw sx="100000" sy="100000" kx="0" ky="0" algn="bl" rotWithShape="0" blurRad="76200" dist="25400" dir="8100000">
              <a:srgbClr val="000000">
                <a:alpha val="10000"/>
              </a:srgbClr>
            </a:outerShdw>
          </a:effectLst>
        </p:spPr>
      </p:sp>
      <p:sp>
        <p:nvSpPr>
          <p:cNvPr id="8" name="Shape 6"/>
          <p:cNvSpPr/>
          <p:nvPr/>
        </p:nvSpPr>
        <p:spPr>
          <a:xfrm>
            <a:off x="960120" y="1389888"/>
            <a:ext cx="685800" cy="685800"/>
          </a:xfrm>
          <a:prstGeom prst="ellipse">
            <a:avLst/>
          </a:prstGeom>
          <a:solidFill>
            <a:srgbClr val="1A8A7D"/>
          </a:solidFill>
          <a:ln w="12700">
            <a:solidFill>
              <a:srgbClr val="1A8A7D"/>
            </a:solidFill>
            <a:prstDash val="solid"/>
          </a:ln>
        </p:spPr>
      </p:sp>
      <p:sp>
        <p:nvSpPr>
          <p:cNvPr id="9" name="Text 7"/>
          <p:cNvSpPr/>
          <p:nvPr/>
        </p:nvSpPr>
        <p:spPr>
          <a:xfrm>
            <a:off x="960120" y="1389888"/>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411480" y="2176272"/>
            <a:ext cx="1783080" cy="256032"/>
          </a:xfrm>
          <a:prstGeom prst="rect">
            <a:avLst/>
          </a:prstGeom>
          <a:noFill/>
          <a:ln/>
        </p:spPr>
        <p:txBody>
          <a:bodyPr wrap="square" lIns="0" tIns="0" rIns="0" bIns="0" rtlCol="0" anchor="ctr"/>
          <a:lstStyle/>
          <a:p>
            <a:pPr algn="ctr" indent="0" marL="0">
              <a:buNone/>
            </a:pPr>
            <a:r>
              <a:rPr lang="en-US" sz="900" b="1" spc="150" kern="0" dirty="0">
                <a:solidFill>
                  <a:srgbClr val="1A8A7D"/>
                </a:solidFill>
                <a:latin typeface="Calibri" pitchFamily="34" charset="0"/>
                <a:ea typeface="Calibri" pitchFamily="34" charset="-122"/>
                <a:cs typeface="Calibri" pitchFamily="34" charset="-120"/>
              </a:rPr>
              <a:t>WORD ROOT</a:t>
            </a:r>
            <a:endParaRPr lang="en-US" sz="900" dirty="0"/>
          </a:p>
        </p:txBody>
      </p:sp>
      <p:sp>
        <p:nvSpPr>
          <p:cNvPr id="11" name="Text 9"/>
          <p:cNvSpPr/>
          <p:nvPr/>
        </p:nvSpPr>
        <p:spPr>
          <a:xfrm>
            <a:off x="429768" y="2487168"/>
            <a:ext cx="1737360" cy="1965960"/>
          </a:xfrm>
          <a:prstGeom prst="rect">
            <a:avLst/>
          </a:prstGeom>
          <a:noFill/>
          <a:ln/>
        </p:spPr>
        <p:txBody>
          <a:bodyPr wrap="square" lIns="0" tIns="0" rIns="0" bIns="0" rtlCol="0" anchor="t"/>
          <a:lstStyle/>
          <a:p>
            <a:pPr algn="ctr" indent="0" marL="0">
              <a:lnSpc>
                <a:spcPct val="125000"/>
              </a:lnSpc>
              <a:buNone/>
            </a:pPr>
            <a:r>
              <a:rPr lang="en-US" sz="1100" dirty="0">
                <a:solidFill>
                  <a:srgbClr val="0E1C42"/>
                </a:solidFill>
                <a:latin typeface="Calibri" pitchFamily="34" charset="0"/>
                <a:ea typeface="Calibri" pitchFamily="34" charset="-122"/>
                <a:cs typeface="Calibri" pitchFamily="34" charset="-120"/>
              </a:rPr>
              <a:t>Greek thermo = heat. Build your vocabulary toolkit.</a:t>
            </a:r>
            <a:endParaRPr lang="en-US" sz="1100" dirty="0"/>
          </a:p>
        </p:txBody>
      </p:sp>
      <p:sp>
        <p:nvSpPr>
          <p:cNvPr id="12" name="Shape 10"/>
          <p:cNvSpPr/>
          <p:nvPr/>
        </p:nvSpPr>
        <p:spPr>
          <a:xfrm>
            <a:off x="2459736" y="1298448"/>
            <a:ext cx="1965960" cy="3383280"/>
          </a:xfrm>
          <a:prstGeom prst="roundRect">
            <a:avLst>
              <a:gd name="adj" fmla="val 6977"/>
            </a:avLst>
          </a:prstGeom>
          <a:solidFill>
            <a:srgbClr val="FFFFFF"/>
          </a:solidFill>
          <a:ln w="25400">
            <a:solidFill>
              <a:srgbClr val="D4943A"/>
            </a:solidFill>
            <a:prstDash val="solid"/>
          </a:ln>
          <a:effectLst>
            <a:outerShdw sx="100000" sy="100000" kx="0" ky="0" algn="bl" rotWithShape="0" blurRad="76200" dist="25400" dir="8100000">
              <a:srgbClr val="000000">
                <a:alpha val="10000"/>
              </a:srgbClr>
            </a:outerShdw>
          </a:effectLst>
        </p:spPr>
      </p:sp>
      <p:sp>
        <p:nvSpPr>
          <p:cNvPr id="13" name="Shape 11"/>
          <p:cNvSpPr/>
          <p:nvPr/>
        </p:nvSpPr>
        <p:spPr>
          <a:xfrm>
            <a:off x="3099816" y="1389888"/>
            <a:ext cx="685800" cy="685800"/>
          </a:xfrm>
          <a:prstGeom prst="ellipse">
            <a:avLst/>
          </a:prstGeom>
          <a:solidFill>
            <a:srgbClr val="D4943A"/>
          </a:solidFill>
          <a:ln w="12700">
            <a:solidFill>
              <a:srgbClr val="D4943A"/>
            </a:solidFill>
            <a:prstDash val="solid"/>
          </a:ln>
        </p:spPr>
      </p:sp>
      <p:sp>
        <p:nvSpPr>
          <p:cNvPr id="14" name="Text 12"/>
          <p:cNvSpPr/>
          <p:nvPr/>
        </p:nvSpPr>
        <p:spPr>
          <a:xfrm>
            <a:off x="3099816" y="1389888"/>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p:nvPr/>
        </p:nvSpPr>
        <p:spPr>
          <a:xfrm>
            <a:off x="2551176" y="2176272"/>
            <a:ext cx="1783080" cy="256032"/>
          </a:xfrm>
          <a:prstGeom prst="rect">
            <a:avLst/>
          </a:prstGeom>
          <a:noFill/>
          <a:ln/>
        </p:spPr>
        <p:txBody>
          <a:bodyPr wrap="square" lIns="0" tIns="0" rIns="0" bIns="0" rtlCol="0" anchor="ctr"/>
          <a:lstStyle/>
          <a:p>
            <a:pPr algn="ctr" indent="0" marL="0">
              <a:buNone/>
            </a:pPr>
            <a:r>
              <a:rPr lang="en-US" sz="900" b="1" spc="150" kern="0" dirty="0">
                <a:solidFill>
                  <a:srgbClr val="D4943A"/>
                </a:solidFill>
                <a:latin typeface="Calibri" pitchFamily="34" charset="0"/>
                <a:ea typeface="Calibri" pitchFamily="34" charset="-122"/>
                <a:cs typeface="Calibri" pitchFamily="34" charset="-120"/>
              </a:rPr>
              <a:t>CLIMATE MAP</a:t>
            </a:r>
            <a:endParaRPr lang="en-US" sz="900" dirty="0"/>
          </a:p>
        </p:txBody>
      </p:sp>
      <p:sp>
        <p:nvSpPr>
          <p:cNvPr id="16" name="Text 14"/>
          <p:cNvSpPr/>
          <p:nvPr/>
        </p:nvSpPr>
        <p:spPr>
          <a:xfrm>
            <a:off x="2569464" y="2487168"/>
            <a:ext cx="1737360" cy="1965960"/>
          </a:xfrm>
          <a:prstGeom prst="rect">
            <a:avLst/>
          </a:prstGeom>
          <a:noFill/>
          <a:ln/>
        </p:spPr>
        <p:txBody>
          <a:bodyPr wrap="square" lIns="0" tIns="0" rIns="0" bIns="0" rtlCol="0" anchor="t"/>
          <a:lstStyle/>
          <a:p>
            <a:pPr algn="ctr" indent="0" marL="0">
              <a:lnSpc>
                <a:spcPct val="125000"/>
              </a:lnSpc>
              <a:buNone/>
            </a:pPr>
            <a:r>
              <a:rPr lang="en-US" sz="1100" dirty="0">
                <a:solidFill>
                  <a:srgbClr val="0E1C42"/>
                </a:solidFill>
                <a:latin typeface="Calibri" pitchFamily="34" charset="0"/>
                <a:ea typeface="Calibri" pitchFamily="34" charset="-122"/>
                <a:cs typeface="Calibri" pitchFamily="34" charset="-120"/>
              </a:rPr>
              <a:t>Read a real Florida climate map. What patterns do you see?</a:t>
            </a:r>
            <a:endParaRPr lang="en-US" sz="1100" dirty="0"/>
          </a:p>
        </p:txBody>
      </p:sp>
      <p:sp>
        <p:nvSpPr>
          <p:cNvPr id="17" name="Shape 15"/>
          <p:cNvSpPr/>
          <p:nvPr/>
        </p:nvSpPr>
        <p:spPr>
          <a:xfrm>
            <a:off x="4599432" y="1298448"/>
            <a:ext cx="1965960" cy="3383280"/>
          </a:xfrm>
          <a:prstGeom prst="roundRect">
            <a:avLst>
              <a:gd name="adj" fmla="val 6977"/>
            </a:avLst>
          </a:prstGeom>
          <a:solidFill>
            <a:srgbClr val="FFFFFF"/>
          </a:solidFill>
          <a:ln w="25400">
            <a:solidFill>
              <a:srgbClr val="55C8E8"/>
            </a:solidFill>
            <a:prstDash val="solid"/>
          </a:ln>
          <a:effectLst>
            <a:outerShdw sx="100000" sy="100000" kx="0" ky="0" algn="bl" rotWithShape="0" blurRad="76200" dist="25400" dir="8100000">
              <a:srgbClr val="000000">
                <a:alpha val="10000"/>
              </a:srgbClr>
            </a:outerShdw>
          </a:effectLst>
        </p:spPr>
      </p:sp>
      <p:sp>
        <p:nvSpPr>
          <p:cNvPr id="18" name="Shape 16"/>
          <p:cNvSpPr/>
          <p:nvPr/>
        </p:nvSpPr>
        <p:spPr>
          <a:xfrm>
            <a:off x="5239512" y="1389888"/>
            <a:ext cx="685800" cy="685800"/>
          </a:xfrm>
          <a:prstGeom prst="ellipse">
            <a:avLst/>
          </a:prstGeom>
          <a:solidFill>
            <a:srgbClr val="55C8E8"/>
          </a:solidFill>
          <a:ln w="12700">
            <a:solidFill>
              <a:srgbClr val="55C8E8"/>
            </a:solidFill>
            <a:prstDash val="solid"/>
          </a:ln>
        </p:spPr>
      </p:sp>
      <p:sp>
        <p:nvSpPr>
          <p:cNvPr id="19" name="Text 17"/>
          <p:cNvSpPr/>
          <p:nvPr/>
        </p:nvSpPr>
        <p:spPr>
          <a:xfrm>
            <a:off x="5239512" y="1389888"/>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0" name="Text 18"/>
          <p:cNvSpPr/>
          <p:nvPr/>
        </p:nvSpPr>
        <p:spPr>
          <a:xfrm>
            <a:off x="4690872" y="2176272"/>
            <a:ext cx="1783080" cy="256032"/>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SELF-CHECK</a:t>
            </a:r>
            <a:endParaRPr lang="en-US" sz="900" dirty="0"/>
          </a:p>
        </p:txBody>
      </p:sp>
      <p:sp>
        <p:nvSpPr>
          <p:cNvPr id="21" name="Text 19"/>
          <p:cNvSpPr/>
          <p:nvPr/>
        </p:nvSpPr>
        <p:spPr>
          <a:xfrm>
            <a:off x="4709160" y="2487168"/>
            <a:ext cx="1737360" cy="1965960"/>
          </a:xfrm>
          <a:prstGeom prst="rect">
            <a:avLst/>
          </a:prstGeom>
          <a:noFill/>
          <a:ln/>
        </p:spPr>
        <p:txBody>
          <a:bodyPr wrap="square" lIns="0" tIns="0" rIns="0" bIns="0" rtlCol="0" anchor="t"/>
          <a:lstStyle/>
          <a:p>
            <a:pPr algn="ctr" indent="0" marL="0">
              <a:lnSpc>
                <a:spcPct val="125000"/>
              </a:lnSpc>
              <a:buNone/>
            </a:pPr>
            <a:r>
              <a:rPr lang="en-US" sz="1100" dirty="0">
                <a:solidFill>
                  <a:srgbClr val="0E1C42"/>
                </a:solidFill>
                <a:latin typeface="Calibri" pitchFamily="34" charset="0"/>
                <a:ea typeface="Calibri" pitchFamily="34" charset="-122"/>
                <a:cs typeface="Calibri" pitchFamily="34" charset="-120"/>
              </a:rPr>
              <a:t>Test your understanding: weather vs. climate, Florida patterns.</a:t>
            </a:r>
            <a:endParaRPr lang="en-US" sz="1100" dirty="0"/>
          </a:p>
        </p:txBody>
      </p:sp>
      <p:sp>
        <p:nvSpPr>
          <p:cNvPr id="22" name="Shape 20"/>
          <p:cNvSpPr/>
          <p:nvPr/>
        </p:nvSpPr>
        <p:spPr>
          <a:xfrm>
            <a:off x="6739128" y="1298448"/>
            <a:ext cx="1965960" cy="3383280"/>
          </a:xfrm>
          <a:prstGeom prst="roundRect">
            <a:avLst>
              <a:gd name="adj" fmla="val 6977"/>
            </a:avLst>
          </a:prstGeom>
          <a:solidFill>
            <a:srgbClr val="FFFFFF"/>
          </a:solidFill>
          <a:ln w="25400">
            <a:solidFill>
              <a:srgbClr val="8B6FC0"/>
            </a:solidFill>
            <a:prstDash val="solid"/>
          </a:ln>
          <a:effectLst>
            <a:outerShdw sx="100000" sy="100000" kx="0" ky="0" algn="bl" rotWithShape="0" blurRad="76200" dist="25400" dir="8100000">
              <a:srgbClr val="000000">
                <a:alpha val="10000"/>
              </a:srgbClr>
            </a:outerShdw>
          </a:effectLst>
        </p:spPr>
      </p:sp>
      <p:sp>
        <p:nvSpPr>
          <p:cNvPr id="23" name="Shape 21"/>
          <p:cNvSpPr/>
          <p:nvPr/>
        </p:nvSpPr>
        <p:spPr>
          <a:xfrm>
            <a:off x="7379208" y="1389888"/>
            <a:ext cx="685800" cy="685800"/>
          </a:xfrm>
          <a:prstGeom prst="ellipse">
            <a:avLst/>
          </a:prstGeom>
          <a:solidFill>
            <a:srgbClr val="8B6FC0"/>
          </a:solidFill>
          <a:ln w="12700">
            <a:solidFill>
              <a:srgbClr val="8B6FC0"/>
            </a:solidFill>
            <a:prstDash val="solid"/>
          </a:ln>
        </p:spPr>
      </p:sp>
      <p:sp>
        <p:nvSpPr>
          <p:cNvPr id="24" name="Text 22"/>
          <p:cNvSpPr/>
          <p:nvPr/>
        </p:nvSpPr>
        <p:spPr>
          <a:xfrm>
            <a:off x="7379208" y="1389888"/>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p:nvPr/>
        </p:nvSpPr>
        <p:spPr>
          <a:xfrm>
            <a:off x="6830568" y="2176272"/>
            <a:ext cx="1783080" cy="256032"/>
          </a:xfrm>
          <a:prstGeom prst="rect">
            <a:avLst/>
          </a:prstGeom>
          <a:noFill/>
          <a:ln/>
        </p:spPr>
        <p:txBody>
          <a:bodyPr wrap="square" lIns="0" tIns="0" rIns="0" bIns="0" rtlCol="0" anchor="ctr"/>
          <a:lstStyle/>
          <a:p>
            <a:pPr algn="ctr" indent="0" marL="0">
              <a:buNone/>
            </a:pPr>
            <a:r>
              <a:rPr lang="en-US" sz="900" b="1" spc="150" kern="0" dirty="0">
                <a:solidFill>
                  <a:srgbClr val="8B6FC0"/>
                </a:solidFill>
                <a:latin typeface="Calibri" pitchFamily="34" charset="0"/>
                <a:ea typeface="Calibri" pitchFamily="34" charset="-122"/>
                <a:cs typeface="Calibri" pitchFamily="34" charset="-120"/>
              </a:rPr>
              <a:t>LOCK IT IN</a:t>
            </a:r>
            <a:endParaRPr lang="en-US" sz="900" dirty="0"/>
          </a:p>
        </p:txBody>
      </p:sp>
      <p:sp>
        <p:nvSpPr>
          <p:cNvPr id="26" name="Text 24"/>
          <p:cNvSpPr/>
          <p:nvPr/>
        </p:nvSpPr>
        <p:spPr>
          <a:xfrm>
            <a:off x="6848856" y="2487168"/>
            <a:ext cx="1737360" cy="1965960"/>
          </a:xfrm>
          <a:prstGeom prst="rect">
            <a:avLst/>
          </a:prstGeom>
          <a:noFill/>
          <a:ln/>
        </p:spPr>
        <p:txBody>
          <a:bodyPr wrap="square" lIns="0" tIns="0" rIns="0" bIns="0" rtlCol="0" anchor="t"/>
          <a:lstStyle/>
          <a:p>
            <a:pPr algn="ctr" indent="0" marL="0">
              <a:lnSpc>
                <a:spcPct val="125000"/>
              </a:lnSpc>
              <a:buNone/>
            </a:pPr>
            <a:r>
              <a:rPr lang="en-US" sz="1100" dirty="0">
                <a:solidFill>
                  <a:srgbClr val="0E1C42"/>
                </a:solidFill>
                <a:latin typeface="Calibri" pitchFamily="34" charset="0"/>
                <a:ea typeface="Calibri" pitchFamily="34" charset="-122"/>
                <a:cs typeface="Calibri" pitchFamily="34" charset="-120"/>
              </a:rPr>
              <a:t>Use map evidence to answer the assignment questions.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1A8A7D"/>
          </a:solidFill>
          <a:ln w="12700">
            <a:solidFill>
              <a:srgbClr val="1A8A7D"/>
            </a:solidFill>
            <a:prstDash val="solid"/>
          </a:ln>
        </p:spPr>
      </p:sp>
      <p:sp>
        <p:nvSpPr>
          <p:cNvPr id="4" name="Text 2"/>
          <p:cNvSpPr/>
          <p:nvPr/>
        </p:nvSpPr>
        <p:spPr>
          <a:xfrm>
            <a:off x="320040" y="182880"/>
            <a:ext cx="850392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CLUE BOX 1  |  5 SECONDS -- WHAT DO YOU SEE?</a:t>
            </a:r>
            <a:endParaRPr lang="en-US" sz="900" dirty="0"/>
          </a:p>
        </p:txBody>
      </p:sp>
      <p:sp>
        <p:nvSpPr>
          <p:cNvPr id="5" name="Text 3"/>
          <p:cNvSpPr/>
          <p:nvPr/>
        </p:nvSpPr>
        <p:spPr>
          <a:xfrm>
            <a:off x="320040" y="502920"/>
            <a:ext cx="594360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Study This Map</a:t>
            </a:r>
            <a:endParaRPr lang="en-US" sz="2400" dirty="0"/>
          </a:p>
        </p:txBody>
      </p:sp>
      <p:sp>
        <p:nvSpPr>
          <p:cNvPr id="6" name="Shape 4"/>
          <p:cNvSpPr/>
          <p:nvPr/>
        </p:nvSpPr>
        <p:spPr>
          <a:xfrm>
            <a:off x="320040" y="1005840"/>
            <a:ext cx="2377440" cy="36576"/>
          </a:xfrm>
          <a:prstGeom prst="rect">
            <a:avLst/>
          </a:prstGeom>
          <a:solidFill>
            <a:srgbClr val="1A8A7D"/>
          </a:solidFill>
          <a:ln w="12700">
            <a:solidFill>
              <a:srgbClr val="1A8A7D"/>
            </a:solidFill>
            <a:prstDash val="solid"/>
          </a:ln>
        </p:spPr>
      </p:sp>
      <p:sp>
        <p:nvSpPr>
          <p:cNvPr id="7" name="Shape 5"/>
          <p:cNvSpPr/>
          <p:nvPr/>
        </p:nvSpPr>
        <p:spPr>
          <a:xfrm>
            <a:off x="320040" y="1115568"/>
            <a:ext cx="5394960" cy="3703320"/>
          </a:xfrm>
          <a:prstGeom prst="roundRect">
            <a:avLst>
              <a:gd name="adj" fmla="val 2963"/>
            </a:avLst>
          </a:prstGeom>
          <a:solidFill>
            <a:srgbClr val="E2E8F4"/>
          </a:solidFill>
          <a:ln w="19050">
            <a:solidFill>
              <a:srgbClr val="B0B8CC"/>
            </a:solidFill>
            <a:prstDash val="dash"/>
          </a:ln>
        </p:spPr>
      </p:sp>
      <p:sp>
        <p:nvSpPr>
          <p:cNvPr id="8" name="Text 6"/>
          <p:cNvSpPr/>
          <p:nvPr/>
        </p:nvSpPr>
        <p:spPr>
          <a:xfrm>
            <a:off x="320040" y="1115568"/>
            <a:ext cx="53949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457200" y="1389888"/>
            <a:ext cx="5120640" cy="3337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climate map showing rainfall zones or temperature zones -- color-coded regions, legend visible, no daily weather data</a:t>
            </a:r>
            <a:endParaRPr lang="en-US" sz="1100" dirty="0"/>
          </a:p>
        </p:txBody>
      </p:sp>
      <p:sp>
        <p:nvSpPr>
          <p:cNvPr id="10" name="Shape 8"/>
          <p:cNvSpPr/>
          <p:nvPr/>
        </p:nvSpPr>
        <p:spPr>
          <a:xfrm>
            <a:off x="5943600" y="1115568"/>
            <a:ext cx="2880360" cy="3703320"/>
          </a:xfrm>
          <a:prstGeom prst="roundRect">
            <a:avLst>
              <a:gd name="adj" fmla="val 3810"/>
            </a:avLst>
          </a:prstGeom>
          <a:solidFill>
            <a:srgbClr val="FFF3DC"/>
          </a:solidFill>
          <a:ln w="19050">
            <a:solidFill>
              <a:srgbClr val="F5E6C8"/>
            </a:solidFill>
            <a:prstDash val="solid"/>
          </a:ln>
        </p:spPr>
      </p:sp>
      <p:sp>
        <p:nvSpPr>
          <p:cNvPr id="11" name="Text 9"/>
          <p:cNvSpPr/>
          <p:nvPr/>
        </p:nvSpPr>
        <p:spPr>
          <a:xfrm>
            <a:off x="6080760" y="1170432"/>
            <a:ext cx="2606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6080760" y="1371600"/>
            <a:ext cx="2606040" cy="3383280"/>
          </a:xfrm>
          <a:prstGeom prst="rect">
            <a:avLst/>
          </a:prstGeom>
          <a:noFill/>
          <a:ln/>
        </p:spPr>
        <p:txBody>
          <a:bodyPr wrap="square" lIns="0" tIns="0" rIns="0" bIns="0" rtlCol="0" anchor="t"/>
          <a:lstStyle/>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"I see ___ on this map, which tells me ___ about this part of Florida because..."</a:t>
            </a:r>
            <a:endParaRPr lang="en-US" sz="1150" dirty="0"/>
          </a:p>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"This map is measuring ___ -- I can tell because..."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1A8A7D"/>
          </a:solidFill>
          <a:ln w="12700">
            <a:solidFill>
              <a:srgbClr val="1A8A7D"/>
            </a:solidFill>
            <a:prstDash val="solid"/>
          </a:ln>
        </p:spPr>
      </p:sp>
      <p:sp>
        <p:nvSpPr>
          <p:cNvPr id="4" name="Text 2"/>
          <p:cNvSpPr/>
          <p:nvPr/>
        </p:nvSpPr>
        <p:spPr>
          <a:xfrm>
            <a:off x="320040" y="182880"/>
            <a:ext cx="850392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DISCUSSION 1  |  ANALYZE THE MAP</a:t>
            </a:r>
            <a:endParaRPr lang="en-US" sz="900" dirty="0"/>
          </a:p>
        </p:txBody>
      </p:sp>
      <p:sp>
        <p:nvSpPr>
          <p:cNvPr id="5" name="Text 3"/>
          <p:cNvSpPr/>
          <p:nvPr/>
        </p:nvSpPr>
        <p:spPr>
          <a:xfrm>
            <a:off x="320040" y="502920"/>
            <a:ext cx="850392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Is This Map Actually Showing?</a:t>
            </a:r>
            <a:endParaRPr lang="en-US" sz="2400" dirty="0"/>
          </a:p>
        </p:txBody>
      </p:sp>
      <p:sp>
        <p:nvSpPr>
          <p:cNvPr id="6" name="Shape 4"/>
          <p:cNvSpPr/>
          <p:nvPr/>
        </p:nvSpPr>
        <p:spPr>
          <a:xfrm>
            <a:off x="320040" y="1005840"/>
            <a:ext cx="3657600" cy="36576"/>
          </a:xfrm>
          <a:prstGeom prst="rect">
            <a:avLst/>
          </a:prstGeom>
          <a:solidFill>
            <a:srgbClr val="1A8A7D"/>
          </a:solidFill>
          <a:ln w="12700">
            <a:solidFill>
              <a:srgbClr val="1A8A7D"/>
            </a:solidFill>
            <a:prstDash val="solid"/>
          </a:ln>
        </p:spPr>
      </p:sp>
      <p:sp>
        <p:nvSpPr>
          <p:cNvPr id="7" name="Shape 5"/>
          <p:cNvSpPr/>
          <p:nvPr/>
        </p:nvSpPr>
        <p:spPr>
          <a:xfrm>
            <a:off x="320040" y="1115568"/>
            <a:ext cx="5394960" cy="2633472"/>
          </a:xfrm>
          <a:prstGeom prst="roundRect">
            <a:avLst>
              <a:gd name="adj" fmla="val 5208"/>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502920" y="1207008"/>
            <a:ext cx="50292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502920" y="1463040"/>
            <a:ext cx="5029200" cy="2194560"/>
          </a:xfrm>
          <a:prstGeom prst="rect">
            <a:avLst/>
          </a:prstGeom>
          <a:noFill/>
          <a:ln/>
        </p:spPr>
        <p:txBody>
          <a:bodyPr wrap="square" lIns="0" tIns="0" rIns="0" bIns="0" rtlCol="0" anchor="t"/>
          <a:lstStyle/>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What is this map measuring -- temperature, rainfall, or storm tracks?</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How is this different from a map showing today's weather?</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What decision would you make differently using this map vs. a daily weather report?</a:t>
            </a:r>
            <a:endParaRPr lang="en-US" sz="1050" dirty="0"/>
          </a:p>
        </p:txBody>
      </p:sp>
      <p:sp>
        <p:nvSpPr>
          <p:cNvPr id="10" name="Shape 8"/>
          <p:cNvSpPr/>
          <p:nvPr/>
        </p:nvSpPr>
        <p:spPr>
          <a:xfrm>
            <a:off x="320040" y="3858768"/>
            <a:ext cx="5394960" cy="960120"/>
          </a:xfrm>
          <a:prstGeom prst="roundRect">
            <a:avLst>
              <a:gd name="adj" fmla="val 11429"/>
            </a:avLst>
          </a:prstGeom>
          <a:solidFill>
            <a:srgbClr val="FFF3DC"/>
          </a:solidFill>
          <a:ln w="19050">
            <a:solidFill>
              <a:srgbClr val="F5E6C8"/>
            </a:solidFill>
            <a:prstDash val="solid"/>
          </a:ln>
        </p:spPr>
      </p:sp>
      <p:sp>
        <p:nvSpPr>
          <p:cNvPr id="11" name="Text 9"/>
          <p:cNvSpPr/>
          <p:nvPr/>
        </p:nvSpPr>
        <p:spPr>
          <a:xfrm>
            <a:off x="457200" y="3913632"/>
            <a:ext cx="5120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57200" y="4114800"/>
            <a:ext cx="5120640" cy="640080"/>
          </a:xfrm>
          <a:prstGeom prst="rect">
            <a:avLst/>
          </a:prstGeom>
          <a:noFill/>
          <a:ln/>
        </p:spPr>
        <p:txBody>
          <a:bodyPr wrap="square" lIns="0" tIns="0" rIns="0" bIns="0" rtlCol="0" anchor="t"/>
          <a:lstStyle/>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"A weather map shows ___ but this map is better for ___ because..."</a:t>
            </a:r>
            <a:endParaRPr lang="en-US" sz="1150" dirty="0"/>
          </a:p>
        </p:txBody>
      </p:sp>
      <p:sp>
        <p:nvSpPr>
          <p:cNvPr id="13" name="Shape 11"/>
          <p:cNvSpPr/>
          <p:nvPr/>
        </p:nvSpPr>
        <p:spPr>
          <a:xfrm>
            <a:off x="5897880" y="1115568"/>
            <a:ext cx="2926080" cy="2633472"/>
          </a:xfrm>
          <a:prstGeom prst="roundRect">
            <a:avLst>
              <a:gd name="adj" fmla="val 4167"/>
            </a:avLst>
          </a:prstGeom>
          <a:solidFill>
            <a:srgbClr val="FFFFFF"/>
          </a:solidFill>
          <a:ln w="19050">
            <a:solidFill>
              <a:srgbClr val="B0B8CC"/>
            </a:solidFill>
            <a:prstDash val="solid"/>
          </a:ln>
          <a:effectLst>
            <a:outerShdw sx="100000" sy="100000" kx="0" ky="0" algn="bl" rotWithShape="0" blurRad="76200" dist="25400" dir="8100000">
              <a:srgbClr val="000000">
                <a:alpha val="10000"/>
              </a:srgbClr>
            </a:outerShdw>
          </a:effectLst>
        </p:spPr>
      </p:sp>
      <p:sp>
        <p:nvSpPr>
          <p:cNvPr id="14" name="Text 12"/>
          <p:cNvSpPr/>
          <p:nvPr/>
        </p:nvSpPr>
        <p:spPr>
          <a:xfrm>
            <a:off x="6035040" y="1207008"/>
            <a:ext cx="265176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KEY DISTINCTION</a:t>
            </a:r>
            <a:endParaRPr lang="en-US" sz="900" dirty="0"/>
          </a:p>
        </p:txBody>
      </p:sp>
      <p:sp>
        <p:nvSpPr>
          <p:cNvPr id="15" name="Text 13"/>
          <p:cNvSpPr/>
          <p:nvPr/>
        </p:nvSpPr>
        <p:spPr>
          <a:xfrm>
            <a:off x="6035040" y="1536192"/>
            <a:ext cx="2651760" cy="1828800"/>
          </a:xfrm>
          <a:prstGeom prst="rect">
            <a:avLst/>
          </a:prstGeom>
          <a:noFill/>
          <a:ln/>
        </p:spPr>
        <p:txBody>
          <a:bodyPr wrap="square" lIns="0" tIns="0" rIns="0" bIns="0" rtlCol="0" anchor="t"/>
          <a:lstStyle/>
          <a:p>
            <a:pPr indent="0" marL="0">
              <a:lnSpc>
                <a:spcPct val="130000"/>
              </a:lnSpc>
              <a:buNone/>
            </a:pPr>
            <a:r>
              <a:rPr lang="en-US" sz="1250" i="1" dirty="0">
                <a:solidFill>
                  <a:srgbClr val="0E1C42"/>
                </a:solidFill>
                <a:latin typeface="Cambria" pitchFamily="34" charset="0"/>
                <a:ea typeface="Cambria" pitchFamily="34" charset="-122"/>
                <a:cs typeface="Cambria" pitchFamily="34" charset="-120"/>
              </a:rPr>
              <a:t>A daily weather map = snapshot.</a:t>
            </a:r>
            <a:endParaRPr lang="en-US" sz="1250" dirty="0"/>
          </a:p>
          <a:p>
            <a:pPr indent="0" marL="0">
              <a:lnSpc>
                <a:spcPct val="130000"/>
              </a:lnSpc>
              <a:buNone/>
            </a:pPr>
            <a:endParaRPr lang="en-US" sz="1250" dirty="0"/>
          </a:p>
          <a:p>
            <a:pPr indent="0" marL="0">
              <a:lnSpc>
                <a:spcPct val="130000"/>
              </a:lnSpc>
              <a:buNone/>
            </a:pPr>
            <a:r>
              <a:rPr lang="en-US" sz="1250" i="1" dirty="0">
                <a:solidFill>
                  <a:srgbClr val="0E1C42"/>
                </a:solidFill>
                <a:latin typeface="Cambria" pitchFamily="34" charset="0"/>
                <a:ea typeface="Cambria" pitchFamily="34" charset="-122"/>
                <a:cs typeface="Cambria" pitchFamily="34" charset="-120"/>
              </a:rPr>
              <a:t>A climate map = pattern built from decades of data.</a:t>
            </a:r>
            <a:endParaRPr lang="en-US" sz="1250" dirty="0"/>
          </a:p>
        </p:txBody>
      </p:sp>
      <p:sp>
        <p:nvSpPr>
          <p:cNvPr id="16" name="Shape 14"/>
          <p:cNvSpPr/>
          <p:nvPr/>
        </p:nvSpPr>
        <p:spPr>
          <a:xfrm>
            <a:off x="5897880" y="3858768"/>
            <a:ext cx="2926080" cy="960120"/>
          </a:xfrm>
          <a:prstGeom prst="roundRect">
            <a:avLst>
              <a:gd name="adj" fmla="val 11429"/>
            </a:avLst>
          </a:prstGeom>
          <a:solidFill>
            <a:srgbClr val="FFF3DC"/>
          </a:solidFill>
          <a:ln w="19050">
            <a:solidFill>
              <a:srgbClr val="F5E6C8"/>
            </a:solidFill>
            <a:prstDash val="solid"/>
          </a:ln>
        </p:spPr>
      </p:sp>
      <p:sp>
        <p:nvSpPr>
          <p:cNvPr id="17" name="Text 15"/>
          <p:cNvSpPr/>
          <p:nvPr/>
        </p:nvSpPr>
        <p:spPr>
          <a:xfrm>
            <a:off x="6035040" y="3977640"/>
            <a:ext cx="2651760" cy="640080"/>
          </a:xfrm>
          <a:prstGeom prst="rect">
            <a:avLst/>
          </a:prstGeom>
          <a:noFill/>
          <a:ln/>
        </p:spPr>
        <p:txBody>
          <a:bodyPr wrap="square" lIns="0" tIns="0" rIns="0" bIns="0" rtlCol="0" anchor="ctr"/>
          <a:lstStyle/>
          <a:p>
            <a:pPr indent="0" marL="0">
              <a:buNone/>
            </a:pPr>
            <a:r>
              <a:rPr lang="en-US" sz="1200" i="1" dirty="0">
                <a:solidFill>
                  <a:srgbClr val="5A4A3A"/>
                </a:solidFill>
                <a:latin typeface="Cambria" pitchFamily="34" charset="0"/>
                <a:ea typeface="Cambria" pitchFamily="34" charset="-122"/>
                <a:cs typeface="Cambria" pitchFamily="34" charset="-120"/>
              </a:rPr>
              <a:t>Take 60 seconds: Type your answer in chat before we discuss.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164592" cy="5143500"/>
          </a:xfrm>
          <a:prstGeom prst="rect">
            <a:avLst/>
          </a:prstGeom>
          <a:solidFill>
            <a:srgbClr val="1A8A7D"/>
          </a:solidFill>
          <a:ln w="12700">
            <a:solidFill>
              <a:srgbClr val="1A8A7D"/>
            </a:solidFill>
            <a:prstDash val="solid"/>
          </a:ln>
        </p:spPr>
      </p:sp>
      <p:sp>
        <p:nvSpPr>
          <p:cNvPr id="4" name="Text 2"/>
          <p:cNvSpPr/>
          <p:nvPr/>
        </p:nvSpPr>
        <p:spPr>
          <a:xfrm>
            <a:off x="320040" y="201168"/>
            <a:ext cx="8503920" cy="256032"/>
          </a:xfrm>
          <a:prstGeom prst="rect">
            <a:avLst/>
          </a:prstGeom>
          <a:noFill/>
          <a:ln/>
        </p:spPr>
        <p:txBody>
          <a:bodyPr wrap="square" lIns="0" tIns="0" rIns="0" bIns="0" rtlCol="0" anchor="ctr"/>
          <a:lstStyle/>
          <a:p>
            <a:pPr indent="0" marL="0">
              <a:buNone/>
            </a:pPr>
            <a:r>
              <a:rPr lang="en-US" sz="900" b="1" spc="200" kern="0" dirty="0">
                <a:solidFill>
                  <a:srgbClr val="1A8A7D"/>
                </a:solidFill>
                <a:latin typeface="Calibri" pitchFamily="34" charset="0"/>
                <a:ea typeface="Calibri" pitchFamily="34" charset="-122"/>
                <a:cs typeface="Calibri" pitchFamily="34" charset="-120"/>
              </a:rPr>
              <a:t>YOU DISCOVERED IT</a:t>
            </a:r>
            <a:endParaRPr lang="en-US" sz="900" dirty="0"/>
          </a:p>
        </p:txBody>
      </p:sp>
      <p:sp>
        <p:nvSpPr>
          <p:cNvPr id="5" name="Text 3"/>
          <p:cNvSpPr/>
          <p:nvPr/>
        </p:nvSpPr>
        <p:spPr>
          <a:xfrm>
            <a:off x="320040" y="530352"/>
            <a:ext cx="8503920" cy="5029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Weather vs. Climate</a:t>
            </a:r>
            <a:endParaRPr lang="en-US" sz="3000" dirty="0"/>
          </a:p>
        </p:txBody>
      </p:sp>
      <p:sp>
        <p:nvSpPr>
          <p:cNvPr id="6" name="Shape 4"/>
          <p:cNvSpPr/>
          <p:nvPr/>
        </p:nvSpPr>
        <p:spPr>
          <a:xfrm>
            <a:off x="320040" y="1078992"/>
            <a:ext cx="2926080" cy="45720"/>
          </a:xfrm>
          <a:prstGeom prst="rect">
            <a:avLst/>
          </a:prstGeom>
          <a:solidFill>
            <a:srgbClr val="1A8A7D"/>
          </a:solidFill>
          <a:ln w="12700">
            <a:solidFill>
              <a:srgbClr val="1A8A7D"/>
            </a:solidFill>
            <a:prstDash val="solid"/>
          </a:ln>
        </p:spPr>
      </p:sp>
      <p:sp>
        <p:nvSpPr>
          <p:cNvPr id="7" name="Shape 5"/>
          <p:cNvSpPr/>
          <p:nvPr/>
        </p:nvSpPr>
        <p:spPr>
          <a:xfrm>
            <a:off x="320040" y="1234440"/>
            <a:ext cx="3977640" cy="2057400"/>
          </a:xfrm>
          <a:prstGeom prst="roundRect">
            <a:avLst>
              <a:gd name="adj" fmla="val 6667"/>
            </a:avLst>
          </a:prstGeom>
          <a:solidFill>
            <a:srgbClr val="1A8A7D">
              <a:alpha val="90000"/>
            </a:srgbClr>
          </a:solidFill>
          <a:ln w="19050">
            <a:solidFill>
              <a:srgbClr val="1A8A7D"/>
            </a:solidFill>
            <a:prstDash val="solid"/>
          </a:ln>
        </p:spPr>
      </p:sp>
      <p:sp>
        <p:nvSpPr>
          <p:cNvPr id="8" name="Text 6"/>
          <p:cNvSpPr/>
          <p:nvPr/>
        </p:nvSpPr>
        <p:spPr>
          <a:xfrm>
            <a:off x="457200" y="1353312"/>
            <a:ext cx="370332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WEATHER</a:t>
            </a:r>
            <a:endParaRPr lang="en-US" sz="1000" dirty="0"/>
          </a:p>
        </p:txBody>
      </p:sp>
      <p:sp>
        <p:nvSpPr>
          <p:cNvPr id="9" name="Text 7"/>
          <p:cNvSpPr/>
          <p:nvPr/>
        </p:nvSpPr>
        <p:spPr>
          <a:xfrm>
            <a:off x="457200" y="1691640"/>
            <a:ext cx="3703320" cy="1371600"/>
          </a:xfrm>
          <a:prstGeom prst="rect">
            <a:avLst/>
          </a:prstGeom>
          <a:noFill/>
          <a:ln/>
        </p:spPr>
        <p:txBody>
          <a:bodyPr wrap="square" lIns="0" tIns="0" rIns="0" bIns="0" rtlCol="0" anchor="t"/>
          <a:lstStyle/>
          <a:p>
            <a:pPr indent="0" marL="0">
              <a:lnSpc>
                <a:spcPct val="130000"/>
              </a:lnSpc>
              <a:buNone/>
            </a:pPr>
            <a:r>
              <a:rPr lang="en-US" sz="1500" i="1" dirty="0">
                <a:solidFill>
                  <a:srgbClr val="F0F2F8"/>
                </a:solidFill>
                <a:latin typeface="Cambria" pitchFamily="34" charset="0"/>
                <a:ea typeface="Cambria" pitchFamily="34" charset="-122"/>
                <a:cs typeface="Cambria" pitchFamily="34" charset="-120"/>
              </a:rPr>
              <a:t>What's happening outside TODAY.</a:t>
            </a:r>
            <a:endParaRPr lang="en-US" sz="1500" dirty="0"/>
          </a:p>
          <a:p>
            <a:pPr indent="0" marL="0">
              <a:lnSpc>
                <a:spcPct val="130000"/>
              </a:lnSpc>
              <a:buNone/>
            </a:pPr>
            <a:r>
              <a:rPr lang="en-US" sz="1500" i="1" dirty="0">
                <a:solidFill>
                  <a:srgbClr val="F0F2F8"/>
                </a:solidFill>
                <a:latin typeface="Cambria" pitchFamily="34" charset="0"/>
                <a:ea typeface="Cambria" pitchFamily="34" charset="-122"/>
                <a:cs typeface="Cambria" pitchFamily="34" charset="-120"/>
              </a:rPr>
              <a:t>Temperature, rain, wind -- right now, in one place.</a:t>
            </a:r>
            <a:endParaRPr lang="en-US" sz="1500" dirty="0"/>
          </a:p>
        </p:txBody>
      </p:sp>
      <p:sp>
        <p:nvSpPr>
          <p:cNvPr id="10" name="Shape 8"/>
          <p:cNvSpPr/>
          <p:nvPr/>
        </p:nvSpPr>
        <p:spPr>
          <a:xfrm>
            <a:off x="4480560" y="1234440"/>
            <a:ext cx="4343400" cy="2057400"/>
          </a:xfrm>
          <a:prstGeom prst="roundRect">
            <a:avLst>
              <a:gd name="adj" fmla="val 6667"/>
            </a:avLst>
          </a:prstGeom>
          <a:solidFill>
            <a:srgbClr val="D4943A">
              <a:alpha val="90000"/>
            </a:srgbClr>
          </a:solidFill>
          <a:ln w="19050">
            <a:solidFill>
              <a:srgbClr val="D4943A"/>
            </a:solidFill>
            <a:prstDash val="solid"/>
          </a:ln>
        </p:spPr>
      </p:sp>
      <p:sp>
        <p:nvSpPr>
          <p:cNvPr id="11" name="Text 9"/>
          <p:cNvSpPr/>
          <p:nvPr/>
        </p:nvSpPr>
        <p:spPr>
          <a:xfrm>
            <a:off x="4617720" y="1353312"/>
            <a:ext cx="406908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CLIMATE</a:t>
            </a:r>
            <a:endParaRPr lang="en-US" sz="1000" dirty="0"/>
          </a:p>
        </p:txBody>
      </p:sp>
      <p:sp>
        <p:nvSpPr>
          <p:cNvPr id="12" name="Text 10"/>
          <p:cNvSpPr/>
          <p:nvPr/>
        </p:nvSpPr>
        <p:spPr>
          <a:xfrm>
            <a:off x="4617720" y="1691640"/>
            <a:ext cx="4069080" cy="1371600"/>
          </a:xfrm>
          <a:prstGeom prst="rect">
            <a:avLst/>
          </a:prstGeom>
          <a:noFill/>
          <a:ln/>
        </p:spPr>
        <p:txBody>
          <a:bodyPr wrap="square" lIns="0" tIns="0" rIns="0" bIns="0" rtlCol="0" anchor="t"/>
          <a:lstStyle/>
          <a:p>
            <a:pPr indent="0" marL="0">
              <a:lnSpc>
                <a:spcPct val="130000"/>
              </a:lnSpc>
              <a:buNone/>
            </a:pPr>
            <a:r>
              <a:rPr lang="en-US" sz="1500" i="1" dirty="0">
                <a:solidFill>
                  <a:srgbClr val="F0F2F8"/>
                </a:solidFill>
                <a:latin typeface="Cambria" pitchFamily="34" charset="0"/>
                <a:ea typeface="Cambria" pitchFamily="34" charset="-122"/>
                <a:cs typeface="Cambria" pitchFamily="34" charset="-120"/>
              </a:rPr>
              <a:t>The PATTERN of weather over many years.</a:t>
            </a:r>
            <a:endParaRPr lang="en-US" sz="1500" dirty="0"/>
          </a:p>
          <a:p>
            <a:pPr indent="0" marL="0">
              <a:lnSpc>
                <a:spcPct val="130000"/>
              </a:lnSpc>
              <a:buNone/>
            </a:pPr>
            <a:r>
              <a:rPr lang="en-US" sz="1500" i="1" dirty="0">
                <a:solidFill>
                  <a:srgbClr val="F0F2F8"/>
                </a:solidFill>
                <a:latin typeface="Cambria" pitchFamily="34" charset="0"/>
                <a:ea typeface="Cambria" pitchFamily="34" charset="-122"/>
                <a:cs typeface="Cambria" pitchFamily="34" charset="-120"/>
              </a:rPr>
              <a:t>50 years of data -- not a single day.</a:t>
            </a:r>
            <a:endParaRPr lang="en-US" sz="1500" dirty="0"/>
          </a:p>
        </p:txBody>
      </p:sp>
      <p:sp>
        <p:nvSpPr>
          <p:cNvPr id="13" name="Shape 11"/>
          <p:cNvSpPr/>
          <p:nvPr/>
        </p:nvSpPr>
        <p:spPr>
          <a:xfrm>
            <a:off x="320040" y="3429000"/>
            <a:ext cx="8503920" cy="36576"/>
          </a:xfrm>
          <a:prstGeom prst="rect">
            <a:avLst/>
          </a:prstGeom>
          <a:solidFill>
            <a:srgbClr val="7A88A8">
              <a:alpha val="40000"/>
            </a:srgbClr>
          </a:solidFill>
          <a:ln w="12700">
            <a:solidFill>
              <a:srgbClr val="7A88A8"/>
            </a:solidFill>
            <a:prstDash val="solid"/>
          </a:ln>
        </p:spPr>
      </p:sp>
      <p:sp>
        <p:nvSpPr>
          <p:cNvPr id="14" name="Text 12"/>
          <p:cNvSpPr/>
          <p:nvPr/>
        </p:nvSpPr>
        <p:spPr>
          <a:xfrm>
            <a:off x="320040" y="3547872"/>
            <a:ext cx="8503920" cy="475488"/>
          </a:xfrm>
          <a:prstGeom prst="rect">
            <a:avLst/>
          </a:prstGeom>
          <a:noFill/>
          <a:ln/>
        </p:spPr>
        <p:txBody>
          <a:bodyPr wrap="square" lIns="0" tIns="0" rIns="0" bIns="0" rtlCol="0" anchor="ctr"/>
          <a:lstStyle/>
          <a:p>
            <a:pPr algn="ctr" indent="0" marL="0">
              <a:buNone/>
            </a:pPr>
            <a:r>
              <a:rPr lang="en-US" sz="1400" i="1" dirty="0">
                <a:solidFill>
                  <a:srgbClr val="D4943A"/>
                </a:solidFill>
                <a:latin typeface="Cambria" pitchFamily="34" charset="0"/>
                <a:ea typeface="Cambria" pitchFamily="34" charset="-122"/>
                <a:cs typeface="Cambria" pitchFamily="34" charset="-120"/>
              </a:rPr>
              <a:t>"One sunny day tells you nothing. Fifty years of data tells you everything."</a:t>
            </a:r>
            <a:endParaRPr lang="en-US" sz="1400" dirty="0"/>
          </a:p>
        </p:txBody>
      </p:sp>
      <p:sp>
        <p:nvSpPr>
          <p:cNvPr id="15" name="Shape 13"/>
          <p:cNvSpPr/>
          <p:nvPr/>
        </p:nvSpPr>
        <p:spPr>
          <a:xfrm>
            <a:off x="1371600" y="4133088"/>
            <a:ext cx="6400800" cy="658368"/>
          </a:xfrm>
          <a:prstGeom prst="roundRect">
            <a:avLst>
              <a:gd name="adj" fmla="val 13889"/>
            </a:avLst>
          </a:prstGeom>
          <a:solidFill>
            <a:srgbClr val="FFFFFF">
              <a:alpha val="12000"/>
            </a:srgbClr>
          </a:solidFill>
          <a:ln w="12700">
            <a:solidFill>
              <a:srgbClr val="55C8E8"/>
            </a:solidFill>
            <a:prstDash val="solid"/>
          </a:ln>
        </p:spPr>
      </p:sp>
      <p:sp>
        <p:nvSpPr>
          <p:cNvPr id="16" name="Text 14"/>
          <p:cNvSpPr/>
          <p:nvPr/>
        </p:nvSpPr>
        <p:spPr>
          <a:xfrm>
            <a:off x="1508760" y="4178808"/>
            <a:ext cx="6126480" cy="475488"/>
          </a:xfrm>
          <a:prstGeom prst="rect">
            <a:avLst/>
          </a:prstGeom>
          <a:noFill/>
          <a:ln/>
        </p:spPr>
        <p:txBody>
          <a:bodyPr wrap="square" lIns="0" tIns="0" rIns="0" bIns="0" rtlCol="0" anchor="ctr"/>
          <a:lstStyle/>
          <a:p>
            <a:pPr algn="ctr" indent="0" marL="0">
              <a:buNone/>
            </a:pPr>
            <a:r>
              <a:rPr lang="en-US" sz="1200" b="1" dirty="0">
                <a:solidFill>
                  <a:srgbClr val="55C8E8"/>
                </a:solidFill>
                <a:latin typeface="Calibri" pitchFamily="34" charset="0"/>
                <a:ea typeface="Calibri" pitchFamily="34" charset="-122"/>
                <a:cs typeface="Calibri" pitchFamily="34" charset="-120"/>
              </a:rPr>
              <a:t>RETRIEVAL: Cover your notes. Tell your partner: what is the ONE key difference?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D4943A"/>
          </a:solidFill>
          <a:ln w="12700">
            <a:solidFill>
              <a:srgbClr val="D4943A"/>
            </a:solidFill>
            <a:prstDash val="solid"/>
          </a:ln>
        </p:spPr>
      </p:sp>
      <p:sp>
        <p:nvSpPr>
          <p:cNvPr id="4" name="Text 2"/>
          <p:cNvSpPr/>
          <p:nvPr/>
        </p:nvSpPr>
        <p:spPr>
          <a:xfrm>
            <a:off x="320040" y="182880"/>
            <a:ext cx="850392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MULTI-SOURCE COMPARE</a:t>
            </a:r>
            <a:endParaRPr lang="en-US" sz="900" dirty="0"/>
          </a:p>
        </p:txBody>
      </p:sp>
      <p:sp>
        <p:nvSpPr>
          <p:cNvPr id="5" name="Text 3"/>
          <p:cNvSpPr/>
          <p:nvPr/>
        </p:nvSpPr>
        <p:spPr>
          <a:xfrm>
            <a:off x="320040" y="502920"/>
            <a:ext cx="850392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Same State -- Two Different Maps</a:t>
            </a:r>
            <a:endParaRPr lang="en-US" sz="2400" dirty="0"/>
          </a:p>
        </p:txBody>
      </p:sp>
      <p:sp>
        <p:nvSpPr>
          <p:cNvPr id="6" name="Shape 4"/>
          <p:cNvSpPr/>
          <p:nvPr/>
        </p:nvSpPr>
        <p:spPr>
          <a:xfrm>
            <a:off x="320040" y="1005840"/>
            <a:ext cx="3474720" cy="36576"/>
          </a:xfrm>
          <a:prstGeom prst="rect">
            <a:avLst/>
          </a:prstGeom>
          <a:solidFill>
            <a:srgbClr val="D4943A"/>
          </a:solidFill>
          <a:ln w="12700">
            <a:solidFill>
              <a:srgbClr val="D4943A"/>
            </a:solidFill>
            <a:prstDash val="solid"/>
          </a:ln>
        </p:spPr>
      </p:sp>
      <p:sp>
        <p:nvSpPr>
          <p:cNvPr id="7" name="Text 5"/>
          <p:cNvSpPr/>
          <p:nvPr/>
        </p:nvSpPr>
        <p:spPr>
          <a:xfrm>
            <a:off x="320040" y="1115568"/>
            <a:ext cx="3886200" cy="256032"/>
          </a:xfrm>
          <a:prstGeom prst="rect">
            <a:avLst/>
          </a:prstGeom>
          <a:noFill/>
          <a:ln/>
        </p:spPr>
        <p:txBody>
          <a:bodyPr wrap="square" lIns="0" tIns="0" rIns="0" bIns="0" rtlCol="0" anchor="ctr"/>
          <a:lstStyle/>
          <a:p>
            <a:pPr indent="0" marL="0">
              <a:buNone/>
            </a:pPr>
            <a:r>
              <a:rPr lang="en-US" sz="1000" b="1" dirty="0">
                <a:solidFill>
                  <a:srgbClr val="E8636B"/>
                </a:solidFill>
                <a:latin typeface="Calibri" pitchFamily="34" charset="0"/>
                <a:ea typeface="Calibri" pitchFamily="34" charset="-122"/>
                <a:cs typeface="Calibri" pitchFamily="34" charset="-120"/>
              </a:rPr>
              <a:t>SOURCE A: Today's Florida Weather Map</a:t>
            </a:r>
            <a:endParaRPr lang="en-US" sz="1000" dirty="0"/>
          </a:p>
        </p:txBody>
      </p:sp>
      <p:sp>
        <p:nvSpPr>
          <p:cNvPr id="8" name="Text 6"/>
          <p:cNvSpPr/>
          <p:nvPr/>
        </p:nvSpPr>
        <p:spPr>
          <a:xfrm>
            <a:off x="4480560" y="1115568"/>
            <a:ext cx="4343400" cy="256032"/>
          </a:xfrm>
          <a:prstGeom prst="rect">
            <a:avLst/>
          </a:prstGeom>
          <a:noFill/>
          <a:ln/>
        </p:spPr>
        <p:txBody>
          <a:bodyPr wrap="square" lIns="0" tIns="0" rIns="0" bIns="0"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SOURCE B: Florida Climate Map (Annual Patterns)</a:t>
            </a:r>
            <a:endParaRPr lang="en-US" sz="1000" dirty="0"/>
          </a:p>
        </p:txBody>
      </p:sp>
      <p:sp>
        <p:nvSpPr>
          <p:cNvPr id="9" name="Shape 7"/>
          <p:cNvSpPr/>
          <p:nvPr/>
        </p:nvSpPr>
        <p:spPr>
          <a:xfrm>
            <a:off x="320040" y="1417320"/>
            <a:ext cx="3886200" cy="2304288"/>
          </a:xfrm>
          <a:prstGeom prst="roundRect">
            <a:avLst>
              <a:gd name="adj" fmla="val 4762"/>
            </a:avLst>
          </a:prstGeom>
          <a:solidFill>
            <a:srgbClr val="E2E8F4"/>
          </a:solidFill>
          <a:ln w="19050">
            <a:solidFill>
              <a:srgbClr val="B0B8CC"/>
            </a:solidFill>
            <a:prstDash val="dash"/>
          </a:ln>
        </p:spPr>
      </p:sp>
      <p:sp>
        <p:nvSpPr>
          <p:cNvPr id="10" name="Text 8"/>
          <p:cNvSpPr/>
          <p:nvPr/>
        </p:nvSpPr>
        <p:spPr>
          <a:xfrm>
            <a:off x="320040" y="1417320"/>
            <a:ext cx="3886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457200" y="1691640"/>
            <a:ext cx="3611880" cy="193852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Today's Florida weather forecast map -- showing temperature or precipitation for a single day, daily news style</a:t>
            </a:r>
            <a:endParaRPr lang="en-US" sz="1100" dirty="0"/>
          </a:p>
        </p:txBody>
      </p:sp>
      <p:sp>
        <p:nvSpPr>
          <p:cNvPr id="12" name="Shape 10"/>
          <p:cNvSpPr/>
          <p:nvPr/>
        </p:nvSpPr>
        <p:spPr>
          <a:xfrm>
            <a:off x="4480560" y="1417320"/>
            <a:ext cx="4343400" cy="2304288"/>
          </a:xfrm>
          <a:prstGeom prst="roundRect">
            <a:avLst>
              <a:gd name="adj" fmla="val 4762"/>
            </a:avLst>
          </a:prstGeom>
          <a:solidFill>
            <a:srgbClr val="E2E8F4"/>
          </a:solidFill>
          <a:ln w="19050">
            <a:solidFill>
              <a:srgbClr val="B0B8CC"/>
            </a:solidFill>
            <a:prstDash val="dash"/>
          </a:ln>
        </p:spPr>
      </p:sp>
      <p:sp>
        <p:nvSpPr>
          <p:cNvPr id="13" name="Text 11"/>
          <p:cNvSpPr/>
          <p:nvPr/>
        </p:nvSpPr>
        <p:spPr>
          <a:xfrm>
            <a:off x="4480560" y="1417320"/>
            <a:ext cx="43434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4617720" y="1691640"/>
            <a:ext cx="4069080" cy="193852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annual climate map -- showing rainfall zones, temperature zones, or hurricane tracks over many years</a:t>
            </a:r>
            <a:endParaRPr lang="en-US" sz="1100" dirty="0"/>
          </a:p>
        </p:txBody>
      </p:sp>
      <p:sp>
        <p:nvSpPr>
          <p:cNvPr id="15" name="Shape 13"/>
          <p:cNvSpPr/>
          <p:nvPr/>
        </p:nvSpPr>
        <p:spPr>
          <a:xfrm>
            <a:off x="320040" y="3822192"/>
            <a:ext cx="8503920" cy="1005840"/>
          </a:xfrm>
          <a:prstGeom prst="roundRect">
            <a:avLst>
              <a:gd name="adj" fmla="val 10909"/>
            </a:avLst>
          </a:prstGeom>
          <a:solidFill>
            <a:srgbClr val="FFF3DC"/>
          </a:solidFill>
          <a:ln w="19050">
            <a:solidFill>
              <a:srgbClr val="F5E6C8"/>
            </a:solidFill>
            <a:prstDash val="solid"/>
          </a:ln>
        </p:spPr>
      </p:sp>
      <p:sp>
        <p:nvSpPr>
          <p:cNvPr id="16" name="Text 14"/>
          <p:cNvSpPr/>
          <p:nvPr/>
        </p:nvSpPr>
        <p:spPr>
          <a:xfrm>
            <a:off x="457200" y="3877056"/>
            <a:ext cx="8229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457200" y="4078224"/>
            <a:ext cx="8229600" cy="685800"/>
          </a:xfrm>
          <a:prstGeom prst="rect">
            <a:avLst/>
          </a:prstGeom>
          <a:noFill/>
          <a:ln/>
        </p:spPr>
        <p:txBody>
          <a:bodyPr wrap="square" lIns="0" tIns="0" rIns="0" bIns="0" rtlCol="0" anchor="t"/>
          <a:lstStyle/>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"A weather map shows ___ but a climate map is better for ___ because..."</a:t>
            </a:r>
            <a:endParaRPr lang="en-US" sz="1150" dirty="0"/>
          </a:p>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"Source A and Source B agree about ___ but disagree about ___"</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8B6FC0"/>
          </a:solidFill>
          <a:ln w="12700">
            <a:solidFill>
              <a:srgbClr val="8B6FC0"/>
            </a:solidFill>
            <a:prstDash val="solid"/>
          </a:ln>
        </p:spPr>
      </p:sp>
      <p:sp>
        <p:nvSpPr>
          <p:cNvPr id="4" name="Text 2"/>
          <p:cNvSpPr/>
          <p:nvPr/>
        </p:nvSpPr>
        <p:spPr>
          <a:xfrm>
            <a:off x="320040" y="182880"/>
            <a:ext cx="850392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SOURCE EVALUATION  |  THINK LIKE A GEOGRAPHER</a:t>
            </a:r>
            <a:endParaRPr lang="en-US" sz="900" dirty="0"/>
          </a:p>
        </p:txBody>
      </p:sp>
      <p:sp>
        <p:nvSpPr>
          <p:cNvPr id="5" name="Text 3"/>
          <p:cNvSpPr/>
          <p:nvPr/>
        </p:nvSpPr>
        <p:spPr>
          <a:xfrm>
            <a:off x="320040" y="502920"/>
            <a:ext cx="850392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Can We Trust This Climate Map?</a:t>
            </a:r>
            <a:endParaRPr lang="en-US" sz="2400" dirty="0"/>
          </a:p>
        </p:txBody>
      </p:sp>
      <p:sp>
        <p:nvSpPr>
          <p:cNvPr id="6" name="Shape 4"/>
          <p:cNvSpPr/>
          <p:nvPr/>
        </p:nvSpPr>
        <p:spPr>
          <a:xfrm>
            <a:off x="320040" y="1005840"/>
            <a:ext cx="3474720" cy="36576"/>
          </a:xfrm>
          <a:prstGeom prst="rect">
            <a:avLst/>
          </a:prstGeom>
          <a:solidFill>
            <a:srgbClr val="8B6FC0"/>
          </a:solidFill>
          <a:ln w="12700">
            <a:solidFill>
              <a:srgbClr val="8B6FC0"/>
            </a:solidFill>
            <a:prstDash val="solid"/>
          </a:ln>
        </p:spPr>
      </p:sp>
      <p:sp>
        <p:nvSpPr>
          <p:cNvPr id="7" name="Shape 5"/>
          <p:cNvSpPr/>
          <p:nvPr/>
        </p:nvSpPr>
        <p:spPr>
          <a:xfrm>
            <a:off x="320040" y="1143000"/>
            <a:ext cx="5394960" cy="2743200"/>
          </a:xfrm>
          <a:prstGeom prst="roundRect">
            <a:avLst>
              <a:gd name="adj" fmla="val 5000"/>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502920" y="1234440"/>
            <a:ext cx="50292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9" name="Text 7"/>
          <p:cNvSpPr/>
          <p:nvPr/>
        </p:nvSpPr>
        <p:spPr>
          <a:xfrm>
            <a:off x="502920" y="1490472"/>
            <a:ext cx="5029200" cy="2304288"/>
          </a:xfrm>
          <a:prstGeom prst="rect">
            <a:avLst/>
          </a:prstGeom>
          <a:noFill/>
          <a:ln/>
        </p:spPr>
        <p:txBody>
          <a:bodyPr wrap="square" lIns="0" tIns="0" rIns="0" bIns="0" rtlCol="0" anchor="t"/>
          <a:lstStyle/>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Who made this climate map and why? Does the maker's purpose matter?</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What is this map NOT showing you? What data is missing?</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Would you use this to predict tomorrow's weather? Why or why not?</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How confident are you in this data? What would make you MORE confident?</a:t>
            </a:r>
            <a:endParaRPr lang="en-US" sz="1050" dirty="0"/>
          </a:p>
        </p:txBody>
      </p:sp>
      <p:sp>
        <p:nvSpPr>
          <p:cNvPr id="10" name="Shape 8"/>
          <p:cNvSpPr/>
          <p:nvPr/>
        </p:nvSpPr>
        <p:spPr>
          <a:xfrm>
            <a:off x="320040" y="3977640"/>
            <a:ext cx="5394960" cy="896112"/>
          </a:xfrm>
          <a:prstGeom prst="roundRect">
            <a:avLst>
              <a:gd name="adj" fmla="val 12245"/>
            </a:avLst>
          </a:prstGeom>
          <a:solidFill>
            <a:srgbClr val="FFF3DC"/>
          </a:solidFill>
          <a:ln w="19050">
            <a:solidFill>
              <a:srgbClr val="F5E6C8"/>
            </a:solidFill>
            <a:prstDash val="solid"/>
          </a:ln>
        </p:spPr>
      </p:sp>
      <p:sp>
        <p:nvSpPr>
          <p:cNvPr id="11" name="Text 9"/>
          <p:cNvSpPr/>
          <p:nvPr/>
        </p:nvSpPr>
        <p:spPr>
          <a:xfrm>
            <a:off x="457200" y="4032504"/>
            <a:ext cx="5120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57200" y="4233672"/>
            <a:ext cx="5120640" cy="576072"/>
          </a:xfrm>
          <a:prstGeom prst="rect">
            <a:avLst/>
          </a:prstGeom>
          <a:noFill/>
          <a:ln/>
        </p:spPr>
        <p:txBody>
          <a:bodyPr wrap="square" lIns="0" tIns="0" rIns="0" bIns="0" rtlCol="0" anchor="t"/>
          <a:lstStyle/>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"I would trust / not trust this source because..."</a:t>
            </a:r>
            <a:endParaRPr lang="en-US" sz="1150" dirty="0"/>
          </a:p>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"One thing this map cannot tell me is ___ because..."</a:t>
            </a:r>
            <a:endParaRPr lang="en-US" sz="1150" dirty="0"/>
          </a:p>
        </p:txBody>
      </p:sp>
      <p:sp>
        <p:nvSpPr>
          <p:cNvPr id="13" name="Shape 11"/>
          <p:cNvSpPr/>
          <p:nvPr/>
        </p:nvSpPr>
        <p:spPr>
          <a:xfrm>
            <a:off x="5897880" y="1143000"/>
            <a:ext cx="2926080" cy="3730752"/>
          </a:xfrm>
          <a:prstGeom prst="roundRect">
            <a:avLst>
              <a:gd name="adj" fmla="val 3750"/>
            </a:avLst>
          </a:prstGeom>
          <a:solidFill>
            <a:srgbClr val="FFFFFF"/>
          </a:solidFill>
          <a:ln w="19050">
            <a:solidFill>
              <a:srgbClr val="B0B8CC"/>
            </a:solidFill>
            <a:prstDash val="solid"/>
          </a:ln>
          <a:effectLst>
            <a:outerShdw sx="100000" sy="100000" kx="0" ky="0" algn="bl" rotWithShape="0" blurRad="76200" dist="25400" dir="8100000">
              <a:srgbClr val="000000">
                <a:alpha val="10000"/>
              </a:srgbClr>
            </a:outerShdw>
          </a:effectLst>
        </p:spPr>
      </p:sp>
      <p:sp>
        <p:nvSpPr>
          <p:cNvPr id="14" name="Text 12"/>
          <p:cNvSpPr/>
          <p:nvPr/>
        </p:nvSpPr>
        <p:spPr>
          <a:xfrm>
            <a:off x="6035040" y="1234440"/>
            <a:ext cx="2651760" cy="2560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RELIABILITY CHECKLIST</a:t>
            </a:r>
            <a:endParaRPr lang="en-US" sz="900" dirty="0"/>
          </a:p>
        </p:txBody>
      </p:sp>
      <p:sp>
        <p:nvSpPr>
          <p:cNvPr id="15" name="Shape 13"/>
          <p:cNvSpPr/>
          <p:nvPr/>
        </p:nvSpPr>
        <p:spPr>
          <a:xfrm>
            <a:off x="6035040" y="1600200"/>
            <a:ext cx="201168" cy="201168"/>
          </a:xfrm>
          <a:prstGeom prst="rect">
            <a:avLst/>
          </a:prstGeom>
          <a:solidFill>
            <a:srgbClr val="F0F2F8"/>
          </a:solidFill>
          <a:ln w="19050">
            <a:solidFill>
              <a:srgbClr val="8B6FC0"/>
            </a:solidFill>
            <a:prstDash val="solid"/>
          </a:ln>
        </p:spPr>
      </p:sp>
      <p:sp>
        <p:nvSpPr>
          <p:cNvPr id="16" name="Text 14"/>
          <p:cNvSpPr/>
          <p:nvPr/>
        </p:nvSpPr>
        <p:spPr>
          <a:xfrm>
            <a:off x="6309360" y="1581912"/>
            <a:ext cx="2331720" cy="237744"/>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Who made it?</a:t>
            </a:r>
            <a:endParaRPr lang="en-US" sz="1100" dirty="0"/>
          </a:p>
        </p:txBody>
      </p:sp>
      <p:sp>
        <p:nvSpPr>
          <p:cNvPr id="17" name="Shape 15"/>
          <p:cNvSpPr/>
          <p:nvPr/>
        </p:nvSpPr>
        <p:spPr>
          <a:xfrm>
            <a:off x="6035040" y="2112264"/>
            <a:ext cx="201168" cy="201168"/>
          </a:xfrm>
          <a:prstGeom prst="rect">
            <a:avLst/>
          </a:prstGeom>
          <a:solidFill>
            <a:srgbClr val="F0F2F8"/>
          </a:solidFill>
          <a:ln w="19050">
            <a:solidFill>
              <a:srgbClr val="8B6FC0"/>
            </a:solidFill>
            <a:prstDash val="solid"/>
          </a:ln>
        </p:spPr>
      </p:sp>
      <p:sp>
        <p:nvSpPr>
          <p:cNvPr id="18" name="Text 16"/>
          <p:cNvSpPr/>
          <p:nvPr/>
        </p:nvSpPr>
        <p:spPr>
          <a:xfrm>
            <a:off x="6309360" y="2093976"/>
            <a:ext cx="2331720" cy="237744"/>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When was it made?</a:t>
            </a:r>
            <a:endParaRPr lang="en-US" sz="1100" dirty="0"/>
          </a:p>
        </p:txBody>
      </p:sp>
      <p:sp>
        <p:nvSpPr>
          <p:cNvPr id="19" name="Shape 17"/>
          <p:cNvSpPr/>
          <p:nvPr/>
        </p:nvSpPr>
        <p:spPr>
          <a:xfrm>
            <a:off x="6035040" y="2624328"/>
            <a:ext cx="201168" cy="201168"/>
          </a:xfrm>
          <a:prstGeom prst="rect">
            <a:avLst/>
          </a:prstGeom>
          <a:solidFill>
            <a:srgbClr val="F0F2F8"/>
          </a:solidFill>
          <a:ln w="19050">
            <a:solidFill>
              <a:srgbClr val="8B6FC0"/>
            </a:solidFill>
            <a:prstDash val="solid"/>
          </a:ln>
        </p:spPr>
      </p:sp>
      <p:sp>
        <p:nvSpPr>
          <p:cNvPr id="20" name="Text 18"/>
          <p:cNvSpPr/>
          <p:nvPr/>
        </p:nvSpPr>
        <p:spPr>
          <a:xfrm>
            <a:off x="6309360" y="2606040"/>
            <a:ext cx="2331720" cy="237744"/>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How was data collected?</a:t>
            </a:r>
            <a:endParaRPr lang="en-US" sz="1100" dirty="0"/>
          </a:p>
        </p:txBody>
      </p:sp>
      <p:sp>
        <p:nvSpPr>
          <p:cNvPr id="21" name="Shape 19"/>
          <p:cNvSpPr/>
          <p:nvPr/>
        </p:nvSpPr>
        <p:spPr>
          <a:xfrm>
            <a:off x="6035040" y="3136392"/>
            <a:ext cx="201168" cy="201168"/>
          </a:xfrm>
          <a:prstGeom prst="rect">
            <a:avLst/>
          </a:prstGeom>
          <a:solidFill>
            <a:srgbClr val="F0F2F8"/>
          </a:solidFill>
          <a:ln w="19050">
            <a:solidFill>
              <a:srgbClr val="8B6FC0"/>
            </a:solidFill>
            <a:prstDash val="solid"/>
          </a:ln>
        </p:spPr>
      </p:sp>
      <p:sp>
        <p:nvSpPr>
          <p:cNvPr id="22" name="Text 20"/>
          <p:cNvSpPr/>
          <p:nvPr/>
        </p:nvSpPr>
        <p:spPr>
          <a:xfrm>
            <a:off x="6309360" y="3118104"/>
            <a:ext cx="2331720" cy="237744"/>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What does the legend say?</a:t>
            </a:r>
            <a:endParaRPr lang="en-US" sz="1100" dirty="0"/>
          </a:p>
        </p:txBody>
      </p:sp>
      <p:sp>
        <p:nvSpPr>
          <p:cNvPr id="23" name="Shape 21"/>
          <p:cNvSpPr/>
          <p:nvPr/>
        </p:nvSpPr>
        <p:spPr>
          <a:xfrm>
            <a:off x="6035040" y="3648456"/>
            <a:ext cx="201168" cy="201168"/>
          </a:xfrm>
          <a:prstGeom prst="rect">
            <a:avLst/>
          </a:prstGeom>
          <a:solidFill>
            <a:srgbClr val="F0F2F8"/>
          </a:solidFill>
          <a:ln w="19050">
            <a:solidFill>
              <a:srgbClr val="8B6FC0"/>
            </a:solidFill>
            <a:prstDash val="solid"/>
          </a:ln>
        </p:spPr>
      </p:sp>
      <p:sp>
        <p:nvSpPr>
          <p:cNvPr id="24" name="Text 22"/>
          <p:cNvSpPr/>
          <p:nvPr/>
        </p:nvSpPr>
        <p:spPr>
          <a:xfrm>
            <a:off x="6309360" y="3630168"/>
            <a:ext cx="2331720" cy="237744"/>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Is the source cited?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164592" cy="5143500"/>
          </a:xfrm>
          <a:prstGeom prst="rect">
            <a:avLst/>
          </a:prstGeom>
          <a:solidFill>
            <a:srgbClr val="1A8A7D"/>
          </a:solidFill>
          <a:ln w="12700">
            <a:solidFill>
              <a:srgbClr val="1A8A7D"/>
            </a:solidFill>
            <a:prstDash val="solid"/>
          </a:ln>
        </p:spPr>
      </p:sp>
      <p:sp>
        <p:nvSpPr>
          <p:cNvPr id="4" name="Text 2"/>
          <p:cNvSpPr/>
          <p:nvPr/>
        </p:nvSpPr>
        <p:spPr>
          <a:xfrm>
            <a:off x="320040" y="201168"/>
            <a:ext cx="8503920" cy="256032"/>
          </a:xfrm>
          <a:prstGeom prst="rect">
            <a:avLst/>
          </a:prstGeom>
          <a:noFill/>
          <a:ln/>
        </p:spPr>
        <p:txBody>
          <a:bodyPr wrap="square" lIns="0" tIns="0" rIns="0" bIns="0" rtlCol="0" anchor="ctr"/>
          <a:lstStyle/>
          <a:p>
            <a:pPr indent="0" marL="0">
              <a:buNone/>
            </a:pPr>
            <a:r>
              <a:rPr lang="en-US" sz="900" b="1" spc="200" kern="0" dirty="0">
                <a:solidFill>
                  <a:srgbClr val="1A8A7D"/>
                </a:solidFill>
                <a:latin typeface="Calibri" pitchFamily="34" charset="0"/>
                <a:ea typeface="Calibri" pitchFamily="34" charset="-122"/>
                <a:cs typeface="Calibri" pitchFamily="34" charset="-120"/>
              </a:rPr>
              <a:t>REVEAL  |  FLORIDA'S CLIMATE PROFILE</a:t>
            </a:r>
            <a:endParaRPr lang="en-US" sz="900" dirty="0"/>
          </a:p>
        </p:txBody>
      </p:sp>
      <p:sp>
        <p:nvSpPr>
          <p:cNvPr id="5" name="Text 3"/>
          <p:cNvSpPr/>
          <p:nvPr/>
        </p:nvSpPr>
        <p:spPr>
          <a:xfrm>
            <a:off x="320040" y="530352"/>
            <a:ext cx="850392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Three Defining Patterns</a:t>
            </a:r>
            <a:endParaRPr lang="en-US" sz="2800" dirty="0"/>
          </a:p>
        </p:txBody>
      </p:sp>
      <p:sp>
        <p:nvSpPr>
          <p:cNvPr id="6" name="Shape 4"/>
          <p:cNvSpPr/>
          <p:nvPr/>
        </p:nvSpPr>
        <p:spPr>
          <a:xfrm>
            <a:off x="320040" y="1078992"/>
            <a:ext cx="2743200" cy="45720"/>
          </a:xfrm>
          <a:prstGeom prst="rect">
            <a:avLst/>
          </a:prstGeom>
          <a:solidFill>
            <a:srgbClr val="1A8A7D"/>
          </a:solidFill>
          <a:ln w="12700">
            <a:solidFill>
              <a:srgbClr val="1A8A7D"/>
            </a:solidFill>
            <a:prstDash val="solid"/>
          </a:ln>
        </p:spPr>
      </p:sp>
      <p:sp>
        <p:nvSpPr>
          <p:cNvPr id="7" name="Shape 5"/>
          <p:cNvSpPr/>
          <p:nvPr/>
        </p:nvSpPr>
        <p:spPr>
          <a:xfrm>
            <a:off x="320040" y="1261872"/>
            <a:ext cx="2651760" cy="2304288"/>
          </a:xfrm>
          <a:prstGeom prst="roundRect">
            <a:avLst>
              <a:gd name="adj" fmla="val 5952"/>
            </a:avLst>
          </a:prstGeom>
          <a:solidFill>
            <a:srgbClr val="1A2D5A"/>
          </a:solidFill>
          <a:ln w="25400">
            <a:solidFill>
              <a:srgbClr val="D4943A"/>
            </a:solidFill>
            <a:prstDash val="solid"/>
          </a:ln>
        </p:spPr>
      </p:sp>
      <p:sp>
        <p:nvSpPr>
          <p:cNvPr id="8" name="Text 6"/>
          <p:cNvSpPr/>
          <p:nvPr/>
        </p:nvSpPr>
        <p:spPr>
          <a:xfrm>
            <a:off x="320040" y="1371600"/>
            <a:ext cx="2651760" cy="320040"/>
          </a:xfrm>
          <a:prstGeom prst="rect">
            <a:avLst/>
          </a:prstGeom>
          <a:noFill/>
          <a:ln/>
        </p:spPr>
        <p:txBody>
          <a:bodyPr wrap="square" lIns="0" tIns="0" rIns="0" bIns="0" rtlCol="0" anchor="ctr"/>
          <a:lstStyle/>
          <a:p>
            <a:pPr algn="ctr" indent="0" marL="0">
              <a:buNone/>
            </a:pPr>
            <a:r>
              <a:rPr lang="en-US" sz="1000" b="1" spc="200" kern="0" dirty="0">
                <a:solidFill>
                  <a:srgbClr val="D4943A"/>
                </a:solidFill>
                <a:latin typeface="Calibri" pitchFamily="34" charset="0"/>
                <a:ea typeface="Calibri" pitchFamily="34" charset="-122"/>
                <a:cs typeface="Calibri" pitchFamily="34" charset="-120"/>
              </a:rPr>
              <a:t>WARM</a:t>
            </a:r>
            <a:endParaRPr lang="en-US" sz="1000" dirty="0"/>
          </a:p>
        </p:txBody>
      </p:sp>
      <p:sp>
        <p:nvSpPr>
          <p:cNvPr id="9" name="Shape 7"/>
          <p:cNvSpPr/>
          <p:nvPr/>
        </p:nvSpPr>
        <p:spPr>
          <a:xfrm>
            <a:off x="777240" y="1737360"/>
            <a:ext cx="1737360" cy="36576"/>
          </a:xfrm>
          <a:prstGeom prst="rect">
            <a:avLst/>
          </a:prstGeom>
          <a:solidFill>
            <a:srgbClr val="D4943A"/>
          </a:solidFill>
          <a:ln w="12700">
            <a:solidFill>
              <a:srgbClr val="D4943A"/>
            </a:solidFill>
            <a:prstDash val="solid"/>
          </a:ln>
        </p:spPr>
      </p:sp>
      <p:sp>
        <p:nvSpPr>
          <p:cNvPr id="10" name="Text 8"/>
          <p:cNvSpPr/>
          <p:nvPr/>
        </p:nvSpPr>
        <p:spPr>
          <a:xfrm>
            <a:off x="457200" y="1847088"/>
            <a:ext cx="2377440" cy="1508760"/>
          </a:xfrm>
          <a:prstGeom prst="rect">
            <a:avLst/>
          </a:prstGeom>
          <a:noFill/>
          <a:ln/>
        </p:spPr>
        <p:txBody>
          <a:bodyPr wrap="square" lIns="0" tIns="0" rIns="0" bIns="0" rtlCol="0" anchor="t"/>
          <a:lstStyle/>
          <a:p>
            <a:pPr algn="ctr" indent="0" marL="0">
              <a:lnSpc>
                <a:spcPct val="130000"/>
              </a:lnSpc>
              <a:buNone/>
            </a:pPr>
            <a:r>
              <a:rPr lang="en-US" sz="1200" i="1" dirty="0">
                <a:solidFill>
                  <a:srgbClr val="F0F2F8"/>
                </a:solidFill>
                <a:latin typeface="Cambria" pitchFamily="34" charset="0"/>
                <a:ea typeface="Cambria" pitchFamily="34" charset="-122"/>
                <a:cs typeface="Cambria" pitchFamily="34" charset="-120"/>
              </a:rPr>
              <a:t>High temperatures year-round. North Florida gets mild winters; South Florida stays warm.</a:t>
            </a:r>
            <a:endParaRPr lang="en-US" sz="1200" dirty="0"/>
          </a:p>
        </p:txBody>
      </p:sp>
      <p:sp>
        <p:nvSpPr>
          <p:cNvPr id="11" name="Shape 9"/>
          <p:cNvSpPr/>
          <p:nvPr/>
        </p:nvSpPr>
        <p:spPr>
          <a:xfrm>
            <a:off x="3172968" y="1261872"/>
            <a:ext cx="2651760" cy="2304288"/>
          </a:xfrm>
          <a:prstGeom prst="roundRect">
            <a:avLst>
              <a:gd name="adj" fmla="val 5952"/>
            </a:avLst>
          </a:prstGeom>
          <a:solidFill>
            <a:srgbClr val="1A2D5A"/>
          </a:solidFill>
          <a:ln w="25400">
            <a:solidFill>
              <a:srgbClr val="55C8E8"/>
            </a:solidFill>
            <a:prstDash val="solid"/>
          </a:ln>
        </p:spPr>
      </p:sp>
      <p:sp>
        <p:nvSpPr>
          <p:cNvPr id="12" name="Text 10"/>
          <p:cNvSpPr/>
          <p:nvPr/>
        </p:nvSpPr>
        <p:spPr>
          <a:xfrm>
            <a:off x="3172968" y="1371600"/>
            <a:ext cx="2651760" cy="320040"/>
          </a:xfrm>
          <a:prstGeom prst="rect">
            <a:avLst/>
          </a:prstGeom>
          <a:noFill/>
          <a:ln/>
        </p:spPr>
        <p:txBody>
          <a:bodyPr wrap="square" lIns="0" tIns="0" rIns="0" bIns="0"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RAINY</a:t>
            </a:r>
            <a:endParaRPr lang="en-US" sz="1000" dirty="0"/>
          </a:p>
        </p:txBody>
      </p:sp>
      <p:sp>
        <p:nvSpPr>
          <p:cNvPr id="13" name="Shape 11"/>
          <p:cNvSpPr/>
          <p:nvPr/>
        </p:nvSpPr>
        <p:spPr>
          <a:xfrm>
            <a:off x="3630168" y="1737360"/>
            <a:ext cx="1737360" cy="36576"/>
          </a:xfrm>
          <a:prstGeom prst="rect">
            <a:avLst/>
          </a:prstGeom>
          <a:solidFill>
            <a:srgbClr val="55C8E8"/>
          </a:solidFill>
          <a:ln w="12700">
            <a:solidFill>
              <a:srgbClr val="55C8E8"/>
            </a:solidFill>
            <a:prstDash val="solid"/>
          </a:ln>
        </p:spPr>
      </p:sp>
      <p:sp>
        <p:nvSpPr>
          <p:cNvPr id="14" name="Text 12"/>
          <p:cNvSpPr/>
          <p:nvPr/>
        </p:nvSpPr>
        <p:spPr>
          <a:xfrm>
            <a:off x="3310128" y="1847088"/>
            <a:ext cx="2377440" cy="1508760"/>
          </a:xfrm>
          <a:prstGeom prst="rect">
            <a:avLst/>
          </a:prstGeom>
          <a:noFill/>
          <a:ln/>
        </p:spPr>
        <p:txBody>
          <a:bodyPr wrap="square" lIns="0" tIns="0" rIns="0" bIns="0" rtlCol="0" anchor="t"/>
          <a:lstStyle/>
          <a:p>
            <a:pPr algn="ctr" indent="0" marL="0">
              <a:lnSpc>
                <a:spcPct val="130000"/>
              </a:lnSpc>
              <a:buNone/>
            </a:pPr>
            <a:r>
              <a:rPr lang="en-US" sz="1200" i="1" dirty="0">
                <a:solidFill>
                  <a:srgbClr val="F0F2F8"/>
                </a:solidFill>
                <a:latin typeface="Cambria" pitchFamily="34" charset="0"/>
                <a:ea typeface="Cambria" pitchFamily="34" charset="-122"/>
                <a:cs typeface="Cambria" pitchFamily="34" charset="-120"/>
              </a:rPr>
              <a:t>Among the highest rainfall totals in the US. Afternoon thunderstorms are common in summer.</a:t>
            </a:r>
            <a:endParaRPr lang="en-US" sz="1200" dirty="0"/>
          </a:p>
        </p:txBody>
      </p:sp>
      <p:sp>
        <p:nvSpPr>
          <p:cNvPr id="15" name="Shape 13"/>
          <p:cNvSpPr/>
          <p:nvPr/>
        </p:nvSpPr>
        <p:spPr>
          <a:xfrm>
            <a:off x="6025896" y="1261872"/>
            <a:ext cx="2651760" cy="2304288"/>
          </a:xfrm>
          <a:prstGeom prst="roundRect">
            <a:avLst>
              <a:gd name="adj" fmla="val 5952"/>
            </a:avLst>
          </a:prstGeom>
          <a:solidFill>
            <a:srgbClr val="1A2D5A"/>
          </a:solidFill>
          <a:ln w="25400">
            <a:solidFill>
              <a:srgbClr val="E8636B"/>
            </a:solidFill>
            <a:prstDash val="solid"/>
          </a:ln>
        </p:spPr>
      </p:sp>
      <p:sp>
        <p:nvSpPr>
          <p:cNvPr id="16" name="Text 14"/>
          <p:cNvSpPr/>
          <p:nvPr/>
        </p:nvSpPr>
        <p:spPr>
          <a:xfrm>
            <a:off x="6025896" y="1371600"/>
            <a:ext cx="2651760" cy="320040"/>
          </a:xfrm>
          <a:prstGeom prst="rect">
            <a:avLst/>
          </a:prstGeom>
          <a:noFill/>
          <a:ln/>
        </p:spPr>
        <p:txBody>
          <a:bodyPr wrap="square" lIns="0" tIns="0" rIns="0" bIns="0" rtlCol="0" anchor="ctr"/>
          <a:lstStyle/>
          <a:p>
            <a:pPr algn="ctr" indent="0" marL="0">
              <a:buNone/>
            </a:pPr>
            <a:r>
              <a:rPr lang="en-US" sz="1000" b="1" spc="200" kern="0" dirty="0">
                <a:solidFill>
                  <a:srgbClr val="E8636B"/>
                </a:solidFill>
                <a:latin typeface="Calibri" pitchFamily="34" charset="0"/>
                <a:ea typeface="Calibri" pitchFamily="34" charset="-122"/>
                <a:cs typeface="Calibri" pitchFamily="34" charset="-120"/>
              </a:rPr>
              <a:t>STORM SEASON</a:t>
            </a:r>
            <a:endParaRPr lang="en-US" sz="1000" dirty="0"/>
          </a:p>
        </p:txBody>
      </p:sp>
      <p:sp>
        <p:nvSpPr>
          <p:cNvPr id="17" name="Shape 15"/>
          <p:cNvSpPr/>
          <p:nvPr/>
        </p:nvSpPr>
        <p:spPr>
          <a:xfrm>
            <a:off x="6483096" y="1737360"/>
            <a:ext cx="1737360" cy="36576"/>
          </a:xfrm>
          <a:prstGeom prst="rect">
            <a:avLst/>
          </a:prstGeom>
          <a:solidFill>
            <a:srgbClr val="E8636B"/>
          </a:solidFill>
          <a:ln w="12700">
            <a:solidFill>
              <a:srgbClr val="E8636B"/>
            </a:solidFill>
            <a:prstDash val="solid"/>
          </a:ln>
        </p:spPr>
      </p:sp>
      <p:sp>
        <p:nvSpPr>
          <p:cNvPr id="18" name="Text 16"/>
          <p:cNvSpPr/>
          <p:nvPr/>
        </p:nvSpPr>
        <p:spPr>
          <a:xfrm>
            <a:off x="6163056" y="1847088"/>
            <a:ext cx="2377440" cy="1508760"/>
          </a:xfrm>
          <a:prstGeom prst="rect">
            <a:avLst/>
          </a:prstGeom>
          <a:noFill/>
          <a:ln/>
        </p:spPr>
        <p:txBody>
          <a:bodyPr wrap="square" lIns="0" tIns="0" rIns="0" bIns="0" rtlCol="0" anchor="t"/>
          <a:lstStyle/>
          <a:p>
            <a:pPr algn="ctr" indent="0" marL="0">
              <a:lnSpc>
                <a:spcPct val="130000"/>
              </a:lnSpc>
              <a:buNone/>
            </a:pPr>
            <a:r>
              <a:rPr lang="en-US" sz="1200" i="1" dirty="0">
                <a:solidFill>
                  <a:srgbClr val="F0F2F8"/>
                </a:solidFill>
                <a:latin typeface="Cambria" pitchFamily="34" charset="0"/>
                <a:ea typeface="Cambria" pitchFamily="34" charset="-122"/>
                <a:cs typeface="Cambria" pitchFamily="34" charset="-120"/>
              </a:rPr>
              <a:t>Hurricane season: June through November. Warm Gulf and Atlantic waters fuel the storms.</a:t>
            </a:r>
            <a:endParaRPr lang="en-US" sz="1200" dirty="0"/>
          </a:p>
        </p:txBody>
      </p:sp>
      <p:sp>
        <p:nvSpPr>
          <p:cNvPr id="19" name="Shape 17"/>
          <p:cNvSpPr/>
          <p:nvPr/>
        </p:nvSpPr>
        <p:spPr>
          <a:xfrm>
            <a:off x="320040" y="3703320"/>
            <a:ext cx="8503920" cy="36576"/>
          </a:xfrm>
          <a:prstGeom prst="rect">
            <a:avLst/>
          </a:prstGeom>
          <a:solidFill>
            <a:srgbClr val="7A88A8">
              <a:alpha val="40000"/>
            </a:srgbClr>
          </a:solidFill>
          <a:ln w="12700">
            <a:solidFill>
              <a:srgbClr val="7A88A8"/>
            </a:solidFill>
            <a:prstDash val="solid"/>
          </a:ln>
        </p:spPr>
      </p:sp>
      <p:sp>
        <p:nvSpPr>
          <p:cNvPr id="20" name="Text 18"/>
          <p:cNvSpPr/>
          <p:nvPr/>
        </p:nvSpPr>
        <p:spPr>
          <a:xfrm>
            <a:off x="320040" y="3822192"/>
            <a:ext cx="8503920" cy="384048"/>
          </a:xfrm>
          <a:prstGeom prst="rect">
            <a:avLst/>
          </a:prstGeom>
          <a:noFill/>
          <a:ln/>
        </p:spPr>
        <p:txBody>
          <a:bodyPr wrap="square" lIns="0" tIns="0" rIns="0" bIns="0" rtlCol="0" anchor="ctr"/>
          <a:lstStyle/>
          <a:p>
            <a:pPr algn="ctr" indent="0" marL="0">
              <a:buNone/>
            </a:pPr>
            <a:r>
              <a:rPr lang="en-US" sz="1400" i="1" dirty="0">
                <a:solidFill>
                  <a:srgbClr val="55C8E8"/>
                </a:solidFill>
                <a:latin typeface="Cambria" pitchFamily="34" charset="0"/>
                <a:ea typeface="Cambria" pitchFamily="34" charset="-122"/>
                <a:cs typeface="Cambria" pitchFamily="34" charset="-120"/>
              </a:rPr>
              <a:t>"The pattern is invisible until you map it."</a:t>
            </a:r>
            <a:endParaRPr lang="en-US" sz="1400" dirty="0"/>
          </a:p>
        </p:txBody>
      </p:sp>
      <p:sp>
        <p:nvSpPr>
          <p:cNvPr id="21" name="Shape 19"/>
          <p:cNvSpPr/>
          <p:nvPr/>
        </p:nvSpPr>
        <p:spPr>
          <a:xfrm>
            <a:off x="1645920" y="4315968"/>
            <a:ext cx="5852160" cy="502920"/>
          </a:xfrm>
          <a:prstGeom prst="roundRect">
            <a:avLst>
              <a:gd name="adj" fmla="val 18182"/>
            </a:avLst>
          </a:prstGeom>
          <a:solidFill>
            <a:srgbClr val="FFFFFF">
              <a:alpha val="12000"/>
            </a:srgbClr>
          </a:solidFill>
          <a:ln w="12700">
            <a:solidFill>
              <a:srgbClr val="D4943A"/>
            </a:solidFill>
            <a:prstDash val="solid"/>
          </a:ln>
        </p:spPr>
      </p:sp>
      <p:sp>
        <p:nvSpPr>
          <p:cNvPr id="22" name="Text 20"/>
          <p:cNvSpPr/>
          <p:nvPr/>
        </p:nvSpPr>
        <p:spPr>
          <a:xfrm>
            <a:off x="1783080" y="4361688"/>
            <a:ext cx="5577840" cy="365760"/>
          </a:xfrm>
          <a:prstGeom prst="rect">
            <a:avLst/>
          </a:prstGeom>
          <a:noFill/>
          <a:ln/>
        </p:spPr>
        <p:txBody>
          <a:bodyPr wrap="square" lIns="0" tIns="0" rIns="0" bIns="0" rtlCol="0" anchor="ctr"/>
          <a:lstStyle/>
          <a:p>
            <a:pPr algn="ctr" indent="0" marL="0">
              <a:buNone/>
            </a:pPr>
            <a:r>
              <a:rPr lang="en-US" sz="1200" b="1" dirty="0">
                <a:solidFill>
                  <a:srgbClr val="D4943A"/>
                </a:solidFill>
                <a:latin typeface="Calibri" pitchFamily="34" charset="0"/>
                <a:ea typeface="Calibri" pitchFamily="34" charset="-122"/>
                <a:cs typeface="Calibri" pitchFamily="34" charset="-120"/>
              </a:rPr>
              <a:t>RETRIEVAL: Name Florida's 3 climate patterns -- warm, rainy, and ___?</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55C8E8"/>
          </a:solidFill>
          <a:ln w="12700">
            <a:solidFill>
              <a:srgbClr val="55C8E8"/>
            </a:solidFill>
            <a:prstDash val="solid"/>
          </a:ln>
        </p:spPr>
      </p:sp>
      <p:sp>
        <p:nvSpPr>
          <p:cNvPr id="4" name="Text 2"/>
          <p:cNvSpPr/>
          <p:nvPr/>
        </p:nvSpPr>
        <p:spPr>
          <a:xfrm>
            <a:off x="320040" y="182880"/>
            <a:ext cx="850392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CLUE BOX 2  |  NORTH VS. SOUTH FLORIDA</a:t>
            </a:r>
            <a:endParaRPr lang="en-US" sz="900" dirty="0"/>
          </a:p>
        </p:txBody>
      </p:sp>
      <p:sp>
        <p:nvSpPr>
          <p:cNvPr id="5" name="Text 3"/>
          <p:cNvSpPr/>
          <p:nvPr/>
        </p:nvSpPr>
        <p:spPr>
          <a:xfrm>
            <a:off x="320040" y="502920"/>
            <a:ext cx="594360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One State, Different Climates</a:t>
            </a:r>
            <a:endParaRPr lang="en-US" sz="2400" dirty="0"/>
          </a:p>
        </p:txBody>
      </p:sp>
      <p:sp>
        <p:nvSpPr>
          <p:cNvPr id="6" name="Shape 4"/>
          <p:cNvSpPr/>
          <p:nvPr/>
        </p:nvSpPr>
        <p:spPr>
          <a:xfrm>
            <a:off x="320040" y="1005840"/>
            <a:ext cx="2743200" cy="36576"/>
          </a:xfrm>
          <a:prstGeom prst="rect">
            <a:avLst/>
          </a:prstGeom>
          <a:solidFill>
            <a:srgbClr val="55C8E8"/>
          </a:solidFill>
          <a:ln w="12700">
            <a:solidFill>
              <a:srgbClr val="55C8E8"/>
            </a:solidFill>
            <a:prstDash val="solid"/>
          </a:ln>
        </p:spPr>
      </p:sp>
      <p:sp>
        <p:nvSpPr>
          <p:cNvPr id="7" name="Shape 5"/>
          <p:cNvSpPr/>
          <p:nvPr/>
        </p:nvSpPr>
        <p:spPr>
          <a:xfrm>
            <a:off x="320040" y="1115568"/>
            <a:ext cx="5394960" cy="3703320"/>
          </a:xfrm>
          <a:prstGeom prst="roundRect">
            <a:avLst>
              <a:gd name="adj" fmla="val 2963"/>
            </a:avLst>
          </a:prstGeom>
          <a:solidFill>
            <a:srgbClr val="E2E8F4"/>
          </a:solidFill>
          <a:ln w="19050">
            <a:solidFill>
              <a:srgbClr val="B0B8CC"/>
            </a:solidFill>
            <a:prstDash val="dash"/>
          </a:ln>
        </p:spPr>
      </p:sp>
      <p:sp>
        <p:nvSpPr>
          <p:cNvPr id="8" name="Text 6"/>
          <p:cNvSpPr/>
          <p:nvPr/>
        </p:nvSpPr>
        <p:spPr>
          <a:xfrm>
            <a:off x="320040" y="1115568"/>
            <a:ext cx="53949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457200" y="1389888"/>
            <a:ext cx="5120640" cy="3337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climate zones map showing north/south differences -- Panhandle vs. South Florida, different shading for temperature or rainfall zones</a:t>
            </a:r>
            <a:endParaRPr lang="en-US" sz="1100" dirty="0"/>
          </a:p>
        </p:txBody>
      </p:sp>
      <p:sp>
        <p:nvSpPr>
          <p:cNvPr id="10" name="Shape 8"/>
          <p:cNvSpPr/>
          <p:nvPr/>
        </p:nvSpPr>
        <p:spPr>
          <a:xfrm>
            <a:off x="5943600" y="1115568"/>
            <a:ext cx="2880360" cy="2724912"/>
          </a:xfrm>
          <a:prstGeom prst="roundRect">
            <a:avLst>
              <a:gd name="adj" fmla="val 5034"/>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6126480" y="1207008"/>
            <a:ext cx="25146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6126480" y="1463040"/>
            <a:ext cx="2514600" cy="2286000"/>
          </a:xfrm>
          <a:prstGeom prst="rect">
            <a:avLst/>
          </a:prstGeom>
          <a:noFill/>
          <a:ln/>
        </p:spPr>
        <p:txBody>
          <a:bodyPr wrap="square" lIns="0" tIns="0" rIns="0" bIns="0" rtlCol="0" anchor="t"/>
          <a:lstStyle/>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Pick a northern city and a southern city. What's different about their climate?</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Why might a builder make different choices in each zone?</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Why does latitude matter -- what does being farther south change?</a:t>
            </a:r>
            <a:endParaRPr lang="en-US" sz="1050" dirty="0"/>
          </a:p>
        </p:txBody>
      </p:sp>
      <p:sp>
        <p:nvSpPr>
          <p:cNvPr id="13" name="Shape 11"/>
          <p:cNvSpPr/>
          <p:nvPr/>
        </p:nvSpPr>
        <p:spPr>
          <a:xfrm>
            <a:off x="5943600" y="3913632"/>
            <a:ext cx="2880360" cy="905256"/>
          </a:xfrm>
          <a:prstGeom prst="roundRect">
            <a:avLst>
              <a:gd name="adj" fmla="val 12121"/>
            </a:avLst>
          </a:prstGeom>
          <a:solidFill>
            <a:srgbClr val="FFF3DC"/>
          </a:solidFill>
          <a:ln w="19050">
            <a:solidFill>
              <a:srgbClr val="F5E6C8"/>
            </a:solidFill>
            <a:prstDash val="solid"/>
          </a:ln>
        </p:spPr>
      </p:sp>
      <p:sp>
        <p:nvSpPr>
          <p:cNvPr id="14" name="Text 12"/>
          <p:cNvSpPr/>
          <p:nvPr/>
        </p:nvSpPr>
        <p:spPr>
          <a:xfrm>
            <a:off x="6080760" y="3968496"/>
            <a:ext cx="2606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6080760" y="4169664"/>
            <a:ext cx="2606040" cy="585216"/>
          </a:xfrm>
          <a:prstGeom prst="rect">
            <a:avLst/>
          </a:prstGeom>
          <a:noFill/>
          <a:ln/>
        </p:spPr>
        <p:txBody>
          <a:bodyPr wrap="square" lIns="0" tIns="0" rIns="0" bIns="0" rtlCol="0" anchor="t"/>
          <a:lstStyle/>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"North and South Florida differ in climate because..."</a:t>
            </a:r>
            <a:endParaRPr lang="en-US" sz="1150" dirty="0"/>
          </a:p>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"Living in ___ Florida, I would prepare for ___ because the climate data shows..."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D4943A"/>
          </a:solidFill>
          <a:ln w="12700">
            <a:solidFill>
              <a:srgbClr val="D4943A"/>
            </a:solidFill>
            <a:prstDash val="solid"/>
          </a:ln>
        </p:spPr>
      </p:sp>
      <p:sp>
        <p:nvSpPr>
          <p:cNvPr id="4" name="Text 2"/>
          <p:cNvSpPr/>
          <p:nvPr/>
        </p:nvSpPr>
        <p:spPr>
          <a:xfrm>
            <a:off x="320040" y="182880"/>
            <a:ext cx="850392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DISCUSSION  |  ASSIGNMENT PREP -- Q2</a:t>
            </a:r>
            <a:endParaRPr lang="en-US" sz="900" dirty="0"/>
          </a:p>
        </p:txBody>
      </p:sp>
      <p:sp>
        <p:nvSpPr>
          <p:cNvPr id="5" name="Text 3"/>
          <p:cNvSpPr/>
          <p:nvPr/>
        </p:nvSpPr>
        <p:spPr>
          <a:xfrm>
            <a:off x="320040" y="502920"/>
            <a:ext cx="850392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Climate Shapes Real Decisions</a:t>
            </a:r>
            <a:endParaRPr lang="en-US" sz="2400" dirty="0"/>
          </a:p>
        </p:txBody>
      </p:sp>
      <p:sp>
        <p:nvSpPr>
          <p:cNvPr id="6" name="Shape 4"/>
          <p:cNvSpPr/>
          <p:nvPr/>
        </p:nvSpPr>
        <p:spPr>
          <a:xfrm>
            <a:off x="320040" y="1005840"/>
            <a:ext cx="3200400" cy="36576"/>
          </a:xfrm>
          <a:prstGeom prst="rect">
            <a:avLst/>
          </a:prstGeom>
          <a:solidFill>
            <a:srgbClr val="D4943A"/>
          </a:solidFill>
          <a:ln w="12700">
            <a:solidFill>
              <a:srgbClr val="D4943A"/>
            </a:solidFill>
            <a:prstDash val="solid"/>
          </a:ln>
        </p:spPr>
      </p:sp>
      <p:sp>
        <p:nvSpPr>
          <p:cNvPr id="7" name="Shape 5"/>
          <p:cNvSpPr/>
          <p:nvPr/>
        </p:nvSpPr>
        <p:spPr>
          <a:xfrm>
            <a:off x="320040" y="1143000"/>
            <a:ext cx="5394960" cy="2788920"/>
          </a:xfrm>
          <a:prstGeom prst="roundRect">
            <a:avLst>
              <a:gd name="adj" fmla="val 4918"/>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502920" y="1234440"/>
            <a:ext cx="50292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502920" y="1490472"/>
            <a:ext cx="5029200" cy="2350008"/>
          </a:xfrm>
          <a:prstGeom prst="rect">
            <a:avLst/>
          </a:prstGeom>
          <a:noFill/>
          <a:ln/>
        </p:spPr>
        <p:txBody>
          <a:bodyPr wrap="square" lIns="0" tIns="0" rIns="0" bIns="0" rtlCol="0" anchor="t"/>
          <a:lstStyle/>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Why is a climate map more useful than a weather map for deciding where to build a house?</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How is Florida's climate different from a cold-winter state? Give one specific difference.</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What would change your mind about Florida being a good place to live?</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Is one unusually hot year evidence that climate has changed? Defend your position.</a:t>
            </a:r>
            <a:endParaRPr lang="en-US" sz="1050" dirty="0"/>
          </a:p>
        </p:txBody>
      </p:sp>
      <p:sp>
        <p:nvSpPr>
          <p:cNvPr id="10" name="Shape 8"/>
          <p:cNvSpPr/>
          <p:nvPr/>
        </p:nvSpPr>
        <p:spPr>
          <a:xfrm>
            <a:off x="320040" y="4005072"/>
            <a:ext cx="5394960" cy="841248"/>
          </a:xfrm>
          <a:prstGeom prst="roundRect">
            <a:avLst>
              <a:gd name="adj" fmla="val 13043"/>
            </a:avLst>
          </a:prstGeom>
          <a:solidFill>
            <a:srgbClr val="FFF3DC"/>
          </a:solidFill>
          <a:ln w="19050">
            <a:solidFill>
              <a:srgbClr val="F5E6C8"/>
            </a:solidFill>
            <a:prstDash val="solid"/>
          </a:ln>
        </p:spPr>
      </p:sp>
      <p:sp>
        <p:nvSpPr>
          <p:cNvPr id="11" name="Text 9"/>
          <p:cNvSpPr/>
          <p:nvPr/>
        </p:nvSpPr>
        <p:spPr>
          <a:xfrm>
            <a:off x="457200" y="4059936"/>
            <a:ext cx="5120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57200" y="4261104"/>
            <a:ext cx="5120640" cy="521208"/>
          </a:xfrm>
          <a:prstGeom prst="rect">
            <a:avLst/>
          </a:prstGeom>
          <a:noFill/>
          <a:ln/>
        </p:spPr>
        <p:txBody>
          <a:bodyPr wrap="square" lIns="0" tIns="0" rIns="0" bIns="0" rtlCol="0" anchor="t"/>
          <a:lstStyle/>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"Florida's climate is different from ___ because the data shows..."</a:t>
            </a:r>
            <a:endParaRPr lang="en-US" sz="1150" dirty="0"/>
          </a:p>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"A builder would choose this location because the climate map shows... and that matters because..."</a:t>
            </a:r>
            <a:endParaRPr lang="en-US" sz="1150" dirty="0"/>
          </a:p>
        </p:txBody>
      </p:sp>
      <p:sp>
        <p:nvSpPr>
          <p:cNvPr id="13" name="Shape 11"/>
          <p:cNvSpPr/>
          <p:nvPr/>
        </p:nvSpPr>
        <p:spPr>
          <a:xfrm>
            <a:off x="5897880" y="1143000"/>
            <a:ext cx="2926080" cy="3703320"/>
          </a:xfrm>
          <a:prstGeom prst="roundRect">
            <a:avLst>
              <a:gd name="adj" fmla="val 3750"/>
            </a:avLst>
          </a:prstGeom>
          <a:solidFill>
            <a:srgbClr val="FFFFFF"/>
          </a:solidFill>
          <a:ln w="19050">
            <a:solidFill>
              <a:srgbClr val="B0B8CC"/>
            </a:solidFill>
            <a:prstDash val="solid"/>
          </a:ln>
          <a:effectLst>
            <a:outerShdw sx="100000" sy="100000" kx="0" ky="0" algn="bl" rotWithShape="0" blurRad="76200" dist="25400" dir="8100000">
              <a:srgbClr val="000000">
                <a:alpha val="10000"/>
              </a:srgbClr>
            </a:outerShdw>
          </a:effectLst>
        </p:spPr>
      </p:sp>
      <p:sp>
        <p:nvSpPr>
          <p:cNvPr id="14" name="Text 12"/>
          <p:cNvSpPr/>
          <p:nvPr/>
        </p:nvSpPr>
        <p:spPr>
          <a:xfrm>
            <a:off x="6035040" y="1234440"/>
            <a:ext cx="265176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ASSIGNMENT LINK</a:t>
            </a:r>
            <a:endParaRPr lang="en-US" sz="900" dirty="0"/>
          </a:p>
        </p:txBody>
      </p:sp>
      <p:sp>
        <p:nvSpPr>
          <p:cNvPr id="15" name="Text 13"/>
          <p:cNvSpPr/>
          <p:nvPr/>
        </p:nvSpPr>
        <p:spPr>
          <a:xfrm>
            <a:off x="6035040" y="1572768"/>
            <a:ext cx="2651760" cy="1783080"/>
          </a:xfrm>
          <a:prstGeom prst="rect">
            <a:avLst/>
          </a:prstGeom>
          <a:noFill/>
          <a:ln/>
        </p:spPr>
        <p:txBody>
          <a:bodyPr wrap="square" lIns="0" tIns="0" rIns="0" bIns="0" rtlCol="0" anchor="t"/>
          <a:lstStyle/>
          <a:p>
            <a:pPr indent="0" marL="0">
              <a:lnSpc>
                <a:spcPct val="135000"/>
              </a:lnSpc>
              <a:buNone/>
            </a:pPr>
            <a:r>
              <a:rPr lang="en-US" sz="1200" i="1" dirty="0">
                <a:solidFill>
                  <a:srgbClr val="0E1C42"/>
                </a:solidFill>
                <a:latin typeface="Cambria" pitchFamily="34" charset="0"/>
                <a:ea typeface="Cambria" pitchFamily="34" charset="-122"/>
                <a:cs typeface="Cambria" pitchFamily="34" charset="-120"/>
              </a:rPr>
              <a:t>Q2 asks you to compare Florida's climate to a cold-winter state.</a:t>
            </a:r>
            <a:endParaRPr lang="en-US" sz="1200" dirty="0"/>
          </a:p>
          <a:p>
            <a:pPr indent="0" marL="0">
              <a:lnSpc>
                <a:spcPct val="135000"/>
              </a:lnSpc>
              <a:buNone/>
            </a:pPr>
            <a:endParaRPr lang="en-US" sz="1200" dirty="0"/>
          </a:p>
          <a:p>
            <a:pPr indent="0" marL="0">
              <a:lnSpc>
                <a:spcPct val="135000"/>
              </a:lnSpc>
              <a:buNone/>
            </a:pPr>
            <a:r>
              <a:rPr lang="en-US" sz="1200" i="1" dirty="0">
                <a:solidFill>
                  <a:srgbClr val="0E1C42"/>
                </a:solidFill>
                <a:latin typeface="Cambria" pitchFamily="34" charset="0"/>
                <a:ea typeface="Cambria" pitchFamily="34" charset="-122"/>
                <a:cs typeface="Cambria" pitchFamily="34" charset="-120"/>
              </a:rPr>
              <a:t>Practice that comparison right now -- before the assignment.</a:t>
            </a:r>
            <a:endParaRPr lang="en-US" sz="1200" dirty="0"/>
          </a:p>
        </p:txBody>
      </p:sp>
      <p:sp>
        <p:nvSpPr>
          <p:cNvPr id="16" name="Text 14"/>
          <p:cNvSpPr/>
          <p:nvPr/>
        </p:nvSpPr>
        <p:spPr>
          <a:xfrm>
            <a:off x="6035040" y="3520440"/>
            <a:ext cx="2651760" cy="914400"/>
          </a:xfrm>
          <a:prstGeom prst="rect">
            <a:avLst/>
          </a:prstGeom>
          <a:noFill/>
          <a:ln/>
        </p:spPr>
        <p:txBody>
          <a:bodyPr wrap="square" lIns="0" tIns="0" rIns="0" bIns="0" rtlCol="0" anchor="t"/>
          <a:lstStyle/>
          <a:p>
            <a:pPr indent="0" marL="0">
              <a:lnSpc>
                <a:spcPct val="125000"/>
              </a:lnSpc>
              <a:buNone/>
            </a:pPr>
            <a:r>
              <a:rPr lang="en-US" sz="1100" i="1" dirty="0">
                <a:solidFill>
                  <a:srgbClr val="7A88A8"/>
                </a:solidFill>
                <a:latin typeface="Calibri" pitchFamily="34" charset="0"/>
                <a:ea typeface="Calibri" pitchFamily="34" charset="-122"/>
                <a:cs typeface="Calibri" pitchFamily="34" charset="-120"/>
              </a:rPr>
              <a:t>Q3 asks about responsibility -- we'll get there on the virtue slide.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164592" cy="5143500"/>
          </a:xfrm>
          <a:prstGeom prst="rect">
            <a:avLst/>
          </a:prstGeom>
          <a:solidFill>
            <a:srgbClr val="D4943A"/>
          </a:solidFill>
          <a:ln w="12700">
            <a:solidFill>
              <a:srgbClr val="D4943A"/>
            </a:solidFill>
            <a:prstDash val="solid"/>
          </a:ln>
        </p:spPr>
      </p:sp>
      <p:sp>
        <p:nvSpPr>
          <p:cNvPr id="4" name="Text 2"/>
          <p:cNvSpPr/>
          <p:nvPr/>
        </p:nvSpPr>
        <p:spPr>
          <a:xfrm>
            <a:off x="320040" y="201168"/>
            <a:ext cx="8503920" cy="256032"/>
          </a:xfrm>
          <a:prstGeom prst="rect">
            <a:avLst/>
          </a:prstGeom>
          <a:noFill/>
          <a:ln/>
        </p:spPr>
        <p:txBody>
          <a:bodyPr wrap="square" lIns="0" tIns="0" rIns="0" bIns="0" rtlCol="0" anchor="ctr"/>
          <a:lstStyle/>
          <a:p>
            <a:pPr indent="0" marL="0">
              <a:buNone/>
            </a:pPr>
            <a:r>
              <a:rPr lang="en-US" sz="900" b="1" spc="200" kern="0" dirty="0">
                <a:solidFill>
                  <a:srgbClr val="D4943A"/>
                </a:solidFill>
                <a:latin typeface="Calibri" pitchFamily="34" charset="0"/>
                <a:ea typeface="Calibri" pitchFamily="34" charset="-122"/>
                <a:cs typeface="Calibri" pitchFamily="34" charset="-120"/>
              </a:rPr>
              <a:t>THE BIGGER PATTERN</a:t>
            </a:r>
            <a:endParaRPr lang="en-US" sz="900" dirty="0"/>
          </a:p>
        </p:txBody>
      </p:sp>
      <p:sp>
        <p:nvSpPr>
          <p:cNvPr id="5" name="Text 3"/>
          <p:cNvSpPr/>
          <p:nvPr/>
        </p:nvSpPr>
        <p:spPr>
          <a:xfrm>
            <a:off x="320040" y="594360"/>
            <a:ext cx="8503920" cy="1371600"/>
          </a:xfrm>
          <a:prstGeom prst="rect">
            <a:avLst/>
          </a:prstGeom>
          <a:noFill/>
          <a:ln/>
        </p:spPr>
        <p:txBody>
          <a:bodyPr wrap="square" lIns="0" tIns="0" rIns="0" bIns="0" rtlCol="0" anchor="ctr"/>
          <a:lstStyle/>
          <a:p>
            <a:pPr indent="0" marL="0">
              <a:lnSpc>
                <a:spcPct val="115000"/>
              </a:lnSpc>
              <a:buNone/>
            </a:pPr>
            <a:r>
              <a:rPr lang="en-US" sz="3600" b="1" dirty="0">
                <a:solidFill>
                  <a:srgbClr val="FFFFFF"/>
                </a:solidFill>
                <a:latin typeface="Cambria" pitchFamily="34" charset="0"/>
                <a:ea typeface="Cambria" pitchFamily="34" charset="-122"/>
                <a:cs typeface="Cambria" pitchFamily="34" charset="-120"/>
              </a:rPr>
              <a:t>Geography Shapes Climate.</a:t>
            </a:r>
            <a:endParaRPr lang="en-US" sz="3600" dirty="0"/>
          </a:p>
          <a:p>
            <a:pPr indent="0" marL="0">
              <a:lnSpc>
                <a:spcPct val="115000"/>
              </a:lnSpc>
              <a:buNone/>
            </a:pPr>
            <a:r>
              <a:rPr lang="en-US" sz="3600" b="1" dirty="0">
                <a:solidFill>
                  <a:srgbClr val="FFFFFF"/>
                </a:solidFill>
                <a:latin typeface="Cambria" pitchFamily="34" charset="0"/>
                <a:ea typeface="Cambria" pitchFamily="34" charset="-122"/>
                <a:cs typeface="Cambria" pitchFamily="34" charset="-120"/>
              </a:rPr>
              <a:t>Climate Shapes Life.</a:t>
            </a:r>
            <a:endParaRPr lang="en-US" sz="3600" dirty="0"/>
          </a:p>
        </p:txBody>
      </p:sp>
      <p:sp>
        <p:nvSpPr>
          <p:cNvPr id="6" name="Shape 4"/>
          <p:cNvSpPr/>
          <p:nvPr/>
        </p:nvSpPr>
        <p:spPr>
          <a:xfrm>
            <a:off x="320040" y="2084832"/>
            <a:ext cx="8503920" cy="45720"/>
          </a:xfrm>
          <a:prstGeom prst="rect">
            <a:avLst/>
          </a:prstGeom>
          <a:solidFill>
            <a:srgbClr val="D4943A"/>
          </a:solidFill>
          <a:ln w="12700">
            <a:solidFill>
              <a:srgbClr val="D4943A"/>
            </a:solidFill>
            <a:prstDash val="solid"/>
          </a:ln>
        </p:spPr>
      </p:sp>
      <p:sp>
        <p:nvSpPr>
          <p:cNvPr id="7" name="Text 5"/>
          <p:cNvSpPr/>
          <p:nvPr/>
        </p:nvSpPr>
        <p:spPr>
          <a:xfrm>
            <a:off x="320040" y="2240280"/>
            <a:ext cx="8503920" cy="749808"/>
          </a:xfrm>
          <a:prstGeom prst="rect">
            <a:avLst/>
          </a:prstGeom>
          <a:noFill/>
          <a:ln/>
        </p:spPr>
        <p:txBody>
          <a:bodyPr wrap="square" lIns="0" tIns="0" rIns="0" bIns="0" rtlCol="0" anchor="ctr"/>
          <a:lstStyle/>
          <a:p>
            <a:pPr algn="ctr" indent="0" marL="0">
              <a:lnSpc>
                <a:spcPct val="130000"/>
              </a:lnSpc>
              <a:buNone/>
            </a:pPr>
            <a:r>
              <a:rPr lang="en-US" sz="1500" i="1" dirty="0">
                <a:solidFill>
                  <a:srgbClr val="F0F2F8"/>
                </a:solidFill>
                <a:latin typeface="Cambria" pitchFamily="34" charset="0"/>
                <a:ea typeface="Cambria" pitchFamily="34" charset="-122"/>
                <a:cs typeface="Cambria" pitchFamily="34" charset="-120"/>
              </a:rPr>
              <a:t>"This is not just about Florida. Wherever people build, climate was already there shaping the decision."</a:t>
            </a:r>
            <a:endParaRPr lang="en-US" sz="1500" dirty="0"/>
          </a:p>
        </p:txBody>
      </p:sp>
      <p:sp>
        <p:nvSpPr>
          <p:cNvPr id="8" name="Shape 6"/>
          <p:cNvSpPr/>
          <p:nvPr/>
        </p:nvSpPr>
        <p:spPr>
          <a:xfrm>
            <a:off x="320040" y="3127248"/>
            <a:ext cx="8503920" cy="1600200"/>
          </a:xfrm>
          <a:prstGeom prst="roundRect">
            <a:avLst>
              <a:gd name="adj" fmla="val 8571"/>
            </a:avLst>
          </a:prstGeom>
          <a:solidFill>
            <a:srgbClr val="1A2D5A"/>
          </a:solidFill>
          <a:ln w="12700">
            <a:solidFill>
              <a:srgbClr val="55C8E8"/>
            </a:solidFill>
            <a:prstDash val="solid"/>
          </a:ln>
        </p:spPr>
      </p:sp>
      <p:sp>
        <p:nvSpPr>
          <p:cNvPr id="9" name="Text 7"/>
          <p:cNvSpPr/>
          <p:nvPr/>
        </p:nvSpPr>
        <p:spPr>
          <a:xfrm>
            <a:off x="502920" y="3218688"/>
            <a:ext cx="8138160" cy="256032"/>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WHERE ELSE DOES THIS PATTERN APPLY?</a:t>
            </a:r>
            <a:endParaRPr lang="en-US" sz="900" dirty="0"/>
          </a:p>
        </p:txBody>
      </p:sp>
      <p:sp>
        <p:nvSpPr>
          <p:cNvPr id="10" name="Text 8"/>
          <p:cNvSpPr/>
          <p:nvPr/>
        </p:nvSpPr>
        <p:spPr>
          <a:xfrm>
            <a:off x="502920" y="3547872"/>
            <a:ext cx="8138160" cy="1005840"/>
          </a:xfrm>
          <a:prstGeom prst="rect">
            <a:avLst/>
          </a:prstGeom>
          <a:noFill/>
          <a:ln/>
        </p:spPr>
        <p:txBody>
          <a:bodyPr wrap="square" lIns="0" tIns="0" rIns="0" bIns="0" rtlCol="0" anchor="t"/>
          <a:lstStyle/>
          <a:p>
            <a:pPr indent="0" marL="0">
              <a:lnSpc>
                <a:spcPct val="135000"/>
              </a:lnSpc>
              <a:buNone/>
            </a:pPr>
            <a:r>
              <a:rPr lang="en-US" sz="1250" b="1" dirty="0">
                <a:solidFill>
                  <a:srgbClr val="D4943A"/>
                </a:solidFill>
                <a:latin typeface="Cambria" pitchFamily="34" charset="0"/>
                <a:ea typeface="Cambria" pitchFamily="34" charset="-122"/>
                <a:cs typeface="Cambria" pitchFamily="34" charset="-120"/>
              </a:rPr>
              <a:t>Desert Southwest: </a:t>
            </a:r>
            <a:pPr indent="0" marL="0">
              <a:lnSpc>
                <a:spcPct val="135000"/>
              </a:lnSpc>
              <a:buNone/>
            </a:pPr>
            <a:r>
              <a:rPr lang="en-US" sz="1250" dirty="0">
                <a:solidFill>
                  <a:srgbClr val="F0F2F8"/>
                </a:solidFill>
                <a:latin typeface="Cambria" pitchFamily="34" charset="0"/>
                <a:ea typeface="Cambria" pitchFamily="34" charset="-122"/>
                <a:cs typeface="Cambria" pitchFamily="34" charset="-120"/>
              </a:rPr>
              <a:t>hot, dry climate shapes water policy, architecture, and where cities grow.
</a:t>
            </a:r>
            <a:pPr indent="0" marL="0">
              <a:lnSpc>
                <a:spcPct val="135000"/>
              </a:lnSpc>
              <a:buNone/>
            </a:pPr>
            <a:r>
              <a:rPr lang="en-US" sz="1250" b="1" dirty="0">
                <a:solidFill>
                  <a:srgbClr val="55C8E8"/>
                </a:solidFill>
                <a:latin typeface="Cambria" pitchFamily="34" charset="0"/>
                <a:ea typeface="Cambria" pitchFamily="34" charset="-122"/>
                <a:cs typeface="Cambria" pitchFamily="34" charset="-120"/>
              </a:rPr>
              <a:t>Alaska: </a:t>
            </a:r>
            <a:pPr indent="0" marL="0">
              <a:lnSpc>
                <a:spcPct val="135000"/>
              </a:lnSpc>
              <a:buNone/>
            </a:pPr>
            <a:r>
              <a:rPr lang="en-US" sz="1250" dirty="0">
                <a:solidFill>
                  <a:srgbClr val="F0F2F8"/>
                </a:solidFill>
                <a:latin typeface="Cambria" pitchFamily="34" charset="0"/>
                <a:ea typeface="Cambria" pitchFamily="34" charset="-122"/>
                <a:cs typeface="Cambria" pitchFamily="34" charset="-120"/>
              </a:rPr>
              <a:t>cold climate shapes building design, food supply, and transportation.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1A8A7D"/>
          </a:solidFill>
          <a:ln w="12700">
            <a:solidFill>
              <a:srgbClr val="1A8A7D"/>
            </a:solidFill>
            <a:prstDash val="solid"/>
          </a:ln>
        </p:spPr>
      </p:sp>
      <p:sp>
        <p:nvSpPr>
          <p:cNvPr id="4" name="Text 2"/>
          <p:cNvSpPr/>
          <p:nvPr/>
        </p:nvSpPr>
        <p:spPr>
          <a:xfrm>
            <a:off x="320040" y="182880"/>
            <a:ext cx="850392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WORD ROOT  |  BUILD YOUR VOCABULARY</a:t>
            </a:r>
            <a:endParaRPr lang="en-US" sz="900" dirty="0"/>
          </a:p>
        </p:txBody>
      </p:sp>
      <p:sp>
        <p:nvSpPr>
          <p:cNvPr id="5" name="Text 3"/>
          <p:cNvSpPr/>
          <p:nvPr/>
        </p:nvSpPr>
        <p:spPr>
          <a:xfrm>
            <a:off x="320040" y="502920"/>
            <a:ext cx="8503920" cy="50292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Greek: "thermo" = heat</a:t>
            </a:r>
            <a:endParaRPr lang="en-US" sz="2600" dirty="0"/>
          </a:p>
        </p:txBody>
      </p:sp>
      <p:sp>
        <p:nvSpPr>
          <p:cNvPr id="6" name="Shape 4"/>
          <p:cNvSpPr/>
          <p:nvPr/>
        </p:nvSpPr>
        <p:spPr>
          <a:xfrm>
            <a:off x="320040" y="1051560"/>
            <a:ext cx="3200400" cy="36576"/>
          </a:xfrm>
          <a:prstGeom prst="rect">
            <a:avLst/>
          </a:prstGeom>
          <a:solidFill>
            <a:srgbClr val="1A8A7D"/>
          </a:solidFill>
          <a:ln w="12700">
            <a:solidFill>
              <a:srgbClr val="1A8A7D"/>
            </a:solidFill>
            <a:prstDash val="solid"/>
          </a:ln>
        </p:spPr>
      </p:sp>
      <p:sp>
        <p:nvSpPr>
          <p:cNvPr id="7" name="Shape 5"/>
          <p:cNvSpPr/>
          <p:nvPr/>
        </p:nvSpPr>
        <p:spPr>
          <a:xfrm>
            <a:off x="320040" y="1207008"/>
            <a:ext cx="4069080" cy="1572768"/>
          </a:xfrm>
          <a:prstGeom prst="roundRect">
            <a:avLst>
              <a:gd name="adj" fmla="val 6977"/>
            </a:avLst>
          </a:prstGeom>
          <a:solidFill>
            <a:srgbClr val="FFFFFF"/>
          </a:solidFill>
          <a:ln w="19050">
            <a:solidFill>
              <a:srgbClr val="1A8A7D"/>
            </a:solidFill>
            <a:prstDash val="solid"/>
          </a:ln>
          <a:effectLst>
            <a:outerShdw sx="100000" sy="100000" kx="0" ky="0" algn="bl" rotWithShape="0" blurRad="63500" dist="25400" dir="8100000">
              <a:srgbClr val="000000">
                <a:alpha val="8000"/>
              </a:srgbClr>
            </a:outerShdw>
          </a:effectLst>
        </p:spPr>
      </p:sp>
      <p:sp>
        <p:nvSpPr>
          <p:cNvPr id="8" name="Text 6"/>
          <p:cNvSpPr/>
          <p:nvPr/>
        </p:nvSpPr>
        <p:spPr>
          <a:xfrm>
            <a:off x="484632" y="1344168"/>
            <a:ext cx="3749040" cy="292608"/>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THERMOMETER</a:t>
            </a:r>
            <a:endParaRPr lang="en-US" sz="1300" dirty="0"/>
          </a:p>
        </p:txBody>
      </p:sp>
      <p:sp>
        <p:nvSpPr>
          <p:cNvPr id="9" name="Text 7"/>
          <p:cNvSpPr/>
          <p:nvPr/>
        </p:nvSpPr>
        <p:spPr>
          <a:xfrm>
            <a:off x="484632" y="1682496"/>
            <a:ext cx="3749040" cy="868680"/>
          </a:xfrm>
          <a:prstGeom prst="rect">
            <a:avLst/>
          </a:prstGeom>
          <a:noFill/>
          <a:ln/>
        </p:spPr>
        <p:txBody>
          <a:bodyPr wrap="square" lIns="0" tIns="0" rIns="0" bIns="0" rtlCol="0" anchor="t"/>
          <a:lstStyle/>
          <a:p>
            <a:pPr indent="0" marL="0">
              <a:lnSpc>
                <a:spcPct val="125000"/>
              </a:lnSpc>
              <a:buNone/>
            </a:pPr>
            <a:r>
              <a:rPr lang="en-US" sz="1200" i="1" dirty="0">
                <a:solidFill>
                  <a:srgbClr val="0E1C42"/>
                </a:solidFill>
                <a:latin typeface="Cambria" pitchFamily="34" charset="0"/>
                <a:ea typeface="Cambria" pitchFamily="34" charset="-122"/>
                <a:cs typeface="Cambria" pitchFamily="34" charset="-120"/>
              </a:rPr>
              <a:t>Measures heat -- thermo (heat) + meter (measure)</a:t>
            </a:r>
            <a:endParaRPr lang="en-US" sz="1200" dirty="0"/>
          </a:p>
        </p:txBody>
      </p:sp>
      <p:sp>
        <p:nvSpPr>
          <p:cNvPr id="10" name="Shape 8"/>
          <p:cNvSpPr/>
          <p:nvPr/>
        </p:nvSpPr>
        <p:spPr>
          <a:xfrm>
            <a:off x="320040" y="2962656"/>
            <a:ext cx="4069080" cy="1572768"/>
          </a:xfrm>
          <a:prstGeom prst="roundRect">
            <a:avLst>
              <a:gd name="adj" fmla="val 6977"/>
            </a:avLst>
          </a:prstGeom>
          <a:solidFill>
            <a:srgbClr val="FFFFFF"/>
          </a:solidFill>
          <a:ln w="19050">
            <a:solidFill>
              <a:srgbClr val="1A8A7D"/>
            </a:solidFill>
            <a:prstDash val="solid"/>
          </a:ln>
          <a:effectLst>
            <a:outerShdw sx="100000" sy="100000" kx="0" ky="0" algn="bl" rotWithShape="0" blurRad="63500" dist="25400" dir="8100000">
              <a:srgbClr val="000000">
                <a:alpha val="8000"/>
              </a:srgbClr>
            </a:outerShdw>
          </a:effectLst>
        </p:spPr>
      </p:sp>
      <p:sp>
        <p:nvSpPr>
          <p:cNvPr id="11" name="Text 9"/>
          <p:cNvSpPr/>
          <p:nvPr/>
        </p:nvSpPr>
        <p:spPr>
          <a:xfrm>
            <a:off x="484632" y="3099816"/>
            <a:ext cx="3749040" cy="292608"/>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THERMAL</a:t>
            </a:r>
            <a:endParaRPr lang="en-US" sz="1300" dirty="0"/>
          </a:p>
        </p:txBody>
      </p:sp>
      <p:sp>
        <p:nvSpPr>
          <p:cNvPr id="12" name="Text 10"/>
          <p:cNvSpPr/>
          <p:nvPr/>
        </p:nvSpPr>
        <p:spPr>
          <a:xfrm>
            <a:off x="484632" y="3438144"/>
            <a:ext cx="3749040" cy="868680"/>
          </a:xfrm>
          <a:prstGeom prst="rect">
            <a:avLst/>
          </a:prstGeom>
          <a:noFill/>
          <a:ln/>
        </p:spPr>
        <p:txBody>
          <a:bodyPr wrap="square" lIns="0" tIns="0" rIns="0" bIns="0" rtlCol="0" anchor="t"/>
          <a:lstStyle/>
          <a:p>
            <a:pPr indent="0" marL="0">
              <a:lnSpc>
                <a:spcPct val="125000"/>
              </a:lnSpc>
              <a:buNone/>
            </a:pPr>
            <a:r>
              <a:rPr lang="en-US" sz="1200" i="1" dirty="0">
                <a:solidFill>
                  <a:srgbClr val="0E1C42"/>
                </a:solidFill>
                <a:latin typeface="Cambria" pitchFamily="34" charset="0"/>
                <a:ea typeface="Cambria" pitchFamily="34" charset="-122"/>
                <a:cs typeface="Cambria" pitchFamily="34" charset="-120"/>
              </a:rPr>
              <a:t>Relating to heat -- thermal underwear, thermal energy</a:t>
            </a:r>
            <a:endParaRPr lang="en-US" sz="1200" dirty="0"/>
          </a:p>
        </p:txBody>
      </p:sp>
      <p:sp>
        <p:nvSpPr>
          <p:cNvPr id="13" name="Shape 11"/>
          <p:cNvSpPr/>
          <p:nvPr/>
        </p:nvSpPr>
        <p:spPr>
          <a:xfrm>
            <a:off x="4663440" y="1207008"/>
            <a:ext cx="4069080" cy="1572768"/>
          </a:xfrm>
          <a:prstGeom prst="roundRect">
            <a:avLst>
              <a:gd name="adj" fmla="val 6977"/>
            </a:avLst>
          </a:prstGeom>
          <a:solidFill>
            <a:srgbClr val="FFFFFF"/>
          </a:solidFill>
          <a:ln w="19050">
            <a:solidFill>
              <a:srgbClr val="1A8A7D"/>
            </a:solidFill>
            <a:prstDash val="solid"/>
          </a:ln>
          <a:effectLst>
            <a:outerShdw sx="100000" sy="100000" kx="0" ky="0" algn="bl" rotWithShape="0" blurRad="63500" dist="25400" dir="8100000">
              <a:srgbClr val="000000">
                <a:alpha val="8000"/>
              </a:srgbClr>
            </a:outerShdw>
          </a:effectLst>
        </p:spPr>
      </p:sp>
      <p:sp>
        <p:nvSpPr>
          <p:cNvPr id="14" name="Text 12"/>
          <p:cNvSpPr/>
          <p:nvPr/>
        </p:nvSpPr>
        <p:spPr>
          <a:xfrm>
            <a:off x="4828032" y="1344168"/>
            <a:ext cx="3749040" cy="292608"/>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THERMOS</a:t>
            </a:r>
            <a:endParaRPr lang="en-US" sz="1300" dirty="0"/>
          </a:p>
        </p:txBody>
      </p:sp>
      <p:sp>
        <p:nvSpPr>
          <p:cNvPr id="15" name="Text 13"/>
          <p:cNvSpPr/>
          <p:nvPr/>
        </p:nvSpPr>
        <p:spPr>
          <a:xfrm>
            <a:off x="4828032" y="1682496"/>
            <a:ext cx="3749040" cy="868680"/>
          </a:xfrm>
          <a:prstGeom prst="rect">
            <a:avLst/>
          </a:prstGeom>
          <a:noFill/>
          <a:ln/>
        </p:spPr>
        <p:txBody>
          <a:bodyPr wrap="square" lIns="0" tIns="0" rIns="0" bIns="0" rtlCol="0" anchor="t"/>
          <a:lstStyle/>
          <a:p>
            <a:pPr indent="0" marL="0">
              <a:lnSpc>
                <a:spcPct val="125000"/>
              </a:lnSpc>
              <a:buNone/>
            </a:pPr>
            <a:r>
              <a:rPr lang="en-US" sz="1200" i="1" dirty="0">
                <a:solidFill>
                  <a:srgbClr val="0E1C42"/>
                </a:solidFill>
                <a:latin typeface="Cambria" pitchFamily="34" charset="0"/>
                <a:ea typeface="Cambria" pitchFamily="34" charset="-122"/>
                <a:cs typeface="Cambria" pitchFamily="34" charset="-120"/>
              </a:rPr>
              <a:t>Keeps heat in -- insulated container named for heat retention</a:t>
            </a:r>
            <a:endParaRPr lang="en-US" sz="1200" dirty="0"/>
          </a:p>
        </p:txBody>
      </p:sp>
      <p:sp>
        <p:nvSpPr>
          <p:cNvPr id="16" name="Shape 14"/>
          <p:cNvSpPr/>
          <p:nvPr/>
        </p:nvSpPr>
        <p:spPr>
          <a:xfrm>
            <a:off x="4663440" y="2962656"/>
            <a:ext cx="4069080" cy="1572768"/>
          </a:xfrm>
          <a:prstGeom prst="roundRect">
            <a:avLst>
              <a:gd name="adj" fmla="val 6977"/>
            </a:avLst>
          </a:prstGeom>
          <a:solidFill>
            <a:srgbClr val="FFFFFF"/>
          </a:solidFill>
          <a:ln w="19050">
            <a:solidFill>
              <a:srgbClr val="1A8A7D"/>
            </a:solidFill>
            <a:prstDash val="solid"/>
          </a:ln>
          <a:effectLst>
            <a:outerShdw sx="100000" sy="100000" kx="0" ky="0" algn="bl" rotWithShape="0" blurRad="63500" dist="25400" dir="8100000">
              <a:srgbClr val="000000">
                <a:alpha val="8000"/>
              </a:srgbClr>
            </a:outerShdw>
          </a:effectLst>
        </p:spPr>
      </p:sp>
      <p:sp>
        <p:nvSpPr>
          <p:cNvPr id="17" name="Text 15"/>
          <p:cNvSpPr/>
          <p:nvPr/>
        </p:nvSpPr>
        <p:spPr>
          <a:xfrm>
            <a:off x="4828032" y="3099816"/>
            <a:ext cx="3749040" cy="292608"/>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GEOTHERMAL</a:t>
            </a:r>
            <a:endParaRPr lang="en-US" sz="1300" dirty="0"/>
          </a:p>
        </p:txBody>
      </p:sp>
      <p:sp>
        <p:nvSpPr>
          <p:cNvPr id="18" name="Text 16"/>
          <p:cNvSpPr/>
          <p:nvPr/>
        </p:nvSpPr>
        <p:spPr>
          <a:xfrm>
            <a:off x="4828032" y="3438144"/>
            <a:ext cx="3749040" cy="868680"/>
          </a:xfrm>
          <a:prstGeom prst="rect">
            <a:avLst/>
          </a:prstGeom>
          <a:noFill/>
          <a:ln/>
        </p:spPr>
        <p:txBody>
          <a:bodyPr wrap="square" lIns="0" tIns="0" rIns="0" bIns="0" rtlCol="0" anchor="t"/>
          <a:lstStyle/>
          <a:p>
            <a:pPr indent="0" marL="0">
              <a:lnSpc>
                <a:spcPct val="125000"/>
              </a:lnSpc>
              <a:buNone/>
            </a:pPr>
            <a:r>
              <a:rPr lang="en-US" sz="1200" i="1" dirty="0">
                <a:solidFill>
                  <a:srgbClr val="0E1C42"/>
                </a:solidFill>
                <a:latin typeface="Cambria" pitchFamily="34" charset="0"/>
                <a:ea typeface="Cambria" pitchFamily="34" charset="-122"/>
                <a:cs typeface="Cambria" pitchFamily="34" charset="-120"/>
              </a:rPr>
              <a:t>Earth's heat -- geo (earth) + thermal (heat) = heat from the ground</a:t>
            </a:r>
            <a:endParaRPr lang="en-US" sz="1200" dirty="0"/>
          </a:p>
        </p:txBody>
      </p:sp>
      <p:sp>
        <p:nvSpPr>
          <p:cNvPr id="19" name="Shape 17"/>
          <p:cNvSpPr/>
          <p:nvPr/>
        </p:nvSpPr>
        <p:spPr>
          <a:xfrm>
            <a:off x="320040" y="4736592"/>
            <a:ext cx="8503920" cy="228600"/>
          </a:xfrm>
          <a:prstGeom prst="roundRect">
            <a:avLst>
              <a:gd name="adj" fmla="val 24000"/>
            </a:avLst>
          </a:prstGeom>
          <a:solidFill>
            <a:srgbClr val="FFF3DC"/>
          </a:solidFill>
          <a:ln w="12700">
            <a:solidFill>
              <a:srgbClr val="F5E6C8"/>
            </a:solidFill>
            <a:prstDash val="solid"/>
          </a:ln>
        </p:spPr>
      </p:sp>
      <p:sp>
        <p:nvSpPr>
          <p:cNvPr id="20" name="Text 18"/>
          <p:cNvSpPr/>
          <p:nvPr/>
        </p:nvSpPr>
        <p:spPr>
          <a:xfrm>
            <a:off x="457200" y="4754880"/>
            <a:ext cx="8229600" cy="182880"/>
          </a:xfrm>
          <a:prstGeom prst="rect">
            <a:avLst/>
          </a:prstGeom>
          <a:noFill/>
          <a:ln/>
        </p:spPr>
        <p:txBody>
          <a:bodyPr wrap="square" lIns="0" tIns="0" rIns="0" bIns="0" rtlCol="0" anchor="ctr"/>
          <a:lstStyle/>
          <a:p>
            <a:pPr indent="0" marL="0">
              <a:buNone/>
            </a:pPr>
            <a:r>
              <a:rPr lang="en-US" sz="1050" i="1" dirty="0">
                <a:solidFill>
                  <a:srgbClr val="5A4A3A"/>
                </a:solidFill>
                <a:latin typeface="Cambria" pitchFamily="34" charset="0"/>
                <a:ea typeface="Cambria" pitchFamily="34" charset="-122"/>
                <a:cs typeface="Cambria" pitchFamily="34" charset="-120"/>
              </a:rPr>
              <a:t>Copywork: "In Florida, the sun, the rain, and the storms are part of every day."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164592" cy="5143500"/>
          </a:xfrm>
          <a:prstGeom prst="rect">
            <a:avLst/>
          </a:prstGeom>
          <a:solidFill>
            <a:srgbClr val="D4943A"/>
          </a:solidFill>
          <a:ln w="12700">
            <a:solidFill>
              <a:srgbClr val="D4943A"/>
            </a:solidFill>
            <a:prstDash val="solid"/>
          </a:ln>
        </p:spPr>
      </p:sp>
      <p:sp>
        <p:nvSpPr>
          <p:cNvPr id="4" name="Text 2"/>
          <p:cNvSpPr/>
          <p:nvPr/>
        </p:nvSpPr>
        <p:spPr>
          <a:xfrm>
            <a:off x="320040" y="201168"/>
            <a:ext cx="8503920" cy="256032"/>
          </a:xfrm>
          <a:prstGeom prst="rect">
            <a:avLst/>
          </a:prstGeom>
          <a:noFill/>
          <a:ln/>
        </p:spPr>
        <p:txBody>
          <a:bodyPr wrap="square" lIns="0" tIns="0" rIns="0" bIns="0" rtlCol="0" anchor="ctr"/>
          <a:lstStyle/>
          <a:p>
            <a:pPr indent="0" marL="0">
              <a:buNone/>
            </a:pPr>
            <a:r>
              <a:rPr lang="en-US" sz="900" b="1" spc="200" kern="0" dirty="0">
                <a:solidFill>
                  <a:srgbClr val="D4943A"/>
                </a:solidFill>
                <a:latin typeface="Calibri" pitchFamily="34" charset="0"/>
                <a:ea typeface="Calibri" pitchFamily="34" charset="-122"/>
                <a:cs typeface="Calibri" pitchFamily="34" charset="-120"/>
              </a:rPr>
              <a:t>VIRTUE SPOTLIGHT</a:t>
            </a:r>
            <a:endParaRPr lang="en-US" sz="900" dirty="0"/>
          </a:p>
        </p:txBody>
      </p:sp>
      <p:sp>
        <p:nvSpPr>
          <p:cNvPr id="5" name="Text 3"/>
          <p:cNvSpPr/>
          <p:nvPr/>
        </p:nvSpPr>
        <p:spPr>
          <a:xfrm>
            <a:off x="320040" y="566928"/>
            <a:ext cx="8503920" cy="7772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Responsibility</a:t>
            </a:r>
            <a:endParaRPr lang="en-US" sz="4600" dirty="0"/>
          </a:p>
        </p:txBody>
      </p:sp>
      <p:sp>
        <p:nvSpPr>
          <p:cNvPr id="6" name="Shape 4"/>
          <p:cNvSpPr/>
          <p:nvPr/>
        </p:nvSpPr>
        <p:spPr>
          <a:xfrm>
            <a:off x="320040" y="1417320"/>
            <a:ext cx="5029200" cy="45720"/>
          </a:xfrm>
          <a:prstGeom prst="rect">
            <a:avLst/>
          </a:prstGeom>
          <a:solidFill>
            <a:srgbClr val="D4943A"/>
          </a:solidFill>
          <a:ln w="12700">
            <a:solidFill>
              <a:srgbClr val="D4943A"/>
            </a:solidFill>
            <a:prstDash val="solid"/>
          </a:ln>
        </p:spPr>
      </p:sp>
      <p:sp>
        <p:nvSpPr>
          <p:cNvPr id="7" name="Shape 5"/>
          <p:cNvSpPr/>
          <p:nvPr/>
        </p:nvSpPr>
        <p:spPr>
          <a:xfrm>
            <a:off x="320040" y="1572768"/>
            <a:ext cx="8503920" cy="1901952"/>
          </a:xfrm>
          <a:prstGeom prst="roundRect">
            <a:avLst>
              <a:gd name="adj" fmla="val 7212"/>
            </a:avLst>
          </a:prstGeom>
          <a:solidFill>
            <a:srgbClr val="1A2D5A"/>
          </a:solidFill>
          <a:ln w="12700">
            <a:solidFill>
              <a:srgbClr val="D4943A"/>
            </a:solidFill>
            <a:prstDash val="solid"/>
          </a:ln>
        </p:spPr>
      </p:sp>
      <p:sp>
        <p:nvSpPr>
          <p:cNvPr id="8" name="Text 6"/>
          <p:cNvSpPr/>
          <p:nvPr/>
        </p:nvSpPr>
        <p:spPr>
          <a:xfrm>
            <a:off x="502920" y="1691640"/>
            <a:ext cx="8138160" cy="347472"/>
          </a:xfrm>
          <a:prstGeom prst="rect">
            <a:avLst/>
          </a:prstGeom>
          <a:noFill/>
          <a:ln/>
        </p:spPr>
        <p:txBody>
          <a:bodyPr wrap="square" lIns="0" tIns="0" rIns="0" bIns="0" rtlCol="0" anchor="ctr"/>
          <a:lstStyle/>
          <a:p>
            <a:pPr indent="0" marL="0">
              <a:buNone/>
            </a:pPr>
            <a:r>
              <a:rPr lang="en-US" sz="1600" b="1" dirty="0">
                <a:solidFill>
                  <a:srgbClr val="D4943A"/>
                </a:solidFill>
                <a:latin typeface="Cambria" pitchFamily="34" charset="0"/>
                <a:ea typeface="Cambria" pitchFamily="34" charset="-122"/>
                <a:cs typeface="Cambria" pitchFamily="34" charset="-120"/>
              </a:rPr>
              <a:t>Florida's weather can change a day fast.</a:t>
            </a:r>
            <a:endParaRPr lang="en-US" sz="1600" dirty="0"/>
          </a:p>
        </p:txBody>
      </p:sp>
      <p:sp>
        <p:nvSpPr>
          <p:cNvPr id="9" name="Text 7"/>
          <p:cNvSpPr/>
          <p:nvPr/>
        </p:nvSpPr>
        <p:spPr>
          <a:xfrm>
            <a:off x="502920" y="2084832"/>
            <a:ext cx="8138160" cy="1143000"/>
          </a:xfrm>
          <a:prstGeom prst="rect">
            <a:avLst/>
          </a:prstGeom>
          <a:noFill/>
          <a:ln/>
        </p:spPr>
        <p:txBody>
          <a:bodyPr wrap="square" lIns="0" tIns="0" rIns="0" bIns="0" rtlCol="0" anchor="t"/>
          <a:lstStyle/>
          <a:p>
            <a:pPr indent="0" marL="0">
              <a:lnSpc>
                <a:spcPct val="135000"/>
              </a:lnSpc>
              <a:buNone/>
            </a:pPr>
            <a:r>
              <a:rPr lang="en-US" sz="1350" i="1" dirty="0">
                <a:solidFill>
                  <a:srgbClr val="F0F2F8"/>
                </a:solidFill>
                <a:latin typeface="Cambria" pitchFamily="34" charset="0"/>
                <a:ea typeface="Cambria" pitchFamily="34" charset="-122"/>
                <a:cs typeface="Cambria" pitchFamily="34" charset="-120"/>
              </a:rPr>
              <a:t>A sunny morning can turn into an afternoon thunderstorm. Hurricane season runs from June through November every year. Being responsible in Florida means checking the forecast, knowing the warning signs, and preparing before the storm.</a:t>
            </a:r>
            <a:endParaRPr lang="en-US" sz="1350" dirty="0"/>
          </a:p>
        </p:txBody>
      </p:sp>
      <p:sp>
        <p:nvSpPr>
          <p:cNvPr id="10" name="Shape 8"/>
          <p:cNvSpPr/>
          <p:nvPr/>
        </p:nvSpPr>
        <p:spPr>
          <a:xfrm>
            <a:off x="320040" y="3584448"/>
            <a:ext cx="8503920" cy="1261872"/>
          </a:xfrm>
          <a:prstGeom prst="roundRect">
            <a:avLst>
              <a:gd name="adj" fmla="val 8696"/>
            </a:avLst>
          </a:prstGeom>
          <a:solidFill>
            <a:srgbClr val="D4943A">
              <a:alpha val="12000"/>
            </a:srgbClr>
          </a:solidFill>
          <a:ln w="12700">
            <a:solidFill>
              <a:srgbClr val="D4943A"/>
            </a:solidFill>
            <a:prstDash val="solid"/>
          </a:ln>
        </p:spPr>
      </p:sp>
      <p:sp>
        <p:nvSpPr>
          <p:cNvPr id="11" name="Text 9"/>
          <p:cNvSpPr/>
          <p:nvPr/>
        </p:nvSpPr>
        <p:spPr>
          <a:xfrm>
            <a:off x="502920" y="3675888"/>
            <a:ext cx="813816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ASSIGNMENT LINK -- Q3:</a:t>
            </a:r>
            <a:endParaRPr lang="en-US" sz="900" dirty="0"/>
          </a:p>
        </p:txBody>
      </p:sp>
      <p:sp>
        <p:nvSpPr>
          <p:cNvPr id="12" name="Text 10"/>
          <p:cNvSpPr/>
          <p:nvPr/>
        </p:nvSpPr>
        <p:spPr>
          <a:xfrm>
            <a:off x="502920" y="3977640"/>
            <a:ext cx="8138160" cy="731520"/>
          </a:xfrm>
          <a:prstGeom prst="rect">
            <a:avLst/>
          </a:prstGeom>
          <a:noFill/>
          <a:ln/>
        </p:spPr>
        <p:txBody>
          <a:bodyPr wrap="square" lIns="0" tIns="0" rIns="0" bIns="0" rtlCol="0" anchor="t"/>
          <a:lstStyle/>
          <a:p>
            <a:pPr indent="0" marL="0">
              <a:lnSpc>
                <a:spcPct val="130000"/>
              </a:lnSpc>
              <a:buNone/>
            </a:pPr>
            <a:r>
              <a:rPr lang="en-US" sz="1250" i="1" dirty="0">
                <a:solidFill>
                  <a:srgbClr val="FFFFFF"/>
                </a:solidFill>
                <a:latin typeface="Cambria" pitchFamily="34" charset="0"/>
                <a:ea typeface="Cambria" pitchFamily="34" charset="-122"/>
                <a:cs typeface="Cambria" pitchFamily="34" charset="-120"/>
              </a:rPr>
              <a:t>Why does responsibility matter in a place with Florida's climate? Connect responsibility to one weather pattern Floridians prepare for.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34B76F"/>
          </a:solidFill>
          <a:ln w="12700">
            <a:solidFill>
              <a:srgbClr val="34B76F"/>
            </a:solidFill>
            <a:prstDash val="solid"/>
          </a:ln>
        </p:spPr>
      </p:sp>
      <p:sp>
        <p:nvSpPr>
          <p:cNvPr id="4" name="Text 2"/>
          <p:cNvSpPr/>
          <p:nvPr/>
        </p:nvSpPr>
        <p:spPr>
          <a:xfrm>
            <a:off x="320040" y="182880"/>
            <a:ext cx="850392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GUIDED PRACTICE 1  |  TEACHER MODELS</a:t>
            </a:r>
            <a:endParaRPr lang="en-US" sz="900" dirty="0"/>
          </a:p>
        </p:txBody>
      </p:sp>
      <p:sp>
        <p:nvSpPr>
          <p:cNvPr id="5" name="Text 3"/>
          <p:cNvSpPr/>
          <p:nvPr/>
        </p:nvSpPr>
        <p:spPr>
          <a:xfrm>
            <a:off x="320040" y="502920"/>
            <a:ext cx="8503920" cy="4572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Watch Me Build a Claim from Map Evidence</a:t>
            </a:r>
            <a:endParaRPr lang="en-US" sz="2200" dirty="0"/>
          </a:p>
        </p:txBody>
      </p:sp>
      <p:sp>
        <p:nvSpPr>
          <p:cNvPr id="6" name="Shape 4"/>
          <p:cNvSpPr/>
          <p:nvPr/>
        </p:nvSpPr>
        <p:spPr>
          <a:xfrm>
            <a:off x="320040" y="1005840"/>
            <a:ext cx="4114800" cy="36576"/>
          </a:xfrm>
          <a:prstGeom prst="rect">
            <a:avLst/>
          </a:prstGeom>
          <a:solidFill>
            <a:srgbClr val="34B76F"/>
          </a:solidFill>
          <a:ln w="12700">
            <a:solidFill>
              <a:srgbClr val="34B76F"/>
            </a:solidFill>
            <a:prstDash val="solid"/>
          </a:ln>
        </p:spPr>
      </p:sp>
      <p:sp>
        <p:nvSpPr>
          <p:cNvPr id="7" name="Shape 5"/>
          <p:cNvSpPr/>
          <p:nvPr/>
        </p:nvSpPr>
        <p:spPr>
          <a:xfrm>
            <a:off x="320040" y="1143000"/>
            <a:ext cx="8503920" cy="1444752"/>
          </a:xfrm>
          <a:prstGeom prst="roundRect">
            <a:avLst>
              <a:gd name="adj" fmla="val 7595"/>
            </a:avLst>
          </a:prstGeom>
          <a:solidFill>
            <a:srgbClr val="FFFFFF"/>
          </a:solidFill>
          <a:ln w="19050">
            <a:solidFill>
              <a:srgbClr val="34B76F"/>
            </a:solidFill>
            <a:prstDash val="solid"/>
          </a:ln>
          <a:effectLst>
            <a:outerShdw sx="100000" sy="100000" kx="0" ky="0" algn="bl" rotWithShape="0" blurRad="63500" dist="25400" dir="8100000">
              <a:srgbClr val="000000">
                <a:alpha val="8000"/>
              </a:srgbClr>
            </a:outerShdw>
          </a:effectLst>
        </p:spPr>
      </p:sp>
      <p:sp>
        <p:nvSpPr>
          <p:cNvPr id="8" name="Text 6"/>
          <p:cNvSpPr/>
          <p:nvPr/>
        </p:nvSpPr>
        <p:spPr>
          <a:xfrm>
            <a:off x="502920" y="1234440"/>
            <a:ext cx="8138160" cy="2560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TEACHER THINK-ALOUD</a:t>
            </a:r>
            <a:endParaRPr lang="en-US" sz="900" dirty="0"/>
          </a:p>
        </p:txBody>
      </p:sp>
      <p:sp>
        <p:nvSpPr>
          <p:cNvPr id="9" name="Text 7"/>
          <p:cNvSpPr/>
          <p:nvPr/>
        </p:nvSpPr>
        <p:spPr>
          <a:xfrm>
            <a:off x="502920" y="1536192"/>
            <a:ext cx="8138160" cy="914400"/>
          </a:xfrm>
          <a:prstGeom prst="rect">
            <a:avLst/>
          </a:prstGeom>
          <a:noFill/>
          <a:ln/>
        </p:spPr>
        <p:txBody>
          <a:bodyPr wrap="square" lIns="0" tIns="0" rIns="0" bIns="0" rtlCol="0" anchor="t"/>
          <a:lstStyle/>
          <a:p>
            <a:pPr indent="0" marL="0">
              <a:lnSpc>
                <a:spcPct val="130000"/>
              </a:lnSpc>
              <a:buNone/>
            </a:pPr>
            <a:r>
              <a:rPr lang="en-US" sz="1250" i="1" dirty="0">
                <a:solidFill>
                  <a:srgbClr val="0E1C42"/>
                </a:solidFill>
                <a:latin typeface="Cambria" pitchFamily="34" charset="0"/>
                <a:ea typeface="Cambria" pitchFamily="34" charset="-122"/>
                <a:cs typeface="Cambria" pitchFamily="34" charset="-120"/>
              </a:rPr>
              <a:t>"I look at the rainfall zone map. South Florida gets 60+ inches per year. That's a PATTERN over decades. My claim: South Florida's heavy rainfall shapes where builders put drainage systems. Evidence: the rainfall zone shows 60+ inches annually. Explanation: that much water requires drainage infrastructure, or buildings flood."</a:t>
            </a:r>
            <a:endParaRPr lang="en-US" sz="1250" dirty="0"/>
          </a:p>
        </p:txBody>
      </p:sp>
      <p:sp>
        <p:nvSpPr>
          <p:cNvPr id="10" name="Shape 8"/>
          <p:cNvSpPr/>
          <p:nvPr/>
        </p:nvSpPr>
        <p:spPr>
          <a:xfrm>
            <a:off x="320040" y="2724912"/>
            <a:ext cx="8503920" cy="2029968"/>
          </a:xfrm>
          <a:prstGeom prst="roundRect">
            <a:avLst>
              <a:gd name="adj" fmla="val 5405"/>
            </a:avLst>
          </a:prstGeom>
          <a:solidFill>
            <a:srgbClr val="1A2D5A"/>
          </a:solidFill>
          <a:ln w="12700">
            <a:solidFill>
              <a:srgbClr val="55C8E8"/>
            </a:solidFill>
            <a:prstDash val="solid"/>
          </a:ln>
        </p:spPr>
      </p:sp>
      <p:sp>
        <p:nvSpPr>
          <p:cNvPr id="11" name="Text 9"/>
          <p:cNvSpPr/>
          <p:nvPr/>
        </p:nvSpPr>
        <p:spPr>
          <a:xfrm>
            <a:off x="502920" y="2816352"/>
            <a:ext cx="81381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THE STRUCTURE</a:t>
            </a:r>
            <a:endParaRPr lang="en-US" sz="900" dirty="0"/>
          </a:p>
        </p:txBody>
      </p:sp>
      <p:sp>
        <p:nvSpPr>
          <p:cNvPr id="12" name="Text 10"/>
          <p:cNvSpPr/>
          <p:nvPr/>
        </p:nvSpPr>
        <p:spPr>
          <a:xfrm>
            <a:off x="502920" y="3154680"/>
            <a:ext cx="1874520" cy="228600"/>
          </a:xfrm>
          <a:prstGeom prst="rect">
            <a:avLst/>
          </a:prstGeom>
          <a:noFill/>
          <a:ln/>
        </p:spPr>
        <p:txBody>
          <a:bodyPr wrap="square" lIns="0" tIns="0" rIns="0" bIns="0" rtlCol="0" anchor="ctr"/>
          <a:lstStyle/>
          <a:p>
            <a:pPr indent="0" marL="0">
              <a:buNone/>
            </a:pPr>
            <a:r>
              <a:rPr lang="en-US" sz="850" b="1" spc="100" kern="0" dirty="0">
                <a:solidFill>
                  <a:srgbClr val="D4943A"/>
                </a:solidFill>
                <a:latin typeface="Calibri" pitchFamily="34" charset="0"/>
                <a:ea typeface="Calibri" pitchFamily="34" charset="-122"/>
                <a:cs typeface="Calibri" pitchFamily="34" charset="-120"/>
              </a:rPr>
              <a:t>CLAIM</a:t>
            </a:r>
            <a:endParaRPr lang="en-US" sz="850" dirty="0"/>
          </a:p>
        </p:txBody>
      </p:sp>
      <p:sp>
        <p:nvSpPr>
          <p:cNvPr id="13" name="Text 11"/>
          <p:cNvSpPr/>
          <p:nvPr/>
        </p:nvSpPr>
        <p:spPr>
          <a:xfrm>
            <a:off x="502920" y="3429000"/>
            <a:ext cx="1874520" cy="1143000"/>
          </a:xfrm>
          <a:prstGeom prst="rect">
            <a:avLst/>
          </a:prstGeom>
          <a:noFill/>
          <a:ln/>
        </p:spPr>
        <p:txBody>
          <a:bodyPr wrap="square" lIns="0" tIns="0" rIns="0" bIns="0" rtlCol="0" anchor="t"/>
          <a:lstStyle/>
          <a:p>
            <a:pPr indent="0" marL="0">
              <a:lnSpc>
                <a:spcPct val="125000"/>
              </a:lnSpc>
              <a:buNone/>
            </a:pPr>
            <a:r>
              <a:rPr lang="en-US" sz="1050" dirty="0">
                <a:solidFill>
                  <a:srgbClr val="F0F2F8"/>
                </a:solidFill>
                <a:latin typeface="Calibri" pitchFamily="34" charset="0"/>
                <a:ea typeface="Calibri" pitchFamily="34" charset="-122"/>
                <a:cs typeface="Calibri" pitchFamily="34" charset="-120"/>
              </a:rPr>
              <a:t>State your answer -- what does the map show?</a:t>
            </a:r>
            <a:endParaRPr lang="en-US" sz="1050" dirty="0"/>
          </a:p>
        </p:txBody>
      </p:sp>
      <p:sp>
        <p:nvSpPr>
          <p:cNvPr id="14" name="Text 12"/>
          <p:cNvSpPr/>
          <p:nvPr/>
        </p:nvSpPr>
        <p:spPr>
          <a:xfrm>
            <a:off x="2587752" y="3154680"/>
            <a:ext cx="1874520" cy="228600"/>
          </a:xfrm>
          <a:prstGeom prst="rect">
            <a:avLst/>
          </a:prstGeom>
          <a:noFill/>
          <a:ln/>
        </p:spPr>
        <p:txBody>
          <a:bodyPr wrap="square" lIns="0" tIns="0" rIns="0" bIns="0" rtlCol="0" anchor="ctr"/>
          <a:lstStyle/>
          <a:p>
            <a:pPr indent="0" marL="0">
              <a:buNone/>
            </a:pPr>
            <a:r>
              <a:rPr lang="en-US" sz="850" b="1" spc="100" kern="0" dirty="0">
                <a:solidFill>
                  <a:srgbClr val="55C8E8"/>
                </a:solidFill>
                <a:latin typeface="Calibri" pitchFamily="34" charset="0"/>
                <a:ea typeface="Calibri" pitchFamily="34" charset="-122"/>
                <a:cs typeface="Calibri" pitchFamily="34" charset="-120"/>
              </a:rPr>
              <a:t>EVIDENCE</a:t>
            </a:r>
            <a:endParaRPr lang="en-US" sz="850" dirty="0"/>
          </a:p>
        </p:txBody>
      </p:sp>
      <p:sp>
        <p:nvSpPr>
          <p:cNvPr id="15" name="Text 13"/>
          <p:cNvSpPr/>
          <p:nvPr/>
        </p:nvSpPr>
        <p:spPr>
          <a:xfrm>
            <a:off x="2587752" y="3429000"/>
            <a:ext cx="1874520" cy="1143000"/>
          </a:xfrm>
          <a:prstGeom prst="rect">
            <a:avLst/>
          </a:prstGeom>
          <a:noFill/>
          <a:ln/>
        </p:spPr>
        <p:txBody>
          <a:bodyPr wrap="square" lIns="0" tIns="0" rIns="0" bIns="0" rtlCol="0" anchor="t"/>
          <a:lstStyle/>
          <a:p>
            <a:pPr indent="0" marL="0">
              <a:lnSpc>
                <a:spcPct val="125000"/>
              </a:lnSpc>
              <a:buNone/>
            </a:pPr>
            <a:r>
              <a:rPr lang="en-US" sz="1050" dirty="0">
                <a:solidFill>
                  <a:srgbClr val="F0F2F8"/>
                </a:solidFill>
                <a:latin typeface="Calibri" pitchFamily="34" charset="0"/>
                <a:ea typeface="Calibri" pitchFamily="34" charset="-122"/>
                <a:cs typeface="Calibri" pitchFamily="34" charset="-120"/>
              </a:rPr>
              <a:t>Name the specific data -- which zone, which number?</a:t>
            </a:r>
            <a:endParaRPr lang="en-US" sz="1050" dirty="0"/>
          </a:p>
        </p:txBody>
      </p:sp>
      <p:sp>
        <p:nvSpPr>
          <p:cNvPr id="16" name="Text 14"/>
          <p:cNvSpPr/>
          <p:nvPr/>
        </p:nvSpPr>
        <p:spPr>
          <a:xfrm>
            <a:off x="4672584" y="3154680"/>
            <a:ext cx="1874520" cy="228600"/>
          </a:xfrm>
          <a:prstGeom prst="rect">
            <a:avLst/>
          </a:prstGeom>
          <a:noFill/>
          <a:ln/>
        </p:spPr>
        <p:txBody>
          <a:bodyPr wrap="square" lIns="0" tIns="0" rIns="0" bIns="0" rtlCol="0" anchor="ctr"/>
          <a:lstStyle/>
          <a:p>
            <a:pPr indent="0" marL="0">
              <a:buNone/>
            </a:pPr>
            <a:r>
              <a:rPr lang="en-US" sz="850" b="1" spc="100" kern="0" dirty="0">
                <a:solidFill>
                  <a:srgbClr val="34B76F"/>
                </a:solidFill>
                <a:latin typeface="Calibri" pitchFamily="34" charset="0"/>
                <a:ea typeface="Calibri" pitchFamily="34" charset="-122"/>
                <a:cs typeface="Calibri" pitchFamily="34" charset="-120"/>
              </a:rPr>
              <a:t>EXPLANATION</a:t>
            </a:r>
            <a:endParaRPr lang="en-US" sz="850" dirty="0"/>
          </a:p>
        </p:txBody>
      </p:sp>
      <p:sp>
        <p:nvSpPr>
          <p:cNvPr id="17" name="Text 15"/>
          <p:cNvSpPr/>
          <p:nvPr/>
        </p:nvSpPr>
        <p:spPr>
          <a:xfrm>
            <a:off x="4672584" y="3429000"/>
            <a:ext cx="1874520" cy="1143000"/>
          </a:xfrm>
          <a:prstGeom prst="rect">
            <a:avLst/>
          </a:prstGeom>
          <a:noFill/>
          <a:ln/>
        </p:spPr>
        <p:txBody>
          <a:bodyPr wrap="square" lIns="0" tIns="0" rIns="0" bIns="0" rtlCol="0" anchor="t"/>
          <a:lstStyle/>
          <a:p>
            <a:pPr indent="0" marL="0">
              <a:lnSpc>
                <a:spcPct val="125000"/>
              </a:lnSpc>
              <a:buNone/>
            </a:pPr>
            <a:r>
              <a:rPr lang="en-US" sz="1050" dirty="0">
                <a:solidFill>
                  <a:srgbClr val="F0F2F8"/>
                </a:solidFill>
                <a:latin typeface="Calibri" pitchFamily="34" charset="0"/>
                <a:ea typeface="Calibri" pitchFamily="34" charset="-122"/>
                <a:cs typeface="Calibri" pitchFamily="34" charset="-120"/>
              </a:rPr>
              <a:t>Why does that evidence support your claim?</a:t>
            </a:r>
            <a:endParaRPr lang="en-US" sz="1050" dirty="0"/>
          </a:p>
        </p:txBody>
      </p:sp>
      <p:sp>
        <p:nvSpPr>
          <p:cNvPr id="18" name="Text 16"/>
          <p:cNvSpPr/>
          <p:nvPr/>
        </p:nvSpPr>
        <p:spPr>
          <a:xfrm>
            <a:off x="6757416" y="3154680"/>
            <a:ext cx="1874520" cy="228600"/>
          </a:xfrm>
          <a:prstGeom prst="rect">
            <a:avLst/>
          </a:prstGeom>
          <a:noFill/>
          <a:ln/>
        </p:spPr>
        <p:txBody>
          <a:bodyPr wrap="square" lIns="0" tIns="0" rIns="0" bIns="0" rtlCol="0" anchor="ctr"/>
          <a:lstStyle/>
          <a:p>
            <a:pPr indent="0" marL="0">
              <a:buNone/>
            </a:pPr>
            <a:r>
              <a:rPr lang="en-US" sz="850" b="1" spc="100" kern="0" dirty="0">
                <a:solidFill>
                  <a:srgbClr val="8B6FC0"/>
                </a:solidFill>
                <a:latin typeface="Calibri" pitchFamily="34" charset="0"/>
                <a:ea typeface="Calibri" pitchFamily="34" charset="-122"/>
                <a:cs typeface="Calibri" pitchFamily="34" charset="-120"/>
              </a:rPr>
              <a:t>CONNECTION</a:t>
            </a:r>
            <a:endParaRPr lang="en-US" sz="850" dirty="0"/>
          </a:p>
        </p:txBody>
      </p:sp>
      <p:sp>
        <p:nvSpPr>
          <p:cNvPr id="19" name="Text 17"/>
          <p:cNvSpPr/>
          <p:nvPr/>
        </p:nvSpPr>
        <p:spPr>
          <a:xfrm>
            <a:off x="6757416" y="3429000"/>
            <a:ext cx="1874520" cy="1143000"/>
          </a:xfrm>
          <a:prstGeom prst="rect">
            <a:avLst/>
          </a:prstGeom>
          <a:noFill/>
          <a:ln/>
        </p:spPr>
        <p:txBody>
          <a:bodyPr wrap="square" lIns="0" tIns="0" rIns="0" bIns="0" rtlCol="0" anchor="t"/>
          <a:lstStyle/>
          <a:p>
            <a:pPr indent="0" marL="0">
              <a:lnSpc>
                <a:spcPct val="125000"/>
              </a:lnSpc>
              <a:buNone/>
            </a:pPr>
            <a:r>
              <a:rPr lang="en-US" sz="1050" dirty="0">
                <a:solidFill>
                  <a:srgbClr val="F0F2F8"/>
                </a:solidFill>
                <a:latin typeface="Calibri" pitchFamily="34" charset="0"/>
                <a:ea typeface="Calibri" pitchFamily="34" charset="-122"/>
                <a:cs typeface="Calibri" pitchFamily="34" charset="-120"/>
              </a:rPr>
              <a:t>How does this pattern shape life there?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34B76F"/>
          </a:solidFill>
          <a:ln w="12700">
            <a:solidFill>
              <a:srgbClr val="34B76F"/>
            </a:solidFill>
            <a:prstDash val="solid"/>
          </a:ln>
        </p:spPr>
      </p:sp>
      <p:sp>
        <p:nvSpPr>
          <p:cNvPr id="4" name="Text 2"/>
          <p:cNvSpPr/>
          <p:nvPr/>
        </p:nvSpPr>
        <p:spPr>
          <a:xfrm>
            <a:off x="320040" y="182880"/>
            <a:ext cx="850392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GUIDED PRACTICE 2  |  INVESTIGATE + DEFEND</a:t>
            </a:r>
            <a:endParaRPr lang="en-US" sz="900" dirty="0"/>
          </a:p>
        </p:txBody>
      </p:sp>
      <p:sp>
        <p:nvSpPr>
          <p:cNvPr id="5" name="Text 3"/>
          <p:cNvSpPr/>
          <p:nvPr/>
        </p:nvSpPr>
        <p:spPr>
          <a:xfrm>
            <a:off x="320040" y="502920"/>
            <a:ext cx="8503920" cy="4572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Pick Your Climate Pattern. Defend It.</a:t>
            </a:r>
            <a:endParaRPr lang="en-US" sz="2200" dirty="0"/>
          </a:p>
        </p:txBody>
      </p:sp>
      <p:sp>
        <p:nvSpPr>
          <p:cNvPr id="6" name="Shape 4"/>
          <p:cNvSpPr/>
          <p:nvPr/>
        </p:nvSpPr>
        <p:spPr>
          <a:xfrm>
            <a:off x="320040" y="1005840"/>
            <a:ext cx="3657600" cy="36576"/>
          </a:xfrm>
          <a:prstGeom prst="rect">
            <a:avLst/>
          </a:prstGeom>
          <a:solidFill>
            <a:srgbClr val="34B76F"/>
          </a:solidFill>
          <a:ln w="12700">
            <a:solidFill>
              <a:srgbClr val="34B76F"/>
            </a:solidFill>
            <a:prstDash val="solid"/>
          </a:ln>
        </p:spPr>
      </p:sp>
      <p:sp>
        <p:nvSpPr>
          <p:cNvPr id="7" name="Shape 5"/>
          <p:cNvSpPr/>
          <p:nvPr/>
        </p:nvSpPr>
        <p:spPr>
          <a:xfrm>
            <a:off x="320040" y="1143000"/>
            <a:ext cx="5394960" cy="1143000"/>
          </a:xfrm>
          <a:prstGeom prst="roundRect">
            <a:avLst>
              <a:gd name="adj" fmla="val 9600"/>
            </a:avLst>
          </a:prstGeom>
          <a:solidFill>
            <a:srgbClr val="FFFFFF"/>
          </a:solidFill>
          <a:ln w="19050">
            <a:solidFill>
              <a:srgbClr val="34B76F"/>
            </a:solidFill>
            <a:prstDash val="solid"/>
          </a:ln>
        </p:spPr>
      </p:sp>
      <p:sp>
        <p:nvSpPr>
          <p:cNvPr id="8" name="Text 6"/>
          <p:cNvSpPr/>
          <p:nvPr/>
        </p:nvSpPr>
        <p:spPr>
          <a:xfrm>
            <a:off x="502920" y="1234440"/>
            <a:ext cx="502920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YOUR TASK</a:t>
            </a:r>
            <a:endParaRPr lang="en-US" sz="900" dirty="0"/>
          </a:p>
        </p:txBody>
      </p:sp>
      <p:sp>
        <p:nvSpPr>
          <p:cNvPr id="9" name="Text 7"/>
          <p:cNvSpPr/>
          <p:nvPr/>
        </p:nvSpPr>
        <p:spPr>
          <a:xfrm>
            <a:off x="502920" y="1508760"/>
            <a:ext cx="5029200" cy="658368"/>
          </a:xfrm>
          <a:prstGeom prst="rect">
            <a:avLst/>
          </a:prstGeom>
          <a:noFill/>
          <a:ln/>
        </p:spPr>
        <p:txBody>
          <a:bodyPr wrap="square" lIns="0" tIns="0" rIns="0" bIns="0" rtlCol="0" anchor="t"/>
          <a:lstStyle/>
          <a:p>
            <a:pPr indent="0" marL="0">
              <a:lnSpc>
                <a:spcPct val="130000"/>
              </a:lnSpc>
              <a:buNone/>
            </a:pPr>
            <a:r>
              <a:rPr lang="en-US" sz="1200" i="1" dirty="0">
                <a:solidFill>
                  <a:srgbClr val="0E1C42"/>
                </a:solidFill>
                <a:latin typeface="Cambria" pitchFamily="34" charset="0"/>
                <a:ea typeface="Cambria" pitchFamily="34" charset="-122"/>
                <a:cs typeface="Cambria" pitchFamily="34" charset="-120"/>
              </a:rPr>
              <a:t>Pick ONE climate pattern from the map: a rainfall zone, a temperature zone, or a hurricane track. Build your claim + evidence + explanation.</a:t>
            </a:r>
            <a:endParaRPr lang="en-US" sz="1200" dirty="0"/>
          </a:p>
        </p:txBody>
      </p:sp>
      <p:sp>
        <p:nvSpPr>
          <p:cNvPr id="10" name="Shape 8"/>
          <p:cNvSpPr/>
          <p:nvPr/>
        </p:nvSpPr>
        <p:spPr>
          <a:xfrm>
            <a:off x="320040" y="2395728"/>
            <a:ext cx="5394960" cy="2423160"/>
          </a:xfrm>
          <a:prstGeom prst="roundRect">
            <a:avLst>
              <a:gd name="adj" fmla="val 5660"/>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502920" y="2487168"/>
            <a:ext cx="50292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502920" y="2743200"/>
            <a:ext cx="5029200" cy="1984248"/>
          </a:xfrm>
          <a:prstGeom prst="rect">
            <a:avLst/>
          </a:prstGeom>
          <a:noFill/>
          <a:ln/>
        </p:spPr>
        <p:txBody>
          <a:bodyPr wrap="square" lIns="0" tIns="0" rIns="0" bIns="0" rtlCol="0" anchor="t"/>
          <a:lstStyle/>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What evidence from the climate map supports your answer?</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What would someone who disagrees say? Maybe they think weather matters more than climate for decisions.</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Which piece of evidence is strongest -- and why?</a:t>
            </a:r>
            <a:endParaRPr lang="en-US" sz="1050" dirty="0"/>
          </a:p>
        </p:txBody>
      </p:sp>
      <p:sp>
        <p:nvSpPr>
          <p:cNvPr id="13" name="Shape 11"/>
          <p:cNvSpPr/>
          <p:nvPr/>
        </p:nvSpPr>
        <p:spPr>
          <a:xfrm>
            <a:off x="5897880" y="1143000"/>
            <a:ext cx="2926080" cy="2304288"/>
          </a:xfrm>
          <a:prstGeom prst="roundRect">
            <a:avLst>
              <a:gd name="adj" fmla="val 4762"/>
            </a:avLst>
          </a:prstGeom>
          <a:solidFill>
            <a:srgbClr val="FFF3DC"/>
          </a:solidFill>
          <a:ln w="19050">
            <a:solidFill>
              <a:srgbClr val="F5E6C8"/>
            </a:solidFill>
            <a:prstDash val="solid"/>
          </a:ln>
        </p:spPr>
      </p:sp>
      <p:sp>
        <p:nvSpPr>
          <p:cNvPr id="14" name="Text 12"/>
          <p:cNvSpPr/>
          <p:nvPr/>
        </p:nvSpPr>
        <p:spPr>
          <a:xfrm>
            <a:off x="6035040" y="1197864"/>
            <a:ext cx="26517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6035040" y="1399032"/>
            <a:ext cx="2651760" cy="1984248"/>
          </a:xfrm>
          <a:prstGeom prst="rect">
            <a:avLst/>
          </a:prstGeom>
          <a:noFill/>
          <a:ln/>
        </p:spPr>
        <p:txBody>
          <a:bodyPr wrap="square" lIns="0" tIns="0" rIns="0" bIns="0" rtlCol="0" anchor="t"/>
          <a:lstStyle/>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"My claim is ___ because the map shows ___"</a:t>
            </a:r>
            <a:endParaRPr lang="en-US" sz="1150" dirty="0"/>
          </a:p>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"Someone who disagrees might say ___, but I would argue ___ because..."</a:t>
            </a:r>
            <a:endParaRPr lang="en-US" sz="1150" dirty="0"/>
          </a:p>
        </p:txBody>
      </p:sp>
      <p:sp>
        <p:nvSpPr>
          <p:cNvPr id="16" name="Shape 14"/>
          <p:cNvSpPr/>
          <p:nvPr/>
        </p:nvSpPr>
        <p:spPr>
          <a:xfrm>
            <a:off x="5897880" y="3547872"/>
            <a:ext cx="2926080" cy="1298448"/>
          </a:xfrm>
          <a:prstGeom prst="roundRect">
            <a:avLst>
              <a:gd name="adj" fmla="val 8451"/>
            </a:avLst>
          </a:prstGeom>
          <a:solidFill>
            <a:srgbClr val="FFF3DC"/>
          </a:solidFill>
          <a:ln w="19050">
            <a:solidFill>
              <a:srgbClr val="F5E6C8"/>
            </a:solidFill>
            <a:prstDash val="solid"/>
          </a:ln>
        </p:spPr>
      </p:sp>
      <p:sp>
        <p:nvSpPr>
          <p:cNvPr id="17" name="Text 15"/>
          <p:cNvSpPr/>
          <p:nvPr/>
        </p:nvSpPr>
        <p:spPr>
          <a:xfrm>
            <a:off x="6035040" y="3639312"/>
            <a:ext cx="2651760" cy="228600"/>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UNLOCK CHALLENGE PREVIEW</a:t>
            </a:r>
            <a:endParaRPr lang="en-US" sz="900" dirty="0"/>
          </a:p>
        </p:txBody>
      </p:sp>
      <p:sp>
        <p:nvSpPr>
          <p:cNvPr id="18" name="Text 16"/>
          <p:cNvSpPr/>
          <p:nvPr/>
        </p:nvSpPr>
        <p:spPr>
          <a:xfrm>
            <a:off x="6035040" y="3913632"/>
            <a:ext cx="2651760" cy="777240"/>
          </a:xfrm>
          <a:prstGeom prst="rect">
            <a:avLst/>
          </a:prstGeom>
          <a:noFill/>
          <a:ln/>
        </p:spPr>
        <p:txBody>
          <a:bodyPr wrap="square" lIns="0" tIns="0" rIns="0" bIns="0" rtlCol="0" anchor="t"/>
          <a:lstStyle/>
          <a:p>
            <a:pPr indent="0" marL="0">
              <a:lnSpc>
                <a:spcPct val="125000"/>
              </a:lnSpc>
              <a:buNone/>
            </a:pPr>
            <a:r>
              <a:rPr lang="en-US" sz="1100" dirty="0">
                <a:solidFill>
                  <a:srgbClr val="5A4A3A"/>
                </a:solidFill>
                <a:latin typeface="Calibri" pitchFamily="34" charset="0"/>
                <a:ea typeface="Calibri" pitchFamily="34" charset="-122"/>
                <a:cs typeface="Calibri" pitchFamily="34" charset="-120"/>
              </a:rPr>
              <a:t>This practice directly prepares you for the Unlock Challenge -- same structure, same map, your own pattern.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E8636B"/>
          </a:solidFill>
          <a:ln w="12700">
            <a:solidFill>
              <a:srgbClr val="E8636B"/>
            </a:solidFill>
            <a:prstDash val="solid"/>
          </a:ln>
        </p:spPr>
      </p:sp>
      <p:sp>
        <p:nvSpPr>
          <p:cNvPr id="4" name="Text 2"/>
          <p:cNvSpPr/>
          <p:nvPr/>
        </p:nvSpPr>
        <p:spPr>
          <a:xfrm>
            <a:off x="320040" y="182880"/>
            <a:ext cx="850392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GUIDED PRACTICE 3  |  CRITIQUE THE EVIDENCE</a:t>
            </a:r>
            <a:endParaRPr lang="en-US" sz="900" dirty="0"/>
          </a:p>
        </p:txBody>
      </p:sp>
      <p:sp>
        <p:nvSpPr>
          <p:cNvPr id="5" name="Text 3"/>
          <p:cNvSpPr/>
          <p:nvPr/>
        </p:nvSpPr>
        <p:spPr>
          <a:xfrm>
            <a:off x="320040" y="502920"/>
            <a:ext cx="8503920" cy="4572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What's Missing From This Response?</a:t>
            </a:r>
            <a:endParaRPr lang="en-US" sz="2200" dirty="0"/>
          </a:p>
        </p:txBody>
      </p:sp>
      <p:sp>
        <p:nvSpPr>
          <p:cNvPr id="6" name="Shape 4"/>
          <p:cNvSpPr/>
          <p:nvPr/>
        </p:nvSpPr>
        <p:spPr>
          <a:xfrm>
            <a:off x="320040" y="1005840"/>
            <a:ext cx="3657600" cy="36576"/>
          </a:xfrm>
          <a:prstGeom prst="rect">
            <a:avLst/>
          </a:prstGeom>
          <a:solidFill>
            <a:srgbClr val="E8636B"/>
          </a:solidFill>
          <a:ln w="12700">
            <a:solidFill>
              <a:srgbClr val="E8636B"/>
            </a:solidFill>
            <a:prstDash val="solid"/>
          </a:ln>
        </p:spPr>
      </p:sp>
      <p:sp>
        <p:nvSpPr>
          <p:cNvPr id="7" name="Shape 5"/>
          <p:cNvSpPr/>
          <p:nvPr/>
        </p:nvSpPr>
        <p:spPr>
          <a:xfrm>
            <a:off x="320040" y="1143000"/>
            <a:ext cx="8503920" cy="987552"/>
          </a:xfrm>
          <a:prstGeom prst="roundRect">
            <a:avLst>
              <a:gd name="adj" fmla="val 11111"/>
            </a:avLst>
          </a:prstGeom>
          <a:solidFill>
            <a:srgbClr val="FFFFFF"/>
          </a:solidFill>
          <a:ln w="25400">
            <a:solidFill>
              <a:srgbClr val="E8636B"/>
            </a:solidFill>
            <a:prstDash val="solid"/>
          </a:ln>
        </p:spPr>
      </p:sp>
      <p:sp>
        <p:nvSpPr>
          <p:cNvPr id="8" name="Text 6"/>
          <p:cNvSpPr/>
          <p:nvPr/>
        </p:nvSpPr>
        <p:spPr>
          <a:xfrm>
            <a:off x="502920" y="1234440"/>
            <a:ext cx="8138160" cy="228600"/>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SAMPLE STUDENT RESPONSE</a:t>
            </a:r>
            <a:endParaRPr lang="en-US" sz="900" dirty="0"/>
          </a:p>
        </p:txBody>
      </p:sp>
      <p:sp>
        <p:nvSpPr>
          <p:cNvPr id="9" name="Text 7"/>
          <p:cNvSpPr/>
          <p:nvPr/>
        </p:nvSpPr>
        <p:spPr>
          <a:xfrm>
            <a:off x="502920" y="1481328"/>
            <a:ext cx="8138160" cy="475488"/>
          </a:xfrm>
          <a:prstGeom prst="rect">
            <a:avLst/>
          </a:prstGeom>
          <a:noFill/>
          <a:ln/>
        </p:spPr>
        <p:txBody>
          <a:bodyPr wrap="square" lIns="0" tIns="0" rIns="0" bIns="0" rtlCol="0" anchor="ctr"/>
          <a:lstStyle/>
          <a:p>
            <a:pPr indent="0" marL="0">
              <a:buNone/>
            </a:pPr>
            <a:r>
              <a:rPr lang="en-US" sz="1800" i="1" dirty="0">
                <a:solidFill>
                  <a:srgbClr val="0E1C42"/>
                </a:solidFill>
                <a:latin typeface="Cambria" pitchFamily="34" charset="0"/>
                <a:ea typeface="Cambria" pitchFamily="34" charset="-122"/>
                <a:cs typeface="Cambria" pitchFamily="34" charset="-120"/>
              </a:rPr>
              <a:t>"Florida is hot because it's sunny."</a:t>
            </a:r>
            <a:endParaRPr lang="en-US" sz="1800" dirty="0"/>
          </a:p>
        </p:txBody>
      </p:sp>
      <p:sp>
        <p:nvSpPr>
          <p:cNvPr id="10" name="Shape 8"/>
          <p:cNvSpPr/>
          <p:nvPr/>
        </p:nvSpPr>
        <p:spPr>
          <a:xfrm>
            <a:off x="320040" y="2240280"/>
            <a:ext cx="5394960" cy="2487168"/>
          </a:xfrm>
          <a:prstGeom prst="roundRect">
            <a:avLst>
              <a:gd name="adj" fmla="val 5515"/>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502920" y="2331720"/>
            <a:ext cx="50292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502920" y="2587752"/>
            <a:ext cx="5029200" cy="2048256"/>
          </a:xfrm>
          <a:prstGeom prst="rect">
            <a:avLst/>
          </a:prstGeom>
          <a:noFill/>
          <a:ln/>
        </p:spPr>
        <p:txBody>
          <a:bodyPr wrap="square" lIns="0" tIns="0" rIns="0" bIns="0" rtlCol="0" anchor="t"/>
          <a:lstStyle/>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Is 'hot' precise? Which part of Florida? Which season?</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What climate data would strengthen this response?</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Does this tell us about weather or climate -- and how do you know?</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How would you rewrite this with a specific claim, evidence, and explanation?</a:t>
            </a:r>
            <a:endParaRPr lang="en-US" sz="1050" dirty="0"/>
          </a:p>
        </p:txBody>
      </p:sp>
      <p:sp>
        <p:nvSpPr>
          <p:cNvPr id="13" name="Shape 11"/>
          <p:cNvSpPr/>
          <p:nvPr/>
        </p:nvSpPr>
        <p:spPr>
          <a:xfrm>
            <a:off x="5897880" y="2240280"/>
            <a:ext cx="2926080" cy="1536192"/>
          </a:xfrm>
          <a:prstGeom prst="roundRect">
            <a:avLst>
              <a:gd name="adj" fmla="val 7143"/>
            </a:avLst>
          </a:prstGeom>
          <a:solidFill>
            <a:srgbClr val="FFF3DC"/>
          </a:solidFill>
          <a:ln w="19050">
            <a:solidFill>
              <a:srgbClr val="F5E6C8"/>
            </a:solidFill>
            <a:prstDash val="solid"/>
          </a:ln>
        </p:spPr>
      </p:sp>
      <p:sp>
        <p:nvSpPr>
          <p:cNvPr id="14" name="Text 12"/>
          <p:cNvSpPr/>
          <p:nvPr/>
        </p:nvSpPr>
        <p:spPr>
          <a:xfrm>
            <a:off x="6035040" y="2295144"/>
            <a:ext cx="26517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6035040" y="2496312"/>
            <a:ext cx="2651760" cy="1216152"/>
          </a:xfrm>
          <a:prstGeom prst="rect">
            <a:avLst/>
          </a:prstGeom>
          <a:noFill/>
          <a:ln/>
        </p:spPr>
        <p:txBody>
          <a:bodyPr wrap="square" lIns="0" tIns="0" rIns="0" bIns="0" rtlCol="0" anchor="t"/>
          <a:lstStyle/>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"This response is weak because it is missing..."</a:t>
            </a:r>
            <a:endParaRPr lang="en-US" sz="1150" dirty="0"/>
          </a:p>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"A stronger version would say ___ because it adds the evidence that..."</a:t>
            </a:r>
            <a:endParaRPr lang="en-US" sz="1150" dirty="0"/>
          </a:p>
        </p:txBody>
      </p:sp>
      <p:sp>
        <p:nvSpPr>
          <p:cNvPr id="16" name="Shape 14"/>
          <p:cNvSpPr/>
          <p:nvPr/>
        </p:nvSpPr>
        <p:spPr>
          <a:xfrm>
            <a:off x="5897880" y="3858768"/>
            <a:ext cx="2926080" cy="868680"/>
          </a:xfrm>
          <a:prstGeom prst="roundRect">
            <a:avLst>
              <a:gd name="adj" fmla="val 10526"/>
            </a:avLst>
          </a:prstGeom>
          <a:solidFill>
            <a:srgbClr val="1A2D5A"/>
          </a:solidFill>
          <a:ln w="12700">
            <a:solidFill>
              <a:srgbClr val="55C8E8"/>
            </a:solidFill>
            <a:prstDash val="solid"/>
          </a:ln>
        </p:spPr>
      </p:sp>
      <p:sp>
        <p:nvSpPr>
          <p:cNvPr id="17" name="Text 15"/>
          <p:cNvSpPr/>
          <p:nvPr/>
        </p:nvSpPr>
        <p:spPr>
          <a:xfrm>
            <a:off x="6035040" y="3950208"/>
            <a:ext cx="2651760" cy="658368"/>
          </a:xfrm>
          <a:prstGeom prst="rect">
            <a:avLst/>
          </a:prstGeom>
          <a:noFill/>
          <a:ln/>
        </p:spPr>
        <p:txBody>
          <a:bodyPr wrap="square" lIns="0" tIns="0" rIns="0" bIns="0" rtlCol="0" anchor="ctr"/>
          <a:lstStyle/>
          <a:p>
            <a:pPr indent="0" marL="0">
              <a:lnSpc>
                <a:spcPct val="130000"/>
              </a:lnSpc>
              <a:buNone/>
            </a:pPr>
            <a:r>
              <a:rPr lang="en-US" sz="1150" b="1" dirty="0">
                <a:solidFill>
                  <a:srgbClr val="55C8E8"/>
                </a:solidFill>
                <a:latin typeface="Calibri" pitchFamily="34" charset="0"/>
                <a:ea typeface="Calibri" pitchFamily="34" charset="-122"/>
                <a:cs typeface="Calibri" pitchFamily="34" charset="-120"/>
              </a:rPr>
              <a:t>CRITIQUE = improving the evidence, not just finding the error.</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8B6FC0"/>
          </a:solidFill>
          <a:ln w="12700">
            <a:solidFill>
              <a:srgbClr val="8B6FC0"/>
            </a:solidFill>
            <a:prstDash val="solid"/>
          </a:ln>
        </p:spPr>
      </p:sp>
      <p:sp>
        <p:nvSpPr>
          <p:cNvPr id="4" name="Text 2"/>
          <p:cNvSpPr/>
          <p:nvPr/>
        </p:nvSpPr>
        <p:spPr>
          <a:xfrm>
            <a:off x="320040" y="182880"/>
            <a:ext cx="850392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GUIDED PRACTICE 4  |  THE TRICKY ONE</a:t>
            </a:r>
            <a:endParaRPr lang="en-US" sz="900" dirty="0"/>
          </a:p>
        </p:txBody>
      </p:sp>
      <p:sp>
        <p:nvSpPr>
          <p:cNvPr id="5" name="Text 3"/>
          <p:cNvSpPr/>
          <p:nvPr/>
        </p:nvSpPr>
        <p:spPr>
          <a:xfrm>
            <a:off x="320040" y="502920"/>
            <a:ext cx="850392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One Hot Year = Climate Change?</a:t>
            </a:r>
            <a:endParaRPr lang="en-US" sz="2400" dirty="0"/>
          </a:p>
        </p:txBody>
      </p:sp>
      <p:sp>
        <p:nvSpPr>
          <p:cNvPr id="6" name="Shape 4"/>
          <p:cNvSpPr/>
          <p:nvPr/>
        </p:nvSpPr>
        <p:spPr>
          <a:xfrm>
            <a:off x="320040" y="1005840"/>
            <a:ext cx="3657600" cy="36576"/>
          </a:xfrm>
          <a:prstGeom prst="rect">
            <a:avLst/>
          </a:prstGeom>
          <a:solidFill>
            <a:srgbClr val="8B6FC0"/>
          </a:solidFill>
          <a:ln w="12700">
            <a:solidFill>
              <a:srgbClr val="8B6FC0"/>
            </a:solidFill>
            <a:prstDash val="solid"/>
          </a:ln>
        </p:spPr>
      </p:sp>
      <p:sp>
        <p:nvSpPr>
          <p:cNvPr id="7" name="Shape 5"/>
          <p:cNvSpPr/>
          <p:nvPr/>
        </p:nvSpPr>
        <p:spPr>
          <a:xfrm>
            <a:off x="320040" y="1143000"/>
            <a:ext cx="8503920" cy="1207008"/>
          </a:xfrm>
          <a:prstGeom prst="roundRect">
            <a:avLst>
              <a:gd name="adj" fmla="val 11364"/>
            </a:avLst>
          </a:prstGeom>
          <a:solidFill>
            <a:srgbClr val="1A2D5A"/>
          </a:solidFill>
          <a:ln w="25400">
            <a:solidFill>
              <a:srgbClr val="8B6FC0"/>
            </a:solidFill>
            <a:prstDash val="solid"/>
          </a:ln>
        </p:spPr>
      </p:sp>
      <p:sp>
        <p:nvSpPr>
          <p:cNvPr id="8" name="Text 6"/>
          <p:cNvSpPr/>
          <p:nvPr/>
        </p:nvSpPr>
        <p:spPr>
          <a:xfrm>
            <a:off x="502920" y="1234440"/>
            <a:ext cx="8138160" cy="2560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THE CHALLENGE</a:t>
            </a:r>
            <a:endParaRPr lang="en-US" sz="900" dirty="0"/>
          </a:p>
        </p:txBody>
      </p:sp>
      <p:sp>
        <p:nvSpPr>
          <p:cNvPr id="9" name="Text 7"/>
          <p:cNvSpPr/>
          <p:nvPr/>
        </p:nvSpPr>
        <p:spPr>
          <a:xfrm>
            <a:off x="502920" y="1536192"/>
            <a:ext cx="8138160" cy="685800"/>
          </a:xfrm>
          <a:prstGeom prst="rect">
            <a:avLst/>
          </a:prstGeom>
          <a:noFill/>
          <a:ln/>
        </p:spPr>
        <p:txBody>
          <a:bodyPr wrap="square" lIns="0" tIns="0" rIns="0" bIns="0" rtlCol="0" anchor="t"/>
          <a:lstStyle/>
          <a:p>
            <a:pPr indent="0" marL="0">
              <a:lnSpc>
                <a:spcPct val="130000"/>
              </a:lnSpc>
              <a:buNone/>
            </a:pPr>
            <a:r>
              <a:rPr lang="en-US" sz="1400" i="1" dirty="0">
                <a:solidFill>
                  <a:srgbClr val="FFFFFF"/>
                </a:solidFill>
                <a:latin typeface="Cambria" pitchFamily="34" charset="0"/>
                <a:ea typeface="Cambria" pitchFamily="34" charset="-122"/>
                <a:cs typeface="Cambria" pitchFamily="34" charset="-120"/>
              </a:rPr>
              <a:t>If Florida has one unusually hot year -- the hottest on record -- does that prove Florida's climate is changing? Defend your position with evidence.</a:t>
            </a:r>
            <a:endParaRPr lang="en-US" sz="1400" dirty="0"/>
          </a:p>
        </p:txBody>
      </p:sp>
      <p:sp>
        <p:nvSpPr>
          <p:cNvPr id="10" name="Shape 8"/>
          <p:cNvSpPr/>
          <p:nvPr/>
        </p:nvSpPr>
        <p:spPr>
          <a:xfrm>
            <a:off x="320040" y="2487168"/>
            <a:ext cx="5394960" cy="2304288"/>
          </a:xfrm>
          <a:prstGeom prst="roundRect">
            <a:avLst>
              <a:gd name="adj" fmla="val 5952"/>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502920" y="2578608"/>
            <a:ext cx="50292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502920" y="2834640"/>
            <a:ext cx="5029200" cy="1865376"/>
          </a:xfrm>
          <a:prstGeom prst="rect">
            <a:avLst/>
          </a:prstGeom>
          <a:noFill/>
          <a:ln/>
        </p:spPr>
        <p:txBody>
          <a:bodyPr wrap="square" lIns="0" tIns="0" rIns="0" bIns="0" rtlCol="0" anchor="t"/>
          <a:lstStyle/>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What is the difference between a weather event and a climate trend?</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How many years of data would you need to say climate has changed?</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Could there be another explanation for one hot year?</a:t>
            </a:r>
            <a:endParaRPr lang="en-US" sz="1050" dirty="0"/>
          </a:p>
          <a:p>
            <a:pPr marL="342900" indent="-342900">
              <a:spcAft>
                <a:spcPts val="400"/>
              </a:spcAft>
              <a:buSzPct val="100000"/>
              <a:buChar char="•"/>
            </a:pPr>
            <a:r>
              <a:rPr lang="en-US" sz="1050" i="1" dirty="0">
                <a:solidFill>
                  <a:srgbClr val="FFFFFF"/>
                </a:solidFill>
                <a:latin typeface="Calibri" pitchFamily="34" charset="0"/>
                <a:ea typeface="Calibri" pitchFamily="34" charset="-122"/>
                <a:cs typeface="Calibri" pitchFamily="34" charset="-120"/>
              </a:rPr>
              <a:t>Reasonable people can disagree here -- what does each side need to be convincing?</a:t>
            </a:r>
            <a:endParaRPr lang="en-US" sz="1050" dirty="0"/>
          </a:p>
        </p:txBody>
      </p:sp>
      <p:sp>
        <p:nvSpPr>
          <p:cNvPr id="13" name="Shape 11"/>
          <p:cNvSpPr/>
          <p:nvPr/>
        </p:nvSpPr>
        <p:spPr>
          <a:xfrm>
            <a:off x="5897880" y="2487168"/>
            <a:ext cx="2926080" cy="1417320"/>
          </a:xfrm>
          <a:prstGeom prst="roundRect">
            <a:avLst>
              <a:gd name="adj" fmla="val 7742"/>
            </a:avLst>
          </a:prstGeom>
          <a:solidFill>
            <a:srgbClr val="FFF3DC"/>
          </a:solidFill>
          <a:ln w="19050">
            <a:solidFill>
              <a:srgbClr val="F5E6C8"/>
            </a:solidFill>
            <a:prstDash val="solid"/>
          </a:ln>
        </p:spPr>
      </p:sp>
      <p:sp>
        <p:nvSpPr>
          <p:cNvPr id="14" name="Text 12"/>
          <p:cNvSpPr/>
          <p:nvPr/>
        </p:nvSpPr>
        <p:spPr>
          <a:xfrm>
            <a:off x="6035040" y="2542032"/>
            <a:ext cx="26517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6035040" y="2743200"/>
            <a:ext cx="2651760" cy="1097280"/>
          </a:xfrm>
          <a:prstGeom prst="rect">
            <a:avLst/>
          </a:prstGeom>
          <a:noFill/>
          <a:ln/>
        </p:spPr>
        <p:txBody>
          <a:bodyPr wrap="square" lIns="0" tIns="0" rIns="0" bIns="0" rtlCol="0" anchor="t"/>
          <a:lstStyle/>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"One hot year is / is not evidence of climate change because..."</a:t>
            </a:r>
            <a:endParaRPr lang="en-US" sz="1150" dirty="0"/>
          </a:p>
          <a:p>
            <a:pPr indent="0" marL="0">
              <a:spcAft>
                <a:spcPts val="500"/>
              </a:spcAft>
              <a:buNone/>
            </a:pPr>
            <a:r>
              <a:rPr lang="en-US" sz="1150" i="1" dirty="0">
                <a:solidFill>
                  <a:srgbClr val="5A4A3A"/>
                </a:solidFill>
                <a:latin typeface="Cambria" pitchFamily="34" charset="0"/>
                <a:ea typeface="Cambria" pitchFamily="34" charset="-122"/>
                <a:cs typeface="Cambria" pitchFamily="34" charset="-120"/>
              </a:rPr>
              <a:t>"To prove climate has changed, you would need to show..."</a:t>
            </a:r>
            <a:endParaRPr lang="en-US" sz="1150" dirty="0"/>
          </a:p>
        </p:txBody>
      </p:sp>
      <p:sp>
        <p:nvSpPr>
          <p:cNvPr id="16" name="Shape 14"/>
          <p:cNvSpPr/>
          <p:nvPr/>
        </p:nvSpPr>
        <p:spPr>
          <a:xfrm>
            <a:off x="5897880" y="3977640"/>
            <a:ext cx="2926080" cy="804672"/>
          </a:xfrm>
          <a:prstGeom prst="roundRect">
            <a:avLst>
              <a:gd name="adj" fmla="val 11364"/>
            </a:avLst>
          </a:prstGeom>
          <a:solidFill>
            <a:srgbClr val="FFF3DC"/>
          </a:solidFill>
          <a:ln w="19050">
            <a:solidFill>
              <a:srgbClr val="F5E6C8"/>
            </a:solidFill>
            <a:prstDash val="solid"/>
          </a:ln>
        </p:spPr>
      </p:sp>
      <p:sp>
        <p:nvSpPr>
          <p:cNvPr id="17" name="Text 15"/>
          <p:cNvSpPr/>
          <p:nvPr/>
        </p:nvSpPr>
        <p:spPr>
          <a:xfrm>
            <a:off x="6035040" y="4041648"/>
            <a:ext cx="2651760" cy="621792"/>
          </a:xfrm>
          <a:prstGeom prst="rect">
            <a:avLst/>
          </a:prstGeom>
          <a:noFill/>
          <a:ln/>
        </p:spPr>
        <p:txBody>
          <a:bodyPr wrap="square" lIns="0" tIns="0" rIns="0" bIns="0" rtlCol="0" anchor="ctr"/>
          <a:lstStyle/>
          <a:p>
            <a:pPr indent="0" marL="0">
              <a:lnSpc>
                <a:spcPct val="125000"/>
              </a:lnSpc>
              <a:buNone/>
            </a:pPr>
            <a:r>
              <a:rPr lang="en-US" sz="1100" i="1" dirty="0">
                <a:solidFill>
                  <a:srgbClr val="5A4A3A"/>
                </a:solidFill>
                <a:latin typeface="Calibri" pitchFamily="34" charset="0"/>
                <a:ea typeface="Calibri" pitchFamily="34" charset="-122"/>
                <a:cs typeface="Calibri" pitchFamily="34" charset="-120"/>
              </a:rPr>
              <a:t>Remember: weather = one day, climate = the long pattern. Apply this definition to your argument.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55C8E8"/>
          </a:solidFill>
          <a:ln w="12700">
            <a:solidFill>
              <a:srgbClr val="55C8E8"/>
            </a:solidFill>
            <a:prstDash val="solid"/>
          </a:ln>
        </p:spPr>
      </p:sp>
      <p:sp>
        <p:nvSpPr>
          <p:cNvPr id="4" name="Text 2"/>
          <p:cNvSpPr/>
          <p:nvPr/>
        </p:nvSpPr>
        <p:spPr>
          <a:xfrm>
            <a:off x="320040" y="182880"/>
            <a:ext cx="850392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SELF-CHECK  |  TEST YOUR UNDERSTANDING</a:t>
            </a:r>
            <a:endParaRPr lang="en-US" sz="900" dirty="0"/>
          </a:p>
        </p:txBody>
      </p:sp>
      <p:sp>
        <p:nvSpPr>
          <p:cNvPr id="5" name="Text 3"/>
          <p:cNvSpPr/>
          <p:nvPr/>
        </p:nvSpPr>
        <p:spPr>
          <a:xfrm>
            <a:off x="320040" y="502920"/>
            <a:ext cx="8503920" cy="4572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Three Quick Questions -- Cover Your Notes</a:t>
            </a:r>
            <a:endParaRPr lang="en-US" sz="2200" dirty="0"/>
          </a:p>
        </p:txBody>
      </p:sp>
      <p:sp>
        <p:nvSpPr>
          <p:cNvPr id="6" name="Shape 4"/>
          <p:cNvSpPr/>
          <p:nvPr/>
        </p:nvSpPr>
        <p:spPr>
          <a:xfrm>
            <a:off x="320040" y="1005840"/>
            <a:ext cx="4114800" cy="36576"/>
          </a:xfrm>
          <a:prstGeom prst="rect">
            <a:avLst/>
          </a:prstGeom>
          <a:solidFill>
            <a:srgbClr val="55C8E8"/>
          </a:solidFill>
          <a:ln w="12700">
            <a:solidFill>
              <a:srgbClr val="55C8E8"/>
            </a:solidFill>
            <a:prstDash val="solid"/>
          </a:ln>
        </p:spPr>
      </p:sp>
      <p:sp>
        <p:nvSpPr>
          <p:cNvPr id="7" name="Shape 5"/>
          <p:cNvSpPr/>
          <p:nvPr/>
        </p:nvSpPr>
        <p:spPr>
          <a:xfrm>
            <a:off x="320040" y="1143000"/>
            <a:ext cx="8503920" cy="1115568"/>
          </a:xfrm>
          <a:prstGeom prst="roundRect">
            <a:avLst>
              <a:gd name="adj" fmla="val 9836"/>
            </a:avLst>
          </a:prstGeom>
          <a:solidFill>
            <a:srgbClr val="FFFFFF"/>
          </a:solidFill>
          <a:ln w="19050">
            <a:solidFill>
              <a:srgbClr val="55C8E8"/>
            </a:solidFill>
            <a:prstDash val="solid"/>
          </a:ln>
          <a:effectLst>
            <a:outerShdw sx="100000" sy="100000" kx="0" ky="0" algn="bl" rotWithShape="0" blurRad="63500" dist="25400" dir="8100000">
              <a:srgbClr val="000000">
                <a:alpha val="6000"/>
              </a:srgbClr>
            </a:outerShdw>
          </a:effectLst>
        </p:spPr>
      </p:sp>
      <p:sp>
        <p:nvSpPr>
          <p:cNvPr id="8" name="Text 6"/>
          <p:cNvSpPr/>
          <p:nvPr/>
        </p:nvSpPr>
        <p:spPr>
          <a:xfrm>
            <a:off x="502920" y="1234440"/>
            <a:ext cx="8138160" cy="292608"/>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Q1: What is Florida's climate like?</a:t>
            </a:r>
            <a:endParaRPr lang="en-US" sz="1300" dirty="0"/>
          </a:p>
        </p:txBody>
      </p:sp>
      <p:sp>
        <p:nvSpPr>
          <p:cNvPr id="9" name="Shape 7"/>
          <p:cNvSpPr/>
          <p:nvPr/>
        </p:nvSpPr>
        <p:spPr>
          <a:xfrm>
            <a:off x="502920" y="1572768"/>
            <a:ext cx="7955280" cy="36576"/>
          </a:xfrm>
          <a:prstGeom prst="rect">
            <a:avLst/>
          </a:prstGeom>
          <a:solidFill>
            <a:srgbClr val="E2E8F4"/>
          </a:solidFill>
          <a:ln w="12700">
            <a:solidFill>
              <a:srgbClr val="E2E8F4"/>
            </a:solidFill>
            <a:prstDash val="solid"/>
          </a:ln>
        </p:spPr>
      </p:sp>
      <p:sp>
        <p:nvSpPr>
          <p:cNvPr id="10" name="Text 8"/>
          <p:cNvSpPr/>
          <p:nvPr/>
        </p:nvSpPr>
        <p:spPr>
          <a:xfrm>
            <a:off x="502920" y="1655064"/>
            <a:ext cx="8138160" cy="457200"/>
          </a:xfrm>
          <a:prstGeom prst="rect">
            <a:avLst/>
          </a:prstGeom>
          <a:noFill/>
          <a:ln/>
        </p:spPr>
        <p:txBody>
          <a:bodyPr wrap="square" lIns="0" tIns="0" rIns="0" bIns="0" rtlCol="0" anchor="t"/>
          <a:lstStyle/>
          <a:p>
            <a:pPr indent="0" marL="0">
              <a:lnSpc>
                <a:spcPct val="120000"/>
              </a:lnSpc>
              <a:buNone/>
            </a:pPr>
            <a:r>
              <a:rPr lang="en-US" sz="1200" i="1" dirty="0">
                <a:solidFill>
                  <a:srgbClr val="1A8A7D"/>
                </a:solidFill>
                <a:latin typeface="Cambria" pitchFamily="34" charset="0"/>
                <a:ea typeface="Cambria" pitchFamily="34" charset="-122"/>
                <a:cs typeface="Cambria" pitchFamily="34" charset="-120"/>
              </a:rPr>
              <a:t>Answer: Warm and rainy with a hurricane season.</a:t>
            </a:r>
            <a:endParaRPr lang="en-US" sz="1200" dirty="0"/>
          </a:p>
        </p:txBody>
      </p:sp>
      <p:sp>
        <p:nvSpPr>
          <p:cNvPr id="11" name="Shape 9"/>
          <p:cNvSpPr/>
          <p:nvPr/>
        </p:nvSpPr>
        <p:spPr>
          <a:xfrm>
            <a:off x="320040" y="2377440"/>
            <a:ext cx="8503920" cy="1115568"/>
          </a:xfrm>
          <a:prstGeom prst="roundRect">
            <a:avLst>
              <a:gd name="adj" fmla="val 9836"/>
            </a:avLst>
          </a:prstGeom>
          <a:solidFill>
            <a:srgbClr val="FFFFFF"/>
          </a:solidFill>
          <a:ln w="19050">
            <a:solidFill>
              <a:srgbClr val="55C8E8"/>
            </a:solidFill>
            <a:prstDash val="solid"/>
          </a:ln>
          <a:effectLst>
            <a:outerShdw sx="100000" sy="100000" kx="0" ky="0" algn="bl" rotWithShape="0" blurRad="63500" dist="25400" dir="8100000">
              <a:srgbClr val="000000">
                <a:alpha val="6000"/>
              </a:srgbClr>
            </a:outerShdw>
          </a:effectLst>
        </p:spPr>
      </p:sp>
      <p:sp>
        <p:nvSpPr>
          <p:cNvPr id="12" name="Text 10"/>
          <p:cNvSpPr/>
          <p:nvPr/>
        </p:nvSpPr>
        <p:spPr>
          <a:xfrm>
            <a:off x="502920" y="2468880"/>
            <a:ext cx="8138160" cy="292608"/>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Q2: What is the difference between weather and climate?</a:t>
            </a:r>
            <a:endParaRPr lang="en-US" sz="1300" dirty="0"/>
          </a:p>
        </p:txBody>
      </p:sp>
      <p:sp>
        <p:nvSpPr>
          <p:cNvPr id="13" name="Shape 11"/>
          <p:cNvSpPr/>
          <p:nvPr/>
        </p:nvSpPr>
        <p:spPr>
          <a:xfrm>
            <a:off x="502920" y="2807208"/>
            <a:ext cx="7955280" cy="36576"/>
          </a:xfrm>
          <a:prstGeom prst="rect">
            <a:avLst/>
          </a:prstGeom>
          <a:solidFill>
            <a:srgbClr val="E2E8F4"/>
          </a:solidFill>
          <a:ln w="12700">
            <a:solidFill>
              <a:srgbClr val="E2E8F4"/>
            </a:solidFill>
            <a:prstDash val="solid"/>
          </a:ln>
        </p:spPr>
      </p:sp>
      <p:sp>
        <p:nvSpPr>
          <p:cNvPr id="14" name="Text 12"/>
          <p:cNvSpPr/>
          <p:nvPr/>
        </p:nvSpPr>
        <p:spPr>
          <a:xfrm>
            <a:off x="502920" y="2889504"/>
            <a:ext cx="8138160" cy="457200"/>
          </a:xfrm>
          <a:prstGeom prst="rect">
            <a:avLst/>
          </a:prstGeom>
          <a:noFill/>
          <a:ln/>
        </p:spPr>
        <p:txBody>
          <a:bodyPr wrap="square" lIns="0" tIns="0" rIns="0" bIns="0" rtlCol="0" anchor="t"/>
          <a:lstStyle/>
          <a:p>
            <a:pPr indent="0" marL="0">
              <a:lnSpc>
                <a:spcPct val="120000"/>
              </a:lnSpc>
              <a:buNone/>
            </a:pPr>
            <a:r>
              <a:rPr lang="en-US" sz="1200" i="1" dirty="0">
                <a:solidFill>
                  <a:srgbClr val="1A8A7D"/>
                </a:solidFill>
                <a:latin typeface="Cambria" pitchFamily="34" charset="0"/>
                <a:ea typeface="Cambria" pitchFamily="34" charset="-122"/>
                <a:cs typeface="Cambria" pitchFamily="34" charset="-120"/>
              </a:rPr>
              <a:t>Answer: Weather = today's conditions; climate = long-term pattern over many years.</a:t>
            </a:r>
            <a:endParaRPr lang="en-US" sz="1200" dirty="0"/>
          </a:p>
        </p:txBody>
      </p:sp>
      <p:sp>
        <p:nvSpPr>
          <p:cNvPr id="15" name="Shape 13"/>
          <p:cNvSpPr/>
          <p:nvPr/>
        </p:nvSpPr>
        <p:spPr>
          <a:xfrm>
            <a:off x="320040" y="3611880"/>
            <a:ext cx="8503920" cy="1115568"/>
          </a:xfrm>
          <a:prstGeom prst="roundRect">
            <a:avLst>
              <a:gd name="adj" fmla="val 9836"/>
            </a:avLst>
          </a:prstGeom>
          <a:solidFill>
            <a:srgbClr val="FFFFFF"/>
          </a:solidFill>
          <a:ln w="19050">
            <a:solidFill>
              <a:srgbClr val="55C8E8"/>
            </a:solidFill>
            <a:prstDash val="solid"/>
          </a:ln>
          <a:effectLst>
            <a:outerShdw sx="100000" sy="100000" kx="0" ky="0" algn="bl" rotWithShape="0" blurRad="63500" dist="25400" dir="8100000">
              <a:srgbClr val="000000">
                <a:alpha val="6000"/>
              </a:srgbClr>
            </a:outerShdw>
          </a:effectLst>
        </p:spPr>
      </p:sp>
      <p:sp>
        <p:nvSpPr>
          <p:cNvPr id="16" name="Text 14"/>
          <p:cNvSpPr/>
          <p:nvPr/>
        </p:nvSpPr>
        <p:spPr>
          <a:xfrm>
            <a:off x="502920" y="3703320"/>
            <a:ext cx="8138160" cy="292608"/>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Q3: When is hurricane season in Florida?</a:t>
            </a:r>
            <a:endParaRPr lang="en-US" sz="1300" dirty="0"/>
          </a:p>
        </p:txBody>
      </p:sp>
      <p:sp>
        <p:nvSpPr>
          <p:cNvPr id="17" name="Shape 15"/>
          <p:cNvSpPr/>
          <p:nvPr/>
        </p:nvSpPr>
        <p:spPr>
          <a:xfrm>
            <a:off x="502920" y="4041648"/>
            <a:ext cx="7955280" cy="36576"/>
          </a:xfrm>
          <a:prstGeom prst="rect">
            <a:avLst/>
          </a:prstGeom>
          <a:solidFill>
            <a:srgbClr val="E2E8F4"/>
          </a:solidFill>
          <a:ln w="12700">
            <a:solidFill>
              <a:srgbClr val="E2E8F4"/>
            </a:solidFill>
            <a:prstDash val="solid"/>
          </a:ln>
        </p:spPr>
      </p:sp>
      <p:sp>
        <p:nvSpPr>
          <p:cNvPr id="18" name="Text 16"/>
          <p:cNvSpPr/>
          <p:nvPr/>
        </p:nvSpPr>
        <p:spPr>
          <a:xfrm>
            <a:off x="502920" y="4123944"/>
            <a:ext cx="8138160" cy="457200"/>
          </a:xfrm>
          <a:prstGeom prst="rect">
            <a:avLst/>
          </a:prstGeom>
          <a:noFill/>
          <a:ln/>
        </p:spPr>
        <p:txBody>
          <a:bodyPr wrap="square" lIns="0" tIns="0" rIns="0" bIns="0" rtlCol="0" anchor="t"/>
          <a:lstStyle/>
          <a:p>
            <a:pPr indent="0" marL="0">
              <a:lnSpc>
                <a:spcPct val="120000"/>
              </a:lnSpc>
              <a:buNone/>
            </a:pPr>
            <a:r>
              <a:rPr lang="en-US" sz="1200" i="1" dirty="0">
                <a:solidFill>
                  <a:srgbClr val="1A8A7D"/>
                </a:solidFill>
                <a:latin typeface="Cambria" pitchFamily="34" charset="0"/>
                <a:ea typeface="Cambria" pitchFamily="34" charset="-122"/>
                <a:cs typeface="Cambria" pitchFamily="34" charset="-120"/>
              </a:rPr>
              <a:t>Answer: June through November.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164592" cy="5143500"/>
          </a:xfrm>
          <a:prstGeom prst="rect">
            <a:avLst/>
          </a:prstGeom>
          <a:solidFill>
            <a:srgbClr val="D4943A"/>
          </a:solidFill>
          <a:ln w="12700">
            <a:solidFill>
              <a:srgbClr val="D4943A"/>
            </a:solidFill>
            <a:prstDash val="solid"/>
          </a:ln>
        </p:spPr>
      </p:sp>
      <p:sp>
        <p:nvSpPr>
          <p:cNvPr id="4" name="Text 2"/>
          <p:cNvSpPr/>
          <p:nvPr/>
        </p:nvSpPr>
        <p:spPr>
          <a:xfrm>
            <a:off x="320040" y="182880"/>
            <a:ext cx="8503920" cy="256032"/>
          </a:xfrm>
          <a:prstGeom prst="rect">
            <a:avLst/>
          </a:prstGeom>
          <a:noFill/>
          <a:ln/>
        </p:spPr>
        <p:txBody>
          <a:bodyPr wrap="square" lIns="0" tIns="0" rIns="0" bIns="0"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ASSIGNMENT  |  LESSON 4.02.03  |  EVIDENCE QUESTIONS + MAP QUEST</a:t>
            </a:r>
            <a:endParaRPr lang="en-US" sz="900" dirty="0"/>
          </a:p>
        </p:txBody>
      </p:sp>
      <p:sp>
        <p:nvSpPr>
          <p:cNvPr id="5" name="Text 3"/>
          <p:cNvSpPr/>
          <p:nvPr/>
        </p:nvSpPr>
        <p:spPr>
          <a:xfrm>
            <a:off x="320040" y="475488"/>
            <a:ext cx="8503920" cy="4114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Your Turn: Unlock the Panel</a:t>
            </a:r>
            <a:endParaRPr lang="en-US" sz="2200" dirty="0"/>
          </a:p>
        </p:txBody>
      </p:sp>
      <p:sp>
        <p:nvSpPr>
          <p:cNvPr id="6" name="Shape 4"/>
          <p:cNvSpPr/>
          <p:nvPr/>
        </p:nvSpPr>
        <p:spPr>
          <a:xfrm>
            <a:off x="320040" y="914400"/>
            <a:ext cx="3200400" cy="36576"/>
          </a:xfrm>
          <a:prstGeom prst="rect">
            <a:avLst/>
          </a:prstGeom>
          <a:solidFill>
            <a:srgbClr val="D4943A"/>
          </a:solidFill>
          <a:ln w="12700">
            <a:solidFill>
              <a:srgbClr val="D4943A"/>
            </a:solidFill>
            <a:prstDash val="solid"/>
          </a:ln>
        </p:spPr>
      </p:sp>
      <p:sp>
        <p:nvSpPr>
          <p:cNvPr id="7" name="Shape 5"/>
          <p:cNvSpPr/>
          <p:nvPr/>
        </p:nvSpPr>
        <p:spPr>
          <a:xfrm>
            <a:off x="320040" y="1005840"/>
            <a:ext cx="5349240" cy="713232"/>
          </a:xfrm>
          <a:prstGeom prst="roundRect">
            <a:avLst>
              <a:gd name="adj" fmla="val 12821"/>
            </a:avLst>
          </a:prstGeom>
          <a:solidFill>
            <a:srgbClr val="FFFFFF"/>
          </a:solidFill>
          <a:ln w="19050">
            <a:solidFill>
              <a:srgbClr val="D4943A"/>
            </a:solidFill>
            <a:prstDash val="solid"/>
          </a:ln>
        </p:spPr>
      </p:sp>
      <p:sp>
        <p:nvSpPr>
          <p:cNvPr id="8" name="Text 6"/>
          <p:cNvSpPr/>
          <p:nvPr/>
        </p:nvSpPr>
        <p:spPr>
          <a:xfrm>
            <a:off x="411480" y="1097280"/>
            <a:ext cx="365760" cy="502920"/>
          </a:xfrm>
          <a:prstGeom prst="rect">
            <a:avLst/>
          </a:prstGeom>
          <a:noFill/>
          <a:ln/>
        </p:spPr>
        <p:txBody>
          <a:bodyPr wrap="square" lIns="0" tIns="0" rIns="0" bIns="0"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Q1</a:t>
            </a:r>
            <a:endParaRPr lang="en-US" sz="1300" dirty="0"/>
          </a:p>
        </p:txBody>
      </p:sp>
      <p:sp>
        <p:nvSpPr>
          <p:cNvPr id="9" name="Text 7"/>
          <p:cNvSpPr/>
          <p:nvPr/>
        </p:nvSpPr>
        <p:spPr>
          <a:xfrm>
            <a:off x="841248" y="1069848"/>
            <a:ext cx="4681728" cy="566928"/>
          </a:xfrm>
          <a:prstGeom prst="rect">
            <a:avLst/>
          </a:prstGeom>
          <a:noFill/>
          <a:ln/>
        </p:spPr>
        <p:txBody>
          <a:bodyPr wrap="square" lIns="0" tIns="0" rIns="0" bIns="0" rtlCol="0" anchor="ctr"/>
          <a:lstStyle/>
          <a:p>
            <a:pPr indent="0" marL="0">
              <a:lnSpc>
                <a:spcPct val="120000"/>
              </a:lnSpc>
              <a:buNone/>
            </a:pPr>
            <a:r>
              <a:rPr lang="en-US" sz="1050" dirty="0">
                <a:solidFill>
                  <a:srgbClr val="0E1C42"/>
                </a:solidFill>
                <a:latin typeface="Calibri" pitchFamily="34" charset="0"/>
                <a:ea typeface="Calibri" pitchFamily="34" charset="-122"/>
                <a:cs typeface="Calibri" pitchFamily="34" charset="-120"/>
              </a:rPr>
              <a:t>Name one climate pattern you saw on the map. What does it tell you about that part of Florida?</a:t>
            </a:r>
            <a:endParaRPr lang="en-US" sz="1050" dirty="0"/>
          </a:p>
        </p:txBody>
      </p:sp>
      <p:sp>
        <p:nvSpPr>
          <p:cNvPr id="10" name="Shape 8"/>
          <p:cNvSpPr/>
          <p:nvPr/>
        </p:nvSpPr>
        <p:spPr>
          <a:xfrm>
            <a:off x="320040" y="1810512"/>
            <a:ext cx="5349240" cy="713232"/>
          </a:xfrm>
          <a:prstGeom prst="roundRect">
            <a:avLst>
              <a:gd name="adj" fmla="val 12821"/>
            </a:avLst>
          </a:prstGeom>
          <a:solidFill>
            <a:srgbClr val="FFFFFF"/>
          </a:solidFill>
          <a:ln w="19050">
            <a:solidFill>
              <a:srgbClr val="D4943A"/>
            </a:solidFill>
            <a:prstDash val="solid"/>
          </a:ln>
        </p:spPr>
      </p:sp>
      <p:sp>
        <p:nvSpPr>
          <p:cNvPr id="11" name="Text 9"/>
          <p:cNvSpPr/>
          <p:nvPr/>
        </p:nvSpPr>
        <p:spPr>
          <a:xfrm>
            <a:off x="411480" y="1901952"/>
            <a:ext cx="365760" cy="502920"/>
          </a:xfrm>
          <a:prstGeom prst="rect">
            <a:avLst/>
          </a:prstGeom>
          <a:noFill/>
          <a:ln/>
        </p:spPr>
        <p:txBody>
          <a:bodyPr wrap="square" lIns="0" tIns="0" rIns="0" bIns="0"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Q2</a:t>
            </a:r>
            <a:endParaRPr lang="en-US" sz="1300" dirty="0"/>
          </a:p>
        </p:txBody>
      </p:sp>
      <p:sp>
        <p:nvSpPr>
          <p:cNvPr id="12" name="Text 10"/>
          <p:cNvSpPr/>
          <p:nvPr/>
        </p:nvSpPr>
        <p:spPr>
          <a:xfrm>
            <a:off x="841248" y="1874520"/>
            <a:ext cx="4681728" cy="566928"/>
          </a:xfrm>
          <a:prstGeom prst="rect">
            <a:avLst/>
          </a:prstGeom>
          <a:noFill/>
          <a:ln/>
        </p:spPr>
        <p:txBody>
          <a:bodyPr wrap="square" lIns="0" tIns="0" rIns="0" bIns="0" rtlCol="0" anchor="ctr"/>
          <a:lstStyle/>
          <a:p>
            <a:pPr indent="0" marL="0">
              <a:lnSpc>
                <a:spcPct val="120000"/>
              </a:lnSpc>
              <a:buNone/>
            </a:pPr>
            <a:r>
              <a:rPr lang="en-US" sz="1050" dirty="0">
                <a:solidFill>
                  <a:srgbClr val="0E1C42"/>
                </a:solidFill>
                <a:latin typeface="Calibri" pitchFamily="34" charset="0"/>
                <a:ea typeface="Calibri" pitchFamily="34" charset="-122"/>
                <a:cs typeface="Calibri" pitchFamily="34" charset="-120"/>
              </a:rPr>
              <a:t>How is Florida's climate different from the climate where you live (or different from a cold-winter state)? Give one specific difference using climate evidence.</a:t>
            </a:r>
            <a:endParaRPr lang="en-US" sz="1050" dirty="0"/>
          </a:p>
        </p:txBody>
      </p:sp>
      <p:sp>
        <p:nvSpPr>
          <p:cNvPr id="13" name="Shape 11"/>
          <p:cNvSpPr/>
          <p:nvPr/>
        </p:nvSpPr>
        <p:spPr>
          <a:xfrm>
            <a:off x="320040" y="2615184"/>
            <a:ext cx="5349240" cy="713232"/>
          </a:xfrm>
          <a:prstGeom prst="roundRect">
            <a:avLst>
              <a:gd name="adj" fmla="val 12821"/>
            </a:avLst>
          </a:prstGeom>
          <a:solidFill>
            <a:srgbClr val="FFFFFF"/>
          </a:solidFill>
          <a:ln w="19050">
            <a:solidFill>
              <a:srgbClr val="D4943A"/>
            </a:solidFill>
            <a:prstDash val="solid"/>
          </a:ln>
        </p:spPr>
      </p:sp>
      <p:sp>
        <p:nvSpPr>
          <p:cNvPr id="14" name="Text 12"/>
          <p:cNvSpPr/>
          <p:nvPr/>
        </p:nvSpPr>
        <p:spPr>
          <a:xfrm>
            <a:off x="411480" y="2706624"/>
            <a:ext cx="365760" cy="502920"/>
          </a:xfrm>
          <a:prstGeom prst="rect">
            <a:avLst/>
          </a:prstGeom>
          <a:noFill/>
          <a:ln/>
        </p:spPr>
        <p:txBody>
          <a:bodyPr wrap="square" lIns="0" tIns="0" rIns="0" bIns="0"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Q3</a:t>
            </a:r>
            <a:endParaRPr lang="en-US" sz="1300" dirty="0"/>
          </a:p>
        </p:txBody>
      </p:sp>
      <p:sp>
        <p:nvSpPr>
          <p:cNvPr id="15" name="Text 13"/>
          <p:cNvSpPr/>
          <p:nvPr/>
        </p:nvSpPr>
        <p:spPr>
          <a:xfrm>
            <a:off x="841248" y="2679192"/>
            <a:ext cx="4681728" cy="566928"/>
          </a:xfrm>
          <a:prstGeom prst="rect">
            <a:avLst/>
          </a:prstGeom>
          <a:noFill/>
          <a:ln/>
        </p:spPr>
        <p:txBody>
          <a:bodyPr wrap="square" lIns="0" tIns="0" rIns="0" bIns="0" rtlCol="0" anchor="ctr"/>
          <a:lstStyle/>
          <a:p>
            <a:pPr indent="0" marL="0">
              <a:lnSpc>
                <a:spcPct val="120000"/>
              </a:lnSpc>
              <a:buNone/>
            </a:pPr>
            <a:r>
              <a:rPr lang="en-US" sz="1050" dirty="0">
                <a:solidFill>
                  <a:srgbClr val="0E1C42"/>
                </a:solidFill>
                <a:latin typeface="Calibri" pitchFamily="34" charset="0"/>
                <a:ea typeface="Calibri" pitchFamily="34" charset="-122"/>
                <a:cs typeface="Calibri" pitchFamily="34" charset="-120"/>
              </a:rPr>
              <a:t>Why does responsibility matter in a place with Florida's climate? Connect responsibility to one weather pattern Floridians prepare for.</a:t>
            </a:r>
            <a:endParaRPr lang="en-US" sz="1050" dirty="0"/>
          </a:p>
        </p:txBody>
      </p:sp>
      <p:sp>
        <p:nvSpPr>
          <p:cNvPr id="16" name="Shape 14"/>
          <p:cNvSpPr/>
          <p:nvPr/>
        </p:nvSpPr>
        <p:spPr>
          <a:xfrm>
            <a:off x="320040" y="3429000"/>
            <a:ext cx="5349240" cy="1444752"/>
          </a:xfrm>
          <a:prstGeom prst="roundRect">
            <a:avLst>
              <a:gd name="adj" fmla="val 7595"/>
            </a:avLst>
          </a:prstGeom>
          <a:solidFill>
            <a:srgbClr val="1A2D5A"/>
          </a:solidFill>
          <a:ln w="19050">
            <a:solidFill>
              <a:srgbClr val="55C8E8"/>
            </a:solidFill>
            <a:prstDash val="solid"/>
          </a:ln>
        </p:spPr>
      </p:sp>
      <p:sp>
        <p:nvSpPr>
          <p:cNvPr id="17" name="Text 15"/>
          <p:cNvSpPr/>
          <p:nvPr/>
        </p:nvSpPr>
        <p:spPr>
          <a:xfrm>
            <a:off x="502920" y="3520440"/>
            <a:ext cx="49834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UNLOCK CHALLENGE</a:t>
            </a:r>
            <a:endParaRPr lang="en-US" sz="900" dirty="0"/>
          </a:p>
        </p:txBody>
      </p:sp>
      <p:sp>
        <p:nvSpPr>
          <p:cNvPr id="18" name="Text 16"/>
          <p:cNvSpPr/>
          <p:nvPr/>
        </p:nvSpPr>
        <p:spPr>
          <a:xfrm>
            <a:off x="502920" y="3822192"/>
            <a:ext cx="4983480" cy="896112"/>
          </a:xfrm>
          <a:prstGeom prst="rect">
            <a:avLst/>
          </a:prstGeom>
          <a:noFill/>
          <a:ln/>
        </p:spPr>
        <p:txBody>
          <a:bodyPr wrap="square" lIns="0" tIns="0" rIns="0" bIns="0" rtlCol="0" anchor="t"/>
          <a:lstStyle/>
          <a:p>
            <a:pPr indent="0" marL="0">
              <a:lnSpc>
                <a:spcPct val="130000"/>
              </a:lnSpc>
              <a:buNone/>
            </a:pPr>
            <a:r>
              <a:rPr lang="en-US" sz="1100" dirty="0">
                <a:solidFill>
                  <a:srgbClr val="F0F2F8"/>
                </a:solidFill>
                <a:latin typeface="Calibri" pitchFamily="34" charset="0"/>
                <a:ea typeface="Calibri" pitchFamily="34" charset="-122"/>
                <a:cs typeface="Calibri" pitchFamily="34" charset="-120"/>
              </a:rPr>
              <a:t>Pick one climate pattern from the map -- a rainfall zone, a temperature zone, or a hurricane track. Write 3-4 sentences: Name the pattern. Read what the map says. Explain one way it shapes life there.</a:t>
            </a:r>
            <a:endParaRPr lang="en-US" sz="1100" dirty="0"/>
          </a:p>
        </p:txBody>
      </p:sp>
      <p:sp>
        <p:nvSpPr>
          <p:cNvPr id="19" name="Shape 17"/>
          <p:cNvSpPr/>
          <p:nvPr/>
        </p:nvSpPr>
        <p:spPr>
          <a:xfrm>
            <a:off x="5852160" y="1005840"/>
            <a:ext cx="2971800" cy="1828800"/>
          </a:xfrm>
          <a:prstGeom prst="roundRect">
            <a:avLst>
              <a:gd name="adj" fmla="val 6000"/>
            </a:avLst>
          </a:prstGeom>
          <a:solidFill>
            <a:srgbClr val="FFF3DC"/>
          </a:solidFill>
          <a:ln w="19050">
            <a:solidFill>
              <a:srgbClr val="F5E6C8"/>
            </a:solidFill>
            <a:prstDash val="solid"/>
          </a:ln>
        </p:spPr>
      </p:sp>
      <p:sp>
        <p:nvSpPr>
          <p:cNvPr id="20" name="Text 18"/>
          <p:cNvSpPr/>
          <p:nvPr/>
        </p:nvSpPr>
        <p:spPr>
          <a:xfrm>
            <a:off x="5989320" y="1097280"/>
            <a:ext cx="2697480" cy="228600"/>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HISTORIAN'S SENTENCE FRAME</a:t>
            </a:r>
            <a:endParaRPr lang="en-US" sz="900" dirty="0"/>
          </a:p>
        </p:txBody>
      </p:sp>
      <p:sp>
        <p:nvSpPr>
          <p:cNvPr id="21" name="Text 19"/>
          <p:cNvSpPr/>
          <p:nvPr/>
        </p:nvSpPr>
        <p:spPr>
          <a:xfrm>
            <a:off x="5989320" y="1371600"/>
            <a:ext cx="2697480" cy="868680"/>
          </a:xfrm>
          <a:prstGeom prst="rect">
            <a:avLst/>
          </a:prstGeom>
          <a:noFill/>
          <a:ln/>
        </p:spPr>
        <p:txBody>
          <a:bodyPr wrap="square" lIns="0" tIns="0" rIns="0" bIns="0" rtlCol="0" anchor="ctr"/>
          <a:lstStyle/>
          <a:p>
            <a:pPr indent="0" marL="0">
              <a:lnSpc>
                <a:spcPct val="130000"/>
              </a:lnSpc>
              <a:buNone/>
            </a:pPr>
            <a:r>
              <a:rPr lang="en-US" sz="1300" i="1" dirty="0">
                <a:solidFill>
                  <a:srgbClr val="5A4A3A"/>
                </a:solidFill>
                <a:latin typeface="Cambria" pitchFamily="34" charset="0"/>
                <a:ea typeface="Cambria" pitchFamily="34" charset="-122"/>
                <a:cs typeface="Cambria" pitchFamily="34" charset="-120"/>
              </a:rPr>
              <a:t>"Today I learned that _____ because _____."</a:t>
            </a:r>
            <a:endParaRPr lang="en-US" sz="1300" dirty="0"/>
          </a:p>
        </p:txBody>
      </p:sp>
      <p:sp>
        <p:nvSpPr>
          <p:cNvPr id="22" name="Shape 20"/>
          <p:cNvSpPr/>
          <p:nvPr/>
        </p:nvSpPr>
        <p:spPr>
          <a:xfrm>
            <a:off x="5852160" y="2926080"/>
            <a:ext cx="2971800" cy="1947672"/>
          </a:xfrm>
          <a:prstGeom prst="roundRect">
            <a:avLst>
              <a:gd name="adj" fmla="val 5634"/>
            </a:avLst>
          </a:prstGeom>
          <a:solidFill>
            <a:srgbClr val="FFFFFF"/>
          </a:solidFill>
          <a:ln w="19050">
            <a:solidFill>
              <a:srgbClr val="B0B8CC"/>
            </a:solidFill>
            <a:prstDash val="solid"/>
          </a:ln>
        </p:spPr>
      </p:sp>
      <p:sp>
        <p:nvSpPr>
          <p:cNvPr id="23" name="Text 21"/>
          <p:cNvSpPr/>
          <p:nvPr/>
        </p:nvSpPr>
        <p:spPr>
          <a:xfrm>
            <a:off x="5989320" y="3017520"/>
            <a:ext cx="2697480" cy="228600"/>
          </a:xfrm>
          <a:prstGeom prst="rect">
            <a:avLst/>
          </a:prstGeom>
          <a:noFill/>
          <a:ln/>
        </p:spPr>
        <p:txBody>
          <a:bodyPr wrap="square" lIns="0" tIns="0" rIns="0" bIns="0" rtlCol="0" anchor="ctr"/>
          <a:lstStyle/>
          <a:p>
            <a:pPr indent="0" marL="0">
              <a:buNone/>
            </a:pPr>
            <a:r>
              <a:rPr lang="en-US" sz="900" b="1" spc="100" kern="0" dirty="0">
                <a:solidFill>
                  <a:srgbClr val="1A8A7D"/>
                </a:solidFill>
                <a:latin typeface="Calibri" pitchFamily="34" charset="0"/>
                <a:ea typeface="Calibri" pitchFamily="34" charset="-122"/>
                <a:cs typeface="Calibri" pitchFamily="34" charset="-120"/>
              </a:rPr>
              <a:t>TURN-IN CHECKLIST</a:t>
            </a:r>
            <a:endParaRPr lang="en-US" sz="900" dirty="0"/>
          </a:p>
        </p:txBody>
      </p:sp>
      <p:sp>
        <p:nvSpPr>
          <p:cNvPr id="24" name="Shape 22"/>
          <p:cNvSpPr/>
          <p:nvPr/>
        </p:nvSpPr>
        <p:spPr>
          <a:xfrm>
            <a:off x="5989320" y="3337560"/>
            <a:ext cx="182880" cy="182880"/>
          </a:xfrm>
          <a:prstGeom prst="rect">
            <a:avLst/>
          </a:prstGeom>
          <a:solidFill>
            <a:srgbClr val="F0F2F8"/>
          </a:solidFill>
          <a:ln w="19050">
            <a:solidFill>
              <a:srgbClr val="1A8A7D"/>
            </a:solidFill>
            <a:prstDash val="solid"/>
          </a:ln>
        </p:spPr>
      </p:sp>
      <p:sp>
        <p:nvSpPr>
          <p:cNvPr id="25" name="Text 23"/>
          <p:cNvSpPr/>
          <p:nvPr/>
        </p:nvSpPr>
        <p:spPr>
          <a:xfrm>
            <a:off x="6236208" y="3319272"/>
            <a:ext cx="2423160" cy="22860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Answered all 3 evidence questions</a:t>
            </a:r>
            <a:endParaRPr lang="en-US" sz="1050" dirty="0"/>
          </a:p>
        </p:txBody>
      </p:sp>
      <p:sp>
        <p:nvSpPr>
          <p:cNvPr id="26" name="Shape 24"/>
          <p:cNvSpPr/>
          <p:nvPr/>
        </p:nvSpPr>
        <p:spPr>
          <a:xfrm>
            <a:off x="5989320" y="3721608"/>
            <a:ext cx="182880" cy="182880"/>
          </a:xfrm>
          <a:prstGeom prst="rect">
            <a:avLst/>
          </a:prstGeom>
          <a:solidFill>
            <a:srgbClr val="F0F2F8"/>
          </a:solidFill>
          <a:ln w="19050">
            <a:solidFill>
              <a:srgbClr val="1A8A7D"/>
            </a:solidFill>
            <a:prstDash val="solid"/>
          </a:ln>
        </p:spPr>
      </p:sp>
      <p:sp>
        <p:nvSpPr>
          <p:cNvPr id="27" name="Text 25"/>
          <p:cNvSpPr/>
          <p:nvPr/>
        </p:nvSpPr>
        <p:spPr>
          <a:xfrm>
            <a:off x="6236208" y="3703320"/>
            <a:ext cx="2423160" cy="22860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Used specific climate evidence (not just weather)</a:t>
            </a:r>
            <a:endParaRPr lang="en-US" sz="1050" dirty="0"/>
          </a:p>
        </p:txBody>
      </p:sp>
      <p:sp>
        <p:nvSpPr>
          <p:cNvPr id="28" name="Shape 26"/>
          <p:cNvSpPr/>
          <p:nvPr/>
        </p:nvSpPr>
        <p:spPr>
          <a:xfrm>
            <a:off x="5989320" y="4105656"/>
            <a:ext cx="182880" cy="182880"/>
          </a:xfrm>
          <a:prstGeom prst="rect">
            <a:avLst/>
          </a:prstGeom>
          <a:solidFill>
            <a:srgbClr val="F0F2F8"/>
          </a:solidFill>
          <a:ln w="19050">
            <a:solidFill>
              <a:srgbClr val="1A8A7D"/>
            </a:solidFill>
            <a:prstDash val="solid"/>
          </a:ln>
        </p:spPr>
      </p:sp>
      <p:sp>
        <p:nvSpPr>
          <p:cNvPr id="29" name="Text 27"/>
          <p:cNvSpPr/>
          <p:nvPr/>
        </p:nvSpPr>
        <p:spPr>
          <a:xfrm>
            <a:off x="6236208" y="4087368"/>
            <a:ext cx="2423160" cy="22860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Named a climate pattern from the map</a:t>
            </a:r>
            <a:endParaRPr lang="en-US" sz="1050" dirty="0"/>
          </a:p>
        </p:txBody>
      </p:sp>
      <p:sp>
        <p:nvSpPr>
          <p:cNvPr id="30" name="Shape 28"/>
          <p:cNvSpPr/>
          <p:nvPr/>
        </p:nvSpPr>
        <p:spPr>
          <a:xfrm>
            <a:off x="5989320" y="4489704"/>
            <a:ext cx="182880" cy="182880"/>
          </a:xfrm>
          <a:prstGeom prst="rect">
            <a:avLst/>
          </a:prstGeom>
          <a:solidFill>
            <a:srgbClr val="F0F2F8"/>
          </a:solidFill>
          <a:ln w="19050">
            <a:solidFill>
              <a:srgbClr val="1A8A7D"/>
            </a:solidFill>
            <a:prstDash val="solid"/>
          </a:ln>
        </p:spPr>
      </p:sp>
      <p:sp>
        <p:nvSpPr>
          <p:cNvPr id="31" name="Text 29"/>
          <p:cNvSpPr/>
          <p:nvPr/>
        </p:nvSpPr>
        <p:spPr>
          <a:xfrm>
            <a:off x="6236208" y="4471416"/>
            <a:ext cx="2423160" cy="22860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Completed the Historian's Sentence Frame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164592" cy="5143500"/>
          </a:xfrm>
          <a:prstGeom prst="rect">
            <a:avLst/>
          </a:prstGeom>
          <a:solidFill>
            <a:srgbClr val="1A8A7D"/>
          </a:solidFill>
          <a:ln w="12700">
            <a:solidFill>
              <a:srgbClr val="1A8A7D"/>
            </a:solidFill>
            <a:prstDash val="solid"/>
          </a:ln>
        </p:spPr>
      </p:sp>
      <p:sp>
        <p:nvSpPr>
          <p:cNvPr id="6" name="Text 3"/>
          <p:cNvSpPr/>
          <p:nvPr/>
        </p:nvSpPr>
        <p:spPr>
          <a:xfrm>
            <a:off x="320040" y="228600"/>
            <a:ext cx="8503920" cy="292608"/>
          </a:xfrm>
          <a:prstGeom prst="rect">
            <a:avLst/>
          </a:prstGeom>
          <a:noFill/>
          <a:ln/>
        </p:spPr>
        <p:txBody>
          <a:bodyPr wrap="square" lIns="0" tIns="0" rIns="0" bIns="0" rtlCol="0" anchor="ctr"/>
          <a:lstStyle/>
          <a:p>
            <a:pPr indent="0" marL="0">
              <a:buNone/>
            </a:pPr>
            <a:r>
              <a:rPr lang="en-US" sz="900" b="1" spc="200" kern="0" dirty="0">
                <a:solidFill>
                  <a:srgbClr val="1A8A7D"/>
                </a:solidFill>
                <a:latin typeface="Calibri" pitchFamily="34" charset="0"/>
                <a:ea typeface="Calibri" pitchFamily="34" charset="-122"/>
                <a:cs typeface="Calibri" pitchFamily="34" charset="-120"/>
              </a:rPr>
              <a:t>MAP ROOM PANEL UNLOCKED</a:t>
            </a:r>
            <a:endParaRPr lang="en-US" sz="900" dirty="0"/>
          </a:p>
        </p:txBody>
      </p:sp>
      <p:sp>
        <p:nvSpPr>
          <p:cNvPr id="7" name="Text 4"/>
          <p:cNvSpPr/>
          <p:nvPr/>
        </p:nvSpPr>
        <p:spPr>
          <a:xfrm>
            <a:off x="320040" y="640080"/>
            <a:ext cx="8503920" cy="1234440"/>
          </a:xfrm>
          <a:prstGeom prst="rect">
            <a:avLst/>
          </a:prstGeom>
          <a:noFill/>
          <a:ln/>
        </p:spPr>
        <p:txBody>
          <a:bodyPr wrap="square" lIns="0" tIns="0" rIns="0" bIns="0" rtlCol="0" anchor="ctr"/>
          <a:lstStyle/>
          <a:p>
            <a:pPr indent="0" marL="0">
              <a:lnSpc>
                <a:spcPct val="115000"/>
              </a:lnSpc>
              <a:buNone/>
            </a:pPr>
            <a:r>
              <a:rPr lang="en-US" sz="3000" b="1" dirty="0">
                <a:solidFill>
                  <a:srgbClr val="FFFFFF"/>
                </a:solidFill>
                <a:latin typeface="Cambria" pitchFamily="34" charset="0"/>
                <a:ea typeface="Cambria" pitchFamily="34" charset="-122"/>
                <a:cs typeface="Cambria" pitchFamily="34" charset="-120"/>
              </a:rPr>
              <a:t>Weather describes</a:t>
            </a:r>
            <a:endParaRPr lang="en-US" sz="3000" dirty="0"/>
          </a:p>
          <a:p>
            <a:pPr indent="0" marL="0">
              <a:lnSpc>
                <a:spcPct val="115000"/>
              </a:lnSpc>
              <a:buNone/>
            </a:pPr>
            <a:r>
              <a:rPr lang="en-US" sz="3000" b="1" dirty="0">
                <a:solidFill>
                  <a:srgbClr val="FFFFFF"/>
                </a:solidFill>
                <a:latin typeface="Cambria" pitchFamily="34" charset="0"/>
                <a:ea typeface="Cambria" pitchFamily="34" charset="-122"/>
                <a:cs typeface="Cambria" pitchFamily="34" charset="-120"/>
              </a:rPr>
              <a:t>short-term conditions.</a:t>
            </a:r>
            <a:endParaRPr lang="en-US" sz="3000" dirty="0"/>
          </a:p>
        </p:txBody>
      </p:sp>
      <p:sp>
        <p:nvSpPr>
          <p:cNvPr id="8" name="Text 5"/>
          <p:cNvSpPr/>
          <p:nvPr/>
        </p:nvSpPr>
        <p:spPr>
          <a:xfrm>
            <a:off x="320040" y="1938528"/>
            <a:ext cx="8503920" cy="1005840"/>
          </a:xfrm>
          <a:prstGeom prst="rect">
            <a:avLst/>
          </a:prstGeom>
          <a:noFill/>
          <a:ln/>
        </p:spPr>
        <p:txBody>
          <a:bodyPr wrap="square" lIns="0" tIns="0" rIns="0" bIns="0" rtlCol="0" anchor="ctr"/>
          <a:lstStyle/>
          <a:p>
            <a:pPr indent="0" marL="0">
              <a:lnSpc>
                <a:spcPct val="120000"/>
              </a:lnSpc>
              <a:buNone/>
            </a:pPr>
            <a:r>
              <a:rPr lang="en-US" sz="2600" b="1" dirty="0">
                <a:solidFill>
                  <a:srgbClr val="D4943A"/>
                </a:solidFill>
                <a:latin typeface="Cambria" pitchFamily="34" charset="0"/>
                <a:ea typeface="Cambria" pitchFamily="34" charset="-122"/>
                <a:cs typeface="Cambria" pitchFamily="34" charset="-120"/>
              </a:rPr>
              <a:t>Climate describes patterns that affect</a:t>
            </a:r>
            <a:endParaRPr lang="en-US" sz="2600" dirty="0"/>
          </a:p>
          <a:p>
            <a:pPr indent="0" marL="0">
              <a:lnSpc>
                <a:spcPct val="120000"/>
              </a:lnSpc>
              <a:buNone/>
            </a:pPr>
            <a:r>
              <a:rPr lang="en-US" sz="2600" b="1" dirty="0">
                <a:solidFill>
                  <a:srgbClr val="D4943A"/>
                </a:solidFill>
                <a:latin typeface="Cambria" pitchFamily="34" charset="0"/>
                <a:ea typeface="Cambria" pitchFamily="34" charset="-122"/>
                <a:cs typeface="Cambria" pitchFamily="34" charset="-120"/>
              </a:rPr>
              <a:t>life in Florida over time.</a:t>
            </a:r>
            <a:endParaRPr lang="en-US" sz="2600" dirty="0"/>
          </a:p>
        </p:txBody>
      </p:sp>
      <p:sp>
        <p:nvSpPr>
          <p:cNvPr id="9" name="Shape 6"/>
          <p:cNvSpPr/>
          <p:nvPr/>
        </p:nvSpPr>
        <p:spPr>
          <a:xfrm>
            <a:off x="320040" y="3017520"/>
            <a:ext cx="8503920" cy="45720"/>
          </a:xfrm>
          <a:prstGeom prst="rect">
            <a:avLst/>
          </a:prstGeom>
          <a:solidFill>
            <a:srgbClr val="1A8A7D"/>
          </a:solidFill>
          <a:ln w="12700">
            <a:solidFill>
              <a:srgbClr val="1A8A7D"/>
            </a:solidFill>
            <a:prstDash val="solid"/>
          </a:ln>
        </p:spPr>
      </p:sp>
      <p:sp>
        <p:nvSpPr>
          <p:cNvPr id="10" name="Shape 7"/>
          <p:cNvSpPr/>
          <p:nvPr/>
        </p:nvSpPr>
        <p:spPr>
          <a:xfrm>
            <a:off x="320040" y="3182112"/>
            <a:ext cx="8503920" cy="1600200"/>
          </a:xfrm>
          <a:prstGeom prst="roundRect">
            <a:avLst>
              <a:gd name="adj" fmla="val 8571"/>
            </a:avLst>
          </a:prstGeom>
          <a:solidFill>
            <a:srgbClr val="1A2D5A"/>
          </a:solidFill>
          <a:ln w="12700">
            <a:solidFill>
              <a:srgbClr val="D4943A"/>
            </a:solidFill>
            <a:prstDash val="solid"/>
          </a:ln>
        </p:spPr>
      </p:sp>
      <p:sp>
        <p:nvSpPr>
          <p:cNvPr id="11" name="Text 8"/>
          <p:cNvSpPr/>
          <p:nvPr/>
        </p:nvSpPr>
        <p:spPr>
          <a:xfrm>
            <a:off x="502920" y="3291840"/>
            <a:ext cx="8138160" cy="256032"/>
          </a:xfrm>
          <a:prstGeom prst="rect">
            <a:avLst/>
          </a:prstGeom>
          <a:noFill/>
          <a:ln/>
        </p:spPr>
        <p:txBody>
          <a:bodyPr wrap="square" lIns="0" tIns="0" rIns="0" bIns="0" rtlCol="0" anchor="ctr"/>
          <a:lstStyle/>
          <a:p>
            <a:pPr indent="0" marL="0">
              <a:buNone/>
            </a:pPr>
            <a:r>
              <a:rPr lang="en-US" sz="900" b="1" spc="200" kern="0" dirty="0">
                <a:solidFill>
                  <a:srgbClr val="D4943A"/>
                </a:solidFill>
                <a:latin typeface="Calibri" pitchFamily="34" charset="0"/>
                <a:ea typeface="Calibri" pitchFamily="34" charset="-122"/>
                <a:cs typeface="Calibri" pitchFamily="34" charset="-120"/>
              </a:rPr>
              <a:t>COMING NEXT</a:t>
            </a:r>
            <a:endParaRPr lang="en-US" sz="900" dirty="0"/>
          </a:p>
        </p:txBody>
      </p:sp>
      <p:sp>
        <p:nvSpPr>
          <p:cNvPr id="12" name="Text 9"/>
          <p:cNvSpPr/>
          <p:nvPr/>
        </p:nvSpPr>
        <p:spPr>
          <a:xfrm>
            <a:off x="502920" y="3621024"/>
            <a:ext cx="8138160" cy="960120"/>
          </a:xfrm>
          <a:prstGeom prst="rect">
            <a:avLst/>
          </a:prstGeom>
          <a:noFill/>
          <a:ln/>
        </p:spPr>
        <p:txBody>
          <a:bodyPr wrap="square" lIns="0" tIns="0" rIns="0" bIns="0" rtlCol="0" anchor="t"/>
          <a:lstStyle/>
          <a:p>
            <a:pPr indent="0" marL="0">
              <a:lnSpc>
                <a:spcPct val="135000"/>
              </a:lnSpc>
              <a:buNone/>
            </a:pPr>
            <a:r>
              <a:rPr lang="en-US" sz="1350" i="1" dirty="0">
                <a:solidFill>
                  <a:srgbClr val="F0F2F8"/>
                </a:solidFill>
                <a:latin typeface="Cambria" pitchFamily="34" charset="0"/>
                <a:ea typeface="Cambria" pitchFamily="34" charset="-122"/>
                <a:cs typeface="Cambria" pitchFamily="34" charset="-120"/>
              </a:rPr>
              <a:t>Next session: What does Florida's climate actually DO to people, houses, and farms?</a:t>
            </a:r>
            <a:endParaRPr lang="en-US" sz="1350" dirty="0"/>
          </a:p>
          <a:p>
            <a:pPr indent="0" marL="0">
              <a:lnSpc>
                <a:spcPct val="135000"/>
              </a:lnSpc>
              <a:buNone/>
            </a:pPr>
            <a:r>
              <a:rPr lang="en-US" sz="1350" i="1" dirty="0">
                <a:solidFill>
                  <a:srgbClr val="F0F2F8"/>
                </a:solidFill>
                <a:latin typeface="Cambria" pitchFamily="34" charset="0"/>
                <a:ea typeface="Cambria" pitchFamily="34" charset="-122"/>
                <a:cs typeface="Cambria" pitchFamily="34" charset="-120"/>
              </a:rPr>
              <a:t>We'll follow the patterns to see how climate shapes every decision in the Sunshine State.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2026-07-13T20:41:41Z</dcterms:created>
  <dcterms:modified xsi:type="dcterms:W3CDTF">2026-07-13T20:41:41Z</dcterms:modified>
</cp:coreProperties>
</file>