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the Florida peninsula from above, ocean blue on three sides, Gulf of Mexico left, Atlantic Ocean right, panhandle visible top-left, cinematic wide angle, golden-hour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Computer screen showing a glitchy digital map of Florida, the outline visible but interior features blurred and distorted, locked behind a digital glitch effect, dark moody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slide. Hold briefly — the map is the anchor of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(name two features) and Q2 (peninsula shape changes life). Give the full 5-second silence. Do NOT label features — let students observe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and Q2. Push past observation: 'You named the shape — now explain WHY it matters.' Coach: hold back, let them argue.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Satellite view of Florida peninsula from space, deep blue ocean surrounding three sides, panhandle visible at upper left, dramatic lightingSCAFFOLDS Q2. Frame: 'You figured that out from the map — I did not tell you.' Terra is a teaser here; full root investigation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silent observation. 'Type in chat — what do you notice about all four words?' Do NOT define terra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beyond 'terra means land': 'Knowing one root unlocks a family of words — that is how geographers build vocabulary, not word by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a Latin inscription carved in stone or ancient map parchment with TERRA prominent, aged documentary aesthetic, warm tonesTransferable pattern: 'You can use this in science, history, any text. One root, many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Q2 and Q3. 45 seconds silent comparison before any questions. 'What do you notice about what is missing from the older map?' Do NOT explain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Q2 and Q3. Coach: do not resolve the reliability question. Ask which evidence is strongest — let them argue.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cartographer's hand drawing a coastline on parchment with an ink pen — historical surveying instruments visible, candlelight, focused documentary aestheticSCAFFOLDS Q3. Stress the transferable pattern: 'Geography shapes settlement — you can use this idea in every geography lesson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These are the three features students can choose from in the Unlock Challenge. Make sure they can locate each on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Early Florida surveyor on foot in swampy wilderness — Spanish moss, murky water, dense pine forest — historical illustration or painting style, determined figure pushing through difficult terrainSCAFFOLDS Q3 exact wording shown at bottom — students hear it before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2-3 minutes. Read the think-aloud aloud as you point to each line. Move to Slide 16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4 shift: students choose which evidence to use. Coach: hold back. Let them choose, then ask what a student who picked a different feature would say. Give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Q3. Coach: the difference is not right vs. wrong — it is weak evidence vs. strong evidence. Which response could change a skeptic's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Q2. Genuine debate — reasonable people can disagree. Coach: do not resolve. Ask which piece of evidence is strongest. Let them argue.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cover notes and answer Q1-2 from memory. Q3 open-ended. Sentence frame previews the Reflection Log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question wording. Q1 scaffolded: slides 4-5 and 13. Q2 scaffolded: slides 6, 10-11, and 18. Q3 scaffolded: slides 12, 14,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Sunrise over the Florida coastline — warm golden light on calm water, peninsula silhouette, expansive sky — hopeful and cinematic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56032"/>
            <a:ext cx="1554480" cy="320040"/>
          </a:xfrm>
          <a:prstGeom prst="roundRect">
            <a:avLst>
              <a:gd name="adj" fmla="val 22857"/>
            </a:avLst>
          </a:prstGeom>
          <a:solidFill>
            <a:srgbClr val="D4943A"/>
          </a:solidFill>
          <a:ln/>
        </p:spPr>
      </p:sp>
      <p:sp>
        <p:nvSpPr>
          <p:cNvPr id="6" name="Text 3"/>
          <p:cNvSpPr/>
          <p:nvPr/>
        </p:nvSpPr>
        <p:spPr>
          <a:xfrm>
            <a:off x="365760" y="256032"/>
            <a:ext cx="1554480" cy="320040"/>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UNIT 2 OPENER</a:t>
            </a:r>
            <a:endParaRPr lang="en-US" sz="900" dirty="0"/>
          </a:p>
        </p:txBody>
      </p:sp>
      <p:sp>
        <p:nvSpPr>
          <p:cNvPr id="7" name="Text 4"/>
          <p:cNvSpPr/>
          <p:nvPr/>
        </p:nvSpPr>
        <p:spPr>
          <a:xfrm>
            <a:off x="365760" y="676656"/>
            <a:ext cx="2743200" cy="292608"/>
          </a:xfrm>
          <a:prstGeom prst="rect">
            <a:avLst/>
          </a:prstGeom>
          <a:noFill/>
          <a:ln/>
        </p:spPr>
        <p:txBody>
          <a:bodyPr wrap="square" lIns="0" tIns="0" rIns="0" bIns="0" rtlCol="0" anchor="ctr"/>
          <a:lstStyle/>
          <a:p>
            <a:pPr indent="0" marL="0">
              <a:buNone/>
            </a:pPr>
            <a:r>
              <a:rPr lang="en-US" sz="1200" dirty="0">
                <a:solidFill>
                  <a:srgbClr val="55C8E8"/>
                </a:solidFill>
                <a:latin typeface="Calibri" pitchFamily="34" charset="0"/>
                <a:ea typeface="Calibri" pitchFamily="34" charset="-122"/>
                <a:cs typeface="Calibri" pitchFamily="34" charset="-120"/>
              </a:rPr>
              <a:t>4.02.01</a:t>
            </a:r>
            <a:endParaRPr lang="en-US" sz="1200" dirty="0"/>
          </a:p>
        </p:txBody>
      </p:sp>
      <p:sp>
        <p:nvSpPr>
          <p:cNvPr id="8" name="Text 5"/>
          <p:cNvSpPr/>
          <p:nvPr/>
        </p:nvSpPr>
        <p:spPr>
          <a:xfrm>
            <a:off x="365760" y="1005840"/>
            <a:ext cx="8412480" cy="9601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Scanning Florida's Land</a:t>
            </a:r>
            <a:endParaRPr lang="en-US" sz="4400" dirty="0"/>
          </a:p>
        </p:txBody>
      </p:sp>
      <p:sp>
        <p:nvSpPr>
          <p:cNvPr id="9" name="Text 6"/>
          <p:cNvSpPr/>
          <p:nvPr/>
        </p:nvSpPr>
        <p:spPr>
          <a:xfrm>
            <a:off x="365760" y="1993392"/>
            <a:ext cx="8412480" cy="475488"/>
          </a:xfrm>
          <a:prstGeom prst="rect">
            <a:avLst/>
          </a:prstGeom>
          <a:noFill/>
          <a:ln/>
        </p:spPr>
        <p:txBody>
          <a:bodyPr wrap="square" lIns="0" tIns="0" rIns="0" bIns="0" rtlCol="0" anchor="ctr"/>
          <a:lstStyle/>
          <a:p>
            <a:pPr indent="0" marL="0">
              <a:buNone/>
            </a:pPr>
            <a:r>
              <a:rPr lang="en-US" sz="2200" dirty="0">
                <a:solidFill>
                  <a:srgbClr val="55C8E8"/>
                </a:solidFill>
                <a:latin typeface="Cambria" pitchFamily="34" charset="0"/>
                <a:ea typeface="Cambria" pitchFamily="34" charset="-122"/>
                <a:cs typeface="Cambria" pitchFamily="34" charset="-120"/>
              </a:rPr>
              <a:t>Physical Features of Florida</a:t>
            </a:r>
            <a:endParaRPr lang="en-US" sz="2200" dirty="0"/>
          </a:p>
        </p:txBody>
      </p:sp>
      <p:sp>
        <p:nvSpPr>
          <p:cNvPr id="10" name="Shape 7"/>
          <p:cNvSpPr/>
          <p:nvPr/>
        </p:nvSpPr>
        <p:spPr>
          <a:xfrm>
            <a:off x="365760" y="2606040"/>
            <a:ext cx="8412480" cy="804672"/>
          </a:xfrm>
          <a:prstGeom prst="roundRect">
            <a:avLst>
              <a:gd name="adj" fmla="val 13636"/>
            </a:avLst>
          </a:prstGeom>
          <a:solidFill>
            <a:srgbClr val="1A2D5A"/>
          </a:solidFill>
          <a:ln/>
        </p:spPr>
      </p:sp>
      <p:sp>
        <p:nvSpPr>
          <p:cNvPr id="11" name="Text 8"/>
          <p:cNvSpPr/>
          <p:nvPr/>
        </p:nvSpPr>
        <p:spPr>
          <a:xfrm>
            <a:off x="548640" y="2651760"/>
            <a:ext cx="8046720" cy="713232"/>
          </a:xfrm>
          <a:prstGeom prst="rect">
            <a:avLst/>
          </a:prstGeom>
          <a:noFill/>
          <a:ln/>
        </p:spPr>
        <p:txBody>
          <a:bodyPr wrap="square" lIns="0" tIns="0" rIns="0" bIns="0" rtlCol="0" anchor="ctr"/>
          <a:lstStyle/>
          <a:p>
            <a:pPr algn="ctr" indent="0" marL="0">
              <a:buNone/>
            </a:pPr>
            <a:r>
              <a:rPr lang="en-US" sz="1500" i="1" dirty="0">
                <a:solidFill>
                  <a:srgbClr val="FFF3DC"/>
                </a:solidFill>
                <a:latin typeface="Cambria" pitchFamily="34" charset="0"/>
                <a:ea typeface="Cambria" pitchFamily="34" charset="-122"/>
                <a:cs typeface="Cambria" pitchFamily="34" charset="-120"/>
              </a:rPr>
              <a:t>What physical features make Florida the place it is, and how does the land shape life here?</a:t>
            </a:r>
            <a:endParaRPr lang="en-US" sz="1500" dirty="0"/>
          </a:p>
        </p:txBody>
      </p:sp>
      <p:sp>
        <p:nvSpPr>
          <p:cNvPr id="12" name="Text 9"/>
          <p:cNvSpPr/>
          <p:nvPr/>
        </p:nvSpPr>
        <p:spPr>
          <a:xfrm>
            <a:off x="365760" y="4572000"/>
            <a:ext cx="8412480" cy="274320"/>
          </a:xfrm>
          <a:prstGeom prst="rect">
            <a:avLst/>
          </a:prstGeom>
          <a:noFill/>
          <a:ln/>
        </p:spPr>
        <p:txBody>
          <a:bodyPr wrap="square" lIns="0" tIns="0" rIns="0" bIns="0"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SS.4.G.1.1  |  SS.4.G.1.2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1463040" cy="292608"/>
          </a:xfrm>
          <a:prstGeom prst="roundRect">
            <a:avLst>
              <a:gd name="adj" fmla="val 25000"/>
            </a:avLst>
          </a:prstGeom>
          <a:solidFill>
            <a:srgbClr val="E8636B"/>
          </a:solidFill>
          <a:ln/>
        </p:spPr>
      </p:sp>
      <p:sp>
        <p:nvSpPr>
          <p:cNvPr id="6" name="Text 3"/>
          <p:cNvSpPr/>
          <p:nvPr/>
        </p:nvSpPr>
        <p:spPr>
          <a:xfrm>
            <a:off x="365760" y="228600"/>
            <a:ext cx="146304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THE MISSION</a:t>
            </a:r>
            <a:endParaRPr lang="en-US" sz="900" dirty="0"/>
          </a:p>
        </p:txBody>
      </p:sp>
      <p:sp>
        <p:nvSpPr>
          <p:cNvPr id="7" name="Text 4"/>
          <p:cNvSpPr/>
          <p:nvPr/>
        </p:nvSpPr>
        <p:spPr>
          <a:xfrm>
            <a:off x="457200" y="658368"/>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Canvas won't let me show you Florida's physical map.</a:t>
            </a:r>
            <a:endParaRPr lang="en-US" sz="2200" dirty="0"/>
          </a:p>
        </p:txBody>
      </p:sp>
      <p:sp>
        <p:nvSpPr>
          <p:cNvPr id="8" name="Text 5"/>
          <p:cNvSpPr/>
          <p:nvPr/>
        </p:nvSpPr>
        <p:spPr>
          <a:xfrm>
            <a:off x="457200" y="1170432"/>
            <a:ext cx="8046720" cy="749808"/>
          </a:xfrm>
          <a:prstGeom prst="rect">
            <a:avLst/>
          </a:prstGeom>
          <a:noFill/>
          <a:ln/>
        </p:spPr>
        <p:txBody>
          <a:bodyPr wrap="square" lIns="0" tIns="0" rIns="0" bIns="0" rtlCol="0" anchor="ctr"/>
          <a:lstStyle/>
          <a:p>
            <a:pPr indent="0" marL="0">
              <a:buNone/>
            </a:pPr>
            <a:r>
              <a:rPr lang="en-US" sz="1400" dirty="0">
                <a:solidFill>
                  <a:srgbClr val="D0D8F0"/>
                </a:solidFill>
                <a:latin typeface="Calibri" pitchFamily="34" charset="0"/>
                <a:ea typeface="Calibri" pitchFamily="34" charset="-122"/>
                <a:cs typeface="Calibri" pitchFamily="34" charset="-120"/>
              </a:rPr>
              <a:t>The land layer is completely locked. I can see the outline — but the peninsula shape, the panhandle, the coastlines, the Everglades, and the lakes are all hidden behind a glitch.</a:t>
            </a:r>
            <a:endParaRPr lang="en-US" sz="1400" dirty="0"/>
          </a:p>
        </p:txBody>
      </p:sp>
      <p:sp>
        <p:nvSpPr>
          <p:cNvPr id="9" name="Shape 6"/>
          <p:cNvSpPr/>
          <p:nvPr/>
        </p:nvSpPr>
        <p:spPr>
          <a:xfrm>
            <a:off x="457200" y="2057400"/>
            <a:ext cx="8046720" cy="960120"/>
          </a:xfrm>
          <a:prstGeom prst="roundRect">
            <a:avLst>
              <a:gd name="adj" fmla="val 11429"/>
            </a:avLst>
          </a:prstGeom>
          <a:solidFill>
            <a:srgbClr val="1A2D5A"/>
          </a:solidFill>
          <a:ln/>
        </p:spPr>
      </p:sp>
      <p:sp>
        <p:nvSpPr>
          <p:cNvPr id="10" name="Text 7"/>
          <p:cNvSpPr/>
          <p:nvPr/>
        </p:nvSpPr>
        <p:spPr>
          <a:xfrm>
            <a:off x="640080" y="2130552"/>
            <a:ext cx="27432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YOUR MISSION</a:t>
            </a:r>
            <a:endParaRPr lang="en-US" sz="900" dirty="0"/>
          </a:p>
        </p:txBody>
      </p:sp>
      <p:sp>
        <p:nvSpPr>
          <p:cNvPr id="11" name="Text 8"/>
          <p:cNvSpPr/>
          <p:nvPr/>
        </p:nvSpPr>
        <p:spPr>
          <a:xfrm>
            <a:off x="640080" y="2404872"/>
            <a:ext cx="749808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Help unlock the physical layer so we can understand the land before we study the people. You are Florida historians on the research team — and the map is your first piece of evidence.</a:t>
            </a:r>
            <a:endParaRPr lang="en-US" sz="1300" dirty="0"/>
          </a:p>
        </p:txBody>
      </p:sp>
      <p:sp>
        <p:nvSpPr>
          <p:cNvPr id="12" name="Shape 9"/>
          <p:cNvSpPr/>
          <p:nvPr/>
        </p:nvSpPr>
        <p:spPr>
          <a:xfrm>
            <a:off x="457200" y="3154680"/>
            <a:ext cx="8046720" cy="804672"/>
          </a:xfrm>
          <a:prstGeom prst="roundRect">
            <a:avLst>
              <a:gd name="adj" fmla="val 11364"/>
            </a:avLst>
          </a:prstGeom>
          <a:solidFill>
            <a:srgbClr val="0B2830"/>
          </a:solidFill>
          <a:ln w="19050">
            <a:solidFill>
              <a:srgbClr val="1A8A7D"/>
            </a:solidFill>
            <a:prstDash val="solid"/>
          </a:ln>
        </p:spPr>
      </p:sp>
      <p:sp>
        <p:nvSpPr>
          <p:cNvPr id="13" name="Text 10"/>
          <p:cNvSpPr/>
          <p:nvPr/>
        </p:nvSpPr>
        <p:spPr>
          <a:xfrm>
            <a:off x="640080" y="3218688"/>
            <a:ext cx="1371600" cy="228600"/>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Opti says:</a:t>
            </a:r>
            <a:endParaRPr lang="en-US" sz="1000" dirty="0"/>
          </a:p>
        </p:txBody>
      </p:sp>
      <p:sp>
        <p:nvSpPr>
          <p:cNvPr id="14" name="Text 11"/>
          <p:cNvSpPr/>
          <p:nvPr/>
        </p:nvSpPr>
        <p:spPr>
          <a:xfrm>
            <a:off x="640080" y="3456432"/>
            <a:ext cx="7498080" cy="438912"/>
          </a:xfrm>
          <a:prstGeom prst="rect">
            <a:avLst/>
          </a:prstGeom>
          <a:noFill/>
          <a:ln/>
        </p:spPr>
        <p:txBody>
          <a:bodyPr wrap="square" lIns="0" tIns="0" rIns="0" bIns="0" rtlCol="0" anchor="ctr"/>
          <a:lstStyle/>
          <a:p>
            <a:pPr indent="0" marL="0">
              <a:buNone/>
            </a:pPr>
            <a:r>
              <a:rPr lang="en-US" sz="1200" i="1" dirty="0">
                <a:solidFill>
                  <a:srgbClr val="55C8E8"/>
                </a:solidFill>
                <a:latin typeface="Cambria" pitchFamily="34" charset="0"/>
                <a:ea typeface="Cambria" pitchFamily="34" charset="-122"/>
                <a:cs typeface="Cambria" pitchFamily="34" charset="-120"/>
              </a:rPr>
              <a:t>"Almost every place in Florida is close to water — coast, lake, river, or wetland. That's not a coincidence."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Today's Path</a:t>
            </a:r>
            <a:endParaRPr lang="en-US" sz="2800" dirty="0"/>
          </a:p>
        </p:txBody>
      </p:sp>
      <p:sp>
        <p:nvSpPr>
          <p:cNvPr id="4" name="Shape 2"/>
          <p:cNvSpPr/>
          <p:nvPr/>
        </p:nvSpPr>
        <p:spPr>
          <a:xfrm>
            <a:off x="365760" y="676656"/>
            <a:ext cx="8412480" cy="0"/>
          </a:xfrm>
          <a:prstGeom prst="line">
            <a:avLst/>
          </a:prstGeom>
          <a:noFill/>
          <a:ln w="25400">
            <a:solidFill>
              <a:srgbClr val="D4943A"/>
            </a:solidFill>
            <a:prstDash val="solid"/>
          </a:ln>
        </p:spPr>
      </p:sp>
      <p:sp>
        <p:nvSpPr>
          <p:cNvPr id="5" name="Shape 3"/>
          <p:cNvSpPr/>
          <p:nvPr/>
        </p:nvSpPr>
        <p:spPr>
          <a:xfrm>
            <a:off x="365760" y="841248"/>
            <a:ext cx="2651760" cy="2514600"/>
          </a:xfrm>
          <a:prstGeom prst="roundRect">
            <a:avLst>
              <a:gd name="adj" fmla="val 5455"/>
            </a:avLst>
          </a:prstGeom>
          <a:solidFill>
            <a:srgbClr val="FFFFFF"/>
          </a:solidFill>
          <a:ln/>
          <a:effectLst>
            <a:outerShdw sx="100000" sy="100000" kx="0" ky="0" algn="bl" rotWithShape="0" blurRad="76200" dist="38100" dir="8100000">
              <a:srgbClr val="000000">
                <a:alpha val="10000"/>
              </a:srgbClr>
            </a:outerShdw>
          </a:effectLst>
        </p:spPr>
      </p:sp>
      <p:sp>
        <p:nvSpPr>
          <p:cNvPr id="6" name="Shape 4"/>
          <p:cNvSpPr/>
          <p:nvPr/>
        </p:nvSpPr>
        <p:spPr>
          <a:xfrm>
            <a:off x="1417320" y="932688"/>
            <a:ext cx="548640" cy="548640"/>
          </a:xfrm>
          <a:prstGeom prst="ellipse">
            <a:avLst/>
          </a:prstGeom>
          <a:solidFill>
            <a:srgbClr val="D4943A"/>
          </a:solidFill>
          <a:ln/>
        </p:spPr>
      </p:sp>
      <p:sp>
        <p:nvSpPr>
          <p:cNvPr id="7" name="Text 5"/>
          <p:cNvSpPr/>
          <p:nvPr/>
        </p:nvSpPr>
        <p:spPr>
          <a:xfrm>
            <a:off x="1417320" y="9326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502920" y="1554480"/>
            <a:ext cx="2377440" cy="384048"/>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Read the Map</a:t>
            </a:r>
            <a:endParaRPr lang="en-US" sz="1400" dirty="0"/>
          </a:p>
        </p:txBody>
      </p:sp>
      <p:sp>
        <p:nvSpPr>
          <p:cNvPr id="9" name="Text 7"/>
          <p:cNvSpPr/>
          <p:nvPr/>
        </p:nvSpPr>
        <p:spPr>
          <a:xfrm>
            <a:off x="502920" y="1975104"/>
            <a:ext cx="2377440" cy="1298448"/>
          </a:xfrm>
          <a:prstGeom prst="rect">
            <a:avLst/>
          </a:prstGeom>
          <a:noFill/>
          <a:ln/>
        </p:spPr>
        <p:txBody>
          <a:bodyPr wrap="square" lIns="0" tIns="0" rIns="0" bIns="0"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Examine Florida's physical map as evidence — observe, argue, and locate features.</a:t>
            </a:r>
            <a:endParaRPr lang="en-US" sz="1100" dirty="0"/>
          </a:p>
        </p:txBody>
      </p:sp>
      <p:sp>
        <p:nvSpPr>
          <p:cNvPr id="10" name="Shape 8"/>
          <p:cNvSpPr/>
          <p:nvPr/>
        </p:nvSpPr>
        <p:spPr>
          <a:xfrm>
            <a:off x="3200400" y="841248"/>
            <a:ext cx="2651760" cy="2514600"/>
          </a:xfrm>
          <a:prstGeom prst="roundRect">
            <a:avLst>
              <a:gd name="adj" fmla="val 5455"/>
            </a:avLst>
          </a:prstGeom>
          <a:solidFill>
            <a:srgbClr val="FFFFFF"/>
          </a:solidFill>
          <a:ln/>
          <a:effectLst>
            <a:outerShdw sx="100000" sy="100000" kx="0" ky="0" algn="bl" rotWithShape="0" blurRad="76200" dist="38100" dir="8100000">
              <a:srgbClr val="000000">
                <a:alpha val="10000"/>
              </a:srgbClr>
            </a:outerShdw>
          </a:effectLst>
        </p:spPr>
      </p:sp>
      <p:sp>
        <p:nvSpPr>
          <p:cNvPr id="11" name="Shape 9"/>
          <p:cNvSpPr/>
          <p:nvPr/>
        </p:nvSpPr>
        <p:spPr>
          <a:xfrm>
            <a:off x="4251960" y="932688"/>
            <a:ext cx="548640" cy="548640"/>
          </a:xfrm>
          <a:prstGeom prst="ellipse">
            <a:avLst/>
          </a:prstGeom>
          <a:solidFill>
            <a:srgbClr val="D4943A"/>
          </a:solidFill>
          <a:ln/>
        </p:spPr>
      </p:sp>
      <p:sp>
        <p:nvSpPr>
          <p:cNvPr id="12" name="Text 10"/>
          <p:cNvSpPr/>
          <p:nvPr/>
        </p:nvSpPr>
        <p:spPr>
          <a:xfrm>
            <a:off x="4251960" y="9326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3337560" y="1554480"/>
            <a:ext cx="2377440" cy="384048"/>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Unlock terra</a:t>
            </a:r>
            <a:endParaRPr lang="en-US" sz="1400" dirty="0"/>
          </a:p>
        </p:txBody>
      </p:sp>
      <p:sp>
        <p:nvSpPr>
          <p:cNvPr id="14" name="Text 12"/>
          <p:cNvSpPr/>
          <p:nvPr/>
        </p:nvSpPr>
        <p:spPr>
          <a:xfrm>
            <a:off x="3337560" y="1975104"/>
            <a:ext cx="2377440" cy="1298448"/>
          </a:xfrm>
          <a:prstGeom prst="rect">
            <a:avLst/>
          </a:prstGeom>
          <a:noFill/>
          <a:ln/>
        </p:spPr>
        <p:txBody>
          <a:bodyPr wrap="square" lIns="0" tIns="0" rIns="0" bIns="0"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Discover the Latin root terra and how one root unlocks geography vocabulary.</a:t>
            </a:r>
            <a:endParaRPr lang="en-US" sz="1100" dirty="0"/>
          </a:p>
        </p:txBody>
      </p:sp>
      <p:sp>
        <p:nvSpPr>
          <p:cNvPr id="15" name="Shape 13"/>
          <p:cNvSpPr/>
          <p:nvPr/>
        </p:nvSpPr>
        <p:spPr>
          <a:xfrm>
            <a:off x="6035040" y="841248"/>
            <a:ext cx="2651760" cy="2514600"/>
          </a:xfrm>
          <a:prstGeom prst="roundRect">
            <a:avLst>
              <a:gd name="adj" fmla="val 5455"/>
            </a:avLst>
          </a:prstGeom>
          <a:solidFill>
            <a:srgbClr val="FFFFFF"/>
          </a:solidFill>
          <a:ln/>
          <a:effectLst>
            <a:outerShdw sx="100000" sy="100000" kx="0" ky="0" algn="bl" rotWithShape="0" blurRad="76200" dist="38100" dir="8100000">
              <a:srgbClr val="000000">
                <a:alpha val="10000"/>
              </a:srgbClr>
            </a:outerShdw>
          </a:effectLst>
        </p:spPr>
      </p:sp>
      <p:sp>
        <p:nvSpPr>
          <p:cNvPr id="16" name="Shape 14"/>
          <p:cNvSpPr/>
          <p:nvPr/>
        </p:nvSpPr>
        <p:spPr>
          <a:xfrm>
            <a:off x="7086600" y="932688"/>
            <a:ext cx="548640" cy="548640"/>
          </a:xfrm>
          <a:prstGeom prst="ellipse">
            <a:avLst/>
          </a:prstGeom>
          <a:solidFill>
            <a:srgbClr val="D4943A"/>
          </a:solidFill>
          <a:ln/>
        </p:spPr>
      </p:sp>
      <p:sp>
        <p:nvSpPr>
          <p:cNvPr id="17" name="Text 15"/>
          <p:cNvSpPr/>
          <p:nvPr/>
        </p:nvSpPr>
        <p:spPr>
          <a:xfrm>
            <a:off x="7086600" y="9326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6172200" y="1554480"/>
            <a:ext cx="2377440" cy="384048"/>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Map Quest Response</a:t>
            </a:r>
            <a:endParaRPr lang="en-US" sz="1400" dirty="0"/>
          </a:p>
        </p:txBody>
      </p:sp>
      <p:sp>
        <p:nvSpPr>
          <p:cNvPr id="19" name="Text 17"/>
          <p:cNvSpPr/>
          <p:nvPr/>
        </p:nvSpPr>
        <p:spPr>
          <a:xfrm>
            <a:off x="6172200" y="1975104"/>
            <a:ext cx="2377440" cy="1298448"/>
          </a:xfrm>
          <a:prstGeom prst="rect">
            <a:avLst/>
          </a:prstGeom>
          <a:noFill/>
          <a:ln/>
        </p:spPr>
        <p:txBody>
          <a:bodyPr wrap="square" lIns="0" tIns="0" rIns="0" bIns="0"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Choose one physical feature and explain how it shapes life in Florida.</a:t>
            </a:r>
            <a:endParaRPr lang="en-US" sz="1100" dirty="0"/>
          </a:p>
        </p:txBody>
      </p:sp>
      <p:sp>
        <p:nvSpPr>
          <p:cNvPr id="20" name="Shape 18"/>
          <p:cNvSpPr/>
          <p:nvPr/>
        </p:nvSpPr>
        <p:spPr>
          <a:xfrm>
            <a:off x="365760" y="3493008"/>
            <a:ext cx="8412480" cy="749808"/>
          </a:xfrm>
          <a:prstGeom prst="roundRect">
            <a:avLst>
              <a:gd name="adj" fmla="val 12195"/>
            </a:avLst>
          </a:prstGeom>
          <a:solidFill>
            <a:srgbClr val="FFF3DC"/>
          </a:solidFill>
          <a:ln w="19050">
            <a:solidFill>
              <a:srgbClr val="F5E6C8"/>
            </a:solidFill>
            <a:prstDash val="solid"/>
          </a:ln>
        </p:spPr>
      </p:sp>
      <p:sp>
        <p:nvSpPr>
          <p:cNvPr id="21" name="Text 19"/>
          <p:cNvSpPr/>
          <p:nvPr/>
        </p:nvSpPr>
        <p:spPr>
          <a:xfrm>
            <a:off x="548640" y="3566160"/>
            <a:ext cx="2011680" cy="256032"/>
          </a:xfrm>
          <a:prstGeom prst="rect">
            <a:avLst/>
          </a:prstGeom>
          <a:noFill/>
          <a:ln/>
        </p:spPr>
        <p:txBody>
          <a:bodyPr wrap="square" lIns="0" tIns="0" rIns="0" bIns="0"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Copywork sentence:</a:t>
            </a:r>
            <a:endParaRPr lang="en-US" sz="1000" dirty="0"/>
          </a:p>
        </p:txBody>
      </p:sp>
      <p:sp>
        <p:nvSpPr>
          <p:cNvPr id="22" name="Text 20"/>
          <p:cNvSpPr/>
          <p:nvPr/>
        </p:nvSpPr>
        <p:spPr>
          <a:xfrm>
            <a:off x="548640" y="3840480"/>
            <a:ext cx="8046720" cy="347472"/>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"Florida is a peninsula bordered on three sides by water."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280160" cy="292608"/>
          </a:xfrm>
          <a:prstGeom prst="roundRect">
            <a:avLst>
              <a:gd name="adj" fmla="val 25000"/>
            </a:avLst>
          </a:prstGeom>
          <a:solidFill>
            <a:srgbClr val="1A8A7D"/>
          </a:solidFill>
          <a:ln/>
        </p:spPr>
      </p:sp>
      <p:sp>
        <p:nvSpPr>
          <p:cNvPr id="4" name="Text 2"/>
          <p:cNvSpPr/>
          <p:nvPr/>
        </p:nvSpPr>
        <p:spPr>
          <a:xfrm>
            <a:off x="274320" y="164592"/>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CLUE BOX 1</a:t>
            </a:r>
            <a:endParaRPr lang="en-US" sz="900" dirty="0"/>
          </a:p>
        </p:txBody>
      </p:sp>
      <p:sp>
        <p:nvSpPr>
          <p:cNvPr id="5" name="Text 3"/>
          <p:cNvSpPr/>
          <p:nvPr/>
        </p:nvSpPr>
        <p:spPr>
          <a:xfrm>
            <a:off x="274320" y="530352"/>
            <a:ext cx="5943600" cy="402336"/>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Florida's Physical Map</a:t>
            </a:r>
            <a:endParaRPr lang="en-US" sz="2400" dirty="0"/>
          </a:p>
        </p:txBody>
      </p:sp>
      <p:sp>
        <p:nvSpPr>
          <p:cNvPr id="6" name="Text 4"/>
          <p:cNvSpPr/>
          <p:nvPr/>
        </p:nvSpPr>
        <p:spPr>
          <a:xfrm>
            <a:off x="274320" y="914400"/>
            <a:ext cx="5943600" cy="256032"/>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5 seconds — just look. What do you see?</a:t>
            </a:r>
            <a:endParaRPr lang="en-US" sz="1200" dirty="0"/>
          </a:p>
        </p:txBody>
      </p:sp>
      <p:sp>
        <p:nvSpPr>
          <p:cNvPr id="7" name="Shape 5"/>
          <p:cNvSpPr/>
          <p:nvPr/>
        </p:nvSpPr>
        <p:spPr>
          <a:xfrm>
            <a:off x="274320" y="1234440"/>
            <a:ext cx="5669280" cy="3520440"/>
          </a:xfrm>
          <a:prstGeom prst="roundRect">
            <a:avLst>
              <a:gd name="adj" fmla="val 3117"/>
            </a:avLst>
          </a:prstGeom>
          <a:solidFill>
            <a:srgbClr val="E2E8F4"/>
          </a:solidFill>
          <a:ln w="19050">
            <a:solidFill>
              <a:srgbClr val="B0B8CC"/>
            </a:solidFill>
            <a:prstDash val="dash"/>
          </a:ln>
        </p:spPr>
      </p:sp>
      <p:sp>
        <p:nvSpPr>
          <p:cNvPr id="8" name="Text 6"/>
          <p:cNvSpPr/>
          <p:nvPr/>
        </p:nvSpPr>
        <p:spPr>
          <a:xfrm>
            <a:off x="274320" y="1234440"/>
            <a:ext cx="56692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411480" y="1508760"/>
            <a:ext cx="5394960" cy="3154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Physical map of Florida labeled with: Gulf of Mexico (west coast), Atlantic Ocean (east coast), Straits of Florida (south), Panhandle (northwest), Florida Keys (southern island chain), Everglades (southern wetlands), Lake Okeechobee, St. Johns River. Large, clear labels. Simple legend. Full color. No city labels — physical features only.</a:t>
            </a:r>
            <a:endParaRPr lang="en-US" sz="1100" dirty="0"/>
          </a:p>
        </p:txBody>
      </p:sp>
      <p:sp>
        <p:nvSpPr>
          <p:cNvPr id="10" name="Shape 8"/>
          <p:cNvSpPr/>
          <p:nvPr/>
        </p:nvSpPr>
        <p:spPr>
          <a:xfrm>
            <a:off x="6080760" y="1234440"/>
            <a:ext cx="2743200" cy="3520440"/>
          </a:xfrm>
          <a:prstGeom prst="roundRect">
            <a:avLst>
              <a:gd name="adj" fmla="val 4000"/>
            </a:avLst>
          </a:prstGeom>
          <a:solidFill>
            <a:srgbClr val="FFF3DC"/>
          </a:solidFill>
          <a:ln w="19050">
            <a:solidFill>
              <a:srgbClr val="F5E6C8"/>
            </a:solidFill>
            <a:prstDash val="solid"/>
          </a:ln>
        </p:spPr>
      </p:sp>
      <p:sp>
        <p:nvSpPr>
          <p:cNvPr id="11" name="Text 9"/>
          <p:cNvSpPr/>
          <p:nvPr/>
        </p:nvSpPr>
        <p:spPr>
          <a:xfrm>
            <a:off x="6217920" y="1289304"/>
            <a:ext cx="2468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6217920" y="1490472"/>
            <a:ext cx="2468880" cy="3200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shape of Florida looks like..."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water on ___ sides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that surprises me is... because..."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412480" cy="438912"/>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Discussion: What Does the Shape Tell You?</a:t>
            </a:r>
            <a:endParaRPr lang="en-US" sz="2200" dirty="0"/>
          </a:p>
        </p:txBody>
      </p:sp>
      <p:sp>
        <p:nvSpPr>
          <p:cNvPr id="4" name="Shape 2"/>
          <p:cNvSpPr/>
          <p:nvPr/>
        </p:nvSpPr>
        <p:spPr>
          <a:xfrm>
            <a:off x="365760" y="658368"/>
            <a:ext cx="8412480" cy="0"/>
          </a:xfrm>
          <a:prstGeom prst="line">
            <a:avLst/>
          </a:prstGeom>
          <a:noFill/>
          <a:ln w="25400">
            <a:solidFill>
              <a:srgbClr val="1A8A7D"/>
            </a:solidFill>
            <a:prstDash val="solid"/>
          </a:ln>
        </p:spPr>
      </p:sp>
      <p:sp>
        <p:nvSpPr>
          <p:cNvPr id="5" name="Shape 3"/>
          <p:cNvSpPr/>
          <p:nvPr/>
        </p:nvSpPr>
        <p:spPr>
          <a:xfrm>
            <a:off x="365760" y="804672"/>
            <a:ext cx="4023360" cy="3063240"/>
          </a:xfrm>
          <a:prstGeom prst="roundRect">
            <a:avLst>
              <a:gd name="adj" fmla="val 3582"/>
            </a:avLst>
          </a:prstGeom>
          <a:solidFill>
            <a:srgbClr val="E2E8F4"/>
          </a:solidFill>
          <a:ln w="19050">
            <a:solidFill>
              <a:srgbClr val="B0B8CC"/>
            </a:solidFill>
            <a:prstDash val="dash"/>
          </a:ln>
        </p:spPr>
      </p:sp>
      <p:sp>
        <p:nvSpPr>
          <p:cNvPr id="6" name="Text 4"/>
          <p:cNvSpPr/>
          <p:nvPr/>
        </p:nvSpPr>
        <p:spPr>
          <a:xfrm>
            <a:off x="365760" y="804672"/>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078992"/>
            <a:ext cx="3749040" cy="2697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Florida physical map — unlabeled features visible for discussion reference</a:t>
            </a:r>
            <a:endParaRPr lang="en-US" sz="1100" dirty="0"/>
          </a:p>
        </p:txBody>
      </p:sp>
      <p:sp>
        <p:nvSpPr>
          <p:cNvPr id="8" name="Shape 6"/>
          <p:cNvSpPr/>
          <p:nvPr/>
        </p:nvSpPr>
        <p:spPr>
          <a:xfrm>
            <a:off x="4572000" y="804672"/>
            <a:ext cx="4206240" cy="3063240"/>
          </a:xfrm>
          <a:prstGeom prst="roundRect">
            <a:avLst>
              <a:gd name="adj" fmla="val 4478"/>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4754880" y="896112"/>
            <a:ext cx="38404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754880" y="1152144"/>
            <a:ext cx="3840480" cy="26243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Water touches Florida on how many sides? Point to each one on the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we call land with water on three sides — what would YOU name that shape?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coast is closer to the Caribbean? To Georgia? Why would that matter to a sailor 200 years ago?</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you think people settled near the coasts instead of the interior? What does the map suggest?</a:t>
            </a:r>
            <a:endParaRPr lang="en-US" sz="1100" dirty="0"/>
          </a:p>
        </p:txBody>
      </p:sp>
      <p:sp>
        <p:nvSpPr>
          <p:cNvPr id="11" name="Shape 9"/>
          <p:cNvSpPr/>
          <p:nvPr/>
        </p:nvSpPr>
        <p:spPr>
          <a:xfrm>
            <a:off x="365760" y="3977640"/>
            <a:ext cx="8412480" cy="841248"/>
          </a:xfrm>
          <a:prstGeom prst="roundRect">
            <a:avLst>
              <a:gd name="adj" fmla="val 13043"/>
            </a:avLst>
          </a:prstGeom>
          <a:solidFill>
            <a:srgbClr val="FFF3DC"/>
          </a:solidFill>
          <a:ln w="19050">
            <a:solidFill>
              <a:srgbClr val="F5E6C8"/>
            </a:solidFill>
            <a:prstDash val="solid"/>
          </a:ln>
        </p:spPr>
      </p:sp>
      <p:sp>
        <p:nvSpPr>
          <p:cNvPr id="12" name="Text 10"/>
          <p:cNvSpPr/>
          <p:nvPr/>
        </p:nvSpPr>
        <p:spPr>
          <a:xfrm>
            <a:off x="502920" y="40325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02920" y="4233672"/>
            <a:ext cx="8138160" cy="5212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shape matters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water on three sides means... because..."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1280160" cy="292608"/>
          </a:xfrm>
          <a:prstGeom prst="roundRect">
            <a:avLst>
              <a:gd name="adj" fmla="val 25000"/>
            </a:avLst>
          </a:prstGeom>
          <a:solidFill>
            <a:srgbClr val="1A8A7D"/>
          </a:solidFill>
          <a:ln/>
        </p:spPr>
      </p:sp>
      <p:sp>
        <p:nvSpPr>
          <p:cNvPr id="6" name="Text 3"/>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REVEAL 1</a:t>
            </a:r>
            <a:endParaRPr lang="en-US" sz="900" dirty="0"/>
          </a:p>
        </p:txBody>
      </p:sp>
      <p:sp>
        <p:nvSpPr>
          <p:cNvPr id="7" name="Text 4"/>
          <p:cNvSpPr/>
          <p:nvPr/>
        </p:nvSpPr>
        <p:spPr>
          <a:xfrm>
            <a:off x="457200" y="658368"/>
            <a:ext cx="8229600" cy="347472"/>
          </a:xfrm>
          <a:prstGeom prst="rect">
            <a:avLst/>
          </a:prstGeom>
          <a:noFill/>
          <a:ln/>
        </p:spPr>
        <p:txBody>
          <a:bodyPr wrap="square" lIns="0" tIns="0" rIns="0" bIns="0" rtlCol="0" anchor="ctr"/>
          <a:lstStyle/>
          <a:p>
            <a:pPr indent="0" marL="0">
              <a:buNone/>
            </a:pPr>
            <a:r>
              <a:rPr lang="en-US" sz="1600" dirty="0">
                <a:solidFill>
                  <a:srgbClr val="55C8E8"/>
                </a:solidFill>
                <a:latin typeface="Calibri" pitchFamily="34" charset="0"/>
                <a:ea typeface="Calibri" pitchFamily="34" charset="-122"/>
                <a:cs typeface="Calibri" pitchFamily="34" charset="-120"/>
              </a:rPr>
              <a:t>You discovered it:</a:t>
            </a:r>
            <a:endParaRPr lang="en-US" sz="1600" dirty="0"/>
          </a:p>
        </p:txBody>
      </p:sp>
      <p:sp>
        <p:nvSpPr>
          <p:cNvPr id="8" name="Text 5"/>
          <p:cNvSpPr/>
          <p:nvPr/>
        </p:nvSpPr>
        <p:spPr>
          <a:xfrm>
            <a:off x="457200" y="1024128"/>
            <a:ext cx="8229600" cy="65836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Florida is a PENINSULA</a:t>
            </a:r>
            <a:endParaRPr lang="en-US" sz="3800" dirty="0"/>
          </a:p>
        </p:txBody>
      </p:sp>
      <p:sp>
        <p:nvSpPr>
          <p:cNvPr id="9" name="Text 6"/>
          <p:cNvSpPr/>
          <p:nvPr/>
        </p:nvSpPr>
        <p:spPr>
          <a:xfrm>
            <a:off x="457200" y="1719072"/>
            <a:ext cx="8229600" cy="384048"/>
          </a:xfrm>
          <a:prstGeom prst="rect">
            <a:avLst/>
          </a:prstGeom>
          <a:noFill/>
          <a:ln/>
        </p:spPr>
        <p:txBody>
          <a:bodyPr wrap="square" lIns="0" tIns="0" rIns="0" bIns="0" rtlCol="0" anchor="ctr"/>
          <a:lstStyle/>
          <a:p>
            <a:pPr indent="0" marL="0">
              <a:buNone/>
            </a:pPr>
            <a:r>
              <a:rPr lang="en-US" sz="1800" i="1" dirty="0">
                <a:solidFill>
                  <a:srgbClr val="D4943A"/>
                </a:solidFill>
                <a:latin typeface="Cambria" pitchFamily="34" charset="0"/>
                <a:ea typeface="Cambria" pitchFamily="34" charset="-122"/>
                <a:cs typeface="Cambria" pitchFamily="34" charset="-120"/>
              </a:rPr>
              <a:t>Land with water on three sides.</a:t>
            </a:r>
            <a:endParaRPr lang="en-US" sz="1800" dirty="0"/>
          </a:p>
        </p:txBody>
      </p:sp>
      <p:sp>
        <p:nvSpPr>
          <p:cNvPr id="10" name="Shape 7"/>
          <p:cNvSpPr/>
          <p:nvPr/>
        </p:nvSpPr>
        <p:spPr>
          <a:xfrm>
            <a:off x="457200" y="2212848"/>
            <a:ext cx="4572000" cy="1389888"/>
          </a:xfrm>
          <a:prstGeom prst="roundRect">
            <a:avLst>
              <a:gd name="adj" fmla="val 7895"/>
            </a:avLst>
          </a:prstGeom>
          <a:solidFill>
            <a:srgbClr val="1A2D5A"/>
          </a:solidFill>
          <a:ln/>
        </p:spPr>
      </p:sp>
      <p:sp>
        <p:nvSpPr>
          <p:cNvPr id="11" name="Text 8"/>
          <p:cNvSpPr/>
          <p:nvPr/>
        </p:nvSpPr>
        <p:spPr>
          <a:xfrm>
            <a:off x="640080" y="2286000"/>
            <a:ext cx="4206240" cy="274320"/>
          </a:xfrm>
          <a:prstGeom prst="rect">
            <a:avLst/>
          </a:prstGeom>
          <a:noFill/>
          <a:ln/>
        </p:spPr>
        <p:txBody>
          <a:bodyPr wrap="square" lIns="0" tIns="0" rIns="0" bIns="0"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The three sides:</a:t>
            </a:r>
            <a:endParaRPr lang="en-US" sz="1100" dirty="0"/>
          </a:p>
        </p:txBody>
      </p:sp>
      <p:sp>
        <p:nvSpPr>
          <p:cNvPr id="12" name="Text 9"/>
          <p:cNvSpPr/>
          <p:nvPr/>
        </p:nvSpPr>
        <p:spPr>
          <a:xfrm>
            <a:off x="640080" y="2578608"/>
            <a:ext cx="4206240" cy="960120"/>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West:   </a:t>
            </a:r>
            <a:pPr indent="0" marL="0">
              <a:buNone/>
            </a:pPr>
            <a:r>
              <a:rPr lang="en-US" sz="1300" dirty="0">
                <a:solidFill>
                  <a:srgbClr val="FFFFFF"/>
                </a:solidFill>
                <a:latin typeface="Calibri" pitchFamily="34" charset="0"/>
                <a:ea typeface="Calibri" pitchFamily="34" charset="-122"/>
                <a:cs typeface="Calibri" pitchFamily="34" charset="-120"/>
              </a:rPr>
              <a:t>Gulf of Mexico
</a:t>
            </a:r>
            <a:pPr indent="0" marL="0">
              <a:buNone/>
            </a:pPr>
            <a:r>
              <a:rPr lang="en-US" sz="1300" b="1" dirty="0">
                <a:solidFill>
                  <a:srgbClr val="D4943A"/>
                </a:solidFill>
                <a:latin typeface="Calibri" pitchFamily="34" charset="0"/>
                <a:ea typeface="Calibri" pitchFamily="34" charset="-122"/>
                <a:cs typeface="Calibri" pitchFamily="34" charset="-120"/>
              </a:rPr>
              <a:t>East:   </a:t>
            </a:r>
            <a:pPr indent="0" marL="0">
              <a:buNone/>
            </a:pPr>
            <a:r>
              <a:rPr lang="en-US" sz="1300" dirty="0">
                <a:solidFill>
                  <a:srgbClr val="FFFFFF"/>
                </a:solidFill>
                <a:latin typeface="Calibri" pitchFamily="34" charset="0"/>
                <a:ea typeface="Calibri" pitchFamily="34" charset="-122"/>
                <a:cs typeface="Calibri" pitchFamily="34" charset="-120"/>
              </a:rPr>
              <a:t>Atlantic Ocean
</a:t>
            </a:r>
            <a:pPr indent="0" marL="0">
              <a:buNone/>
            </a:pPr>
            <a:r>
              <a:rPr lang="en-US" sz="1300" b="1" dirty="0">
                <a:solidFill>
                  <a:srgbClr val="D4943A"/>
                </a:solidFill>
                <a:latin typeface="Calibri" pitchFamily="34" charset="0"/>
                <a:ea typeface="Calibri" pitchFamily="34" charset="-122"/>
                <a:cs typeface="Calibri" pitchFamily="34" charset="-120"/>
              </a:rPr>
              <a:t>South:  </a:t>
            </a:r>
            <a:pPr indent="0" marL="0">
              <a:buNone/>
            </a:pPr>
            <a:r>
              <a:rPr lang="en-US" sz="1300" dirty="0">
                <a:solidFill>
                  <a:srgbClr val="FFFFFF"/>
                </a:solidFill>
                <a:latin typeface="Calibri" pitchFamily="34" charset="0"/>
                <a:ea typeface="Calibri" pitchFamily="34" charset="-122"/>
                <a:cs typeface="Calibri" pitchFamily="34" charset="-120"/>
              </a:rPr>
              <a:t>Straits of Florida</a:t>
            </a:r>
            <a:endParaRPr lang="en-US" sz="1300" dirty="0"/>
          </a:p>
        </p:txBody>
      </p:sp>
      <p:sp>
        <p:nvSpPr>
          <p:cNvPr id="13" name="Shape 10"/>
          <p:cNvSpPr/>
          <p:nvPr/>
        </p:nvSpPr>
        <p:spPr>
          <a:xfrm>
            <a:off x="5212080" y="2212848"/>
            <a:ext cx="3474720" cy="1389888"/>
          </a:xfrm>
          <a:prstGeom prst="roundRect">
            <a:avLst>
              <a:gd name="adj" fmla="val 7895"/>
            </a:avLst>
          </a:prstGeom>
          <a:solidFill>
            <a:srgbClr val="0B2830"/>
          </a:solidFill>
          <a:ln w="19050">
            <a:solidFill>
              <a:srgbClr val="1A8A7D"/>
            </a:solidFill>
            <a:prstDash val="solid"/>
          </a:ln>
        </p:spPr>
      </p:sp>
      <p:sp>
        <p:nvSpPr>
          <p:cNvPr id="14" name="Text 11"/>
          <p:cNvSpPr/>
          <p:nvPr/>
        </p:nvSpPr>
        <p:spPr>
          <a:xfrm>
            <a:off x="5394960" y="2286000"/>
            <a:ext cx="3108960" cy="274320"/>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Root Unlocked:</a:t>
            </a:r>
            <a:endParaRPr lang="en-US" sz="1100" dirty="0"/>
          </a:p>
        </p:txBody>
      </p:sp>
      <p:sp>
        <p:nvSpPr>
          <p:cNvPr id="15" name="Text 12"/>
          <p:cNvSpPr/>
          <p:nvPr/>
        </p:nvSpPr>
        <p:spPr>
          <a:xfrm>
            <a:off x="5394960" y="2578608"/>
            <a:ext cx="3108960" cy="475488"/>
          </a:xfrm>
          <a:prstGeom prst="rect">
            <a:avLst/>
          </a:prstGeom>
          <a:noFill/>
          <a:ln/>
        </p:spPr>
        <p:txBody>
          <a:bodyPr wrap="square" lIns="0" tIns="0" rIns="0" bIns="0" rtlCol="0" anchor="ctr"/>
          <a:lstStyle/>
          <a:p>
            <a:pPr indent="0" marL="0">
              <a:buNone/>
            </a:pPr>
            <a:r>
              <a:rPr lang="en-US" sz="3000" b="1" dirty="0">
                <a:solidFill>
                  <a:srgbClr val="55C8E8"/>
                </a:solidFill>
                <a:latin typeface="Cambria" pitchFamily="34" charset="0"/>
                <a:ea typeface="Cambria" pitchFamily="34" charset="-122"/>
                <a:cs typeface="Cambria" pitchFamily="34" charset="-120"/>
              </a:rPr>
              <a:t>TERRA</a:t>
            </a:r>
            <a:endParaRPr lang="en-US" sz="3000" dirty="0"/>
          </a:p>
        </p:txBody>
      </p:sp>
      <p:sp>
        <p:nvSpPr>
          <p:cNvPr id="16" name="Text 13"/>
          <p:cNvSpPr/>
          <p:nvPr/>
        </p:nvSpPr>
        <p:spPr>
          <a:xfrm>
            <a:off x="5394960" y="3072384"/>
            <a:ext cx="3108960" cy="457200"/>
          </a:xfrm>
          <a:prstGeom prst="rect">
            <a:avLst/>
          </a:prstGeom>
          <a:noFill/>
          <a:ln/>
        </p:spPr>
        <p:txBody>
          <a:bodyPr wrap="square" lIns="0" tIns="0" rIns="0" bIns="0" rtlCol="0" anchor="ctr"/>
          <a:lstStyle/>
          <a:p>
            <a:pPr indent="0" marL="0">
              <a:buNone/>
            </a:pPr>
            <a:r>
              <a:rPr lang="en-US" sz="1300" i="1" dirty="0">
                <a:solidFill>
                  <a:srgbClr val="D0D8F0"/>
                </a:solidFill>
                <a:latin typeface="Cambria" pitchFamily="34" charset="0"/>
                <a:ea typeface="Cambria" pitchFamily="34" charset="-122"/>
                <a:cs typeface="Cambria" pitchFamily="34" charset="-120"/>
              </a:rPr>
              <a:t>Latin: land, earth</a:t>
            </a:r>
            <a:endParaRPr lang="en-US" sz="1300" dirty="0"/>
          </a:p>
        </p:txBody>
      </p:sp>
      <p:sp>
        <p:nvSpPr>
          <p:cNvPr id="17" name="Shape 14"/>
          <p:cNvSpPr/>
          <p:nvPr/>
        </p:nvSpPr>
        <p:spPr>
          <a:xfrm>
            <a:off x="457200" y="3749040"/>
            <a:ext cx="8321040" cy="685800"/>
          </a:xfrm>
          <a:prstGeom prst="roundRect">
            <a:avLst>
              <a:gd name="adj" fmla="val 13333"/>
            </a:avLst>
          </a:prstGeom>
          <a:solidFill>
            <a:srgbClr val="1A2D5A"/>
          </a:solidFill>
          <a:ln/>
        </p:spPr>
      </p:sp>
      <p:sp>
        <p:nvSpPr>
          <p:cNvPr id="18" name="Text 15"/>
          <p:cNvSpPr/>
          <p:nvPr/>
        </p:nvSpPr>
        <p:spPr>
          <a:xfrm>
            <a:off x="640080" y="3822192"/>
            <a:ext cx="7955280" cy="539496"/>
          </a:xfrm>
          <a:prstGeom prst="rect">
            <a:avLst/>
          </a:prstGeom>
          <a:noFill/>
          <a:ln/>
        </p:spPr>
        <p:txBody>
          <a:bodyPr wrap="square" lIns="0" tIns="0" rIns="0" bIns="0" rtlCol="0" anchor="ctr"/>
          <a:lstStyle/>
          <a:p>
            <a:pPr indent="0" marL="0">
              <a:buNone/>
            </a:pPr>
            <a:r>
              <a:rPr lang="en-US" sz="1200" i="1" dirty="0">
                <a:solidFill>
                  <a:srgbClr val="FFF3DC"/>
                </a:solidFill>
                <a:latin typeface="Cambria" pitchFamily="34" charset="0"/>
                <a:ea typeface="Cambria" pitchFamily="34" charset="-122"/>
                <a:cs typeface="Cambria" pitchFamily="34" charset="-120"/>
              </a:rPr>
              <a:t>Quick check: Cover your notes. What is a peninsula? Name the three bodies of water that border Florida.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280160" cy="292608"/>
          </a:xfrm>
          <a:prstGeom prst="roundRect">
            <a:avLst>
              <a:gd name="adj" fmla="val 25000"/>
            </a:avLst>
          </a:prstGeom>
          <a:solidFill>
            <a:srgbClr val="8B6FC0"/>
          </a:solidFill>
          <a:ln/>
        </p:spPr>
      </p:sp>
      <p:sp>
        <p:nvSpPr>
          <p:cNvPr id="4" name="Text 2"/>
          <p:cNvSpPr/>
          <p:nvPr/>
        </p:nvSpPr>
        <p:spPr>
          <a:xfrm>
            <a:off x="274320" y="164592"/>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CLUE BOX 2</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One Root, Many Words</a:t>
            </a:r>
            <a:endParaRPr lang="en-US" sz="2400" dirty="0"/>
          </a:p>
        </p:txBody>
      </p:sp>
      <p:sp>
        <p:nvSpPr>
          <p:cNvPr id="6" name="Text 4"/>
          <p:cNvSpPr/>
          <p:nvPr/>
        </p:nvSpPr>
        <p:spPr>
          <a:xfrm>
            <a:off x="274320" y="932688"/>
            <a:ext cx="8595360" cy="256032"/>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What do all four words have in common? Look before you answer.</a:t>
            </a:r>
            <a:endParaRPr lang="en-US" sz="1200" dirty="0"/>
          </a:p>
        </p:txBody>
      </p:sp>
      <p:sp>
        <p:nvSpPr>
          <p:cNvPr id="7" name="Shape 5"/>
          <p:cNvSpPr/>
          <p:nvPr/>
        </p:nvSpPr>
        <p:spPr>
          <a:xfrm>
            <a:off x="274320" y="1298448"/>
            <a:ext cx="4114800" cy="1207008"/>
          </a:xfrm>
          <a:prstGeom prst="roundRect">
            <a:avLst>
              <a:gd name="adj" fmla="val 9091"/>
            </a:avLst>
          </a:prstGeom>
          <a:solidFill>
            <a:srgbClr val="FFFFFF"/>
          </a:solidFill>
          <a:ln/>
          <a:effectLst>
            <a:outerShdw sx="100000" sy="100000" kx="0" ky="0" algn="bl" rotWithShape="0" blurRad="63500" dist="25400" dir="8100000">
              <a:srgbClr val="000000">
                <a:alpha val="10000"/>
              </a:srgbClr>
            </a:outerShdw>
          </a:effectLst>
        </p:spPr>
      </p:sp>
      <p:sp>
        <p:nvSpPr>
          <p:cNvPr id="8" name="Shape 6"/>
          <p:cNvSpPr/>
          <p:nvPr/>
        </p:nvSpPr>
        <p:spPr>
          <a:xfrm>
            <a:off x="411480" y="1389888"/>
            <a:ext cx="594360" cy="329184"/>
          </a:xfrm>
          <a:prstGeom prst="roundRect">
            <a:avLst>
              <a:gd name="adj" fmla="val 16667"/>
            </a:avLst>
          </a:prstGeom>
          <a:solidFill>
            <a:srgbClr val="8B6FC0"/>
          </a:solidFill>
          <a:ln/>
        </p:spPr>
      </p:sp>
      <p:sp>
        <p:nvSpPr>
          <p:cNvPr id="9" name="Text 7"/>
          <p:cNvSpPr/>
          <p:nvPr/>
        </p:nvSpPr>
        <p:spPr>
          <a:xfrm>
            <a:off x="411480" y="1389888"/>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terra</a:t>
            </a:r>
            <a:endParaRPr lang="en-US" sz="800" dirty="0"/>
          </a:p>
        </p:txBody>
      </p:sp>
      <p:sp>
        <p:nvSpPr>
          <p:cNvPr id="10" name="Text 8"/>
          <p:cNvSpPr/>
          <p:nvPr/>
        </p:nvSpPr>
        <p:spPr>
          <a:xfrm>
            <a:off x="1078992" y="1371600"/>
            <a:ext cx="3154680" cy="36576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territory</a:t>
            </a:r>
            <a:endParaRPr lang="en-US" sz="1500" dirty="0"/>
          </a:p>
        </p:txBody>
      </p:sp>
      <p:sp>
        <p:nvSpPr>
          <p:cNvPr id="11" name="Text 9"/>
          <p:cNvSpPr/>
          <p:nvPr/>
        </p:nvSpPr>
        <p:spPr>
          <a:xfrm>
            <a:off x="411480" y="1801368"/>
            <a:ext cx="3840480" cy="640080"/>
          </a:xfrm>
          <a:prstGeom prst="rect">
            <a:avLst/>
          </a:prstGeom>
          <a:noFill/>
          <a:ln/>
        </p:spPr>
        <p:txBody>
          <a:bodyPr wrap="square" lIns="0" tIns="0" rIns="0" bIns="0" rtlCol="0" anchor="t"/>
          <a:lstStyle/>
          <a:p>
            <a:pPr indent="0" marL="0">
              <a:buNone/>
            </a:pPr>
            <a:r>
              <a:rPr lang="en-US" sz="1100" dirty="0">
                <a:solidFill>
                  <a:srgbClr val="7A88A8"/>
                </a:solidFill>
                <a:latin typeface="Calibri" pitchFamily="34" charset="0"/>
                <a:ea typeface="Calibri" pitchFamily="34" charset="-122"/>
                <a:cs typeface="Calibri" pitchFamily="34" charset="-120"/>
              </a:rPr>
              <a:t>land under a government's control</a:t>
            </a:r>
            <a:endParaRPr lang="en-US" sz="1100" dirty="0"/>
          </a:p>
        </p:txBody>
      </p:sp>
      <p:sp>
        <p:nvSpPr>
          <p:cNvPr id="12" name="Shape 10"/>
          <p:cNvSpPr/>
          <p:nvPr/>
        </p:nvSpPr>
        <p:spPr>
          <a:xfrm>
            <a:off x="4617720" y="1298448"/>
            <a:ext cx="4114800" cy="1207008"/>
          </a:xfrm>
          <a:prstGeom prst="roundRect">
            <a:avLst>
              <a:gd name="adj" fmla="val 9091"/>
            </a:avLst>
          </a:prstGeom>
          <a:solidFill>
            <a:srgbClr val="FFFFFF"/>
          </a:solidFill>
          <a:ln/>
          <a:effectLst>
            <a:outerShdw sx="100000" sy="100000" kx="0" ky="0" algn="bl" rotWithShape="0" blurRad="63500" dist="25400" dir="8100000">
              <a:srgbClr val="000000">
                <a:alpha val="10000"/>
              </a:srgbClr>
            </a:outerShdw>
          </a:effectLst>
        </p:spPr>
      </p:sp>
      <p:sp>
        <p:nvSpPr>
          <p:cNvPr id="13" name="Shape 11"/>
          <p:cNvSpPr/>
          <p:nvPr/>
        </p:nvSpPr>
        <p:spPr>
          <a:xfrm>
            <a:off x="4754880" y="1389888"/>
            <a:ext cx="594360" cy="329184"/>
          </a:xfrm>
          <a:prstGeom prst="roundRect">
            <a:avLst>
              <a:gd name="adj" fmla="val 16667"/>
            </a:avLst>
          </a:prstGeom>
          <a:solidFill>
            <a:srgbClr val="8B6FC0"/>
          </a:solidFill>
          <a:ln/>
        </p:spPr>
      </p:sp>
      <p:sp>
        <p:nvSpPr>
          <p:cNvPr id="14" name="Text 12"/>
          <p:cNvSpPr/>
          <p:nvPr/>
        </p:nvSpPr>
        <p:spPr>
          <a:xfrm>
            <a:off x="4754880" y="1389888"/>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terra</a:t>
            </a:r>
            <a:endParaRPr lang="en-US" sz="800" dirty="0"/>
          </a:p>
        </p:txBody>
      </p:sp>
      <p:sp>
        <p:nvSpPr>
          <p:cNvPr id="15" name="Text 13"/>
          <p:cNvSpPr/>
          <p:nvPr/>
        </p:nvSpPr>
        <p:spPr>
          <a:xfrm>
            <a:off x="5422392" y="1371600"/>
            <a:ext cx="3154680" cy="36576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terrain</a:t>
            </a:r>
            <a:endParaRPr lang="en-US" sz="1500" dirty="0"/>
          </a:p>
        </p:txBody>
      </p:sp>
      <p:sp>
        <p:nvSpPr>
          <p:cNvPr id="16" name="Text 14"/>
          <p:cNvSpPr/>
          <p:nvPr/>
        </p:nvSpPr>
        <p:spPr>
          <a:xfrm>
            <a:off x="4754880" y="1801368"/>
            <a:ext cx="3840480" cy="640080"/>
          </a:xfrm>
          <a:prstGeom prst="rect">
            <a:avLst/>
          </a:prstGeom>
          <a:noFill/>
          <a:ln/>
        </p:spPr>
        <p:txBody>
          <a:bodyPr wrap="square" lIns="0" tIns="0" rIns="0" bIns="0" rtlCol="0" anchor="t"/>
          <a:lstStyle/>
          <a:p>
            <a:pPr indent="0" marL="0">
              <a:buNone/>
            </a:pPr>
            <a:r>
              <a:rPr lang="en-US" sz="1100" dirty="0">
                <a:solidFill>
                  <a:srgbClr val="7A88A8"/>
                </a:solidFill>
                <a:latin typeface="Calibri" pitchFamily="34" charset="0"/>
                <a:ea typeface="Calibri" pitchFamily="34" charset="-122"/>
                <a:cs typeface="Calibri" pitchFamily="34" charset="-120"/>
              </a:rPr>
              <a:t>the physical surface of land</a:t>
            </a:r>
            <a:endParaRPr lang="en-US" sz="1100" dirty="0"/>
          </a:p>
        </p:txBody>
      </p:sp>
      <p:sp>
        <p:nvSpPr>
          <p:cNvPr id="17" name="Shape 15"/>
          <p:cNvSpPr/>
          <p:nvPr/>
        </p:nvSpPr>
        <p:spPr>
          <a:xfrm>
            <a:off x="274320" y="2670048"/>
            <a:ext cx="4114800" cy="1207008"/>
          </a:xfrm>
          <a:prstGeom prst="roundRect">
            <a:avLst>
              <a:gd name="adj" fmla="val 9091"/>
            </a:avLst>
          </a:prstGeom>
          <a:solidFill>
            <a:srgbClr val="FFFFFF"/>
          </a:solidFill>
          <a:ln/>
          <a:effectLst>
            <a:outerShdw sx="100000" sy="100000" kx="0" ky="0" algn="bl" rotWithShape="0" blurRad="63500" dist="25400" dir="8100000">
              <a:srgbClr val="000000">
                <a:alpha val="10000"/>
              </a:srgbClr>
            </a:outerShdw>
          </a:effectLst>
        </p:spPr>
      </p:sp>
      <p:sp>
        <p:nvSpPr>
          <p:cNvPr id="18" name="Shape 16"/>
          <p:cNvSpPr/>
          <p:nvPr/>
        </p:nvSpPr>
        <p:spPr>
          <a:xfrm>
            <a:off x="411480" y="2761488"/>
            <a:ext cx="594360" cy="329184"/>
          </a:xfrm>
          <a:prstGeom prst="roundRect">
            <a:avLst>
              <a:gd name="adj" fmla="val 16667"/>
            </a:avLst>
          </a:prstGeom>
          <a:solidFill>
            <a:srgbClr val="8B6FC0"/>
          </a:solidFill>
          <a:ln/>
        </p:spPr>
      </p:sp>
      <p:sp>
        <p:nvSpPr>
          <p:cNvPr id="19" name="Text 17"/>
          <p:cNvSpPr/>
          <p:nvPr/>
        </p:nvSpPr>
        <p:spPr>
          <a:xfrm>
            <a:off x="411480" y="2761488"/>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terra</a:t>
            </a:r>
            <a:endParaRPr lang="en-US" sz="800" dirty="0"/>
          </a:p>
        </p:txBody>
      </p:sp>
      <p:sp>
        <p:nvSpPr>
          <p:cNvPr id="20" name="Text 18"/>
          <p:cNvSpPr/>
          <p:nvPr/>
        </p:nvSpPr>
        <p:spPr>
          <a:xfrm>
            <a:off x="1078992" y="2743200"/>
            <a:ext cx="3154680" cy="36576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terrestrial</a:t>
            </a:r>
            <a:endParaRPr lang="en-US" sz="1500" dirty="0"/>
          </a:p>
        </p:txBody>
      </p:sp>
      <p:sp>
        <p:nvSpPr>
          <p:cNvPr id="21" name="Text 19"/>
          <p:cNvSpPr/>
          <p:nvPr/>
        </p:nvSpPr>
        <p:spPr>
          <a:xfrm>
            <a:off x="411480" y="3172968"/>
            <a:ext cx="3840480" cy="640080"/>
          </a:xfrm>
          <a:prstGeom prst="rect">
            <a:avLst/>
          </a:prstGeom>
          <a:noFill/>
          <a:ln/>
        </p:spPr>
        <p:txBody>
          <a:bodyPr wrap="square" lIns="0" tIns="0" rIns="0" bIns="0" rtlCol="0" anchor="t"/>
          <a:lstStyle/>
          <a:p>
            <a:pPr indent="0" marL="0">
              <a:buNone/>
            </a:pPr>
            <a:r>
              <a:rPr lang="en-US" sz="1100" dirty="0">
                <a:solidFill>
                  <a:srgbClr val="7A88A8"/>
                </a:solidFill>
                <a:latin typeface="Calibri" pitchFamily="34" charset="0"/>
                <a:ea typeface="Calibri" pitchFamily="34" charset="-122"/>
                <a:cs typeface="Calibri" pitchFamily="34" charset="-120"/>
              </a:rPr>
              <a:t>relating to the Earth or land</a:t>
            </a:r>
            <a:endParaRPr lang="en-US" sz="1100" dirty="0"/>
          </a:p>
        </p:txBody>
      </p:sp>
      <p:sp>
        <p:nvSpPr>
          <p:cNvPr id="22" name="Shape 20"/>
          <p:cNvSpPr/>
          <p:nvPr/>
        </p:nvSpPr>
        <p:spPr>
          <a:xfrm>
            <a:off x="4617720" y="2670048"/>
            <a:ext cx="4114800" cy="1207008"/>
          </a:xfrm>
          <a:prstGeom prst="roundRect">
            <a:avLst>
              <a:gd name="adj" fmla="val 9091"/>
            </a:avLst>
          </a:prstGeom>
          <a:solidFill>
            <a:srgbClr val="FFFFFF"/>
          </a:solidFill>
          <a:ln/>
          <a:effectLst>
            <a:outerShdw sx="100000" sy="100000" kx="0" ky="0" algn="bl" rotWithShape="0" blurRad="63500" dist="25400" dir="8100000">
              <a:srgbClr val="000000">
                <a:alpha val="10000"/>
              </a:srgbClr>
            </a:outerShdw>
          </a:effectLst>
        </p:spPr>
      </p:sp>
      <p:sp>
        <p:nvSpPr>
          <p:cNvPr id="23" name="Shape 21"/>
          <p:cNvSpPr/>
          <p:nvPr/>
        </p:nvSpPr>
        <p:spPr>
          <a:xfrm>
            <a:off x="4754880" y="2761488"/>
            <a:ext cx="594360" cy="329184"/>
          </a:xfrm>
          <a:prstGeom prst="roundRect">
            <a:avLst>
              <a:gd name="adj" fmla="val 16667"/>
            </a:avLst>
          </a:prstGeom>
          <a:solidFill>
            <a:srgbClr val="8B6FC0"/>
          </a:solidFill>
          <a:ln/>
        </p:spPr>
      </p:sp>
      <p:sp>
        <p:nvSpPr>
          <p:cNvPr id="24" name="Text 22"/>
          <p:cNvSpPr/>
          <p:nvPr/>
        </p:nvSpPr>
        <p:spPr>
          <a:xfrm>
            <a:off x="4754880" y="2761488"/>
            <a:ext cx="594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terra</a:t>
            </a:r>
            <a:endParaRPr lang="en-US" sz="800" dirty="0"/>
          </a:p>
        </p:txBody>
      </p:sp>
      <p:sp>
        <p:nvSpPr>
          <p:cNvPr id="25" name="Text 23"/>
          <p:cNvSpPr/>
          <p:nvPr/>
        </p:nvSpPr>
        <p:spPr>
          <a:xfrm>
            <a:off x="5422392" y="2743200"/>
            <a:ext cx="3154680" cy="36576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Mediterranean</a:t>
            </a:r>
            <a:endParaRPr lang="en-US" sz="1500" dirty="0"/>
          </a:p>
        </p:txBody>
      </p:sp>
      <p:sp>
        <p:nvSpPr>
          <p:cNvPr id="26" name="Text 24"/>
          <p:cNvSpPr/>
          <p:nvPr/>
        </p:nvSpPr>
        <p:spPr>
          <a:xfrm>
            <a:off x="4754880" y="3172968"/>
            <a:ext cx="3840480" cy="640080"/>
          </a:xfrm>
          <a:prstGeom prst="rect">
            <a:avLst/>
          </a:prstGeom>
          <a:noFill/>
          <a:ln/>
        </p:spPr>
        <p:txBody>
          <a:bodyPr wrap="square" lIns="0" tIns="0" rIns="0" bIns="0" rtlCol="0" anchor="t"/>
          <a:lstStyle/>
          <a:p>
            <a:pPr indent="0" marL="0">
              <a:buNone/>
            </a:pPr>
            <a:r>
              <a:rPr lang="en-US" sz="1100" dirty="0">
                <a:solidFill>
                  <a:srgbClr val="7A88A8"/>
                </a:solidFill>
                <a:latin typeface="Calibri" pitchFamily="34" charset="0"/>
                <a:ea typeface="Calibri" pitchFamily="34" charset="-122"/>
                <a:cs typeface="Calibri" pitchFamily="34" charset="-120"/>
              </a:rPr>
              <a:t>sea surrounded by land (medi = middle, terra = land)</a:t>
            </a:r>
            <a:endParaRPr lang="en-US" sz="1100" dirty="0"/>
          </a:p>
        </p:txBody>
      </p:sp>
      <p:sp>
        <p:nvSpPr>
          <p:cNvPr id="27" name="Shape 25"/>
          <p:cNvSpPr/>
          <p:nvPr/>
        </p:nvSpPr>
        <p:spPr>
          <a:xfrm>
            <a:off x="274320" y="3977640"/>
            <a:ext cx="8595360" cy="841248"/>
          </a:xfrm>
          <a:prstGeom prst="roundRect">
            <a:avLst>
              <a:gd name="adj" fmla="val 13043"/>
            </a:avLst>
          </a:prstGeom>
          <a:solidFill>
            <a:srgbClr val="FFF3DC"/>
          </a:solidFill>
          <a:ln w="19050">
            <a:solidFill>
              <a:srgbClr val="F5E6C8"/>
            </a:solidFill>
            <a:prstDash val="solid"/>
          </a:ln>
        </p:spPr>
      </p:sp>
      <p:sp>
        <p:nvSpPr>
          <p:cNvPr id="28" name="Text 26"/>
          <p:cNvSpPr/>
          <p:nvPr/>
        </p:nvSpPr>
        <p:spPr>
          <a:xfrm>
            <a:off x="411480" y="4032504"/>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9" name="Text 27"/>
          <p:cNvSpPr/>
          <p:nvPr/>
        </p:nvSpPr>
        <p:spPr>
          <a:xfrm>
            <a:off x="411480" y="4233672"/>
            <a:ext cx="8321040" cy="5212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"All four words share... because the root terra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terrestrial and Mediterranean both connect to terra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412480" cy="438912"/>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Discussion: What Does terra Unlock?</a:t>
            </a:r>
            <a:endParaRPr lang="en-US" sz="2200" dirty="0"/>
          </a:p>
        </p:txBody>
      </p:sp>
      <p:sp>
        <p:nvSpPr>
          <p:cNvPr id="4" name="Shape 2"/>
          <p:cNvSpPr/>
          <p:nvPr/>
        </p:nvSpPr>
        <p:spPr>
          <a:xfrm>
            <a:off x="365760" y="658368"/>
            <a:ext cx="8412480" cy="0"/>
          </a:xfrm>
          <a:prstGeom prst="line">
            <a:avLst/>
          </a:prstGeom>
          <a:noFill/>
          <a:ln w="25400">
            <a:solidFill>
              <a:srgbClr val="8B6FC0"/>
            </a:solidFill>
            <a:prstDash val="solid"/>
          </a:ln>
        </p:spPr>
      </p:sp>
      <p:sp>
        <p:nvSpPr>
          <p:cNvPr id="5" name="Shape 3"/>
          <p:cNvSpPr/>
          <p:nvPr/>
        </p:nvSpPr>
        <p:spPr>
          <a:xfrm>
            <a:off x="3749040" y="960120"/>
            <a:ext cx="1645920" cy="868680"/>
          </a:xfrm>
          <a:prstGeom prst="ellipse">
            <a:avLst/>
          </a:prstGeom>
          <a:solidFill>
            <a:srgbClr val="8B6FC0"/>
          </a:solidFill>
          <a:ln/>
        </p:spPr>
      </p:sp>
      <p:sp>
        <p:nvSpPr>
          <p:cNvPr id="6" name="Text 4"/>
          <p:cNvSpPr/>
          <p:nvPr/>
        </p:nvSpPr>
        <p:spPr>
          <a:xfrm>
            <a:off x="3749040" y="960120"/>
            <a:ext cx="164592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TERRA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latin: land</a:t>
            </a:r>
            <a:endParaRPr lang="en-US" sz="1200" dirty="0"/>
          </a:p>
        </p:txBody>
      </p:sp>
      <p:sp>
        <p:nvSpPr>
          <p:cNvPr id="7" name="Shape 5"/>
          <p:cNvSpPr/>
          <p:nvPr/>
        </p:nvSpPr>
        <p:spPr>
          <a:xfrm>
            <a:off x="457200" y="868680"/>
            <a:ext cx="2651760" cy="420624"/>
          </a:xfrm>
          <a:prstGeom prst="roundRect">
            <a:avLst>
              <a:gd name="adj" fmla="val 21739"/>
            </a:avLst>
          </a:prstGeom>
          <a:solidFill>
            <a:srgbClr val="FFFFFF"/>
          </a:solidFill>
          <a:ln w="12700">
            <a:solidFill>
              <a:srgbClr val="8B6FC0"/>
            </a:solidFill>
            <a:prstDash val="solid"/>
          </a:ln>
        </p:spPr>
      </p:sp>
      <p:sp>
        <p:nvSpPr>
          <p:cNvPr id="8" name="Text 6"/>
          <p:cNvSpPr/>
          <p:nvPr/>
        </p:nvSpPr>
        <p:spPr>
          <a:xfrm>
            <a:off x="548640" y="868680"/>
            <a:ext cx="2468880" cy="420624"/>
          </a:xfrm>
          <a:prstGeom prst="rect">
            <a:avLst/>
          </a:prstGeom>
          <a:noFill/>
          <a:ln/>
        </p:spPr>
        <p:txBody>
          <a:bodyPr wrap="square" lIns="0" tIns="0" rIns="0" bIns="0" rtlCol="0" anchor="ctr"/>
          <a:lstStyle/>
          <a:p>
            <a:pPr algn="ctr" indent="0" marL="0">
              <a:buNone/>
            </a:pPr>
            <a:r>
              <a:rPr lang="en-US" sz="1300" b="1" dirty="0">
                <a:solidFill>
                  <a:srgbClr val="8B6FC0"/>
                </a:solidFill>
                <a:latin typeface="Cambria" pitchFamily="34" charset="0"/>
                <a:ea typeface="Cambria" pitchFamily="34" charset="-122"/>
                <a:cs typeface="Cambria" pitchFamily="34" charset="-120"/>
              </a:rPr>
              <a:t>territory</a:t>
            </a:r>
            <a:endParaRPr lang="en-US" sz="1300" dirty="0"/>
          </a:p>
        </p:txBody>
      </p:sp>
      <p:sp>
        <p:nvSpPr>
          <p:cNvPr id="9" name="Shape 7"/>
          <p:cNvSpPr/>
          <p:nvPr/>
        </p:nvSpPr>
        <p:spPr>
          <a:xfrm>
            <a:off x="457200" y="2176272"/>
            <a:ext cx="2651760" cy="420624"/>
          </a:xfrm>
          <a:prstGeom prst="roundRect">
            <a:avLst>
              <a:gd name="adj" fmla="val 21739"/>
            </a:avLst>
          </a:prstGeom>
          <a:solidFill>
            <a:srgbClr val="FFFFFF"/>
          </a:solidFill>
          <a:ln w="12700">
            <a:solidFill>
              <a:srgbClr val="8B6FC0"/>
            </a:solidFill>
            <a:prstDash val="solid"/>
          </a:ln>
        </p:spPr>
      </p:sp>
      <p:sp>
        <p:nvSpPr>
          <p:cNvPr id="10" name="Text 8"/>
          <p:cNvSpPr/>
          <p:nvPr/>
        </p:nvSpPr>
        <p:spPr>
          <a:xfrm>
            <a:off x="548640" y="2176272"/>
            <a:ext cx="2468880" cy="420624"/>
          </a:xfrm>
          <a:prstGeom prst="rect">
            <a:avLst/>
          </a:prstGeom>
          <a:noFill/>
          <a:ln/>
        </p:spPr>
        <p:txBody>
          <a:bodyPr wrap="square" lIns="0" tIns="0" rIns="0" bIns="0" rtlCol="0" anchor="ctr"/>
          <a:lstStyle/>
          <a:p>
            <a:pPr algn="ctr" indent="0" marL="0">
              <a:buNone/>
            </a:pPr>
            <a:r>
              <a:rPr lang="en-US" sz="1300" b="1" dirty="0">
                <a:solidFill>
                  <a:srgbClr val="8B6FC0"/>
                </a:solidFill>
                <a:latin typeface="Cambria" pitchFamily="34" charset="0"/>
                <a:ea typeface="Cambria" pitchFamily="34" charset="-122"/>
                <a:cs typeface="Cambria" pitchFamily="34" charset="-120"/>
              </a:rPr>
              <a:t>terrain</a:t>
            </a:r>
            <a:endParaRPr lang="en-US" sz="1300" dirty="0"/>
          </a:p>
        </p:txBody>
      </p:sp>
      <p:sp>
        <p:nvSpPr>
          <p:cNvPr id="11" name="Shape 9"/>
          <p:cNvSpPr/>
          <p:nvPr/>
        </p:nvSpPr>
        <p:spPr>
          <a:xfrm>
            <a:off x="6126480" y="868680"/>
            <a:ext cx="2651760" cy="420624"/>
          </a:xfrm>
          <a:prstGeom prst="roundRect">
            <a:avLst>
              <a:gd name="adj" fmla="val 21739"/>
            </a:avLst>
          </a:prstGeom>
          <a:solidFill>
            <a:srgbClr val="FFFFFF"/>
          </a:solidFill>
          <a:ln w="12700">
            <a:solidFill>
              <a:srgbClr val="8B6FC0"/>
            </a:solidFill>
            <a:prstDash val="solid"/>
          </a:ln>
        </p:spPr>
      </p:sp>
      <p:sp>
        <p:nvSpPr>
          <p:cNvPr id="12" name="Text 10"/>
          <p:cNvSpPr/>
          <p:nvPr/>
        </p:nvSpPr>
        <p:spPr>
          <a:xfrm>
            <a:off x="6217920" y="868680"/>
            <a:ext cx="2468880" cy="420624"/>
          </a:xfrm>
          <a:prstGeom prst="rect">
            <a:avLst/>
          </a:prstGeom>
          <a:noFill/>
          <a:ln/>
        </p:spPr>
        <p:txBody>
          <a:bodyPr wrap="square" lIns="0" tIns="0" rIns="0" bIns="0" rtlCol="0" anchor="ctr"/>
          <a:lstStyle/>
          <a:p>
            <a:pPr algn="ctr" indent="0" marL="0">
              <a:buNone/>
            </a:pPr>
            <a:r>
              <a:rPr lang="en-US" sz="1300" b="1" dirty="0">
                <a:solidFill>
                  <a:srgbClr val="8B6FC0"/>
                </a:solidFill>
                <a:latin typeface="Cambria" pitchFamily="34" charset="0"/>
                <a:ea typeface="Cambria" pitchFamily="34" charset="-122"/>
                <a:cs typeface="Cambria" pitchFamily="34" charset="-120"/>
              </a:rPr>
              <a:t>terrestrial</a:t>
            </a:r>
            <a:endParaRPr lang="en-US" sz="1300" dirty="0"/>
          </a:p>
        </p:txBody>
      </p:sp>
      <p:sp>
        <p:nvSpPr>
          <p:cNvPr id="13" name="Shape 11"/>
          <p:cNvSpPr/>
          <p:nvPr/>
        </p:nvSpPr>
        <p:spPr>
          <a:xfrm>
            <a:off x="5760720" y="2176272"/>
            <a:ext cx="2651760" cy="420624"/>
          </a:xfrm>
          <a:prstGeom prst="roundRect">
            <a:avLst>
              <a:gd name="adj" fmla="val 21739"/>
            </a:avLst>
          </a:prstGeom>
          <a:solidFill>
            <a:srgbClr val="FFFFFF"/>
          </a:solidFill>
          <a:ln w="12700">
            <a:solidFill>
              <a:srgbClr val="8B6FC0"/>
            </a:solidFill>
            <a:prstDash val="solid"/>
          </a:ln>
        </p:spPr>
      </p:sp>
      <p:sp>
        <p:nvSpPr>
          <p:cNvPr id="14" name="Text 12"/>
          <p:cNvSpPr/>
          <p:nvPr/>
        </p:nvSpPr>
        <p:spPr>
          <a:xfrm>
            <a:off x="5852160" y="2176272"/>
            <a:ext cx="2468880" cy="420624"/>
          </a:xfrm>
          <a:prstGeom prst="rect">
            <a:avLst/>
          </a:prstGeom>
          <a:noFill/>
          <a:ln/>
        </p:spPr>
        <p:txBody>
          <a:bodyPr wrap="square" lIns="0" tIns="0" rIns="0" bIns="0" rtlCol="0" anchor="ctr"/>
          <a:lstStyle/>
          <a:p>
            <a:pPr algn="ctr" indent="0" marL="0">
              <a:buNone/>
            </a:pPr>
            <a:r>
              <a:rPr lang="en-US" sz="1300" b="1" dirty="0">
                <a:solidFill>
                  <a:srgbClr val="8B6FC0"/>
                </a:solidFill>
                <a:latin typeface="Cambria" pitchFamily="34" charset="0"/>
                <a:ea typeface="Cambria" pitchFamily="34" charset="-122"/>
                <a:cs typeface="Cambria" pitchFamily="34" charset="-120"/>
              </a:rPr>
              <a:t>Mediterranean</a:t>
            </a:r>
            <a:endParaRPr lang="en-US" sz="1300" dirty="0"/>
          </a:p>
        </p:txBody>
      </p:sp>
      <p:sp>
        <p:nvSpPr>
          <p:cNvPr id="15" name="Shape 13"/>
          <p:cNvSpPr/>
          <p:nvPr/>
        </p:nvSpPr>
        <p:spPr>
          <a:xfrm>
            <a:off x="365760" y="2788920"/>
            <a:ext cx="8412480" cy="1901952"/>
          </a:xfrm>
          <a:prstGeom prst="roundRect">
            <a:avLst>
              <a:gd name="adj" fmla="val 7212"/>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548640" y="288036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548640" y="3136392"/>
            <a:ext cx="8046720" cy="146304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knowing terra help you read a word you have never seen before?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saw 'extraterrestrial' — no definition — what would you predict it means? Use terra.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these four terra words maps most directly onto today's geography lesson? Defend your choice.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 geography word with terra in it that you already know? What is 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1280160" cy="292608"/>
          </a:xfrm>
          <a:prstGeom prst="roundRect">
            <a:avLst>
              <a:gd name="adj" fmla="val 25000"/>
            </a:avLst>
          </a:prstGeom>
          <a:solidFill>
            <a:srgbClr val="8B6FC0"/>
          </a:solidFill>
          <a:ln/>
        </p:spPr>
      </p:sp>
      <p:sp>
        <p:nvSpPr>
          <p:cNvPr id="6" name="Text 3"/>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REVEAL 2</a:t>
            </a:r>
            <a:endParaRPr lang="en-US" sz="900" dirty="0"/>
          </a:p>
        </p:txBody>
      </p:sp>
      <p:sp>
        <p:nvSpPr>
          <p:cNvPr id="7" name="Text 4"/>
          <p:cNvSpPr/>
          <p:nvPr/>
        </p:nvSpPr>
        <p:spPr>
          <a:xfrm>
            <a:off x="457200" y="658368"/>
            <a:ext cx="8229600" cy="347472"/>
          </a:xfrm>
          <a:prstGeom prst="rect">
            <a:avLst/>
          </a:prstGeom>
          <a:noFill/>
          <a:ln/>
        </p:spPr>
        <p:txBody>
          <a:bodyPr wrap="square" lIns="0" tIns="0" rIns="0" bIns="0" rtlCol="0" anchor="ctr"/>
          <a:lstStyle/>
          <a:p>
            <a:pPr indent="0" marL="0">
              <a:buNone/>
            </a:pPr>
            <a:r>
              <a:rPr lang="en-US" sz="1600" dirty="0">
                <a:solidFill>
                  <a:srgbClr val="55C8E8"/>
                </a:solidFill>
                <a:latin typeface="Calibri" pitchFamily="34" charset="0"/>
                <a:ea typeface="Calibri" pitchFamily="34" charset="-122"/>
                <a:cs typeface="Calibri" pitchFamily="34" charset="-120"/>
              </a:rPr>
              <a:t>Root Unlocked:</a:t>
            </a:r>
            <a:endParaRPr lang="en-US" sz="1600" dirty="0"/>
          </a:p>
        </p:txBody>
      </p:sp>
      <p:sp>
        <p:nvSpPr>
          <p:cNvPr id="8" name="Text 5"/>
          <p:cNvSpPr/>
          <p:nvPr/>
        </p:nvSpPr>
        <p:spPr>
          <a:xfrm>
            <a:off x="457200" y="1024128"/>
            <a:ext cx="8229600" cy="5943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TERRA = land, earth</a:t>
            </a:r>
            <a:endParaRPr lang="en-US" sz="3600" dirty="0"/>
          </a:p>
        </p:txBody>
      </p:sp>
      <p:sp>
        <p:nvSpPr>
          <p:cNvPr id="9" name="Shape 6"/>
          <p:cNvSpPr/>
          <p:nvPr/>
        </p:nvSpPr>
        <p:spPr>
          <a:xfrm>
            <a:off x="457200" y="1737360"/>
            <a:ext cx="8229600" cy="685800"/>
          </a:xfrm>
          <a:prstGeom prst="roundRect">
            <a:avLst>
              <a:gd name="adj" fmla="val 16000"/>
            </a:avLst>
          </a:prstGeom>
          <a:solidFill>
            <a:srgbClr val="1A2D5A"/>
          </a:solidFill>
          <a:ln/>
        </p:spPr>
      </p:sp>
      <p:sp>
        <p:nvSpPr>
          <p:cNvPr id="10" name="Text 7"/>
          <p:cNvSpPr/>
          <p:nvPr/>
        </p:nvSpPr>
        <p:spPr>
          <a:xfrm>
            <a:off x="640080" y="1792224"/>
            <a:ext cx="7863840" cy="576072"/>
          </a:xfrm>
          <a:prstGeom prst="rect">
            <a:avLst/>
          </a:prstGeom>
          <a:noFill/>
          <a:ln/>
        </p:spPr>
        <p:txBody>
          <a:bodyPr wrap="square" lIns="0" tIns="0" rIns="0" bIns="0"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territory  |  terrain  |  terrestrial  |  Mediterranean</a:t>
            </a:r>
            <a:endParaRPr lang="en-US" sz="1600" dirty="0"/>
          </a:p>
        </p:txBody>
      </p:sp>
      <p:sp>
        <p:nvSpPr>
          <p:cNvPr id="11" name="Shape 8"/>
          <p:cNvSpPr/>
          <p:nvPr/>
        </p:nvSpPr>
        <p:spPr>
          <a:xfrm>
            <a:off x="457200" y="2560320"/>
            <a:ext cx="8229600" cy="960120"/>
          </a:xfrm>
          <a:prstGeom prst="roundRect">
            <a:avLst>
              <a:gd name="adj" fmla="val 11429"/>
            </a:avLst>
          </a:prstGeom>
          <a:solidFill>
            <a:srgbClr val="0B2830"/>
          </a:solidFill>
          <a:ln w="19050">
            <a:solidFill>
              <a:srgbClr val="1A8A7D"/>
            </a:solidFill>
            <a:prstDash val="solid"/>
          </a:ln>
        </p:spPr>
      </p:sp>
      <p:sp>
        <p:nvSpPr>
          <p:cNvPr id="12" name="Text 9"/>
          <p:cNvSpPr/>
          <p:nvPr/>
        </p:nvSpPr>
        <p:spPr>
          <a:xfrm>
            <a:off x="640080" y="2633472"/>
            <a:ext cx="2286000" cy="256032"/>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THE PATTERN</a:t>
            </a:r>
            <a:endParaRPr lang="en-US" sz="1000" dirty="0"/>
          </a:p>
        </p:txBody>
      </p:sp>
      <p:sp>
        <p:nvSpPr>
          <p:cNvPr id="13" name="Text 10"/>
          <p:cNvSpPr/>
          <p:nvPr/>
        </p:nvSpPr>
        <p:spPr>
          <a:xfrm>
            <a:off x="640080" y="2907792"/>
            <a:ext cx="7772400" cy="548640"/>
          </a:xfrm>
          <a:prstGeom prst="rect">
            <a:avLst/>
          </a:prstGeom>
          <a:noFill/>
          <a:ln/>
        </p:spPr>
        <p:txBody>
          <a:bodyPr wrap="square" lIns="0" tIns="0" rIns="0" bIns="0" rtlCol="0" anchor="ctr"/>
          <a:lstStyle/>
          <a:p>
            <a:pPr indent="0" marL="0">
              <a:buNone/>
            </a:pPr>
            <a:r>
              <a:rPr lang="en-US" sz="1300" dirty="0">
                <a:solidFill>
                  <a:srgbClr val="D0D8F0"/>
                </a:solidFill>
                <a:latin typeface="Calibri" pitchFamily="34" charset="0"/>
                <a:ea typeface="Calibri" pitchFamily="34" charset="-122"/>
                <a:cs typeface="Calibri" pitchFamily="34" charset="-120"/>
              </a:rPr>
              <a:t>One root unlocks many words — knowing Latin roots makes you a stronger reader of maps, textbooks, and primary sources in any subject.</a:t>
            </a:r>
            <a:endParaRPr lang="en-US" sz="1300" dirty="0"/>
          </a:p>
        </p:txBody>
      </p:sp>
      <p:sp>
        <p:nvSpPr>
          <p:cNvPr id="14" name="Shape 11"/>
          <p:cNvSpPr/>
          <p:nvPr/>
        </p:nvSpPr>
        <p:spPr>
          <a:xfrm>
            <a:off x="457200" y="3675888"/>
            <a:ext cx="8229600" cy="685800"/>
          </a:xfrm>
          <a:prstGeom prst="roundRect">
            <a:avLst>
              <a:gd name="adj" fmla="val 13333"/>
            </a:avLst>
          </a:prstGeom>
          <a:solidFill>
            <a:srgbClr val="1A2D5A"/>
          </a:solidFill>
          <a:ln/>
        </p:spPr>
      </p:sp>
      <p:sp>
        <p:nvSpPr>
          <p:cNvPr id="15" name="Text 12"/>
          <p:cNvSpPr/>
          <p:nvPr/>
        </p:nvSpPr>
        <p:spPr>
          <a:xfrm>
            <a:off x="640080" y="3749040"/>
            <a:ext cx="7863840" cy="539496"/>
          </a:xfrm>
          <a:prstGeom prst="rect">
            <a:avLst/>
          </a:prstGeom>
          <a:noFill/>
          <a:ln/>
        </p:spPr>
        <p:txBody>
          <a:bodyPr wrap="square" lIns="0" tIns="0" rIns="0" bIns="0" rtlCol="0" anchor="ctr"/>
          <a:lstStyle/>
          <a:p>
            <a:pPr indent="0" marL="0">
              <a:buNone/>
            </a:pPr>
            <a:r>
              <a:rPr lang="en-US" sz="1200" i="1" dirty="0">
                <a:solidFill>
                  <a:srgbClr val="FFF3DC"/>
                </a:solidFill>
                <a:latin typeface="Cambria" pitchFamily="34" charset="0"/>
                <a:ea typeface="Cambria" pitchFamily="34" charset="-122"/>
                <a:cs typeface="Cambria" pitchFamily="34" charset="-120"/>
              </a:rPr>
              <a:t>Cover your screen. Name all four terra words from memory. Which one connects most directly to today's map work?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2011680" cy="292608"/>
          </a:xfrm>
          <a:prstGeom prst="roundRect">
            <a:avLst>
              <a:gd name="adj" fmla="val 25000"/>
            </a:avLst>
          </a:prstGeom>
          <a:solidFill>
            <a:srgbClr val="D4943A"/>
          </a:solidFill>
          <a:ln/>
        </p:spPr>
      </p:sp>
      <p:sp>
        <p:nvSpPr>
          <p:cNvPr id="4" name="Text 2"/>
          <p:cNvSpPr/>
          <p:nvPr/>
        </p:nvSpPr>
        <p:spPr>
          <a:xfrm>
            <a:off x="274320" y="164592"/>
            <a:ext cx="201168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MULTI-SOURCE COMPARE</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Two Maps, Same Place, Different Times</a:t>
            </a:r>
            <a:endParaRPr lang="en-US" sz="2200" dirty="0"/>
          </a:p>
        </p:txBody>
      </p:sp>
      <p:sp>
        <p:nvSpPr>
          <p:cNvPr id="6" name="Shape 4"/>
          <p:cNvSpPr/>
          <p:nvPr/>
        </p:nvSpPr>
        <p:spPr>
          <a:xfrm>
            <a:off x="274320" y="1005840"/>
            <a:ext cx="4160520" cy="292608"/>
          </a:xfrm>
          <a:prstGeom prst="roundRect">
            <a:avLst>
              <a:gd name="adj" fmla="val 18750"/>
            </a:avLst>
          </a:prstGeom>
          <a:solidFill>
            <a:srgbClr val="1A8A7D"/>
          </a:solidFill>
          <a:ln/>
        </p:spPr>
      </p:sp>
      <p:sp>
        <p:nvSpPr>
          <p:cNvPr id="7" name="Text 5"/>
          <p:cNvSpPr/>
          <p:nvPr/>
        </p:nvSpPr>
        <p:spPr>
          <a:xfrm>
            <a:off x="274320" y="1005840"/>
            <a:ext cx="4160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SOURCE A: Present-Day Physical Map</a:t>
            </a:r>
            <a:endParaRPr lang="en-US" sz="1000" dirty="0"/>
          </a:p>
        </p:txBody>
      </p:sp>
      <p:sp>
        <p:nvSpPr>
          <p:cNvPr id="8" name="Shape 6"/>
          <p:cNvSpPr/>
          <p:nvPr/>
        </p:nvSpPr>
        <p:spPr>
          <a:xfrm>
            <a:off x="274320" y="1353312"/>
            <a:ext cx="4160520" cy="2606040"/>
          </a:xfrm>
          <a:prstGeom prst="roundRect">
            <a:avLst>
              <a:gd name="adj" fmla="val 4211"/>
            </a:avLst>
          </a:prstGeom>
          <a:solidFill>
            <a:srgbClr val="E2E8F4"/>
          </a:solidFill>
          <a:ln w="19050">
            <a:solidFill>
              <a:srgbClr val="B0B8CC"/>
            </a:solidFill>
            <a:prstDash val="dash"/>
          </a:ln>
        </p:spPr>
      </p:sp>
      <p:sp>
        <p:nvSpPr>
          <p:cNvPr id="9" name="Text 7"/>
          <p:cNvSpPr/>
          <p:nvPr/>
        </p:nvSpPr>
        <p:spPr>
          <a:xfrm>
            <a:off x="274320" y="1353312"/>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411480" y="1627632"/>
            <a:ext cx="3886200" cy="2240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present-day physical map of Florida — full color, labeled coastlines, Everglades, Lake Okeechobee, major rivers, topographic shading, clear cartographic style</a:t>
            </a:r>
            <a:endParaRPr lang="en-US" sz="1100" dirty="0"/>
          </a:p>
        </p:txBody>
      </p:sp>
      <p:sp>
        <p:nvSpPr>
          <p:cNvPr id="11" name="Shape 9"/>
          <p:cNvSpPr/>
          <p:nvPr/>
        </p:nvSpPr>
        <p:spPr>
          <a:xfrm>
            <a:off x="4663440" y="1005840"/>
            <a:ext cx="4160520" cy="292608"/>
          </a:xfrm>
          <a:prstGeom prst="roundRect">
            <a:avLst>
              <a:gd name="adj" fmla="val 18750"/>
            </a:avLst>
          </a:prstGeom>
          <a:solidFill>
            <a:srgbClr val="E8636B"/>
          </a:solidFill>
          <a:ln/>
        </p:spPr>
      </p:sp>
      <p:sp>
        <p:nvSpPr>
          <p:cNvPr id="12" name="Text 10"/>
          <p:cNvSpPr/>
          <p:nvPr/>
        </p:nvSpPr>
        <p:spPr>
          <a:xfrm>
            <a:off x="4663440" y="1005840"/>
            <a:ext cx="4160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SOURCE B: Historical Map (1800s)</a:t>
            </a:r>
            <a:endParaRPr lang="en-US" sz="1000" dirty="0"/>
          </a:p>
        </p:txBody>
      </p:sp>
      <p:sp>
        <p:nvSpPr>
          <p:cNvPr id="13" name="Shape 11"/>
          <p:cNvSpPr/>
          <p:nvPr/>
        </p:nvSpPr>
        <p:spPr>
          <a:xfrm>
            <a:off x="4663440" y="1353312"/>
            <a:ext cx="4160520" cy="2606040"/>
          </a:xfrm>
          <a:prstGeom prst="roundRect">
            <a:avLst>
              <a:gd name="adj" fmla="val 4211"/>
            </a:avLst>
          </a:prstGeom>
          <a:solidFill>
            <a:srgbClr val="E2E8F4"/>
          </a:solidFill>
          <a:ln w="19050">
            <a:solidFill>
              <a:srgbClr val="B0B8CC"/>
            </a:solidFill>
            <a:prstDash val="dash"/>
          </a:ln>
        </p:spPr>
      </p:sp>
      <p:sp>
        <p:nvSpPr>
          <p:cNvPr id="14" name="Text 12"/>
          <p:cNvSpPr/>
          <p:nvPr/>
        </p:nvSpPr>
        <p:spPr>
          <a:xfrm>
            <a:off x="4663440" y="1353312"/>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4800600" y="1627632"/>
            <a:ext cx="3886200" cy="2240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map of Florida from the early-to-mid 1800s — hand-drawn or early printed style, showing coastlines but with vague or missing interior detail, limited Everglades coverage, older place names, aged or sepia aesthetic</a:t>
            </a:r>
            <a:endParaRPr lang="en-US" sz="1100" dirty="0"/>
          </a:p>
        </p:txBody>
      </p:sp>
      <p:sp>
        <p:nvSpPr>
          <p:cNvPr id="16" name="Shape 14"/>
          <p:cNvSpPr/>
          <p:nvPr/>
        </p:nvSpPr>
        <p:spPr>
          <a:xfrm>
            <a:off x="274320" y="4041648"/>
            <a:ext cx="8595360" cy="804672"/>
          </a:xfrm>
          <a:prstGeom prst="roundRect">
            <a:avLst>
              <a:gd name="adj" fmla="val 13636"/>
            </a:avLst>
          </a:prstGeom>
          <a:solidFill>
            <a:srgbClr val="FFF3DC"/>
          </a:solidFill>
          <a:ln w="19050">
            <a:solidFill>
              <a:srgbClr val="F5E6C8"/>
            </a:solidFill>
            <a:prstDash val="solid"/>
          </a:ln>
        </p:spPr>
      </p:sp>
      <p:sp>
        <p:nvSpPr>
          <p:cNvPr id="17" name="Text 15"/>
          <p:cNvSpPr/>
          <p:nvPr/>
        </p:nvSpPr>
        <p:spPr>
          <a:xfrm>
            <a:off x="411480" y="4096512"/>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411480" y="4297680"/>
            <a:ext cx="8321040" cy="4846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about... but disagree about..."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historical map is missing... which tells me... because..."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412480" cy="438912"/>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Discussion: What Do Two Maps Tell You?</a:t>
            </a:r>
            <a:endParaRPr lang="en-US" sz="2200" dirty="0"/>
          </a:p>
        </p:txBody>
      </p:sp>
      <p:sp>
        <p:nvSpPr>
          <p:cNvPr id="4" name="Shape 2"/>
          <p:cNvSpPr/>
          <p:nvPr/>
        </p:nvSpPr>
        <p:spPr>
          <a:xfrm>
            <a:off x="365760" y="658368"/>
            <a:ext cx="8412480" cy="0"/>
          </a:xfrm>
          <a:prstGeom prst="line">
            <a:avLst/>
          </a:prstGeom>
          <a:noFill/>
          <a:ln w="25400">
            <a:solidFill>
              <a:srgbClr val="D4943A"/>
            </a:solidFill>
            <a:prstDash val="solid"/>
          </a:ln>
        </p:spPr>
      </p:sp>
      <p:sp>
        <p:nvSpPr>
          <p:cNvPr id="5" name="Shape 3"/>
          <p:cNvSpPr/>
          <p:nvPr/>
        </p:nvSpPr>
        <p:spPr>
          <a:xfrm>
            <a:off x="365760" y="804672"/>
            <a:ext cx="1828800" cy="1325880"/>
          </a:xfrm>
          <a:prstGeom prst="roundRect">
            <a:avLst>
              <a:gd name="adj" fmla="val 8276"/>
            </a:avLst>
          </a:prstGeom>
          <a:solidFill>
            <a:srgbClr val="E2E8F4"/>
          </a:solidFill>
          <a:ln w="19050">
            <a:solidFill>
              <a:srgbClr val="B0B8CC"/>
            </a:solidFill>
            <a:prstDash val="dash"/>
          </a:ln>
        </p:spPr>
      </p:sp>
      <p:sp>
        <p:nvSpPr>
          <p:cNvPr id="6" name="Text 4"/>
          <p:cNvSpPr/>
          <p:nvPr/>
        </p:nvSpPr>
        <p:spPr>
          <a:xfrm>
            <a:off x="365760" y="804672"/>
            <a:ext cx="1828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078992"/>
            <a:ext cx="1554480" cy="960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Thumbnail: present-day Florida physical map (reference for discussion)</a:t>
            </a:r>
            <a:endParaRPr lang="en-US" sz="1100" dirty="0"/>
          </a:p>
        </p:txBody>
      </p:sp>
      <p:sp>
        <p:nvSpPr>
          <p:cNvPr id="8" name="Shape 6"/>
          <p:cNvSpPr/>
          <p:nvPr/>
        </p:nvSpPr>
        <p:spPr>
          <a:xfrm>
            <a:off x="2331720" y="804672"/>
            <a:ext cx="1828800" cy="1325880"/>
          </a:xfrm>
          <a:prstGeom prst="roundRect">
            <a:avLst>
              <a:gd name="adj" fmla="val 8276"/>
            </a:avLst>
          </a:prstGeom>
          <a:solidFill>
            <a:srgbClr val="E2E8F4"/>
          </a:solidFill>
          <a:ln w="19050">
            <a:solidFill>
              <a:srgbClr val="B0B8CC"/>
            </a:solidFill>
            <a:prstDash val="dash"/>
          </a:ln>
        </p:spPr>
      </p:sp>
      <p:sp>
        <p:nvSpPr>
          <p:cNvPr id="9" name="Text 7"/>
          <p:cNvSpPr/>
          <p:nvPr/>
        </p:nvSpPr>
        <p:spPr>
          <a:xfrm>
            <a:off x="2331720" y="804672"/>
            <a:ext cx="1828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2468880" y="1078992"/>
            <a:ext cx="1554480" cy="960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Thumbnail: historical 1800s Florida map (reference for discussion)</a:t>
            </a:r>
            <a:endParaRPr lang="en-US" sz="1100" dirty="0"/>
          </a:p>
        </p:txBody>
      </p:sp>
      <p:sp>
        <p:nvSpPr>
          <p:cNvPr id="11" name="Shape 9"/>
          <p:cNvSpPr/>
          <p:nvPr/>
        </p:nvSpPr>
        <p:spPr>
          <a:xfrm>
            <a:off x="4279392" y="804672"/>
            <a:ext cx="4498848" cy="237744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4462272" y="896112"/>
            <a:ext cx="4133088"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3" name="Text 11"/>
          <p:cNvSpPr/>
          <p:nvPr/>
        </p:nvSpPr>
        <p:spPr>
          <a:xfrm>
            <a:off x="4462272" y="1152144"/>
            <a:ext cx="4133088" cy="19385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made the historical map, and what tools did they have? How does that limit what it shows?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map is more reliable for studying Florida's physical features today? How do you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perspective is missing from the 1800s map — and why does that gap matter for historians?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 old map ever be MORE useful than the modern one? When and why?</a:t>
            </a:r>
            <a:endParaRPr lang="en-US" sz="1100" dirty="0"/>
          </a:p>
        </p:txBody>
      </p:sp>
      <p:sp>
        <p:nvSpPr>
          <p:cNvPr id="14" name="Shape 12"/>
          <p:cNvSpPr/>
          <p:nvPr/>
        </p:nvSpPr>
        <p:spPr>
          <a:xfrm>
            <a:off x="365760" y="2267712"/>
            <a:ext cx="8412480" cy="1261872"/>
          </a:xfrm>
          <a:prstGeom prst="roundRect">
            <a:avLst>
              <a:gd name="adj" fmla="val 10870"/>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548640" y="2359152"/>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548640" y="2615184"/>
            <a:ext cx="8046720" cy="82296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Everglades is vague on the old map. Why might early mapmakers have avoided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geography shapes settlement, what does the old map tell you about where people lived in the 1800s?</a:t>
            </a:r>
            <a:endParaRPr lang="en-US" sz="1100" dirty="0"/>
          </a:p>
        </p:txBody>
      </p:sp>
      <p:sp>
        <p:nvSpPr>
          <p:cNvPr id="17" name="Shape 15"/>
          <p:cNvSpPr/>
          <p:nvPr/>
        </p:nvSpPr>
        <p:spPr>
          <a:xfrm>
            <a:off x="365760" y="3639312"/>
            <a:ext cx="8412480" cy="841248"/>
          </a:xfrm>
          <a:prstGeom prst="roundRect">
            <a:avLst>
              <a:gd name="adj" fmla="val 13043"/>
            </a:avLst>
          </a:prstGeom>
          <a:solidFill>
            <a:srgbClr val="FFF3DC"/>
          </a:solidFill>
          <a:ln w="19050">
            <a:solidFill>
              <a:srgbClr val="F5E6C8"/>
            </a:solidFill>
            <a:prstDash val="solid"/>
          </a:ln>
        </p:spPr>
      </p:sp>
      <p:sp>
        <p:nvSpPr>
          <p:cNvPr id="18" name="Text 16"/>
          <p:cNvSpPr/>
          <p:nvPr/>
        </p:nvSpPr>
        <p:spPr>
          <a:xfrm>
            <a:off x="502920" y="3694176"/>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02920" y="3895344"/>
            <a:ext cx="8138160" cy="5212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trust Source ___ more because the evidence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map gap tells historians... because..."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1280160" cy="292608"/>
          </a:xfrm>
          <a:prstGeom prst="roundRect">
            <a:avLst>
              <a:gd name="adj" fmla="val 25000"/>
            </a:avLst>
          </a:prstGeom>
          <a:solidFill>
            <a:srgbClr val="D4943A"/>
          </a:solidFill>
          <a:ln/>
        </p:spPr>
      </p:sp>
      <p:sp>
        <p:nvSpPr>
          <p:cNvPr id="6" name="Text 3"/>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REVEAL 3</a:t>
            </a:r>
            <a:endParaRPr lang="en-US" sz="900" dirty="0"/>
          </a:p>
        </p:txBody>
      </p:sp>
      <p:sp>
        <p:nvSpPr>
          <p:cNvPr id="7" name="Text 4"/>
          <p:cNvSpPr/>
          <p:nvPr/>
        </p:nvSpPr>
        <p:spPr>
          <a:xfrm>
            <a:off x="457200" y="658368"/>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Maps are evidence — not just reference tools.</a:t>
            </a:r>
            <a:endParaRPr lang="en-US" sz="2800" dirty="0"/>
          </a:p>
        </p:txBody>
      </p:sp>
      <p:sp>
        <p:nvSpPr>
          <p:cNvPr id="8" name="Shape 5"/>
          <p:cNvSpPr/>
          <p:nvPr/>
        </p:nvSpPr>
        <p:spPr>
          <a:xfrm>
            <a:off x="457200" y="1389888"/>
            <a:ext cx="8229600" cy="841248"/>
          </a:xfrm>
          <a:prstGeom prst="roundRect">
            <a:avLst>
              <a:gd name="adj" fmla="val 10870"/>
            </a:avLst>
          </a:prstGeom>
          <a:solidFill>
            <a:srgbClr val="1A2D5A"/>
          </a:solidFill>
          <a:ln/>
        </p:spPr>
      </p:sp>
      <p:sp>
        <p:nvSpPr>
          <p:cNvPr id="9" name="Text 6"/>
          <p:cNvSpPr/>
          <p:nvPr/>
        </p:nvSpPr>
        <p:spPr>
          <a:xfrm>
            <a:off x="640080" y="1463040"/>
            <a:ext cx="2286000" cy="256032"/>
          </a:xfrm>
          <a:prstGeom prst="rect">
            <a:avLst/>
          </a:prstGeom>
          <a:noFill/>
          <a:ln/>
        </p:spPr>
        <p:txBody>
          <a:bodyPr wrap="square" lIns="0" tIns="0" rIns="0" bIns="0"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WHAT CHANGED:</a:t>
            </a:r>
            <a:endParaRPr lang="en-US" sz="900" dirty="0"/>
          </a:p>
        </p:txBody>
      </p:sp>
      <p:sp>
        <p:nvSpPr>
          <p:cNvPr id="10" name="Text 7"/>
          <p:cNvSpPr/>
          <p:nvPr/>
        </p:nvSpPr>
        <p:spPr>
          <a:xfrm>
            <a:off x="640080" y="1737360"/>
            <a:ext cx="7863840" cy="43891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Settlement patterns, interior detail, completeness of the Everglades — all reflect what people knew and cared about at the time they drew the map.</a:t>
            </a:r>
            <a:endParaRPr lang="en-US" sz="1200" dirty="0"/>
          </a:p>
        </p:txBody>
      </p:sp>
      <p:sp>
        <p:nvSpPr>
          <p:cNvPr id="11" name="Shape 8"/>
          <p:cNvSpPr/>
          <p:nvPr/>
        </p:nvSpPr>
        <p:spPr>
          <a:xfrm>
            <a:off x="457200" y="2322576"/>
            <a:ext cx="8229600" cy="841248"/>
          </a:xfrm>
          <a:prstGeom prst="roundRect">
            <a:avLst>
              <a:gd name="adj" fmla="val 10870"/>
            </a:avLst>
          </a:prstGeom>
          <a:solidFill>
            <a:srgbClr val="1A2D5A"/>
          </a:solidFill>
          <a:ln/>
        </p:spPr>
      </p:sp>
      <p:sp>
        <p:nvSpPr>
          <p:cNvPr id="12" name="Text 9"/>
          <p:cNvSpPr/>
          <p:nvPr/>
        </p:nvSpPr>
        <p:spPr>
          <a:xfrm>
            <a:off x="640080" y="2395728"/>
            <a:ext cx="2286000" cy="256032"/>
          </a:xfrm>
          <a:prstGeom prst="rect">
            <a:avLst/>
          </a:prstGeom>
          <a:noFill/>
          <a:ln/>
        </p:spPr>
        <p:txBody>
          <a:bodyPr wrap="square" lIns="0" tIns="0" rIns="0" bIns="0"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WHAT STAYED:</a:t>
            </a:r>
            <a:endParaRPr lang="en-US" sz="900" dirty="0"/>
          </a:p>
        </p:txBody>
      </p:sp>
      <p:sp>
        <p:nvSpPr>
          <p:cNvPr id="13" name="Text 10"/>
          <p:cNvSpPr/>
          <p:nvPr/>
        </p:nvSpPr>
        <p:spPr>
          <a:xfrm>
            <a:off x="640080" y="2670048"/>
            <a:ext cx="7863840" cy="43891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peninsula shape. The three-sided coastline. The panhandle. Physical features outlast the people who map them.</a:t>
            </a:r>
            <a:endParaRPr lang="en-US" sz="1200" dirty="0"/>
          </a:p>
        </p:txBody>
      </p:sp>
      <p:sp>
        <p:nvSpPr>
          <p:cNvPr id="14" name="Shape 11"/>
          <p:cNvSpPr/>
          <p:nvPr/>
        </p:nvSpPr>
        <p:spPr>
          <a:xfrm>
            <a:off x="457200" y="3255264"/>
            <a:ext cx="8229600" cy="841248"/>
          </a:xfrm>
          <a:prstGeom prst="roundRect">
            <a:avLst>
              <a:gd name="adj" fmla="val 10870"/>
            </a:avLst>
          </a:prstGeom>
          <a:solidFill>
            <a:srgbClr val="1A2D5A"/>
          </a:solidFill>
          <a:ln/>
        </p:spPr>
      </p:sp>
      <p:sp>
        <p:nvSpPr>
          <p:cNvPr id="15" name="Text 12"/>
          <p:cNvSpPr/>
          <p:nvPr/>
        </p:nvSpPr>
        <p:spPr>
          <a:xfrm>
            <a:off x="640080" y="3328416"/>
            <a:ext cx="2286000" cy="256032"/>
          </a:xfrm>
          <a:prstGeom prst="rect">
            <a:avLst/>
          </a:prstGeom>
          <a:noFill/>
          <a:ln/>
        </p:spPr>
        <p:txBody>
          <a:bodyPr wrap="square" lIns="0" tIns="0" rIns="0" bIns="0"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THE PATTERN:</a:t>
            </a:r>
            <a:endParaRPr lang="en-US" sz="900" dirty="0"/>
          </a:p>
        </p:txBody>
      </p:sp>
      <p:sp>
        <p:nvSpPr>
          <p:cNvPr id="16" name="Text 13"/>
          <p:cNvSpPr/>
          <p:nvPr/>
        </p:nvSpPr>
        <p:spPr>
          <a:xfrm>
            <a:off x="640080" y="3602736"/>
            <a:ext cx="7863840" cy="43891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Geography shapes settlement. Where the land was hospitable, people went. Where it was swampy and unmapped, they did not — yet.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280160" cy="292608"/>
          </a:xfrm>
          <a:prstGeom prst="roundRect">
            <a:avLst>
              <a:gd name="adj" fmla="val 25000"/>
            </a:avLst>
          </a:prstGeom>
          <a:solidFill>
            <a:srgbClr val="34B76F"/>
          </a:solidFill>
          <a:ln/>
        </p:spPr>
      </p:sp>
      <p:sp>
        <p:nvSpPr>
          <p:cNvPr id="4" name="Text 2"/>
          <p:cNvSpPr/>
          <p:nvPr/>
        </p:nvSpPr>
        <p:spPr>
          <a:xfrm>
            <a:off x="274320" y="164592"/>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DEEP DIVE</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Three Features That Shape Florida Life</a:t>
            </a:r>
            <a:endParaRPr lang="en-US" sz="2200" dirty="0"/>
          </a:p>
        </p:txBody>
      </p:sp>
      <p:sp>
        <p:nvSpPr>
          <p:cNvPr id="6" name="Shape 4"/>
          <p:cNvSpPr/>
          <p:nvPr/>
        </p:nvSpPr>
        <p:spPr>
          <a:xfrm>
            <a:off x="274320" y="960120"/>
            <a:ext cx="8595360" cy="0"/>
          </a:xfrm>
          <a:prstGeom prst="line">
            <a:avLst/>
          </a:prstGeom>
          <a:noFill/>
          <a:ln w="19050">
            <a:solidFill>
              <a:srgbClr val="34B76F"/>
            </a:solidFill>
            <a:prstDash val="solid"/>
          </a:ln>
        </p:spPr>
      </p:sp>
      <p:sp>
        <p:nvSpPr>
          <p:cNvPr id="7" name="Shape 5"/>
          <p:cNvSpPr/>
          <p:nvPr/>
        </p:nvSpPr>
        <p:spPr>
          <a:xfrm>
            <a:off x="274320" y="1078992"/>
            <a:ext cx="2743200" cy="3749040"/>
          </a:xfrm>
          <a:prstGeom prst="roundRect">
            <a:avLst>
              <a:gd name="adj" fmla="val 5000"/>
            </a:avLst>
          </a:prstGeom>
          <a:solidFill>
            <a:srgbClr val="FFFFFF"/>
          </a:solidFill>
          <a:ln/>
          <a:effectLst>
            <a:outerShdw sx="100000" sy="100000" kx="0" ky="0" algn="bl" rotWithShape="0" blurRad="76200" dist="38100" dir="8100000">
              <a:srgbClr val="000000">
                <a:alpha val="10000"/>
              </a:srgbClr>
            </a:outerShdw>
          </a:effectLst>
        </p:spPr>
      </p:sp>
      <p:sp>
        <p:nvSpPr>
          <p:cNvPr id="8" name="Shape 6"/>
          <p:cNvSpPr/>
          <p:nvPr/>
        </p:nvSpPr>
        <p:spPr>
          <a:xfrm>
            <a:off x="274320" y="1078992"/>
            <a:ext cx="2743200" cy="402336"/>
          </a:xfrm>
          <a:prstGeom prst="roundRect">
            <a:avLst>
              <a:gd name="adj" fmla="val 34091"/>
            </a:avLst>
          </a:prstGeom>
          <a:solidFill>
            <a:srgbClr val="1A8A7D"/>
          </a:solidFill>
          <a:ln/>
        </p:spPr>
      </p:sp>
      <p:sp>
        <p:nvSpPr>
          <p:cNvPr id="9" name="Text 7"/>
          <p:cNvSpPr/>
          <p:nvPr/>
        </p:nvSpPr>
        <p:spPr>
          <a:xfrm>
            <a:off x="347472" y="1078992"/>
            <a:ext cx="259689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The Everglades</a:t>
            </a:r>
            <a:endParaRPr lang="en-US" sz="1300" dirty="0"/>
          </a:p>
        </p:txBody>
      </p:sp>
      <p:sp>
        <p:nvSpPr>
          <p:cNvPr id="10" name="Text 8"/>
          <p:cNvSpPr/>
          <p:nvPr/>
        </p:nvSpPr>
        <p:spPr>
          <a:xfrm>
            <a:off x="411480" y="1554480"/>
            <a:ext cx="658368" cy="219456"/>
          </a:xfrm>
          <a:prstGeom prst="rect">
            <a:avLst/>
          </a:prstGeom>
          <a:noFill/>
          <a:ln/>
        </p:spPr>
        <p:txBody>
          <a:bodyPr wrap="square" lIns="0" tIns="0" rIns="0" bIns="0" rtlCol="0" anchor="ctr"/>
          <a:lstStyle/>
          <a:p>
            <a:pPr indent="0" marL="0">
              <a:buNone/>
            </a:pPr>
            <a:r>
              <a:rPr lang="en-US" sz="900" b="1" dirty="0">
                <a:solidFill>
                  <a:srgbClr val="1A8A7D"/>
                </a:solidFill>
                <a:latin typeface="Calibri" pitchFamily="34" charset="0"/>
                <a:ea typeface="Calibri" pitchFamily="34" charset="-122"/>
                <a:cs typeface="Calibri" pitchFamily="34" charset="-120"/>
              </a:rPr>
              <a:t>WHERE:</a:t>
            </a:r>
            <a:endParaRPr lang="en-US" sz="900" dirty="0"/>
          </a:p>
        </p:txBody>
      </p:sp>
      <p:sp>
        <p:nvSpPr>
          <p:cNvPr id="11" name="Text 9"/>
          <p:cNvSpPr/>
          <p:nvPr/>
        </p:nvSpPr>
        <p:spPr>
          <a:xfrm>
            <a:off x="1078992" y="1554480"/>
            <a:ext cx="1828800" cy="219456"/>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Southern Florida</a:t>
            </a:r>
            <a:endParaRPr lang="en-US" sz="1000" dirty="0"/>
          </a:p>
        </p:txBody>
      </p:sp>
      <p:sp>
        <p:nvSpPr>
          <p:cNvPr id="12" name="Text 10"/>
          <p:cNvSpPr/>
          <p:nvPr/>
        </p:nvSpPr>
        <p:spPr>
          <a:xfrm>
            <a:off x="384048" y="1828800"/>
            <a:ext cx="2523744" cy="1325880"/>
          </a:xfrm>
          <a:prstGeom prst="rect">
            <a:avLst/>
          </a:prstGeom>
          <a:noFill/>
          <a:ln/>
        </p:spPr>
        <p:txBody>
          <a:bodyPr wrap="square" lIns="0" tIns="0" rIns="0" bIns="0" rtlCol="0" anchor="t"/>
          <a:lstStyle/>
          <a:p>
            <a:pPr indent="0" marL="0">
              <a:buNone/>
            </a:pPr>
            <a:r>
              <a:rPr lang="en-US" sz="1050" dirty="0">
                <a:solidFill>
                  <a:srgbClr val="7A88A8"/>
                </a:solidFill>
                <a:latin typeface="Calibri" pitchFamily="34" charset="0"/>
                <a:ea typeface="Calibri" pitchFamily="34" charset="-122"/>
                <a:cs typeface="Calibri" pitchFamily="34" charset="-120"/>
              </a:rPr>
              <a:t>Vast freshwater wetlands — the largest subtropical wilderness in the U.S. Slow-moving water over limestone bedrock supports unique wildlife.</a:t>
            </a:r>
            <a:endParaRPr lang="en-US" sz="1050" dirty="0"/>
          </a:p>
        </p:txBody>
      </p:sp>
      <p:sp>
        <p:nvSpPr>
          <p:cNvPr id="13" name="Shape 11"/>
          <p:cNvSpPr/>
          <p:nvPr/>
        </p:nvSpPr>
        <p:spPr>
          <a:xfrm>
            <a:off x="384048" y="3218688"/>
            <a:ext cx="2523744" cy="0"/>
          </a:xfrm>
          <a:prstGeom prst="line">
            <a:avLst/>
          </a:prstGeom>
          <a:noFill/>
          <a:ln w="12700">
            <a:solidFill>
              <a:srgbClr val="E2E8F4"/>
            </a:solidFill>
            <a:prstDash val="solid"/>
          </a:ln>
        </p:spPr>
      </p:sp>
      <p:sp>
        <p:nvSpPr>
          <p:cNvPr id="14" name="Text 12"/>
          <p:cNvSpPr/>
          <p:nvPr/>
        </p:nvSpPr>
        <p:spPr>
          <a:xfrm>
            <a:off x="384048" y="3291840"/>
            <a:ext cx="2523744" cy="219456"/>
          </a:xfrm>
          <a:prstGeom prst="rect">
            <a:avLst/>
          </a:prstGeom>
          <a:noFill/>
          <a:ln/>
        </p:spPr>
        <p:txBody>
          <a:bodyPr wrap="square" lIns="0" tIns="0" rIns="0" bIns="0" rtlCol="0" anchor="ctr"/>
          <a:lstStyle/>
          <a:p>
            <a:pPr indent="0" marL="0">
              <a:buNone/>
            </a:pPr>
            <a:r>
              <a:rPr lang="en-US" sz="800" b="1" spc="100" kern="0" dirty="0">
                <a:solidFill>
                  <a:srgbClr val="1A8A7D"/>
                </a:solidFill>
                <a:latin typeface="Calibri" pitchFamily="34" charset="0"/>
                <a:ea typeface="Calibri" pitchFamily="34" charset="-122"/>
                <a:cs typeface="Calibri" pitchFamily="34" charset="-120"/>
              </a:rPr>
              <a:t>HOW IT SHAPES LIFE:</a:t>
            </a:r>
            <a:endParaRPr lang="en-US" sz="800" dirty="0"/>
          </a:p>
        </p:txBody>
      </p:sp>
      <p:sp>
        <p:nvSpPr>
          <p:cNvPr id="15" name="Text 13"/>
          <p:cNvSpPr/>
          <p:nvPr/>
        </p:nvSpPr>
        <p:spPr>
          <a:xfrm>
            <a:off x="384048" y="3547872"/>
            <a:ext cx="2523744" cy="1170432"/>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People built homes on higher ground. The wetlands filter freshwater for all of south Florida.</a:t>
            </a:r>
            <a:endParaRPr lang="en-US" sz="1000" dirty="0"/>
          </a:p>
        </p:txBody>
      </p:sp>
      <p:sp>
        <p:nvSpPr>
          <p:cNvPr id="16" name="Shape 14"/>
          <p:cNvSpPr/>
          <p:nvPr/>
        </p:nvSpPr>
        <p:spPr>
          <a:xfrm>
            <a:off x="3154680" y="1078992"/>
            <a:ext cx="2743200" cy="3749040"/>
          </a:xfrm>
          <a:prstGeom prst="roundRect">
            <a:avLst>
              <a:gd name="adj" fmla="val 5000"/>
            </a:avLst>
          </a:prstGeom>
          <a:solidFill>
            <a:srgbClr val="FFFFFF"/>
          </a:solidFill>
          <a:ln/>
          <a:effectLst>
            <a:outerShdw sx="100000" sy="100000" kx="0" ky="0" algn="bl" rotWithShape="0" blurRad="76200" dist="38100" dir="8100000">
              <a:srgbClr val="000000">
                <a:alpha val="10000"/>
              </a:srgbClr>
            </a:outerShdw>
          </a:effectLst>
        </p:spPr>
      </p:sp>
      <p:sp>
        <p:nvSpPr>
          <p:cNvPr id="17" name="Shape 15"/>
          <p:cNvSpPr/>
          <p:nvPr/>
        </p:nvSpPr>
        <p:spPr>
          <a:xfrm>
            <a:off x="3154680" y="1078992"/>
            <a:ext cx="2743200" cy="402336"/>
          </a:xfrm>
          <a:prstGeom prst="roundRect">
            <a:avLst>
              <a:gd name="adj" fmla="val 34091"/>
            </a:avLst>
          </a:prstGeom>
          <a:solidFill>
            <a:srgbClr val="55C8E8"/>
          </a:solidFill>
          <a:ln/>
        </p:spPr>
      </p:sp>
      <p:sp>
        <p:nvSpPr>
          <p:cNvPr id="18" name="Text 16"/>
          <p:cNvSpPr/>
          <p:nvPr/>
        </p:nvSpPr>
        <p:spPr>
          <a:xfrm>
            <a:off x="3227832" y="1078992"/>
            <a:ext cx="259689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Lake Okeechobee</a:t>
            </a:r>
            <a:endParaRPr lang="en-US" sz="1300" dirty="0"/>
          </a:p>
        </p:txBody>
      </p:sp>
      <p:sp>
        <p:nvSpPr>
          <p:cNvPr id="19" name="Text 17"/>
          <p:cNvSpPr/>
          <p:nvPr/>
        </p:nvSpPr>
        <p:spPr>
          <a:xfrm>
            <a:off x="3291840" y="1554480"/>
            <a:ext cx="658368" cy="219456"/>
          </a:xfrm>
          <a:prstGeom prst="rect">
            <a:avLst/>
          </a:prstGeom>
          <a:noFill/>
          <a:ln/>
        </p:spPr>
        <p:txBody>
          <a:bodyPr wrap="square" lIns="0" tIns="0" rIns="0" bIns="0" rtlCol="0" anchor="ctr"/>
          <a:lstStyle/>
          <a:p>
            <a:pPr indent="0" marL="0">
              <a:buNone/>
            </a:pPr>
            <a:r>
              <a:rPr lang="en-US" sz="900" b="1" dirty="0">
                <a:solidFill>
                  <a:srgbClr val="55C8E8"/>
                </a:solidFill>
                <a:latin typeface="Calibri" pitchFamily="34" charset="0"/>
                <a:ea typeface="Calibri" pitchFamily="34" charset="-122"/>
                <a:cs typeface="Calibri" pitchFamily="34" charset="-120"/>
              </a:rPr>
              <a:t>WHERE:</a:t>
            </a:r>
            <a:endParaRPr lang="en-US" sz="900" dirty="0"/>
          </a:p>
        </p:txBody>
      </p:sp>
      <p:sp>
        <p:nvSpPr>
          <p:cNvPr id="20" name="Text 18"/>
          <p:cNvSpPr/>
          <p:nvPr/>
        </p:nvSpPr>
        <p:spPr>
          <a:xfrm>
            <a:off x="3959352" y="1554480"/>
            <a:ext cx="1828800" cy="219456"/>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South-central Florida</a:t>
            </a:r>
            <a:endParaRPr lang="en-US" sz="1000" dirty="0"/>
          </a:p>
        </p:txBody>
      </p:sp>
      <p:sp>
        <p:nvSpPr>
          <p:cNvPr id="21" name="Text 19"/>
          <p:cNvSpPr/>
          <p:nvPr/>
        </p:nvSpPr>
        <p:spPr>
          <a:xfrm>
            <a:off x="3264408" y="1828800"/>
            <a:ext cx="2523744" cy="1325880"/>
          </a:xfrm>
          <a:prstGeom prst="rect">
            <a:avLst/>
          </a:prstGeom>
          <a:noFill/>
          <a:ln/>
        </p:spPr>
        <p:txBody>
          <a:bodyPr wrap="square" lIns="0" tIns="0" rIns="0" bIns="0" rtlCol="0" anchor="t"/>
          <a:lstStyle/>
          <a:p>
            <a:pPr indent="0" marL="0">
              <a:buNone/>
            </a:pPr>
            <a:r>
              <a:rPr lang="en-US" sz="1050" dirty="0">
                <a:solidFill>
                  <a:srgbClr val="7A88A8"/>
                </a:solidFill>
                <a:latin typeface="Calibri" pitchFamily="34" charset="0"/>
                <a:ea typeface="Calibri" pitchFamily="34" charset="-122"/>
                <a:cs typeface="Calibri" pitchFamily="34" charset="-120"/>
              </a:rPr>
              <a:t>One of the largest freshwater lakes in the U.S. It slowly feeds water southward into the Everglades. Critical to farming and drinking water for millions.</a:t>
            </a:r>
            <a:endParaRPr lang="en-US" sz="1050" dirty="0"/>
          </a:p>
        </p:txBody>
      </p:sp>
      <p:sp>
        <p:nvSpPr>
          <p:cNvPr id="22" name="Shape 20"/>
          <p:cNvSpPr/>
          <p:nvPr/>
        </p:nvSpPr>
        <p:spPr>
          <a:xfrm>
            <a:off x="3264408" y="3218688"/>
            <a:ext cx="2523744" cy="0"/>
          </a:xfrm>
          <a:prstGeom prst="line">
            <a:avLst/>
          </a:prstGeom>
          <a:noFill/>
          <a:ln w="12700">
            <a:solidFill>
              <a:srgbClr val="E2E8F4"/>
            </a:solidFill>
            <a:prstDash val="solid"/>
          </a:ln>
        </p:spPr>
      </p:sp>
      <p:sp>
        <p:nvSpPr>
          <p:cNvPr id="23" name="Text 21"/>
          <p:cNvSpPr/>
          <p:nvPr/>
        </p:nvSpPr>
        <p:spPr>
          <a:xfrm>
            <a:off x="3264408" y="3291840"/>
            <a:ext cx="2523744" cy="219456"/>
          </a:xfrm>
          <a:prstGeom prst="rect">
            <a:avLst/>
          </a:prstGeom>
          <a:noFill/>
          <a:ln/>
        </p:spPr>
        <p:txBody>
          <a:bodyPr wrap="square" lIns="0" tIns="0" rIns="0" bIns="0" rtlCol="0" anchor="ctr"/>
          <a:lstStyle/>
          <a:p>
            <a:pPr indent="0" marL="0">
              <a:buNone/>
            </a:pPr>
            <a:r>
              <a:rPr lang="en-US" sz="800" b="1" spc="100" kern="0" dirty="0">
                <a:solidFill>
                  <a:srgbClr val="55C8E8"/>
                </a:solidFill>
                <a:latin typeface="Calibri" pitchFamily="34" charset="0"/>
                <a:ea typeface="Calibri" pitchFamily="34" charset="-122"/>
                <a:cs typeface="Calibri" pitchFamily="34" charset="-120"/>
              </a:rPr>
              <a:t>HOW IT SHAPES LIFE:</a:t>
            </a:r>
            <a:endParaRPr lang="en-US" sz="800" dirty="0"/>
          </a:p>
        </p:txBody>
      </p:sp>
      <p:sp>
        <p:nvSpPr>
          <p:cNvPr id="24" name="Text 22"/>
          <p:cNvSpPr/>
          <p:nvPr/>
        </p:nvSpPr>
        <p:spPr>
          <a:xfrm>
            <a:off x="3264408" y="3547872"/>
            <a:ext cx="2523744" cy="1170432"/>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Farmers depend on it for irrigation. Cities across south Florida depend on it for their water supply.</a:t>
            </a:r>
            <a:endParaRPr lang="en-US" sz="1000" dirty="0"/>
          </a:p>
        </p:txBody>
      </p:sp>
      <p:sp>
        <p:nvSpPr>
          <p:cNvPr id="25" name="Shape 23"/>
          <p:cNvSpPr/>
          <p:nvPr/>
        </p:nvSpPr>
        <p:spPr>
          <a:xfrm>
            <a:off x="6035040" y="1078992"/>
            <a:ext cx="2743200" cy="3749040"/>
          </a:xfrm>
          <a:prstGeom prst="roundRect">
            <a:avLst>
              <a:gd name="adj" fmla="val 5000"/>
            </a:avLst>
          </a:prstGeom>
          <a:solidFill>
            <a:srgbClr val="FFFFFF"/>
          </a:solidFill>
          <a:ln/>
          <a:effectLst>
            <a:outerShdw sx="100000" sy="100000" kx="0" ky="0" algn="bl" rotWithShape="0" blurRad="76200" dist="38100" dir="8100000">
              <a:srgbClr val="000000">
                <a:alpha val="10000"/>
              </a:srgbClr>
            </a:outerShdw>
          </a:effectLst>
        </p:spPr>
      </p:sp>
      <p:sp>
        <p:nvSpPr>
          <p:cNvPr id="26" name="Shape 24"/>
          <p:cNvSpPr/>
          <p:nvPr/>
        </p:nvSpPr>
        <p:spPr>
          <a:xfrm>
            <a:off x="6035040" y="1078992"/>
            <a:ext cx="2743200" cy="402336"/>
          </a:xfrm>
          <a:prstGeom prst="roundRect">
            <a:avLst>
              <a:gd name="adj" fmla="val 34091"/>
            </a:avLst>
          </a:prstGeom>
          <a:solidFill>
            <a:srgbClr val="D4943A"/>
          </a:solidFill>
          <a:ln/>
        </p:spPr>
      </p:sp>
      <p:sp>
        <p:nvSpPr>
          <p:cNvPr id="27" name="Text 25"/>
          <p:cNvSpPr/>
          <p:nvPr/>
        </p:nvSpPr>
        <p:spPr>
          <a:xfrm>
            <a:off x="6108192" y="1078992"/>
            <a:ext cx="259689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The Panhandle</a:t>
            </a:r>
            <a:endParaRPr lang="en-US" sz="1300" dirty="0"/>
          </a:p>
        </p:txBody>
      </p:sp>
      <p:sp>
        <p:nvSpPr>
          <p:cNvPr id="28" name="Text 26"/>
          <p:cNvSpPr/>
          <p:nvPr/>
        </p:nvSpPr>
        <p:spPr>
          <a:xfrm>
            <a:off x="6172200" y="1554480"/>
            <a:ext cx="658368" cy="219456"/>
          </a:xfrm>
          <a:prstGeom prst="rect">
            <a:avLst/>
          </a:prstGeom>
          <a:noFill/>
          <a:ln/>
        </p:spPr>
        <p:txBody>
          <a:bodyPr wrap="square" lIns="0" tIns="0" rIns="0" bIns="0" rtlCol="0" anchor="ctr"/>
          <a:lstStyle/>
          <a:p>
            <a:pPr indent="0" marL="0">
              <a:buNone/>
            </a:pPr>
            <a:r>
              <a:rPr lang="en-US" sz="900" b="1" dirty="0">
                <a:solidFill>
                  <a:srgbClr val="D4943A"/>
                </a:solidFill>
                <a:latin typeface="Calibri" pitchFamily="34" charset="0"/>
                <a:ea typeface="Calibri" pitchFamily="34" charset="-122"/>
                <a:cs typeface="Calibri" pitchFamily="34" charset="-120"/>
              </a:rPr>
              <a:t>WHERE:</a:t>
            </a:r>
            <a:endParaRPr lang="en-US" sz="900" dirty="0"/>
          </a:p>
        </p:txBody>
      </p:sp>
      <p:sp>
        <p:nvSpPr>
          <p:cNvPr id="29" name="Text 27"/>
          <p:cNvSpPr/>
          <p:nvPr/>
        </p:nvSpPr>
        <p:spPr>
          <a:xfrm>
            <a:off x="6839712" y="1554480"/>
            <a:ext cx="1828800" cy="219456"/>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Northwest Florida</a:t>
            </a:r>
            <a:endParaRPr lang="en-US" sz="1000" dirty="0"/>
          </a:p>
        </p:txBody>
      </p:sp>
      <p:sp>
        <p:nvSpPr>
          <p:cNvPr id="30" name="Text 28"/>
          <p:cNvSpPr/>
          <p:nvPr/>
        </p:nvSpPr>
        <p:spPr>
          <a:xfrm>
            <a:off x="6144768" y="1828800"/>
            <a:ext cx="2523744" cy="1325880"/>
          </a:xfrm>
          <a:prstGeom prst="rect">
            <a:avLst/>
          </a:prstGeom>
          <a:noFill/>
          <a:ln/>
        </p:spPr>
        <p:txBody>
          <a:bodyPr wrap="square" lIns="0" tIns="0" rIns="0" bIns="0" rtlCol="0" anchor="t"/>
          <a:lstStyle/>
          <a:p>
            <a:pPr indent="0" marL="0">
              <a:buNone/>
            </a:pPr>
            <a:r>
              <a:rPr lang="en-US" sz="1050" dirty="0">
                <a:solidFill>
                  <a:srgbClr val="7A88A8"/>
                </a:solidFill>
                <a:latin typeface="Calibri" pitchFamily="34" charset="0"/>
                <a:ea typeface="Calibri" pitchFamily="34" charset="-122"/>
                <a:cs typeface="Calibri" pitchFamily="34" charset="-120"/>
              </a:rPr>
              <a:t>A narrow strip connecting Florida to the rest of the South. Borders Alabama and Georgia. Different terrain: higher elevation, pine forests, red clay soil.</a:t>
            </a:r>
            <a:endParaRPr lang="en-US" sz="1050" dirty="0"/>
          </a:p>
        </p:txBody>
      </p:sp>
      <p:sp>
        <p:nvSpPr>
          <p:cNvPr id="31" name="Shape 29"/>
          <p:cNvSpPr/>
          <p:nvPr/>
        </p:nvSpPr>
        <p:spPr>
          <a:xfrm>
            <a:off x="6144768" y="3218688"/>
            <a:ext cx="2523744" cy="0"/>
          </a:xfrm>
          <a:prstGeom prst="line">
            <a:avLst/>
          </a:prstGeom>
          <a:noFill/>
          <a:ln w="12700">
            <a:solidFill>
              <a:srgbClr val="E2E8F4"/>
            </a:solidFill>
            <a:prstDash val="solid"/>
          </a:ln>
        </p:spPr>
      </p:sp>
      <p:sp>
        <p:nvSpPr>
          <p:cNvPr id="32" name="Text 30"/>
          <p:cNvSpPr/>
          <p:nvPr/>
        </p:nvSpPr>
        <p:spPr>
          <a:xfrm>
            <a:off x="6144768" y="3291840"/>
            <a:ext cx="2523744" cy="219456"/>
          </a:xfrm>
          <a:prstGeom prst="rect">
            <a:avLst/>
          </a:prstGeom>
          <a:noFill/>
          <a:ln/>
        </p:spPr>
        <p:txBody>
          <a:bodyPr wrap="square" lIns="0" tIns="0" rIns="0" bIns="0" rtlCol="0" anchor="ctr"/>
          <a:lstStyle/>
          <a:p>
            <a:pPr indent="0" marL="0">
              <a:buNone/>
            </a:pPr>
            <a:r>
              <a:rPr lang="en-US" sz="800" b="1" spc="100" kern="0" dirty="0">
                <a:solidFill>
                  <a:srgbClr val="D4943A"/>
                </a:solidFill>
                <a:latin typeface="Calibri" pitchFamily="34" charset="0"/>
                <a:ea typeface="Calibri" pitchFamily="34" charset="-122"/>
                <a:cs typeface="Calibri" pitchFamily="34" charset="-120"/>
              </a:rPr>
              <a:t>HOW IT SHAPES LIFE:</a:t>
            </a:r>
            <a:endParaRPr lang="en-US" sz="800" dirty="0"/>
          </a:p>
        </p:txBody>
      </p:sp>
      <p:sp>
        <p:nvSpPr>
          <p:cNvPr id="33" name="Text 31"/>
          <p:cNvSpPr/>
          <p:nvPr/>
        </p:nvSpPr>
        <p:spPr>
          <a:xfrm>
            <a:off x="6144768" y="3547872"/>
            <a:ext cx="2523744" cy="1170432"/>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Cooler climate supports different crops. Timber and agriculture differ dramatically from south Florida.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2011680" cy="292608"/>
          </a:xfrm>
          <a:prstGeom prst="roundRect">
            <a:avLst>
              <a:gd name="adj" fmla="val 25000"/>
            </a:avLst>
          </a:prstGeom>
          <a:solidFill>
            <a:srgbClr val="D4943A"/>
          </a:solidFill>
          <a:ln/>
        </p:spPr>
      </p:sp>
      <p:sp>
        <p:nvSpPr>
          <p:cNvPr id="6" name="Text 3"/>
          <p:cNvSpPr/>
          <p:nvPr/>
        </p:nvSpPr>
        <p:spPr>
          <a:xfrm>
            <a:off x="365760" y="228600"/>
            <a:ext cx="201168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VIRTUE SPOTLIGHT</a:t>
            </a:r>
            <a:endParaRPr lang="en-US" sz="900" dirty="0"/>
          </a:p>
        </p:txBody>
      </p:sp>
      <p:sp>
        <p:nvSpPr>
          <p:cNvPr id="7" name="Text 4"/>
          <p:cNvSpPr/>
          <p:nvPr/>
        </p:nvSpPr>
        <p:spPr>
          <a:xfrm>
            <a:off x="457200" y="658368"/>
            <a:ext cx="8229600" cy="7772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Perseverance</a:t>
            </a:r>
            <a:endParaRPr lang="en-US" sz="4600" dirty="0"/>
          </a:p>
        </p:txBody>
      </p:sp>
      <p:sp>
        <p:nvSpPr>
          <p:cNvPr id="8" name="Text 5"/>
          <p:cNvSpPr/>
          <p:nvPr/>
        </p:nvSpPr>
        <p:spPr>
          <a:xfrm>
            <a:off x="457200" y="1463040"/>
            <a:ext cx="8229600" cy="457200"/>
          </a:xfrm>
          <a:prstGeom prst="rect">
            <a:avLst/>
          </a:prstGeom>
          <a:noFill/>
          <a:ln/>
        </p:spPr>
        <p:txBody>
          <a:bodyPr wrap="square" lIns="0" tIns="0" rIns="0" bIns="0" rtlCol="0" anchor="ctr"/>
          <a:lstStyle/>
          <a:p>
            <a:pPr indent="0" marL="0">
              <a:buNone/>
            </a:pPr>
            <a:r>
              <a:rPr lang="en-US" sz="1700" i="1" dirty="0">
                <a:solidFill>
                  <a:srgbClr val="D4943A"/>
                </a:solidFill>
                <a:latin typeface="Cambria" pitchFamily="34" charset="0"/>
                <a:ea typeface="Cambria" pitchFamily="34" charset="-122"/>
                <a:cs typeface="Cambria" pitchFamily="34" charset="-120"/>
              </a:rPr>
              <a:t>Keeping going when the work is hard — and going back to check, correct, and improve.</a:t>
            </a:r>
            <a:endParaRPr lang="en-US" sz="1700" dirty="0"/>
          </a:p>
        </p:txBody>
      </p:sp>
      <p:sp>
        <p:nvSpPr>
          <p:cNvPr id="9" name="Shape 6"/>
          <p:cNvSpPr/>
          <p:nvPr/>
        </p:nvSpPr>
        <p:spPr>
          <a:xfrm>
            <a:off x="457200" y="2057400"/>
            <a:ext cx="8229600" cy="1481328"/>
          </a:xfrm>
          <a:prstGeom prst="roundRect">
            <a:avLst>
              <a:gd name="adj" fmla="val 7407"/>
            </a:avLst>
          </a:prstGeom>
          <a:solidFill>
            <a:srgbClr val="1A2D5A"/>
          </a:solidFill>
          <a:ln/>
        </p:spPr>
      </p:sp>
      <p:sp>
        <p:nvSpPr>
          <p:cNvPr id="10" name="Text 7"/>
          <p:cNvSpPr/>
          <p:nvPr/>
        </p:nvSpPr>
        <p:spPr>
          <a:xfrm>
            <a:off x="640080" y="2130552"/>
            <a:ext cx="2743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IN THIS LESSON:</a:t>
            </a:r>
            <a:endParaRPr lang="en-US" sz="900" dirty="0"/>
          </a:p>
        </p:txBody>
      </p:sp>
      <p:sp>
        <p:nvSpPr>
          <p:cNvPr id="11" name="Text 8"/>
          <p:cNvSpPr/>
          <p:nvPr/>
        </p:nvSpPr>
        <p:spPr>
          <a:xfrm>
            <a:off x="640080" y="2423160"/>
            <a:ext cx="786384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first people who mapped Florida pushed through swampy ground, hurricanes, mosquitoes, and dense pine forest. Mapping a place takes patience — you have to keep going back, keep checking, keep correcting.</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That is exactly what historians do with sources. One map is never enough. You compare, you question, you revise.</a:t>
            </a:r>
            <a:endParaRPr lang="en-US" sz="1300" dirty="0"/>
          </a:p>
        </p:txBody>
      </p:sp>
      <p:sp>
        <p:nvSpPr>
          <p:cNvPr id="12" name="Shape 9"/>
          <p:cNvSpPr/>
          <p:nvPr/>
        </p:nvSpPr>
        <p:spPr>
          <a:xfrm>
            <a:off x="457200" y="3675888"/>
            <a:ext cx="8229600" cy="713232"/>
          </a:xfrm>
          <a:prstGeom prst="roundRect">
            <a:avLst>
              <a:gd name="adj" fmla="val 12821"/>
            </a:avLst>
          </a:prstGeom>
          <a:solidFill>
            <a:srgbClr val="0B2830"/>
          </a:solidFill>
          <a:ln w="19050">
            <a:solidFill>
              <a:srgbClr val="1A8A7D"/>
            </a:solidFill>
            <a:prstDash val="solid"/>
          </a:ln>
        </p:spPr>
      </p:sp>
      <p:sp>
        <p:nvSpPr>
          <p:cNvPr id="13" name="Text 10"/>
          <p:cNvSpPr/>
          <p:nvPr/>
        </p:nvSpPr>
        <p:spPr>
          <a:xfrm>
            <a:off x="640080" y="3749040"/>
            <a:ext cx="7863840" cy="566928"/>
          </a:xfrm>
          <a:prstGeom prst="rect">
            <a:avLst/>
          </a:prstGeom>
          <a:noFill/>
          <a:ln/>
        </p:spPr>
        <p:txBody>
          <a:bodyPr wrap="square" lIns="0" tIns="0" rIns="0" bIns="0" rtlCol="0" anchor="ctr"/>
          <a:lstStyle/>
          <a:p>
            <a:pPr indent="0" marL="0">
              <a:buNone/>
            </a:pPr>
            <a:r>
              <a:rPr lang="en-US" sz="1200" i="1" dirty="0">
                <a:solidFill>
                  <a:srgbClr val="55C8E8"/>
                </a:solidFill>
                <a:latin typeface="Cambria" pitchFamily="34" charset="0"/>
                <a:ea typeface="Cambria" pitchFamily="34" charset="-122"/>
                <a:cs typeface="Cambria" pitchFamily="34" charset="-120"/>
              </a:rPr>
              <a:t>"Why is it important to understand a place's physical features before studying its history? What would you miss if you skipped the land?"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2011680" cy="292608"/>
          </a:xfrm>
          <a:prstGeom prst="roundRect">
            <a:avLst>
              <a:gd name="adj" fmla="val 25000"/>
            </a:avLst>
          </a:prstGeom>
          <a:solidFill>
            <a:srgbClr val="0E1C42"/>
          </a:solidFill>
          <a:ln/>
        </p:spPr>
      </p:sp>
      <p:sp>
        <p:nvSpPr>
          <p:cNvPr id="4" name="Text 2"/>
          <p:cNvSpPr/>
          <p:nvPr/>
        </p:nvSpPr>
        <p:spPr>
          <a:xfrm>
            <a:off x="274320" y="164592"/>
            <a:ext cx="2011680" cy="292608"/>
          </a:xfrm>
          <a:prstGeom prst="rect">
            <a:avLst/>
          </a:prstGeom>
          <a:noFill/>
          <a:ln/>
        </p:spPr>
        <p:txBody>
          <a:bodyPr wrap="square" lIns="0" tIns="0" rIns="0" bIns="0" rtlCol="0" anchor="ctr"/>
          <a:lstStyle/>
          <a:p>
            <a:pPr algn="ctr" indent="0" marL="0">
              <a:buNone/>
            </a:pPr>
            <a:r>
              <a:rPr lang="en-US" sz="900" b="1" spc="120" kern="0" dirty="0">
                <a:solidFill>
                  <a:srgbClr val="55C8E8"/>
                </a:solidFill>
                <a:latin typeface="Calibri" pitchFamily="34" charset="0"/>
                <a:ea typeface="Calibri" pitchFamily="34" charset="-122"/>
                <a:cs typeface="Calibri" pitchFamily="34" charset="-120"/>
              </a:rPr>
              <a:t>GUIDED PRACTICE 1</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Teacher Models: Arguing From the Map</a:t>
            </a:r>
            <a:endParaRPr lang="en-US" sz="2200" dirty="0"/>
          </a:p>
        </p:txBody>
      </p:sp>
      <p:sp>
        <p:nvSpPr>
          <p:cNvPr id="6" name="Shape 4"/>
          <p:cNvSpPr/>
          <p:nvPr/>
        </p:nvSpPr>
        <p:spPr>
          <a:xfrm>
            <a:off x="274320" y="960120"/>
            <a:ext cx="8595360" cy="0"/>
          </a:xfrm>
          <a:prstGeom prst="line">
            <a:avLst/>
          </a:prstGeom>
          <a:noFill/>
          <a:ln w="19050">
            <a:solidFill>
              <a:srgbClr val="0E1C42"/>
            </a:solidFill>
            <a:prstDash val="solid"/>
          </a:ln>
        </p:spPr>
      </p:sp>
      <p:sp>
        <p:nvSpPr>
          <p:cNvPr id="7" name="Shape 5"/>
          <p:cNvSpPr/>
          <p:nvPr/>
        </p:nvSpPr>
        <p:spPr>
          <a:xfrm>
            <a:off x="274320" y="1078992"/>
            <a:ext cx="8595360" cy="2697480"/>
          </a:xfrm>
          <a:prstGeom prst="roundRect">
            <a:avLst>
              <a:gd name="adj" fmla="val 4068"/>
            </a:avLst>
          </a:prstGeom>
          <a:solidFill>
            <a:srgbClr val="FFFFFF"/>
          </a:solidFill>
          <a:ln/>
          <a:effectLst>
            <a:outerShdw sx="100000" sy="100000" kx="0" ky="0" algn="bl" rotWithShape="0" blurRad="63500" dist="25400" dir="8100000">
              <a:srgbClr val="000000">
                <a:alpha val="8000"/>
              </a:srgbClr>
            </a:outerShdw>
          </a:effectLst>
        </p:spPr>
      </p:sp>
      <p:sp>
        <p:nvSpPr>
          <p:cNvPr id="8" name="Text 6"/>
          <p:cNvSpPr/>
          <p:nvPr/>
        </p:nvSpPr>
        <p:spPr>
          <a:xfrm>
            <a:off x="457200" y="1152144"/>
            <a:ext cx="3657600"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TEACHER THINK-ALOUD</a:t>
            </a:r>
            <a:endParaRPr lang="en-US" sz="900" dirty="0"/>
          </a:p>
        </p:txBody>
      </p:sp>
      <p:sp>
        <p:nvSpPr>
          <p:cNvPr id="9" name="Text 7"/>
          <p:cNvSpPr/>
          <p:nvPr/>
        </p:nvSpPr>
        <p:spPr>
          <a:xfrm>
            <a:off x="457200" y="1444752"/>
            <a:ext cx="8229600" cy="310896"/>
          </a:xfrm>
          <a:prstGeom prst="rect">
            <a:avLst/>
          </a:prstGeom>
          <a:noFill/>
          <a:ln/>
        </p:spPr>
        <p:txBody>
          <a:bodyPr wrap="square" lIns="0" tIns="0" rIns="0" bIns="0" rtlCol="0" anchor="ctr"/>
          <a:lstStyle/>
          <a:p>
            <a:pPr indent="0" marL="0">
              <a:buNone/>
            </a:pPr>
            <a:r>
              <a:rPr lang="en-US" sz="1400" b="1" dirty="0">
                <a:solidFill>
                  <a:srgbClr val="D4943A"/>
                </a:solidFill>
                <a:latin typeface="Cambria" pitchFamily="34" charset="0"/>
                <a:ea typeface="Cambria" pitchFamily="34" charset="-122"/>
                <a:cs typeface="Cambria" pitchFamily="34" charset="-120"/>
              </a:rPr>
              <a:t>Feature: The Florida Keys</a:t>
            </a:r>
            <a:endParaRPr lang="en-US" sz="1400" dirty="0"/>
          </a:p>
        </p:txBody>
      </p:sp>
      <p:sp>
        <p:nvSpPr>
          <p:cNvPr id="10" name="Shape 8"/>
          <p:cNvSpPr/>
          <p:nvPr/>
        </p:nvSpPr>
        <p:spPr>
          <a:xfrm>
            <a:off x="457200" y="1828800"/>
            <a:ext cx="1005840" cy="347472"/>
          </a:xfrm>
          <a:prstGeom prst="roundRect">
            <a:avLst>
              <a:gd name="adj" fmla="val 15789"/>
            </a:avLst>
          </a:prstGeom>
          <a:solidFill>
            <a:srgbClr val="1A8A7D"/>
          </a:solidFill>
          <a:ln/>
        </p:spPr>
      </p:sp>
      <p:sp>
        <p:nvSpPr>
          <p:cNvPr id="11" name="Text 9"/>
          <p:cNvSpPr/>
          <p:nvPr/>
        </p:nvSpPr>
        <p:spPr>
          <a:xfrm>
            <a:off x="457200" y="1828800"/>
            <a:ext cx="100584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CLAIM</a:t>
            </a:r>
            <a:endParaRPr lang="en-US" sz="800" dirty="0"/>
          </a:p>
        </p:txBody>
      </p:sp>
      <p:sp>
        <p:nvSpPr>
          <p:cNvPr id="12" name="Text 10"/>
          <p:cNvSpPr/>
          <p:nvPr/>
        </p:nvSpPr>
        <p:spPr>
          <a:xfrm>
            <a:off x="1554480" y="1847088"/>
            <a:ext cx="7132320" cy="329184"/>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The Florida Keys shape life by creating an island chain only reachable by bridge or boat — unlike anywhere else in Florida.</a:t>
            </a:r>
            <a:endParaRPr lang="en-US" sz="1050" dirty="0"/>
          </a:p>
        </p:txBody>
      </p:sp>
      <p:sp>
        <p:nvSpPr>
          <p:cNvPr id="13" name="Shape 11"/>
          <p:cNvSpPr/>
          <p:nvPr/>
        </p:nvSpPr>
        <p:spPr>
          <a:xfrm>
            <a:off x="457200" y="2286000"/>
            <a:ext cx="1005840" cy="347472"/>
          </a:xfrm>
          <a:prstGeom prst="roundRect">
            <a:avLst>
              <a:gd name="adj" fmla="val 15789"/>
            </a:avLst>
          </a:prstGeom>
          <a:solidFill>
            <a:srgbClr val="1A8A7D"/>
          </a:solidFill>
          <a:ln/>
        </p:spPr>
      </p:sp>
      <p:sp>
        <p:nvSpPr>
          <p:cNvPr id="14" name="Text 12"/>
          <p:cNvSpPr/>
          <p:nvPr/>
        </p:nvSpPr>
        <p:spPr>
          <a:xfrm>
            <a:off x="457200" y="2286000"/>
            <a:ext cx="100584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EVIDENCE</a:t>
            </a:r>
            <a:endParaRPr lang="en-US" sz="800" dirty="0"/>
          </a:p>
        </p:txBody>
      </p:sp>
      <p:sp>
        <p:nvSpPr>
          <p:cNvPr id="15" name="Text 13"/>
          <p:cNvSpPr/>
          <p:nvPr/>
        </p:nvSpPr>
        <p:spPr>
          <a:xfrm>
            <a:off x="1554480" y="2304288"/>
            <a:ext cx="7132320" cy="329184"/>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On the physical map, the Keys stretch southwest from the tip of the peninsula through the Straits of Florida, separated from the mainland.</a:t>
            </a:r>
            <a:endParaRPr lang="en-US" sz="1050" dirty="0"/>
          </a:p>
        </p:txBody>
      </p:sp>
      <p:sp>
        <p:nvSpPr>
          <p:cNvPr id="16" name="Shape 14"/>
          <p:cNvSpPr/>
          <p:nvPr/>
        </p:nvSpPr>
        <p:spPr>
          <a:xfrm>
            <a:off x="457200" y="2743200"/>
            <a:ext cx="1005840" cy="347472"/>
          </a:xfrm>
          <a:prstGeom prst="roundRect">
            <a:avLst>
              <a:gd name="adj" fmla="val 15789"/>
            </a:avLst>
          </a:prstGeom>
          <a:solidFill>
            <a:srgbClr val="1A8A7D"/>
          </a:solidFill>
          <a:ln/>
        </p:spPr>
      </p:sp>
      <p:sp>
        <p:nvSpPr>
          <p:cNvPr id="17" name="Text 15"/>
          <p:cNvSpPr/>
          <p:nvPr/>
        </p:nvSpPr>
        <p:spPr>
          <a:xfrm>
            <a:off x="457200" y="2743200"/>
            <a:ext cx="100584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EXPLAIN</a:t>
            </a:r>
            <a:endParaRPr lang="en-US" sz="800" dirty="0"/>
          </a:p>
        </p:txBody>
      </p:sp>
      <p:sp>
        <p:nvSpPr>
          <p:cNvPr id="18" name="Text 16"/>
          <p:cNvSpPr/>
          <p:nvPr/>
        </p:nvSpPr>
        <p:spPr>
          <a:xfrm>
            <a:off x="1554480" y="2761488"/>
            <a:ext cx="7132320" cy="329184"/>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Because the Keys are islands, their economy is built around fishing, diving, and tourism — industries impossible inland or on a typical coast.</a:t>
            </a:r>
            <a:endParaRPr lang="en-US" sz="1050" dirty="0"/>
          </a:p>
        </p:txBody>
      </p:sp>
      <p:sp>
        <p:nvSpPr>
          <p:cNvPr id="19" name="Shape 17"/>
          <p:cNvSpPr/>
          <p:nvPr/>
        </p:nvSpPr>
        <p:spPr>
          <a:xfrm>
            <a:off x="457200" y="3200400"/>
            <a:ext cx="1005840" cy="347472"/>
          </a:xfrm>
          <a:prstGeom prst="roundRect">
            <a:avLst>
              <a:gd name="adj" fmla="val 15789"/>
            </a:avLst>
          </a:prstGeom>
          <a:solidFill>
            <a:srgbClr val="1A8A7D"/>
          </a:solidFill>
          <a:ln/>
        </p:spPr>
      </p:sp>
      <p:sp>
        <p:nvSpPr>
          <p:cNvPr id="20" name="Text 18"/>
          <p:cNvSpPr/>
          <p:nvPr/>
        </p:nvSpPr>
        <p:spPr>
          <a:xfrm>
            <a:off x="457200" y="3200400"/>
            <a:ext cx="100584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CONNECT</a:t>
            </a:r>
            <a:endParaRPr lang="en-US" sz="800" dirty="0"/>
          </a:p>
        </p:txBody>
      </p:sp>
      <p:sp>
        <p:nvSpPr>
          <p:cNvPr id="21" name="Text 19"/>
          <p:cNvSpPr/>
          <p:nvPr/>
        </p:nvSpPr>
        <p:spPr>
          <a:xfrm>
            <a:off x="1554480" y="3218688"/>
            <a:ext cx="7132320" cy="329184"/>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This confirms the pattern: geography shapes settlement. The Keys' physical isolation created a way of life that could only exist there.</a:t>
            </a:r>
            <a:endParaRPr lang="en-US" sz="1050" dirty="0"/>
          </a:p>
        </p:txBody>
      </p:sp>
      <p:sp>
        <p:nvSpPr>
          <p:cNvPr id="22" name="Shape 20"/>
          <p:cNvSpPr/>
          <p:nvPr/>
        </p:nvSpPr>
        <p:spPr>
          <a:xfrm>
            <a:off x="274320" y="3913632"/>
            <a:ext cx="8595360" cy="749808"/>
          </a:xfrm>
          <a:prstGeom prst="roundRect">
            <a:avLst>
              <a:gd name="adj" fmla="val 12195"/>
            </a:avLst>
          </a:prstGeom>
          <a:solidFill>
            <a:srgbClr val="1A2D5A"/>
          </a:solidFill>
          <a:ln/>
        </p:spPr>
      </p:sp>
      <p:sp>
        <p:nvSpPr>
          <p:cNvPr id="23" name="Text 21"/>
          <p:cNvSpPr/>
          <p:nvPr/>
        </p:nvSpPr>
        <p:spPr>
          <a:xfrm>
            <a:off x="457200" y="3986784"/>
            <a:ext cx="8229600" cy="603504"/>
          </a:xfrm>
          <a:prstGeom prst="rect">
            <a:avLst/>
          </a:prstGeom>
          <a:noFill/>
          <a:ln/>
        </p:spPr>
        <p:txBody>
          <a:bodyPr wrap="square" lIns="0" tIns="0" rIns="0" bIns="0" rtlCol="0" anchor="ctr"/>
          <a:lstStyle/>
          <a:p>
            <a:pPr indent="0" marL="0">
              <a:buNone/>
            </a:pPr>
            <a:r>
              <a:rPr lang="en-US" sz="1200" i="1" dirty="0">
                <a:solidFill>
                  <a:srgbClr val="FFF3DC"/>
                </a:solidFill>
                <a:latin typeface="Cambria" pitchFamily="34" charset="0"/>
                <a:ea typeface="Cambria" pitchFamily="34" charset="-122"/>
                <a:cs typeface="Cambria" pitchFamily="34" charset="-120"/>
              </a:rPr>
              <a:t>Your turn uses the same 4 moves: Claim  -&gt;  Evidence  -&gt;  Explain  -&gt;  Connect. You choose the feature.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2011680" cy="292608"/>
          </a:xfrm>
          <a:prstGeom prst="roundRect">
            <a:avLst>
              <a:gd name="adj" fmla="val 25000"/>
            </a:avLst>
          </a:prstGeom>
          <a:solidFill>
            <a:srgbClr val="0E1C42"/>
          </a:solidFill>
          <a:ln/>
        </p:spPr>
      </p:sp>
      <p:sp>
        <p:nvSpPr>
          <p:cNvPr id="4" name="Text 2"/>
          <p:cNvSpPr/>
          <p:nvPr/>
        </p:nvSpPr>
        <p:spPr>
          <a:xfrm>
            <a:off x="274320" y="164592"/>
            <a:ext cx="2011680" cy="292608"/>
          </a:xfrm>
          <a:prstGeom prst="rect">
            <a:avLst/>
          </a:prstGeom>
          <a:noFill/>
          <a:ln/>
        </p:spPr>
        <p:txBody>
          <a:bodyPr wrap="square" lIns="0" tIns="0" rIns="0" bIns="0" rtlCol="0" anchor="ctr"/>
          <a:lstStyle/>
          <a:p>
            <a:pPr algn="ctr" indent="0" marL="0">
              <a:buNone/>
            </a:pPr>
            <a:r>
              <a:rPr lang="en-US" sz="900" b="1" spc="120" kern="0" dirty="0">
                <a:solidFill>
                  <a:srgbClr val="55C8E8"/>
                </a:solidFill>
                <a:latin typeface="Calibri" pitchFamily="34" charset="0"/>
                <a:ea typeface="Calibri" pitchFamily="34" charset="-122"/>
                <a:cs typeface="Calibri" pitchFamily="34" charset="-120"/>
              </a:rPr>
              <a:t>GUIDED PRACTICE 2</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Investigate and Defend</a:t>
            </a:r>
            <a:endParaRPr lang="en-US" sz="2200" dirty="0"/>
          </a:p>
        </p:txBody>
      </p:sp>
      <p:sp>
        <p:nvSpPr>
          <p:cNvPr id="6" name="Shape 4"/>
          <p:cNvSpPr/>
          <p:nvPr/>
        </p:nvSpPr>
        <p:spPr>
          <a:xfrm>
            <a:off x="274320" y="960120"/>
            <a:ext cx="8595360" cy="0"/>
          </a:xfrm>
          <a:prstGeom prst="line">
            <a:avLst/>
          </a:prstGeom>
          <a:noFill/>
          <a:ln w="19050">
            <a:solidFill>
              <a:srgbClr val="34B76F"/>
            </a:solidFill>
            <a:prstDash val="solid"/>
          </a:ln>
        </p:spPr>
      </p:sp>
      <p:sp>
        <p:nvSpPr>
          <p:cNvPr id="7" name="Shape 5"/>
          <p:cNvSpPr/>
          <p:nvPr/>
        </p:nvSpPr>
        <p:spPr>
          <a:xfrm>
            <a:off x="274320" y="1078992"/>
            <a:ext cx="4983480" cy="2331720"/>
          </a:xfrm>
          <a:prstGeom prst="roundRect">
            <a:avLst>
              <a:gd name="adj" fmla="val 4706"/>
            </a:avLst>
          </a:prstGeom>
          <a:solidFill>
            <a:srgbClr val="FFFFFF"/>
          </a:solidFill>
          <a:ln/>
          <a:effectLst>
            <a:outerShdw sx="100000" sy="100000" kx="0" ky="0" algn="bl" rotWithShape="0" blurRad="63500" dist="25400" dir="8100000">
              <a:srgbClr val="000000">
                <a:alpha val="10000"/>
              </a:srgbClr>
            </a:outerShdw>
          </a:effectLst>
        </p:spPr>
      </p:sp>
      <p:sp>
        <p:nvSpPr>
          <p:cNvPr id="8" name="Text 6"/>
          <p:cNvSpPr/>
          <p:nvPr/>
        </p:nvSpPr>
        <p:spPr>
          <a:xfrm>
            <a:off x="457200" y="1152144"/>
            <a:ext cx="4617720" cy="2560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YOUR INVESTIGATION</a:t>
            </a:r>
            <a:endParaRPr lang="en-US" sz="900" dirty="0"/>
          </a:p>
        </p:txBody>
      </p:sp>
      <p:sp>
        <p:nvSpPr>
          <p:cNvPr id="9" name="Text 7"/>
          <p:cNvSpPr/>
          <p:nvPr/>
        </p:nvSpPr>
        <p:spPr>
          <a:xfrm>
            <a:off x="457200" y="1463040"/>
            <a:ext cx="4617720" cy="713232"/>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Choose ONE feature from the map:</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Everglades  |  Lake Okeechobee  |  Panhandle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Gulf Coast  |  Atlantic Coast  |  Florida Keys</a:t>
            </a:r>
            <a:endParaRPr lang="en-US" sz="1200" dirty="0"/>
          </a:p>
        </p:txBody>
      </p:sp>
      <p:sp>
        <p:nvSpPr>
          <p:cNvPr id="10" name="Text 8"/>
          <p:cNvSpPr/>
          <p:nvPr/>
        </p:nvSpPr>
        <p:spPr>
          <a:xfrm>
            <a:off x="457200" y="2231136"/>
            <a:ext cx="4617720" cy="1115568"/>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Write 2-3 sentences:</a:t>
            </a:r>
            <a:endParaRPr lang="en-US" sz="1100" dirty="0"/>
          </a:p>
          <a:p>
            <a:pPr indent="0" marL="0">
              <a:buNone/>
            </a:pPr>
            <a:r>
              <a:rPr lang="en-US" sz="1100" dirty="0">
                <a:solidFill>
                  <a:srgbClr val="7A88A8"/>
                </a:solidFill>
                <a:latin typeface="Calibri" pitchFamily="34" charset="0"/>
                <a:ea typeface="Calibri" pitchFamily="34" charset="-122"/>
                <a:cs typeface="Calibri" pitchFamily="34" charset="-120"/>
              </a:rPr>
              <a:t>1. What is it? Where is it on the map?</a:t>
            </a:r>
            <a:endParaRPr lang="en-US" sz="1100" dirty="0"/>
          </a:p>
          <a:p>
            <a:pPr indent="0" marL="0">
              <a:buNone/>
            </a:pPr>
            <a:r>
              <a:rPr lang="en-US" sz="1100" dirty="0">
                <a:solidFill>
                  <a:srgbClr val="7A88A8"/>
                </a:solidFill>
                <a:latin typeface="Calibri" pitchFamily="34" charset="0"/>
                <a:ea typeface="Calibri" pitchFamily="34" charset="-122"/>
                <a:cs typeface="Calibri" pitchFamily="34" charset="-120"/>
              </a:rPr>
              <a:t>2. One way it shapes life in Florida.</a:t>
            </a:r>
            <a:endParaRPr lang="en-US" sz="1100" dirty="0"/>
          </a:p>
          <a:p>
            <a:pPr indent="0" marL="0">
              <a:buNone/>
            </a:pPr>
            <a:r>
              <a:rPr lang="en-US" sz="1100" dirty="0">
                <a:solidFill>
                  <a:srgbClr val="7A88A8"/>
                </a:solidFill>
                <a:latin typeface="Calibri" pitchFamily="34" charset="0"/>
                <a:ea typeface="Calibri" pitchFamily="34" charset="-122"/>
                <a:cs typeface="Calibri" pitchFamily="34" charset="-120"/>
              </a:rPr>
              <a:t>3. Evidence from the map that supports your claim.</a:t>
            </a:r>
            <a:endParaRPr lang="en-US" sz="1100" dirty="0"/>
          </a:p>
        </p:txBody>
      </p:sp>
      <p:sp>
        <p:nvSpPr>
          <p:cNvPr id="11" name="Shape 9"/>
          <p:cNvSpPr/>
          <p:nvPr/>
        </p:nvSpPr>
        <p:spPr>
          <a:xfrm>
            <a:off x="5440680" y="1078992"/>
            <a:ext cx="3401568" cy="2331720"/>
          </a:xfrm>
          <a:prstGeom prst="roundRect">
            <a:avLst>
              <a:gd name="adj" fmla="val 5882"/>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623560" y="1170432"/>
            <a:ext cx="3035808"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623560" y="1426464"/>
            <a:ext cx="3035808" cy="1892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map evidence supports your claim — not just your memory?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argue if they chose a different feature? How would you respond?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your evidence strong enough to change a skeptic's mind? What would strengthen it?</a:t>
            </a:r>
            <a:endParaRPr lang="en-US" sz="1100" dirty="0"/>
          </a:p>
        </p:txBody>
      </p:sp>
      <p:sp>
        <p:nvSpPr>
          <p:cNvPr id="14" name="Shape 12"/>
          <p:cNvSpPr/>
          <p:nvPr/>
        </p:nvSpPr>
        <p:spPr>
          <a:xfrm>
            <a:off x="274320" y="3547872"/>
            <a:ext cx="8595360" cy="868680"/>
          </a:xfrm>
          <a:prstGeom prst="roundRect">
            <a:avLst>
              <a:gd name="adj" fmla="val 12632"/>
            </a:avLst>
          </a:prstGeom>
          <a:solidFill>
            <a:srgbClr val="FFF3DC"/>
          </a:solidFill>
          <a:ln w="19050">
            <a:solidFill>
              <a:srgbClr val="F5E6C8"/>
            </a:solidFill>
            <a:prstDash val="solid"/>
          </a:ln>
        </p:spPr>
      </p:sp>
      <p:sp>
        <p:nvSpPr>
          <p:cNvPr id="15" name="Text 13"/>
          <p:cNvSpPr/>
          <p:nvPr/>
        </p:nvSpPr>
        <p:spPr>
          <a:xfrm>
            <a:off x="411480" y="3602736"/>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411480" y="3803904"/>
            <a:ext cx="832104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chose [feature] because the map shows... which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who disagrees might say... but my evidence shows..."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2011680" cy="292608"/>
          </a:xfrm>
          <a:prstGeom prst="roundRect">
            <a:avLst>
              <a:gd name="adj" fmla="val 25000"/>
            </a:avLst>
          </a:prstGeom>
          <a:solidFill>
            <a:srgbClr val="0E1C42"/>
          </a:solidFill>
          <a:ln/>
        </p:spPr>
      </p:sp>
      <p:sp>
        <p:nvSpPr>
          <p:cNvPr id="4" name="Text 2"/>
          <p:cNvSpPr/>
          <p:nvPr/>
        </p:nvSpPr>
        <p:spPr>
          <a:xfrm>
            <a:off x="274320" y="164592"/>
            <a:ext cx="2011680" cy="292608"/>
          </a:xfrm>
          <a:prstGeom prst="rect">
            <a:avLst/>
          </a:prstGeom>
          <a:noFill/>
          <a:ln/>
        </p:spPr>
        <p:txBody>
          <a:bodyPr wrap="square" lIns="0" tIns="0" rIns="0" bIns="0" rtlCol="0" anchor="ctr"/>
          <a:lstStyle/>
          <a:p>
            <a:pPr algn="ctr" indent="0" marL="0">
              <a:buNone/>
            </a:pPr>
            <a:r>
              <a:rPr lang="en-US" sz="900" b="1" spc="120" kern="0" dirty="0">
                <a:solidFill>
                  <a:srgbClr val="55C8E8"/>
                </a:solidFill>
                <a:latin typeface="Calibri" pitchFamily="34" charset="0"/>
                <a:ea typeface="Calibri" pitchFamily="34" charset="-122"/>
                <a:cs typeface="Calibri" pitchFamily="34" charset="-120"/>
              </a:rPr>
              <a:t>GUIDED PRACTICE 3</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Critique: Strong vs. Weak Evidence</a:t>
            </a:r>
            <a:endParaRPr lang="en-US" sz="2200" dirty="0"/>
          </a:p>
        </p:txBody>
      </p:sp>
      <p:sp>
        <p:nvSpPr>
          <p:cNvPr id="6" name="Shape 4"/>
          <p:cNvSpPr/>
          <p:nvPr/>
        </p:nvSpPr>
        <p:spPr>
          <a:xfrm>
            <a:off x="274320" y="960120"/>
            <a:ext cx="8595360" cy="0"/>
          </a:xfrm>
          <a:prstGeom prst="line">
            <a:avLst/>
          </a:prstGeom>
          <a:noFill/>
          <a:ln w="19050">
            <a:solidFill>
              <a:srgbClr val="E8636B"/>
            </a:solidFill>
            <a:prstDash val="solid"/>
          </a:ln>
        </p:spPr>
      </p:sp>
      <p:sp>
        <p:nvSpPr>
          <p:cNvPr id="7" name="Shape 5"/>
          <p:cNvSpPr/>
          <p:nvPr/>
        </p:nvSpPr>
        <p:spPr>
          <a:xfrm>
            <a:off x="274320" y="1078992"/>
            <a:ext cx="4160520" cy="2606040"/>
          </a:xfrm>
          <a:prstGeom prst="roundRect">
            <a:avLst>
              <a:gd name="adj" fmla="val 4211"/>
            </a:avLst>
          </a:prstGeom>
          <a:solidFill>
            <a:srgbClr val="FFFFFF"/>
          </a:solidFill>
          <a:ln w="19050">
            <a:solidFill>
              <a:srgbClr val="E8636B"/>
            </a:solidFill>
            <a:prstDash val="solid"/>
          </a:ln>
        </p:spPr>
      </p:sp>
      <p:sp>
        <p:nvSpPr>
          <p:cNvPr id="8" name="Shape 6"/>
          <p:cNvSpPr/>
          <p:nvPr/>
        </p:nvSpPr>
        <p:spPr>
          <a:xfrm>
            <a:off x="274320" y="1078992"/>
            <a:ext cx="4160520" cy="329184"/>
          </a:xfrm>
          <a:prstGeom prst="roundRect">
            <a:avLst>
              <a:gd name="adj" fmla="val 33333"/>
            </a:avLst>
          </a:prstGeom>
          <a:solidFill>
            <a:srgbClr val="E8636B"/>
          </a:solidFill>
          <a:ln/>
        </p:spPr>
      </p:sp>
      <p:sp>
        <p:nvSpPr>
          <p:cNvPr id="9" name="Text 7"/>
          <p:cNvSpPr/>
          <p:nvPr/>
        </p:nvSpPr>
        <p:spPr>
          <a:xfrm>
            <a:off x="274320" y="1078992"/>
            <a:ext cx="416052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WEAK RESPONSE</a:t>
            </a:r>
            <a:endParaRPr lang="en-US" sz="1000" dirty="0"/>
          </a:p>
        </p:txBody>
      </p:sp>
      <p:sp>
        <p:nvSpPr>
          <p:cNvPr id="10" name="Text 8"/>
          <p:cNvSpPr/>
          <p:nvPr/>
        </p:nvSpPr>
        <p:spPr>
          <a:xfrm>
            <a:off x="438912" y="1481328"/>
            <a:ext cx="3822192" cy="896112"/>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"The Everglades is in Florida. It is a wetland. That is why it is important."</a:t>
            </a:r>
            <a:endParaRPr lang="en-US" sz="1300" dirty="0"/>
          </a:p>
        </p:txBody>
      </p:sp>
      <p:sp>
        <p:nvSpPr>
          <p:cNvPr id="11" name="Text 9"/>
          <p:cNvSpPr/>
          <p:nvPr/>
        </p:nvSpPr>
        <p:spPr>
          <a:xfrm>
            <a:off x="438912" y="2432304"/>
            <a:ext cx="3822192" cy="1188720"/>
          </a:xfrm>
          <a:prstGeom prst="rect">
            <a:avLst/>
          </a:prstGeom>
          <a:noFill/>
          <a:ln/>
        </p:spPr>
        <p:txBody>
          <a:bodyPr wrap="square" lIns="0" tIns="0" rIns="0" bIns="0" rtlCol="0" anchor="ctr"/>
          <a:lstStyle/>
          <a:p>
            <a:pPr indent="0" marL="0">
              <a:buNone/>
            </a:pPr>
            <a:r>
              <a:rPr lang="en-US" sz="1100" dirty="0">
                <a:solidFill>
                  <a:srgbClr val="E8636B"/>
                </a:solidFill>
                <a:latin typeface="Calibri" pitchFamily="34" charset="0"/>
                <a:ea typeface="Calibri" pitchFamily="34" charset="-122"/>
                <a:cs typeface="Calibri" pitchFamily="34" charset="-120"/>
              </a:rPr>
              <a:t>What is weak here?</a:t>
            </a:r>
            <a:endParaRPr lang="en-US" sz="1100" dirty="0"/>
          </a:p>
          <a:p>
            <a:pPr indent="0" marL="0">
              <a:buNone/>
            </a:pPr>
            <a:r>
              <a:rPr lang="en-US" sz="1100" dirty="0">
                <a:solidFill>
                  <a:srgbClr val="E8636B"/>
                </a:solidFill>
                <a:latin typeface="Calibri" pitchFamily="34" charset="0"/>
                <a:ea typeface="Calibri" pitchFamily="34" charset="-122"/>
                <a:cs typeface="Calibri" pitchFamily="34" charset="-120"/>
              </a:rPr>
              <a:t>- No map evidence cited</a:t>
            </a:r>
            <a:endParaRPr lang="en-US" sz="1100" dirty="0"/>
          </a:p>
          <a:p>
            <a:pPr indent="0" marL="0">
              <a:buNone/>
            </a:pPr>
            <a:r>
              <a:rPr lang="en-US" sz="1100" dirty="0">
                <a:solidFill>
                  <a:srgbClr val="E8636B"/>
                </a:solidFill>
                <a:latin typeface="Calibri" pitchFamily="34" charset="0"/>
                <a:ea typeface="Calibri" pitchFamily="34" charset="-122"/>
                <a:cs typeface="Calibri" pitchFamily="34" charset="-120"/>
              </a:rPr>
              <a:t>- No explanation of HOW it shapes life</a:t>
            </a:r>
            <a:endParaRPr lang="en-US" sz="1100" dirty="0"/>
          </a:p>
          <a:p>
            <a:pPr indent="0" marL="0">
              <a:buNone/>
            </a:pPr>
            <a:r>
              <a:rPr lang="en-US" sz="1100" dirty="0">
                <a:solidFill>
                  <a:srgbClr val="E8636B"/>
                </a:solidFill>
                <a:latin typeface="Calibri" pitchFamily="34" charset="0"/>
                <a:ea typeface="Calibri" pitchFamily="34" charset="-122"/>
                <a:cs typeface="Calibri" pitchFamily="34" charset="-120"/>
              </a:rPr>
              <a:t>- Claim with no reasoning</a:t>
            </a:r>
            <a:endParaRPr lang="en-US" sz="1100" dirty="0"/>
          </a:p>
        </p:txBody>
      </p:sp>
      <p:sp>
        <p:nvSpPr>
          <p:cNvPr id="12" name="Shape 10"/>
          <p:cNvSpPr/>
          <p:nvPr/>
        </p:nvSpPr>
        <p:spPr>
          <a:xfrm>
            <a:off x="4663440" y="1078992"/>
            <a:ext cx="4160520" cy="2606040"/>
          </a:xfrm>
          <a:prstGeom prst="roundRect">
            <a:avLst>
              <a:gd name="adj" fmla="val 4211"/>
            </a:avLst>
          </a:prstGeom>
          <a:solidFill>
            <a:srgbClr val="FFFFFF"/>
          </a:solidFill>
          <a:ln w="19050">
            <a:solidFill>
              <a:srgbClr val="34B76F"/>
            </a:solidFill>
            <a:prstDash val="solid"/>
          </a:ln>
        </p:spPr>
      </p:sp>
      <p:sp>
        <p:nvSpPr>
          <p:cNvPr id="13" name="Shape 11"/>
          <p:cNvSpPr/>
          <p:nvPr/>
        </p:nvSpPr>
        <p:spPr>
          <a:xfrm>
            <a:off x="4663440" y="1078992"/>
            <a:ext cx="4160520" cy="329184"/>
          </a:xfrm>
          <a:prstGeom prst="roundRect">
            <a:avLst>
              <a:gd name="adj" fmla="val 33333"/>
            </a:avLst>
          </a:prstGeom>
          <a:solidFill>
            <a:srgbClr val="34B76F"/>
          </a:solidFill>
          <a:ln/>
        </p:spPr>
      </p:sp>
      <p:sp>
        <p:nvSpPr>
          <p:cNvPr id="14" name="Text 12"/>
          <p:cNvSpPr/>
          <p:nvPr/>
        </p:nvSpPr>
        <p:spPr>
          <a:xfrm>
            <a:off x="4663440" y="1078992"/>
            <a:ext cx="416052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STRONG RESPONSE</a:t>
            </a:r>
            <a:endParaRPr lang="en-US" sz="1000" dirty="0"/>
          </a:p>
        </p:txBody>
      </p:sp>
      <p:sp>
        <p:nvSpPr>
          <p:cNvPr id="15" name="Text 13"/>
          <p:cNvSpPr/>
          <p:nvPr/>
        </p:nvSpPr>
        <p:spPr>
          <a:xfrm>
            <a:off x="4828032" y="1481328"/>
            <a:ext cx="3822192" cy="1188720"/>
          </a:xfrm>
          <a:prstGeom prst="rect">
            <a:avLst/>
          </a:prstGeom>
          <a:noFill/>
          <a:ln/>
        </p:spPr>
        <p:txBody>
          <a:bodyPr wrap="square" lIns="0" tIns="0" rIns="0" bIns="0" rtlCol="0" anchor="ctr"/>
          <a:lstStyle/>
          <a:p>
            <a:pPr indent="0" marL="0">
              <a:buNone/>
            </a:pPr>
            <a:r>
              <a:rPr lang="en-US" sz="1150" i="1" dirty="0">
                <a:solidFill>
                  <a:srgbClr val="5A4A3A"/>
                </a:solidFill>
                <a:latin typeface="Cambria" pitchFamily="34" charset="0"/>
                <a:ea typeface="Cambria" pitchFamily="34" charset="-122"/>
                <a:cs typeface="Cambria" pitchFamily="34" charset="-120"/>
              </a:rPr>
              <a:t>"The Everglades, visible in the southern part of the map, is a vast wetland that filters freshwater for the entire south Florida region. Without it, cities like Miami would have no clean water supply."</a:t>
            </a:r>
            <a:endParaRPr lang="en-US" sz="1150" dirty="0"/>
          </a:p>
        </p:txBody>
      </p:sp>
      <p:sp>
        <p:nvSpPr>
          <p:cNvPr id="16" name="Text 14"/>
          <p:cNvSpPr/>
          <p:nvPr/>
        </p:nvSpPr>
        <p:spPr>
          <a:xfrm>
            <a:off x="4828032" y="2743200"/>
            <a:ext cx="3822192" cy="877824"/>
          </a:xfrm>
          <a:prstGeom prst="rect">
            <a:avLst/>
          </a:prstGeom>
          <a:noFill/>
          <a:ln/>
        </p:spPr>
        <p:txBody>
          <a:bodyPr wrap="square" lIns="0" tIns="0" rIns="0" bIns="0" rtlCol="0" anchor="ctr"/>
          <a:lstStyle/>
          <a:p>
            <a:pPr indent="0" marL="0">
              <a:buNone/>
            </a:pPr>
            <a:r>
              <a:rPr lang="en-US" sz="1100" dirty="0">
                <a:solidFill>
                  <a:srgbClr val="34B76F"/>
                </a:solidFill>
                <a:latin typeface="Calibri" pitchFamily="34" charset="0"/>
                <a:ea typeface="Calibri" pitchFamily="34" charset="-122"/>
                <a:cs typeface="Calibri" pitchFamily="34" charset="-120"/>
              </a:rPr>
              <a:t>What is strong here?</a:t>
            </a:r>
            <a:endParaRPr lang="en-US" sz="1100" dirty="0"/>
          </a:p>
          <a:p>
            <a:pPr indent="0" marL="0">
              <a:buNone/>
            </a:pPr>
            <a:r>
              <a:rPr lang="en-US" sz="1100" dirty="0">
                <a:solidFill>
                  <a:srgbClr val="34B76F"/>
                </a:solidFill>
                <a:latin typeface="Calibri" pitchFamily="34" charset="0"/>
                <a:ea typeface="Calibri" pitchFamily="34" charset="-122"/>
                <a:cs typeface="Calibri" pitchFamily="34" charset="-120"/>
              </a:rPr>
              <a:t>- Locates it from the map</a:t>
            </a:r>
            <a:endParaRPr lang="en-US" sz="1100" dirty="0"/>
          </a:p>
          <a:p>
            <a:pPr indent="0" marL="0">
              <a:buNone/>
            </a:pPr>
            <a:r>
              <a:rPr lang="en-US" sz="1100" dirty="0">
                <a:solidFill>
                  <a:srgbClr val="34B76F"/>
                </a:solidFill>
                <a:latin typeface="Calibri" pitchFamily="34" charset="0"/>
                <a:ea typeface="Calibri" pitchFamily="34" charset="-122"/>
                <a:cs typeface="Calibri" pitchFamily="34" charset="-120"/>
              </a:rPr>
              <a:t>- Explains the mechanism</a:t>
            </a:r>
            <a:endParaRPr lang="en-US" sz="1100" dirty="0"/>
          </a:p>
          <a:p>
            <a:pPr indent="0" marL="0">
              <a:buNone/>
            </a:pPr>
            <a:r>
              <a:rPr lang="en-US" sz="1100" dirty="0">
                <a:solidFill>
                  <a:srgbClr val="34B76F"/>
                </a:solidFill>
                <a:latin typeface="Calibri" pitchFamily="34" charset="0"/>
                <a:ea typeface="Calibri" pitchFamily="34" charset="-122"/>
                <a:cs typeface="Calibri" pitchFamily="34" charset="-120"/>
              </a:rPr>
              <a:t>- Connects to real consequences</a:t>
            </a:r>
            <a:endParaRPr lang="en-US" sz="1100" dirty="0"/>
          </a:p>
        </p:txBody>
      </p:sp>
      <p:sp>
        <p:nvSpPr>
          <p:cNvPr id="17" name="Shape 15"/>
          <p:cNvSpPr/>
          <p:nvPr/>
        </p:nvSpPr>
        <p:spPr>
          <a:xfrm>
            <a:off x="274320" y="3822192"/>
            <a:ext cx="8595360" cy="914400"/>
          </a:xfrm>
          <a:prstGeom prst="roundRect">
            <a:avLst>
              <a:gd name="adj" fmla="val 10000"/>
            </a:avLst>
          </a:prstGeom>
          <a:solidFill>
            <a:srgbClr val="1A2D5A"/>
          </a:solidFill>
          <a:ln/>
        </p:spPr>
      </p:sp>
      <p:sp>
        <p:nvSpPr>
          <p:cNvPr id="18" name="Text 16"/>
          <p:cNvSpPr/>
          <p:nvPr/>
        </p:nvSpPr>
        <p:spPr>
          <a:xfrm>
            <a:off x="457200" y="3895344"/>
            <a:ext cx="8229600" cy="768096"/>
          </a:xfrm>
          <a:prstGeom prst="rect">
            <a:avLst/>
          </a:prstGeom>
          <a:noFill/>
          <a:ln/>
        </p:spPr>
        <p:txBody>
          <a:bodyPr wrap="square" lIns="0" tIns="0" rIns="0" bIns="0" rtlCol="0" anchor="ctr"/>
          <a:lstStyle/>
          <a:p>
            <a:pPr indent="0" marL="0">
              <a:buNone/>
            </a:pPr>
            <a:r>
              <a:rPr lang="en-US" sz="1200" i="1" dirty="0">
                <a:solidFill>
                  <a:srgbClr val="FFF3DC"/>
                </a:solidFill>
                <a:latin typeface="Cambria" pitchFamily="34" charset="0"/>
                <a:ea typeface="Cambria" pitchFamily="34" charset="-122"/>
                <a:cs typeface="Cambria" pitchFamily="34" charset="-120"/>
              </a:rPr>
              <a:t>Go back to your Slide 16 response. Find one place to add stronger map evidence. Type your revision in chat.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828800" cy="292608"/>
          </a:xfrm>
          <a:prstGeom prst="roundRect">
            <a:avLst>
              <a:gd name="adj" fmla="val 25000"/>
            </a:avLst>
          </a:prstGeom>
          <a:solidFill>
            <a:srgbClr val="E8636B"/>
          </a:solidFill>
          <a:ln/>
        </p:spPr>
      </p:sp>
      <p:sp>
        <p:nvSpPr>
          <p:cNvPr id="4" name="Text 2"/>
          <p:cNvSpPr/>
          <p:nvPr/>
        </p:nvSpPr>
        <p:spPr>
          <a:xfrm>
            <a:off x="274320" y="164592"/>
            <a:ext cx="182880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THE TRICKY ONE</a:t>
            </a:r>
            <a:endParaRPr lang="en-US" sz="900" dirty="0"/>
          </a:p>
        </p:txBody>
      </p:sp>
      <p:sp>
        <p:nvSpPr>
          <p:cNvPr id="5" name="Text 3"/>
          <p:cNvSpPr/>
          <p:nvPr/>
        </p:nvSpPr>
        <p:spPr>
          <a:xfrm>
            <a:off x="274320" y="530352"/>
            <a:ext cx="8595360" cy="64008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Why do you think most Florida cities are on the coasts?</a:t>
            </a:r>
            <a:endParaRPr lang="en-US" sz="2400" dirty="0"/>
          </a:p>
        </p:txBody>
      </p:sp>
      <p:sp>
        <p:nvSpPr>
          <p:cNvPr id="6" name="Shape 4"/>
          <p:cNvSpPr/>
          <p:nvPr/>
        </p:nvSpPr>
        <p:spPr>
          <a:xfrm>
            <a:off x="274320" y="1207008"/>
            <a:ext cx="8595360" cy="0"/>
          </a:xfrm>
          <a:prstGeom prst="line">
            <a:avLst/>
          </a:prstGeom>
          <a:noFill/>
          <a:ln w="19050">
            <a:solidFill>
              <a:srgbClr val="E8636B"/>
            </a:solidFill>
            <a:prstDash val="solid"/>
          </a:ln>
        </p:spPr>
      </p:sp>
      <p:sp>
        <p:nvSpPr>
          <p:cNvPr id="7" name="Shape 5"/>
          <p:cNvSpPr/>
          <p:nvPr/>
        </p:nvSpPr>
        <p:spPr>
          <a:xfrm>
            <a:off x="274320" y="1353312"/>
            <a:ext cx="4160520" cy="2560320"/>
          </a:xfrm>
          <a:prstGeom prst="roundRect">
            <a:avLst>
              <a:gd name="adj" fmla="val 4286"/>
            </a:avLst>
          </a:prstGeom>
          <a:solidFill>
            <a:srgbClr val="E2E8F4"/>
          </a:solidFill>
          <a:ln w="19050">
            <a:solidFill>
              <a:srgbClr val="B0B8CC"/>
            </a:solidFill>
            <a:prstDash val="dash"/>
          </a:ln>
        </p:spPr>
      </p:sp>
      <p:sp>
        <p:nvSpPr>
          <p:cNvPr id="8" name="Text 6"/>
          <p:cNvSpPr/>
          <p:nvPr/>
        </p:nvSpPr>
        <p:spPr>
          <a:xfrm>
            <a:off x="274320" y="1353312"/>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411480" y="1627632"/>
            <a:ext cx="3886200" cy="2194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physical map with major cities marked — Miami (southeast), Tampa (west coast), Jacksonville (northeast), Orlando (central interior), Pensacola (panhandle) — for students to analyze city placement relative to coasts, rivers, and interior terrain</a:t>
            </a:r>
            <a:endParaRPr lang="en-US" sz="1100" dirty="0"/>
          </a:p>
        </p:txBody>
      </p:sp>
      <p:sp>
        <p:nvSpPr>
          <p:cNvPr id="10" name="Shape 8"/>
          <p:cNvSpPr/>
          <p:nvPr/>
        </p:nvSpPr>
        <p:spPr>
          <a:xfrm>
            <a:off x="4617720" y="1353312"/>
            <a:ext cx="4160520" cy="2560320"/>
          </a:xfrm>
          <a:prstGeom prst="roundRect">
            <a:avLst>
              <a:gd name="adj" fmla="val 5357"/>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4800600" y="1444752"/>
            <a:ext cx="3794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4800600" y="1700784"/>
            <a:ext cx="3794760" cy="21214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Use the map as evidence. Where are most cities — coast, interior, near rivers?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a coastal location be better for a city 200 years ago? Think transportation, trade, water.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Orlando is inland. Does that break the pattern or explain it? Use the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argue cities are on the coasts for reasons OTHER than geography? What would that argument look like?</a:t>
            </a:r>
            <a:endParaRPr lang="en-US" sz="1100" dirty="0"/>
          </a:p>
        </p:txBody>
      </p:sp>
      <p:sp>
        <p:nvSpPr>
          <p:cNvPr id="13" name="Shape 11"/>
          <p:cNvSpPr/>
          <p:nvPr/>
        </p:nvSpPr>
        <p:spPr>
          <a:xfrm>
            <a:off x="274320" y="4005072"/>
            <a:ext cx="8595360" cy="822960"/>
          </a:xfrm>
          <a:prstGeom prst="roundRect">
            <a:avLst>
              <a:gd name="adj" fmla="val 13333"/>
            </a:avLst>
          </a:prstGeom>
          <a:solidFill>
            <a:srgbClr val="FFF3DC"/>
          </a:solidFill>
          <a:ln w="19050">
            <a:solidFill>
              <a:srgbClr val="F5E6C8"/>
            </a:solidFill>
            <a:prstDash val="solid"/>
          </a:ln>
        </p:spPr>
      </p:sp>
      <p:sp>
        <p:nvSpPr>
          <p:cNvPr id="14" name="Text 12"/>
          <p:cNvSpPr/>
          <p:nvPr/>
        </p:nvSpPr>
        <p:spPr>
          <a:xfrm>
            <a:off x="411480" y="4059936"/>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11480" y="4261104"/>
            <a:ext cx="8321040" cy="5029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cities are on the coasts because the map shows... which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geographic evidence for this is... because..."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463040" cy="292608"/>
          </a:xfrm>
          <a:prstGeom prst="roundRect">
            <a:avLst>
              <a:gd name="adj" fmla="val 25000"/>
            </a:avLst>
          </a:prstGeom>
          <a:solidFill>
            <a:srgbClr val="34B76F"/>
          </a:solidFill>
          <a:ln/>
        </p:spPr>
      </p:sp>
      <p:sp>
        <p:nvSpPr>
          <p:cNvPr id="4" name="Text 2"/>
          <p:cNvSpPr/>
          <p:nvPr/>
        </p:nvSpPr>
        <p:spPr>
          <a:xfrm>
            <a:off x="274320" y="164592"/>
            <a:ext cx="146304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SELF-CHECK</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Did You Unlock Today?</a:t>
            </a:r>
            <a:endParaRPr lang="en-US" sz="2400" dirty="0"/>
          </a:p>
        </p:txBody>
      </p:sp>
      <p:sp>
        <p:nvSpPr>
          <p:cNvPr id="6" name="Shape 4"/>
          <p:cNvSpPr/>
          <p:nvPr/>
        </p:nvSpPr>
        <p:spPr>
          <a:xfrm>
            <a:off x="274320" y="960120"/>
            <a:ext cx="8595360" cy="0"/>
          </a:xfrm>
          <a:prstGeom prst="line">
            <a:avLst/>
          </a:prstGeom>
          <a:noFill/>
          <a:ln w="19050">
            <a:solidFill>
              <a:srgbClr val="34B76F"/>
            </a:solidFill>
            <a:prstDash val="solid"/>
          </a:ln>
        </p:spPr>
      </p:sp>
      <p:sp>
        <p:nvSpPr>
          <p:cNvPr id="7" name="Shape 5"/>
          <p:cNvSpPr/>
          <p:nvPr/>
        </p:nvSpPr>
        <p:spPr>
          <a:xfrm>
            <a:off x="274320" y="1078992"/>
            <a:ext cx="8595360" cy="960120"/>
          </a:xfrm>
          <a:prstGeom prst="roundRect">
            <a:avLst>
              <a:gd name="adj" fmla="val 9524"/>
            </a:avLst>
          </a:prstGeom>
          <a:solidFill>
            <a:srgbClr val="FFFFFF"/>
          </a:solidFill>
          <a:ln/>
          <a:effectLst>
            <a:outerShdw sx="100000" sy="100000" kx="0" ky="0" algn="bl" rotWithShape="0" blurRad="50800" dist="25400" dir="8100000">
              <a:srgbClr val="000000">
                <a:alpha val="8000"/>
              </a:srgbClr>
            </a:outerShdw>
          </a:effectLst>
        </p:spPr>
      </p:sp>
      <p:sp>
        <p:nvSpPr>
          <p:cNvPr id="8" name="Text 6"/>
          <p:cNvSpPr/>
          <p:nvPr/>
        </p:nvSpPr>
        <p:spPr>
          <a:xfrm>
            <a:off x="457200" y="1152144"/>
            <a:ext cx="8229600" cy="329184"/>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1.  What is a peninsula? Name the three bodies of water that border Florida.</a:t>
            </a:r>
            <a:endParaRPr lang="en-US" sz="1300" dirty="0"/>
          </a:p>
        </p:txBody>
      </p:sp>
      <p:sp>
        <p:nvSpPr>
          <p:cNvPr id="9" name="Text 7"/>
          <p:cNvSpPr/>
          <p:nvPr/>
        </p:nvSpPr>
        <p:spPr>
          <a:xfrm>
            <a:off x="457200" y="1517904"/>
            <a:ext cx="8229600" cy="457200"/>
          </a:xfrm>
          <a:prstGeom prst="rect">
            <a:avLst/>
          </a:prstGeom>
          <a:noFill/>
          <a:ln/>
        </p:spPr>
        <p:txBody>
          <a:bodyPr wrap="square" lIns="0" tIns="0" rIns="0" bIns="0" rtlCol="0" anchor="ctr"/>
          <a:lstStyle/>
          <a:p>
            <a:pPr indent="0" marL="0">
              <a:buNone/>
            </a:pPr>
            <a:r>
              <a:rPr lang="en-US" sz="1100" dirty="0">
                <a:solidFill>
                  <a:srgbClr val="34B76F"/>
                </a:solidFill>
                <a:latin typeface="Calibri" pitchFamily="34" charset="0"/>
                <a:ea typeface="Calibri" pitchFamily="34" charset="-122"/>
                <a:cs typeface="Calibri" pitchFamily="34" charset="-120"/>
              </a:rPr>
              <a:t>Land with water on three sides. Gulf of Mexico (west), Atlantic Ocean (east), Straits of Florida (south).</a:t>
            </a:r>
            <a:endParaRPr lang="en-US" sz="1100" dirty="0"/>
          </a:p>
        </p:txBody>
      </p:sp>
      <p:sp>
        <p:nvSpPr>
          <p:cNvPr id="10" name="Shape 8"/>
          <p:cNvSpPr/>
          <p:nvPr/>
        </p:nvSpPr>
        <p:spPr>
          <a:xfrm>
            <a:off x="274320" y="2130552"/>
            <a:ext cx="8595360" cy="960120"/>
          </a:xfrm>
          <a:prstGeom prst="roundRect">
            <a:avLst>
              <a:gd name="adj" fmla="val 9524"/>
            </a:avLst>
          </a:prstGeom>
          <a:solidFill>
            <a:srgbClr val="FFFFFF"/>
          </a:solidFill>
          <a:ln/>
          <a:effectLst>
            <a:outerShdw sx="100000" sy="100000" kx="0" ky="0" algn="bl" rotWithShape="0" blurRad="50800" dist="25400" dir="8100000">
              <a:srgbClr val="000000">
                <a:alpha val="8000"/>
              </a:srgbClr>
            </a:outerShdw>
          </a:effectLst>
        </p:spPr>
      </p:sp>
      <p:sp>
        <p:nvSpPr>
          <p:cNvPr id="11" name="Text 9"/>
          <p:cNvSpPr/>
          <p:nvPr/>
        </p:nvSpPr>
        <p:spPr>
          <a:xfrm>
            <a:off x="457200" y="2203704"/>
            <a:ext cx="8229600" cy="329184"/>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2.  What does the Latin root terra mean? Name two geography words that use it.</a:t>
            </a:r>
            <a:endParaRPr lang="en-US" sz="1300" dirty="0"/>
          </a:p>
        </p:txBody>
      </p:sp>
      <p:sp>
        <p:nvSpPr>
          <p:cNvPr id="12" name="Text 10"/>
          <p:cNvSpPr/>
          <p:nvPr/>
        </p:nvSpPr>
        <p:spPr>
          <a:xfrm>
            <a:off x="457200" y="2569464"/>
            <a:ext cx="8229600" cy="457200"/>
          </a:xfrm>
          <a:prstGeom prst="rect">
            <a:avLst/>
          </a:prstGeom>
          <a:noFill/>
          <a:ln/>
        </p:spPr>
        <p:txBody>
          <a:bodyPr wrap="square" lIns="0" tIns="0" rIns="0" bIns="0" rtlCol="0" anchor="ctr"/>
          <a:lstStyle/>
          <a:p>
            <a:pPr indent="0" marL="0">
              <a:buNone/>
            </a:pPr>
            <a:r>
              <a:rPr lang="en-US" sz="1100" dirty="0">
                <a:solidFill>
                  <a:srgbClr val="34B76F"/>
                </a:solidFill>
                <a:latin typeface="Calibri" pitchFamily="34" charset="0"/>
                <a:ea typeface="Calibri" pitchFamily="34" charset="-122"/>
                <a:cs typeface="Calibri" pitchFamily="34" charset="-120"/>
              </a:rPr>
              <a:t>Terra = land/earth. Examples: territory, terrain, terrestrial, Mediterranean.</a:t>
            </a:r>
            <a:endParaRPr lang="en-US" sz="1100" dirty="0"/>
          </a:p>
        </p:txBody>
      </p:sp>
      <p:sp>
        <p:nvSpPr>
          <p:cNvPr id="13" name="Shape 11"/>
          <p:cNvSpPr/>
          <p:nvPr/>
        </p:nvSpPr>
        <p:spPr>
          <a:xfrm>
            <a:off x="274320" y="3182112"/>
            <a:ext cx="8595360" cy="960120"/>
          </a:xfrm>
          <a:prstGeom prst="roundRect">
            <a:avLst>
              <a:gd name="adj" fmla="val 9524"/>
            </a:avLst>
          </a:prstGeom>
          <a:solidFill>
            <a:srgbClr val="FFFFFF"/>
          </a:solidFill>
          <a:ln/>
          <a:effectLst>
            <a:outerShdw sx="100000" sy="100000" kx="0" ky="0" algn="bl" rotWithShape="0" blurRad="50800" dist="25400" dir="8100000">
              <a:srgbClr val="000000">
                <a:alpha val="8000"/>
              </a:srgbClr>
            </a:outerShdw>
          </a:effectLst>
        </p:spPr>
      </p:sp>
      <p:sp>
        <p:nvSpPr>
          <p:cNvPr id="14" name="Text 12"/>
          <p:cNvSpPr/>
          <p:nvPr/>
        </p:nvSpPr>
        <p:spPr>
          <a:xfrm>
            <a:off x="457200" y="3255264"/>
            <a:ext cx="8229600" cy="329184"/>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3.  Name one Florida physical feature and explain one way it shapes life here.</a:t>
            </a:r>
            <a:endParaRPr lang="en-US" sz="1300" dirty="0"/>
          </a:p>
        </p:txBody>
      </p:sp>
      <p:sp>
        <p:nvSpPr>
          <p:cNvPr id="15" name="Text 13"/>
          <p:cNvSpPr/>
          <p:nvPr/>
        </p:nvSpPr>
        <p:spPr>
          <a:xfrm>
            <a:off x="457200" y="3621024"/>
            <a:ext cx="8229600" cy="457200"/>
          </a:xfrm>
          <a:prstGeom prst="rect">
            <a:avLst/>
          </a:prstGeom>
          <a:noFill/>
          <a:ln/>
        </p:spPr>
        <p:txBody>
          <a:bodyPr wrap="square" lIns="0" tIns="0" rIns="0" bIns="0" rtlCol="0" anchor="ctr"/>
          <a:lstStyle/>
          <a:p>
            <a:pPr indent="0" marL="0">
              <a:buNone/>
            </a:pPr>
            <a:r>
              <a:rPr lang="en-US" sz="1100" dirty="0">
                <a:solidFill>
                  <a:srgbClr val="34B76F"/>
                </a:solidFill>
                <a:latin typeface="Calibri" pitchFamily="34" charset="0"/>
                <a:ea typeface="Calibri" pitchFamily="34" charset="-122"/>
                <a:cs typeface="Calibri" pitchFamily="34" charset="-120"/>
              </a:rPr>
              <a:t>Accept any feature with valid explanation: Everglades, Lake Okeechobee, Panhandle, Keys, or coasts.</a:t>
            </a:r>
            <a:endParaRPr lang="en-US" sz="1100" dirty="0"/>
          </a:p>
        </p:txBody>
      </p:sp>
      <p:sp>
        <p:nvSpPr>
          <p:cNvPr id="16" name="Shape 14"/>
          <p:cNvSpPr/>
          <p:nvPr/>
        </p:nvSpPr>
        <p:spPr>
          <a:xfrm>
            <a:off x="274320" y="4206240"/>
            <a:ext cx="8595360" cy="594360"/>
          </a:xfrm>
          <a:prstGeom prst="roundRect">
            <a:avLst>
              <a:gd name="adj" fmla="val 15385"/>
            </a:avLst>
          </a:prstGeom>
          <a:solidFill>
            <a:srgbClr val="FFF3DC"/>
          </a:solidFill>
          <a:ln w="19050">
            <a:solidFill>
              <a:srgbClr val="F5E6C8"/>
            </a:solidFill>
            <a:prstDash val="solid"/>
          </a:ln>
        </p:spPr>
      </p:sp>
      <p:sp>
        <p:nvSpPr>
          <p:cNvPr id="17" name="Text 15"/>
          <p:cNvSpPr/>
          <p:nvPr/>
        </p:nvSpPr>
        <p:spPr>
          <a:xfrm>
            <a:off x="457200" y="4261104"/>
            <a:ext cx="8229600" cy="475488"/>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"In this lesson, I learned that ______ because ______."</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463040" cy="292608"/>
          </a:xfrm>
          <a:prstGeom prst="roundRect">
            <a:avLst>
              <a:gd name="adj" fmla="val 25000"/>
            </a:avLst>
          </a:prstGeom>
          <a:solidFill>
            <a:srgbClr val="D4943A"/>
          </a:solidFill>
          <a:ln/>
        </p:spPr>
      </p:sp>
      <p:sp>
        <p:nvSpPr>
          <p:cNvPr id="4" name="Text 2"/>
          <p:cNvSpPr/>
          <p:nvPr/>
        </p:nvSpPr>
        <p:spPr>
          <a:xfrm>
            <a:off x="274320" y="164592"/>
            <a:ext cx="146304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ASSIGNMENT</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4.02.01: Physical Features of Florida</a:t>
            </a:r>
            <a:endParaRPr lang="en-US" sz="2000" dirty="0"/>
          </a:p>
        </p:txBody>
      </p:sp>
      <p:sp>
        <p:nvSpPr>
          <p:cNvPr id="6" name="Shape 4"/>
          <p:cNvSpPr/>
          <p:nvPr/>
        </p:nvSpPr>
        <p:spPr>
          <a:xfrm>
            <a:off x="274320" y="960120"/>
            <a:ext cx="8595360" cy="0"/>
          </a:xfrm>
          <a:prstGeom prst="line">
            <a:avLst/>
          </a:prstGeom>
          <a:noFill/>
          <a:ln w="25400">
            <a:solidFill>
              <a:srgbClr val="D4943A"/>
            </a:solidFill>
            <a:prstDash val="solid"/>
          </a:ln>
        </p:spPr>
      </p:sp>
      <p:sp>
        <p:nvSpPr>
          <p:cNvPr id="7" name="Shape 5"/>
          <p:cNvSpPr/>
          <p:nvPr/>
        </p:nvSpPr>
        <p:spPr>
          <a:xfrm>
            <a:off x="274320" y="1078992"/>
            <a:ext cx="8595360" cy="786384"/>
          </a:xfrm>
          <a:prstGeom prst="roundRect">
            <a:avLst>
              <a:gd name="adj" fmla="val 11628"/>
            </a:avLst>
          </a:prstGeom>
          <a:solidFill>
            <a:srgbClr val="FFFFFF"/>
          </a:solidFill>
          <a:ln/>
          <a:effectLst>
            <a:outerShdw sx="100000" sy="100000" kx="0" ky="0" algn="bl" rotWithShape="0" blurRad="50800" dist="25400" dir="8100000">
              <a:srgbClr val="000000">
                <a:alpha val="8000"/>
              </a:srgbClr>
            </a:outerShdw>
          </a:effectLst>
        </p:spPr>
      </p:sp>
      <p:sp>
        <p:nvSpPr>
          <p:cNvPr id="8" name="Shape 6"/>
          <p:cNvSpPr/>
          <p:nvPr/>
        </p:nvSpPr>
        <p:spPr>
          <a:xfrm>
            <a:off x="347472" y="1234440"/>
            <a:ext cx="457200" cy="457200"/>
          </a:xfrm>
          <a:prstGeom prst="ellipse">
            <a:avLst/>
          </a:prstGeom>
          <a:solidFill>
            <a:srgbClr val="D4943A"/>
          </a:solidFill>
          <a:ln/>
        </p:spPr>
      </p:sp>
      <p:sp>
        <p:nvSpPr>
          <p:cNvPr id="9" name="Text 7"/>
          <p:cNvSpPr/>
          <p:nvPr/>
        </p:nvSpPr>
        <p:spPr>
          <a:xfrm>
            <a:off x="347472" y="1234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932688" y="1170432"/>
            <a:ext cx="7818120" cy="621792"/>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Name two physical features you saw on the Florida map today. What does each one tell you about Florida? Use details from the physical map to support your answer.</a:t>
            </a:r>
            <a:endParaRPr lang="en-US" sz="1150" dirty="0"/>
          </a:p>
        </p:txBody>
      </p:sp>
      <p:sp>
        <p:nvSpPr>
          <p:cNvPr id="11" name="Shape 9"/>
          <p:cNvSpPr/>
          <p:nvPr/>
        </p:nvSpPr>
        <p:spPr>
          <a:xfrm>
            <a:off x="274320" y="1956816"/>
            <a:ext cx="8595360" cy="786384"/>
          </a:xfrm>
          <a:prstGeom prst="roundRect">
            <a:avLst>
              <a:gd name="adj" fmla="val 11628"/>
            </a:avLst>
          </a:prstGeom>
          <a:solidFill>
            <a:srgbClr val="FFFFFF"/>
          </a:solidFill>
          <a:ln/>
          <a:effectLst>
            <a:outerShdw sx="100000" sy="100000" kx="0" ky="0" algn="bl" rotWithShape="0" blurRad="50800" dist="25400" dir="8100000">
              <a:srgbClr val="000000">
                <a:alpha val="8000"/>
              </a:srgbClr>
            </a:outerShdw>
          </a:effectLst>
        </p:spPr>
      </p:sp>
      <p:sp>
        <p:nvSpPr>
          <p:cNvPr id="12" name="Shape 10"/>
          <p:cNvSpPr/>
          <p:nvPr/>
        </p:nvSpPr>
        <p:spPr>
          <a:xfrm>
            <a:off x="347472" y="2112264"/>
            <a:ext cx="457200" cy="457200"/>
          </a:xfrm>
          <a:prstGeom prst="ellipse">
            <a:avLst/>
          </a:prstGeom>
          <a:solidFill>
            <a:srgbClr val="D4943A"/>
          </a:solidFill>
          <a:ln/>
        </p:spPr>
      </p:sp>
      <p:sp>
        <p:nvSpPr>
          <p:cNvPr id="13" name="Text 11"/>
          <p:cNvSpPr/>
          <p:nvPr/>
        </p:nvSpPr>
        <p:spPr>
          <a:xfrm>
            <a:off x="347472" y="21122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932688" y="2048256"/>
            <a:ext cx="7818120" cy="621792"/>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How does Florida's peninsula shape change life here? Give one example from the lesson. Explain using evidence from the map or content section.</a:t>
            </a:r>
            <a:endParaRPr lang="en-US" sz="1150" dirty="0"/>
          </a:p>
        </p:txBody>
      </p:sp>
      <p:sp>
        <p:nvSpPr>
          <p:cNvPr id="15" name="Shape 13"/>
          <p:cNvSpPr/>
          <p:nvPr/>
        </p:nvSpPr>
        <p:spPr>
          <a:xfrm>
            <a:off x="274320" y="2834640"/>
            <a:ext cx="8595360" cy="786384"/>
          </a:xfrm>
          <a:prstGeom prst="roundRect">
            <a:avLst>
              <a:gd name="adj" fmla="val 11628"/>
            </a:avLst>
          </a:prstGeom>
          <a:solidFill>
            <a:srgbClr val="FFFFFF"/>
          </a:solidFill>
          <a:ln/>
          <a:effectLst>
            <a:outerShdw sx="100000" sy="100000" kx="0" ky="0" algn="bl" rotWithShape="0" blurRad="50800" dist="25400" dir="8100000">
              <a:srgbClr val="000000">
                <a:alpha val="8000"/>
              </a:srgbClr>
            </a:outerShdw>
          </a:effectLst>
        </p:spPr>
      </p:sp>
      <p:sp>
        <p:nvSpPr>
          <p:cNvPr id="16" name="Shape 14"/>
          <p:cNvSpPr/>
          <p:nvPr/>
        </p:nvSpPr>
        <p:spPr>
          <a:xfrm>
            <a:off x="347472" y="2990088"/>
            <a:ext cx="457200" cy="457200"/>
          </a:xfrm>
          <a:prstGeom prst="ellipse">
            <a:avLst/>
          </a:prstGeom>
          <a:solidFill>
            <a:srgbClr val="D4943A"/>
          </a:solidFill>
          <a:ln/>
        </p:spPr>
      </p:sp>
      <p:sp>
        <p:nvSpPr>
          <p:cNvPr id="17" name="Text 15"/>
          <p:cNvSpPr/>
          <p:nvPr/>
        </p:nvSpPr>
        <p:spPr>
          <a:xfrm>
            <a:off x="347472" y="2990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932688" y="2926080"/>
            <a:ext cx="7818120" cy="621792"/>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Why is it important to understand a place's physical features before studying its history? Think like a Florida historian — what would you miss if you skipped the land?</a:t>
            </a:r>
            <a:endParaRPr lang="en-US" sz="1150" dirty="0"/>
          </a:p>
        </p:txBody>
      </p:sp>
      <p:sp>
        <p:nvSpPr>
          <p:cNvPr id="19" name="Shape 17"/>
          <p:cNvSpPr/>
          <p:nvPr/>
        </p:nvSpPr>
        <p:spPr>
          <a:xfrm>
            <a:off x="274320" y="3730752"/>
            <a:ext cx="5806440" cy="1097280"/>
          </a:xfrm>
          <a:prstGeom prst="roundRect">
            <a:avLst>
              <a:gd name="adj" fmla="val 8333"/>
            </a:avLst>
          </a:prstGeom>
          <a:solidFill>
            <a:srgbClr val="1A2D5A"/>
          </a:solidFill>
          <a:ln/>
        </p:spPr>
      </p:sp>
      <p:sp>
        <p:nvSpPr>
          <p:cNvPr id="20" name="Text 18"/>
          <p:cNvSpPr/>
          <p:nvPr/>
        </p:nvSpPr>
        <p:spPr>
          <a:xfrm>
            <a:off x="457200" y="3803904"/>
            <a:ext cx="25603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UNLOCK CHALLENGE</a:t>
            </a:r>
            <a:endParaRPr lang="en-US" sz="900" dirty="0"/>
          </a:p>
        </p:txBody>
      </p:sp>
      <p:sp>
        <p:nvSpPr>
          <p:cNvPr id="21" name="Text 19"/>
          <p:cNvSpPr/>
          <p:nvPr/>
        </p:nvSpPr>
        <p:spPr>
          <a:xfrm>
            <a:off x="457200" y="4078224"/>
            <a:ext cx="5486400" cy="6949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Pick one physical feature — a coast, the panhandle, the Everglades, Lake Okeechobee, or the Keys. Write 3-4 sentences: Name it. Locate it on the map. Explain one way it shapes life in Florida.</a:t>
            </a:r>
            <a:endParaRPr lang="en-US" sz="1000" dirty="0"/>
          </a:p>
        </p:txBody>
      </p:sp>
      <p:sp>
        <p:nvSpPr>
          <p:cNvPr id="22" name="Shape 20"/>
          <p:cNvSpPr/>
          <p:nvPr/>
        </p:nvSpPr>
        <p:spPr>
          <a:xfrm>
            <a:off x="6217920" y="3730752"/>
            <a:ext cx="2606040" cy="1097280"/>
          </a:xfrm>
          <a:prstGeom prst="roundRect">
            <a:avLst>
              <a:gd name="adj" fmla="val 8333"/>
            </a:avLst>
          </a:prstGeom>
          <a:solidFill>
            <a:srgbClr val="FFF3DC"/>
          </a:solidFill>
          <a:ln w="19050">
            <a:solidFill>
              <a:srgbClr val="F5E6C8"/>
            </a:solidFill>
            <a:prstDash val="solid"/>
          </a:ln>
        </p:spPr>
      </p:sp>
      <p:sp>
        <p:nvSpPr>
          <p:cNvPr id="23" name="Text 21"/>
          <p:cNvSpPr/>
          <p:nvPr/>
        </p:nvSpPr>
        <p:spPr>
          <a:xfrm>
            <a:off x="6400800" y="3803904"/>
            <a:ext cx="2331720" cy="256032"/>
          </a:xfrm>
          <a:prstGeom prst="rect">
            <a:avLst/>
          </a:prstGeom>
          <a:noFill/>
          <a:ln/>
        </p:spPr>
        <p:txBody>
          <a:bodyPr wrap="square" lIns="0" tIns="0" rIns="0" bIns="0" rtlCol="0" anchor="ctr"/>
          <a:lstStyle/>
          <a:p>
            <a:pPr indent="0" marL="0">
              <a:buNone/>
            </a:pPr>
            <a:r>
              <a:rPr lang="en-US" sz="900" b="1" dirty="0">
                <a:solidFill>
                  <a:srgbClr val="D4943A"/>
                </a:solidFill>
                <a:latin typeface="Calibri" pitchFamily="34" charset="0"/>
                <a:ea typeface="Calibri" pitchFamily="34" charset="-122"/>
                <a:cs typeface="Calibri" pitchFamily="34" charset="-120"/>
              </a:rPr>
              <a:t>Reflection Log:</a:t>
            </a:r>
            <a:endParaRPr lang="en-US" sz="900" dirty="0"/>
          </a:p>
        </p:txBody>
      </p:sp>
      <p:sp>
        <p:nvSpPr>
          <p:cNvPr id="24" name="Text 22"/>
          <p:cNvSpPr/>
          <p:nvPr/>
        </p:nvSpPr>
        <p:spPr>
          <a:xfrm>
            <a:off x="6400800" y="4078224"/>
            <a:ext cx="2331720" cy="694944"/>
          </a:xfrm>
          <a:prstGeom prst="rect">
            <a:avLst/>
          </a:prstGeom>
          <a:noFill/>
          <a:ln/>
        </p:spPr>
        <p:txBody>
          <a:bodyPr wrap="square" lIns="0" tIns="0" rIns="0" bIns="0" rtlCol="0" anchor="t"/>
          <a:lstStyle/>
          <a:p>
            <a:pPr indent="0" marL="0">
              <a:buNone/>
            </a:pPr>
            <a:r>
              <a:rPr lang="en-US" sz="1000" i="1" dirty="0">
                <a:solidFill>
                  <a:srgbClr val="5A4A3A"/>
                </a:solidFill>
                <a:latin typeface="Cambria" pitchFamily="34" charset="0"/>
                <a:ea typeface="Cambria" pitchFamily="34" charset="-122"/>
                <a:cs typeface="Cambria" pitchFamily="34" charset="-120"/>
              </a:rPr>
              <a:t>"In this lesson, I learned that ______ because ______."</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2011680" cy="292608"/>
          </a:xfrm>
          <a:prstGeom prst="roundRect">
            <a:avLst>
              <a:gd name="adj" fmla="val 25000"/>
            </a:avLst>
          </a:prstGeom>
          <a:solidFill>
            <a:srgbClr val="34B76F"/>
          </a:solidFill>
          <a:ln/>
        </p:spPr>
      </p:sp>
      <p:sp>
        <p:nvSpPr>
          <p:cNvPr id="6" name="Text 3"/>
          <p:cNvSpPr/>
          <p:nvPr/>
        </p:nvSpPr>
        <p:spPr>
          <a:xfrm>
            <a:off x="365760" y="228600"/>
            <a:ext cx="201168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MISSION COMPLETE</a:t>
            </a:r>
            <a:endParaRPr lang="en-US" sz="900" dirty="0"/>
          </a:p>
        </p:txBody>
      </p:sp>
      <p:sp>
        <p:nvSpPr>
          <p:cNvPr id="7" name="Text 4"/>
          <p:cNvSpPr/>
          <p:nvPr/>
        </p:nvSpPr>
        <p:spPr>
          <a:xfrm>
            <a:off x="457200" y="685800"/>
            <a:ext cx="8229600" cy="658368"/>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Land map secured.</a:t>
            </a:r>
            <a:endParaRPr lang="en-US" sz="4200" dirty="0"/>
          </a:p>
        </p:txBody>
      </p:sp>
      <p:sp>
        <p:nvSpPr>
          <p:cNvPr id="8" name="Text 5"/>
          <p:cNvSpPr/>
          <p:nvPr/>
        </p:nvSpPr>
        <p:spPr>
          <a:xfrm>
            <a:off x="457200" y="1389888"/>
            <a:ext cx="8229600" cy="621792"/>
          </a:xfrm>
          <a:prstGeom prst="rect">
            <a:avLst/>
          </a:prstGeom>
          <a:noFill/>
          <a:ln/>
        </p:spPr>
        <p:txBody>
          <a:bodyPr wrap="square" lIns="0" tIns="0" rIns="0" bIns="0" rtlCol="0" anchor="ctr"/>
          <a:lstStyle/>
          <a:p>
            <a:pPr indent="0" marL="0">
              <a:buNone/>
            </a:pPr>
            <a:r>
              <a:rPr lang="en-US" sz="1700" i="1" dirty="0">
                <a:solidFill>
                  <a:srgbClr val="D4943A"/>
                </a:solidFill>
                <a:latin typeface="Cambria" pitchFamily="34" charset="0"/>
                <a:ea typeface="Cambria" pitchFamily="34" charset="-122"/>
                <a:cs typeface="Cambria" pitchFamily="34" charset="-120"/>
              </a:rPr>
              <a:t>You read the physical map as evidence,</a:t>
            </a:r>
            <a:endParaRPr lang="en-US" sz="1700" dirty="0"/>
          </a:p>
          <a:p>
            <a:pPr indent="0" marL="0">
              <a:buNone/>
            </a:pPr>
            <a:r>
              <a:rPr lang="en-US" sz="1700" i="1" dirty="0">
                <a:solidFill>
                  <a:srgbClr val="D4943A"/>
                </a:solidFill>
                <a:latin typeface="Cambria" pitchFamily="34" charset="0"/>
                <a:ea typeface="Cambria" pitchFamily="34" charset="-122"/>
                <a:cs typeface="Cambria" pitchFamily="34" charset="-120"/>
              </a:rPr>
              <a:t>unlocked the terra root, and argued from the land.</a:t>
            </a:r>
            <a:endParaRPr lang="en-US" sz="1700" dirty="0"/>
          </a:p>
        </p:txBody>
      </p:sp>
      <p:sp>
        <p:nvSpPr>
          <p:cNvPr id="9" name="Shape 6"/>
          <p:cNvSpPr/>
          <p:nvPr/>
        </p:nvSpPr>
        <p:spPr>
          <a:xfrm>
            <a:off x="457200" y="2148840"/>
            <a:ext cx="8229600" cy="1207008"/>
          </a:xfrm>
          <a:prstGeom prst="roundRect">
            <a:avLst>
              <a:gd name="adj" fmla="val 9091"/>
            </a:avLst>
          </a:prstGeom>
          <a:solidFill>
            <a:srgbClr val="1A2D5A"/>
          </a:solidFill>
          <a:ln/>
        </p:spPr>
      </p:sp>
      <p:sp>
        <p:nvSpPr>
          <p:cNvPr id="10" name="Text 7"/>
          <p:cNvSpPr/>
          <p:nvPr/>
        </p:nvSpPr>
        <p:spPr>
          <a:xfrm>
            <a:off x="640080" y="2221992"/>
            <a:ext cx="7863840" cy="274320"/>
          </a:xfrm>
          <a:prstGeom prst="rect">
            <a:avLst/>
          </a:prstGeom>
          <a:noFill/>
          <a:ln/>
        </p:spPr>
        <p:txBody>
          <a:bodyPr wrap="square" lIns="0" tIns="0" rIns="0" bIns="0"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What you proved today:</a:t>
            </a:r>
            <a:endParaRPr lang="en-US" sz="1100" dirty="0"/>
          </a:p>
        </p:txBody>
      </p:sp>
      <p:sp>
        <p:nvSpPr>
          <p:cNvPr id="11" name="Text 8"/>
          <p:cNvSpPr/>
          <p:nvPr/>
        </p:nvSpPr>
        <p:spPr>
          <a:xfrm>
            <a:off x="640080" y="2542032"/>
            <a:ext cx="7863840" cy="749808"/>
          </a:xfrm>
          <a:prstGeom prst="rect">
            <a:avLst/>
          </a:prstGeom>
          <a:noFill/>
          <a:ln/>
        </p:spPr>
        <p:txBody>
          <a:bodyPr wrap="square" lIns="0" tIns="0" rIns="0" bIns="0" rtlCol="0" anchor="t"/>
          <a:lstStyle/>
          <a:p>
            <a:pPr indent="0" marL="0">
              <a:buNone/>
            </a:pPr>
            <a:r>
              <a:rPr lang="en-US" sz="1200" b="1" dirty="0">
                <a:solidFill>
                  <a:srgbClr val="D4943A"/>
                </a:solidFill>
                <a:latin typeface="Calibri" pitchFamily="34" charset="0"/>
                <a:ea typeface="Calibri" pitchFamily="34" charset="-122"/>
                <a:cs typeface="Calibri" pitchFamily="34" charset="-120"/>
              </a:rPr>
              <a:t>Florida is a peninsula</a:t>
            </a:r>
            <a:pPr indent="0" marL="0">
              <a:buNone/>
            </a:pPr>
            <a:r>
              <a:rPr lang="en-US" sz="1200" dirty="0">
                <a:solidFill>
                  <a:srgbClr val="FFFFFF"/>
                </a:solidFill>
                <a:latin typeface="Calibri" pitchFamily="34" charset="0"/>
                <a:ea typeface="Calibri" pitchFamily="34" charset="-122"/>
                <a:cs typeface="Calibri" pitchFamily="34" charset="-120"/>
              </a:rPr>
              <a:t> — land surrounded by water on three sides. Its shape, coasts, wetlands, and lakes are not random. </a:t>
            </a:r>
            <a:pPr indent="0" marL="0">
              <a:buNone/>
            </a:pPr>
            <a:r>
              <a:rPr lang="en-US" sz="1200" b="1" dirty="0">
                <a:solidFill>
                  <a:srgbClr val="FFFFFF"/>
                </a:solidFill>
                <a:latin typeface="Calibri" pitchFamily="34" charset="0"/>
                <a:ea typeface="Calibri" pitchFamily="34" charset="-122"/>
                <a:cs typeface="Calibri" pitchFamily="34" charset="-120"/>
              </a:rPr>
              <a:t>Geography shapes where people go, what they build, and how they live.</a:t>
            </a:r>
            <a:endParaRPr lang="en-US" sz="1200" dirty="0"/>
          </a:p>
        </p:txBody>
      </p:sp>
      <p:sp>
        <p:nvSpPr>
          <p:cNvPr id="12" name="Shape 9"/>
          <p:cNvSpPr/>
          <p:nvPr/>
        </p:nvSpPr>
        <p:spPr>
          <a:xfrm>
            <a:off x="457200" y="3493008"/>
            <a:ext cx="8229600" cy="914400"/>
          </a:xfrm>
          <a:prstGeom prst="roundRect">
            <a:avLst>
              <a:gd name="adj" fmla="val 10000"/>
            </a:avLst>
          </a:prstGeom>
          <a:solidFill>
            <a:srgbClr val="0B2830"/>
          </a:solidFill>
          <a:ln w="19050">
            <a:solidFill>
              <a:srgbClr val="1A8A7D"/>
            </a:solidFill>
            <a:prstDash val="solid"/>
          </a:ln>
        </p:spPr>
      </p:sp>
      <p:sp>
        <p:nvSpPr>
          <p:cNvPr id="13" name="Text 10"/>
          <p:cNvSpPr/>
          <p:nvPr/>
        </p:nvSpPr>
        <p:spPr>
          <a:xfrm>
            <a:off x="640080" y="3566160"/>
            <a:ext cx="182880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COMING NEXT:</a:t>
            </a:r>
            <a:endParaRPr lang="en-US" sz="900" dirty="0"/>
          </a:p>
        </p:txBody>
      </p:sp>
      <p:sp>
        <p:nvSpPr>
          <p:cNvPr id="14" name="Text 11"/>
          <p:cNvSpPr/>
          <p:nvPr/>
        </p:nvSpPr>
        <p:spPr>
          <a:xfrm>
            <a:off x="640080" y="3840480"/>
            <a:ext cx="7772400" cy="512064"/>
          </a:xfrm>
          <a:prstGeom prst="rect">
            <a:avLst/>
          </a:prstGeom>
          <a:noFill/>
          <a:ln/>
        </p:spPr>
        <p:txBody>
          <a:bodyPr wrap="square" lIns="0" tIns="0" rIns="0" bIns="0" rtlCol="0" anchor="ctr"/>
          <a:lstStyle/>
          <a:p>
            <a:pPr indent="0" marL="0">
              <a:buNone/>
            </a:pPr>
            <a:r>
              <a:rPr lang="en-US" sz="1300" i="1" dirty="0">
                <a:solidFill>
                  <a:srgbClr val="D0D8F0"/>
                </a:solidFill>
                <a:latin typeface="Cambria" pitchFamily="34" charset="0"/>
                <a:ea typeface="Cambria" pitchFamily="34" charset="-122"/>
                <a:cs typeface="Cambria" pitchFamily="34" charset="-120"/>
              </a:rPr>
              <a:t>4.02.02 — The people map. Now that you know the land, we investigate who came, where they settled, and why the land shaped their choices.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2026-07-13T20:17:15Z</dcterms:created>
  <dcterms:modified xsi:type="dcterms:W3CDTF">2026-07-13T20:17:15Z</dcterms:modified>
</cp:coreProperties>
</file>