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Historic Florida scene: a historian's desk with old maps, a magnifying glass over Florida's outline, a Historian's Notebook, and faded documents — warm lamplight, no human faces, richly detailedTEACHER: Start the 'stuck in Canvas' story beat. Warm, slightly conspiratorial tone. Suggested opening: 'Hey Florida historians — quick heads-up: I'm stuck inside Canvas. Long story. The first file on my desk says What Florida Historians Study and it won't open until I show I actually know what historians do. Lucky for me, that's exactly what you're about to learn.' Then drop the frame and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the class is the Florida History Team. The teacher is stuck inside Canvas and needs them to demonstrate what historians do. Keep it light and fun — this is a story, not a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day. Read the four steps with students. Point to the virtue: Self-Governance. 'Today, when you feel the urge to guess, choose to look at the evidence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this photograph (insert from Florida Memory Project) and give 5 seconds of silence. Then ask students to type one detail they see in the chat. Resist the urge to explain — just observe. The point is noticing before knowing.
IMG NOTE: Source from floridamemory.com — search 'Florida family 1890s' or 'citrus workers Florida.' Download and insert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Don't resolve the discussion for them. Let two or three students share. Push with: 'Could there be another explanation?' Then affirm the discovery: they just used a photograph as evidence. That is what historians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their discovery: 'You didn't just look at a picture — you used it as evidence. That's exactly what historians do.' Then give the quick retrieval challenge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reveal the labels yet. Let students guess from the hints. Point to the clues in each file card. The goal is to get students naming the four categories before you confirm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opened all four files. Florida historians study People, Places, Events, and Evidence.' Do the retrieval challenge: students cover their screen and name all four from memory. Then ask: 'Which one do you think is hardest to find evidence for?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30 seconds to decide, then ask them to type their answer. Push further: 'What would Sentence A need to become a historian's claim?' The key insight is that Sentence B names the evidence (a 1696 map) so anyone can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multi-source compare moment. Help students see that both sources have value but different strengths. The photograph shows what people LOOKED like; the textbook explains what happened. Ask: 'Which source is more reliable for understanding what daily life felt like? Why?' Don't resolve it — let them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payoff of the knowing vs. guessing discussion. Name the pattern: 'Evidence lets anyone check your work.' Then connect it beyond history — scientists use evidence, lawyers use evidence, journalists use evidence. The habit they're building is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virtue spotlight warmly and briefly. Connect it to what students just did: they could have guessed, but they looked at the evidence. That is self-governance. This moment should feel like a genuine recognition of the class's work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Show students the three moves: Observe -&gt; Explain -&gt; Claim + Evidence. Make it visible on the screen. Then hand it over to them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2 minutes to build their claim silently, then share. When a student shares, push with: 'What would someone who disagrees say? Is the evidence strong enough to convince them?' Don't resolve disagreements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 error in Response A is not a wrong answer — it is weak evidence. The clothing detail is vague. Response B names a specific observation AND connects it to what historians study (how people lived). Ask: 'What would you add to Response A to make it a historian's claim?' Then have students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Hold back. Let students argue it out. The point is not to reach one right answer — it's that oral history IS evidence, but it has limits (memory fades, perspective shapes recollection, no one alive from 200 years ago). Strong historians use MULTIPLE types of evidence. Don't resolve this for them; let the tension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answer each question in their head or on paper before revealing. Cover answers if possible. After all three, ask: 'Is there anything we should revisit before the assignment?' This is their last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with students. They have already practiced answering all three today. Point out: Q1 maps to 'People, Places, Events, Evidence' (Slide 8). Q2 maps to the photograph investigation (Slides 4-5). Q3 maps to the knowing vs. guessing discussion (Slide 9). Remind them that the Historian's Sentence is the last step before they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glowing 'FILE UNLOCKED' graphic on a dark canvas background — a file folder icon with a gold padlock opening, the outline of Florida visible in the background, warm celebratory light radiating outward. No human figures. Optimistic and triumphant mood.TEACHER: Warm, proud close. 'You did it — the first file is unlocked.' Restate the key concept in your own words. Remind students to complete their Historian's Notebook entry and Historian's Sentence before submitting to Canvas. Tease lesson 4.01.02: Primary vs. Secondary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914400" y="1371600"/>
            <a:ext cx="7315200" cy="1097280"/>
          </a:xfrm>
          <a:prstGeom prst="rect">
            <a:avLst/>
          </a:prstGeom>
          <a:noFill/>
          <a:ln/>
          <a:effectLst>
            <a:outerShdw sx="100000" sy="100000" kx="0" ky="0" algn="bl" rotWithShape="0" blurRad="76200" dist="38100" dir="8100000">
              <a:srgbClr val="000000">
                <a:alpha val="40000"/>
              </a:srgbClr>
            </a:outerShdw>
          </a:effectLst>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What Florida Historians Study</a:t>
            </a:r>
            <a:endParaRPr lang="en-US" sz="4000" dirty="0"/>
          </a:p>
        </p:txBody>
      </p:sp>
      <p:sp>
        <p:nvSpPr>
          <p:cNvPr id="6" name="Text 3"/>
          <p:cNvSpPr/>
          <p:nvPr/>
        </p:nvSpPr>
        <p:spPr>
          <a:xfrm>
            <a:off x="914400" y="2560320"/>
            <a:ext cx="7315200" cy="274320"/>
          </a:xfrm>
          <a:prstGeom prst="rect">
            <a:avLst/>
          </a:prstGeom>
          <a:noFill/>
          <a:ln/>
        </p:spPr>
        <p:txBody>
          <a:bodyPr wrap="square" rtlCol="0" anchor="ctr"/>
          <a:lstStyle/>
          <a:p>
            <a:pPr algn="ctr" indent="0" marL="0">
              <a:buNone/>
            </a:pPr>
            <a:r>
              <a:rPr lang="en-US" sz="1000" b="1" spc="180" kern="0" dirty="0">
                <a:solidFill>
                  <a:srgbClr val="55C8E8"/>
                </a:solidFill>
                <a:latin typeface="Calibri" pitchFamily="34" charset="0"/>
                <a:ea typeface="Calibri" pitchFamily="34" charset="-122"/>
                <a:cs typeface="Calibri" pitchFamily="34" charset="-120"/>
              </a:rPr>
              <a:t>LESSON 4.01.01  |  FLORIDA FILES: ESCAPE FROM CANVAS</a:t>
            </a:r>
            <a:endParaRPr lang="en-US" sz="1000" dirty="0"/>
          </a:p>
        </p:txBody>
      </p:sp>
      <p:sp>
        <p:nvSpPr>
          <p:cNvPr id="7" name="Text 4"/>
          <p:cNvSpPr/>
          <p:nvPr/>
        </p:nvSpPr>
        <p:spPr>
          <a:xfrm>
            <a:off x="1371600" y="3017520"/>
            <a:ext cx="6400800" cy="731520"/>
          </a:xfrm>
          <a:prstGeom prst="rect">
            <a:avLst/>
          </a:prstGeom>
          <a:noFill/>
          <a:ln/>
        </p:spPr>
        <p:txBody>
          <a:bodyPr wrap="square" rtlCol="0" anchor="ctr"/>
          <a:lstStyle/>
          <a:p>
            <a:pPr algn="ctr" indent="0" marL="0">
              <a:buNone/>
            </a:pPr>
            <a:r>
              <a:rPr lang="en-US" sz="1500" i="1" dirty="0">
                <a:solidFill>
                  <a:srgbClr val="D6E8FF"/>
                </a:solidFill>
                <a:latin typeface="Calibri" pitchFamily="34" charset="0"/>
                <a:ea typeface="Calibri" pitchFamily="34" charset="-122"/>
                <a:cs typeface="Calibri" pitchFamily="34" charset="-120"/>
              </a:rPr>
              <a:t>Big Question: What do Florida historians actually study,</a:t>
            </a:r>
            <a:endParaRPr lang="en-US" sz="1500" dirty="0"/>
          </a:p>
          <a:p>
            <a:pPr algn="ctr" indent="0" marL="0">
              <a:buNone/>
            </a:pPr>
            <a:r>
              <a:rPr lang="en-US" sz="1500" i="1" dirty="0">
                <a:solidFill>
                  <a:srgbClr val="D6E8FF"/>
                </a:solidFill>
                <a:latin typeface="Calibri" pitchFamily="34" charset="0"/>
                <a:ea typeface="Calibri" pitchFamily="34" charset="-122"/>
                <a:cs typeface="Calibri" pitchFamily="34" charset="-120"/>
              </a:rPr>
              <a:t>and how do they know what really happened?</a:t>
            </a:r>
            <a:endParaRPr lang="en-US" sz="1500" dirty="0"/>
          </a:p>
        </p:txBody>
      </p:sp>
      <p:sp>
        <p:nvSpPr>
          <p:cNvPr id="8" name="Text 5"/>
          <p:cNvSpPr/>
          <p:nvPr/>
        </p:nvSpPr>
        <p:spPr>
          <a:xfrm>
            <a:off x="914400" y="4480560"/>
            <a:ext cx="7315200" cy="274320"/>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Unit 1: Thinking Like a Florida Historian  |  Week 1, Q1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457200" y="365760"/>
            <a:ext cx="8229600" cy="502920"/>
          </a:xfrm>
          <a:prstGeom prst="roundRect">
            <a:avLst>
              <a:gd name="adj" fmla="val 18182"/>
            </a:avLst>
          </a:prstGeom>
          <a:solidFill>
            <a:srgbClr val="1A2D5A"/>
          </a:solidFill>
          <a:ln/>
        </p:spPr>
      </p:sp>
      <p:sp>
        <p:nvSpPr>
          <p:cNvPr id="3" name="Text 1"/>
          <p:cNvSpPr/>
          <p:nvPr/>
        </p:nvSpPr>
        <p:spPr>
          <a:xfrm>
            <a:off x="457200" y="365760"/>
            <a:ext cx="8229600" cy="50292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MESSAGE FROM INSIDE CANVAS</a:t>
            </a:r>
            <a:endParaRPr lang="en-US" sz="1000" dirty="0"/>
          </a:p>
        </p:txBody>
      </p:sp>
      <p:sp>
        <p:nvSpPr>
          <p:cNvPr id="4" name="Shape 2"/>
          <p:cNvSpPr/>
          <p:nvPr/>
        </p:nvSpPr>
        <p:spPr>
          <a:xfrm>
            <a:off x="640080" y="1005840"/>
            <a:ext cx="7863840" cy="1920240"/>
          </a:xfrm>
          <a:prstGeom prst="roundRect">
            <a:avLst>
              <a:gd name="adj" fmla="val 7143"/>
            </a:avLst>
          </a:prstGeom>
          <a:solidFill>
            <a:srgbClr val="152340"/>
          </a:solidFill>
          <a:ln w="19050">
            <a:solidFill>
              <a:srgbClr val="D4943A"/>
            </a:solidFill>
            <a:prstDash val="solid"/>
          </a:ln>
        </p:spPr>
      </p:sp>
      <p:sp>
        <p:nvSpPr>
          <p:cNvPr id="5" name="Text 3"/>
          <p:cNvSpPr/>
          <p:nvPr/>
        </p:nvSpPr>
        <p:spPr>
          <a:xfrm>
            <a:off x="868680" y="1097280"/>
            <a:ext cx="7406640" cy="1737360"/>
          </a:xfrm>
          <a:prstGeom prst="rect">
            <a:avLst/>
          </a:prstGeom>
          <a:noFill/>
          <a:ln/>
        </p:spPr>
        <p:txBody>
          <a:bodyPr wrap="square"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The first file is labeled "What Florida Historians Study," but Canvas won't open it until you explain what historians actually do. Take a look — help me get to the next file!</a:t>
            </a:r>
            <a:endParaRPr lang="en-US" sz="1400" dirty="0"/>
          </a:p>
          <a:p>
            <a:pPr algn="ctr" indent="0" marL="0">
              <a:buNone/>
            </a:pPr>
            <a:endParaRPr lang="en-US" sz="1400" dirty="0"/>
          </a:p>
          <a:p>
            <a:pPr algn="ctr" indent="0" marL="0">
              <a:buNone/>
            </a:pPr>
            <a:r>
              <a:rPr lang="en-US" sz="1400" i="1" dirty="0">
                <a:solidFill>
                  <a:srgbClr val="FFFFFF"/>
                </a:solidFill>
                <a:latin typeface="Cambria" pitchFamily="34" charset="0"/>
                <a:ea typeface="Cambria" pitchFamily="34" charset="-122"/>
                <a:cs typeface="Cambria" pitchFamily="34" charset="-120"/>
              </a:rPr>
              <a:t>— Your teacher, from somewhere inside Module 1</a:t>
            </a:r>
            <a:endParaRPr lang="en-US" sz="1400" dirty="0"/>
          </a:p>
        </p:txBody>
      </p:sp>
      <p:sp>
        <p:nvSpPr>
          <p:cNvPr id="6" name="Shape 4"/>
          <p:cNvSpPr/>
          <p:nvPr/>
        </p:nvSpPr>
        <p:spPr>
          <a:xfrm>
            <a:off x="2286000" y="3063240"/>
            <a:ext cx="4572000" cy="640080"/>
          </a:xfrm>
          <a:prstGeom prst="roundRect">
            <a:avLst>
              <a:gd name="adj" fmla="val 14286"/>
            </a:avLst>
          </a:prstGeom>
          <a:solidFill>
            <a:srgbClr val="D4943A"/>
          </a:solidFill>
          <a:ln/>
        </p:spPr>
      </p:sp>
      <p:sp>
        <p:nvSpPr>
          <p:cNvPr id="7" name="Text 5"/>
          <p:cNvSpPr/>
          <p:nvPr/>
        </p:nvSpPr>
        <p:spPr>
          <a:xfrm>
            <a:off x="2286000" y="3063240"/>
            <a:ext cx="4572000" cy="640080"/>
          </a:xfrm>
          <a:prstGeom prst="rect">
            <a:avLst/>
          </a:prstGeom>
          <a:noFill/>
          <a:ln/>
        </p:spPr>
        <p:txBody>
          <a:bodyPr wrap="square"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Your Mission: Prove you know what historians do.</a:t>
            </a:r>
            <a:endParaRPr lang="en-US" sz="1300" dirty="0"/>
          </a:p>
        </p:txBody>
      </p:sp>
      <p:sp>
        <p:nvSpPr>
          <p:cNvPr id="8" name="Text 6"/>
          <p:cNvSpPr/>
          <p:nvPr/>
        </p:nvSpPr>
        <p:spPr>
          <a:xfrm>
            <a:off x="914400" y="3840480"/>
            <a:ext cx="7315200" cy="365760"/>
          </a:xfrm>
          <a:prstGeom prst="rect">
            <a:avLst/>
          </a:prstGeom>
          <a:noFill/>
          <a:ln/>
        </p:spPr>
        <p:txBody>
          <a:bodyPr wrap="square" rtlCol="0" anchor="ctr"/>
          <a:lstStyle/>
          <a:p>
            <a:pPr algn="ctr" indent="0" marL="0">
              <a:buNone/>
            </a:pPr>
            <a:r>
              <a:rPr lang="en-US" sz="1200" dirty="0">
                <a:solidFill>
                  <a:srgbClr val="A0C0E8"/>
                </a:solidFill>
                <a:latin typeface="Calibri" pitchFamily="34" charset="0"/>
                <a:ea typeface="Calibri" pitchFamily="34" charset="-122"/>
                <a:cs typeface="Calibri" pitchFamily="34" charset="-120"/>
              </a:rPr>
              <a:t>Your Role: You are on the Florida History Team.</a:t>
            </a:r>
            <a:endParaRPr lang="en-US" sz="1200" dirty="0"/>
          </a:p>
        </p:txBody>
      </p:sp>
      <p:sp>
        <p:nvSpPr>
          <p:cNvPr id="9" name="Text 7"/>
          <p:cNvSpPr/>
          <p:nvPr/>
        </p:nvSpPr>
        <p:spPr>
          <a:xfrm>
            <a:off x="914400" y="4251960"/>
            <a:ext cx="7315200" cy="365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historians ask questions, study sources, follow timelines, and use careful evidence.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Today's Investigation Path</a:t>
            </a:r>
            <a:endParaRPr lang="en-US" sz="3000" dirty="0"/>
          </a:p>
        </p:txBody>
      </p:sp>
      <p:sp>
        <p:nvSpPr>
          <p:cNvPr id="3" name="Shape 1"/>
          <p:cNvSpPr/>
          <p:nvPr/>
        </p:nvSpPr>
        <p:spPr>
          <a:xfrm>
            <a:off x="457200" y="960120"/>
            <a:ext cx="8229600" cy="0"/>
          </a:xfrm>
          <a:prstGeom prst="line">
            <a:avLst/>
          </a:prstGeom>
          <a:noFill/>
          <a:ln w="25400">
            <a:solidFill>
              <a:srgbClr val="D4943A"/>
            </a:solidFill>
            <a:prstDash val="solid"/>
          </a:ln>
        </p:spPr>
      </p:sp>
      <p:sp>
        <p:nvSpPr>
          <p:cNvPr id="4" name="Shape 2"/>
          <p:cNvSpPr/>
          <p:nvPr/>
        </p:nvSpPr>
        <p:spPr>
          <a:xfrm>
            <a:off x="457200" y="1188720"/>
            <a:ext cx="1920240" cy="2560320"/>
          </a:xfrm>
          <a:prstGeom prst="roundRect">
            <a:avLst>
              <a:gd name="adj" fmla="val 7143"/>
            </a:avLst>
          </a:prstGeom>
          <a:solidFill>
            <a:srgbClr val="F0F2F8"/>
          </a:solidFill>
          <a:ln w="12700">
            <a:solidFill>
              <a:srgbClr val="C8D0E0"/>
            </a:solidFill>
            <a:prstDash val="solid"/>
          </a:ln>
        </p:spPr>
      </p:sp>
      <p:sp>
        <p:nvSpPr>
          <p:cNvPr id="5" name="Shape 3"/>
          <p:cNvSpPr/>
          <p:nvPr/>
        </p:nvSpPr>
        <p:spPr>
          <a:xfrm>
            <a:off x="1097280" y="1234440"/>
            <a:ext cx="640080" cy="640080"/>
          </a:xfrm>
          <a:prstGeom prst="ellipse">
            <a:avLst/>
          </a:prstGeom>
          <a:solidFill>
            <a:srgbClr val="1A8A7D"/>
          </a:solidFill>
          <a:ln/>
        </p:spPr>
      </p:sp>
      <p:sp>
        <p:nvSpPr>
          <p:cNvPr id="6" name="Text 4"/>
          <p:cNvSpPr/>
          <p:nvPr/>
        </p:nvSpPr>
        <p:spPr>
          <a:xfrm>
            <a:off x="1097280" y="1234440"/>
            <a:ext cx="6400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548640" y="2011680"/>
            <a:ext cx="1737360" cy="365760"/>
          </a:xfrm>
          <a:prstGeom prst="rect">
            <a:avLst/>
          </a:prstGeom>
          <a:noFill/>
          <a:ln/>
        </p:spPr>
        <p:txBody>
          <a:bodyPr wrap="square"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Observe</a:t>
            </a:r>
            <a:endParaRPr lang="en-US" sz="1400" dirty="0"/>
          </a:p>
        </p:txBody>
      </p:sp>
      <p:sp>
        <p:nvSpPr>
          <p:cNvPr id="8" name="Text 6"/>
          <p:cNvSpPr/>
          <p:nvPr/>
        </p:nvSpPr>
        <p:spPr>
          <a:xfrm>
            <a:off x="594360" y="2423160"/>
            <a:ext cx="1645920" cy="1188720"/>
          </a:xfrm>
          <a:prstGeom prst="rect">
            <a:avLst/>
          </a:prstGeom>
          <a:noFill/>
          <a:ln/>
        </p:spPr>
        <p:txBody>
          <a:bodyPr wrap="square"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Look at a Florida photograph like a historian</a:t>
            </a:r>
            <a:endParaRPr lang="en-US" sz="1100" dirty="0"/>
          </a:p>
        </p:txBody>
      </p:sp>
      <p:sp>
        <p:nvSpPr>
          <p:cNvPr id="9" name="Shape 7"/>
          <p:cNvSpPr/>
          <p:nvPr/>
        </p:nvSpPr>
        <p:spPr>
          <a:xfrm>
            <a:off x="2560320" y="1188720"/>
            <a:ext cx="1920240" cy="2560320"/>
          </a:xfrm>
          <a:prstGeom prst="roundRect">
            <a:avLst>
              <a:gd name="adj" fmla="val 7143"/>
            </a:avLst>
          </a:prstGeom>
          <a:solidFill>
            <a:srgbClr val="F0F2F8"/>
          </a:solidFill>
          <a:ln w="12700">
            <a:solidFill>
              <a:srgbClr val="C8D0E0"/>
            </a:solidFill>
            <a:prstDash val="solid"/>
          </a:ln>
        </p:spPr>
      </p:sp>
      <p:sp>
        <p:nvSpPr>
          <p:cNvPr id="10" name="Shape 8"/>
          <p:cNvSpPr/>
          <p:nvPr/>
        </p:nvSpPr>
        <p:spPr>
          <a:xfrm>
            <a:off x="3200400" y="1234440"/>
            <a:ext cx="640080" cy="640080"/>
          </a:xfrm>
          <a:prstGeom prst="ellipse">
            <a:avLst/>
          </a:prstGeom>
          <a:solidFill>
            <a:srgbClr val="1A8A7D"/>
          </a:solidFill>
          <a:ln/>
        </p:spPr>
      </p:sp>
      <p:sp>
        <p:nvSpPr>
          <p:cNvPr id="11" name="Text 9"/>
          <p:cNvSpPr/>
          <p:nvPr/>
        </p:nvSpPr>
        <p:spPr>
          <a:xfrm>
            <a:off x="3200400" y="1234440"/>
            <a:ext cx="6400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2651760" y="2011680"/>
            <a:ext cx="1737360" cy="365760"/>
          </a:xfrm>
          <a:prstGeom prst="rect">
            <a:avLst/>
          </a:prstGeom>
          <a:noFill/>
          <a:ln/>
        </p:spPr>
        <p:txBody>
          <a:bodyPr wrap="square"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Investigate</a:t>
            </a:r>
            <a:endParaRPr lang="en-US" sz="1400" dirty="0"/>
          </a:p>
        </p:txBody>
      </p:sp>
      <p:sp>
        <p:nvSpPr>
          <p:cNvPr id="13" name="Text 11"/>
          <p:cNvSpPr/>
          <p:nvPr/>
        </p:nvSpPr>
        <p:spPr>
          <a:xfrm>
            <a:off x="2697480" y="2423160"/>
            <a:ext cx="1645920" cy="1188720"/>
          </a:xfrm>
          <a:prstGeom prst="rect">
            <a:avLst/>
          </a:prstGeom>
          <a:noFill/>
          <a:ln/>
        </p:spPr>
        <p:txBody>
          <a:bodyPr wrap="square"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Discover the four things historians study</a:t>
            </a:r>
            <a:endParaRPr lang="en-US" sz="1100" dirty="0"/>
          </a:p>
        </p:txBody>
      </p:sp>
      <p:sp>
        <p:nvSpPr>
          <p:cNvPr id="14" name="Shape 12"/>
          <p:cNvSpPr/>
          <p:nvPr/>
        </p:nvSpPr>
        <p:spPr>
          <a:xfrm>
            <a:off x="4663440" y="1188720"/>
            <a:ext cx="1920240" cy="2560320"/>
          </a:xfrm>
          <a:prstGeom prst="roundRect">
            <a:avLst>
              <a:gd name="adj" fmla="val 7143"/>
            </a:avLst>
          </a:prstGeom>
          <a:solidFill>
            <a:srgbClr val="F0F2F8"/>
          </a:solidFill>
          <a:ln w="12700">
            <a:solidFill>
              <a:srgbClr val="C8D0E0"/>
            </a:solidFill>
            <a:prstDash val="solid"/>
          </a:ln>
        </p:spPr>
      </p:sp>
      <p:sp>
        <p:nvSpPr>
          <p:cNvPr id="15" name="Shape 13"/>
          <p:cNvSpPr/>
          <p:nvPr/>
        </p:nvSpPr>
        <p:spPr>
          <a:xfrm>
            <a:off x="5303520" y="1234440"/>
            <a:ext cx="640080" cy="640080"/>
          </a:xfrm>
          <a:prstGeom prst="ellipse">
            <a:avLst/>
          </a:prstGeom>
          <a:solidFill>
            <a:srgbClr val="1A8A7D"/>
          </a:solidFill>
          <a:ln/>
        </p:spPr>
      </p:sp>
      <p:sp>
        <p:nvSpPr>
          <p:cNvPr id="16" name="Text 14"/>
          <p:cNvSpPr/>
          <p:nvPr/>
        </p:nvSpPr>
        <p:spPr>
          <a:xfrm>
            <a:off x="5303520" y="1234440"/>
            <a:ext cx="6400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4754880" y="2011680"/>
            <a:ext cx="1737360" cy="365760"/>
          </a:xfrm>
          <a:prstGeom prst="rect">
            <a:avLst/>
          </a:prstGeom>
          <a:noFill/>
          <a:ln/>
        </p:spPr>
        <p:txBody>
          <a:bodyPr wrap="square"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Analyze</a:t>
            </a:r>
            <a:endParaRPr lang="en-US" sz="1400" dirty="0"/>
          </a:p>
        </p:txBody>
      </p:sp>
      <p:sp>
        <p:nvSpPr>
          <p:cNvPr id="18" name="Text 16"/>
          <p:cNvSpPr/>
          <p:nvPr/>
        </p:nvSpPr>
        <p:spPr>
          <a:xfrm>
            <a:off x="4800600" y="2423160"/>
            <a:ext cx="1645920" cy="1188720"/>
          </a:xfrm>
          <a:prstGeom prst="rect">
            <a:avLst/>
          </a:prstGeom>
          <a:noFill/>
          <a:ln/>
        </p:spPr>
        <p:txBody>
          <a:bodyPr wrap="square"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Compare a guess vs. a historian's claim</a:t>
            </a:r>
            <a:endParaRPr lang="en-US" sz="1100" dirty="0"/>
          </a:p>
        </p:txBody>
      </p:sp>
      <p:sp>
        <p:nvSpPr>
          <p:cNvPr id="19" name="Shape 17"/>
          <p:cNvSpPr/>
          <p:nvPr/>
        </p:nvSpPr>
        <p:spPr>
          <a:xfrm>
            <a:off x="6766560" y="1188720"/>
            <a:ext cx="1920240" cy="2560320"/>
          </a:xfrm>
          <a:prstGeom prst="roundRect">
            <a:avLst>
              <a:gd name="adj" fmla="val 7143"/>
            </a:avLst>
          </a:prstGeom>
          <a:solidFill>
            <a:srgbClr val="F0F2F8"/>
          </a:solidFill>
          <a:ln w="12700">
            <a:solidFill>
              <a:srgbClr val="C8D0E0"/>
            </a:solidFill>
            <a:prstDash val="solid"/>
          </a:ln>
        </p:spPr>
      </p:sp>
      <p:sp>
        <p:nvSpPr>
          <p:cNvPr id="20" name="Shape 18"/>
          <p:cNvSpPr/>
          <p:nvPr/>
        </p:nvSpPr>
        <p:spPr>
          <a:xfrm>
            <a:off x="7406640" y="1234440"/>
            <a:ext cx="640080" cy="640080"/>
          </a:xfrm>
          <a:prstGeom prst="ellipse">
            <a:avLst/>
          </a:prstGeom>
          <a:solidFill>
            <a:srgbClr val="1A8A7D"/>
          </a:solidFill>
          <a:ln/>
        </p:spPr>
      </p:sp>
      <p:sp>
        <p:nvSpPr>
          <p:cNvPr id="21" name="Text 19"/>
          <p:cNvSpPr/>
          <p:nvPr/>
        </p:nvSpPr>
        <p:spPr>
          <a:xfrm>
            <a:off x="7406640" y="1234440"/>
            <a:ext cx="640080" cy="6400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6858000" y="2011680"/>
            <a:ext cx="1737360" cy="365760"/>
          </a:xfrm>
          <a:prstGeom prst="rect">
            <a:avLst/>
          </a:prstGeom>
          <a:noFill/>
          <a:ln/>
        </p:spPr>
        <p:txBody>
          <a:bodyPr wrap="square"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Defend</a:t>
            </a:r>
            <a:endParaRPr lang="en-US" sz="1400" dirty="0"/>
          </a:p>
        </p:txBody>
      </p:sp>
      <p:sp>
        <p:nvSpPr>
          <p:cNvPr id="23" name="Text 21"/>
          <p:cNvSpPr/>
          <p:nvPr/>
        </p:nvSpPr>
        <p:spPr>
          <a:xfrm>
            <a:off x="6903720" y="2423160"/>
            <a:ext cx="1645920" cy="1188720"/>
          </a:xfrm>
          <a:prstGeom prst="rect">
            <a:avLst/>
          </a:prstGeom>
          <a:noFill/>
          <a:ln/>
        </p:spPr>
        <p:txBody>
          <a:bodyPr wrap="square"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Write your first Historian's Notebook entry</a:t>
            </a:r>
            <a:endParaRPr lang="en-US" sz="1100" dirty="0"/>
          </a:p>
        </p:txBody>
      </p:sp>
      <p:sp>
        <p:nvSpPr>
          <p:cNvPr id="24" name="Shape 22"/>
          <p:cNvSpPr/>
          <p:nvPr/>
        </p:nvSpPr>
        <p:spPr>
          <a:xfrm>
            <a:off x="457200" y="3977640"/>
            <a:ext cx="8229600" cy="640080"/>
          </a:xfrm>
          <a:prstGeom prst="roundRect">
            <a:avLst>
              <a:gd name="adj" fmla="val 14286"/>
            </a:avLst>
          </a:prstGeom>
          <a:solidFill>
            <a:srgbClr val="EAF8FD"/>
          </a:solidFill>
          <a:ln w="12700">
            <a:solidFill>
              <a:srgbClr val="55C8E8"/>
            </a:solidFill>
            <a:prstDash val="solid"/>
          </a:ln>
        </p:spPr>
      </p:sp>
      <p:sp>
        <p:nvSpPr>
          <p:cNvPr id="25" name="Text 23"/>
          <p:cNvSpPr/>
          <p:nvPr/>
        </p:nvSpPr>
        <p:spPr>
          <a:xfrm>
            <a:off x="640080" y="3977640"/>
            <a:ext cx="7863840" cy="640080"/>
          </a:xfrm>
          <a:prstGeom prst="rect">
            <a:avLst/>
          </a:prstGeom>
          <a:noFill/>
          <a:ln/>
        </p:spPr>
        <p:txBody>
          <a:bodyPr wrap="square" rtlCol="0" anchor="ctr"/>
          <a:lstStyle/>
          <a:p>
            <a:pPr algn="ctr" indent="0" marL="0">
              <a:buNone/>
            </a:pPr>
            <a:r>
              <a:rPr lang="en-US" sz="1200" i="1" dirty="0">
                <a:solidFill>
                  <a:srgbClr val="0E1C42"/>
                </a:solidFill>
                <a:latin typeface="Calibri" pitchFamily="34" charset="0"/>
                <a:ea typeface="Calibri" pitchFamily="34" charset="-122"/>
                <a:cs typeface="Calibri" pitchFamily="34" charset="-120"/>
              </a:rPr>
              <a:t>Virtue: Self-Governance — slow down, check the evidence, don't jump to conclusions.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0292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Clue #1: A Florida Photograph</a:t>
            </a:r>
            <a:endParaRPr lang="en-US" sz="2600" dirty="0"/>
          </a:p>
        </p:txBody>
      </p:sp>
      <p:sp>
        <p:nvSpPr>
          <p:cNvPr id="3" name="Text 1"/>
          <p:cNvSpPr/>
          <p:nvPr/>
        </p:nvSpPr>
        <p:spPr>
          <a:xfrm>
            <a:off x="365760" y="685800"/>
            <a:ext cx="8412480" cy="32004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Look at this source like a historian. Don't explain yet — just observe.</a:t>
            </a:r>
            <a:endParaRPr lang="en-US" sz="1300" dirty="0"/>
          </a:p>
        </p:txBody>
      </p:sp>
      <p:sp>
        <p:nvSpPr>
          <p:cNvPr id="4" name="Shape 2"/>
          <p:cNvSpPr/>
          <p:nvPr/>
        </p:nvSpPr>
        <p:spPr>
          <a:xfrm>
            <a:off x="365760" y="1097280"/>
            <a:ext cx="5029200" cy="32004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365760" y="1097280"/>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371600"/>
            <a:ext cx="475488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Black-and-white Florida photograph from the late 1800s or early 1900s — suggested: families at a Florida fish camp, citrus pickers, a one-room schoolhouse, or a Tampa / St. Augustine street scene. Source: Florida Memory Project (floridamemory.com). Save as: source-4-01-01-florida-historic-photo.jpg</a:t>
            </a:r>
            <a:endParaRPr lang="en-US" sz="1100" dirty="0"/>
          </a:p>
        </p:txBody>
      </p:sp>
      <p:sp>
        <p:nvSpPr>
          <p:cNvPr id="7" name="Shape 5"/>
          <p:cNvSpPr/>
          <p:nvPr/>
        </p:nvSpPr>
        <p:spPr>
          <a:xfrm>
            <a:off x="5577840" y="1097280"/>
            <a:ext cx="3200400" cy="1280160"/>
          </a:xfrm>
          <a:prstGeom prst="roundRect">
            <a:avLst>
              <a:gd name="adj" fmla="val 8571"/>
            </a:avLst>
          </a:prstGeom>
          <a:solidFill>
            <a:srgbClr val="F0F2F8"/>
          </a:solidFill>
          <a:ln w="12700">
            <a:solidFill>
              <a:srgbClr val="C8D0E0"/>
            </a:solidFill>
            <a:prstDash val="solid"/>
          </a:ln>
        </p:spPr>
      </p:sp>
      <p:sp>
        <p:nvSpPr>
          <p:cNvPr id="8" name="Text 6"/>
          <p:cNvSpPr/>
          <p:nvPr/>
        </p:nvSpPr>
        <p:spPr>
          <a:xfrm>
            <a:off x="5669280" y="1143000"/>
            <a:ext cx="301752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Name THREE details you see:</a:t>
            </a:r>
            <a:endParaRPr lang="en-US" sz="1200" dirty="0"/>
          </a:p>
        </p:txBody>
      </p:sp>
      <p:sp>
        <p:nvSpPr>
          <p:cNvPr id="9" name="Text 7"/>
          <p:cNvSpPr/>
          <p:nvPr/>
        </p:nvSpPr>
        <p:spPr>
          <a:xfrm>
            <a:off x="5669280" y="1463040"/>
            <a:ext cx="3017520" cy="82296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Clothing, objects, buildings, plants, tools — anything that stands out. Don't guess yet. Just describe.</a:t>
            </a:r>
            <a:endParaRPr lang="en-US" sz="1100" dirty="0"/>
          </a:p>
        </p:txBody>
      </p:sp>
      <p:sp>
        <p:nvSpPr>
          <p:cNvPr id="10" name="Shape 8"/>
          <p:cNvSpPr/>
          <p:nvPr/>
        </p:nvSpPr>
        <p:spPr>
          <a:xfrm>
            <a:off x="5577840" y="2514600"/>
            <a:ext cx="3200400" cy="1097280"/>
          </a:xfrm>
          <a:prstGeom prst="roundRect">
            <a:avLst>
              <a:gd name="adj" fmla="val 10000"/>
            </a:avLst>
          </a:prstGeom>
          <a:solidFill>
            <a:srgbClr val="FFF3DC"/>
          </a:solidFill>
          <a:ln w="19050">
            <a:solidFill>
              <a:srgbClr val="F5E6C8"/>
            </a:solidFill>
            <a:prstDash val="solid"/>
          </a:ln>
        </p:spPr>
      </p:sp>
      <p:sp>
        <p:nvSpPr>
          <p:cNvPr id="11" name="Text 9"/>
          <p:cNvSpPr/>
          <p:nvPr/>
        </p:nvSpPr>
        <p:spPr>
          <a:xfrm>
            <a:off x="5715000" y="25694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715000" y="2770632"/>
            <a:ext cx="29260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in this photograph."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detail stands out to me: ..."</a:t>
            </a:r>
            <a:endParaRPr lang="en-US" sz="1200" dirty="0"/>
          </a:p>
        </p:txBody>
      </p:sp>
      <p:sp>
        <p:nvSpPr>
          <p:cNvPr id="13" name="Shape 11"/>
          <p:cNvSpPr/>
          <p:nvPr/>
        </p:nvSpPr>
        <p:spPr>
          <a:xfrm>
            <a:off x="365760" y="4434840"/>
            <a:ext cx="8412480" cy="411480"/>
          </a:xfrm>
          <a:prstGeom prst="roundRect">
            <a:avLst>
              <a:gd name="adj" fmla="val 17778"/>
            </a:avLst>
          </a:prstGeom>
          <a:solidFill>
            <a:srgbClr val="EAF8FD"/>
          </a:solidFill>
          <a:ln/>
        </p:spPr>
      </p:sp>
      <p:sp>
        <p:nvSpPr>
          <p:cNvPr id="14" name="Text 12"/>
          <p:cNvSpPr/>
          <p:nvPr/>
        </p:nvSpPr>
        <p:spPr>
          <a:xfrm>
            <a:off x="457200" y="4434840"/>
            <a:ext cx="8229600" cy="411480"/>
          </a:xfrm>
          <a:prstGeom prst="rect">
            <a:avLst/>
          </a:prstGeom>
          <a:noFill/>
          <a:ln/>
        </p:spPr>
        <p:txBody>
          <a:bodyPr wrap="square" rtlCol="0" anchor="ctr"/>
          <a:lstStyle/>
          <a:p>
            <a:pPr algn="ctr" indent="0" marL="0">
              <a:buNone/>
            </a:pPr>
            <a:r>
              <a:rPr lang="en-US" sz="1000" i="1" dirty="0">
                <a:solidFill>
                  <a:srgbClr val="1A8A7D"/>
                </a:solidFill>
                <a:latin typeface="Calibri" pitchFamily="34" charset="0"/>
                <a:ea typeface="Calibri" pitchFamily="34" charset="-122"/>
                <a:cs typeface="Calibri" pitchFamily="34" charset="-120"/>
              </a:rPr>
              <a:t>5 seconds of silence — give students time to look before anyone speaks.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54864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Does That Detail Tell You?</a:t>
            </a:r>
            <a:endParaRPr lang="en-US" sz="2800" dirty="0"/>
          </a:p>
        </p:txBody>
      </p:sp>
      <p:sp>
        <p:nvSpPr>
          <p:cNvPr id="3" name="Text 1"/>
          <p:cNvSpPr/>
          <p:nvPr/>
        </p:nvSpPr>
        <p:spPr>
          <a:xfrm>
            <a:off x="365760" y="822960"/>
            <a:ext cx="5486400" cy="36576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You noticed something. Now think like a historian — what does it mean?</a:t>
            </a:r>
            <a:endParaRPr lang="en-US" sz="1300" dirty="0"/>
          </a:p>
        </p:txBody>
      </p:sp>
      <p:sp>
        <p:nvSpPr>
          <p:cNvPr id="4" name="Shape 2"/>
          <p:cNvSpPr/>
          <p:nvPr/>
        </p:nvSpPr>
        <p:spPr>
          <a:xfrm>
            <a:off x="365760" y="1325880"/>
            <a:ext cx="5303520" cy="1371600"/>
          </a:xfrm>
          <a:prstGeom prst="roundRect">
            <a:avLst>
              <a:gd name="adj" fmla="val 8000"/>
            </a:avLst>
          </a:prstGeom>
          <a:solidFill>
            <a:srgbClr val="F0F2F8"/>
          </a:solidFill>
          <a:ln w="12700">
            <a:solidFill>
              <a:srgbClr val="C8D0E0"/>
            </a:solidFill>
            <a:prstDash val="solid"/>
          </a:ln>
        </p:spPr>
      </p:sp>
      <p:sp>
        <p:nvSpPr>
          <p:cNvPr id="5" name="Text 3"/>
          <p:cNvSpPr/>
          <p:nvPr/>
        </p:nvSpPr>
        <p:spPr>
          <a:xfrm>
            <a:off x="548640" y="1417320"/>
            <a:ext cx="493776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 historian asks THREE questions of every source:</a:t>
            </a:r>
            <a:endParaRPr lang="en-US" sz="1200" dirty="0"/>
          </a:p>
        </p:txBody>
      </p:sp>
      <p:sp>
        <p:nvSpPr>
          <p:cNvPr id="6" name="Shape 4"/>
          <p:cNvSpPr/>
          <p:nvPr/>
        </p:nvSpPr>
        <p:spPr>
          <a:xfrm>
            <a:off x="594360" y="1810512"/>
            <a:ext cx="201168" cy="201168"/>
          </a:xfrm>
          <a:prstGeom prst="ellipse">
            <a:avLst/>
          </a:prstGeom>
          <a:solidFill>
            <a:srgbClr val="1A8A7D"/>
          </a:solidFill>
          <a:ln/>
        </p:spPr>
      </p:sp>
      <p:sp>
        <p:nvSpPr>
          <p:cNvPr id="7" name="Text 5"/>
          <p:cNvSpPr/>
          <p:nvPr/>
        </p:nvSpPr>
        <p:spPr>
          <a:xfrm>
            <a:off x="868680" y="1783080"/>
            <a:ext cx="4663440" cy="237744"/>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What do I see?</a:t>
            </a:r>
            <a:endParaRPr lang="en-US" sz="1200" dirty="0"/>
          </a:p>
        </p:txBody>
      </p:sp>
      <p:sp>
        <p:nvSpPr>
          <p:cNvPr id="8" name="Shape 6"/>
          <p:cNvSpPr/>
          <p:nvPr/>
        </p:nvSpPr>
        <p:spPr>
          <a:xfrm>
            <a:off x="594360" y="2084832"/>
            <a:ext cx="201168" cy="201168"/>
          </a:xfrm>
          <a:prstGeom prst="ellipse">
            <a:avLst/>
          </a:prstGeom>
          <a:solidFill>
            <a:srgbClr val="1A8A7D"/>
          </a:solidFill>
          <a:ln/>
        </p:spPr>
      </p:sp>
      <p:sp>
        <p:nvSpPr>
          <p:cNvPr id="9" name="Text 7"/>
          <p:cNvSpPr/>
          <p:nvPr/>
        </p:nvSpPr>
        <p:spPr>
          <a:xfrm>
            <a:off x="868680" y="2057400"/>
            <a:ext cx="4663440" cy="237744"/>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What does it mean?</a:t>
            </a:r>
            <a:endParaRPr lang="en-US" sz="1200" dirty="0"/>
          </a:p>
        </p:txBody>
      </p:sp>
      <p:sp>
        <p:nvSpPr>
          <p:cNvPr id="10" name="Shape 8"/>
          <p:cNvSpPr/>
          <p:nvPr/>
        </p:nvSpPr>
        <p:spPr>
          <a:xfrm>
            <a:off x="594360" y="2359152"/>
            <a:ext cx="201168" cy="201168"/>
          </a:xfrm>
          <a:prstGeom prst="ellipse">
            <a:avLst/>
          </a:prstGeom>
          <a:solidFill>
            <a:srgbClr val="1A8A7D"/>
          </a:solidFill>
          <a:ln/>
        </p:spPr>
      </p:sp>
      <p:sp>
        <p:nvSpPr>
          <p:cNvPr id="11" name="Text 9"/>
          <p:cNvSpPr/>
          <p:nvPr/>
        </p:nvSpPr>
        <p:spPr>
          <a:xfrm>
            <a:off x="868680" y="2331720"/>
            <a:ext cx="4663440" cy="237744"/>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Why does it matter?</a:t>
            </a:r>
            <a:endParaRPr lang="en-US" sz="1200" dirty="0"/>
          </a:p>
        </p:txBody>
      </p:sp>
      <p:sp>
        <p:nvSpPr>
          <p:cNvPr id="12" name="Shape 10"/>
          <p:cNvSpPr/>
          <p:nvPr/>
        </p:nvSpPr>
        <p:spPr>
          <a:xfrm>
            <a:off x="5806440" y="1325880"/>
            <a:ext cx="2971800" cy="18288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989320" y="1417320"/>
            <a:ext cx="2606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989320" y="1673352"/>
            <a:ext cx="2606040" cy="13898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that detail tell you about the people in this photograph?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explanation for what you see?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be harder to know if this photograph didn't exist?</a:t>
            </a:r>
            <a:endParaRPr lang="en-US" sz="1100" dirty="0"/>
          </a:p>
        </p:txBody>
      </p:sp>
      <p:sp>
        <p:nvSpPr>
          <p:cNvPr id="15" name="Shape 13"/>
          <p:cNvSpPr/>
          <p:nvPr/>
        </p:nvSpPr>
        <p:spPr>
          <a:xfrm>
            <a:off x="365760" y="2880360"/>
            <a:ext cx="5303520" cy="1188720"/>
          </a:xfrm>
          <a:prstGeom prst="roundRect">
            <a:avLst>
              <a:gd name="adj" fmla="val 9231"/>
            </a:avLst>
          </a:prstGeom>
          <a:solidFill>
            <a:srgbClr val="FFF3DC"/>
          </a:solidFill>
          <a:ln w="19050">
            <a:solidFill>
              <a:srgbClr val="F5E6C8"/>
            </a:solidFill>
            <a:prstDash val="solid"/>
          </a:ln>
        </p:spPr>
      </p:sp>
      <p:sp>
        <p:nvSpPr>
          <p:cNvPr id="16" name="Text 14"/>
          <p:cNvSpPr/>
          <p:nvPr/>
        </p:nvSpPr>
        <p:spPr>
          <a:xfrm>
            <a:off x="502920" y="2935224"/>
            <a:ext cx="5029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3136392"/>
            <a:ext cx="502920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detail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photograph, we would not know..."</a:t>
            </a:r>
            <a:endParaRPr lang="en-US" sz="1200" dirty="0"/>
          </a:p>
        </p:txBody>
      </p:sp>
      <p:sp>
        <p:nvSpPr>
          <p:cNvPr id="18" name="Shape 16"/>
          <p:cNvSpPr/>
          <p:nvPr/>
        </p:nvSpPr>
        <p:spPr>
          <a:xfrm>
            <a:off x="365760" y="4206240"/>
            <a:ext cx="8412480" cy="640080"/>
          </a:xfrm>
          <a:prstGeom prst="roundRect">
            <a:avLst>
              <a:gd name="adj" fmla="val 14286"/>
            </a:avLst>
          </a:prstGeom>
          <a:solidFill>
            <a:srgbClr val="E3F8ED"/>
          </a:solidFill>
          <a:ln w="12700">
            <a:solidFill>
              <a:srgbClr val="34B76F"/>
            </a:solidFill>
            <a:prstDash val="solid"/>
          </a:ln>
        </p:spPr>
      </p:sp>
      <p:sp>
        <p:nvSpPr>
          <p:cNvPr id="19" name="Text 17"/>
          <p:cNvSpPr/>
          <p:nvPr/>
        </p:nvSpPr>
        <p:spPr>
          <a:xfrm>
            <a:off x="548640" y="4206240"/>
            <a:ext cx="8046720" cy="640080"/>
          </a:xfrm>
          <a:prstGeom prst="rect">
            <a:avLst/>
          </a:prstGeom>
          <a:noFill/>
          <a:ln/>
        </p:spPr>
        <p:txBody>
          <a:bodyPr wrap="square" rtlCol="0" anchor="ctr"/>
          <a:lstStyle/>
          <a:p>
            <a:pPr algn="ctr" indent="0" marL="0">
              <a:buNone/>
            </a:pPr>
            <a:r>
              <a:rPr lang="en-US" sz="1200" b="1" dirty="0">
                <a:solidFill>
                  <a:srgbClr val="1A6B3A"/>
                </a:solidFill>
                <a:latin typeface="Calibri" pitchFamily="34" charset="0"/>
                <a:ea typeface="Calibri" pitchFamily="34" charset="-122"/>
                <a:cs typeface="Calibri" pitchFamily="34" charset="-120"/>
              </a:rPr>
              <a:t>Key move: You just used a photograph as EVIDENCE. That is exactly what historians do.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14400" y="548640"/>
            <a:ext cx="7315200" cy="457200"/>
          </a:xfrm>
          <a:prstGeom prst="rect">
            <a:avLst/>
          </a:prstGeom>
          <a:noFill/>
          <a:ln/>
        </p:spPr>
        <p:txBody>
          <a:bodyPr wrap="square" rtlCol="0" anchor="ctr"/>
          <a:lstStyle/>
          <a:p>
            <a:pPr algn="ctr" indent="0" marL="0">
              <a:buNone/>
            </a:pPr>
            <a:r>
              <a:rPr lang="en-US" sz="1600" spc="200" kern="0" dirty="0">
                <a:solidFill>
                  <a:srgbClr val="55C8E8"/>
                </a:solidFill>
                <a:latin typeface="Calibri" pitchFamily="34" charset="0"/>
                <a:ea typeface="Calibri" pitchFamily="34" charset="-122"/>
                <a:cs typeface="Calibri" pitchFamily="34" charset="-120"/>
              </a:rPr>
              <a:t>You found it:</a:t>
            </a:r>
            <a:endParaRPr lang="en-US" sz="1600" dirty="0"/>
          </a:p>
        </p:txBody>
      </p:sp>
      <p:sp>
        <p:nvSpPr>
          <p:cNvPr id="3" name="Text 1"/>
          <p:cNvSpPr/>
          <p:nvPr/>
        </p:nvSpPr>
        <p:spPr>
          <a:xfrm>
            <a:off x="914400" y="1005840"/>
            <a:ext cx="7315200" cy="1005840"/>
          </a:xfrm>
          <a:prstGeom prst="rect">
            <a:avLst/>
          </a:prstGeom>
          <a:noFill/>
          <a:ln/>
        </p:spPr>
        <p:txBody>
          <a:bodyPr wrap="square" rtlCol="0" anchor="ctr"/>
          <a:lstStyle/>
          <a:p>
            <a:pPr algn="ctr" indent="0" marL="0">
              <a:buNone/>
            </a:pPr>
            <a:r>
              <a:rPr lang="en-US" sz="6400" b="1" dirty="0">
                <a:solidFill>
                  <a:srgbClr val="D4943A"/>
                </a:solidFill>
                <a:latin typeface="Cambria" pitchFamily="34" charset="0"/>
                <a:ea typeface="Cambria" pitchFamily="34" charset="-122"/>
                <a:cs typeface="Cambria" pitchFamily="34" charset="-120"/>
              </a:rPr>
              <a:t>EVIDENCE</a:t>
            </a:r>
            <a:endParaRPr lang="en-US" sz="6400" dirty="0"/>
          </a:p>
        </p:txBody>
      </p:sp>
      <p:sp>
        <p:nvSpPr>
          <p:cNvPr id="4" name="Text 2"/>
          <p:cNvSpPr/>
          <p:nvPr/>
        </p:nvSpPr>
        <p:spPr>
          <a:xfrm>
            <a:off x="914400" y="2103120"/>
            <a:ext cx="7315200" cy="8229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Photographs, maps, letters, objects, and stories that tell us</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what really happened — so other people can check our work.</a:t>
            </a:r>
            <a:endParaRPr lang="en-US" sz="1600" dirty="0"/>
          </a:p>
        </p:txBody>
      </p:sp>
      <p:sp>
        <p:nvSpPr>
          <p:cNvPr id="5" name="Shape 3"/>
          <p:cNvSpPr/>
          <p:nvPr/>
        </p:nvSpPr>
        <p:spPr>
          <a:xfrm>
            <a:off x="2743200" y="3063240"/>
            <a:ext cx="3657600" cy="0"/>
          </a:xfrm>
          <a:prstGeom prst="line">
            <a:avLst/>
          </a:prstGeom>
          <a:noFill/>
          <a:ln w="19050">
            <a:solidFill>
              <a:srgbClr val="D4943A"/>
            </a:solidFill>
            <a:prstDash val="solid"/>
          </a:ln>
        </p:spPr>
      </p:sp>
      <p:sp>
        <p:nvSpPr>
          <p:cNvPr id="6" name="Text 4"/>
          <p:cNvSpPr/>
          <p:nvPr/>
        </p:nvSpPr>
        <p:spPr>
          <a:xfrm>
            <a:off x="914400" y="3200400"/>
            <a:ext cx="7315200" cy="365760"/>
          </a:xfrm>
          <a:prstGeom prst="rect">
            <a:avLst/>
          </a:prstGeom>
          <a:noFill/>
          <a:ln/>
        </p:spPr>
        <p:txBody>
          <a:bodyPr wrap="square" rtlCol="0" anchor="ctr"/>
          <a:lstStyle/>
          <a:p>
            <a:pPr algn="ctr" indent="0" marL="0">
              <a:buNone/>
            </a:pPr>
            <a:r>
              <a:rPr lang="en-US" sz="1300" i="1" dirty="0">
                <a:solidFill>
                  <a:srgbClr val="A0C0E8"/>
                </a:solidFill>
                <a:latin typeface="Calibri" pitchFamily="34" charset="0"/>
                <a:ea typeface="Calibri" pitchFamily="34" charset="-122"/>
                <a:cs typeface="Calibri" pitchFamily="34" charset="-120"/>
              </a:rPr>
              <a:t>Evidence is ONE of the four things historians study.</a:t>
            </a:r>
            <a:endParaRPr lang="en-US" sz="1300" dirty="0"/>
          </a:p>
        </p:txBody>
      </p:sp>
      <p:sp>
        <p:nvSpPr>
          <p:cNvPr id="7" name="Shape 5"/>
          <p:cNvSpPr/>
          <p:nvPr/>
        </p:nvSpPr>
        <p:spPr>
          <a:xfrm>
            <a:off x="2286000" y="3703320"/>
            <a:ext cx="4572000" cy="822960"/>
          </a:xfrm>
          <a:prstGeom prst="roundRect">
            <a:avLst>
              <a:gd name="adj" fmla="val 11111"/>
            </a:avLst>
          </a:prstGeom>
          <a:solidFill>
            <a:srgbClr val="152340"/>
          </a:solidFill>
          <a:ln w="12700">
            <a:solidFill>
              <a:srgbClr val="1A8A7D"/>
            </a:solidFill>
            <a:prstDash val="solid"/>
          </a:ln>
        </p:spPr>
      </p:sp>
      <p:sp>
        <p:nvSpPr>
          <p:cNvPr id="8" name="Text 6"/>
          <p:cNvSpPr/>
          <p:nvPr/>
        </p:nvSpPr>
        <p:spPr>
          <a:xfrm>
            <a:off x="2377440" y="3703320"/>
            <a:ext cx="4389120" cy="822960"/>
          </a:xfrm>
          <a:prstGeom prst="rect">
            <a:avLst/>
          </a:prstGeom>
          <a:noFill/>
          <a:ln/>
        </p:spPr>
        <p:txBody>
          <a:bodyPr wrap="square" rtlCol="0" anchor="ctr"/>
          <a:lstStyle/>
          <a:p>
            <a:pPr algn="ctr" indent="0" marL="0">
              <a:buNone/>
            </a:pPr>
            <a:r>
              <a:rPr lang="en-US" sz="1100" i="1" dirty="0">
                <a:solidFill>
                  <a:srgbClr val="55C8E8"/>
                </a:solidFill>
                <a:latin typeface="Calibri" pitchFamily="34" charset="0"/>
                <a:ea typeface="Calibri" pitchFamily="34" charset="-122"/>
                <a:cs typeface="Calibri" pitchFamily="34" charset="-120"/>
              </a:rPr>
              <a:t>Quick retrieval: Cover your screen. What is evidence?</a:t>
            </a:r>
            <a:endParaRPr lang="en-US" sz="1100" dirty="0"/>
          </a:p>
          <a:p>
            <a:pPr algn="ctr" indent="0" marL="0">
              <a:buNone/>
            </a:pPr>
            <a:r>
              <a:rPr lang="en-US" sz="1100" i="1" dirty="0">
                <a:solidFill>
                  <a:srgbClr val="55C8E8"/>
                </a:solidFill>
                <a:latin typeface="Calibri" pitchFamily="34" charset="0"/>
                <a:ea typeface="Calibri" pitchFamily="34" charset="-122"/>
                <a:cs typeface="Calibri" pitchFamily="34" charset="-120"/>
              </a:rPr>
              <a:t>Say it in your own words.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else do historians study?</a:t>
            </a:r>
            <a:endParaRPr lang="en-US" sz="2800" dirty="0"/>
          </a:p>
        </p:txBody>
      </p:sp>
      <p:sp>
        <p:nvSpPr>
          <p:cNvPr id="3" name="Text 1"/>
          <p:cNvSpPr/>
          <p:nvPr/>
        </p:nvSpPr>
        <p:spPr>
          <a:xfrm>
            <a:off x="365760" y="731520"/>
            <a:ext cx="8412480" cy="36576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We know evidence is one thing. Look at these four locked files. What might be inside?</a:t>
            </a:r>
            <a:endParaRPr lang="en-US" sz="1300" dirty="0"/>
          </a:p>
        </p:txBody>
      </p:sp>
      <p:sp>
        <p:nvSpPr>
          <p:cNvPr id="4" name="Shape 2"/>
          <p:cNvSpPr/>
          <p:nvPr/>
        </p:nvSpPr>
        <p:spPr>
          <a:xfrm>
            <a:off x="365760" y="1234440"/>
            <a:ext cx="1920240" cy="2286000"/>
          </a:xfrm>
          <a:prstGeom prst="roundRect">
            <a:avLst>
              <a:gd name="adj" fmla="val 7143"/>
            </a:avLst>
          </a:prstGeom>
          <a:solidFill>
            <a:srgbClr val="2A4A8A"/>
          </a:solidFill>
          <a:ln w="19050">
            <a:solidFill>
              <a:srgbClr val="D4943A"/>
            </a:solidFill>
            <a:prstDash val="dash"/>
          </a:ln>
        </p:spPr>
      </p:sp>
      <p:sp>
        <p:nvSpPr>
          <p:cNvPr id="5" name="Text 3"/>
          <p:cNvSpPr/>
          <p:nvPr/>
        </p:nvSpPr>
        <p:spPr>
          <a:xfrm>
            <a:off x="365760" y="1417320"/>
            <a:ext cx="1920240" cy="822960"/>
          </a:xfrm>
          <a:prstGeom prst="rect">
            <a:avLst/>
          </a:prstGeom>
          <a:noFill/>
          <a:ln/>
        </p:spPr>
        <p:txBody>
          <a:bodyPr wrap="square"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a:t>
            </a:r>
            <a:endParaRPr lang="en-US" sz="4800" dirty="0"/>
          </a:p>
        </p:txBody>
      </p:sp>
      <p:sp>
        <p:nvSpPr>
          <p:cNvPr id="6" name="Text 4"/>
          <p:cNvSpPr/>
          <p:nvPr/>
        </p:nvSpPr>
        <p:spPr>
          <a:xfrm>
            <a:off x="365760" y="2286000"/>
            <a:ext cx="1920240" cy="320040"/>
          </a:xfrm>
          <a:prstGeom prst="rect">
            <a:avLst/>
          </a:prstGeom>
          <a:noFill/>
          <a:ln/>
        </p:spPr>
        <p:txBody>
          <a:bodyPr wrap="square" rtlCol="0" anchor="ctr"/>
          <a:lstStyle/>
          <a:p>
            <a:pPr algn="ctr" indent="0" marL="0">
              <a:buNone/>
            </a:pPr>
            <a:r>
              <a:rPr lang="en-US" sz="1100" b="1" spc="100" kern="0" dirty="0">
                <a:solidFill>
                  <a:srgbClr val="A0C0E8"/>
                </a:solidFill>
                <a:latin typeface="Calibri" pitchFamily="34" charset="0"/>
                <a:ea typeface="Calibri" pitchFamily="34" charset="-122"/>
                <a:cs typeface="Calibri" pitchFamily="34" charset="-120"/>
              </a:rPr>
              <a:t>FILE A</a:t>
            </a:r>
            <a:endParaRPr lang="en-US" sz="1100" dirty="0"/>
          </a:p>
        </p:txBody>
      </p:sp>
      <p:sp>
        <p:nvSpPr>
          <p:cNvPr id="7" name="Text 5"/>
          <p:cNvSpPr/>
          <p:nvPr/>
        </p:nvSpPr>
        <p:spPr>
          <a:xfrm>
            <a:off x="457200" y="2606040"/>
            <a:ext cx="1737360" cy="822960"/>
          </a:xfrm>
          <a:prstGeom prst="rect">
            <a:avLst/>
          </a:prstGeom>
          <a:noFill/>
          <a:ln/>
        </p:spPr>
        <p:txBody>
          <a:bodyPr wrap="square" rtlCol="0" anchor="ctr"/>
          <a:lstStyle/>
          <a:p>
            <a:pPr algn="ctr" indent="0" marL="0">
              <a:buNone/>
            </a:pPr>
            <a:r>
              <a:rPr lang="en-US" sz="1000" i="1" dirty="0">
                <a:solidFill>
                  <a:srgbClr val="D6E8FF"/>
                </a:solidFill>
                <a:latin typeface="Calibri" pitchFamily="34" charset="0"/>
                <a:ea typeface="Calibri" pitchFamily="34" charset="-122"/>
                <a:cs typeface="Calibri" pitchFamily="34" charset="-120"/>
              </a:rPr>
              <a:t>Who lived here and how they lived</a:t>
            </a:r>
            <a:endParaRPr lang="en-US" sz="1000" dirty="0"/>
          </a:p>
        </p:txBody>
      </p:sp>
      <p:sp>
        <p:nvSpPr>
          <p:cNvPr id="8" name="Shape 6"/>
          <p:cNvSpPr/>
          <p:nvPr/>
        </p:nvSpPr>
        <p:spPr>
          <a:xfrm>
            <a:off x="2468880" y="1234440"/>
            <a:ext cx="1920240" cy="2286000"/>
          </a:xfrm>
          <a:prstGeom prst="roundRect">
            <a:avLst>
              <a:gd name="adj" fmla="val 7143"/>
            </a:avLst>
          </a:prstGeom>
          <a:solidFill>
            <a:srgbClr val="1A6A5A"/>
          </a:solidFill>
          <a:ln w="19050">
            <a:solidFill>
              <a:srgbClr val="D4943A"/>
            </a:solidFill>
            <a:prstDash val="dash"/>
          </a:ln>
        </p:spPr>
      </p:sp>
      <p:sp>
        <p:nvSpPr>
          <p:cNvPr id="9" name="Text 7"/>
          <p:cNvSpPr/>
          <p:nvPr/>
        </p:nvSpPr>
        <p:spPr>
          <a:xfrm>
            <a:off x="2468880" y="1417320"/>
            <a:ext cx="1920240" cy="822960"/>
          </a:xfrm>
          <a:prstGeom prst="rect">
            <a:avLst/>
          </a:prstGeom>
          <a:noFill/>
          <a:ln/>
        </p:spPr>
        <p:txBody>
          <a:bodyPr wrap="square"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a:t>
            </a:r>
            <a:endParaRPr lang="en-US" sz="4800" dirty="0"/>
          </a:p>
        </p:txBody>
      </p:sp>
      <p:sp>
        <p:nvSpPr>
          <p:cNvPr id="10" name="Text 8"/>
          <p:cNvSpPr/>
          <p:nvPr/>
        </p:nvSpPr>
        <p:spPr>
          <a:xfrm>
            <a:off x="2468880" y="2286000"/>
            <a:ext cx="1920240" cy="320040"/>
          </a:xfrm>
          <a:prstGeom prst="rect">
            <a:avLst/>
          </a:prstGeom>
          <a:noFill/>
          <a:ln/>
        </p:spPr>
        <p:txBody>
          <a:bodyPr wrap="square" rtlCol="0" anchor="ctr"/>
          <a:lstStyle/>
          <a:p>
            <a:pPr algn="ctr" indent="0" marL="0">
              <a:buNone/>
            </a:pPr>
            <a:r>
              <a:rPr lang="en-US" sz="1100" b="1" spc="100" kern="0" dirty="0">
                <a:solidFill>
                  <a:srgbClr val="A0C0E8"/>
                </a:solidFill>
                <a:latin typeface="Calibri" pitchFamily="34" charset="0"/>
                <a:ea typeface="Calibri" pitchFamily="34" charset="-122"/>
                <a:cs typeface="Calibri" pitchFamily="34" charset="-120"/>
              </a:rPr>
              <a:t>FILE B</a:t>
            </a:r>
            <a:endParaRPr lang="en-US" sz="1100" dirty="0"/>
          </a:p>
        </p:txBody>
      </p:sp>
      <p:sp>
        <p:nvSpPr>
          <p:cNvPr id="11" name="Text 9"/>
          <p:cNvSpPr/>
          <p:nvPr/>
        </p:nvSpPr>
        <p:spPr>
          <a:xfrm>
            <a:off x="2560320" y="2606040"/>
            <a:ext cx="1737360" cy="822960"/>
          </a:xfrm>
          <a:prstGeom prst="rect">
            <a:avLst/>
          </a:prstGeom>
          <a:noFill/>
          <a:ln/>
        </p:spPr>
        <p:txBody>
          <a:bodyPr wrap="square" rtlCol="0" anchor="ctr"/>
          <a:lstStyle/>
          <a:p>
            <a:pPr algn="ctr" indent="0" marL="0">
              <a:buNone/>
            </a:pPr>
            <a:r>
              <a:rPr lang="en-US" sz="1000" i="1" dirty="0">
                <a:solidFill>
                  <a:srgbClr val="D6E8FF"/>
                </a:solidFill>
                <a:latin typeface="Calibri" pitchFamily="34" charset="0"/>
                <a:ea typeface="Calibri" pitchFamily="34" charset="-122"/>
                <a:cs typeface="Calibri" pitchFamily="34" charset="-120"/>
              </a:rPr>
              <a:t>The land, water, climate, how people used them</a:t>
            </a:r>
            <a:endParaRPr lang="en-US" sz="1000" dirty="0"/>
          </a:p>
        </p:txBody>
      </p:sp>
      <p:sp>
        <p:nvSpPr>
          <p:cNvPr id="12" name="Shape 10"/>
          <p:cNvSpPr/>
          <p:nvPr/>
        </p:nvSpPr>
        <p:spPr>
          <a:xfrm>
            <a:off x="4572000" y="1234440"/>
            <a:ext cx="1920240" cy="2286000"/>
          </a:xfrm>
          <a:prstGeom prst="roundRect">
            <a:avLst>
              <a:gd name="adj" fmla="val 7143"/>
            </a:avLst>
          </a:prstGeom>
          <a:solidFill>
            <a:srgbClr val="6A3A8A"/>
          </a:solidFill>
          <a:ln w="19050">
            <a:solidFill>
              <a:srgbClr val="D4943A"/>
            </a:solidFill>
            <a:prstDash val="dash"/>
          </a:ln>
        </p:spPr>
      </p:sp>
      <p:sp>
        <p:nvSpPr>
          <p:cNvPr id="13" name="Text 11"/>
          <p:cNvSpPr/>
          <p:nvPr/>
        </p:nvSpPr>
        <p:spPr>
          <a:xfrm>
            <a:off x="4572000" y="1417320"/>
            <a:ext cx="1920240" cy="822960"/>
          </a:xfrm>
          <a:prstGeom prst="rect">
            <a:avLst/>
          </a:prstGeom>
          <a:noFill/>
          <a:ln/>
        </p:spPr>
        <p:txBody>
          <a:bodyPr wrap="square"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a:t>
            </a:r>
            <a:endParaRPr lang="en-US" sz="4800" dirty="0"/>
          </a:p>
        </p:txBody>
      </p:sp>
      <p:sp>
        <p:nvSpPr>
          <p:cNvPr id="14" name="Text 12"/>
          <p:cNvSpPr/>
          <p:nvPr/>
        </p:nvSpPr>
        <p:spPr>
          <a:xfrm>
            <a:off x="4572000" y="2286000"/>
            <a:ext cx="1920240" cy="320040"/>
          </a:xfrm>
          <a:prstGeom prst="rect">
            <a:avLst/>
          </a:prstGeom>
          <a:noFill/>
          <a:ln/>
        </p:spPr>
        <p:txBody>
          <a:bodyPr wrap="square" rtlCol="0" anchor="ctr"/>
          <a:lstStyle/>
          <a:p>
            <a:pPr algn="ctr" indent="0" marL="0">
              <a:buNone/>
            </a:pPr>
            <a:r>
              <a:rPr lang="en-US" sz="1100" b="1" spc="100" kern="0" dirty="0">
                <a:solidFill>
                  <a:srgbClr val="A0C0E8"/>
                </a:solidFill>
                <a:latin typeface="Calibri" pitchFamily="34" charset="0"/>
                <a:ea typeface="Calibri" pitchFamily="34" charset="-122"/>
                <a:cs typeface="Calibri" pitchFamily="34" charset="-120"/>
              </a:rPr>
              <a:t>FILE C</a:t>
            </a:r>
            <a:endParaRPr lang="en-US" sz="1100" dirty="0"/>
          </a:p>
        </p:txBody>
      </p:sp>
      <p:sp>
        <p:nvSpPr>
          <p:cNvPr id="15" name="Text 13"/>
          <p:cNvSpPr/>
          <p:nvPr/>
        </p:nvSpPr>
        <p:spPr>
          <a:xfrm>
            <a:off x="4663440" y="2606040"/>
            <a:ext cx="1737360" cy="822960"/>
          </a:xfrm>
          <a:prstGeom prst="rect">
            <a:avLst/>
          </a:prstGeom>
          <a:noFill/>
          <a:ln/>
        </p:spPr>
        <p:txBody>
          <a:bodyPr wrap="square" rtlCol="0" anchor="ctr"/>
          <a:lstStyle/>
          <a:p>
            <a:pPr algn="ctr" indent="0" marL="0">
              <a:buNone/>
            </a:pPr>
            <a:r>
              <a:rPr lang="en-US" sz="1000" i="1" dirty="0">
                <a:solidFill>
                  <a:srgbClr val="D6E8FF"/>
                </a:solidFill>
                <a:latin typeface="Calibri" pitchFamily="34" charset="0"/>
                <a:ea typeface="Calibri" pitchFamily="34" charset="-122"/>
                <a:cs typeface="Calibri" pitchFamily="34" charset="-120"/>
              </a:rPr>
              <a:t>What happened, when, and why</a:t>
            </a:r>
            <a:endParaRPr lang="en-US" sz="1000" dirty="0"/>
          </a:p>
        </p:txBody>
      </p:sp>
      <p:sp>
        <p:nvSpPr>
          <p:cNvPr id="16" name="Shape 14"/>
          <p:cNvSpPr/>
          <p:nvPr/>
        </p:nvSpPr>
        <p:spPr>
          <a:xfrm>
            <a:off x="6675120" y="1234440"/>
            <a:ext cx="1920240" cy="2286000"/>
          </a:xfrm>
          <a:prstGeom prst="roundRect">
            <a:avLst>
              <a:gd name="adj" fmla="val 7143"/>
            </a:avLst>
          </a:prstGeom>
          <a:solidFill>
            <a:srgbClr val="8A4A1A"/>
          </a:solidFill>
          <a:ln w="19050">
            <a:solidFill>
              <a:srgbClr val="D4943A"/>
            </a:solidFill>
            <a:prstDash val="dash"/>
          </a:ln>
        </p:spPr>
      </p:sp>
      <p:sp>
        <p:nvSpPr>
          <p:cNvPr id="17" name="Text 15"/>
          <p:cNvSpPr/>
          <p:nvPr/>
        </p:nvSpPr>
        <p:spPr>
          <a:xfrm>
            <a:off x="6675120" y="1417320"/>
            <a:ext cx="1920240" cy="822960"/>
          </a:xfrm>
          <a:prstGeom prst="rect">
            <a:avLst/>
          </a:prstGeom>
          <a:noFill/>
          <a:ln/>
        </p:spPr>
        <p:txBody>
          <a:bodyPr wrap="square"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a:t>
            </a:r>
            <a:endParaRPr lang="en-US" sz="4800" dirty="0"/>
          </a:p>
        </p:txBody>
      </p:sp>
      <p:sp>
        <p:nvSpPr>
          <p:cNvPr id="18" name="Text 16"/>
          <p:cNvSpPr/>
          <p:nvPr/>
        </p:nvSpPr>
        <p:spPr>
          <a:xfrm>
            <a:off x="6675120" y="2286000"/>
            <a:ext cx="1920240" cy="320040"/>
          </a:xfrm>
          <a:prstGeom prst="rect">
            <a:avLst/>
          </a:prstGeom>
          <a:noFill/>
          <a:ln/>
        </p:spPr>
        <p:txBody>
          <a:bodyPr wrap="square" rtlCol="0" anchor="ctr"/>
          <a:lstStyle/>
          <a:p>
            <a:pPr algn="ctr" indent="0" marL="0">
              <a:buNone/>
            </a:pPr>
            <a:r>
              <a:rPr lang="en-US" sz="1100" b="1" spc="100" kern="0" dirty="0">
                <a:solidFill>
                  <a:srgbClr val="A0C0E8"/>
                </a:solidFill>
                <a:latin typeface="Calibri" pitchFamily="34" charset="0"/>
                <a:ea typeface="Calibri" pitchFamily="34" charset="-122"/>
                <a:cs typeface="Calibri" pitchFamily="34" charset="-120"/>
              </a:rPr>
              <a:t>FILE D</a:t>
            </a:r>
            <a:endParaRPr lang="en-US" sz="1100" dirty="0"/>
          </a:p>
        </p:txBody>
      </p:sp>
      <p:sp>
        <p:nvSpPr>
          <p:cNvPr id="19" name="Text 17"/>
          <p:cNvSpPr/>
          <p:nvPr/>
        </p:nvSpPr>
        <p:spPr>
          <a:xfrm>
            <a:off x="6766560" y="2606040"/>
            <a:ext cx="1737360" cy="822960"/>
          </a:xfrm>
          <a:prstGeom prst="rect">
            <a:avLst/>
          </a:prstGeom>
          <a:noFill/>
          <a:ln/>
        </p:spPr>
        <p:txBody>
          <a:bodyPr wrap="square" rtlCol="0" anchor="ctr"/>
          <a:lstStyle/>
          <a:p>
            <a:pPr algn="ctr" indent="0" marL="0">
              <a:buNone/>
            </a:pPr>
            <a:r>
              <a:rPr lang="en-US" sz="1000" i="1" dirty="0">
                <a:solidFill>
                  <a:srgbClr val="D6E8FF"/>
                </a:solidFill>
                <a:latin typeface="Calibri" pitchFamily="34" charset="0"/>
                <a:ea typeface="Calibri" pitchFamily="34" charset="-122"/>
                <a:cs typeface="Calibri" pitchFamily="34" charset="-120"/>
              </a:rPr>
              <a:t>Photographs, maps, letters — the proof</a:t>
            </a:r>
            <a:endParaRPr lang="en-US" sz="1000" dirty="0"/>
          </a:p>
        </p:txBody>
      </p:sp>
      <p:sp>
        <p:nvSpPr>
          <p:cNvPr id="20" name="Shape 18"/>
          <p:cNvSpPr/>
          <p:nvPr/>
        </p:nvSpPr>
        <p:spPr>
          <a:xfrm>
            <a:off x="365760" y="3657600"/>
            <a:ext cx="8412480" cy="1188720"/>
          </a:xfrm>
          <a:prstGeom prst="roundRect">
            <a:avLst>
              <a:gd name="adj" fmla="val 9231"/>
            </a:avLst>
          </a:prstGeom>
          <a:solidFill>
            <a:srgbClr val="FFF3DC"/>
          </a:solidFill>
          <a:ln w="19050">
            <a:solidFill>
              <a:srgbClr val="F5E6C8"/>
            </a:solidFill>
            <a:prstDash val="solid"/>
          </a:ln>
        </p:spPr>
      </p:sp>
      <p:sp>
        <p:nvSpPr>
          <p:cNvPr id="21" name="Text 19"/>
          <p:cNvSpPr/>
          <p:nvPr/>
        </p:nvSpPr>
        <p:spPr>
          <a:xfrm>
            <a:off x="502920" y="371246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2" name="Text 20"/>
          <p:cNvSpPr/>
          <p:nvPr/>
        </p:nvSpPr>
        <p:spPr>
          <a:xfrm>
            <a:off x="502920" y="3913632"/>
            <a:ext cx="813816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historians also study...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"File ___ probably contains...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14400" y="274320"/>
            <a:ext cx="7315200" cy="457200"/>
          </a:xfrm>
          <a:prstGeom prst="rect">
            <a:avLst/>
          </a:prstGeom>
          <a:noFill/>
          <a:ln/>
        </p:spPr>
        <p:txBody>
          <a:bodyPr wrap="square" rtlCol="0" anchor="ctr"/>
          <a:lstStyle/>
          <a:p>
            <a:pPr algn="ctr" indent="0" marL="0">
              <a:buNone/>
            </a:pPr>
            <a:r>
              <a:rPr lang="en-US" sz="1600" b="1" spc="200" kern="0" dirty="0">
                <a:solidFill>
                  <a:srgbClr val="D4943A"/>
                </a:solidFill>
                <a:latin typeface="Calibri" pitchFamily="34" charset="0"/>
                <a:ea typeface="Calibri" pitchFamily="34" charset="-122"/>
                <a:cs typeface="Calibri" pitchFamily="34" charset="-120"/>
              </a:rPr>
              <a:t>Files Unlocked!</a:t>
            </a:r>
            <a:endParaRPr lang="en-US" sz="1600" dirty="0"/>
          </a:p>
        </p:txBody>
      </p:sp>
      <p:sp>
        <p:nvSpPr>
          <p:cNvPr id="3" name="Text 1"/>
          <p:cNvSpPr/>
          <p:nvPr/>
        </p:nvSpPr>
        <p:spPr>
          <a:xfrm>
            <a:off x="914400" y="777240"/>
            <a:ext cx="7315200" cy="457200"/>
          </a:xfrm>
          <a:prstGeom prst="rect">
            <a:avLst/>
          </a:prstGeom>
          <a:noFill/>
          <a:ln/>
        </p:spPr>
        <p:txBody>
          <a:bodyPr wrap="square" rtlCol="0" anchor="ctr"/>
          <a:lstStyle/>
          <a:p>
            <a:pPr algn="ctr" indent="0" marL="0">
              <a:buNone/>
            </a:pPr>
            <a:r>
              <a:rPr lang="en-US" sz="2000" dirty="0">
                <a:solidFill>
                  <a:srgbClr val="55C8E8"/>
                </a:solidFill>
                <a:latin typeface="Cambria" pitchFamily="34" charset="0"/>
                <a:ea typeface="Cambria" pitchFamily="34" charset="-122"/>
                <a:cs typeface="Cambria" pitchFamily="34" charset="-120"/>
              </a:rPr>
              <a:t>Florida Historians Study:</a:t>
            </a:r>
            <a:endParaRPr lang="en-US" sz="2000" dirty="0"/>
          </a:p>
        </p:txBody>
      </p:sp>
      <p:sp>
        <p:nvSpPr>
          <p:cNvPr id="4" name="Shape 2"/>
          <p:cNvSpPr/>
          <p:nvPr/>
        </p:nvSpPr>
        <p:spPr>
          <a:xfrm>
            <a:off x="457200" y="1325880"/>
            <a:ext cx="1920240" cy="2011680"/>
          </a:xfrm>
          <a:prstGeom prst="roundRect">
            <a:avLst>
              <a:gd name="adj" fmla="val 7143"/>
            </a:avLst>
          </a:prstGeom>
          <a:solidFill>
            <a:srgbClr val="2A4A8A"/>
          </a:solidFill>
          <a:ln/>
        </p:spPr>
      </p:sp>
      <p:sp>
        <p:nvSpPr>
          <p:cNvPr id="5" name="Text 3"/>
          <p:cNvSpPr/>
          <p:nvPr/>
        </p:nvSpPr>
        <p:spPr>
          <a:xfrm>
            <a:off x="457200" y="1417320"/>
            <a:ext cx="1920240" cy="548640"/>
          </a:xfrm>
          <a:prstGeom prst="rect">
            <a:avLst/>
          </a:prstGeom>
          <a:noFill/>
          <a:ln/>
        </p:spPr>
        <p:txBody>
          <a:bodyPr wrap="square"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People</a:t>
            </a:r>
            <a:endParaRPr lang="en-US" sz="2200" dirty="0"/>
          </a:p>
        </p:txBody>
      </p:sp>
      <p:sp>
        <p:nvSpPr>
          <p:cNvPr id="6" name="Shape 4"/>
          <p:cNvSpPr/>
          <p:nvPr/>
        </p:nvSpPr>
        <p:spPr>
          <a:xfrm>
            <a:off x="640080" y="2011680"/>
            <a:ext cx="1554480" cy="0"/>
          </a:xfrm>
          <a:prstGeom prst="line">
            <a:avLst/>
          </a:prstGeom>
          <a:noFill/>
          <a:ln w="12700">
            <a:solidFill>
              <a:srgbClr val="D4943A"/>
            </a:solidFill>
            <a:prstDash val="solid"/>
          </a:ln>
        </p:spPr>
      </p:sp>
      <p:sp>
        <p:nvSpPr>
          <p:cNvPr id="7" name="Text 5"/>
          <p:cNvSpPr/>
          <p:nvPr/>
        </p:nvSpPr>
        <p:spPr>
          <a:xfrm>
            <a:off x="548640" y="2103120"/>
            <a:ext cx="1737360" cy="1097280"/>
          </a:xfrm>
          <a:prstGeom prst="rect">
            <a:avLst/>
          </a:prstGeom>
          <a:noFill/>
          <a:ln/>
        </p:spPr>
        <p:txBody>
          <a:bodyPr wrap="square" rtlCol="0" anchor="ctr"/>
          <a:lstStyle/>
          <a:p>
            <a:pPr algn="ctr" indent="0" marL="0">
              <a:buNone/>
            </a:pPr>
            <a:r>
              <a:rPr lang="en-US" sz="1100" dirty="0">
                <a:solidFill>
                  <a:srgbClr val="D6E8FF"/>
                </a:solidFill>
                <a:latin typeface="Calibri" pitchFamily="34" charset="0"/>
                <a:ea typeface="Calibri" pitchFamily="34" charset="-122"/>
                <a:cs typeface="Calibri" pitchFamily="34" charset="-120"/>
              </a:rPr>
              <a:t>Who lived here and how they lived</a:t>
            </a:r>
            <a:endParaRPr lang="en-US" sz="1100" dirty="0"/>
          </a:p>
        </p:txBody>
      </p:sp>
      <p:sp>
        <p:nvSpPr>
          <p:cNvPr id="8" name="Shape 6"/>
          <p:cNvSpPr/>
          <p:nvPr/>
        </p:nvSpPr>
        <p:spPr>
          <a:xfrm>
            <a:off x="2560320" y="1325880"/>
            <a:ext cx="1920240" cy="2011680"/>
          </a:xfrm>
          <a:prstGeom prst="roundRect">
            <a:avLst>
              <a:gd name="adj" fmla="val 7143"/>
            </a:avLst>
          </a:prstGeom>
          <a:solidFill>
            <a:srgbClr val="1A6A5A"/>
          </a:solidFill>
          <a:ln/>
        </p:spPr>
      </p:sp>
      <p:sp>
        <p:nvSpPr>
          <p:cNvPr id="9" name="Text 7"/>
          <p:cNvSpPr/>
          <p:nvPr/>
        </p:nvSpPr>
        <p:spPr>
          <a:xfrm>
            <a:off x="2560320" y="1417320"/>
            <a:ext cx="1920240" cy="548640"/>
          </a:xfrm>
          <a:prstGeom prst="rect">
            <a:avLst/>
          </a:prstGeom>
          <a:noFill/>
          <a:ln/>
        </p:spPr>
        <p:txBody>
          <a:bodyPr wrap="square"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Places</a:t>
            </a:r>
            <a:endParaRPr lang="en-US" sz="2200" dirty="0"/>
          </a:p>
        </p:txBody>
      </p:sp>
      <p:sp>
        <p:nvSpPr>
          <p:cNvPr id="10" name="Shape 8"/>
          <p:cNvSpPr/>
          <p:nvPr/>
        </p:nvSpPr>
        <p:spPr>
          <a:xfrm>
            <a:off x="2743200" y="2011680"/>
            <a:ext cx="1554480" cy="0"/>
          </a:xfrm>
          <a:prstGeom prst="line">
            <a:avLst/>
          </a:prstGeom>
          <a:noFill/>
          <a:ln w="12700">
            <a:solidFill>
              <a:srgbClr val="D4943A"/>
            </a:solidFill>
            <a:prstDash val="solid"/>
          </a:ln>
        </p:spPr>
      </p:sp>
      <p:sp>
        <p:nvSpPr>
          <p:cNvPr id="11" name="Text 9"/>
          <p:cNvSpPr/>
          <p:nvPr/>
        </p:nvSpPr>
        <p:spPr>
          <a:xfrm>
            <a:off x="2651760" y="2103120"/>
            <a:ext cx="1737360" cy="1097280"/>
          </a:xfrm>
          <a:prstGeom prst="rect">
            <a:avLst/>
          </a:prstGeom>
          <a:noFill/>
          <a:ln/>
        </p:spPr>
        <p:txBody>
          <a:bodyPr wrap="square" rtlCol="0" anchor="ctr"/>
          <a:lstStyle/>
          <a:p>
            <a:pPr algn="ctr" indent="0" marL="0">
              <a:buNone/>
            </a:pPr>
            <a:r>
              <a:rPr lang="en-US" sz="1100" dirty="0">
                <a:solidFill>
                  <a:srgbClr val="D6E8FF"/>
                </a:solidFill>
                <a:latin typeface="Calibri" pitchFamily="34" charset="0"/>
                <a:ea typeface="Calibri" pitchFamily="34" charset="-122"/>
                <a:cs typeface="Calibri" pitchFamily="34" charset="-120"/>
              </a:rPr>
              <a:t>Land, water, climate — how people used them</a:t>
            </a:r>
            <a:endParaRPr lang="en-US" sz="1100" dirty="0"/>
          </a:p>
        </p:txBody>
      </p:sp>
      <p:sp>
        <p:nvSpPr>
          <p:cNvPr id="12" name="Shape 10"/>
          <p:cNvSpPr/>
          <p:nvPr/>
        </p:nvSpPr>
        <p:spPr>
          <a:xfrm>
            <a:off x="4663440" y="1325880"/>
            <a:ext cx="1920240" cy="2011680"/>
          </a:xfrm>
          <a:prstGeom prst="roundRect">
            <a:avLst>
              <a:gd name="adj" fmla="val 7143"/>
            </a:avLst>
          </a:prstGeom>
          <a:solidFill>
            <a:srgbClr val="6A3A8A"/>
          </a:solidFill>
          <a:ln/>
        </p:spPr>
      </p:sp>
      <p:sp>
        <p:nvSpPr>
          <p:cNvPr id="13" name="Text 11"/>
          <p:cNvSpPr/>
          <p:nvPr/>
        </p:nvSpPr>
        <p:spPr>
          <a:xfrm>
            <a:off x="4663440" y="1417320"/>
            <a:ext cx="1920240" cy="548640"/>
          </a:xfrm>
          <a:prstGeom prst="rect">
            <a:avLst/>
          </a:prstGeom>
          <a:noFill/>
          <a:ln/>
        </p:spPr>
        <p:txBody>
          <a:bodyPr wrap="square"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Events</a:t>
            </a:r>
            <a:endParaRPr lang="en-US" sz="2200" dirty="0"/>
          </a:p>
        </p:txBody>
      </p:sp>
      <p:sp>
        <p:nvSpPr>
          <p:cNvPr id="14" name="Shape 12"/>
          <p:cNvSpPr/>
          <p:nvPr/>
        </p:nvSpPr>
        <p:spPr>
          <a:xfrm>
            <a:off x="4846320" y="2011680"/>
            <a:ext cx="1554480" cy="0"/>
          </a:xfrm>
          <a:prstGeom prst="line">
            <a:avLst/>
          </a:prstGeom>
          <a:noFill/>
          <a:ln w="12700">
            <a:solidFill>
              <a:srgbClr val="D4943A"/>
            </a:solidFill>
            <a:prstDash val="solid"/>
          </a:ln>
        </p:spPr>
      </p:sp>
      <p:sp>
        <p:nvSpPr>
          <p:cNvPr id="15" name="Text 13"/>
          <p:cNvSpPr/>
          <p:nvPr/>
        </p:nvSpPr>
        <p:spPr>
          <a:xfrm>
            <a:off x="4754880" y="2103120"/>
            <a:ext cx="1737360" cy="1097280"/>
          </a:xfrm>
          <a:prstGeom prst="rect">
            <a:avLst/>
          </a:prstGeom>
          <a:noFill/>
          <a:ln/>
        </p:spPr>
        <p:txBody>
          <a:bodyPr wrap="square" rtlCol="0" anchor="ctr"/>
          <a:lstStyle/>
          <a:p>
            <a:pPr algn="ctr" indent="0" marL="0">
              <a:buNone/>
            </a:pPr>
            <a:r>
              <a:rPr lang="en-US" sz="1100" dirty="0">
                <a:solidFill>
                  <a:srgbClr val="D6E8FF"/>
                </a:solidFill>
                <a:latin typeface="Calibri" pitchFamily="34" charset="0"/>
                <a:ea typeface="Calibri" pitchFamily="34" charset="-122"/>
                <a:cs typeface="Calibri" pitchFamily="34" charset="-120"/>
              </a:rPr>
              <a:t>What happened, when, and why</a:t>
            </a:r>
            <a:endParaRPr lang="en-US" sz="1100" dirty="0"/>
          </a:p>
        </p:txBody>
      </p:sp>
      <p:sp>
        <p:nvSpPr>
          <p:cNvPr id="16" name="Shape 14"/>
          <p:cNvSpPr/>
          <p:nvPr/>
        </p:nvSpPr>
        <p:spPr>
          <a:xfrm>
            <a:off x="6766560" y="1325880"/>
            <a:ext cx="1920240" cy="2011680"/>
          </a:xfrm>
          <a:prstGeom prst="roundRect">
            <a:avLst>
              <a:gd name="adj" fmla="val 7143"/>
            </a:avLst>
          </a:prstGeom>
          <a:solidFill>
            <a:srgbClr val="8A4A1A"/>
          </a:solidFill>
          <a:ln/>
        </p:spPr>
      </p:sp>
      <p:sp>
        <p:nvSpPr>
          <p:cNvPr id="17" name="Text 15"/>
          <p:cNvSpPr/>
          <p:nvPr/>
        </p:nvSpPr>
        <p:spPr>
          <a:xfrm>
            <a:off x="6766560" y="1417320"/>
            <a:ext cx="1920240" cy="548640"/>
          </a:xfrm>
          <a:prstGeom prst="rect">
            <a:avLst/>
          </a:prstGeom>
          <a:noFill/>
          <a:ln/>
        </p:spPr>
        <p:txBody>
          <a:bodyPr wrap="square"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Evidence</a:t>
            </a:r>
            <a:endParaRPr lang="en-US" sz="2200" dirty="0"/>
          </a:p>
        </p:txBody>
      </p:sp>
      <p:sp>
        <p:nvSpPr>
          <p:cNvPr id="18" name="Shape 16"/>
          <p:cNvSpPr/>
          <p:nvPr/>
        </p:nvSpPr>
        <p:spPr>
          <a:xfrm>
            <a:off x="6949440" y="2011680"/>
            <a:ext cx="1554480" cy="0"/>
          </a:xfrm>
          <a:prstGeom prst="line">
            <a:avLst/>
          </a:prstGeom>
          <a:noFill/>
          <a:ln w="12700">
            <a:solidFill>
              <a:srgbClr val="D4943A"/>
            </a:solidFill>
            <a:prstDash val="solid"/>
          </a:ln>
        </p:spPr>
      </p:sp>
      <p:sp>
        <p:nvSpPr>
          <p:cNvPr id="19" name="Text 17"/>
          <p:cNvSpPr/>
          <p:nvPr/>
        </p:nvSpPr>
        <p:spPr>
          <a:xfrm>
            <a:off x="6858000" y="2103120"/>
            <a:ext cx="1737360" cy="1097280"/>
          </a:xfrm>
          <a:prstGeom prst="rect">
            <a:avLst/>
          </a:prstGeom>
          <a:noFill/>
          <a:ln/>
        </p:spPr>
        <p:txBody>
          <a:bodyPr wrap="square" rtlCol="0" anchor="ctr"/>
          <a:lstStyle/>
          <a:p>
            <a:pPr algn="ctr" indent="0" marL="0">
              <a:buNone/>
            </a:pPr>
            <a:r>
              <a:rPr lang="en-US" sz="1100" dirty="0">
                <a:solidFill>
                  <a:srgbClr val="D6E8FF"/>
                </a:solidFill>
                <a:latin typeface="Calibri" pitchFamily="34" charset="0"/>
                <a:ea typeface="Calibri" pitchFamily="34" charset="-122"/>
                <a:cs typeface="Calibri" pitchFamily="34" charset="-120"/>
              </a:rPr>
              <a:t>The proof — photos, maps, letters, objects</a:t>
            </a:r>
            <a:endParaRPr lang="en-US" sz="1100" dirty="0"/>
          </a:p>
        </p:txBody>
      </p:sp>
      <p:sp>
        <p:nvSpPr>
          <p:cNvPr id="20" name="Shape 18"/>
          <p:cNvSpPr/>
          <p:nvPr/>
        </p:nvSpPr>
        <p:spPr>
          <a:xfrm>
            <a:off x="1371600" y="3474720"/>
            <a:ext cx="6400800" cy="640080"/>
          </a:xfrm>
          <a:prstGeom prst="roundRect">
            <a:avLst>
              <a:gd name="adj" fmla="val 14286"/>
            </a:avLst>
          </a:prstGeom>
          <a:solidFill>
            <a:srgbClr val="152340"/>
          </a:solidFill>
          <a:ln w="12700">
            <a:solidFill>
              <a:srgbClr val="1A8A7D"/>
            </a:solidFill>
            <a:prstDash val="solid"/>
          </a:ln>
        </p:spPr>
      </p:sp>
      <p:sp>
        <p:nvSpPr>
          <p:cNvPr id="21" name="Text 19"/>
          <p:cNvSpPr/>
          <p:nvPr/>
        </p:nvSpPr>
        <p:spPr>
          <a:xfrm>
            <a:off x="1371600" y="3474720"/>
            <a:ext cx="6400800" cy="640080"/>
          </a:xfrm>
          <a:prstGeom prst="rect">
            <a:avLst/>
          </a:prstGeom>
          <a:noFill/>
          <a:ln/>
        </p:spPr>
        <p:txBody>
          <a:bodyPr wrap="square" rtlCol="0" anchor="ctr"/>
          <a:lstStyle/>
          <a:p>
            <a:pPr algn="ctr" indent="0" marL="0">
              <a:buNone/>
            </a:pPr>
            <a:r>
              <a:rPr lang="en-US" sz="1200" i="1" dirty="0">
                <a:solidFill>
                  <a:srgbClr val="55C8E8"/>
                </a:solidFill>
                <a:latin typeface="Calibri" pitchFamily="34" charset="0"/>
                <a:ea typeface="Calibri" pitchFamily="34" charset="-122"/>
                <a:cs typeface="Calibri" pitchFamily="34" charset="-120"/>
              </a:rPr>
              <a:t>Retrieval: Cover your screen. Say all four from memory.</a:t>
            </a:r>
            <a:endParaRPr lang="en-US" sz="1200" dirty="0"/>
          </a:p>
        </p:txBody>
      </p:sp>
      <p:sp>
        <p:nvSpPr>
          <p:cNvPr id="22" name="Text 20"/>
          <p:cNvSpPr/>
          <p:nvPr/>
        </p:nvSpPr>
        <p:spPr>
          <a:xfrm>
            <a:off x="914400" y="4251960"/>
            <a:ext cx="7315200" cy="365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Historians always use evidence to back up what they say about all four.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Knowing vs. Guessing</a:t>
            </a:r>
            <a:endParaRPr lang="en-US" sz="3000" dirty="0"/>
          </a:p>
        </p:txBody>
      </p:sp>
      <p:sp>
        <p:nvSpPr>
          <p:cNvPr id="3" name="Text 1"/>
          <p:cNvSpPr/>
          <p:nvPr/>
        </p:nvSpPr>
        <p:spPr>
          <a:xfrm>
            <a:off x="365760" y="777240"/>
            <a:ext cx="8412480" cy="32004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Read both sentences. One is a historian. One is a guesser. Which is which?</a:t>
            </a:r>
            <a:endParaRPr lang="en-US" sz="1300" dirty="0"/>
          </a:p>
        </p:txBody>
      </p:sp>
      <p:sp>
        <p:nvSpPr>
          <p:cNvPr id="4" name="Shape 2"/>
          <p:cNvSpPr/>
          <p:nvPr/>
        </p:nvSpPr>
        <p:spPr>
          <a:xfrm>
            <a:off x="365760" y="1188720"/>
            <a:ext cx="3840480" cy="1737360"/>
          </a:xfrm>
          <a:prstGeom prst="roundRect">
            <a:avLst>
              <a:gd name="adj" fmla="val 7895"/>
            </a:avLst>
          </a:prstGeom>
          <a:solidFill>
            <a:srgbClr val="FFF0F0"/>
          </a:solidFill>
          <a:ln w="25400">
            <a:solidFill>
              <a:srgbClr val="E8636B"/>
            </a:solidFill>
            <a:prstDash val="solid"/>
          </a:ln>
        </p:spPr>
      </p:sp>
      <p:sp>
        <p:nvSpPr>
          <p:cNvPr id="5" name="Text 3"/>
          <p:cNvSpPr/>
          <p:nvPr/>
        </p:nvSpPr>
        <p:spPr>
          <a:xfrm>
            <a:off x="457200" y="1234440"/>
            <a:ext cx="3657600" cy="274320"/>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SENTENCE A</a:t>
            </a:r>
            <a:endParaRPr lang="en-US" sz="1000" dirty="0"/>
          </a:p>
        </p:txBody>
      </p:sp>
      <p:sp>
        <p:nvSpPr>
          <p:cNvPr id="6" name="Text 4"/>
          <p:cNvSpPr/>
          <p:nvPr/>
        </p:nvSpPr>
        <p:spPr>
          <a:xfrm>
            <a:off x="502920" y="1508760"/>
            <a:ext cx="3566160" cy="1280160"/>
          </a:xfrm>
          <a:prstGeom prst="rect">
            <a:avLst/>
          </a:prstGeom>
          <a:noFill/>
          <a:ln/>
        </p:spPr>
        <p:txBody>
          <a:bodyPr wrap="square" rtlCol="0" anchor="ctr"/>
          <a:lstStyle/>
          <a:p>
            <a:pPr algn="ctr" indent="0" marL="0">
              <a:buNone/>
            </a:pPr>
            <a:r>
              <a:rPr lang="en-US" sz="1300" i="1" dirty="0">
                <a:solidFill>
                  <a:srgbClr val="0E1C42"/>
                </a:solidFill>
                <a:latin typeface="Cambria" pitchFamily="34" charset="0"/>
                <a:ea typeface="Cambria" pitchFamily="34" charset="-122"/>
                <a:cs typeface="Cambria" pitchFamily="34" charset="-120"/>
              </a:rPr>
              <a:t>"I think pirates probably lived in Florida because everyone says so."</a:t>
            </a:r>
            <a:endParaRPr lang="en-US" sz="1300" dirty="0"/>
          </a:p>
        </p:txBody>
      </p:sp>
      <p:sp>
        <p:nvSpPr>
          <p:cNvPr id="7" name="Shape 5"/>
          <p:cNvSpPr/>
          <p:nvPr/>
        </p:nvSpPr>
        <p:spPr>
          <a:xfrm>
            <a:off x="4937760" y="1188720"/>
            <a:ext cx="3840480" cy="1737360"/>
          </a:xfrm>
          <a:prstGeom prst="roundRect">
            <a:avLst>
              <a:gd name="adj" fmla="val 7895"/>
            </a:avLst>
          </a:prstGeom>
          <a:solidFill>
            <a:srgbClr val="E3F8ED"/>
          </a:solidFill>
          <a:ln w="25400">
            <a:solidFill>
              <a:srgbClr val="34B76F"/>
            </a:solidFill>
            <a:prstDash val="solid"/>
          </a:ln>
        </p:spPr>
      </p:sp>
      <p:sp>
        <p:nvSpPr>
          <p:cNvPr id="8" name="Text 6"/>
          <p:cNvSpPr/>
          <p:nvPr/>
        </p:nvSpPr>
        <p:spPr>
          <a:xfrm>
            <a:off x="5029200" y="1234440"/>
            <a:ext cx="3657600" cy="274320"/>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SENTENCE B</a:t>
            </a:r>
            <a:endParaRPr lang="en-US" sz="1000" dirty="0"/>
          </a:p>
        </p:txBody>
      </p:sp>
      <p:sp>
        <p:nvSpPr>
          <p:cNvPr id="9" name="Text 7"/>
          <p:cNvSpPr/>
          <p:nvPr/>
        </p:nvSpPr>
        <p:spPr>
          <a:xfrm>
            <a:off x="5074920" y="1508760"/>
            <a:ext cx="3566160" cy="1280160"/>
          </a:xfrm>
          <a:prstGeom prst="rect">
            <a:avLst/>
          </a:prstGeom>
          <a:noFill/>
          <a:ln/>
        </p:spPr>
        <p:txBody>
          <a:bodyPr wrap="square" rtlCol="0" anchor="ctr"/>
          <a:lstStyle/>
          <a:p>
            <a:pPr algn="ctr" indent="0" marL="0">
              <a:buNone/>
            </a:pPr>
            <a:r>
              <a:rPr lang="en-US" sz="1300" i="1" dirty="0">
                <a:solidFill>
                  <a:srgbClr val="0E1C42"/>
                </a:solidFill>
                <a:latin typeface="Cambria" pitchFamily="34" charset="0"/>
                <a:ea typeface="Cambria" pitchFamily="34" charset="-122"/>
                <a:cs typeface="Cambria" pitchFamily="34" charset="-120"/>
              </a:rPr>
              <a:t>"A map from 1696 shows a Spanish fort here, so Spanish soldiers were in Florida by then."</a:t>
            </a:r>
            <a:endParaRPr lang="en-US" sz="1300" dirty="0"/>
          </a:p>
        </p:txBody>
      </p:sp>
      <p:sp>
        <p:nvSpPr>
          <p:cNvPr id="10" name="Text 8"/>
          <p:cNvSpPr/>
          <p:nvPr/>
        </p:nvSpPr>
        <p:spPr>
          <a:xfrm>
            <a:off x="4206240" y="1737360"/>
            <a:ext cx="731520" cy="548640"/>
          </a:xfrm>
          <a:prstGeom prst="rect">
            <a:avLst/>
          </a:prstGeom>
          <a:noFill/>
          <a:ln/>
        </p:spPr>
        <p:txBody>
          <a:bodyPr wrap="square" rtlCol="0" anchor="ctr"/>
          <a:lstStyle/>
          <a:p>
            <a:pPr algn="ctr" indent="0" marL="0">
              <a:buNone/>
            </a:pPr>
            <a:r>
              <a:rPr lang="en-US" sz="2000" b="1" dirty="0">
                <a:solidFill>
                  <a:srgbClr val="7A88A8"/>
                </a:solidFill>
                <a:latin typeface="Cambria" pitchFamily="34" charset="0"/>
                <a:ea typeface="Cambria" pitchFamily="34" charset="-122"/>
                <a:cs typeface="Cambria" pitchFamily="34" charset="-120"/>
              </a:rPr>
              <a:t>vs.</a:t>
            </a:r>
            <a:endParaRPr lang="en-US" sz="2000" dirty="0"/>
          </a:p>
        </p:txBody>
      </p:sp>
      <p:sp>
        <p:nvSpPr>
          <p:cNvPr id="11" name="Shape 9"/>
          <p:cNvSpPr/>
          <p:nvPr/>
        </p:nvSpPr>
        <p:spPr>
          <a:xfrm>
            <a:off x="365760" y="3063240"/>
            <a:ext cx="530352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48640" y="3154680"/>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48640" y="3410712"/>
            <a:ext cx="4937760" cy="1252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sentence names a piece of evidence anyone can check?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Sentence A stronger?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disagree with Sentence B? What would they need?</a:t>
            </a:r>
            <a:endParaRPr lang="en-US" sz="1100" dirty="0"/>
          </a:p>
        </p:txBody>
      </p:sp>
      <p:sp>
        <p:nvSpPr>
          <p:cNvPr id="14" name="Shape 12"/>
          <p:cNvSpPr/>
          <p:nvPr/>
        </p:nvSpPr>
        <p:spPr>
          <a:xfrm>
            <a:off x="5760720" y="3063240"/>
            <a:ext cx="3017520" cy="1691640"/>
          </a:xfrm>
          <a:prstGeom prst="roundRect">
            <a:avLst>
              <a:gd name="adj" fmla="val 6486"/>
            </a:avLst>
          </a:prstGeom>
          <a:solidFill>
            <a:srgbClr val="FFF3DC"/>
          </a:solidFill>
          <a:ln w="19050">
            <a:solidFill>
              <a:srgbClr val="F5E6C8"/>
            </a:solidFill>
            <a:prstDash val="solid"/>
          </a:ln>
        </p:spPr>
      </p:sp>
      <p:sp>
        <p:nvSpPr>
          <p:cNvPr id="15" name="Text 13"/>
          <p:cNvSpPr/>
          <p:nvPr/>
        </p:nvSpPr>
        <p:spPr>
          <a:xfrm>
            <a:off x="5897880" y="3118104"/>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97880" y="3319272"/>
            <a:ext cx="2743200" cy="1371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"Sentence ___ sounds like a historian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difference between knowing and guessing 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0292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Investigate Two Sources</a:t>
            </a:r>
            <a:endParaRPr lang="en-US" sz="2800" dirty="0"/>
          </a:p>
        </p:txBody>
      </p:sp>
      <p:sp>
        <p:nvSpPr>
          <p:cNvPr id="3" name="Text 1"/>
          <p:cNvSpPr/>
          <p:nvPr/>
        </p:nvSpPr>
        <p:spPr>
          <a:xfrm>
            <a:off x="365760" y="713232"/>
            <a:ext cx="8412480" cy="32004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Historians rarely rely on just one source. Compare these two.</a:t>
            </a:r>
            <a:endParaRPr lang="en-US" sz="1300" dirty="0"/>
          </a:p>
        </p:txBody>
      </p:sp>
      <p:sp>
        <p:nvSpPr>
          <p:cNvPr id="4" name="Shape 2"/>
          <p:cNvSpPr/>
          <p:nvPr/>
        </p:nvSpPr>
        <p:spPr>
          <a:xfrm>
            <a:off x="365760" y="1097280"/>
            <a:ext cx="3931920" cy="2377440"/>
          </a:xfrm>
          <a:prstGeom prst="roundRect">
            <a:avLst>
              <a:gd name="adj" fmla="val 4615"/>
            </a:avLst>
          </a:prstGeom>
          <a:solidFill>
            <a:srgbClr val="E2E8F4"/>
          </a:solidFill>
          <a:ln w="19050">
            <a:solidFill>
              <a:srgbClr val="B0B8CC"/>
            </a:solidFill>
            <a:prstDash val="dash"/>
          </a:ln>
        </p:spPr>
      </p:sp>
      <p:sp>
        <p:nvSpPr>
          <p:cNvPr id="5" name="Text 3"/>
          <p:cNvSpPr/>
          <p:nvPr/>
        </p:nvSpPr>
        <p:spPr>
          <a:xfrm>
            <a:off x="365760" y="109728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371600"/>
            <a:ext cx="3657600" cy="201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A: The same Florida historic photograph from Slide 4 (late 1800s / early 1900s — families, workers, or school scene). Primary source.</a:t>
            </a:r>
            <a:endParaRPr lang="en-US" sz="1100" dirty="0"/>
          </a:p>
        </p:txBody>
      </p:sp>
      <p:sp>
        <p:nvSpPr>
          <p:cNvPr id="7" name="Shape 5"/>
          <p:cNvSpPr/>
          <p:nvPr/>
        </p:nvSpPr>
        <p:spPr>
          <a:xfrm>
            <a:off x="4846320" y="1097280"/>
            <a:ext cx="3931920" cy="2377440"/>
          </a:xfrm>
          <a:prstGeom prst="roundRect">
            <a:avLst>
              <a:gd name="adj" fmla="val 4615"/>
            </a:avLst>
          </a:prstGeom>
          <a:solidFill>
            <a:srgbClr val="E2E8F4"/>
          </a:solidFill>
          <a:ln w="19050">
            <a:solidFill>
              <a:srgbClr val="B0B8CC"/>
            </a:solidFill>
            <a:prstDash val="dash"/>
          </a:ln>
        </p:spPr>
      </p:sp>
      <p:sp>
        <p:nvSpPr>
          <p:cNvPr id="8" name="Text 6"/>
          <p:cNvSpPr/>
          <p:nvPr/>
        </p:nvSpPr>
        <p:spPr>
          <a:xfrm>
            <a:off x="4846320" y="109728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983480" y="1371600"/>
            <a:ext cx="3657600" cy="201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B: A textbook page or encyclopedia entry about Florida history from approximately the same era. Secondary source. Suggested: a page from a Florida history textbook showing written description of daily life.</a:t>
            </a:r>
            <a:endParaRPr lang="en-US" sz="1100" dirty="0"/>
          </a:p>
        </p:txBody>
      </p:sp>
      <p:sp>
        <p:nvSpPr>
          <p:cNvPr id="10" name="Text 8"/>
          <p:cNvSpPr/>
          <p:nvPr/>
        </p:nvSpPr>
        <p:spPr>
          <a:xfrm>
            <a:off x="365760" y="3547872"/>
            <a:ext cx="3931920" cy="274320"/>
          </a:xfrm>
          <a:prstGeom prst="rect">
            <a:avLst/>
          </a:prstGeom>
          <a:noFill/>
          <a:ln/>
        </p:spPr>
        <p:txBody>
          <a:bodyPr wrap="square" rtlCol="0" anchor="ctr"/>
          <a:lstStyle/>
          <a:p>
            <a:pPr algn="ctr" indent="0" marL="0">
              <a:buNone/>
            </a:pPr>
            <a:r>
              <a:rPr lang="en-US" sz="1000" b="1" dirty="0">
                <a:solidFill>
                  <a:srgbClr val="1A8A7D"/>
                </a:solidFill>
                <a:latin typeface="Calibri" pitchFamily="34" charset="0"/>
                <a:ea typeface="Calibri" pitchFamily="34" charset="-122"/>
                <a:cs typeface="Calibri" pitchFamily="34" charset="-120"/>
              </a:rPr>
              <a:t>SOURCE A: Photograph (Primary)</a:t>
            </a:r>
            <a:endParaRPr lang="en-US" sz="1000" dirty="0"/>
          </a:p>
        </p:txBody>
      </p:sp>
      <p:sp>
        <p:nvSpPr>
          <p:cNvPr id="11" name="Text 9"/>
          <p:cNvSpPr/>
          <p:nvPr/>
        </p:nvSpPr>
        <p:spPr>
          <a:xfrm>
            <a:off x="4846320" y="3547872"/>
            <a:ext cx="3931920" cy="274320"/>
          </a:xfrm>
          <a:prstGeom prst="rect">
            <a:avLst/>
          </a:prstGeom>
          <a:noFill/>
          <a:ln/>
        </p:spPr>
        <p:txBody>
          <a:bodyPr wrap="square" rtlCol="0" anchor="ctr"/>
          <a:lstStyle/>
          <a:p>
            <a:pPr algn="ctr" indent="0" marL="0">
              <a:buNone/>
            </a:pPr>
            <a:r>
              <a:rPr lang="en-US" sz="1000" b="1" dirty="0">
                <a:solidFill>
                  <a:srgbClr val="8B6FC0"/>
                </a:solidFill>
                <a:latin typeface="Calibri" pitchFamily="34" charset="0"/>
                <a:ea typeface="Calibri" pitchFamily="34" charset="-122"/>
                <a:cs typeface="Calibri" pitchFamily="34" charset="-120"/>
              </a:rPr>
              <a:t>SOURCE B: Textbook Entry (Secondary)</a:t>
            </a:r>
            <a:endParaRPr lang="en-US" sz="1000" dirty="0"/>
          </a:p>
        </p:txBody>
      </p:sp>
      <p:sp>
        <p:nvSpPr>
          <p:cNvPr id="12" name="Shape 10"/>
          <p:cNvSpPr/>
          <p:nvPr/>
        </p:nvSpPr>
        <p:spPr>
          <a:xfrm>
            <a:off x="365760" y="3904488"/>
            <a:ext cx="5303520" cy="978408"/>
          </a:xfrm>
          <a:prstGeom prst="roundRect">
            <a:avLst>
              <a:gd name="adj" fmla="val 14019"/>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48640" y="3995928"/>
            <a:ext cx="49377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4" name="Text 12"/>
          <p:cNvSpPr/>
          <p:nvPr/>
        </p:nvSpPr>
        <p:spPr>
          <a:xfrm>
            <a:off x="548640" y="4251960"/>
            <a:ext cx="4937760" cy="53949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each source,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might be missing from each?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source gives stronger evidence for daily life in Florida?</a:t>
            </a:r>
            <a:endParaRPr lang="en-US" sz="1100" dirty="0"/>
          </a:p>
        </p:txBody>
      </p:sp>
      <p:sp>
        <p:nvSpPr>
          <p:cNvPr id="15" name="Shape 13"/>
          <p:cNvSpPr/>
          <p:nvPr/>
        </p:nvSpPr>
        <p:spPr>
          <a:xfrm>
            <a:off x="5760720" y="3904488"/>
            <a:ext cx="3017520" cy="978408"/>
          </a:xfrm>
          <a:prstGeom prst="roundRect">
            <a:avLst>
              <a:gd name="adj" fmla="val 11215"/>
            </a:avLst>
          </a:prstGeom>
          <a:solidFill>
            <a:srgbClr val="FFF3DC"/>
          </a:solidFill>
          <a:ln w="19050">
            <a:solidFill>
              <a:srgbClr val="F5E6C8"/>
            </a:solidFill>
            <a:prstDash val="solid"/>
          </a:ln>
        </p:spPr>
      </p:sp>
      <p:sp>
        <p:nvSpPr>
          <p:cNvPr id="16" name="Text 14"/>
          <p:cNvSpPr/>
          <p:nvPr/>
        </p:nvSpPr>
        <p:spPr>
          <a:xfrm>
            <a:off x="5897880" y="3959352"/>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897880" y="4160520"/>
            <a:ext cx="2743200" cy="6583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about... but disagree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Source ___ more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14400" y="457200"/>
            <a:ext cx="7315200" cy="411480"/>
          </a:xfrm>
          <a:prstGeom prst="rect">
            <a:avLst/>
          </a:prstGeom>
          <a:noFill/>
          <a:ln/>
        </p:spPr>
        <p:txBody>
          <a:bodyPr wrap="square" rtlCol="0" anchor="ctr"/>
          <a:lstStyle/>
          <a:p>
            <a:pPr algn="ctr" indent="0" marL="0">
              <a:buNone/>
            </a:pPr>
            <a:r>
              <a:rPr lang="en-US" sz="1500" spc="200" kern="0" dirty="0">
                <a:solidFill>
                  <a:srgbClr val="55C8E8"/>
                </a:solidFill>
                <a:latin typeface="Calibri" pitchFamily="34" charset="0"/>
                <a:ea typeface="Calibri" pitchFamily="34" charset="-122"/>
                <a:cs typeface="Calibri" pitchFamily="34" charset="-120"/>
              </a:rPr>
              <a:t>You discovered:</a:t>
            </a:r>
            <a:endParaRPr lang="en-US" sz="1500" dirty="0"/>
          </a:p>
        </p:txBody>
      </p:sp>
      <p:sp>
        <p:nvSpPr>
          <p:cNvPr id="3" name="Text 1"/>
          <p:cNvSpPr/>
          <p:nvPr/>
        </p:nvSpPr>
        <p:spPr>
          <a:xfrm>
            <a:off x="731520" y="914400"/>
            <a:ext cx="7680960" cy="1463040"/>
          </a:xfrm>
          <a:prstGeom prst="rect">
            <a:avLst/>
          </a:prstGeom>
          <a:noFill/>
          <a:ln/>
        </p:spPr>
        <p:txBody>
          <a:bodyPr wrap="square"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A historian's claim</a:t>
            </a:r>
            <a:endParaRPr lang="en-US" sz="3200" dirty="0"/>
          </a:p>
          <a:p>
            <a:pPr algn="ctr" indent="0" marL="0">
              <a:buNone/>
            </a:pPr>
            <a:r>
              <a:rPr lang="en-US" sz="3200" b="1" dirty="0">
                <a:solidFill>
                  <a:srgbClr val="D4943A"/>
                </a:solidFill>
                <a:latin typeface="Cambria" pitchFamily="34" charset="0"/>
                <a:ea typeface="Cambria" pitchFamily="34" charset="-122"/>
                <a:cs typeface="Cambria" pitchFamily="34" charset="-120"/>
              </a:rPr>
              <a:t>points to evidence</a:t>
            </a:r>
            <a:endParaRPr lang="en-US" sz="3200" dirty="0"/>
          </a:p>
          <a:p>
            <a:pPr algn="ctr" indent="0" marL="0">
              <a:buNone/>
            </a:pPr>
            <a:r>
              <a:rPr lang="en-US" sz="3200" b="1" dirty="0">
                <a:solidFill>
                  <a:srgbClr val="D4943A"/>
                </a:solidFill>
                <a:latin typeface="Cambria" pitchFamily="34" charset="0"/>
                <a:ea typeface="Cambria" pitchFamily="34" charset="-122"/>
                <a:cs typeface="Cambria" pitchFamily="34" charset="-120"/>
              </a:rPr>
              <a:t>anyone can check.</a:t>
            </a:r>
            <a:endParaRPr lang="en-US" sz="3200" dirty="0"/>
          </a:p>
        </p:txBody>
      </p:sp>
      <p:sp>
        <p:nvSpPr>
          <p:cNvPr id="4" name="Text 2"/>
          <p:cNvSpPr/>
          <p:nvPr/>
        </p:nvSpPr>
        <p:spPr>
          <a:xfrm>
            <a:off x="1371600" y="2514600"/>
            <a:ext cx="6400800" cy="73152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That is how historians earn trust.</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That is how they tell the difference between knowing and guessing.</a:t>
            </a:r>
            <a:endParaRPr lang="en-US" sz="1400" dirty="0"/>
          </a:p>
        </p:txBody>
      </p:sp>
      <p:sp>
        <p:nvSpPr>
          <p:cNvPr id="5" name="Shape 3"/>
          <p:cNvSpPr/>
          <p:nvPr/>
        </p:nvSpPr>
        <p:spPr>
          <a:xfrm>
            <a:off x="2286000" y="3383280"/>
            <a:ext cx="4572000" cy="0"/>
          </a:xfrm>
          <a:prstGeom prst="line">
            <a:avLst/>
          </a:prstGeom>
          <a:noFill/>
          <a:ln w="12700">
            <a:solidFill>
              <a:srgbClr val="D4943A"/>
            </a:solidFill>
            <a:prstDash val="solid"/>
          </a:ln>
        </p:spPr>
      </p:sp>
      <p:sp>
        <p:nvSpPr>
          <p:cNvPr id="6" name="Text 4"/>
          <p:cNvSpPr/>
          <p:nvPr/>
        </p:nvSpPr>
        <p:spPr>
          <a:xfrm>
            <a:off x="1371600" y="3520440"/>
            <a:ext cx="6400800" cy="594360"/>
          </a:xfrm>
          <a:prstGeom prst="rect">
            <a:avLst/>
          </a:prstGeom>
          <a:noFill/>
          <a:ln/>
        </p:spPr>
        <p:txBody>
          <a:bodyPr wrap="square" rtlCol="0" anchor="ctr"/>
          <a:lstStyle/>
          <a:p>
            <a:pPr algn="ctr" indent="0" marL="0">
              <a:buNone/>
            </a:pPr>
            <a:r>
              <a:rPr lang="en-US" sz="1200" i="1" dirty="0">
                <a:solidFill>
                  <a:srgbClr val="A0C8E8"/>
                </a:solidFill>
                <a:latin typeface="Calibri" pitchFamily="34" charset="0"/>
                <a:ea typeface="Calibri" pitchFamily="34" charset="-122"/>
                <a:cs typeface="Calibri" pitchFamily="34" charset="-120"/>
              </a:rPr>
              <a:t>Transferable pattern: Evidence lets others verify your thinking.</a:t>
            </a:r>
            <a:endParaRPr lang="en-US" sz="1200" dirty="0"/>
          </a:p>
          <a:p>
            <a:pPr algn="ctr" indent="0" marL="0">
              <a:buNone/>
            </a:pPr>
            <a:r>
              <a:rPr lang="en-US" sz="1200" i="1" dirty="0">
                <a:solidFill>
                  <a:srgbClr val="A0C8E8"/>
                </a:solidFill>
                <a:latin typeface="Calibri" pitchFamily="34" charset="0"/>
                <a:ea typeface="Calibri" pitchFamily="34" charset="-122"/>
                <a:cs typeface="Calibri" pitchFamily="34" charset="-120"/>
              </a:rPr>
              <a:t>This matters in science, law, journalism — not just history.</a:t>
            </a:r>
            <a:endParaRPr lang="en-US" sz="1200" dirty="0"/>
          </a:p>
        </p:txBody>
      </p:sp>
      <p:sp>
        <p:nvSpPr>
          <p:cNvPr id="7" name="Shape 5"/>
          <p:cNvSpPr/>
          <p:nvPr/>
        </p:nvSpPr>
        <p:spPr>
          <a:xfrm>
            <a:off x="2011680" y="4206240"/>
            <a:ext cx="5120640" cy="594360"/>
          </a:xfrm>
          <a:prstGeom prst="roundRect">
            <a:avLst>
              <a:gd name="adj" fmla="val 15385"/>
            </a:avLst>
          </a:prstGeom>
          <a:solidFill>
            <a:srgbClr val="152340"/>
          </a:solidFill>
          <a:ln w="12700">
            <a:solidFill>
              <a:srgbClr val="1A8A7D"/>
            </a:solidFill>
            <a:prstDash val="solid"/>
          </a:ln>
        </p:spPr>
      </p:sp>
      <p:sp>
        <p:nvSpPr>
          <p:cNvPr id="8" name="Text 6"/>
          <p:cNvSpPr/>
          <p:nvPr/>
        </p:nvSpPr>
        <p:spPr>
          <a:xfrm>
            <a:off x="2103120" y="4206240"/>
            <a:ext cx="4937760" cy="594360"/>
          </a:xfrm>
          <a:prstGeom prst="rect">
            <a:avLst/>
          </a:prstGeom>
          <a:noFill/>
          <a:ln/>
        </p:spPr>
        <p:txBody>
          <a:bodyPr wrap="square" rtlCol="0" anchor="ctr"/>
          <a:lstStyle/>
          <a:p>
            <a:pPr algn="ctr" indent="0" marL="0">
              <a:buNone/>
            </a:pPr>
            <a:r>
              <a:rPr lang="en-US" sz="1000" i="1" dirty="0">
                <a:solidFill>
                  <a:srgbClr val="55C8E8"/>
                </a:solidFill>
                <a:latin typeface="Calibri" pitchFamily="34" charset="0"/>
                <a:ea typeface="Calibri" pitchFamily="34" charset="-122"/>
                <a:cs typeface="Calibri" pitchFamily="34" charset="-120"/>
              </a:rPr>
              <a:t>Retrieval: Finish this sentence: 'A historian's claim is different from a guess because...'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835"/>
        </a:solidFill>
      </p:bgPr>
    </p:bg>
    <p:spTree>
      <p:nvGrpSpPr>
        <p:cNvPr id="1" name=""/>
        <p:cNvGrpSpPr/>
        <p:nvPr/>
      </p:nvGrpSpPr>
      <p:grpSpPr>
        <a:xfrm>
          <a:off x="0" y="0"/>
          <a:ext cx="0" cy="0"/>
          <a:chOff x="0" y="0"/>
          <a:chExt cx="0" cy="0"/>
        </a:xfrm>
      </p:grpSpPr>
      <p:sp>
        <p:nvSpPr>
          <p:cNvPr id="2" name="Shape 0"/>
          <p:cNvSpPr/>
          <p:nvPr/>
        </p:nvSpPr>
        <p:spPr>
          <a:xfrm>
            <a:off x="2286000" y="365760"/>
            <a:ext cx="4572000" cy="457200"/>
          </a:xfrm>
          <a:prstGeom prst="roundRect">
            <a:avLst>
              <a:gd name="adj" fmla="val 20000"/>
            </a:avLst>
          </a:prstGeom>
          <a:solidFill>
            <a:srgbClr val="1A2D5A"/>
          </a:solidFill>
          <a:ln/>
        </p:spPr>
      </p:sp>
      <p:sp>
        <p:nvSpPr>
          <p:cNvPr id="3" name="Text 1"/>
          <p:cNvSpPr/>
          <p:nvPr/>
        </p:nvSpPr>
        <p:spPr>
          <a:xfrm>
            <a:off x="2286000" y="365760"/>
            <a:ext cx="4572000" cy="45720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VIRTUE SPOTLIGHT</a:t>
            </a:r>
            <a:endParaRPr lang="en-US" sz="1000" dirty="0"/>
          </a:p>
        </p:txBody>
      </p:sp>
      <p:sp>
        <p:nvSpPr>
          <p:cNvPr id="4" name="Text 2"/>
          <p:cNvSpPr/>
          <p:nvPr/>
        </p:nvSpPr>
        <p:spPr>
          <a:xfrm>
            <a:off x="914400" y="960120"/>
            <a:ext cx="7315200" cy="822960"/>
          </a:xfrm>
          <a:prstGeom prst="rect">
            <a:avLst/>
          </a:prstGeom>
          <a:noFill/>
          <a:ln/>
        </p:spPr>
        <p:txBody>
          <a:bodyPr wrap="square"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Self-Governance</a:t>
            </a:r>
            <a:endParaRPr lang="en-US" sz="4400" dirty="0"/>
          </a:p>
        </p:txBody>
      </p:sp>
      <p:sp>
        <p:nvSpPr>
          <p:cNvPr id="5" name="Text 3"/>
          <p:cNvSpPr/>
          <p:nvPr/>
        </p:nvSpPr>
        <p:spPr>
          <a:xfrm>
            <a:off x="1371600" y="1874520"/>
            <a:ext cx="6400800" cy="64008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Slowing down to check the evidence</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before drawing a conclusion.</a:t>
            </a:r>
            <a:endParaRPr lang="en-US" sz="1600" dirty="0"/>
          </a:p>
        </p:txBody>
      </p:sp>
      <p:sp>
        <p:nvSpPr>
          <p:cNvPr id="6" name="Shape 4"/>
          <p:cNvSpPr/>
          <p:nvPr/>
        </p:nvSpPr>
        <p:spPr>
          <a:xfrm>
            <a:off x="2286000" y="2651760"/>
            <a:ext cx="4572000" cy="0"/>
          </a:xfrm>
          <a:prstGeom prst="line">
            <a:avLst/>
          </a:prstGeom>
          <a:noFill/>
          <a:ln w="12700">
            <a:solidFill>
              <a:srgbClr val="D4943A"/>
            </a:solidFill>
            <a:prstDash val="solid"/>
          </a:ln>
        </p:spPr>
      </p:sp>
      <p:sp>
        <p:nvSpPr>
          <p:cNvPr id="7" name="Text 5"/>
          <p:cNvSpPr/>
          <p:nvPr/>
        </p:nvSpPr>
        <p:spPr>
          <a:xfrm>
            <a:off x="1371600" y="2788920"/>
            <a:ext cx="6400800" cy="320040"/>
          </a:xfrm>
          <a:prstGeom prst="rect">
            <a:avLst/>
          </a:prstGeom>
          <a:noFill/>
          <a:ln/>
        </p:spPr>
        <p:txBody>
          <a:bodyPr wrap="square" rtlCol="0" anchor="ctr"/>
          <a:lstStyle/>
          <a:p>
            <a:pPr algn="ctr" indent="0" marL="0">
              <a:buNone/>
            </a:pPr>
            <a:r>
              <a:rPr lang="en-US" sz="1200" b="1" dirty="0">
                <a:solidFill>
                  <a:srgbClr val="55C8E8"/>
                </a:solidFill>
                <a:latin typeface="Calibri" pitchFamily="34" charset="0"/>
                <a:ea typeface="Calibri" pitchFamily="34" charset="-122"/>
                <a:cs typeface="Calibri" pitchFamily="34" charset="-120"/>
              </a:rPr>
              <a:t>Today's connection:</a:t>
            </a:r>
            <a:endParaRPr lang="en-US" sz="1200" dirty="0"/>
          </a:p>
        </p:txBody>
      </p:sp>
      <p:sp>
        <p:nvSpPr>
          <p:cNvPr id="8" name="Text 6"/>
          <p:cNvSpPr/>
          <p:nvPr/>
        </p:nvSpPr>
        <p:spPr>
          <a:xfrm>
            <a:off x="1371600" y="3154680"/>
            <a:ext cx="6400800" cy="914400"/>
          </a:xfrm>
          <a:prstGeom prst="rect">
            <a:avLst/>
          </a:prstGeom>
          <a:noFill/>
          <a:ln/>
        </p:spPr>
        <p:txBody>
          <a:bodyPr wrap="square" rtlCol="0" anchor="ctr"/>
          <a:lstStyle/>
          <a:p>
            <a:pPr algn="ctr" indent="0" marL="0">
              <a:buNone/>
            </a:pPr>
            <a:r>
              <a:rPr lang="en-US" sz="1300" i="1" dirty="0">
                <a:solidFill>
                  <a:srgbClr val="D6E8FF"/>
                </a:solidFill>
                <a:latin typeface="Cambria" pitchFamily="34" charset="0"/>
                <a:ea typeface="Cambria" pitchFamily="34" charset="-122"/>
                <a:cs typeface="Cambria" pitchFamily="34" charset="-120"/>
              </a:rPr>
              <a:t>"Every time you felt the urge to guess today,</a:t>
            </a:r>
            <a:endParaRPr lang="en-US" sz="1300" dirty="0"/>
          </a:p>
          <a:p>
            <a:pPr algn="ctr" indent="0" marL="0">
              <a:buNone/>
            </a:pPr>
            <a:r>
              <a:rPr lang="en-US" sz="1300" i="1" dirty="0">
                <a:solidFill>
                  <a:srgbClr val="D6E8FF"/>
                </a:solidFill>
                <a:latin typeface="Cambria" pitchFamily="34" charset="0"/>
                <a:ea typeface="Cambria" pitchFamily="34" charset="-122"/>
                <a:cs typeface="Cambria" pitchFamily="34" charset="-120"/>
              </a:rPr>
              <a:t>you chose to look at the evidence instead.</a:t>
            </a:r>
            <a:endParaRPr lang="en-US" sz="1300" dirty="0"/>
          </a:p>
          <a:p>
            <a:pPr algn="ctr" indent="0" marL="0">
              <a:buNone/>
            </a:pPr>
            <a:r>
              <a:rPr lang="en-US" sz="1300" i="1" dirty="0">
                <a:solidFill>
                  <a:srgbClr val="D6E8FF"/>
                </a:solidFill>
                <a:latin typeface="Cambria" pitchFamily="34" charset="0"/>
                <a:ea typeface="Cambria" pitchFamily="34" charset="-122"/>
                <a:cs typeface="Cambria" pitchFamily="34" charset="-120"/>
              </a:rPr>
              <a:t>That is self-governance in action."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Guided Practice: Watch Me Think</a:t>
            </a:r>
            <a:endParaRPr lang="en-US" sz="2800" dirty="0"/>
          </a:p>
        </p:txBody>
      </p:sp>
      <p:sp>
        <p:nvSpPr>
          <p:cNvPr id="3" name="Shape 1"/>
          <p:cNvSpPr/>
          <p:nvPr/>
        </p:nvSpPr>
        <p:spPr>
          <a:xfrm>
            <a:off x="365760" y="868680"/>
            <a:ext cx="8412480" cy="411480"/>
          </a:xfrm>
          <a:prstGeom prst="roundRect">
            <a:avLst>
              <a:gd name="adj" fmla="val 22222"/>
            </a:avLst>
          </a:prstGeom>
          <a:solidFill>
            <a:srgbClr val="1A8A7D"/>
          </a:solidFill>
          <a:ln/>
        </p:spPr>
      </p:sp>
      <p:sp>
        <p:nvSpPr>
          <p:cNvPr id="4" name="Text 2"/>
          <p:cNvSpPr/>
          <p:nvPr/>
        </p:nvSpPr>
        <p:spPr>
          <a:xfrm>
            <a:off x="365760" y="868680"/>
            <a:ext cx="8412480" cy="411480"/>
          </a:xfrm>
          <a:prstGeom prst="rect">
            <a:avLst/>
          </a:prstGeom>
          <a:noFill/>
          <a:ln/>
        </p:spPr>
        <p:txBody>
          <a:bodyPr wrap="square"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TEACHER MODELS — Think-Aloud</a:t>
            </a:r>
            <a:endParaRPr lang="en-US" sz="1100" dirty="0"/>
          </a:p>
        </p:txBody>
      </p:sp>
      <p:sp>
        <p:nvSpPr>
          <p:cNvPr id="5" name="Shape 3"/>
          <p:cNvSpPr/>
          <p:nvPr/>
        </p:nvSpPr>
        <p:spPr>
          <a:xfrm>
            <a:off x="365760" y="1371600"/>
            <a:ext cx="3200400" cy="2286000"/>
          </a:xfrm>
          <a:prstGeom prst="roundRect">
            <a:avLst>
              <a:gd name="adj" fmla="val 4800"/>
            </a:avLst>
          </a:prstGeom>
          <a:solidFill>
            <a:srgbClr val="E2E8F4"/>
          </a:solidFill>
          <a:ln w="19050">
            <a:solidFill>
              <a:srgbClr val="B0B8CC"/>
            </a:solidFill>
            <a:prstDash val="dash"/>
          </a:ln>
        </p:spPr>
      </p:sp>
      <p:sp>
        <p:nvSpPr>
          <p:cNvPr id="6" name="Text 4"/>
          <p:cNvSpPr/>
          <p:nvPr/>
        </p:nvSpPr>
        <p:spPr>
          <a:xfrm>
            <a:off x="365760" y="1371600"/>
            <a:ext cx="3200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45920"/>
            <a:ext cx="292608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Florida historic photograph from Slide 4 — displayed at smaller size for reference during think-aloud.</a:t>
            </a:r>
            <a:endParaRPr lang="en-US" sz="1100" dirty="0"/>
          </a:p>
        </p:txBody>
      </p:sp>
      <p:sp>
        <p:nvSpPr>
          <p:cNvPr id="8" name="Shape 6"/>
          <p:cNvSpPr/>
          <p:nvPr/>
        </p:nvSpPr>
        <p:spPr>
          <a:xfrm>
            <a:off x="3749040" y="1371600"/>
            <a:ext cx="5029200" cy="2286000"/>
          </a:xfrm>
          <a:prstGeom prst="roundRect">
            <a:avLst>
              <a:gd name="adj" fmla="val 4800"/>
            </a:avLst>
          </a:prstGeom>
          <a:solidFill>
            <a:srgbClr val="F0F2F8"/>
          </a:solidFill>
          <a:ln w="12700">
            <a:solidFill>
              <a:srgbClr val="C8D0E0"/>
            </a:solidFill>
            <a:prstDash val="solid"/>
          </a:ln>
        </p:spPr>
      </p:sp>
      <p:sp>
        <p:nvSpPr>
          <p:cNvPr id="9" name="Text 7"/>
          <p:cNvSpPr/>
          <p:nvPr/>
        </p:nvSpPr>
        <p:spPr>
          <a:xfrm>
            <a:off x="3840480" y="1417320"/>
            <a:ext cx="4846320" cy="274320"/>
          </a:xfrm>
          <a:prstGeom prst="rect">
            <a:avLst/>
          </a:prstGeom>
          <a:noFill/>
          <a:ln/>
        </p:spPr>
        <p:txBody>
          <a:bodyPr wrap="square"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TEACHER THINK-ALOUD SCRIPT:</a:t>
            </a:r>
            <a:endParaRPr lang="en-US" sz="1000" dirty="0"/>
          </a:p>
        </p:txBody>
      </p:sp>
      <p:sp>
        <p:nvSpPr>
          <p:cNvPr id="10" name="Text 8"/>
          <p:cNvSpPr/>
          <p:nvPr/>
        </p:nvSpPr>
        <p:spPr>
          <a:xfrm>
            <a:off x="3840480" y="1737360"/>
            <a:ext cx="4754880" cy="18288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"I see a building in the background. That is my observation.</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Now I ask: what does it tell me? It looks like a wooden structure — not brick — so this is probably before Florida had many permanent buildings. That is my explanation.</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My claim: This photograph shows early Florida settlement. My evidence: the wooden construction style, which matches what I know about building materials in the 1890s."</a:t>
            </a:r>
            <a:endParaRPr lang="en-US" sz="1100" dirty="0"/>
          </a:p>
        </p:txBody>
      </p:sp>
      <p:sp>
        <p:nvSpPr>
          <p:cNvPr id="11" name="Shape 9"/>
          <p:cNvSpPr/>
          <p:nvPr/>
        </p:nvSpPr>
        <p:spPr>
          <a:xfrm>
            <a:off x="365760" y="3794760"/>
            <a:ext cx="8412480" cy="502920"/>
          </a:xfrm>
          <a:prstGeom prst="roundRect">
            <a:avLst>
              <a:gd name="adj" fmla="val 18182"/>
            </a:avLst>
          </a:prstGeom>
          <a:solidFill>
            <a:srgbClr val="EAF8FD"/>
          </a:solidFill>
          <a:ln/>
        </p:spPr>
      </p:sp>
      <p:sp>
        <p:nvSpPr>
          <p:cNvPr id="12" name="Text 10"/>
          <p:cNvSpPr/>
          <p:nvPr/>
        </p:nvSpPr>
        <p:spPr>
          <a:xfrm>
            <a:off x="457200" y="3794760"/>
            <a:ext cx="8229600" cy="502920"/>
          </a:xfrm>
          <a:prstGeom prst="rect">
            <a:avLst/>
          </a:prstGeom>
          <a:noFill/>
          <a:ln/>
        </p:spPr>
        <p:txBody>
          <a:bodyPr wrap="square" rtlCol="0" anchor="ctr"/>
          <a:lstStyle/>
          <a:p>
            <a:pPr algn="ctr" indent="0" marL="0">
              <a:buNone/>
            </a:pPr>
            <a:r>
              <a:rPr lang="en-US" sz="1200" b="1" dirty="0">
                <a:solidFill>
                  <a:srgbClr val="1A8A7D"/>
                </a:solidFill>
                <a:latin typeface="Calibri" pitchFamily="34" charset="0"/>
                <a:ea typeface="Calibri" pitchFamily="34" charset="-122"/>
                <a:cs typeface="Calibri" pitchFamily="34" charset="-120"/>
              </a:rPr>
              <a:t>Observation -&gt; Explanation -&gt; Claim + Evidence. That is the historian's move.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 Turn: Make a Historian's Claim</a:t>
            </a:r>
            <a:endParaRPr lang="en-US" sz="2800" dirty="0"/>
          </a:p>
        </p:txBody>
      </p:sp>
      <p:sp>
        <p:nvSpPr>
          <p:cNvPr id="3" name="Text 1"/>
          <p:cNvSpPr/>
          <p:nvPr/>
        </p:nvSpPr>
        <p:spPr>
          <a:xfrm>
            <a:off x="365760" y="777240"/>
            <a:ext cx="8412480" cy="32004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Choose ONE detail from the photograph. Build a claim.</a:t>
            </a:r>
            <a:endParaRPr lang="en-US" sz="1300" dirty="0"/>
          </a:p>
        </p:txBody>
      </p:sp>
      <p:sp>
        <p:nvSpPr>
          <p:cNvPr id="4" name="Shape 2"/>
          <p:cNvSpPr/>
          <p:nvPr/>
        </p:nvSpPr>
        <p:spPr>
          <a:xfrm>
            <a:off x="365760" y="1188720"/>
            <a:ext cx="3474720" cy="2468880"/>
          </a:xfrm>
          <a:prstGeom prst="roundRect">
            <a:avLst>
              <a:gd name="adj" fmla="val 4444"/>
            </a:avLst>
          </a:prstGeom>
          <a:solidFill>
            <a:srgbClr val="E2E8F4"/>
          </a:solidFill>
          <a:ln w="19050">
            <a:solidFill>
              <a:srgbClr val="B0B8CC"/>
            </a:solidFill>
            <a:prstDash val="dash"/>
          </a:ln>
        </p:spPr>
      </p:sp>
      <p:sp>
        <p:nvSpPr>
          <p:cNvPr id="5" name="Text 3"/>
          <p:cNvSpPr/>
          <p:nvPr/>
        </p:nvSpPr>
        <p:spPr>
          <a:xfrm>
            <a:off x="365760" y="118872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63040"/>
            <a:ext cx="320040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Florida historic photograph — students are building claims from what they observe here.</a:t>
            </a:r>
            <a:endParaRPr lang="en-US" sz="1100" dirty="0"/>
          </a:p>
        </p:txBody>
      </p:sp>
      <p:sp>
        <p:nvSpPr>
          <p:cNvPr id="7" name="Shape 5"/>
          <p:cNvSpPr/>
          <p:nvPr/>
        </p:nvSpPr>
        <p:spPr>
          <a:xfrm>
            <a:off x="4023360" y="1188720"/>
            <a:ext cx="4754880" cy="2468880"/>
          </a:xfrm>
          <a:prstGeom prst="roundRect">
            <a:avLst>
              <a:gd name="adj" fmla="val 4444"/>
            </a:avLst>
          </a:prstGeom>
          <a:solidFill>
            <a:srgbClr val="F0F2F8"/>
          </a:solidFill>
          <a:ln w="12700">
            <a:solidFill>
              <a:srgbClr val="C8D0E0"/>
            </a:solidFill>
            <a:prstDash val="solid"/>
          </a:ln>
        </p:spPr>
      </p:sp>
      <p:sp>
        <p:nvSpPr>
          <p:cNvPr id="8" name="Text 6"/>
          <p:cNvSpPr/>
          <p:nvPr/>
        </p:nvSpPr>
        <p:spPr>
          <a:xfrm>
            <a:off x="4206240" y="1280160"/>
            <a:ext cx="438912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Build your claim step by step:</a:t>
            </a:r>
            <a:endParaRPr lang="en-US" sz="1200" dirty="0"/>
          </a:p>
        </p:txBody>
      </p:sp>
      <p:sp>
        <p:nvSpPr>
          <p:cNvPr id="9" name="Text 7"/>
          <p:cNvSpPr/>
          <p:nvPr/>
        </p:nvSpPr>
        <p:spPr>
          <a:xfrm>
            <a:off x="4206240" y="1691640"/>
            <a:ext cx="4389120" cy="5029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1. I observe: _______ in this photograph.</a:t>
            </a:r>
            <a:endParaRPr lang="en-US" sz="1200" dirty="0"/>
          </a:p>
        </p:txBody>
      </p:sp>
      <p:sp>
        <p:nvSpPr>
          <p:cNvPr id="10" name="Text 8"/>
          <p:cNvSpPr/>
          <p:nvPr/>
        </p:nvSpPr>
        <p:spPr>
          <a:xfrm>
            <a:off x="4206240" y="2286000"/>
            <a:ext cx="4389120" cy="5029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2. This tells me: _______ about people / places / events.</a:t>
            </a:r>
            <a:endParaRPr lang="en-US" sz="1200" dirty="0"/>
          </a:p>
        </p:txBody>
      </p:sp>
      <p:sp>
        <p:nvSpPr>
          <p:cNvPr id="11" name="Text 9"/>
          <p:cNvSpPr/>
          <p:nvPr/>
        </p:nvSpPr>
        <p:spPr>
          <a:xfrm>
            <a:off x="4206240" y="2880360"/>
            <a:ext cx="4389120" cy="5029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3. My claim: _______ because the evidence shows _______.</a:t>
            </a:r>
            <a:endParaRPr lang="en-US" sz="1200" dirty="0"/>
          </a:p>
        </p:txBody>
      </p:sp>
      <p:sp>
        <p:nvSpPr>
          <p:cNvPr id="12" name="Shape 10"/>
          <p:cNvSpPr/>
          <p:nvPr/>
        </p:nvSpPr>
        <p:spPr>
          <a:xfrm>
            <a:off x="365760" y="3749040"/>
            <a:ext cx="5303520" cy="109728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48640" y="3840480"/>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48640" y="4096512"/>
            <a:ext cx="4937760" cy="658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specifically supports that claim?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disagrees with you say?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your evidence strong enough to convince another historian?</a:t>
            </a:r>
            <a:endParaRPr lang="en-US" sz="1100" dirty="0"/>
          </a:p>
        </p:txBody>
      </p:sp>
      <p:sp>
        <p:nvSpPr>
          <p:cNvPr id="15" name="Shape 13"/>
          <p:cNvSpPr/>
          <p:nvPr/>
        </p:nvSpPr>
        <p:spPr>
          <a:xfrm>
            <a:off x="5806440" y="3749040"/>
            <a:ext cx="2971800" cy="1097280"/>
          </a:xfrm>
          <a:prstGeom prst="roundRect">
            <a:avLst>
              <a:gd name="adj" fmla="val 10000"/>
            </a:avLst>
          </a:prstGeom>
          <a:solidFill>
            <a:srgbClr val="FFF3DC"/>
          </a:solidFill>
          <a:ln w="19050">
            <a:solidFill>
              <a:srgbClr val="F5E6C8"/>
            </a:solidFill>
            <a:prstDash val="solid"/>
          </a:ln>
        </p:spPr>
      </p:sp>
      <p:sp>
        <p:nvSpPr>
          <p:cNvPr id="16" name="Text 14"/>
          <p:cNvSpPr/>
          <p:nvPr/>
        </p:nvSpPr>
        <p:spPr>
          <a:xfrm>
            <a:off x="5943600" y="3803904"/>
            <a:ext cx="2697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943600" y="4005072"/>
            <a:ext cx="26974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is...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might disagree because..."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Critique: Which Response Is Stronger?</a:t>
            </a:r>
            <a:endParaRPr lang="en-US" sz="2800" dirty="0"/>
          </a:p>
        </p:txBody>
      </p:sp>
      <p:sp>
        <p:nvSpPr>
          <p:cNvPr id="3" name="Text 1"/>
          <p:cNvSpPr/>
          <p:nvPr/>
        </p:nvSpPr>
        <p:spPr>
          <a:xfrm>
            <a:off x="365760" y="777240"/>
            <a:ext cx="8412480" cy="36576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These are two student responses to: 'What does the photograph tell us about Florida?' Which is stronger? Why?</a:t>
            </a:r>
            <a:endParaRPr lang="en-US" sz="1200" dirty="0"/>
          </a:p>
        </p:txBody>
      </p:sp>
      <p:sp>
        <p:nvSpPr>
          <p:cNvPr id="4" name="Shape 2"/>
          <p:cNvSpPr/>
          <p:nvPr/>
        </p:nvSpPr>
        <p:spPr>
          <a:xfrm>
            <a:off x="365760" y="1234440"/>
            <a:ext cx="3840480" cy="1828800"/>
          </a:xfrm>
          <a:prstGeom prst="roundRect">
            <a:avLst>
              <a:gd name="adj" fmla="val 6000"/>
            </a:avLst>
          </a:prstGeom>
          <a:solidFill>
            <a:srgbClr val="FFF0F0"/>
          </a:solidFill>
          <a:ln w="19050">
            <a:solidFill>
              <a:srgbClr val="E8636B"/>
            </a:solidFill>
            <a:prstDash val="solid"/>
          </a:ln>
        </p:spPr>
      </p:sp>
      <p:sp>
        <p:nvSpPr>
          <p:cNvPr id="5" name="Text 3"/>
          <p:cNvSpPr/>
          <p:nvPr/>
        </p:nvSpPr>
        <p:spPr>
          <a:xfrm>
            <a:off x="457200" y="1280160"/>
            <a:ext cx="3657600" cy="256032"/>
          </a:xfrm>
          <a:prstGeom prst="rect">
            <a:avLst/>
          </a:prstGeom>
          <a:noFill/>
          <a:ln/>
        </p:spPr>
        <p:txBody>
          <a:bodyPr wrap="square"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STUDENT RESPONSE A</a:t>
            </a:r>
            <a:endParaRPr lang="en-US" sz="900" dirty="0"/>
          </a:p>
        </p:txBody>
      </p:sp>
      <p:sp>
        <p:nvSpPr>
          <p:cNvPr id="6" name="Text 4"/>
          <p:cNvSpPr/>
          <p:nvPr/>
        </p:nvSpPr>
        <p:spPr>
          <a:xfrm>
            <a:off x="502920" y="1572768"/>
            <a:ext cx="3566160" cy="1371600"/>
          </a:xfrm>
          <a:prstGeom prst="rect">
            <a:avLst/>
          </a:prstGeom>
          <a:noFill/>
          <a:ln/>
        </p:spPr>
        <p:txBody>
          <a:bodyPr wrap="square"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"The photograph shows people in Florida long ago. It looks like a long time ago because the clothes are old-fashioned."</a:t>
            </a:r>
            <a:endParaRPr lang="en-US" sz="1200" dirty="0"/>
          </a:p>
        </p:txBody>
      </p:sp>
      <p:sp>
        <p:nvSpPr>
          <p:cNvPr id="7" name="Shape 5"/>
          <p:cNvSpPr/>
          <p:nvPr/>
        </p:nvSpPr>
        <p:spPr>
          <a:xfrm>
            <a:off x="4937760" y="1234440"/>
            <a:ext cx="3840480" cy="1828800"/>
          </a:xfrm>
          <a:prstGeom prst="roundRect">
            <a:avLst>
              <a:gd name="adj" fmla="val 6000"/>
            </a:avLst>
          </a:prstGeom>
          <a:solidFill>
            <a:srgbClr val="E3F8ED"/>
          </a:solidFill>
          <a:ln w="19050">
            <a:solidFill>
              <a:srgbClr val="34B76F"/>
            </a:solidFill>
            <a:prstDash val="solid"/>
          </a:ln>
        </p:spPr>
      </p:sp>
      <p:sp>
        <p:nvSpPr>
          <p:cNvPr id="8" name="Text 6"/>
          <p:cNvSpPr/>
          <p:nvPr/>
        </p:nvSpPr>
        <p:spPr>
          <a:xfrm>
            <a:off x="5029200" y="1280160"/>
            <a:ext cx="3657600" cy="256032"/>
          </a:xfrm>
          <a:prstGeom prst="rect">
            <a:avLst/>
          </a:prstGeom>
          <a:noFill/>
          <a:ln/>
        </p:spPr>
        <p:txBody>
          <a:bodyPr wrap="square" rtlCol="0" anchor="ctr"/>
          <a:lstStyle/>
          <a:p>
            <a:pPr indent="0" marL="0">
              <a:buNone/>
            </a:pPr>
            <a:r>
              <a:rPr lang="en-US" sz="900" b="1" spc="100" kern="0" dirty="0">
                <a:solidFill>
                  <a:srgbClr val="34B76F"/>
                </a:solidFill>
                <a:latin typeface="Calibri" pitchFamily="34" charset="0"/>
                <a:ea typeface="Calibri" pitchFamily="34" charset="-122"/>
                <a:cs typeface="Calibri" pitchFamily="34" charset="-120"/>
              </a:rPr>
              <a:t>STUDENT RESPONSE B</a:t>
            </a:r>
            <a:endParaRPr lang="en-US" sz="900" dirty="0"/>
          </a:p>
        </p:txBody>
      </p:sp>
      <p:sp>
        <p:nvSpPr>
          <p:cNvPr id="9" name="Text 7"/>
          <p:cNvSpPr/>
          <p:nvPr/>
        </p:nvSpPr>
        <p:spPr>
          <a:xfrm>
            <a:off x="5074920" y="1572768"/>
            <a:ext cx="3566160" cy="1371600"/>
          </a:xfrm>
          <a:prstGeom prst="rect">
            <a:avLst/>
          </a:prstGeom>
          <a:noFill/>
          <a:ln/>
        </p:spPr>
        <p:txBody>
          <a:bodyPr wrap="square"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"I notice the workers are wearing long sleeves and hats in a hot climate, which tells me this work was physically demanding. This is evidence about how people lived — specifically laborers in Florida before modern technology."</a:t>
            </a:r>
            <a:endParaRPr lang="en-US" sz="1200" dirty="0"/>
          </a:p>
        </p:txBody>
      </p:sp>
      <p:sp>
        <p:nvSpPr>
          <p:cNvPr id="10" name="Text 8"/>
          <p:cNvSpPr/>
          <p:nvPr/>
        </p:nvSpPr>
        <p:spPr>
          <a:xfrm>
            <a:off x="4206240" y="1874520"/>
            <a:ext cx="731520" cy="365760"/>
          </a:xfrm>
          <a:prstGeom prst="rect">
            <a:avLst/>
          </a:prstGeom>
          <a:noFill/>
          <a:ln/>
        </p:spPr>
        <p:txBody>
          <a:bodyPr wrap="square" rtlCol="0" anchor="ctr"/>
          <a:lstStyle/>
          <a:p>
            <a:pPr algn="ctr" indent="0" marL="0">
              <a:buNone/>
            </a:pPr>
            <a:r>
              <a:rPr lang="en-US" sz="1800" b="1" dirty="0">
                <a:solidFill>
                  <a:srgbClr val="7A88A8"/>
                </a:solidFill>
                <a:latin typeface="Cambria" pitchFamily="34" charset="0"/>
                <a:ea typeface="Cambria" pitchFamily="34" charset="-122"/>
                <a:cs typeface="Cambria" pitchFamily="34" charset="-120"/>
              </a:rPr>
              <a:t>vs.</a:t>
            </a:r>
            <a:endParaRPr lang="en-US" sz="1800" dirty="0"/>
          </a:p>
        </p:txBody>
      </p:sp>
      <p:sp>
        <p:nvSpPr>
          <p:cNvPr id="11" name="Shape 9"/>
          <p:cNvSpPr/>
          <p:nvPr/>
        </p:nvSpPr>
        <p:spPr>
          <a:xfrm>
            <a:off x="365760" y="3200400"/>
            <a:ext cx="5303520" cy="1600200"/>
          </a:xfrm>
          <a:prstGeom prst="roundRect">
            <a:avLst>
              <a:gd name="adj" fmla="val 8571"/>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48640" y="3291840"/>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48640" y="3547872"/>
            <a:ext cx="4937760" cy="1161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Response B stronger — is it the claim, or the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one thing would most improve Response 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Response B be made even stronger? How?</a:t>
            </a:r>
            <a:endParaRPr lang="en-US" sz="1100" dirty="0"/>
          </a:p>
        </p:txBody>
      </p:sp>
      <p:sp>
        <p:nvSpPr>
          <p:cNvPr id="14" name="Shape 12"/>
          <p:cNvSpPr/>
          <p:nvPr/>
        </p:nvSpPr>
        <p:spPr>
          <a:xfrm>
            <a:off x="5760720" y="3200400"/>
            <a:ext cx="3017520" cy="1600200"/>
          </a:xfrm>
          <a:prstGeom prst="roundRect">
            <a:avLst>
              <a:gd name="adj" fmla="val 6857"/>
            </a:avLst>
          </a:prstGeom>
          <a:solidFill>
            <a:srgbClr val="FFF3DC"/>
          </a:solidFill>
          <a:ln w="19050">
            <a:solidFill>
              <a:srgbClr val="F5E6C8"/>
            </a:solidFill>
            <a:prstDash val="solid"/>
          </a:ln>
        </p:spPr>
      </p:sp>
      <p:sp>
        <p:nvSpPr>
          <p:cNvPr id="15" name="Text 13"/>
          <p:cNvSpPr/>
          <p:nvPr/>
        </p:nvSpPr>
        <p:spPr>
          <a:xfrm>
            <a:off x="5897880" y="3255264"/>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97880" y="3456432"/>
            <a:ext cx="274320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"Response ___ is stronger because the evidence..."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improve Response A, I would add..."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3000" b="1" dirty="0">
                <a:solidFill>
                  <a:srgbClr val="E8636B"/>
                </a:solidFill>
                <a:latin typeface="Cambria" pitchFamily="34" charset="0"/>
                <a:ea typeface="Cambria" pitchFamily="34" charset="-122"/>
                <a:cs typeface="Cambria" pitchFamily="34" charset="-120"/>
              </a:rPr>
              <a:t>The Tricky One</a:t>
            </a:r>
            <a:endParaRPr lang="en-US" sz="3000" dirty="0"/>
          </a:p>
        </p:txBody>
      </p:sp>
      <p:sp>
        <p:nvSpPr>
          <p:cNvPr id="3" name="Shape 1"/>
          <p:cNvSpPr/>
          <p:nvPr/>
        </p:nvSpPr>
        <p:spPr>
          <a:xfrm>
            <a:off x="365760" y="822960"/>
            <a:ext cx="8412480" cy="1005840"/>
          </a:xfrm>
          <a:prstGeom prst="roundRect">
            <a:avLst>
              <a:gd name="adj" fmla="val 10909"/>
            </a:avLst>
          </a:prstGeom>
          <a:solidFill>
            <a:srgbClr val="FFF8F0"/>
          </a:solidFill>
          <a:ln w="19050">
            <a:solidFill>
              <a:srgbClr val="D4943A"/>
            </a:solidFill>
            <a:prstDash val="solid"/>
          </a:ln>
        </p:spPr>
      </p:sp>
      <p:sp>
        <p:nvSpPr>
          <p:cNvPr id="4" name="Text 2"/>
          <p:cNvSpPr/>
          <p:nvPr/>
        </p:nvSpPr>
        <p:spPr>
          <a:xfrm>
            <a:off x="548640" y="868680"/>
            <a:ext cx="8046720" cy="914400"/>
          </a:xfrm>
          <a:prstGeom prst="rect">
            <a:avLst/>
          </a:prstGeom>
          <a:noFill/>
          <a:ln/>
        </p:spPr>
        <p:txBody>
          <a:bodyPr wrap="square" rtlCol="0" anchor="ctr"/>
          <a:lstStyle/>
          <a:p>
            <a:pPr algn="ctr" indent="0" marL="0">
              <a:buNone/>
            </a:pPr>
            <a:r>
              <a:rPr lang="en-US" sz="1500" i="1" dirty="0">
                <a:solidFill>
                  <a:srgbClr val="0E1C42"/>
                </a:solidFill>
                <a:latin typeface="Cambria" pitchFamily="34" charset="0"/>
                <a:ea typeface="Cambria" pitchFamily="34" charset="-122"/>
                <a:cs typeface="Cambria" pitchFamily="34" charset="-120"/>
              </a:rPr>
              <a:t>"We don't need photographs of Florida's past. We can just ask people who were alive then to tell us what happened."</a:t>
            </a:r>
            <a:endParaRPr lang="en-US" sz="1500" dirty="0"/>
          </a:p>
        </p:txBody>
      </p:sp>
      <p:sp>
        <p:nvSpPr>
          <p:cNvPr id="5" name="Text 3"/>
          <p:cNvSpPr/>
          <p:nvPr/>
        </p:nvSpPr>
        <p:spPr>
          <a:xfrm>
            <a:off x="365760" y="1920240"/>
            <a:ext cx="8412480" cy="36576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Is this a strong argument? A weak one? Could a reasonable person make this case?</a:t>
            </a:r>
            <a:endParaRPr lang="en-US" sz="1300" dirty="0"/>
          </a:p>
        </p:txBody>
      </p:sp>
      <p:sp>
        <p:nvSpPr>
          <p:cNvPr id="6" name="Shape 4"/>
          <p:cNvSpPr/>
          <p:nvPr/>
        </p:nvSpPr>
        <p:spPr>
          <a:xfrm>
            <a:off x="365760" y="2377440"/>
            <a:ext cx="5303520" cy="196596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548640" y="2468880"/>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548640" y="2724912"/>
            <a:ext cx="4937760" cy="1527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supports this argument?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challenges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reasonable people disagree here, or is there a clear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oral history stronger or weaker as evidence?</a:t>
            </a:r>
            <a:endParaRPr lang="en-US" sz="1100" dirty="0"/>
          </a:p>
        </p:txBody>
      </p:sp>
      <p:sp>
        <p:nvSpPr>
          <p:cNvPr id="9" name="Shape 7"/>
          <p:cNvSpPr/>
          <p:nvPr/>
        </p:nvSpPr>
        <p:spPr>
          <a:xfrm>
            <a:off x="5760720" y="2377440"/>
            <a:ext cx="3017520" cy="1965960"/>
          </a:xfrm>
          <a:prstGeom prst="roundRect">
            <a:avLst>
              <a:gd name="adj" fmla="val 5581"/>
            </a:avLst>
          </a:prstGeom>
          <a:solidFill>
            <a:srgbClr val="FFF3DC"/>
          </a:solidFill>
          <a:ln w="19050">
            <a:solidFill>
              <a:srgbClr val="F5E6C8"/>
            </a:solidFill>
            <a:prstDash val="solid"/>
          </a:ln>
        </p:spPr>
      </p:sp>
      <p:sp>
        <p:nvSpPr>
          <p:cNvPr id="10" name="Text 8"/>
          <p:cNvSpPr/>
          <p:nvPr/>
        </p:nvSpPr>
        <p:spPr>
          <a:xfrm>
            <a:off x="5897880" y="2432304"/>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97880" y="2633472"/>
            <a:ext cx="2743200" cy="16459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argument is strong/weak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problem with relying only on memory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"Oral history is valuable evidence when..."</a:t>
            </a:r>
            <a:endParaRPr lang="en-US" sz="1200" dirty="0"/>
          </a:p>
        </p:txBody>
      </p:sp>
      <p:sp>
        <p:nvSpPr>
          <p:cNvPr id="12" name="Shape 10"/>
          <p:cNvSpPr/>
          <p:nvPr/>
        </p:nvSpPr>
        <p:spPr>
          <a:xfrm>
            <a:off x="365760" y="4480560"/>
            <a:ext cx="8412480" cy="411480"/>
          </a:xfrm>
          <a:prstGeom prst="roundRect">
            <a:avLst>
              <a:gd name="adj" fmla="val 22222"/>
            </a:avLst>
          </a:prstGeom>
          <a:solidFill>
            <a:srgbClr val="EAF8FD"/>
          </a:solidFill>
          <a:ln/>
        </p:spPr>
      </p:sp>
      <p:sp>
        <p:nvSpPr>
          <p:cNvPr id="13" name="Text 11"/>
          <p:cNvSpPr/>
          <p:nvPr/>
        </p:nvSpPr>
        <p:spPr>
          <a:xfrm>
            <a:off x="548640" y="4480560"/>
            <a:ext cx="8046720" cy="411480"/>
          </a:xfrm>
          <a:prstGeom prst="rect">
            <a:avLst/>
          </a:prstGeom>
          <a:noFill/>
          <a:ln/>
        </p:spPr>
        <p:txBody>
          <a:bodyPr wrap="square" rtlCol="0" anchor="ctr"/>
          <a:lstStyle/>
          <a:p>
            <a:pPr algn="ctr" indent="0" marL="0">
              <a:buNone/>
            </a:pPr>
            <a:r>
              <a:rPr lang="en-US" sz="1100" i="1" dirty="0">
                <a:solidFill>
                  <a:srgbClr val="1A8A7D"/>
                </a:solidFill>
                <a:latin typeface="Calibri" pitchFamily="34" charset="0"/>
                <a:ea typeface="Calibri" pitchFamily="34" charset="-122"/>
                <a:cs typeface="Calibri" pitchFamily="34" charset="-120"/>
              </a:rPr>
              <a:t>Takeaway: Reasonable historians can disagree about which evidence is strongest. That debate IS the work.</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Self-Check</a:t>
            </a:r>
            <a:endParaRPr lang="en-US" sz="3000" dirty="0"/>
          </a:p>
        </p:txBody>
      </p:sp>
      <p:sp>
        <p:nvSpPr>
          <p:cNvPr id="3" name="Text 1"/>
          <p:cNvSpPr/>
          <p:nvPr/>
        </p:nvSpPr>
        <p:spPr>
          <a:xfrm>
            <a:off x="365760" y="777240"/>
            <a:ext cx="8412480" cy="32004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Not graded — just for you. Think through each one before we move to the assignment.</a:t>
            </a:r>
            <a:endParaRPr lang="en-US" sz="1200" dirty="0"/>
          </a:p>
        </p:txBody>
      </p:sp>
      <p:sp>
        <p:nvSpPr>
          <p:cNvPr id="4" name="Shape 2"/>
          <p:cNvSpPr/>
          <p:nvPr/>
        </p:nvSpPr>
        <p:spPr>
          <a:xfrm>
            <a:off x="365760" y="1234440"/>
            <a:ext cx="8412480" cy="1005840"/>
          </a:xfrm>
          <a:prstGeom prst="roundRect">
            <a:avLst>
              <a:gd name="adj" fmla="val 10909"/>
            </a:avLst>
          </a:prstGeom>
          <a:solidFill>
            <a:srgbClr val="F0F2F8"/>
          </a:solidFill>
          <a:ln w="12700">
            <a:solidFill>
              <a:srgbClr val="C8D0E0"/>
            </a:solidFill>
            <a:prstDash val="solid"/>
          </a:ln>
        </p:spPr>
      </p:sp>
      <p:sp>
        <p:nvSpPr>
          <p:cNvPr id="5" name="Text 3"/>
          <p:cNvSpPr/>
          <p:nvPr/>
        </p:nvSpPr>
        <p:spPr>
          <a:xfrm>
            <a:off x="548640" y="1289304"/>
            <a:ext cx="50292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Which list shows what historians study?</a:t>
            </a:r>
            <a:endParaRPr lang="en-US" sz="1200" dirty="0"/>
          </a:p>
        </p:txBody>
      </p:sp>
      <p:sp>
        <p:nvSpPr>
          <p:cNvPr id="6" name="Shape 4"/>
          <p:cNvSpPr/>
          <p:nvPr/>
        </p:nvSpPr>
        <p:spPr>
          <a:xfrm>
            <a:off x="5760720" y="1280160"/>
            <a:ext cx="2834640" cy="822960"/>
          </a:xfrm>
          <a:prstGeom prst="roundRect">
            <a:avLst>
              <a:gd name="adj" fmla="val 11111"/>
            </a:avLst>
          </a:prstGeom>
          <a:solidFill>
            <a:srgbClr val="2A4A8A"/>
          </a:solidFill>
          <a:ln/>
        </p:spPr>
      </p:sp>
      <p:sp>
        <p:nvSpPr>
          <p:cNvPr id="7" name="Text 5"/>
          <p:cNvSpPr/>
          <p:nvPr/>
        </p:nvSpPr>
        <p:spPr>
          <a:xfrm>
            <a:off x="5806440" y="1280160"/>
            <a:ext cx="2743200" cy="82296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People, Places, Events, and Evidence</a:t>
            </a:r>
            <a:endParaRPr lang="en-US" sz="1100" dirty="0"/>
          </a:p>
        </p:txBody>
      </p:sp>
      <p:sp>
        <p:nvSpPr>
          <p:cNvPr id="8" name="Text 6"/>
          <p:cNvSpPr/>
          <p:nvPr/>
        </p:nvSpPr>
        <p:spPr>
          <a:xfrm>
            <a:off x="5760720" y="1289304"/>
            <a:ext cx="914400" cy="256032"/>
          </a:xfrm>
          <a:prstGeom prst="rect">
            <a:avLst/>
          </a:prstGeom>
          <a:noFill/>
          <a:ln/>
        </p:spPr>
        <p:txBody>
          <a:bodyPr wrap="square" rtlCol="0" anchor="ctr"/>
          <a:lstStyle/>
          <a:p>
            <a:pPr indent="0" marL="0">
              <a:buNone/>
            </a:pPr>
            <a:r>
              <a:rPr lang="en-US" sz="900" b="1" spc="50" kern="0" dirty="0">
                <a:solidFill>
                  <a:srgbClr val="A0E8DA"/>
                </a:solidFill>
                <a:latin typeface="Calibri" pitchFamily="34" charset="0"/>
                <a:ea typeface="Calibri" pitchFamily="34" charset="-122"/>
                <a:cs typeface="Calibri" pitchFamily="34" charset="-120"/>
              </a:rPr>
              <a:t>Answer -&gt;</a:t>
            </a:r>
            <a:endParaRPr lang="en-US" sz="900" dirty="0"/>
          </a:p>
        </p:txBody>
      </p:sp>
      <p:sp>
        <p:nvSpPr>
          <p:cNvPr id="9" name="Shape 7"/>
          <p:cNvSpPr/>
          <p:nvPr/>
        </p:nvSpPr>
        <p:spPr>
          <a:xfrm>
            <a:off x="365760" y="2377440"/>
            <a:ext cx="8412480" cy="1005840"/>
          </a:xfrm>
          <a:prstGeom prst="roundRect">
            <a:avLst>
              <a:gd name="adj" fmla="val 10909"/>
            </a:avLst>
          </a:prstGeom>
          <a:solidFill>
            <a:srgbClr val="F0F2F8"/>
          </a:solidFill>
          <a:ln w="12700">
            <a:solidFill>
              <a:srgbClr val="C8D0E0"/>
            </a:solidFill>
            <a:prstDash val="solid"/>
          </a:ln>
        </p:spPr>
      </p:sp>
      <p:sp>
        <p:nvSpPr>
          <p:cNvPr id="10" name="Text 8"/>
          <p:cNvSpPr/>
          <p:nvPr/>
        </p:nvSpPr>
        <p:spPr>
          <a:xfrm>
            <a:off x="548640" y="2432304"/>
            <a:ext cx="50292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Which sentence is a historian's claim, not a guess?</a:t>
            </a:r>
            <a:endParaRPr lang="en-US" sz="1200" dirty="0"/>
          </a:p>
        </p:txBody>
      </p:sp>
      <p:sp>
        <p:nvSpPr>
          <p:cNvPr id="11" name="Shape 9"/>
          <p:cNvSpPr/>
          <p:nvPr/>
        </p:nvSpPr>
        <p:spPr>
          <a:xfrm>
            <a:off x="5760720" y="2423160"/>
            <a:ext cx="2834640" cy="822960"/>
          </a:xfrm>
          <a:prstGeom prst="roundRect">
            <a:avLst>
              <a:gd name="adj" fmla="val 11111"/>
            </a:avLst>
          </a:prstGeom>
          <a:solidFill>
            <a:srgbClr val="1A6A5A"/>
          </a:solidFill>
          <a:ln/>
        </p:spPr>
      </p:sp>
      <p:sp>
        <p:nvSpPr>
          <p:cNvPr id="12" name="Text 10"/>
          <p:cNvSpPr/>
          <p:nvPr/>
        </p:nvSpPr>
        <p:spPr>
          <a:xfrm>
            <a:off x="5806440" y="2423160"/>
            <a:ext cx="2743200" cy="82296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"A map from 1696 shows a Spanish fort, so Spanish soldiers were here by then."</a:t>
            </a:r>
            <a:endParaRPr lang="en-US" sz="1100" dirty="0"/>
          </a:p>
        </p:txBody>
      </p:sp>
      <p:sp>
        <p:nvSpPr>
          <p:cNvPr id="13" name="Text 11"/>
          <p:cNvSpPr/>
          <p:nvPr/>
        </p:nvSpPr>
        <p:spPr>
          <a:xfrm>
            <a:off x="5760720" y="2432304"/>
            <a:ext cx="914400" cy="256032"/>
          </a:xfrm>
          <a:prstGeom prst="rect">
            <a:avLst/>
          </a:prstGeom>
          <a:noFill/>
          <a:ln/>
        </p:spPr>
        <p:txBody>
          <a:bodyPr wrap="square" rtlCol="0" anchor="ctr"/>
          <a:lstStyle/>
          <a:p>
            <a:pPr indent="0" marL="0">
              <a:buNone/>
            </a:pPr>
            <a:r>
              <a:rPr lang="en-US" sz="900" b="1" spc="50" kern="0" dirty="0">
                <a:solidFill>
                  <a:srgbClr val="A0E8DA"/>
                </a:solidFill>
                <a:latin typeface="Calibri" pitchFamily="34" charset="0"/>
                <a:ea typeface="Calibri" pitchFamily="34" charset="-122"/>
                <a:cs typeface="Calibri" pitchFamily="34" charset="-120"/>
              </a:rPr>
              <a:t>Answer -&gt;</a:t>
            </a:r>
            <a:endParaRPr lang="en-US" sz="900" dirty="0"/>
          </a:p>
        </p:txBody>
      </p:sp>
      <p:sp>
        <p:nvSpPr>
          <p:cNvPr id="14" name="Shape 12"/>
          <p:cNvSpPr/>
          <p:nvPr/>
        </p:nvSpPr>
        <p:spPr>
          <a:xfrm>
            <a:off x="365760" y="3520440"/>
            <a:ext cx="8412480" cy="1005840"/>
          </a:xfrm>
          <a:prstGeom prst="roundRect">
            <a:avLst>
              <a:gd name="adj" fmla="val 10909"/>
            </a:avLst>
          </a:prstGeom>
          <a:solidFill>
            <a:srgbClr val="F0F2F8"/>
          </a:solidFill>
          <a:ln w="12700">
            <a:solidFill>
              <a:srgbClr val="C8D0E0"/>
            </a:solidFill>
            <a:prstDash val="solid"/>
          </a:ln>
        </p:spPr>
      </p:sp>
      <p:sp>
        <p:nvSpPr>
          <p:cNvPr id="15" name="Text 13"/>
          <p:cNvSpPr/>
          <p:nvPr/>
        </p:nvSpPr>
        <p:spPr>
          <a:xfrm>
            <a:off x="548640" y="3575304"/>
            <a:ext cx="50292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Why do historians use evidence instead of just guessing?</a:t>
            </a:r>
            <a:endParaRPr lang="en-US" sz="1200" dirty="0"/>
          </a:p>
        </p:txBody>
      </p:sp>
      <p:sp>
        <p:nvSpPr>
          <p:cNvPr id="16" name="Shape 14"/>
          <p:cNvSpPr/>
          <p:nvPr/>
        </p:nvSpPr>
        <p:spPr>
          <a:xfrm>
            <a:off x="5760720" y="3566160"/>
            <a:ext cx="2834640" cy="822960"/>
          </a:xfrm>
          <a:prstGeom prst="roundRect">
            <a:avLst>
              <a:gd name="adj" fmla="val 11111"/>
            </a:avLst>
          </a:prstGeom>
          <a:solidFill>
            <a:srgbClr val="6A3A8A"/>
          </a:solidFill>
          <a:ln/>
        </p:spPr>
      </p:sp>
      <p:sp>
        <p:nvSpPr>
          <p:cNvPr id="17" name="Text 15"/>
          <p:cNvSpPr/>
          <p:nvPr/>
        </p:nvSpPr>
        <p:spPr>
          <a:xfrm>
            <a:off x="5806440" y="3566160"/>
            <a:ext cx="2743200" cy="82296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So other people can check their work and know it's true.</a:t>
            </a:r>
            <a:endParaRPr lang="en-US" sz="1100" dirty="0"/>
          </a:p>
        </p:txBody>
      </p:sp>
      <p:sp>
        <p:nvSpPr>
          <p:cNvPr id="18" name="Text 16"/>
          <p:cNvSpPr/>
          <p:nvPr/>
        </p:nvSpPr>
        <p:spPr>
          <a:xfrm>
            <a:off x="5760720" y="3575304"/>
            <a:ext cx="914400" cy="256032"/>
          </a:xfrm>
          <a:prstGeom prst="rect">
            <a:avLst/>
          </a:prstGeom>
          <a:noFill/>
          <a:ln/>
        </p:spPr>
        <p:txBody>
          <a:bodyPr wrap="square" rtlCol="0" anchor="ctr"/>
          <a:lstStyle/>
          <a:p>
            <a:pPr indent="0" marL="0">
              <a:buNone/>
            </a:pPr>
            <a:r>
              <a:rPr lang="en-US" sz="900" b="1" spc="50" kern="0" dirty="0">
                <a:solidFill>
                  <a:srgbClr val="A0E8DA"/>
                </a:solidFill>
                <a:latin typeface="Calibri" pitchFamily="34" charset="0"/>
                <a:ea typeface="Calibri" pitchFamily="34" charset="-122"/>
                <a:cs typeface="Calibri" pitchFamily="34" charset="-120"/>
              </a:rPr>
              <a:t>Answer -&gt;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Evidence Questions — Assignment Preview</a:t>
            </a:r>
            <a:endParaRPr lang="en-US" sz="1800" dirty="0"/>
          </a:p>
        </p:txBody>
      </p:sp>
      <p:sp>
        <p:nvSpPr>
          <p:cNvPr id="4" name="Shape 2"/>
          <p:cNvSpPr/>
          <p:nvPr/>
        </p:nvSpPr>
        <p:spPr>
          <a:xfrm>
            <a:off x="365760" y="822960"/>
            <a:ext cx="457200" cy="457200"/>
          </a:xfrm>
          <a:prstGeom prst="ellipse">
            <a:avLst/>
          </a:prstGeom>
          <a:solidFill>
            <a:srgbClr val="1A8A7D"/>
          </a:solidFill>
          <a:ln/>
        </p:spPr>
      </p:sp>
      <p:sp>
        <p:nvSpPr>
          <p:cNvPr id="5" name="Text 3"/>
          <p:cNvSpPr/>
          <p:nvPr/>
        </p:nvSpPr>
        <p:spPr>
          <a:xfrm>
            <a:off x="365760" y="8229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960120" y="822960"/>
            <a:ext cx="7818120" cy="68580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Name two of the four things historians study, and give one example of each from Florida.</a:t>
            </a:r>
            <a:endParaRPr lang="en-US" sz="1300" dirty="0"/>
          </a:p>
        </p:txBody>
      </p:sp>
      <p:sp>
        <p:nvSpPr>
          <p:cNvPr id="7" name="Shape 5"/>
          <p:cNvSpPr/>
          <p:nvPr/>
        </p:nvSpPr>
        <p:spPr>
          <a:xfrm>
            <a:off x="365760" y="1645920"/>
            <a:ext cx="457200" cy="457200"/>
          </a:xfrm>
          <a:prstGeom prst="ellipse">
            <a:avLst/>
          </a:prstGeom>
          <a:solidFill>
            <a:srgbClr val="1A8A7D"/>
          </a:solidFill>
          <a:ln/>
        </p:spPr>
      </p:sp>
      <p:sp>
        <p:nvSpPr>
          <p:cNvPr id="8" name="Text 6"/>
          <p:cNvSpPr/>
          <p:nvPr/>
        </p:nvSpPr>
        <p:spPr>
          <a:xfrm>
            <a:off x="365760" y="164592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960120" y="1645920"/>
            <a:ext cx="7818120" cy="68580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Look back at the photograph in Tab 2. What is ONE detail you saw, and what does that detail tell you about people or places in Florida?</a:t>
            </a:r>
            <a:endParaRPr lang="en-US" sz="1300" dirty="0"/>
          </a:p>
        </p:txBody>
      </p:sp>
      <p:sp>
        <p:nvSpPr>
          <p:cNvPr id="10" name="Shape 8"/>
          <p:cNvSpPr/>
          <p:nvPr/>
        </p:nvSpPr>
        <p:spPr>
          <a:xfrm>
            <a:off x="365760" y="2468880"/>
            <a:ext cx="457200" cy="457200"/>
          </a:xfrm>
          <a:prstGeom prst="ellipse">
            <a:avLst/>
          </a:prstGeom>
          <a:solidFill>
            <a:srgbClr val="1A8A7D"/>
          </a:solidFill>
          <a:ln/>
        </p:spPr>
      </p:sp>
      <p:sp>
        <p:nvSpPr>
          <p:cNvPr id="11" name="Text 9"/>
          <p:cNvSpPr/>
          <p:nvPr/>
        </p:nvSpPr>
        <p:spPr>
          <a:xfrm>
            <a:off x="365760" y="24688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960120" y="2468880"/>
            <a:ext cx="7818120" cy="68580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Why is it important for historians to use evidence instead of just guessing?</a:t>
            </a:r>
            <a:endParaRPr lang="en-US" sz="1300" dirty="0"/>
          </a:p>
        </p:txBody>
      </p:sp>
      <p:sp>
        <p:nvSpPr>
          <p:cNvPr id="13" name="Shape 11"/>
          <p:cNvSpPr/>
          <p:nvPr/>
        </p:nvSpPr>
        <p:spPr>
          <a:xfrm>
            <a:off x="365760" y="3337560"/>
            <a:ext cx="8412480" cy="1234440"/>
          </a:xfrm>
          <a:prstGeom prst="roundRect">
            <a:avLst>
              <a:gd name="adj" fmla="val 8889"/>
            </a:avLst>
          </a:prstGeom>
          <a:solidFill>
            <a:srgbClr val="FFF3DC"/>
          </a:solidFill>
          <a:ln w="19050">
            <a:solidFill>
              <a:srgbClr val="D4943A"/>
            </a:solidFill>
            <a:prstDash val="solid"/>
          </a:ln>
        </p:spPr>
      </p:sp>
      <p:sp>
        <p:nvSpPr>
          <p:cNvPr id="14" name="Text 12"/>
          <p:cNvSpPr/>
          <p:nvPr/>
        </p:nvSpPr>
        <p:spPr>
          <a:xfrm>
            <a:off x="548640" y="3383280"/>
            <a:ext cx="8046720" cy="274320"/>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Historian's Notebook Entry</a:t>
            </a:r>
            <a:endParaRPr lang="en-US" sz="1000" dirty="0"/>
          </a:p>
        </p:txBody>
      </p:sp>
      <p:sp>
        <p:nvSpPr>
          <p:cNvPr id="15" name="Text 13"/>
          <p:cNvSpPr/>
          <p:nvPr/>
        </p:nvSpPr>
        <p:spPr>
          <a:xfrm>
            <a:off x="548640" y="3657600"/>
            <a:ext cx="8046720" cy="777240"/>
          </a:xfrm>
          <a:prstGeom prst="rect">
            <a:avLst/>
          </a:prstGeom>
          <a:noFill/>
          <a:ln/>
        </p:spPr>
        <p:txBody>
          <a:bodyPr wrap="square" rtlCol="0" anchor="t"/>
          <a:lstStyle/>
          <a:p>
            <a:pPr indent="0" marL="0">
              <a:buNone/>
            </a:pPr>
            <a:r>
              <a:rPr lang="en-US" sz="1200" dirty="0">
                <a:solidFill>
                  <a:srgbClr val="5A4A3A"/>
                </a:solidFill>
                <a:latin typeface="Calibri" pitchFamily="34" charset="0"/>
                <a:ea typeface="Calibri" pitchFamily="34" charset="-122"/>
                <a:cs typeface="Calibri" pitchFamily="34" charset="-120"/>
              </a:rPr>
              <a:t>Write 3-5 sentences explaining what Florida historians study, using one specific piece of evidence from this lesson. Name what historians study, then point to a real detail that proves your point.</a:t>
            </a:r>
            <a:endParaRPr lang="en-US" sz="1200" dirty="0"/>
          </a:p>
        </p:txBody>
      </p:sp>
      <p:sp>
        <p:nvSpPr>
          <p:cNvPr id="16" name="Shape 14"/>
          <p:cNvSpPr/>
          <p:nvPr/>
        </p:nvSpPr>
        <p:spPr>
          <a:xfrm>
            <a:off x="365760" y="4663440"/>
            <a:ext cx="8412480" cy="320040"/>
          </a:xfrm>
          <a:prstGeom prst="roundRect">
            <a:avLst>
              <a:gd name="adj" fmla="val 22857"/>
            </a:avLst>
          </a:prstGeom>
          <a:solidFill>
            <a:srgbClr val="F0F2F8"/>
          </a:solidFill>
          <a:ln/>
        </p:spPr>
      </p:sp>
      <p:sp>
        <p:nvSpPr>
          <p:cNvPr id="17" name="Text 15"/>
          <p:cNvSpPr/>
          <p:nvPr/>
        </p:nvSpPr>
        <p:spPr>
          <a:xfrm>
            <a:off x="502920" y="4663440"/>
            <a:ext cx="8229600" cy="320040"/>
          </a:xfrm>
          <a:prstGeom prst="rect">
            <a:avLst/>
          </a:prstGeom>
          <a:noFill/>
          <a:ln/>
        </p:spPr>
        <p:txBody>
          <a:bodyPr wrap="square" rtlCol="0" anchor="ctr"/>
          <a:lstStyle/>
          <a:p>
            <a:pPr algn="ctr" indent="0" marL="0">
              <a:buNone/>
            </a:pPr>
            <a:r>
              <a:rPr lang="en-US" sz="1100" i="1" dirty="0">
                <a:solidFill>
                  <a:srgbClr val="0E1C42"/>
                </a:solidFill>
                <a:latin typeface="Cambria" pitchFamily="34" charset="0"/>
                <a:ea typeface="Cambria" pitchFamily="34" charset="-122"/>
                <a:cs typeface="Cambria" pitchFamily="34" charset="-120"/>
              </a:rPr>
              <a:t>Historian's Sentence: "Today I learned that _____ because the evidence shows _____."</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1371600" y="457200"/>
            <a:ext cx="6400800" cy="502920"/>
          </a:xfrm>
          <a:prstGeom prst="roundRect">
            <a:avLst>
              <a:gd name="adj" fmla="val 18182"/>
            </a:avLst>
          </a:prstGeom>
          <a:solidFill>
            <a:srgbClr val="152340"/>
          </a:solidFill>
          <a:ln/>
        </p:spPr>
      </p:sp>
      <p:sp>
        <p:nvSpPr>
          <p:cNvPr id="6" name="Text 3"/>
          <p:cNvSpPr/>
          <p:nvPr/>
        </p:nvSpPr>
        <p:spPr>
          <a:xfrm>
            <a:off x="1371600" y="457200"/>
            <a:ext cx="6400800" cy="502920"/>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FILE UNLOCKED — Episode 1 of 13</a:t>
            </a:r>
            <a:endParaRPr lang="en-US" sz="1100" dirty="0"/>
          </a:p>
        </p:txBody>
      </p:sp>
      <p:sp>
        <p:nvSpPr>
          <p:cNvPr id="7" name="Text 4"/>
          <p:cNvSpPr/>
          <p:nvPr/>
        </p:nvSpPr>
        <p:spPr>
          <a:xfrm>
            <a:off x="914400" y="1051560"/>
            <a:ext cx="7315200" cy="502920"/>
          </a:xfrm>
          <a:prstGeom prst="rect">
            <a:avLst/>
          </a:prstGeom>
          <a:noFill/>
          <a:ln/>
        </p:spPr>
        <p:txBody>
          <a:bodyPr wrap="square" rtlCol="0" anchor="ctr"/>
          <a:lstStyle/>
          <a:p>
            <a:pPr algn="ctr" indent="0" marL="0">
              <a:buNone/>
            </a:pPr>
            <a:r>
              <a:rPr lang="en-US" sz="2000" dirty="0">
                <a:solidFill>
                  <a:srgbClr val="55C8E8"/>
                </a:solidFill>
                <a:latin typeface="Calibri" pitchFamily="34" charset="0"/>
                <a:ea typeface="Calibri" pitchFamily="34" charset="-122"/>
                <a:cs typeface="Calibri" pitchFamily="34" charset="-120"/>
              </a:rPr>
              <a:t>You proved it.</a:t>
            </a:r>
            <a:endParaRPr lang="en-US" sz="2000" dirty="0"/>
          </a:p>
        </p:txBody>
      </p:sp>
      <p:sp>
        <p:nvSpPr>
          <p:cNvPr id="8" name="Text 5"/>
          <p:cNvSpPr/>
          <p:nvPr/>
        </p:nvSpPr>
        <p:spPr>
          <a:xfrm>
            <a:off x="914400" y="1600200"/>
            <a:ext cx="7315200" cy="1005840"/>
          </a:xfrm>
          <a:prstGeom prst="rect">
            <a:avLst/>
          </a:prstGeom>
          <a:noFill/>
          <a:ln/>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Florida historians study</a:t>
            </a:r>
            <a:endParaRPr lang="en-US" sz="3000" dirty="0"/>
          </a:p>
          <a:p>
            <a:pPr algn="ctr" indent="0" marL="0">
              <a:buNone/>
            </a:pPr>
            <a:r>
              <a:rPr lang="en-US" sz="3000" b="1" dirty="0">
                <a:solidFill>
                  <a:srgbClr val="D4943A"/>
                </a:solidFill>
                <a:latin typeface="Cambria" pitchFamily="34" charset="0"/>
                <a:ea typeface="Cambria" pitchFamily="34" charset="-122"/>
                <a:cs typeface="Cambria" pitchFamily="34" charset="-120"/>
              </a:rPr>
              <a:t>People, Places, Events, and Evidence.</a:t>
            </a:r>
            <a:endParaRPr lang="en-US" sz="3000" dirty="0"/>
          </a:p>
        </p:txBody>
      </p:sp>
      <p:sp>
        <p:nvSpPr>
          <p:cNvPr id="9" name="Text 6"/>
          <p:cNvSpPr/>
          <p:nvPr/>
        </p:nvSpPr>
        <p:spPr>
          <a:xfrm>
            <a:off x="1371600" y="2697480"/>
            <a:ext cx="6400800" cy="41148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The first Canvas file is open.</a:t>
            </a:r>
            <a:endParaRPr lang="en-US" sz="1500" dirty="0"/>
          </a:p>
        </p:txBody>
      </p:sp>
      <p:sp>
        <p:nvSpPr>
          <p:cNvPr id="10" name="Shape 7"/>
          <p:cNvSpPr/>
          <p:nvPr/>
        </p:nvSpPr>
        <p:spPr>
          <a:xfrm>
            <a:off x="2286000" y="3200400"/>
            <a:ext cx="4572000" cy="0"/>
          </a:xfrm>
          <a:prstGeom prst="line">
            <a:avLst/>
          </a:prstGeom>
          <a:noFill/>
          <a:ln w="12700">
            <a:solidFill>
              <a:srgbClr val="D4943A"/>
            </a:solidFill>
            <a:prstDash val="solid"/>
          </a:ln>
        </p:spPr>
      </p:sp>
      <p:sp>
        <p:nvSpPr>
          <p:cNvPr id="11" name="Text 8"/>
          <p:cNvSpPr/>
          <p:nvPr/>
        </p:nvSpPr>
        <p:spPr>
          <a:xfrm>
            <a:off x="1371600" y="3337560"/>
            <a:ext cx="6400800" cy="320040"/>
          </a:xfrm>
          <a:prstGeom prst="rect">
            <a:avLst/>
          </a:prstGeom>
          <a:noFill/>
          <a:ln/>
        </p:spPr>
        <p:txBody>
          <a:bodyPr wrap="square" rtlCol="0" anchor="ctr"/>
          <a:lstStyle/>
          <a:p>
            <a:pPr algn="ctr" indent="0" marL="0">
              <a:buNone/>
            </a:pPr>
            <a:r>
              <a:rPr lang="en-US" sz="1200" b="1" dirty="0">
                <a:solidFill>
                  <a:srgbClr val="55C8E8"/>
                </a:solidFill>
                <a:latin typeface="Calibri" pitchFamily="34" charset="0"/>
                <a:ea typeface="Calibri" pitchFamily="34" charset="-122"/>
                <a:cs typeface="Calibri" pitchFamily="34" charset="-120"/>
              </a:rPr>
              <a:t>Coming Next: Lesson 4.01.02</a:t>
            </a:r>
            <a:endParaRPr lang="en-US" sz="1200" dirty="0"/>
          </a:p>
        </p:txBody>
      </p:sp>
      <p:sp>
        <p:nvSpPr>
          <p:cNvPr id="12" name="Text 9"/>
          <p:cNvSpPr/>
          <p:nvPr/>
        </p:nvSpPr>
        <p:spPr>
          <a:xfrm>
            <a:off x="1371600" y="3703320"/>
            <a:ext cx="6400800" cy="502920"/>
          </a:xfrm>
          <a:prstGeom prst="rect">
            <a:avLst/>
          </a:prstGeom>
          <a:noFill/>
          <a:ln/>
        </p:spPr>
        <p:txBody>
          <a:bodyPr wrap="square" rtlCol="0" anchor="ctr"/>
          <a:lstStyle/>
          <a:p>
            <a:pPr algn="ctr" indent="0" marL="0">
              <a:buNone/>
            </a:pPr>
            <a:r>
              <a:rPr lang="en-US" sz="1300" i="1" dirty="0">
                <a:solidFill>
                  <a:srgbClr val="A0C8E8"/>
                </a:solidFill>
                <a:latin typeface="Calibri" pitchFamily="34" charset="0"/>
                <a:ea typeface="Calibri" pitchFamily="34" charset="-122"/>
                <a:cs typeface="Calibri" pitchFamily="34" charset="-120"/>
              </a:rPr>
              <a:t>Primary vs. Secondary Sources — figuring out which type of source will help unlock the next file.</a:t>
            </a:r>
            <a:endParaRPr lang="en-US" sz="1300" dirty="0"/>
          </a:p>
        </p:txBody>
      </p:sp>
      <p:sp>
        <p:nvSpPr>
          <p:cNvPr id="13" name="Text 10"/>
          <p:cNvSpPr/>
          <p:nvPr/>
        </p:nvSpPr>
        <p:spPr>
          <a:xfrm>
            <a:off x="1371600" y="4297680"/>
            <a:ext cx="6400800" cy="320040"/>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Complete your Historian's Notebook entry and submit to Canvas.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2026-07-13T19:48:07Z</dcterms:created>
  <dcterms:modified xsi:type="dcterms:W3CDTF">2026-07-13T19:48:07Z</dcterms:modified>
</cp:coreProperties>
</file>