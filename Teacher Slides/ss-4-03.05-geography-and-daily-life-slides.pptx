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view of Florida wetlands at golden hour — mangroves, river channels, and open water. Warm light, lush green, no people.IMAGE TO INSERT: Aerial view of Florida wetlands at golden hour — mangroves, river channels, and open water. Warm light, lush green, no people.
Welcome students and set the scene: today we follow Florida's first peoples through a full year and investigate how geography shaped every choice they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Dark screen with a glowing file folder icon and map of Florida — as if inside a computer system. Neon blue outlines, dark background.Open with the Ms. Rivera message. Then preview: today students will examine how geography — including TIME, not just place — shaped every aspect of daily life for Florida's first peoples.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Florida Year-Wheel diagram — circular, 4 quadrants (dry/cool: hunter, wet/warm: Calusa canoe, hurricane: secured chickee, mild: fire gathering). Plain serif labels.
Give students 5 seconds of silence to observe. Then ask: What specifically did you notice? Push them to name a detail from one quadrant before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note: Hold back. If students offer observations, redirect: 'Why do you think that happened?' Don't resolve disagreements early — the tension is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evaluation: This is a modern teaching diagram, not a first-peoples artifact. Students should recognize it's a historian's reconstruction based on evidence — not a direct record. Ask: if this is built by historians, how do we check if it's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Time-lapse style graphic — same Florida landscape at 4 different seasons. Split into 4 panels, each showing vegetation, light, and conditions changing.This is the concept reveal. Pause after the title — let students feel the aha. Then read the definition. End with the retrieval challenge: cover screens, name all four seasons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Multi-source compare. Ask: what stays the same (the people, the land) and what changes (the season, the activity)? Push students to use both sources as evidence, not just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Map of Florida with four color zones — north Apalachee fields, southwest Calusa coast, panhandle rivers, south tip wetlands. Warm color palette.Walk through each season. For each, ask: which Florida group (Apalachee, Calusa, Timucua, Tequesta) is the best example for this season's activity?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aloud clearly. Name each step as you do it. Students should be able to repeat the pattern: Season &gt; which group &gt; what the land made possible &gt; specific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share their claim. When they finish, ask: could someone disagree? What would they say? Have students respond to the counterargument. Don't resolve — let them strengthen their own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 here is weak evidence — the answer names a fact but doesn't explain the geographic mechanism. Students should identify: 'wet/warm means water levels rise = more fish = canoe fishing' is the reasoning chain that's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has no single right answer. Students who say yes AND students who say no can both be right — what matters is that they use a specific season as evidence and are honest about the tradeoffs. Celebrate honest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Abstract warm-toned image of a notebook open to a handwritten page with careful, detailed notes — a historian's notebook. Gold and navy tones.Virtue spotlight. Connect honesty to historical writing: being honest means following the whole year, not just the pleasant parts. Tee up the assignment — students will need honesty for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Students practiced Q1 on slides 7-9, Q2 on slide 6, Q3 on slide 12. Walk through the Unlock Challenge: pick ONE season and ONE group. Remind them: honest means including something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not graded. Read questions aloud, then reveal answers. Celebrate correct responses. For any wrong answers, re-explain once (under 30 seconds per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view of Florida landscape at dusk — circular composition echoing the year-wheel. Warm gold light on water and trees. No people.Closing beat: 'Geography influenced where people lived, what they ate, how they traveled, and what materials they used.' Celebrate the team — they followed Florida's first peoples through a whole honest year. Tease next lesson: courtesy and responsibility in studying cultures.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3291840"/>
            <a:ext cx="9144000" cy="1188720"/>
          </a:xfrm>
          <a:prstGeom prst="rect">
            <a:avLst/>
          </a:prstGeom>
          <a:solidFill>
            <a:srgbClr val="D4943A">
              <a:alpha val="85000"/>
            </a:srgbClr>
          </a:solidFill>
          <a:ln/>
        </p:spPr>
      </p:sp>
      <p:sp>
        <p:nvSpPr>
          <p:cNvPr id="6" name="Text 3"/>
          <p:cNvSpPr/>
          <p:nvPr/>
        </p:nvSpPr>
        <p:spPr>
          <a:xfrm>
            <a:off x="457200" y="365760"/>
            <a:ext cx="8229600" cy="365760"/>
          </a:xfrm>
          <a:prstGeom prst="rect">
            <a:avLst/>
          </a:prstGeom>
          <a:noFill/>
          <a:ln/>
        </p:spPr>
        <p:txBody>
          <a:bodyPr wrap="square" rtlCol="0" anchor="ctr"/>
          <a:lstStyle/>
          <a:p>
            <a:pPr algn="ctr" indent="0" marL="0">
              <a:buNone/>
            </a:pPr>
            <a:r>
              <a:rPr lang="en-US" sz="1300" b="1" spc="200" kern="0" dirty="0">
                <a:solidFill>
                  <a:srgbClr val="55C8E8"/>
                </a:solidFill>
                <a:latin typeface="Calibri" pitchFamily="34" charset="0"/>
                <a:ea typeface="Calibri" pitchFamily="34" charset="-122"/>
                <a:cs typeface="Calibri" pitchFamily="34" charset="-120"/>
              </a:rPr>
              <a:t>FLORIDA FILES: ESCAPE FROM CANVAS</a:t>
            </a:r>
            <a:endParaRPr lang="en-US" sz="1300" dirty="0"/>
          </a:p>
        </p:txBody>
      </p:sp>
      <p:sp>
        <p:nvSpPr>
          <p:cNvPr id="7" name="Text 4"/>
          <p:cNvSpPr/>
          <p:nvPr/>
        </p:nvSpPr>
        <p:spPr>
          <a:xfrm>
            <a:off x="457200" y="749808"/>
            <a:ext cx="8229600" cy="274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File 3 of 13  ·  Unit 3: First Floridians</a:t>
            </a:r>
            <a:endParaRPr lang="en-US" sz="1100" dirty="0"/>
          </a:p>
        </p:txBody>
      </p:sp>
      <p:sp>
        <p:nvSpPr>
          <p:cNvPr id="8" name="Text 5"/>
          <p:cNvSpPr/>
          <p:nvPr/>
        </p:nvSpPr>
        <p:spPr>
          <a:xfrm>
            <a:off x="457200" y="1234440"/>
            <a:ext cx="8229600" cy="82296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Geography and Daily Life</a:t>
            </a:r>
            <a:endParaRPr lang="en-US" sz="3800" dirty="0"/>
          </a:p>
        </p:txBody>
      </p:sp>
      <p:sp>
        <p:nvSpPr>
          <p:cNvPr id="9" name="Text 6"/>
          <p:cNvSpPr/>
          <p:nvPr/>
        </p:nvSpPr>
        <p:spPr>
          <a:xfrm>
            <a:off x="457200" y="2103120"/>
            <a:ext cx="8229600" cy="320040"/>
          </a:xfrm>
          <a:prstGeom prst="rect">
            <a:avLst/>
          </a:prstGeom>
          <a:noFill/>
          <a:ln/>
        </p:spPr>
        <p:txBody>
          <a:bodyPr wrap="square" rtlCol="0" anchor="ctr"/>
          <a:lstStyle/>
          <a:p>
            <a:pPr algn="ctr" indent="0" marL="0">
              <a:buNone/>
            </a:pPr>
            <a:r>
              <a:rPr lang="en-US" sz="1400" b="1" dirty="0">
                <a:solidFill>
                  <a:srgbClr val="D4943A"/>
                </a:solidFill>
                <a:latin typeface="Calibri" pitchFamily="34" charset="0"/>
                <a:ea typeface="Calibri" pitchFamily="34" charset="-122"/>
                <a:cs typeface="Calibri" pitchFamily="34" charset="-120"/>
              </a:rPr>
              <a:t>Lesson 4.03.05</a:t>
            </a:r>
            <a:endParaRPr lang="en-US" sz="1400" dirty="0"/>
          </a:p>
        </p:txBody>
      </p:sp>
      <p:sp>
        <p:nvSpPr>
          <p:cNvPr id="10" name="Text 7"/>
          <p:cNvSpPr/>
          <p:nvPr/>
        </p:nvSpPr>
        <p:spPr>
          <a:xfrm>
            <a:off x="914400" y="3337560"/>
            <a:ext cx="7315200" cy="457200"/>
          </a:xfrm>
          <a:prstGeom prst="rect">
            <a:avLst/>
          </a:prstGeom>
          <a:noFill/>
          <a:ln/>
        </p:spPr>
        <p:txBody>
          <a:bodyPr wrap="square" rtlCol="0" anchor="ctr"/>
          <a:lstStyle/>
          <a:p>
            <a:pPr algn="ctr" indent="0" marL="0">
              <a:buNone/>
            </a:pPr>
            <a:r>
              <a:rPr lang="en-US" sz="1500" i="1" dirty="0">
                <a:solidFill>
                  <a:srgbClr val="FFFFFF"/>
                </a:solidFill>
                <a:latin typeface="Cambria" pitchFamily="34" charset="0"/>
                <a:ea typeface="Cambria" pitchFamily="34" charset="-122"/>
                <a:cs typeface="Cambria" pitchFamily="34" charset="-120"/>
              </a:rPr>
              <a:t>How did Florida's seasons shape daily life for its first peoples?</a:t>
            </a:r>
            <a:endParaRPr lang="en-US" sz="1500" dirty="0"/>
          </a:p>
        </p:txBody>
      </p:sp>
      <p:sp>
        <p:nvSpPr>
          <p:cNvPr id="11" name="Text 8"/>
          <p:cNvSpPr/>
          <p:nvPr/>
        </p:nvSpPr>
        <p:spPr>
          <a:xfrm>
            <a:off x="457200" y="4709160"/>
            <a:ext cx="8229600" cy="256032"/>
          </a:xfrm>
          <a:prstGeom prst="rect">
            <a:avLst/>
          </a:prstGeom>
          <a:noFill/>
          <a:ln/>
        </p:spPr>
        <p:txBody>
          <a:bodyPr wrap="square"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SS.4.A.2.1  ·  SS.4.A.1.1  ·  SS.4.G.1.1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320040"/>
            <a:ext cx="8229600" cy="457200"/>
          </a:xfrm>
          <a:prstGeom prst="roundRect">
            <a:avLst>
              <a:gd name="adj" fmla="val 20000"/>
            </a:avLst>
          </a:prstGeom>
          <a:solidFill>
            <a:srgbClr val="55C8E8">
              <a:alpha val="80000"/>
            </a:srgbClr>
          </a:solidFill>
          <a:ln/>
        </p:spPr>
      </p:sp>
      <p:sp>
        <p:nvSpPr>
          <p:cNvPr id="6" name="Text 3"/>
          <p:cNvSpPr/>
          <p:nvPr/>
        </p:nvSpPr>
        <p:spPr>
          <a:xfrm>
            <a:off x="457200" y="320040"/>
            <a:ext cx="8229600" cy="457200"/>
          </a:xfrm>
          <a:prstGeom prst="rect">
            <a:avLst/>
          </a:prstGeom>
          <a:noFill/>
          <a:ln/>
        </p:spPr>
        <p:txBody>
          <a:bodyPr wrap="square" rtlCol="0" anchor="ctr"/>
          <a:lstStyle/>
          <a:p>
            <a:pPr algn="ctr" indent="0" marL="0">
              <a:buNone/>
            </a:pPr>
            <a:r>
              <a:rPr lang="en-US" sz="1800" b="1" spc="300" kern="0" dirty="0">
                <a:solidFill>
                  <a:srgbClr val="FFFFFF"/>
                </a:solidFill>
                <a:latin typeface="Calibri" pitchFamily="34" charset="0"/>
                <a:ea typeface="Calibri" pitchFamily="34" charset="-122"/>
                <a:cs typeface="Calibri" pitchFamily="34" charset="-120"/>
              </a:rPr>
              <a:t>FILE UNLOCKING...</a:t>
            </a:r>
            <a:endParaRPr lang="en-US" sz="1800" dirty="0"/>
          </a:p>
        </p:txBody>
      </p:sp>
      <p:sp>
        <p:nvSpPr>
          <p:cNvPr id="7" name="Text 4"/>
          <p:cNvSpPr/>
          <p:nvPr/>
        </p:nvSpPr>
        <p:spPr>
          <a:xfrm>
            <a:off x="457200" y="960120"/>
            <a:ext cx="8229600" cy="256032"/>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MESSAGE FROM MS. RIVERA</a:t>
            </a:r>
            <a:endParaRPr lang="en-US" sz="1000" dirty="0"/>
          </a:p>
        </p:txBody>
      </p:sp>
      <p:sp>
        <p:nvSpPr>
          <p:cNvPr id="8" name="Text 5"/>
          <p:cNvSpPr/>
          <p:nvPr/>
        </p:nvSpPr>
        <p:spPr>
          <a:xfrm>
            <a:off x="731520" y="1261872"/>
            <a:ext cx="7680960" cy="1371600"/>
          </a:xfrm>
          <a:prstGeom prst="rect">
            <a:avLst/>
          </a:prstGeom>
          <a:noFill/>
          <a:ln/>
        </p:spPr>
        <p:txBody>
          <a:bodyPr wrap="square"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"I found a file labeled 'First Peoples &amp; Geography' but Canvas has it locked behind a map connected to clues about daily life. I can't open it without your help. Look carefully at how the land shapes every choice: where people lived, what they ate, how they traveled, what materials they used. Once you explain those connections, the file will unlock."</a:t>
            </a:r>
            <a:endParaRPr lang="en-US" sz="1400" dirty="0"/>
          </a:p>
        </p:txBody>
      </p:sp>
      <p:sp>
        <p:nvSpPr>
          <p:cNvPr id="9" name="Shape 6"/>
          <p:cNvSpPr/>
          <p:nvPr/>
        </p:nvSpPr>
        <p:spPr>
          <a:xfrm>
            <a:off x="457200" y="2743200"/>
            <a:ext cx="8229600" cy="27432"/>
          </a:xfrm>
          <a:prstGeom prst="rect">
            <a:avLst/>
          </a:prstGeom>
          <a:solidFill>
            <a:srgbClr val="D4943A"/>
          </a:solidFill>
          <a:ln/>
        </p:spPr>
      </p:sp>
      <p:sp>
        <p:nvSpPr>
          <p:cNvPr id="10" name="Text 7"/>
          <p:cNvSpPr/>
          <p:nvPr/>
        </p:nvSpPr>
        <p:spPr>
          <a:xfrm>
            <a:off x="457200" y="2834640"/>
            <a:ext cx="8229600" cy="256032"/>
          </a:xfrm>
          <a:prstGeom prst="rect">
            <a:avLst/>
          </a:prstGeom>
          <a:noFill/>
          <a:ln/>
        </p:spPr>
        <p:txBody>
          <a:bodyPr wrap="square" rtlCol="0" anchor="ctr"/>
          <a:lstStyle/>
          <a:p>
            <a:pPr algn="ctr" indent="0" marL="0">
              <a:buNone/>
            </a:pPr>
            <a:r>
              <a:rPr lang="en-US" sz="1000" b="1" spc="150" kern="0" dirty="0">
                <a:solidFill>
                  <a:srgbClr val="55C8E8"/>
                </a:solidFill>
                <a:latin typeface="Calibri" pitchFamily="34" charset="0"/>
                <a:ea typeface="Calibri" pitchFamily="34" charset="-122"/>
                <a:cs typeface="Calibri" pitchFamily="34" charset="-120"/>
              </a:rPr>
              <a:t>TODAY'S MISSION</a:t>
            </a:r>
            <a:endParaRPr lang="en-US" sz="1000" dirty="0"/>
          </a:p>
        </p:txBody>
      </p:sp>
      <p:sp>
        <p:nvSpPr>
          <p:cNvPr id="11" name="Text 8"/>
          <p:cNvSpPr/>
          <p:nvPr/>
        </p:nvSpPr>
        <p:spPr>
          <a:xfrm>
            <a:off x="731520" y="3154680"/>
            <a:ext cx="7680960" cy="822960"/>
          </a:xfrm>
          <a:prstGeom prst="rect">
            <a:avLst/>
          </a:prstGeom>
          <a:noFill/>
          <a:ln/>
        </p:spPr>
        <p:txBody>
          <a:bodyPr wrap="square" rtlCol="0" anchor="ctr"/>
          <a:lstStyle/>
          <a:p>
            <a:pPr algn="ctr" indent="0" marL="0">
              <a:buNone/>
            </a:pPr>
            <a:r>
              <a:rPr lang="en-US" sz="1400" dirty="0">
                <a:solidFill>
                  <a:srgbClr val="F0F2F8"/>
                </a:solidFill>
                <a:latin typeface="Calibri" pitchFamily="34" charset="0"/>
                <a:ea typeface="Calibri" pitchFamily="34" charset="-122"/>
                <a:cs typeface="Calibri" pitchFamily="34" charset="-120"/>
              </a:rPr>
              <a:t>Analyze how Florida's four seasons shaped where first peoples lived, what they ate, how they traveled, and what materials they used — then write a Day in the Life entry to unlock the file.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37160"/>
            <a:ext cx="2743200" cy="2560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CLUE BOX</a:t>
            </a:r>
            <a:endParaRPr lang="en-US" sz="900" dirty="0"/>
          </a:p>
        </p:txBody>
      </p:sp>
      <p:sp>
        <p:nvSpPr>
          <p:cNvPr id="4" name="Text 2"/>
          <p:cNvSpPr/>
          <p:nvPr/>
        </p:nvSpPr>
        <p:spPr>
          <a:xfrm>
            <a:off x="365760" y="384048"/>
            <a:ext cx="8229600" cy="50292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The Florida Year-Wheel</a:t>
            </a:r>
            <a:endParaRPr lang="en-US" sz="2600" dirty="0"/>
          </a:p>
        </p:txBody>
      </p:sp>
      <p:sp>
        <p:nvSpPr>
          <p:cNvPr id="5" name="Shape 3"/>
          <p:cNvSpPr/>
          <p:nvPr/>
        </p:nvSpPr>
        <p:spPr>
          <a:xfrm>
            <a:off x="365760" y="987552"/>
            <a:ext cx="4572000" cy="3474720"/>
          </a:xfrm>
          <a:prstGeom prst="roundRect">
            <a:avLst>
              <a:gd name="adj" fmla="val 3158"/>
            </a:avLst>
          </a:prstGeom>
          <a:solidFill>
            <a:srgbClr val="E2E8F4"/>
          </a:solidFill>
          <a:ln w="19050">
            <a:solidFill>
              <a:srgbClr val="B0B8CC"/>
            </a:solidFill>
            <a:prstDash val="dash"/>
          </a:ln>
        </p:spPr>
      </p:sp>
      <p:sp>
        <p:nvSpPr>
          <p:cNvPr id="6" name="Text 4"/>
          <p:cNvSpPr/>
          <p:nvPr/>
        </p:nvSpPr>
        <p:spPr>
          <a:xfrm>
            <a:off x="365760" y="987552"/>
            <a:ext cx="45720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261872"/>
            <a:ext cx="429768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circular diagram divided into 4 quadrants showing Florida life across seasons: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Dry/Cool: hunter on pine forest trail</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Wet/Warm: Calusa canoe among mangroves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Hurricane: palms bent, secured chickee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Mild: gathering around a fire</a:t>
            </a:r>
            <a:endParaRPr lang="en-US" sz="1100" dirty="0"/>
          </a:p>
        </p:txBody>
      </p:sp>
      <p:sp>
        <p:nvSpPr>
          <p:cNvPr id="8" name="Shape 6"/>
          <p:cNvSpPr/>
          <p:nvPr/>
        </p:nvSpPr>
        <p:spPr>
          <a:xfrm>
            <a:off x="5120640" y="987552"/>
            <a:ext cx="3657600" cy="1371600"/>
          </a:xfrm>
          <a:prstGeom prst="roundRect">
            <a:avLst>
              <a:gd name="adj" fmla="val 8000"/>
            </a:avLst>
          </a:prstGeom>
          <a:solidFill>
            <a:srgbClr val="FFFFFF"/>
          </a:solidFill>
          <a:ln w="19050">
            <a:solidFill>
              <a:srgbClr val="D4943A"/>
            </a:solidFill>
            <a:prstDash val="solid"/>
          </a:ln>
        </p:spPr>
      </p:sp>
      <p:sp>
        <p:nvSpPr>
          <p:cNvPr id="9" name="Text 7"/>
          <p:cNvSpPr/>
          <p:nvPr/>
        </p:nvSpPr>
        <p:spPr>
          <a:xfrm>
            <a:off x="5257800" y="1051560"/>
            <a:ext cx="338328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OBSERVE &amp; ANALYZE</a:t>
            </a:r>
            <a:endParaRPr lang="en-US" sz="900" dirty="0"/>
          </a:p>
        </p:txBody>
      </p:sp>
      <p:sp>
        <p:nvSpPr>
          <p:cNvPr id="10" name="Text 8"/>
          <p:cNvSpPr/>
          <p:nvPr/>
        </p:nvSpPr>
        <p:spPr>
          <a:xfrm>
            <a:off x="5257800" y="1298448"/>
            <a:ext cx="3383280" cy="91440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Pick one quadrant of this wheel. What are people — or the land — doing in that season? Name three specific details. Then: why does the same village look different in each quadrant?</a:t>
            </a:r>
            <a:endParaRPr lang="en-US" sz="1100" dirty="0"/>
          </a:p>
        </p:txBody>
      </p:sp>
      <p:sp>
        <p:nvSpPr>
          <p:cNvPr id="11" name="Shape 9"/>
          <p:cNvSpPr/>
          <p:nvPr/>
        </p:nvSpPr>
        <p:spPr>
          <a:xfrm>
            <a:off x="5120640" y="2468880"/>
            <a:ext cx="3657600" cy="1463040"/>
          </a:xfrm>
          <a:prstGeom prst="roundRect">
            <a:avLst>
              <a:gd name="adj" fmla="val 7500"/>
            </a:avLst>
          </a:prstGeom>
          <a:solidFill>
            <a:srgbClr val="FFF3DC"/>
          </a:solidFill>
          <a:ln w="19050">
            <a:solidFill>
              <a:srgbClr val="F5E6C8"/>
            </a:solidFill>
            <a:prstDash val="solid"/>
          </a:ln>
        </p:spPr>
      </p:sp>
      <p:sp>
        <p:nvSpPr>
          <p:cNvPr id="12" name="Text 10"/>
          <p:cNvSpPr/>
          <p:nvPr/>
        </p:nvSpPr>
        <p:spPr>
          <a:xfrm>
            <a:off x="5257800" y="2523744"/>
            <a:ext cx="3383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257800" y="2724912"/>
            <a:ext cx="3383280" cy="1143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 ___ season shows..., which makes me think..."</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most important difference is ___ because..."</a:t>
            </a:r>
            <a:endParaRPr lang="en-US" sz="1200" dirty="0"/>
          </a:p>
        </p:txBody>
      </p:sp>
      <p:sp>
        <p:nvSpPr>
          <p:cNvPr id="14" name="Text 12"/>
          <p:cNvSpPr/>
          <p:nvPr/>
        </p:nvSpPr>
        <p:spPr>
          <a:xfrm>
            <a:off x="365760" y="4553712"/>
            <a:ext cx="8229600" cy="228600"/>
          </a:xfrm>
          <a:prstGeom prst="rect">
            <a:avLst/>
          </a:prstGeom>
          <a:noFill/>
          <a:ln/>
        </p:spPr>
        <p:txBody>
          <a:bodyPr wrap="square"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5 seconds: look at one quadrant only. What specific thing do you see?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82880"/>
            <a:ext cx="8229600" cy="594360"/>
          </a:xfrm>
          <a:prstGeom prst="rect">
            <a:avLst/>
          </a:prstGeom>
          <a:noFill/>
          <a:ln/>
        </p:spPr>
        <p:txBody>
          <a:bodyPr wrap="square"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How did the land and season shape those choices?</a:t>
            </a:r>
            <a:endParaRPr lang="en-US" sz="2800" dirty="0"/>
          </a:p>
        </p:txBody>
      </p:sp>
      <p:sp>
        <p:nvSpPr>
          <p:cNvPr id="4" name="Shape 2"/>
          <p:cNvSpPr/>
          <p:nvPr/>
        </p:nvSpPr>
        <p:spPr>
          <a:xfrm>
            <a:off x="365760" y="914400"/>
            <a:ext cx="5120640" cy="2286000"/>
          </a:xfrm>
          <a:prstGeom prst="roundRect">
            <a:avLst>
              <a:gd name="adj" fmla="val 6000"/>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548640" y="1005840"/>
            <a:ext cx="47548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548640" y="1261872"/>
            <a:ext cx="4754880" cy="18470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 you think the same people would do different things in the dry season vs. the wet season?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you make a different choice — like farming during hurricane season? What would stop you?</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someone who had never seen a year-wheel misunderstand about Florida life? What are they missing?</a:t>
            </a:r>
            <a:endParaRPr lang="en-US" sz="1100" dirty="0"/>
          </a:p>
        </p:txBody>
      </p:sp>
      <p:sp>
        <p:nvSpPr>
          <p:cNvPr id="7" name="Shape 5"/>
          <p:cNvSpPr/>
          <p:nvPr/>
        </p:nvSpPr>
        <p:spPr>
          <a:xfrm>
            <a:off x="5669280" y="914400"/>
            <a:ext cx="3108960" cy="2286000"/>
          </a:xfrm>
          <a:prstGeom prst="roundRect">
            <a:avLst>
              <a:gd name="adj" fmla="val 4800"/>
            </a:avLst>
          </a:prstGeom>
          <a:solidFill>
            <a:srgbClr val="FFF3DC"/>
          </a:solidFill>
          <a:ln w="19050">
            <a:solidFill>
              <a:srgbClr val="F5E6C8"/>
            </a:solidFill>
            <a:prstDash val="solid"/>
          </a:ln>
        </p:spPr>
      </p:sp>
      <p:sp>
        <p:nvSpPr>
          <p:cNvPr id="8" name="Text 6"/>
          <p:cNvSpPr/>
          <p:nvPr/>
        </p:nvSpPr>
        <p:spPr>
          <a:xfrm>
            <a:off x="5806440" y="96926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5806440" y="1170432"/>
            <a:ext cx="2834640" cy="1965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___ season shaped ___ because the land/weather made 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"Someone who disagreed might say ___, but the evidence shows..."</a:t>
            </a:r>
            <a:endParaRPr lang="en-US" sz="1200" dirty="0"/>
          </a:p>
        </p:txBody>
      </p:sp>
      <p:sp>
        <p:nvSpPr>
          <p:cNvPr id="10" name="Shape 8"/>
          <p:cNvSpPr/>
          <p:nvPr/>
        </p:nvSpPr>
        <p:spPr>
          <a:xfrm>
            <a:off x="365760" y="3337560"/>
            <a:ext cx="8412480" cy="1371600"/>
          </a:xfrm>
          <a:prstGeom prst="roundRect">
            <a:avLst>
              <a:gd name="adj" fmla="val 6667"/>
            </a:avLst>
          </a:prstGeom>
          <a:solidFill>
            <a:srgbClr val="FFFFFF"/>
          </a:solidFill>
          <a:ln w="12700">
            <a:solidFill>
              <a:srgbClr val="1A8A7D"/>
            </a:solidFill>
            <a:prstDash val="solid"/>
          </a:ln>
        </p:spPr>
      </p:sp>
      <p:sp>
        <p:nvSpPr>
          <p:cNvPr id="11" name="Text 9"/>
          <p:cNvSpPr/>
          <p:nvPr/>
        </p:nvSpPr>
        <p:spPr>
          <a:xfrm>
            <a:off x="548640" y="3401568"/>
            <a:ext cx="1828800" cy="201168"/>
          </a:xfrm>
          <a:prstGeom prst="rect">
            <a:avLst/>
          </a:prstGeom>
          <a:noFill/>
          <a:ln/>
        </p:spPr>
        <p:txBody>
          <a:bodyPr wrap="square" rtlCol="0" anchor="ctr"/>
          <a:lstStyle/>
          <a:p>
            <a:pPr indent="0" marL="0">
              <a:buNone/>
            </a:pPr>
            <a:r>
              <a:rPr lang="en-US" sz="800" b="1" spc="150" kern="0" dirty="0">
                <a:solidFill>
                  <a:srgbClr val="1A8A7D"/>
                </a:solidFill>
                <a:latin typeface="Calibri" pitchFamily="34" charset="0"/>
                <a:ea typeface="Calibri" pitchFamily="34" charset="-122"/>
                <a:cs typeface="Calibri" pitchFamily="34" charset="-120"/>
              </a:rPr>
              <a:t>TEACHER GUIDE</a:t>
            </a:r>
            <a:endParaRPr lang="en-US" sz="800" dirty="0"/>
          </a:p>
        </p:txBody>
      </p:sp>
      <p:sp>
        <p:nvSpPr>
          <p:cNvPr id="12" name="Text 10"/>
          <p:cNvSpPr/>
          <p:nvPr/>
        </p:nvSpPr>
        <p:spPr>
          <a:xfrm>
            <a:off x="548640" y="3630168"/>
            <a:ext cx="7863840" cy="91440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Push students to give specific reasons — 'because the ground was wet' is stronger than 'because it rained.' If a student says 'they had to,' ask: what would happen if they didn't? Hold back on confirming — let students argue it out.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09728"/>
            <a:ext cx="2743200" cy="2560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SOURCE STUDY</a:t>
            </a:r>
            <a:endParaRPr lang="en-US" sz="900" dirty="0"/>
          </a:p>
        </p:txBody>
      </p:sp>
      <p:sp>
        <p:nvSpPr>
          <p:cNvPr id="4" name="Text 2"/>
          <p:cNvSpPr/>
          <p:nvPr/>
        </p:nvSpPr>
        <p:spPr>
          <a:xfrm>
            <a:off x="365760" y="365760"/>
            <a:ext cx="8229600" cy="50292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Florida Year-Wheel: Teaching Diagram</a:t>
            </a:r>
            <a:endParaRPr lang="en-US" sz="2400" dirty="0"/>
          </a:p>
        </p:txBody>
      </p:sp>
      <p:sp>
        <p:nvSpPr>
          <p:cNvPr id="5" name="Text 3"/>
          <p:cNvSpPr/>
          <p:nvPr/>
        </p:nvSpPr>
        <p:spPr>
          <a:xfrm>
            <a:off x="365760" y="868680"/>
            <a:ext cx="8229600" cy="256032"/>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Art as Evidence  ·  Florida Museum of Natural History reference</a:t>
            </a:r>
            <a:endParaRPr lang="en-US" sz="1000" dirty="0"/>
          </a:p>
        </p:txBody>
      </p:sp>
      <p:sp>
        <p:nvSpPr>
          <p:cNvPr id="6" name="Shape 4"/>
          <p:cNvSpPr/>
          <p:nvPr/>
        </p:nvSpPr>
        <p:spPr>
          <a:xfrm>
            <a:off x="365760" y="1188720"/>
            <a:ext cx="4023360" cy="3200400"/>
          </a:xfrm>
          <a:prstGeom prst="roundRect">
            <a:avLst>
              <a:gd name="adj" fmla="val 3429"/>
            </a:avLst>
          </a:prstGeom>
          <a:solidFill>
            <a:srgbClr val="E2E8F4"/>
          </a:solidFill>
          <a:ln w="19050">
            <a:solidFill>
              <a:srgbClr val="B0B8CC"/>
            </a:solidFill>
            <a:prstDash val="dash"/>
          </a:ln>
        </p:spPr>
      </p:sp>
      <p:sp>
        <p:nvSpPr>
          <p:cNvPr id="7" name="Text 5"/>
          <p:cNvSpPr/>
          <p:nvPr/>
        </p:nvSpPr>
        <p:spPr>
          <a:xfrm>
            <a:off x="365760" y="1188720"/>
            <a:ext cx="40233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463040"/>
            <a:ext cx="3749040" cy="28346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Florida Year-Wheel: same 4-quadrant circular teaching diagram from Clue Box. Created by a modern illustrator — not a primary source.</a:t>
            </a:r>
            <a:endParaRPr lang="en-US" sz="1100" dirty="0"/>
          </a:p>
        </p:txBody>
      </p:sp>
      <p:sp>
        <p:nvSpPr>
          <p:cNvPr id="9" name="Shape 7"/>
          <p:cNvSpPr/>
          <p:nvPr/>
        </p:nvSpPr>
        <p:spPr>
          <a:xfrm>
            <a:off x="4572000" y="1188720"/>
            <a:ext cx="4297680" cy="3200400"/>
          </a:xfrm>
          <a:prstGeom prst="roundRect">
            <a:avLst>
              <a:gd name="adj" fmla="val 4286"/>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4754880" y="1280160"/>
            <a:ext cx="393192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1" name="Text 9"/>
          <p:cNvSpPr/>
          <p:nvPr/>
        </p:nvSpPr>
        <p:spPr>
          <a:xfrm>
            <a:off x="4754880" y="1536192"/>
            <a:ext cx="3931920" cy="27614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created this diagram, and why does that matter for how we use 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perspective might be missing — whose voice isn't in this picture?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 year-wheel shows something a single photograph can't. What is it — and why does that matter for this investigation?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411480"/>
          </a:xfrm>
          <a:prstGeom prst="roundRect">
            <a:avLst>
              <a:gd name="adj" fmla="val 22222"/>
            </a:avLst>
          </a:prstGeom>
          <a:solidFill>
            <a:srgbClr val="D4943A">
              <a:alpha val="80000"/>
            </a:srgbClr>
          </a:solidFill>
          <a:ln/>
        </p:spPr>
      </p:sp>
      <p:sp>
        <p:nvSpPr>
          <p:cNvPr id="6" name="Text 3"/>
          <p:cNvSpPr/>
          <p:nvPr/>
        </p:nvSpPr>
        <p:spPr>
          <a:xfrm>
            <a:off x="457200" y="274320"/>
            <a:ext cx="8229600" cy="411480"/>
          </a:xfrm>
          <a:prstGeom prst="rect">
            <a:avLst/>
          </a:prstGeom>
          <a:noFill/>
          <a:ln/>
        </p:spPr>
        <p:txBody>
          <a:bodyPr wrap="square" rtlCol="0" anchor="ctr"/>
          <a:lstStyle/>
          <a:p>
            <a:pPr algn="ctr" indent="0" marL="0">
              <a:buNone/>
            </a:pPr>
            <a:r>
              <a:rPr lang="en-US" sz="1400" b="1" spc="200" kern="0" dirty="0">
                <a:solidFill>
                  <a:srgbClr val="FFFFFF"/>
                </a:solidFill>
                <a:latin typeface="Calibri" pitchFamily="34" charset="0"/>
                <a:ea typeface="Calibri" pitchFamily="34" charset="-122"/>
                <a:cs typeface="Calibri" pitchFamily="34" charset="-120"/>
              </a:rPr>
              <a:t>YOU FOUND IT:</a:t>
            </a:r>
            <a:endParaRPr lang="en-US" sz="1400" dirty="0"/>
          </a:p>
        </p:txBody>
      </p:sp>
      <p:sp>
        <p:nvSpPr>
          <p:cNvPr id="7" name="Text 4"/>
          <p:cNvSpPr/>
          <p:nvPr/>
        </p:nvSpPr>
        <p:spPr>
          <a:xfrm>
            <a:off x="457200" y="822960"/>
            <a:ext cx="8229600" cy="1097280"/>
          </a:xfrm>
          <a:prstGeom prst="rect">
            <a:avLst/>
          </a:prstGeom>
          <a:noFill/>
          <a:ln/>
        </p:spPr>
        <p:txBody>
          <a:bodyPr wrap="square" rtlCol="0" anchor="ctr"/>
          <a:lstStyle/>
          <a:p>
            <a:pPr algn="ctr" indent="0" marL="0">
              <a:buNone/>
            </a:pPr>
            <a:r>
              <a:rPr lang="en-US" sz="4000" b="1" dirty="0">
                <a:solidFill>
                  <a:srgbClr val="D4943A"/>
                </a:solidFill>
                <a:latin typeface="Cambria" pitchFamily="34" charset="0"/>
                <a:ea typeface="Cambria" pitchFamily="34" charset="-122"/>
                <a:cs typeface="Cambria" pitchFamily="34" charset="-120"/>
              </a:rPr>
              <a:t>Geography Includes</a:t>
            </a:r>
            <a:endParaRPr lang="en-US" sz="4000" dirty="0"/>
          </a:p>
          <a:p>
            <a:pPr algn="ctr" indent="0" marL="0">
              <a:buNone/>
            </a:pPr>
            <a:r>
              <a:rPr lang="en-US" sz="4000" b="1" dirty="0">
                <a:solidFill>
                  <a:srgbClr val="D4943A"/>
                </a:solidFill>
                <a:latin typeface="Cambria" pitchFamily="34" charset="0"/>
                <a:ea typeface="Cambria" pitchFamily="34" charset="-122"/>
                <a:cs typeface="Cambria" pitchFamily="34" charset="-120"/>
              </a:rPr>
              <a:t>Time, Not Just Place</a:t>
            </a:r>
            <a:endParaRPr lang="en-US" sz="4000" dirty="0"/>
          </a:p>
        </p:txBody>
      </p:sp>
      <p:sp>
        <p:nvSpPr>
          <p:cNvPr id="8" name="Shape 5"/>
          <p:cNvSpPr/>
          <p:nvPr/>
        </p:nvSpPr>
        <p:spPr>
          <a:xfrm>
            <a:off x="914400" y="1965960"/>
            <a:ext cx="7315200" cy="27432"/>
          </a:xfrm>
          <a:prstGeom prst="rect">
            <a:avLst/>
          </a:prstGeom>
          <a:solidFill>
            <a:srgbClr val="55C8E8"/>
          </a:solidFill>
          <a:ln/>
        </p:spPr>
      </p:sp>
      <p:sp>
        <p:nvSpPr>
          <p:cNvPr id="9" name="Text 6"/>
          <p:cNvSpPr/>
          <p:nvPr/>
        </p:nvSpPr>
        <p:spPr>
          <a:xfrm>
            <a:off x="640080" y="2057400"/>
            <a:ext cx="7863840" cy="1280160"/>
          </a:xfrm>
          <a:prstGeom prst="rect">
            <a:avLst/>
          </a:prstGeom>
          <a:noFill/>
          <a:ln/>
        </p:spPr>
        <p:txBody>
          <a:bodyPr wrap="square" rtlCol="0" anchor="ctr"/>
          <a:lstStyle/>
          <a:p>
            <a:pPr algn="ctr" indent="0" marL="0">
              <a:buNone/>
            </a:pPr>
            <a:r>
              <a:rPr lang="en-US" sz="1400" dirty="0">
                <a:solidFill>
                  <a:srgbClr val="F0F2F8"/>
                </a:solidFill>
                <a:latin typeface="Calibri" pitchFamily="34" charset="0"/>
                <a:ea typeface="Calibri" pitchFamily="34" charset="-122"/>
                <a:cs typeface="Calibri" pitchFamily="34" charset="-120"/>
              </a:rPr>
              <a:t>The same patch of Florida ground can feel like four different worlds across a single year. Florida's first peoples didn't just live in Florida — they lived through a Florida year. The dry/cool, wet/warm, hurricane, and mild seasons each demanded different food strategies, travel methods, building materials, and social activities.</a:t>
            </a:r>
            <a:endParaRPr lang="en-US" sz="1400" dirty="0"/>
          </a:p>
        </p:txBody>
      </p:sp>
      <p:sp>
        <p:nvSpPr>
          <p:cNvPr id="10" name="Shape 7"/>
          <p:cNvSpPr/>
          <p:nvPr/>
        </p:nvSpPr>
        <p:spPr>
          <a:xfrm>
            <a:off x="1371600" y="3474720"/>
            <a:ext cx="6400800" cy="731520"/>
          </a:xfrm>
          <a:prstGeom prst="roundRect">
            <a:avLst>
              <a:gd name="adj" fmla="val 12500"/>
            </a:avLst>
          </a:prstGeom>
          <a:solidFill>
            <a:srgbClr val="1A2D5A"/>
          </a:solidFill>
          <a:ln/>
        </p:spPr>
      </p:sp>
      <p:sp>
        <p:nvSpPr>
          <p:cNvPr id="11" name="Text 8"/>
          <p:cNvSpPr/>
          <p:nvPr/>
        </p:nvSpPr>
        <p:spPr>
          <a:xfrm>
            <a:off x="1554480" y="3547872"/>
            <a:ext cx="6035040" cy="566928"/>
          </a:xfrm>
          <a:prstGeom prst="rect">
            <a:avLst/>
          </a:prstGeom>
          <a:noFill/>
          <a:ln/>
        </p:spPr>
        <p:txBody>
          <a:bodyPr wrap="square" rtlCol="0" anchor="ctr"/>
          <a:lstStyle/>
          <a:p>
            <a:pPr algn="ctr" indent="0" marL="0">
              <a:buNone/>
            </a:pPr>
            <a:r>
              <a:rPr lang="en-US" sz="1200" i="1" dirty="0">
                <a:solidFill>
                  <a:srgbClr val="55C8E8"/>
                </a:solidFill>
                <a:latin typeface="Calibri" pitchFamily="34" charset="0"/>
                <a:ea typeface="Calibri" pitchFamily="34" charset="-122"/>
                <a:cs typeface="Calibri" pitchFamily="34" charset="-120"/>
              </a:rPr>
              <a:t>RETRIEVAL PROMPT: Close your screen. Name all four Florida seasons from memory — and one thing that made each different.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91440"/>
            <a:ext cx="8229600" cy="2560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MULTI-SOURCE COMPARE</a:t>
            </a:r>
            <a:endParaRPr lang="en-US" sz="900" dirty="0"/>
          </a:p>
        </p:txBody>
      </p:sp>
      <p:sp>
        <p:nvSpPr>
          <p:cNvPr id="4" name="Text 2"/>
          <p:cNvSpPr/>
          <p:nvPr/>
        </p:nvSpPr>
        <p:spPr>
          <a:xfrm>
            <a:off x="365760" y="347472"/>
            <a:ext cx="822960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Two Seasons — Same Land, Different Lives</a:t>
            </a:r>
            <a:endParaRPr lang="en-US" sz="2200" dirty="0"/>
          </a:p>
        </p:txBody>
      </p:sp>
      <p:sp>
        <p:nvSpPr>
          <p:cNvPr id="5" name="Shape 3"/>
          <p:cNvSpPr/>
          <p:nvPr/>
        </p:nvSpPr>
        <p:spPr>
          <a:xfrm>
            <a:off x="274320" y="896112"/>
            <a:ext cx="4023360" cy="2286000"/>
          </a:xfrm>
          <a:prstGeom prst="roundRect">
            <a:avLst>
              <a:gd name="adj" fmla="val 4800"/>
            </a:avLst>
          </a:prstGeom>
          <a:solidFill>
            <a:srgbClr val="E2E8F4"/>
          </a:solidFill>
          <a:ln w="19050">
            <a:solidFill>
              <a:srgbClr val="B0B8CC"/>
            </a:solidFill>
            <a:prstDash val="dash"/>
          </a:ln>
        </p:spPr>
      </p:sp>
      <p:sp>
        <p:nvSpPr>
          <p:cNvPr id="6" name="Text 4"/>
          <p:cNvSpPr/>
          <p:nvPr/>
        </p:nvSpPr>
        <p:spPr>
          <a:xfrm>
            <a:off x="274320" y="896112"/>
            <a:ext cx="40233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1170432"/>
            <a:ext cx="3749040" cy="1920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SOURCE A: Dry/cool season scene — Apalachee village, hunter on trail through pine forest, tools visible, cooler tones, clear sky</a:t>
            </a:r>
            <a:endParaRPr lang="en-US" sz="1100" dirty="0"/>
          </a:p>
        </p:txBody>
      </p:sp>
      <p:sp>
        <p:nvSpPr>
          <p:cNvPr id="8" name="Text 6"/>
          <p:cNvSpPr/>
          <p:nvPr/>
        </p:nvSpPr>
        <p:spPr>
          <a:xfrm>
            <a:off x="274320" y="3218688"/>
            <a:ext cx="4023360" cy="228600"/>
          </a:xfrm>
          <a:prstGeom prst="rect">
            <a:avLst/>
          </a:prstGeom>
          <a:noFill/>
          <a:ln/>
        </p:spPr>
        <p:txBody>
          <a:bodyPr wrap="square"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Source A: Dry/Cool Season</a:t>
            </a:r>
            <a:endParaRPr lang="en-US" sz="1000" dirty="0"/>
          </a:p>
        </p:txBody>
      </p:sp>
      <p:sp>
        <p:nvSpPr>
          <p:cNvPr id="9" name="Text 7"/>
          <p:cNvSpPr/>
          <p:nvPr/>
        </p:nvSpPr>
        <p:spPr>
          <a:xfrm>
            <a:off x="274320" y="3456432"/>
            <a:ext cx="4023360" cy="201168"/>
          </a:xfrm>
          <a:prstGeom prst="rect">
            <a:avLst/>
          </a:prstGeom>
          <a:noFill/>
          <a:ln/>
        </p:spPr>
        <p:txBody>
          <a:bodyPr wrap="square"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Hunting, travel, building, trading</a:t>
            </a:r>
            <a:endParaRPr lang="en-US" sz="1000" dirty="0"/>
          </a:p>
        </p:txBody>
      </p:sp>
      <p:sp>
        <p:nvSpPr>
          <p:cNvPr id="10" name="Shape 8"/>
          <p:cNvSpPr/>
          <p:nvPr/>
        </p:nvSpPr>
        <p:spPr>
          <a:xfrm>
            <a:off x="4663440" y="896112"/>
            <a:ext cx="4023360" cy="2286000"/>
          </a:xfrm>
          <a:prstGeom prst="roundRect">
            <a:avLst>
              <a:gd name="adj" fmla="val 4800"/>
            </a:avLst>
          </a:prstGeom>
          <a:solidFill>
            <a:srgbClr val="E2E8F4"/>
          </a:solidFill>
          <a:ln w="19050">
            <a:solidFill>
              <a:srgbClr val="B0B8CC"/>
            </a:solidFill>
            <a:prstDash val="dash"/>
          </a:ln>
        </p:spPr>
      </p:sp>
      <p:sp>
        <p:nvSpPr>
          <p:cNvPr id="11" name="Text 9"/>
          <p:cNvSpPr/>
          <p:nvPr/>
        </p:nvSpPr>
        <p:spPr>
          <a:xfrm>
            <a:off x="4663440" y="896112"/>
            <a:ext cx="40233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2" name="Text 10"/>
          <p:cNvSpPr/>
          <p:nvPr/>
        </p:nvSpPr>
        <p:spPr>
          <a:xfrm>
            <a:off x="4800600" y="1170432"/>
            <a:ext cx="3749040" cy="19202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SOURCE B: Wet/warm season scene — Calusa canoe on water filled with fish among mangroves, stormy sky, lush green</a:t>
            </a:r>
            <a:endParaRPr lang="en-US" sz="1100" dirty="0"/>
          </a:p>
        </p:txBody>
      </p:sp>
      <p:sp>
        <p:nvSpPr>
          <p:cNvPr id="13" name="Text 11"/>
          <p:cNvSpPr/>
          <p:nvPr/>
        </p:nvSpPr>
        <p:spPr>
          <a:xfrm>
            <a:off x="4663440" y="3218688"/>
            <a:ext cx="4023360" cy="228600"/>
          </a:xfrm>
          <a:prstGeom prst="rect">
            <a:avLst/>
          </a:prstGeom>
          <a:noFill/>
          <a:ln/>
        </p:spPr>
        <p:txBody>
          <a:bodyPr wrap="square"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Source B: Wet/Warm Season</a:t>
            </a:r>
            <a:endParaRPr lang="en-US" sz="1000" dirty="0"/>
          </a:p>
        </p:txBody>
      </p:sp>
      <p:sp>
        <p:nvSpPr>
          <p:cNvPr id="14" name="Text 12"/>
          <p:cNvSpPr/>
          <p:nvPr/>
        </p:nvSpPr>
        <p:spPr>
          <a:xfrm>
            <a:off x="4663440" y="3456432"/>
            <a:ext cx="4023360" cy="201168"/>
          </a:xfrm>
          <a:prstGeom prst="rect">
            <a:avLst/>
          </a:prstGeom>
          <a:noFill/>
          <a:ln/>
        </p:spPr>
        <p:txBody>
          <a:bodyPr wrap="square"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Fishing, farming, canoeing</a:t>
            </a:r>
            <a:endParaRPr lang="en-US" sz="1000" dirty="0"/>
          </a:p>
        </p:txBody>
      </p:sp>
      <p:sp>
        <p:nvSpPr>
          <p:cNvPr id="15" name="Shape 13"/>
          <p:cNvSpPr/>
          <p:nvPr/>
        </p:nvSpPr>
        <p:spPr>
          <a:xfrm>
            <a:off x="274320" y="3749040"/>
            <a:ext cx="8595360" cy="1188720"/>
          </a:xfrm>
          <a:prstGeom prst="roundRect">
            <a:avLst>
              <a:gd name="adj" fmla="val 9231"/>
            </a:avLst>
          </a:prstGeom>
          <a:solidFill>
            <a:srgbClr val="FFF3DC"/>
          </a:solidFill>
          <a:ln w="19050">
            <a:solidFill>
              <a:srgbClr val="F5E6C8"/>
            </a:solidFill>
            <a:prstDash val="solid"/>
          </a:ln>
        </p:spPr>
      </p:sp>
      <p:sp>
        <p:nvSpPr>
          <p:cNvPr id="16" name="Text 14"/>
          <p:cNvSpPr/>
          <p:nvPr/>
        </p:nvSpPr>
        <p:spPr>
          <a:xfrm>
            <a:off x="411480" y="3803904"/>
            <a:ext cx="8321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411480" y="4005072"/>
            <a:ext cx="8321040" cy="868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"Source A and Source B agree that geography shapes choices, but they show different 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strongest evidence for the geography-shapes-life idea is ___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228600"/>
            <a:ext cx="8229600" cy="457200"/>
          </a:xfrm>
          <a:prstGeom prst="rect">
            <a:avLst/>
          </a:prstGeom>
          <a:noFill/>
          <a:ln/>
        </p:spPr>
        <p:txBody>
          <a:bodyPr wrap="square"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The Year in Detail</a:t>
            </a:r>
            <a:endParaRPr lang="en-US" sz="3000" dirty="0"/>
          </a:p>
        </p:txBody>
      </p:sp>
      <p:sp>
        <p:nvSpPr>
          <p:cNvPr id="6" name="Shape 3"/>
          <p:cNvSpPr/>
          <p:nvPr/>
        </p:nvSpPr>
        <p:spPr>
          <a:xfrm>
            <a:off x="274320" y="822960"/>
            <a:ext cx="8595360" cy="896112"/>
          </a:xfrm>
          <a:prstGeom prst="roundRect">
            <a:avLst>
              <a:gd name="adj" fmla="val 10204"/>
            </a:avLst>
          </a:prstGeom>
          <a:solidFill>
            <a:srgbClr val="1A2D5A"/>
          </a:solidFill>
          <a:ln/>
        </p:spPr>
      </p:sp>
      <p:sp>
        <p:nvSpPr>
          <p:cNvPr id="7" name="Text 4"/>
          <p:cNvSpPr/>
          <p:nvPr/>
        </p:nvSpPr>
        <p:spPr>
          <a:xfrm>
            <a:off x="457200" y="877824"/>
            <a:ext cx="2560320" cy="320040"/>
          </a:xfrm>
          <a:prstGeom prst="rect">
            <a:avLst/>
          </a:prstGeom>
          <a:noFill/>
          <a:ln/>
        </p:spPr>
        <p:txBody>
          <a:bodyPr wrap="square" rtlCol="0" anchor="ctr"/>
          <a:lstStyle/>
          <a:p>
            <a:pPr indent="0" marL="0">
              <a:buNone/>
            </a:pPr>
            <a:r>
              <a:rPr lang="en-US" sz="1200" b="1" dirty="0">
                <a:solidFill>
                  <a:srgbClr val="55C8E8"/>
                </a:solidFill>
                <a:latin typeface="Calibri" pitchFamily="34" charset="0"/>
                <a:ea typeface="Calibri" pitchFamily="34" charset="-122"/>
                <a:cs typeface="Calibri" pitchFamily="34" charset="-120"/>
              </a:rPr>
              <a:t>Dry/Cool (Nov–Apr)</a:t>
            </a:r>
            <a:endParaRPr lang="en-US" sz="1200" dirty="0"/>
          </a:p>
        </p:txBody>
      </p:sp>
      <p:sp>
        <p:nvSpPr>
          <p:cNvPr id="8" name="Text 5"/>
          <p:cNvSpPr/>
          <p:nvPr/>
        </p:nvSpPr>
        <p:spPr>
          <a:xfrm>
            <a:off x="3108960" y="877824"/>
            <a:ext cx="5577840" cy="530352"/>
          </a:xfrm>
          <a:prstGeom prst="rect">
            <a:avLst/>
          </a:prstGeom>
          <a:noFill/>
          <a:ln/>
        </p:spPr>
        <p:txBody>
          <a:bodyPr wrap="square" rtlCol="0" anchor="ctr"/>
          <a:lstStyle/>
          <a:p>
            <a:pPr indent="0" marL="0">
              <a:buNone/>
            </a:pPr>
            <a:r>
              <a:rPr lang="en-US" sz="1200" dirty="0">
                <a:solidFill>
                  <a:srgbClr val="F0F2F8"/>
                </a:solidFill>
                <a:latin typeface="Calibri" pitchFamily="34" charset="0"/>
                <a:ea typeface="Calibri" pitchFamily="34" charset="-122"/>
                <a:cs typeface="Calibri" pitchFamily="34" charset="-120"/>
              </a:rPr>
              <a:t>Hunting deer · travel between villages · tool repair · trade · Apalachee field prep</a:t>
            </a:r>
            <a:endParaRPr lang="en-US" sz="1200" dirty="0"/>
          </a:p>
        </p:txBody>
      </p:sp>
      <p:sp>
        <p:nvSpPr>
          <p:cNvPr id="9" name="Shape 6"/>
          <p:cNvSpPr/>
          <p:nvPr/>
        </p:nvSpPr>
        <p:spPr>
          <a:xfrm>
            <a:off x="274320" y="1828800"/>
            <a:ext cx="8595360" cy="896112"/>
          </a:xfrm>
          <a:prstGeom prst="roundRect">
            <a:avLst>
              <a:gd name="adj" fmla="val 10204"/>
            </a:avLst>
          </a:prstGeom>
          <a:solidFill>
            <a:srgbClr val="1A2D5A"/>
          </a:solidFill>
          <a:ln/>
        </p:spPr>
      </p:sp>
      <p:sp>
        <p:nvSpPr>
          <p:cNvPr id="10" name="Text 7"/>
          <p:cNvSpPr/>
          <p:nvPr/>
        </p:nvSpPr>
        <p:spPr>
          <a:xfrm>
            <a:off x="457200" y="1883664"/>
            <a:ext cx="2560320" cy="320040"/>
          </a:xfrm>
          <a:prstGeom prst="rect">
            <a:avLst/>
          </a:prstGeom>
          <a:noFill/>
          <a:ln/>
        </p:spPr>
        <p:txBody>
          <a:bodyPr wrap="square" rtlCol="0" anchor="ctr"/>
          <a:lstStyle/>
          <a:p>
            <a:pPr indent="0" marL="0">
              <a:buNone/>
            </a:pPr>
            <a:r>
              <a:rPr lang="en-US" sz="1200" b="1" dirty="0">
                <a:solidFill>
                  <a:srgbClr val="34B76F"/>
                </a:solidFill>
                <a:latin typeface="Calibri" pitchFamily="34" charset="0"/>
                <a:ea typeface="Calibri" pitchFamily="34" charset="-122"/>
                <a:cs typeface="Calibri" pitchFamily="34" charset="-120"/>
              </a:rPr>
              <a:t>Wet/Warm (May–Oct)</a:t>
            </a:r>
            <a:endParaRPr lang="en-US" sz="1200" dirty="0"/>
          </a:p>
        </p:txBody>
      </p:sp>
      <p:sp>
        <p:nvSpPr>
          <p:cNvPr id="11" name="Text 8"/>
          <p:cNvSpPr/>
          <p:nvPr/>
        </p:nvSpPr>
        <p:spPr>
          <a:xfrm>
            <a:off x="3108960" y="1883664"/>
            <a:ext cx="5577840" cy="530352"/>
          </a:xfrm>
          <a:prstGeom prst="rect">
            <a:avLst/>
          </a:prstGeom>
          <a:noFill/>
          <a:ln/>
        </p:spPr>
        <p:txBody>
          <a:bodyPr wrap="square" rtlCol="0" anchor="ctr"/>
          <a:lstStyle/>
          <a:p>
            <a:pPr indent="0" marL="0">
              <a:buNone/>
            </a:pPr>
            <a:r>
              <a:rPr lang="en-US" sz="1200" dirty="0">
                <a:solidFill>
                  <a:srgbClr val="F0F2F8"/>
                </a:solidFill>
                <a:latin typeface="Calibri" pitchFamily="34" charset="0"/>
                <a:ea typeface="Calibri" pitchFamily="34" charset="-122"/>
                <a:cs typeface="Calibri" pitchFamily="34" charset="-120"/>
              </a:rPr>
              <a:t>Calusa canoe fishing · Apalachee corn/bean/squash farming · mosquito season planning</a:t>
            </a:r>
            <a:endParaRPr lang="en-US" sz="1200" dirty="0"/>
          </a:p>
        </p:txBody>
      </p:sp>
      <p:sp>
        <p:nvSpPr>
          <p:cNvPr id="12" name="Shape 9"/>
          <p:cNvSpPr/>
          <p:nvPr/>
        </p:nvSpPr>
        <p:spPr>
          <a:xfrm>
            <a:off x="274320" y="2834640"/>
            <a:ext cx="8595360" cy="896112"/>
          </a:xfrm>
          <a:prstGeom prst="roundRect">
            <a:avLst>
              <a:gd name="adj" fmla="val 10204"/>
            </a:avLst>
          </a:prstGeom>
          <a:solidFill>
            <a:srgbClr val="1A2D5A"/>
          </a:solidFill>
          <a:ln/>
        </p:spPr>
      </p:sp>
      <p:sp>
        <p:nvSpPr>
          <p:cNvPr id="13" name="Text 10"/>
          <p:cNvSpPr/>
          <p:nvPr/>
        </p:nvSpPr>
        <p:spPr>
          <a:xfrm>
            <a:off x="457200" y="2889504"/>
            <a:ext cx="2560320" cy="320040"/>
          </a:xfrm>
          <a:prstGeom prst="rect">
            <a:avLst/>
          </a:prstGeom>
          <a:noFill/>
          <a:ln/>
        </p:spPr>
        <p:txBody>
          <a:bodyPr wrap="square"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Hurricane (Aug–Oct)</a:t>
            </a:r>
            <a:endParaRPr lang="en-US" sz="1200" dirty="0"/>
          </a:p>
        </p:txBody>
      </p:sp>
      <p:sp>
        <p:nvSpPr>
          <p:cNvPr id="14" name="Text 11"/>
          <p:cNvSpPr/>
          <p:nvPr/>
        </p:nvSpPr>
        <p:spPr>
          <a:xfrm>
            <a:off x="3108960" y="2889504"/>
            <a:ext cx="5577840" cy="530352"/>
          </a:xfrm>
          <a:prstGeom prst="rect">
            <a:avLst/>
          </a:prstGeom>
          <a:noFill/>
          <a:ln/>
        </p:spPr>
        <p:txBody>
          <a:bodyPr wrap="square" rtlCol="0" anchor="ctr"/>
          <a:lstStyle/>
          <a:p>
            <a:pPr indent="0" marL="0">
              <a:buNone/>
            </a:pPr>
            <a:r>
              <a:rPr lang="en-US" sz="1200" dirty="0">
                <a:solidFill>
                  <a:srgbClr val="F0F2F8"/>
                </a:solidFill>
                <a:latin typeface="Calibri" pitchFamily="34" charset="0"/>
                <a:ea typeface="Calibri" pitchFamily="34" charset="-122"/>
                <a:cs typeface="Calibri" pitchFamily="34" charset="-120"/>
              </a:rPr>
              <a:t>Elevated houses · stored food in pots · community rebuilding plans · reading sky signs</a:t>
            </a:r>
            <a:endParaRPr lang="en-US" sz="1200" dirty="0"/>
          </a:p>
        </p:txBody>
      </p:sp>
      <p:sp>
        <p:nvSpPr>
          <p:cNvPr id="15" name="Shape 12"/>
          <p:cNvSpPr/>
          <p:nvPr/>
        </p:nvSpPr>
        <p:spPr>
          <a:xfrm>
            <a:off x="274320" y="3840480"/>
            <a:ext cx="8595360" cy="896112"/>
          </a:xfrm>
          <a:prstGeom prst="roundRect">
            <a:avLst>
              <a:gd name="adj" fmla="val 10204"/>
            </a:avLst>
          </a:prstGeom>
          <a:solidFill>
            <a:srgbClr val="1A2D5A"/>
          </a:solidFill>
          <a:ln/>
        </p:spPr>
      </p:sp>
      <p:sp>
        <p:nvSpPr>
          <p:cNvPr id="16" name="Text 13"/>
          <p:cNvSpPr/>
          <p:nvPr/>
        </p:nvSpPr>
        <p:spPr>
          <a:xfrm>
            <a:off x="457200" y="3895344"/>
            <a:ext cx="2560320" cy="320040"/>
          </a:xfrm>
          <a:prstGeom prst="rect">
            <a:avLst/>
          </a:prstGeom>
          <a:noFill/>
          <a:ln/>
        </p:spPr>
        <p:txBody>
          <a:bodyPr wrap="square" rtlCol="0" anchor="ctr"/>
          <a:lstStyle/>
          <a:p>
            <a:pPr indent="0" marL="0">
              <a:buNone/>
            </a:pPr>
            <a:r>
              <a:rPr lang="en-US" sz="1200" b="1" dirty="0">
                <a:solidFill>
                  <a:srgbClr val="8B6FC0"/>
                </a:solidFill>
                <a:latin typeface="Calibri" pitchFamily="34" charset="0"/>
                <a:ea typeface="Calibri" pitchFamily="34" charset="-122"/>
                <a:cs typeface="Calibri" pitchFamily="34" charset="-120"/>
              </a:rPr>
              <a:t>Mild (in-between weeks)</a:t>
            </a:r>
            <a:endParaRPr lang="en-US" sz="1200" dirty="0"/>
          </a:p>
        </p:txBody>
      </p:sp>
      <p:sp>
        <p:nvSpPr>
          <p:cNvPr id="17" name="Text 14"/>
          <p:cNvSpPr/>
          <p:nvPr/>
        </p:nvSpPr>
        <p:spPr>
          <a:xfrm>
            <a:off x="3108960" y="3895344"/>
            <a:ext cx="5577840" cy="530352"/>
          </a:xfrm>
          <a:prstGeom prst="rect">
            <a:avLst/>
          </a:prstGeom>
          <a:noFill/>
          <a:ln/>
        </p:spPr>
        <p:txBody>
          <a:bodyPr wrap="square" rtlCol="0" anchor="ctr"/>
          <a:lstStyle/>
          <a:p>
            <a:pPr indent="0" marL="0">
              <a:buNone/>
            </a:pPr>
            <a:r>
              <a:rPr lang="en-US" sz="1200" dirty="0">
                <a:solidFill>
                  <a:srgbClr val="F0F2F8"/>
                </a:solidFill>
                <a:latin typeface="Calibri" pitchFamily="34" charset="0"/>
                <a:ea typeface="Calibri" pitchFamily="34" charset="-122"/>
                <a:cs typeface="Calibri" pitchFamily="34" charset="-120"/>
              </a:rPr>
              <a:t>Ceremonies · gatherings · weddings · storytelling · elder teaching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oundRect">
            <a:avLst/>
          </a:prstGeom>
          <a:solidFill>
            <a:srgbClr val="0E1C42"/>
          </a:solidFill>
          <a:ln/>
        </p:spPr>
      </p:sp>
      <p:sp>
        <p:nvSpPr>
          <p:cNvPr id="4" name="Text 2"/>
          <p:cNvSpPr/>
          <p:nvPr/>
        </p:nvSpPr>
        <p:spPr>
          <a:xfrm>
            <a:off x="365760" y="164592"/>
            <a:ext cx="8229600" cy="274320"/>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GUIDED PRACTICE   |   STEP 1: TEACHER MODELS</a:t>
            </a:r>
            <a:endParaRPr lang="en-US" sz="1100" dirty="0"/>
          </a:p>
        </p:txBody>
      </p:sp>
      <p:sp>
        <p:nvSpPr>
          <p:cNvPr id="5" name="Text 3"/>
          <p:cNvSpPr/>
          <p:nvPr/>
        </p:nvSpPr>
        <p:spPr>
          <a:xfrm>
            <a:off x="365760" y="713232"/>
            <a:ext cx="8229600" cy="41148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Watch how I connect a season to daily life...</a:t>
            </a:r>
            <a:endParaRPr lang="en-US" sz="2000" dirty="0"/>
          </a:p>
        </p:txBody>
      </p:sp>
      <p:sp>
        <p:nvSpPr>
          <p:cNvPr id="6" name="Shape 4"/>
          <p:cNvSpPr/>
          <p:nvPr/>
        </p:nvSpPr>
        <p:spPr>
          <a:xfrm>
            <a:off x="365760" y="1207008"/>
            <a:ext cx="8412480" cy="2286000"/>
          </a:xfrm>
          <a:prstGeom prst="roundRect">
            <a:avLst>
              <a:gd name="adj" fmla="val 4800"/>
            </a:avLst>
          </a:prstGeom>
          <a:solidFill>
            <a:srgbClr val="FFFFFF"/>
          </a:solidFill>
          <a:ln w="19050">
            <a:solidFill>
              <a:srgbClr val="1A8A7D"/>
            </a:solidFill>
            <a:prstDash val="solid"/>
          </a:ln>
        </p:spPr>
      </p:sp>
      <p:sp>
        <p:nvSpPr>
          <p:cNvPr id="7" name="Text 5"/>
          <p:cNvSpPr/>
          <p:nvPr/>
        </p:nvSpPr>
        <p:spPr>
          <a:xfrm>
            <a:off x="548640" y="1280160"/>
            <a:ext cx="1828800" cy="2286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THINK ALOUD</a:t>
            </a:r>
            <a:endParaRPr lang="en-US" sz="900" dirty="0"/>
          </a:p>
        </p:txBody>
      </p:sp>
      <p:sp>
        <p:nvSpPr>
          <p:cNvPr id="8" name="Text 6"/>
          <p:cNvSpPr/>
          <p:nvPr/>
        </p:nvSpPr>
        <p:spPr>
          <a:xfrm>
            <a:off x="548640" y="1554480"/>
            <a:ext cx="8046720" cy="182880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Assignment Question: Name two of Florida's seasons and one specific daily activity for each.</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I'll start with the wet/warm season. I know the Calusa lived along Florida's southwest coast. During the wet/warm season, rivers and wetlands filled up — that means MORE fish. So the specific activity would be: fishing by canoe. My answer: Wet/warm season — Calusa fishing by canoe because the waters were teeming with mullet and snook.</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Now I need one more season. I'll choose dry/cool: Apalachee hunters traveled between villages because the ground was drier and mosquitoes calmed down.</a:t>
            </a:r>
            <a:endParaRPr lang="en-US" sz="1200" dirty="0"/>
          </a:p>
        </p:txBody>
      </p:sp>
      <p:sp>
        <p:nvSpPr>
          <p:cNvPr id="9" name="Shape 7"/>
          <p:cNvSpPr/>
          <p:nvPr/>
        </p:nvSpPr>
        <p:spPr>
          <a:xfrm>
            <a:off x="365760" y="3611880"/>
            <a:ext cx="8412480" cy="777240"/>
          </a:xfrm>
          <a:prstGeom prst="roundRect">
            <a:avLst>
              <a:gd name="adj" fmla="val 11765"/>
            </a:avLst>
          </a:prstGeom>
          <a:solidFill>
            <a:srgbClr val="FFF3DC"/>
          </a:solidFill>
          <a:ln w="12700">
            <a:solidFill>
              <a:srgbClr val="F5E6C8"/>
            </a:solidFill>
            <a:prstDash val="solid"/>
          </a:ln>
        </p:spPr>
      </p:sp>
      <p:sp>
        <p:nvSpPr>
          <p:cNvPr id="10" name="Text 8"/>
          <p:cNvSpPr/>
          <p:nvPr/>
        </p:nvSpPr>
        <p:spPr>
          <a:xfrm>
            <a:off x="548640" y="3730752"/>
            <a:ext cx="8046720" cy="548640"/>
          </a:xfrm>
          <a:prstGeom prst="rect">
            <a:avLst/>
          </a:prstGeom>
          <a:noFill/>
          <a:ln/>
        </p:spPr>
        <p:txBody>
          <a:bodyPr wrap="square" rtlCol="0" anchor="ctr"/>
          <a:lstStyle/>
          <a:p>
            <a:pPr indent="0" marL="0">
              <a:buNone/>
            </a:pPr>
            <a:r>
              <a:rPr lang="en-US" sz="1200" i="1" dirty="0">
                <a:solidFill>
                  <a:srgbClr val="5A4A3A"/>
                </a:solidFill>
                <a:latin typeface="Calibri" pitchFamily="34" charset="0"/>
                <a:ea typeface="Calibri" pitchFamily="34" charset="-122"/>
                <a:cs typeface="Calibri" pitchFamily="34" charset="-120"/>
              </a:rPr>
              <a:t>Notice my move: Season → which group it fits best → what the land made possible → specific activity. That's the pattern.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oundRect">
            <a:avLst/>
          </a:prstGeom>
          <a:solidFill>
            <a:srgbClr val="0E1C42"/>
          </a:solidFill>
          <a:ln/>
        </p:spPr>
      </p:sp>
      <p:sp>
        <p:nvSpPr>
          <p:cNvPr id="4" name="Text 2"/>
          <p:cNvSpPr/>
          <p:nvPr/>
        </p:nvSpPr>
        <p:spPr>
          <a:xfrm>
            <a:off x="365760" y="164592"/>
            <a:ext cx="8229600" cy="274320"/>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GUIDED PRACTICE   |   STEP 2: DEFEND YOUR CLAIM</a:t>
            </a:r>
            <a:endParaRPr lang="en-US" sz="1100" dirty="0"/>
          </a:p>
        </p:txBody>
      </p:sp>
      <p:sp>
        <p:nvSpPr>
          <p:cNvPr id="5" name="Text 3"/>
          <p:cNvSpPr/>
          <p:nvPr/>
        </p:nvSpPr>
        <p:spPr>
          <a:xfrm>
            <a:off x="365760" y="713232"/>
            <a:ext cx="8229600" cy="41148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Your turn — make the connection and defend it</a:t>
            </a:r>
            <a:endParaRPr lang="en-US" sz="2000" dirty="0"/>
          </a:p>
        </p:txBody>
      </p:sp>
      <p:sp>
        <p:nvSpPr>
          <p:cNvPr id="6" name="Shape 4"/>
          <p:cNvSpPr/>
          <p:nvPr/>
        </p:nvSpPr>
        <p:spPr>
          <a:xfrm>
            <a:off x="365760" y="1207008"/>
            <a:ext cx="4480560" cy="2286000"/>
          </a:xfrm>
          <a:prstGeom prst="roundRect">
            <a:avLst>
              <a:gd name="adj" fmla="val 4800"/>
            </a:avLst>
          </a:prstGeom>
          <a:solidFill>
            <a:srgbClr val="FFFFFF"/>
          </a:solidFill>
          <a:ln w="12700">
            <a:solidFill>
              <a:srgbClr val="B0B8CC"/>
            </a:solidFill>
            <a:prstDash val="solid"/>
          </a:ln>
        </p:spPr>
      </p:sp>
      <p:sp>
        <p:nvSpPr>
          <p:cNvPr id="7" name="Text 5"/>
          <p:cNvSpPr/>
          <p:nvPr/>
        </p:nvSpPr>
        <p:spPr>
          <a:xfrm>
            <a:off x="548640" y="1280160"/>
            <a:ext cx="2286000" cy="228600"/>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YOUR CLAIM</a:t>
            </a:r>
            <a:endParaRPr lang="en-US" sz="900" dirty="0"/>
          </a:p>
        </p:txBody>
      </p:sp>
      <p:sp>
        <p:nvSpPr>
          <p:cNvPr id="8" name="Text 6"/>
          <p:cNvSpPr/>
          <p:nvPr/>
        </p:nvSpPr>
        <p:spPr>
          <a:xfrm>
            <a:off x="548640" y="1572768"/>
            <a:ext cx="4114800" cy="182880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Pick ONE season. Connect it to a specific activity for a specific group.</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Season: ___</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Group: ___</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Activity: ___</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Why the season made this possible: ___</a:t>
            </a:r>
            <a:endParaRPr lang="en-US" sz="1200" dirty="0"/>
          </a:p>
        </p:txBody>
      </p:sp>
      <p:sp>
        <p:nvSpPr>
          <p:cNvPr id="9" name="Shape 7"/>
          <p:cNvSpPr/>
          <p:nvPr/>
        </p:nvSpPr>
        <p:spPr>
          <a:xfrm>
            <a:off x="5029200" y="1207008"/>
            <a:ext cx="3749040" cy="2286000"/>
          </a:xfrm>
          <a:prstGeom prst="roundRect">
            <a:avLst>
              <a:gd name="adj" fmla="val 6000"/>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5212080" y="1298448"/>
            <a:ext cx="33832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212080" y="1554480"/>
            <a:ext cx="3383280" cy="18470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evidence from the lesson supports your choice?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someone who disagreed say — and how would you answer them?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your connection specific enough? Could it apply to any season, or only yours?</a:t>
            </a:r>
            <a:endParaRPr lang="en-US" sz="1100" dirty="0"/>
          </a:p>
        </p:txBody>
      </p:sp>
      <p:sp>
        <p:nvSpPr>
          <p:cNvPr id="12" name="Shape 10"/>
          <p:cNvSpPr/>
          <p:nvPr/>
        </p:nvSpPr>
        <p:spPr>
          <a:xfrm>
            <a:off x="365760" y="3657600"/>
            <a:ext cx="8412480" cy="1207008"/>
          </a:xfrm>
          <a:prstGeom prst="roundRect">
            <a:avLst>
              <a:gd name="adj" fmla="val 9091"/>
            </a:avLst>
          </a:prstGeom>
          <a:solidFill>
            <a:srgbClr val="FFF3DC"/>
          </a:solidFill>
          <a:ln w="19050">
            <a:solidFill>
              <a:srgbClr val="F5E6C8"/>
            </a:solidFill>
            <a:prstDash val="solid"/>
          </a:ln>
        </p:spPr>
      </p:sp>
      <p:sp>
        <p:nvSpPr>
          <p:cNvPr id="13" name="Text 11"/>
          <p:cNvSpPr/>
          <p:nvPr/>
        </p:nvSpPr>
        <p:spPr>
          <a:xfrm>
            <a:off x="502920" y="371246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02920" y="3913632"/>
            <a:ext cx="8138160" cy="8869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claim is that the ___ season shaped ___ for the ___ because the land/weather made 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evidence that best supports my claim is ___ because..."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oundRect">
            <a:avLst/>
          </a:prstGeom>
          <a:solidFill>
            <a:srgbClr val="0E1C42"/>
          </a:solidFill>
          <a:ln/>
        </p:spPr>
      </p:sp>
      <p:sp>
        <p:nvSpPr>
          <p:cNvPr id="4" name="Text 2"/>
          <p:cNvSpPr/>
          <p:nvPr/>
        </p:nvSpPr>
        <p:spPr>
          <a:xfrm>
            <a:off x="365760" y="164592"/>
            <a:ext cx="8229600" cy="274320"/>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GUIDED PRACTICE   |   STEP 3: CRITIQUE THE REASONING</a:t>
            </a:r>
            <a:endParaRPr lang="en-US" sz="1100" dirty="0"/>
          </a:p>
        </p:txBody>
      </p:sp>
      <p:sp>
        <p:nvSpPr>
          <p:cNvPr id="5" name="Text 3"/>
          <p:cNvSpPr/>
          <p:nvPr/>
        </p:nvSpPr>
        <p:spPr>
          <a:xfrm>
            <a:off x="365760" y="713232"/>
            <a:ext cx="822960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What's wrong with this answer?</a:t>
            </a:r>
            <a:endParaRPr lang="en-US" sz="2200" dirty="0"/>
          </a:p>
        </p:txBody>
      </p:sp>
      <p:sp>
        <p:nvSpPr>
          <p:cNvPr id="6" name="Shape 4"/>
          <p:cNvSpPr/>
          <p:nvPr/>
        </p:nvSpPr>
        <p:spPr>
          <a:xfrm>
            <a:off x="365760" y="1234440"/>
            <a:ext cx="8412480" cy="1234440"/>
          </a:xfrm>
          <a:prstGeom prst="roundRect">
            <a:avLst>
              <a:gd name="adj" fmla="val 8889"/>
            </a:avLst>
          </a:prstGeom>
          <a:solidFill>
            <a:srgbClr val="FFFFFF"/>
          </a:solidFill>
          <a:ln w="25400">
            <a:solidFill>
              <a:srgbClr val="E8636B"/>
            </a:solidFill>
            <a:prstDash val="solid"/>
          </a:ln>
        </p:spPr>
      </p:sp>
      <p:sp>
        <p:nvSpPr>
          <p:cNvPr id="7" name="Text 5"/>
          <p:cNvSpPr/>
          <p:nvPr/>
        </p:nvSpPr>
        <p:spPr>
          <a:xfrm>
            <a:off x="548640" y="1307592"/>
            <a:ext cx="3657600" cy="228600"/>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SAMPLE STUDENT ANSWER</a:t>
            </a:r>
            <a:endParaRPr lang="en-US" sz="900" dirty="0"/>
          </a:p>
        </p:txBody>
      </p:sp>
      <p:sp>
        <p:nvSpPr>
          <p:cNvPr id="8" name="Text 6"/>
          <p:cNvSpPr/>
          <p:nvPr/>
        </p:nvSpPr>
        <p:spPr>
          <a:xfrm>
            <a:off x="548640" y="1572768"/>
            <a:ext cx="8046720" cy="777240"/>
          </a:xfrm>
          <a:prstGeom prst="rect">
            <a:avLst/>
          </a:prstGeom>
          <a:noFill/>
          <a:ln/>
        </p:spPr>
        <p:txBody>
          <a:bodyPr wrap="square" rtlCol="0" anchor="ctr"/>
          <a:lstStyle/>
          <a:p>
            <a:pPr indent="0" marL="0">
              <a:buNone/>
            </a:pPr>
            <a:r>
              <a:rPr lang="en-US" sz="1400" i="1" dirty="0">
                <a:solidFill>
                  <a:srgbClr val="0E1C42"/>
                </a:solidFill>
                <a:latin typeface="Cambria" pitchFamily="34" charset="0"/>
                <a:ea typeface="Cambria" pitchFamily="34" charset="-122"/>
                <a:cs typeface="Cambria" pitchFamily="34" charset="-120"/>
              </a:rPr>
              <a:t>"In the wet season, the first peoples fished because it was warm. In the dry season, they hunted because it was cold."</a:t>
            </a:r>
            <a:endParaRPr lang="en-US" sz="1400" dirty="0"/>
          </a:p>
        </p:txBody>
      </p:sp>
      <p:sp>
        <p:nvSpPr>
          <p:cNvPr id="9" name="Shape 7"/>
          <p:cNvSpPr/>
          <p:nvPr/>
        </p:nvSpPr>
        <p:spPr>
          <a:xfrm>
            <a:off x="365760" y="2578608"/>
            <a:ext cx="8412480" cy="914400"/>
          </a:xfrm>
          <a:prstGeom prst="roundRect">
            <a:avLst>
              <a:gd name="adj" fmla="val 12000"/>
            </a:avLst>
          </a:prstGeom>
          <a:solidFill>
            <a:srgbClr val="FFFFFF"/>
          </a:solidFill>
          <a:ln w="12700">
            <a:solidFill>
              <a:srgbClr val="B0B8CC"/>
            </a:solidFill>
            <a:prstDash val="solid"/>
          </a:ln>
        </p:spPr>
      </p:sp>
      <p:sp>
        <p:nvSpPr>
          <p:cNvPr id="10" name="Text 8"/>
          <p:cNvSpPr/>
          <p:nvPr/>
        </p:nvSpPr>
        <p:spPr>
          <a:xfrm>
            <a:off x="548640" y="2651760"/>
            <a:ext cx="2743200" cy="228600"/>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WHAT'S WEAK HERE?</a:t>
            </a:r>
            <a:endParaRPr lang="en-US" sz="900" dirty="0"/>
          </a:p>
        </p:txBody>
      </p:sp>
      <p:sp>
        <p:nvSpPr>
          <p:cNvPr id="11" name="Text 9"/>
          <p:cNvSpPr/>
          <p:nvPr/>
        </p:nvSpPr>
        <p:spPr>
          <a:xfrm>
            <a:off x="548640" y="2907792"/>
            <a:ext cx="8046720" cy="50292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This answer has facts but weak reasoning. It says what happened but not WHY the season made that activity possible. What's the specific geographic connection it's missing?</a:t>
            </a:r>
            <a:endParaRPr lang="en-US" sz="1200" dirty="0"/>
          </a:p>
        </p:txBody>
      </p:sp>
      <p:sp>
        <p:nvSpPr>
          <p:cNvPr id="12" name="Shape 10"/>
          <p:cNvSpPr/>
          <p:nvPr/>
        </p:nvSpPr>
        <p:spPr>
          <a:xfrm>
            <a:off x="365760" y="3611880"/>
            <a:ext cx="8412480" cy="1207008"/>
          </a:xfrm>
          <a:prstGeom prst="roundRect">
            <a:avLst>
              <a:gd name="adj" fmla="val 9091"/>
            </a:avLst>
          </a:prstGeom>
          <a:solidFill>
            <a:srgbClr val="FFF3DC"/>
          </a:solidFill>
          <a:ln w="19050">
            <a:solidFill>
              <a:srgbClr val="F5E6C8"/>
            </a:solidFill>
            <a:prstDash val="solid"/>
          </a:ln>
        </p:spPr>
      </p:sp>
      <p:sp>
        <p:nvSpPr>
          <p:cNvPr id="13" name="Text 11"/>
          <p:cNvSpPr/>
          <p:nvPr/>
        </p:nvSpPr>
        <p:spPr>
          <a:xfrm>
            <a:off x="502920" y="366674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02920" y="3867912"/>
            <a:ext cx="8138160" cy="8869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problem with this answer is it says ___ but doesn't explain WHY the geography made that possible, specifically..."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stronger version would say ___ because..."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oundRect">
            <a:avLst/>
          </a:prstGeom>
          <a:solidFill>
            <a:srgbClr val="8B6FC0"/>
          </a:solidFill>
          <a:ln/>
        </p:spPr>
      </p:sp>
      <p:sp>
        <p:nvSpPr>
          <p:cNvPr id="4" name="Text 2"/>
          <p:cNvSpPr/>
          <p:nvPr/>
        </p:nvSpPr>
        <p:spPr>
          <a:xfrm>
            <a:off x="365760" y="164592"/>
            <a:ext cx="8229600" cy="274320"/>
          </a:xfrm>
          <a:prstGeom prst="rect">
            <a:avLst/>
          </a:prstGeom>
          <a:noFill/>
          <a:ln/>
        </p:spPr>
        <p:txBody>
          <a:bodyPr wrap="square"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GUIDED PRACTICE   |   STEP 4: THE TRICKY ONE</a:t>
            </a:r>
            <a:endParaRPr lang="en-US" sz="1100" dirty="0"/>
          </a:p>
        </p:txBody>
      </p:sp>
      <p:sp>
        <p:nvSpPr>
          <p:cNvPr id="5" name="Text 3"/>
          <p:cNvSpPr/>
          <p:nvPr/>
        </p:nvSpPr>
        <p:spPr>
          <a:xfrm>
            <a:off x="365760" y="713232"/>
            <a:ext cx="8229600" cy="41148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Assignment Question 3 — Honest answer required</a:t>
            </a:r>
            <a:endParaRPr lang="en-US" sz="2000" dirty="0"/>
          </a:p>
        </p:txBody>
      </p:sp>
      <p:sp>
        <p:nvSpPr>
          <p:cNvPr id="6" name="Shape 4"/>
          <p:cNvSpPr/>
          <p:nvPr/>
        </p:nvSpPr>
        <p:spPr>
          <a:xfrm>
            <a:off x="365760" y="1207008"/>
            <a:ext cx="8412480" cy="1280160"/>
          </a:xfrm>
          <a:prstGeom prst="roundRect">
            <a:avLst>
              <a:gd name="adj" fmla="val 8571"/>
            </a:avLst>
          </a:prstGeom>
          <a:solidFill>
            <a:srgbClr val="FFFFFF"/>
          </a:solidFill>
          <a:ln w="25400">
            <a:solidFill>
              <a:srgbClr val="8B6FC0"/>
            </a:solidFill>
            <a:prstDash val="solid"/>
          </a:ln>
        </p:spPr>
      </p:sp>
      <p:sp>
        <p:nvSpPr>
          <p:cNvPr id="7" name="Text 5"/>
          <p:cNvSpPr/>
          <p:nvPr/>
        </p:nvSpPr>
        <p:spPr>
          <a:xfrm>
            <a:off x="548640" y="1280160"/>
            <a:ext cx="2743200" cy="228600"/>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THE QUESTION</a:t>
            </a:r>
            <a:endParaRPr lang="en-US" sz="900" dirty="0"/>
          </a:p>
        </p:txBody>
      </p:sp>
      <p:sp>
        <p:nvSpPr>
          <p:cNvPr id="8" name="Text 6"/>
          <p:cNvSpPr/>
          <p:nvPr/>
        </p:nvSpPr>
        <p:spPr>
          <a:xfrm>
            <a:off x="548640" y="1572768"/>
            <a:ext cx="8046720" cy="822960"/>
          </a:xfrm>
          <a:prstGeom prst="rect">
            <a:avLst/>
          </a:prstGeom>
          <a:noFill/>
          <a:ln/>
        </p:spPr>
        <p:txBody>
          <a:bodyPr wrap="square"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"Be honest: would you have wanted to live in Florida 800 years ago? Why or why not? Connect your answer to at least one season from the lesson. No 'right' answer — just an honest one."</a:t>
            </a:r>
            <a:endParaRPr lang="en-US" sz="1300" dirty="0"/>
          </a:p>
        </p:txBody>
      </p:sp>
      <p:sp>
        <p:nvSpPr>
          <p:cNvPr id="9" name="Shape 7"/>
          <p:cNvSpPr/>
          <p:nvPr/>
        </p:nvSpPr>
        <p:spPr>
          <a:xfrm>
            <a:off x="365760" y="2633472"/>
            <a:ext cx="4937760" cy="1572768"/>
          </a:xfrm>
          <a:prstGeom prst="roundRect">
            <a:avLst>
              <a:gd name="adj" fmla="val 8721"/>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548640" y="2724912"/>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48640" y="2980944"/>
            <a:ext cx="4572000" cy="113385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this question asking you to be HONEST — what would a dishonest answer look like?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'I would have liked it because there was lots of fish' count as a good answer? What's missing?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two students give different answers and both be right? What makes an answer strong here?</a:t>
            </a:r>
            <a:endParaRPr lang="en-US" sz="1100" dirty="0"/>
          </a:p>
        </p:txBody>
      </p:sp>
      <p:sp>
        <p:nvSpPr>
          <p:cNvPr id="12" name="Shape 10"/>
          <p:cNvSpPr/>
          <p:nvPr/>
        </p:nvSpPr>
        <p:spPr>
          <a:xfrm>
            <a:off x="5486400" y="2633472"/>
            <a:ext cx="3291840" cy="1572768"/>
          </a:xfrm>
          <a:prstGeom prst="roundRect">
            <a:avLst>
              <a:gd name="adj" fmla="val 6977"/>
            </a:avLst>
          </a:prstGeom>
          <a:solidFill>
            <a:srgbClr val="FFF3DC"/>
          </a:solidFill>
          <a:ln w="19050">
            <a:solidFill>
              <a:srgbClr val="F5E6C8"/>
            </a:solidFill>
            <a:prstDash val="solid"/>
          </a:ln>
        </p:spPr>
      </p:sp>
      <p:sp>
        <p:nvSpPr>
          <p:cNvPr id="13" name="Text 11"/>
          <p:cNvSpPr/>
          <p:nvPr/>
        </p:nvSpPr>
        <p:spPr>
          <a:xfrm>
            <a:off x="5577840" y="2706624"/>
            <a:ext cx="310896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 TRANSFERABLE PATTERN</a:t>
            </a:r>
            <a:endParaRPr lang="en-US" sz="900" dirty="0"/>
          </a:p>
        </p:txBody>
      </p:sp>
      <p:sp>
        <p:nvSpPr>
          <p:cNvPr id="14" name="Text 12"/>
          <p:cNvSpPr/>
          <p:nvPr/>
        </p:nvSpPr>
        <p:spPr>
          <a:xfrm>
            <a:off x="5577840" y="2971800"/>
            <a:ext cx="3108960" cy="1115568"/>
          </a:xfrm>
          <a:prstGeom prst="rect">
            <a:avLst/>
          </a:prstGeom>
          <a:noFill/>
          <a:ln/>
        </p:spPr>
        <p:txBody>
          <a:bodyPr wrap="square" rtlCol="0" anchor="t"/>
          <a:lstStyle/>
          <a:p>
            <a:pPr indent="0" marL="0">
              <a:buNone/>
            </a:pPr>
            <a:r>
              <a:rPr lang="en-US" sz="1100" dirty="0">
                <a:solidFill>
                  <a:srgbClr val="5A4A3A"/>
                </a:solidFill>
                <a:latin typeface="Calibri" pitchFamily="34" charset="0"/>
                <a:ea typeface="Calibri" pitchFamily="34" charset="-122"/>
                <a:cs typeface="Calibri" pitchFamily="34" charset="-120"/>
              </a:rPr>
              <a:t>A strong historical response doesn't flatten the past. The honest historian notices both the generous months AND the hard ones — and connects their opinion to evidence.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411480"/>
          </a:xfrm>
          <a:prstGeom prst="roundRect">
            <a:avLst>
              <a:gd name="adj" fmla="val 22222"/>
            </a:avLst>
          </a:prstGeom>
          <a:solidFill>
            <a:srgbClr val="D4943A">
              <a:alpha val="80000"/>
            </a:srgbClr>
          </a:solidFill>
          <a:ln/>
        </p:spPr>
      </p:sp>
      <p:sp>
        <p:nvSpPr>
          <p:cNvPr id="6" name="Text 3"/>
          <p:cNvSpPr/>
          <p:nvPr/>
        </p:nvSpPr>
        <p:spPr>
          <a:xfrm>
            <a:off x="457200" y="274320"/>
            <a:ext cx="8229600" cy="411480"/>
          </a:xfrm>
          <a:prstGeom prst="rect">
            <a:avLst/>
          </a:prstGeom>
          <a:noFill/>
          <a:ln/>
        </p:spPr>
        <p:txBody>
          <a:bodyPr wrap="square" rtlCol="0" anchor="ctr"/>
          <a:lstStyle/>
          <a:p>
            <a:pPr algn="ctr" indent="0" marL="0">
              <a:buNone/>
            </a:pPr>
            <a:r>
              <a:rPr lang="en-US" sz="1400" b="1" spc="300" kern="0" dirty="0">
                <a:solidFill>
                  <a:srgbClr val="FFFFFF"/>
                </a:solidFill>
                <a:latin typeface="Calibri" pitchFamily="34" charset="0"/>
                <a:ea typeface="Calibri" pitchFamily="34" charset="-122"/>
                <a:cs typeface="Calibri" pitchFamily="34" charset="-120"/>
              </a:rPr>
              <a:t>VIRTUE SPOTLIGHT</a:t>
            </a:r>
            <a:endParaRPr lang="en-US" sz="1400" dirty="0"/>
          </a:p>
        </p:txBody>
      </p:sp>
      <p:sp>
        <p:nvSpPr>
          <p:cNvPr id="7" name="Text 4"/>
          <p:cNvSpPr/>
          <p:nvPr/>
        </p:nvSpPr>
        <p:spPr>
          <a:xfrm>
            <a:off x="457200" y="868680"/>
            <a:ext cx="8229600" cy="822960"/>
          </a:xfrm>
          <a:prstGeom prst="rect">
            <a:avLst/>
          </a:prstGeom>
          <a:noFill/>
          <a:ln/>
        </p:spPr>
        <p:txBody>
          <a:bodyPr wrap="square" rtlCol="0" anchor="ctr"/>
          <a:lstStyle/>
          <a:p>
            <a:pPr algn="ctr" indent="0" marL="0">
              <a:buNone/>
            </a:pPr>
            <a:r>
              <a:rPr lang="en-US" sz="5200" b="1" dirty="0">
                <a:solidFill>
                  <a:srgbClr val="D4943A"/>
                </a:solidFill>
                <a:latin typeface="Cambria" pitchFamily="34" charset="0"/>
                <a:ea typeface="Cambria" pitchFamily="34" charset="-122"/>
                <a:cs typeface="Cambria" pitchFamily="34" charset="-120"/>
              </a:rPr>
              <a:t>Honesty</a:t>
            </a:r>
            <a:endParaRPr lang="en-US" sz="5200" dirty="0"/>
          </a:p>
        </p:txBody>
      </p:sp>
      <p:sp>
        <p:nvSpPr>
          <p:cNvPr id="8" name="Shape 5"/>
          <p:cNvSpPr/>
          <p:nvPr/>
        </p:nvSpPr>
        <p:spPr>
          <a:xfrm>
            <a:off x="1828800" y="1783080"/>
            <a:ext cx="5486400" cy="36576"/>
          </a:xfrm>
          <a:prstGeom prst="rect">
            <a:avLst/>
          </a:prstGeom>
          <a:solidFill>
            <a:srgbClr val="55C8E8"/>
          </a:solidFill>
          <a:ln/>
        </p:spPr>
      </p:sp>
      <p:sp>
        <p:nvSpPr>
          <p:cNvPr id="9" name="Text 6"/>
          <p:cNvSpPr/>
          <p:nvPr/>
        </p:nvSpPr>
        <p:spPr>
          <a:xfrm>
            <a:off x="731520" y="1901952"/>
            <a:ext cx="7680960" cy="1280160"/>
          </a:xfrm>
          <a:prstGeom prst="rect">
            <a:avLst/>
          </a:prstGeom>
          <a:noFill/>
          <a:ln/>
        </p:spPr>
        <p:txBody>
          <a:bodyPr wrap="square" rtlCol="0" anchor="ctr"/>
          <a:lstStyle/>
          <a:p>
            <a:pPr algn="ctr" indent="0" marL="0">
              <a:buNone/>
            </a:pPr>
            <a:r>
              <a:rPr lang="en-US" sz="1400" dirty="0">
                <a:solidFill>
                  <a:srgbClr val="F0F2F8"/>
                </a:solidFill>
                <a:latin typeface="Calibri" pitchFamily="34" charset="0"/>
                <a:ea typeface="Calibri" pitchFamily="34" charset="-122"/>
                <a:cs typeface="Calibri" pitchFamily="34" charset="-120"/>
              </a:rPr>
              <a:t>An honest description of life in Florida 800 years ago doesn't flatten the seasons into one long summer. Some months were hard. Some were generous. The honest historian notices both, and writes about a year the way the people who lived it would actually have felt it.</a:t>
            </a:r>
            <a:endParaRPr lang="en-US" sz="1400" dirty="0"/>
          </a:p>
        </p:txBody>
      </p:sp>
      <p:sp>
        <p:nvSpPr>
          <p:cNvPr id="10" name="Shape 7"/>
          <p:cNvSpPr/>
          <p:nvPr/>
        </p:nvSpPr>
        <p:spPr>
          <a:xfrm>
            <a:off x="1371600" y="3310128"/>
            <a:ext cx="6400800" cy="1188720"/>
          </a:xfrm>
          <a:prstGeom prst="roundRect">
            <a:avLst>
              <a:gd name="adj" fmla="val 9231"/>
            </a:avLst>
          </a:prstGeom>
          <a:solidFill>
            <a:srgbClr val="1A2D5A"/>
          </a:solidFill>
          <a:ln/>
        </p:spPr>
      </p:sp>
      <p:sp>
        <p:nvSpPr>
          <p:cNvPr id="11" name="Text 8"/>
          <p:cNvSpPr/>
          <p:nvPr/>
        </p:nvSpPr>
        <p:spPr>
          <a:xfrm>
            <a:off x="1554480" y="3383280"/>
            <a:ext cx="6035040" cy="228600"/>
          </a:xfrm>
          <a:prstGeom prst="rect">
            <a:avLst/>
          </a:prstGeom>
          <a:noFill/>
          <a:ln/>
        </p:spPr>
        <p:txBody>
          <a:bodyPr wrap="square"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CONNECTION TO TODAY</a:t>
            </a:r>
            <a:endParaRPr lang="en-US" sz="900" dirty="0"/>
          </a:p>
        </p:txBody>
      </p:sp>
      <p:sp>
        <p:nvSpPr>
          <p:cNvPr id="12" name="Text 9"/>
          <p:cNvSpPr/>
          <p:nvPr/>
        </p:nvSpPr>
        <p:spPr>
          <a:xfrm>
            <a:off x="1554480" y="3639312"/>
            <a:ext cx="6035040" cy="777240"/>
          </a:xfrm>
          <a:prstGeom prst="rect">
            <a:avLst/>
          </a:prstGeom>
          <a:noFill/>
          <a:ln/>
        </p:spPr>
        <p:txBody>
          <a:bodyPr wrap="square" rtlCol="0" anchor="t"/>
          <a:lstStyle/>
          <a:p>
            <a:pPr algn="ctr" indent="0" marL="0">
              <a:buNone/>
            </a:pPr>
            <a:r>
              <a:rPr lang="en-US" sz="1200" dirty="0">
                <a:solidFill>
                  <a:srgbClr val="F0F2F8"/>
                </a:solidFill>
                <a:latin typeface="Calibri" pitchFamily="34" charset="0"/>
                <a:ea typeface="Calibri" pitchFamily="34" charset="-122"/>
                <a:cs typeface="Calibri" pitchFamily="34" charset="-120"/>
              </a:rPr>
              <a:t>When you write 'it was nice in Florida' without mentioning hurricanes, you're not being dishonest on purpose — but you're being incomplete. Honest historians follow the whole year.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oundRect">
            <a:avLst/>
          </a:prstGeom>
          <a:solidFill>
            <a:srgbClr val="D4943A"/>
          </a:solidFill>
          <a:ln/>
        </p:spPr>
      </p:sp>
      <p:sp>
        <p:nvSpPr>
          <p:cNvPr id="4" name="Text 2"/>
          <p:cNvSpPr/>
          <p:nvPr/>
        </p:nvSpPr>
        <p:spPr>
          <a:xfrm>
            <a:off x="365760" y="164592"/>
            <a:ext cx="8229600" cy="274320"/>
          </a:xfrm>
          <a:prstGeom prst="rect">
            <a:avLst/>
          </a:prstGeom>
          <a:noFill/>
          <a:ln/>
        </p:spPr>
        <p:txBody>
          <a:bodyPr wrap="square"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CANVAS ASSIGNMENT   |   Your Year-Wheel Notebook Entry</a:t>
            </a:r>
            <a:endParaRPr lang="en-US" sz="1100" dirty="0"/>
          </a:p>
        </p:txBody>
      </p:sp>
      <p:sp>
        <p:nvSpPr>
          <p:cNvPr id="5" name="Shape 3"/>
          <p:cNvSpPr/>
          <p:nvPr/>
        </p:nvSpPr>
        <p:spPr>
          <a:xfrm>
            <a:off x="274320" y="685800"/>
            <a:ext cx="8595360" cy="987552"/>
          </a:xfrm>
          <a:prstGeom prst="roundRect">
            <a:avLst>
              <a:gd name="adj" fmla="val 9259"/>
            </a:avLst>
          </a:prstGeom>
          <a:solidFill>
            <a:srgbClr val="FFFFFF"/>
          </a:solidFill>
          <a:ln w="12700">
            <a:solidFill>
              <a:srgbClr val="D4943A"/>
            </a:solidFill>
            <a:prstDash val="solid"/>
          </a:ln>
        </p:spPr>
      </p:sp>
      <p:sp>
        <p:nvSpPr>
          <p:cNvPr id="6" name="Text 4"/>
          <p:cNvSpPr/>
          <p:nvPr/>
        </p:nvSpPr>
        <p:spPr>
          <a:xfrm>
            <a:off x="457200" y="758952"/>
            <a:ext cx="411480" cy="411480"/>
          </a:xfrm>
          <a:prstGeom prst="rect">
            <a:avLst/>
          </a:prstGeom>
          <a:noFill/>
          <a:ln/>
        </p:spPr>
        <p:txBody>
          <a:bodyPr wrap="square" rtlCol="0" anchor="ctr"/>
          <a:lstStyle/>
          <a:p>
            <a:pPr algn="ctr" indent="0" marL="0">
              <a:buNone/>
            </a:pPr>
            <a:r>
              <a:rPr lang="en-US" sz="1600" b="1" dirty="0">
                <a:solidFill>
                  <a:srgbClr val="D4943A"/>
                </a:solidFill>
                <a:latin typeface="Calibri" pitchFamily="34" charset="0"/>
                <a:ea typeface="Calibri" pitchFamily="34" charset="-122"/>
                <a:cs typeface="Calibri" pitchFamily="34" charset="-120"/>
              </a:rPr>
              <a:t>Q1</a:t>
            </a:r>
            <a:endParaRPr lang="en-US" sz="1600" dirty="0"/>
          </a:p>
        </p:txBody>
      </p:sp>
      <p:sp>
        <p:nvSpPr>
          <p:cNvPr id="7" name="Text 5"/>
          <p:cNvSpPr/>
          <p:nvPr/>
        </p:nvSpPr>
        <p:spPr>
          <a:xfrm>
            <a:off x="914400" y="758952"/>
            <a:ext cx="7772400" cy="74980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Name two of Florida's seasons and one specific daily activity the first peoples did in each. Use details from the lesson, not guesses.</a:t>
            </a:r>
            <a:endParaRPr lang="en-US" sz="1200" dirty="0"/>
          </a:p>
        </p:txBody>
      </p:sp>
      <p:sp>
        <p:nvSpPr>
          <p:cNvPr id="8" name="Shape 6"/>
          <p:cNvSpPr/>
          <p:nvPr/>
        </p:nvSpPr>
        <p:spPr>
          <a:xfrm>
            <a:off x="274320" y="1783080"/>
            <a:ext cx="8595360" cy="987552"/>
          </a:xfrm>
          <a:prstGeom prst="roundRect">
            <a:avLst>
              <a:gd name="adj" fmla="val 9259"/>
            </a:avLst>
          </a:prstGeom>
          <a:solidFill>
            <a:srgbClr val="FFFFFF"/>
          </a:solidFill>
          <a:ln w="12700">
            <a:solidFill>
              <a:srgbClr val="D4943A"/>
            </a:solidFill>
            <a:prstDash val="solid"/>
          </a:ln>
        </p:spPr>
      </p:sp>
      <p:sp>
        <p:nvSpPr>
          <p:cNvPr id="9" name="Text 7"/>
          <p:cNvSpPr/>
          <p:nvPr/>
        </p:nvSpPr>
        <p:spPr>
          <a:xfrm>
            <a:off x="457200" y="1856232"/>
            <a:ext cx="411480" cy="411480"/>
          </a:xfrm>
          <a:prstGeom prst="rect">
            <a:avLst/>
          </a:prstGeom>
          <a:noFill/>
          <a:ln/>
        </p:spPr>
        <p:txBody>
          <a:bodyPr wrap="square" rtlCol="0" anchor="ctr"/>
          <a:lstStyle/>
          <a:p>
            <a:pPr algn="ctr" indent="0" marL="0">
              <a:buNone/>
            </a:pPr>
            <a:r>
              <a:rPr lang="en-US" sz="1600" b="1" dirty="0">
                <a:solidFill>
                  <a:srgbClr val="D4943A"/>
                </a:solidFill>
                <a:latin typeface="Calibri" pitchFamily="34" charset="0"/>
                <a:ea typeface="Calibri" pitchFamily="34" charset="-122"/>
                <a:cs typeface="Calibri" pitchFamily="34" charset="-120"/>
              </a:rPr>
              <a:t>Q2</a:t>
            </a:r>
            <a:endParaRPr lang="en-US" sz="1600" dirty="0"/>
          </a:p>
        </p:txBody>
      </p:sp>
      <p:sp>
        <p:nvSpPr>
          <p:cNvPr id="10" name="Text 8"/>
          <p:cNvSpPr/>
          <p:nvPr/>
        </p:nvSpPr>
        <p:spPr>
          <a:xfrm>
            <a:off x="914400" y="1856232"/>
            <a:ext cx="7772400" cy="74980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Explain what we mean when we say "geography includes time, not just place." Use one specific Florida season as your example.</a:t>
            </a:r>
            <a:endParaRPr lang="en-US" sz="1200" dirty="0"/>
          </a:p>
        </p:txBody>
      </p:sp>
      <p:sp>
        <p:nvSpPr>
          <p:cNvPr id="11" name="Shape 9"/>
          <p:cNvSpPr/>
          <p:nvPr/>
        </p:nvSpPr>
        <p:spPr>
          <a:xfrm>
            <a:off x="274320" y="2880360"/>
            <a:ext cx="8595360" cy="987552"/>
          </a:xfrm>
          <a:prstGeom prst="roundRect">
            <a:avLst>
              <a:gd name="adj" fmla="val 9259"/>
            </a:avLst>
          </a:prstGeom>
          <a:solidFill>
            <a:srgbClr val="FFFFFF"/>
          </a:solidFill>
          <a:ln w="12700">
            <a:solidFill>
              <a:srgbClr val="D4943A"/>
            </a:solidFill>
            <a:prstDash val="solid"/>
          </a:ln>
        </p:spPr>
      </p:sp>
      <p:sp>
        <p:nvSpPr>
          <p:cNvPr id="12" name="Text 10"/>
          <p:cNvSpPr/>
          <p:nvPr/>
        </p:nvSpPr>
        <p:spPr>
          <a:xfrm>
            <a:off x="457200" y="2953512"/>
            <a:ext cx="411480" cy="411480"/>
          </a:xfrm>
          <a:prstGeom prst="rect">
            <a:avLst/>
          </a:prstGeom>
          <a:noFill/>
          <a:ln/>
        </p:spPr>
        <p:txBody>
          <a:bodyPr wrap="square" rtlCol="0" anchor="ctr"/>
          <a:lstStyle/>
          <a:p>
            <a:pPr algn="ctr" indent="0" marL="0">
              <a:buNone/>
            </a:pPr>
            <a:r>
              <a:rPr lang="en-US" sz="1600" b="1" dirty="0">
                <a:solidFill>
                  <a:srgbClr val="D4943A"/>
                </a:solidFill>
                <a:latin typeface="Calibri" pitchFamily="34" charset="0"/>
                <a:ea typeface="Calibri" pitchFamily="34" charset="-122"/>
                <a:cs typeface="Calibri" pitchFamily="34" charset="-120"/>
              </a:rPr>
              <a:t>Q3</a:t>
            </a:r>
            <a:endParaRPr lang="en-US" sz="1600" dirty="0"/>
          </a:p>
        </p:txBody>
      </p:sp>
      <p:sp>
        <p:nvSpPr>
          <p:cNvPr id="13" name="Text 11"/>
          <p:cNvSpPr/>
          <p:nvPr/>
        </p:nvSpPr>
        <p:spPr>
          <a:xfrm>
            <a:off x="914400" y="2953512"/>
            <a:ext cx="7772400" cy="74980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Be honest: would you have wanted to live in Florida 800 years ago? Why or why not? Connect your answer to at least one season from the lesson. No "right" answer — just an honest one.</a:t>
            </a:r>
            <a:endParaRPr lang="en-US" sz="1200" dirty="0"/>
          </a:p>
        </p:txBody>
      </p:sp>
      <p:sp>
        <p:nvSpPr>
          <p:cNvPr id="14" name="Shape 12"/>
          <p:cNvSpPr/>
          <p:nvPr/>
        </p:nvSpPr>
        <p:spPr>
          <a:xfrm>
            <a:off x="274320" y="3474720"/>
            <a:ext cx="8595360" cy="1371600"/>
          </a:xfrm>
          <a:prstGeom prst="roundRect">
            <a:avLst>
              <a:gd name="adj" fmla="val 6667"/>
            </a:avLst>
          </a:prstGeom>
          <a:solidFill>
            <a:srgbClr val="1A2D5A"/>
          </a:solidFill>
          <a:ln/>
        </p:spPr>
      </p:sp>
      <p:sp>
        <p:nvSpPr>
          <p:cNvPr id="15" name="Text 13"/>
          <p:cNvSpPr/>
          <p:nvPr/>
        </p:nvSpPr>
        <p:spPr>
          <a:xfrm>
            <a:off x="457200" y="3547872"/>
            <a:ext cx="8229600" cy="256032"/>
          </a:xfrm>
          <a:prstGeom prst="rect">
            <a:avLst/>
          </a:prstGeom>
          <a:noFill/>
          <a:ln/>
        </p:spPr>
        <p:txBody>
          <a:bodyPr wrap="square"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UNLOCK CHALLENGE: Day in the Life Historian's Notebook Entry</a:t>
            </a:r>
            <a:endParaRPr lang="en-US" sz="1000" dirty="0"/>
          </a:p>
        </p:txBody>
      </p:sp>
      <p:sp>
        <p:nvSpPr>
          <p:cNvPr id="16" name="Text 14"/>
          <p:cNvSpPr/>
          <p:nvPr/>
        </p:nvSpPr>
        <p:spPr>
          <a:xfrm>
            <a:off x="457200" y="3822192"/>
            <a:ext cx="8229600" cy="914400"/>
          </a:xfrm>
          <a:prstGeom prst="rect">
            <a:avLst/>
          </a:prstGeom>
          <a:noFill/>
          <a:ln/>
        </p:spPr>
        <p:txBody>
          <a:bodyPr wrap="square" rtlCol="0" anchor="t"/>
          <a:lstStyle/>
          <a:p>
            <a:pPr indent="0" marL="0">
              <a:buNone/>
            </a:pPr>
            <a:r>
              <a:rPr lang="en-US" sz="1100" dirty="0">
                <a:solidFill>
                  <a:srgbClr val="F0F2F8"/>
                </a:solidFill>
                <a:latin typeface="Calibri" pitchFamily="34" charset="0"/>
                <a:ea typeface="Calibri" pitchFamily="34" charset="-122"/>
                <a:cs typeface="Calibri" pitchFamily="34" charset="-120"/>
              </a:rPr>
              <a:t>Pick one season (dry/cool, wet/warm, hurricane, or mild) and one Florida people (Apalachee, Timucua, Calusa, or Tequesta). Write 4-5 sentences. Include: (1) season + people, (2) one weather detail, (3) one food or work activity that fits the season, (4) one honest sentence about something hard about that season.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09728"/>
            <a:ext cx="2743200" cy="2560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SELF-CHECK</a:t>
            </a:r>
            <a:endParaRPr lang="en-US" sz="900" dirty="0"/>
          </a:p>
        </p:txBody>
      </p:sp>
      <p:sp>
        <p:nvSpPr>
          <p:cNvPr id="4" name="Text 2"/>
          <p:cNvSpPr/>
          <p:nvPr/>
        </p:nvSpPr>
        <p:spPr>
          <a:xfrm>
            <a:off x="365760" y="365760"/>
            <a:ext cx="8229600" cy="4572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Quick check — then go to Canvas</a:t>
            </a:r>
            <a:endParaRPr lang="en-US" sz="2400" dirty="0"/>
          </a:p>
        </p:txBody>
      </p:sp>
      <p:sp>
        <p:nvSpPr>
          <p:cNvPr id="5" name="Shape 3"/>
          <p:cNvSpPr/>
          <p:nvPr/>
        </p:nvSpPr>
        <p:spPr>
          <a:xfrm>
            <a:off x="274320" y="932688"/>
            <a:ext cx="8595360" cy="1188720"/>
          </a:xfrm>
          <a:prstGeom prst="roundRect">
            <a:avLst>
              <a:gd name="adj" fmla="val 7692"/>
            </a:avLst>
          </a:prstGeom>
          <a:solidFill>
            <a:srgbClr val="FFFFFF"/>
          </a:solidFill>
          <a:ln w="12700">
            <a:solidFill>
              <a:srgbClr val="B0B8CC"/>
            </a:solidFill>
            <a:prstDash val="solid"/>
          </a:ln>
        </p:spPr>
      </p:sp>
      <p:sp>
        <p:nvSpPr>
          <p:cNvPr id="6" name="Text 4"/>
          <p:cNvSpPr/>
          <p:nvPr/>
        </p:nvSpPr>
        <p:spPr>
          <a:xfrm>
            <a:off x="457200" y="1005840"/>
            <a:ext cx="8229600" cy="411480"/>
          </a:xfrm>
          <a:prstGeom prst="rect">
            <a:avLst/>
          </a:prstGeom>
          <a:noFill/>
          <a:ln/>
        </p:spPr>
        <p:txBody>
          <a:bodyPr wrap="square"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1. Which best describes Florida's dry, cool season?</a:t>
            </a:r>
            <a:endParaRPr lang="en-US" sz="1200" dirty="0"/>
          </a:p>
        </p:txBody>
      </p:sp>
      <p:sp>
        <p:nvSpPr>
          <p:cNvPr id="7" name="Shape 5"/>
          <p:cNvSpPr/>
          <p:nvPr/>
        </p:nvSpPr>
        <p:spPr>
          <a:xfrm>
            <a:off x="457200" y="1399032"/>
            <a:ext cx="36576" cy="640080"/>
          </a:xfrm>
          <a:prstGeom prst="rect">
            <a:avLst/>
          </a:prstGeom>
          <a:solidFill>
            <a:srgbClr val="34B76F"/>
          </a:solidFill>
          <a:ln/>
        </p:spPr>
      </p:sp>
      <p:sp>
        <p:nvSpPr>
          <p:cNvPr id="8" name="Text 6"/>
          <p:cNvSpPr/>
          <p:nvPr/>
        </p:nvSpPr>
        <p:spPr>
          <a:xfrm>
            <a:off x="594360" y="1417320"/>
            <a:ext cx="8138160" cy="594360"/>
          </a:xfrm>
          <a:prstGeom prst="rect">
            <a:avLst/>
          </a:prstGeom>
          <a:noFill/>
          <a:ln/>
        </p:spPr>
        <p:txBody>
          <a:bodyPr wrap="square" rtlCol="0" anchor="t"/>
          <a:lstStyle/>
          <a:p>
            <a:pPr indent="0" marL="0">
              <a:buNone/>
            </a:pPr>
            <a:r>
              <a:rPr lang="en-US" sz="1100" i="1" dirty="0">
                <a:solidFill>
                  <a:srgbClr val="1A8A7D"/>
                </a:solidFill>
                <a:latin typeface="Calibri" pitchFamily="34" charset="0"/>
                <a:ea typeface="Calibri" pitchFamily="34" charset="-122"/>
                <a:cs typeface="Calibri" pitchFamily="34" charset="-120"/>
              </a:rPr>
              <a:t>A steadier stretch when hunting, traveling, building, and trading were easier.</a:t>
            </a:r>
            <a:endParaRPr lang="en-US" sz="1100" dirty="0"/>
          </a:p>
        </p:txBody>
      </p:sp>
      <p:sp>
        <p:nvSpPr>
          <p:cNvPr id="9" name="Shape 7"/>
          <p:cNvSpPr/>
          <p:nvPr/>
        </p:nvSpPr>
        <p:spPr>
          <a:xfrm>
            <a:off x="274320" y="2258568"/>
            <a:ext cx="8595360" cy="1188720"/>
          </a:xfrm>
          <a:prstGeom prst="roundRect">
            <a:avLst>
              <a:gd name="adj" fmla="val 7692"/>
            </a:avLst>
          </a:prstGeom>
          <a:solidFill>
            <a:srgbClr val="FFFFFF"/>
          </a:solidFill>
          <a:ln w="12700">
            <a:solidFill>
              <a:srgbClr val="B0B8CC"/>
            </a:solidFill>
            <a:prstDash val="solid"/>
          </a:ln>
        </p:spPr>
      </p:sp>
      <p:sp>
        <p:nvSpPr>
          <p:cNvPr id="10" name="Text 8"/>
          <p:cNvSpPr/>
          <p:nvPr/>
        </p:nvSpPr>
        <p:spPr>
          <a:xfrm>
            <a:off x="457200" y="2331720"/>
            <a:ext cx="8229600" cy="411480"/>
          </a:xfrm>
          <a:prstGeom prst="rect">
            <a:avLst/>
          </a:prstGeom>
          <a:noFill/>
          <a:ln/>
        </p:spPr>
        <p:txBody>
          <a:bodyPr wrap="square"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2. Why did the Apalachee plant corn during the wet, warm season?</a:t>
            </a:r>
            <a:endParaRPr lang="en-US" sz="1200" dirty="0"/>
          </a:p>
        </p:txBody>
      </p:sp>
      <p:sp>
        <p:nvSpPr>
          <p:cNvPr id="11" name="Shape 9"/>
          <p:cNvSpPr/>
          <p:nvPr/>
        </p:nvSpPr>
        <p:spPr>
          <a:xfrm>
            <a:off x="457200" y="2724912"/>
            <a:ext cx="36576" cy="640080"/>
          </a:xfrm>
          <a:prstGeom prst="rect">
            <a:avLst/>
          </a:prstGeom>
          <a:solidFill>
            <a:srgbClr val="34B76F"/>
          </a:solidFill>
          <a:ln/>
        </p:spPr>
      </p:sp>
      <p:sp>
        <p:nvSpPr>
          <p:cNvPr id="12" name="Text 10"/>
          <p:cNvSpPr/>
          <p:nvPr/>
        </p:nvSpPr>
        <p:spPr>
          <a:xfrm>
            <a:off x="594360" y="2743200"/>
            <a:ext cx="8138160" cy="594360"/>
          </a:xfrm>
          <a:prstGeom prst="rect">
            <a:avLst/>
          </a:prstGeom>
          <a:noFill/>
          <a:ln/>
        </p:spPr>
        <p:txBody>
          <a:bodyPr wrap="square" rtlCol="0" anchor="t"/>
          <a:lstStyle/>
          <a:p>
            <a:pPr indent="0" marL="0">
              <a:buNone/>
            </a:pPr>
            <a:r>
              <a:rPr lang="en-US" sz="1100" i="1" dirty="0">
                <a:solidFill>
                  <a:srgbClr val="1A8A7D"/>
                </a:solidFill>
                <a:latin typeface="Calibri" pitchFamily="34" charset="0"/>
                <a:ea typeface="Calibri" pitchFamily="34" charset="-122"/>
                <a:cs typeface="Calibri" pitchFamily="34" charset="-120"/>
              </a:rPr>
              <a:t>Because crops like corn, beans, and squash need warm temperatures and plenty of rain to grow.</a:t>
            </a:r>
            <a:endParaRPr lang="en-US" sz="1100" dirty="0"/>
          </a:p>
        </p:txBody>
      </p:sp>
      <p:sp>
        <p:nvSpPr>
          <p:cNvPr id="13" name="Shape 11"/>
          <p:cNvSpPr/>
          <p:nvPr/>
        </p:nvSpPr>
        <p:spPr>
          <a:xfrm>
            <a:off x="274320" y="3584448"/>
            <a:ext cx="8595360" cy="1188720"/>
          </a:xfrm>
          <a:prstGeom prst="roundRect">
            <a:avLst>
              <a:gd name="adj" fmla="val 7692"/>
            </a:avLst>
          </a:prstGeom>
          <a:solidFill>
            <a:srgbClr val="FFFFFF"/>
          </a:solidFill>
          <a:ln w="12700">
            <a:solidFill>
              <a:srgbClr val="B0B8CC"/>
            </a:solidFill>
            <a:prstDash val="solid"/>
          </a:ln>
        </p:spPr>
      </p:sp>
      <p:sp>
        <p:nvSpPr>
          <p:cNvPr id="14" name="Text 12"/>
          <p:cNvSpPr/>
          <p:nvPr/>
        </p:nvSpPr>
        <p:spPr>
          <a:xfrm>
            <a:off x="457200" y="3657600"/>
            <a:ext cx="8229600" cy="411480"/>
          </a:xfrm>
          <a:prstGeom prst="rect">
            <a:avLst/>
          </a:prstGeom>
          <a:noFill/>
          <a:ln/>
        </p:spPr>
        <p:txBody>
          <a:bodyPr wrap="square"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3. Someone says 'Florida is just one long beach day.' The honest response:</a:t>
            </a:r>
            <a:endParaRPr lang="en-US" sz="1200" dirty="0"/>
          </a:p>
        </p:txBody>
      </p:sp>
      <p:sp>
        <p:nvSpPr>
          <p:cNvPr id="15" name="Shape 13"/>
          <p:cNvSpPr/>
          <p:nvPr/>
        </p:nvSpPr>
        <p:spPr>
          <a:xfrm>
            <a:off x="457200" y="4050792"/>
            <a:ext cx="36576" cy="640080"/>
          </a:xfrm>
          <a:prstGeom prst="rect">
            <a:avLst/>
          </a:prstGeom>
          <a:solidFill>
            <a:srgbClr val="34B76F"/>
          </a:solidFill>
          <a:ln/>
        </p:spPr>
      </p:sp>
      <p:sp>
        <p:nvSpPr>
          <p:cNvPr id="16" name="Text 14"/>
          <p:cNvSpPr/>
          <p:nvPr/>
        </p:nvSpPr>
        <p:spPr>
          <a:xfrm>
            <a:off x="594360" y="4069080"/>
            <a:ext cx="8138160" cy="594360"/>
          </a:xfrm>
          <a:prstGeom prst="rect">
            <a:avLst/>
          </a:prstGeom>
          <a:noFill/>
          <a:ln/>
        </p:spPr>
        <p:txBody>
          <a:bodyPr wrap="square" rtlCol="0" anchor="t"/>
          <a:lstStyle/>
          <a:p>
            <a:pPr indent="0" marL="0">
              <a:buNone/>
            </a:pPr>
            <a:r>
              <a:rPr lang="en-US" sz="1100" i="1" dirty="0">
                <a:solidFill>
                  <a:srgbClr val="1A8A7D"/>
                </a:solidFill>
                <a:latin typeface="Calibri" pitchFamily="34" charset="0"/>
                <a:ea typeface="Calibri" pitchFamily="34" charset="-122"/>
                <a:cs typeface="Calibri" pitchFamily="34" charset="-120"/>
              </a:rPr>
              <a:t>Florida has at least four very different seasons — dry/cool, wet/warm, hurricane, and mild — and each shaped daily life differently.</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457200"/>
          </a:xfrm>
          <a:prstGeom prst="roundRect">
            <a:avLst>
              <a:gd name="adj" fmla="val 20000"/>
            </a:avLst>
          </a:prstGeom>
          <a:solidFill>
            <a:srgbClr val="34B76F">
              <a:alpha val="85000"/>
            </a:srgbClr>
          </a:solidFill>
          <a:ln/>
        </p:spPr>
      </p:sp>
      <p:sp>
        <p:nvSpPr>
          <p:cNvPr id="6" name="Text 3"/>
          <p:cNvSpPr/>
          <p:nvPr/>
        </p:nvSpPr>
        <p:spPr>
          <a:xfrm>
            <a:off x="457200" y="274320"/>
            <a:ext cx="8229600" cy="457200"/>
          </a:xfrm>
          <a:prstGeom prst="rect">
            <a:avLst/>
          </a:prstGeom>
          <a:noFill/>
          <a:ln/>
        </p:spPr>
        <p:txBody>
          <a:bodyPr wrap="square" rtlCol="0" anchor="ctr"/>
          <a:lstStyle/>
          <a:p>
            <a:pPr algn="ctr" indent="0" marL="0">
              <a:buNone/>
            </a:pPr>
            <a:r>
              <a:rPr lang="en-US" sz="2000" b="1" spc="400" kern="0" dirty="0">
                <a:solidFill>
                  <a:srgbClr val="FFFFFF"/>
                </a:solidFill>
                <a:latin typeface="Calibri" pitchFamily="34" charset="0"/>
                <a:ea typeface="Calibri" pitchFamily="34" charset="-122"/>
                <a:cs typeface="Calibri" pitchFamily="34" charset="-120"/>
              </a:rPr>
              <a:t>FILE SAVED</a:t>
            </a:r>
            <a:endParaRPr lang="en-US" sz="2000" dirty="0"/>
          </a:p>
        </p:txBody>
      </p:sp>
      <p:sp>
        <p:nvSpPr>
          <p:cNvPr id="7" name="Text 4"/>
          <p:cNvSpPr/>
          <p:nvPr/>
        </p:nvSpPr>
        <p:spPr>
          <a:xfrm>
            <a:off x="457200" y="896112"/>
            <a:ext cx="8229600" cy="365760"/>
          </a:xfrm>
          <a:prstGeom prst="rect">
            <a:avLst/>
          </a:prstGeom>
          <a:noFill/>
          <a:ln/>
        </p:spPr>
        <p:txBody>
          <a:bodyPr wrap="square" rtlCol="0" anchor="ctr"/>
          <a:lstStyle/>
          <a:p>
            <a:pPr algn="ctr" indent="0" marL="0">
              <a:buNone/>
            </a:pPr>
            <a:r>
              <a:rPr lang="en-US" sz="1400" i="1" dirty="0">
                <a:solidFill>
                  <a:srgbClr val="55C8E8"/>
                </a:solidFill>
                <a:latin typeface="Calibri" pitchFamily="34" charset="0"/>
                <a:ea typeface="Calibri" pitchFamily="34" charset="-122"/>
                <a:cs typeface="Calibri" pitchFamily="34" charset="-120"/>
              </a:rPr>
              <a:t>Geography and Daily Life — File 3 of 13 Locked</a:t>
            </a:r>
            <a:endParaRPr lang="en-US" sz="1400" dirty="0"/>
          </a:p>
        </p:txBody>
      </p:sp>
      <p:sp>
        <p:nvSpPr>
          <p:cNvPr id="8" name="Text 5"/>
          <p:cNvSpPr/>
          <p:nvPr/>
        </p:nvSpPr>
        <p:spPr>
          <a:xfrm>
            <a:off x="457200" y="1371600"/>
            <a:ext cx="8229600" cy="1097280"/>
          </a:xfrm>
          <a:prstGeom prst="rect">
            <a:avLst/>
          </a:prstGeom>
          <a:noFill/>
          <a:ln/>
        </p:spPr>
        <p:txBody>
          <a:bodyPr wrap="square"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Geography influenced where people lived,</a:t>
            </a:r>
            <a:endParaRPr lang="en-US" sz="3000" dirty="0"/>
          </a:p>
          <a:p>
            <a:pPr algn="ctr" indent="0" marL="0">
              <a:buNone/>
            </a:pPr>
            <a:r>
              <a:rPr lang="en-US" sz="3000" b="1" dirty="0">
                <a:solidFill>
                  <a:srgbClr val="D4943A"/>
                </a:solidFill>
                <a:latin typeface="Cambria" pitchFamily="34" charset="0"/>
                <a:ea typeface="Cambria" pitchFamily="34" charset="-122"/>
                <a:cs typeface="Cambria" pitchFamily="34" charset="-120"/>
              </a:rPr>
              <a:t>what they ate, how they traveled,</a:t>
            </a:r>
            <a:endParaRPr lang="en-US" sz="3000" dirty="0"/>
          </a:p>
          <a:p>
            <a:pPr algn="ctr" indent="0" marL="0">
              <a:buNone/>
            </a:pPr>
            <a:r>
              <a:rPr lang="en-US" sz="3000" b="1" dirty="0">
                <a:solidFill>
                  <a:srgbClr val="D4943A"/>
                </a:solidFill>
                <a:latin typeface="Cambria" pitchFamily="34" charset="0"/>
                <a:ea typeface="Cambria" pitchFamily="34" charset="-122"/>
                <a:cs typeface="Cambria" pitchFamily="34" charset="-120"/>
              </a:rPr>
              <a:t>and what materials they used.</a:t>
            </a:r>
            <a:endParaRPr lang="en-US" sz="3000" dirty="0"/>
          </a:p>
        </p:txBody>
      </p:sp>
      <p:sp>
        <p:nvSpPr>
          <p:cNvPr id="9" name="Shape 6"/>
          <p:cNvSpPr/>
          <p:nvPr/>
        </p:nvSpPr>
        <p:spPr>
          <a:xfrm>
            <a:off x="1371600" y="2578608"/>
            <a:ext cx="6400800" cy="36576"/>
          </a:xfrm>
          <a:prstGeom prst="rect">
            <a:avLst/>
          </a:prstGeom>
          <a:solidFill>
            <a:srgbClr val="55C8E8"/>
          </a:solidFill>
          <a:ln/>
        </p:spPr>
      </p:sp>
      <p:sp>
        <p:nvSpPr>
          <p:cNvPr id="10" name="Text 7"/>
          <p:cNvSpPr/>
          <p:nvPr/>
        </p:nvSpPr>
        <p:spPr>
          <a:xfrm>
            <a:off x="457200" y="2697480"/>
            <a:ext cx="8229600" cy="256032"/>
          </a:xfrm>
          <a:prstGeom prst="rect">
            <a:avLst/>
          </a:prstGeom>
          <a:noFill/>
          <a:ln/>
        </p:spPr>
        <p:txBody>
          <a:bodyPr wrap="square" rtlCol="0" anchor="ctr"/>
          <a:lstStyle/>
          <a:p>
            <a:pPr algn="ctr" indent="0" marL="0">
              <a:buNone/>
            </a:pPr>
            <a:r>
              <a:rPr lang="en-US" sz="1000" b="1" spc="150" kern="0" dirty="0">
                <a:solidFill>
                  <a:srgbClr val="55C8E8"/>
                </a:solidFill>
                <a:latin typeface="Calibri" pitchFamily="34" charset="0"/>
                <a:ea typeface="Calibri" pitchFamily="34" charset="-122"/>
                <a:cs typeface="Calibri" pitchFamily="34" charset="-120"/>
              </a:rPr>
              <a:t>THE TRANSFERABLE PATTERN:</a:t>
            </a:r>
            <a:endParaRPr lang="en-US" sz="1000" dirty="0"/>
          </a:p>
        </p:txBody>
      </p:sp>
      <p:sp>
        <p:nvSpPr>
          <p:cNvPr id="11" name="Text 8"/>
          <p:cNvSpPr/>
          <p:nvPr/>
        </p:nvSpPr>
        <p:spPr>
          <a:xfrm>
            <a:off x="914400" y="3017520"/>
            <a:ext cx="7315200" cy="1005840"/>
          </a:xfrm>
          <a:prstGeom prst="rect">
            <a:avLst/>
          </a:prstGeom>
          <a:noFill/>
          <a:ln/>
        </p:spPr>
        <p:txBody>
          <a:bodyPr wrap="square" rtlCol="0" anchor="ctr"/>
          <a:lstStyle/>
          <a:p>
            <a:pPr algn="ctr" indent="0" marL="0">
              <a:buNone/>
            </a:pPr>
            <a:r>
              <a:rPr lang="en-US" sz="1400" dirty="0">
                <a:solidFill>
                  <a:srgbClr val="F0F2F8"/>
                </a:solidFill>
                <a:latin typeface="Calibri" pitchFamily="34" charset="0"/>
                <a:ea typeface="Calibri" pitchFamily="34" charset="-122"/>
                <a:cs typeface="Calibri" pitchFamily="34" charset="-120"/>
              </a:rPr>
              <a:t>Wherever people live — past or present — the land and the season shape their choices. To understand any community, ask: what time of year, and what did the earth make possible?</a:t>
            </a:r>
            <a:endParaRPr lang="en-US" sz="1400" dirty="0"/>
          </a:p>
        </p:txBody>
      </p:sp>
      <p:sp>
        <p:nvSpPr>
          <p:cNvPr id="12" name="Shape 9"/>
          <p:cNvSpPr/>
          <p:nvPr/>
        </p:nvSpPr>
        <p:spPr>
          <a:xfrm>
            <a:off x="1371600" y="4114800"/>
            <a:ext cx="6400800" cy="640080"/>
          </a:xfrm>
          <a:prstGeom prst="roundRect">
            <a:avLst>
              <a:gd name="adj" fmla="val 14286"/>
            </a:avLst>
          </a:prstGeom>
          <a:solidFill>
            <a:srgbClr val="1A2D5A"/>
          </a:solidFill>
          <a:ln/>
        </p:spPr>
      </p:sp>
      <p:sp>
        <p:nvSpPr>
          <p:cNvPr id="13" name="Text 10"/>
          <p:cNvSpPr/>
          <p:nvPr/>
        </p:nvSpPr>
        <p:spPr>
          <a:xfrm>
            <a:off x="1554480" y="4178808"/>
            <a:ext cx="6035040" cy="475488"/>
          </a:xfrm>
          <a:prstGeom prst="rect">
            <a:avLst/>
          </a:prstGeom>
          <a:noFill/>
          <a:ln/>
        </p:spPr>
        <p:txBody>
          <a:bodyPr wrap="square" rtlCol="0" anchor="ctr"/>
          <a:lstStyle/>
          <a:p>
            <a:pPr algn="ctr" indent="0" marL="0">
              <a:buNone/>
            </a:pPr>
            <a:r>
              <a:rPr lang="en-US" sz="1200" i="1" dirty="0">
                <a:solidFill>
                  <a:srgbClr val="D4943A"/>
                </a:solidFill>
                <a:latin typeface="Calibri" pitchFamily="34" charset="0"/>
                <a:ea typeface="Calibri" pitchFamily="34" charset="-122"/>
                <a:cs typeface="Calibri" pitchFamily="34" charset="-120"/>
              </a:rPr>
              <a:t>COMING NEXT: Lesson 4.03.06 — Courtesy and Responsibility in Studying Cultures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2026-07-14T00:25:07Z</dcterms:created>
  <dcterms:modified xsi:type="dcterms:W3CDTF">2026-07-14T00:25:07Z</dcterms:modified>
</cp:coreProperties>
</file>