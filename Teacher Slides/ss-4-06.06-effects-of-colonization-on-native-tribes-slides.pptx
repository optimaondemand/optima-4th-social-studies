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Solemn painterly illustration of historic Florida landscape at dawn: canoes on water, thatched village structures at forest edge. Tone is respectful and serious, not dramatic. This is the most important lesson of the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Ms. Rivera's message slowly. Pause after 'real losses.' Tell students: today we are slowing down on purpose. This history deserves our careful attention. Historians who study this topic do so with both rigor and respect — and so will we.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establishes present-tense reality BEFORE we go into history. The Timucua, Apalachee, and Calusa peoples are not ancient history — they are ancestors of people alive today. Read the green bar aloud. It is non-negotiable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5 full seconds of silence to look. Then use the chat frame prompts. Do NOT tell them what they are looking at yet. Listen for: details they notice, what kind of source this is, what questions they have. After chat responses: 'Good. Now let us ask a harder question about this source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hard on 'Whose voice is missing?' Most records from this period were written by Spanish colonizers, missionaries, or soldiers. Ask: 'If the Timucua people had kept written records, what might they have written about these same events?' Emphasize: oral tradition is valid evidence. Use ALL three evidence types to build a more complete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Abstract symbolic visualization of disease spread: dark background, ripples of faint light moving across a landscape suggesting loss. NO graphic imagery of suffering. Painterly, respectful, symbolic.Read in a measured, serious tone. Pause after 'greatest loss of life.' If a student asks how many people died: 'Historians estimate that Native populations in Florida declined by 90% or more within 150 years of European contact. That is almost everyone.' Let that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time to look at both sources before asking anything. Key questions: 'Who wrote the Spanish records — and what was their purpose?' 'Why might archaeological evidence tell a different story?' 'What does it mean that Native communities preserved oral records of these events for hundreds of years?' Hold students to the 'because' clause — do not accept responses without reasoning.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each effect one at a time — do not rush. For mission pressure: 'What does it mean to be pressured to change your religion and daily routine?' For displacement: 'The Timucua, Apalachee, and Calusa peoples had lived in these places for thousands of years. What does it mean to lose your homeland?' Let students respond — these are not rhetorical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'Whose voice is missing?' is a required question — say it explicitly. Do not rush this slide. After students respond, ask: 'What WOULD you need to understand this from the Timucua perspective?' Listen for students who cite oral tradition — affirm it. The last Socratic question is the hardest — sit in it. You do not have to resolve it. The discomfort is part of studying history honestly.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aloud as you read this response. Point out each structural move: CLAIM (states one effect clearly), EVIDENCE (names specific detail from the lesson), EXPLANATION (says why it matters), CONNECTION (links to the bigger picture). After reading: 'Did I use respectful language? Did I treat the Timucua, Apalachee, and Calusa peoples as real people — not just characters in a story?' Ask students: 'What did you notice about how I structured this?' Then move to Defend.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are making a claim and defending it against a counterargument — Grade 4 rigor. After students share, ask: 'Did anyone choose differently? Can you defend your choice against theirs?' Then ask the third Socratic question: 'Is this question even fully answerable?' Some students will realize 'most devastating' depends on who you ask — that is excellent historical thinking. Do not rush to resolve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student sample has THREE problems: (1) no specific effect named, (2) no evidence cited, (3) language groups distinct peoples as 'the Native Americans' without naming the Timucua, Apalachee, or Calusa. Ask students to identify ALL THREE. Then: 'Which problem is most serious for a Field Historian — and why?' Let them argue. Strong students should be able to revise without the scaffold frame.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question aloud. Q1: 'You practiced this in Defend — you already have an answer forming. Now write it out with evidence.' Q2: 'We have been discussing this all lesson. The Courtesy virtue is directly about this question.' Unlock Challenge: 'If you can put it in order AND explain a cause-effect connection with respectful language, you are doing exactly what real historians do.' Remind students: carefully, honestly, and with respect.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Warm dusk light over Florida landscape — water, trees, sense of continuity and ongoing life. Forward-looking and honoring, not sad or final. Subtle suggestion of present-day Florida. Painterly, respectful, dignified.End slowly. Read the main message aloud: 'We opened it the right way — honestly, and with care.' Read the present-day affirmation. Let it sit. Then say: 'The Seminole and Miccosukee Tribes are still here in Florida today. The Timucua, Apalachee, and Calusa peoples who experienced these events are their ancestors. That connection matters.' Close with the virtue: 'Real courtesy is how we treat the stories of real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0" y="1737360"/>
            <a:ext cx="109728" cy="1828800"/>
          </a:xfrm>
          <a:prstGeom prst="rect">
            <a:avLst/>
          </a:prstGeom>
          <a:solidFill>
            <a:srgbClr val="D4943A"/>
          </a:solidFill>
          <a:ln w="12700">
            <a:solidFill>
              <a:srgbClr val="D4943A"/>
            </a:solidFill>
            <a:prstDash val="solid"/>
          </a:ln>
        </p:spPr>
      </p:sp>
      <p:sp>
        <p:nvSpPr>
          <p:cNvPr id="6" name="Text 3"/>
          <p:cNvSpPr/>
          <p:nvPr/>
        </p:nvSpPr>
        <p:spPr>
          <a:xfrm>
            <a:off x="320040" y="1737360"/>
            <a:ext cx="6858000" cy="292608"/>
          </a:xfrm>
          <a:prstGeom prst="rect">
            <a:avLst/>
          </a:prstGeom>
          <a:noFill/>
          <a:ln/>
        </p:spPr>
        <p:txBody>
          <a:bodyPr wrap="square" lIns="0" tIns="0" rIns="0" bIns="0" rtlCol="0" anchor="ctr"/>
          <a:lstStyle/>
          <a:p>
            <a:pPr indent="0" marL="0">
              <a:buNone/>
            </a:pPr>
            <a:r>
              <a:rPr lang="en-US" sz="1000" b="1" spc="200" kern="0" dirty="0">
                <a:solidFill>
                  <a:srgbClr val="55C8E8"/>
                </a:solidFill>
                <a:latin typeface="Calibri" pitchFamily="34" charset="0"/>
                <a:ea typeface="Calibri" pitchFamily="34" charset="-122"/>
                <a:cs typeface="Calibri" pitchFamily="34" charset="-120"/>
              </a:rPr>
              <a:t>LESSON 4.06.06  |  FLORIDA HISTORY TEAM</a:t>
            </a:r>
            <a:endParaRPr lang="en-US" sz="1000" dirty="0"/>
          </a:p>
        </p:txBody>
      </p:sp>
      <p:sp>
        <p:nvSpPr>
          <p:cNvPr id="7" name="Text 4"/>
          <p:cNvSpPr/>
          <p:nvPr/>
        </p:nvSpPr>
        <p:spPr>
          <a:xfrm>
            <a:off x="320040" y="2057400"/>
            <a:ext cx="8229600" cy="128016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Effects of Colonization</a:t>
            </a:r>
            <a:endParaRPr lang="en-US" sz="3600" dirty="0"/>
          </a:p>
          <a:p>
            <a:pPr indent="0" marL="0">
              <a:buNone/>
            </a:pPr>
            <a:r>
              <a:rPr lang="en-US" sz="3600" b="1" dirty="0">
                <a:solidFill>
                  <a:srgbClr val="FFFFFF"/>
                </a:solidFill>
                <a:latin typeface="Cambria" pitchFamily="34" charset="0"/>
                <a:ea typeface="Cambria" pitchFamily="34" charset="-122"/>
                <a:cs typeface="Cambria" pitchFamily="34" charset="-120"/>
              </a:rPr>
              <a:t>on Florida's Native Peoples</a:t>
            </a:r>
            <a:endParaRPr lang="en-US" sz="3600" dirty="0"/>
          </a:p>
        </p:txBody>
      </p:sp>
      <p:sp>
        <p:nvSpPr>
          <p:cNvPr id="8" name="Text 5"/>
          <p:cNvSpPr/>
          <p:nvPr/>
        </p:nvSpPr>
        <p:spPr>
          <a:xfrm>
            <a:off x="320040" y="3401568"/>
            <a:ext cx="7498080" cy="685800"/>
          </a:xfrm>
          <a:prstGeom prst="rect">
            <a:avLst/>
          </a:prstGeom>
          <a:noFill/>
          <a:ln/>
        </p:spPr>
        <p:txBody>
          <a:bodyPr wrap="square" lIns="0" tIns="0" rIns="0" bIns="0" rtlCol="0" anchor="ctr"/>
          <a:lstStyle/>
          <a:p>
            <a:pPr indent="0" marL="0">
              <a:buNone/>
            </a:pPr>
            <a:r>
              <a:rPr lang="en-US" sz="1400" i="1" dirty="0">
                <a:solidFill>
                  <a:srgbClr val="F0F2F8"/>
                </a:solidFill>
                <a:latin typeface="Calibri" pitchFamily="34" charset="0"/>
                <a:ea typeface="Calibri" pitchFamily="34" charset="-122"/>
                <a:cs typeface="Calibri" pitchFamily="34" charset="-120"/>
              </a:rPr>
              <a:t>What were the effects of colonization on Florida's Native peoples — and how do we study what happened honestly and with respect?</a:t>
            </a:r>
            <a:endParaRPr lang="en-US" sz="1400" dirty="0"/>
          </a:p>
        </p:txBody>
      </p:sp>
      <p:sp>
        <p:nvSpPr>
          <p:cNvPr id="9" name="Text 6"/>
          <p:cNvSpPr/>
          <p:nvPr/>
        </p:nvSpPr>
        <p:spPr>
          <a:xfrm>
            <a:off x="320040" y="4572000"/>
            <a:ext cx="7315200" cy="256032"/>
          </a:xfrm>
          <a:prstGeom prst="rect">
            <a:avLst/>
          </a:prstGeom>
          <a:noFill/>
          <a:ln/>
        </p:spPr>
        <p:txBody>
          <a:bodyPr wrap="square" lIns="0" tIns="0" rIns="0" bIns="0" rtlCol="0" anchor="ctr"/>
          <a:lstStyle/>
          <a:p>
            <a:pPr indent="0" marL="0">
              <a:buNone/>
            </a:pPr>
            <a:r>
              <a:rPr lang="en-US" sz="900" dirty="0">
                <a:solidFill>
                  <a:srgbClr val="7A88A8"/>
                </a:solidFill>
                <a:latin typeface="Calibri" pitchFamily="34" charset="0"/>
                <a:ea typeface="Calibri" pitchFamily="34" charset="-122"/>
                <a:cs typeface="Calibri" pitchFamily="34" charset="-120"/>
              </a:rPr>
              <a:t>SS.4.A.3.2  |  SS.4.A.3.3  |  SS.4.A.3.4  |  SS.4.A.3.6  |  SS.4.A.9.1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9144000" cy="548640"/>
          </a:xfrm>
          <a:prstGeom prst="rect">
            <a:avLst/>
          </a:prstGeom>
          <a:solidFill>
            <a:srgbClr val="0E1C42"/>
          </a:solidFill>
          <a:ln w="12700">
            <a:solidFill>
              <a:srgbClr val="0E1C42"/>
            </a:solidFill>
            <a:prstDash val="solid"/>
          </a:ln>
        </p:spPr>
      </p:sp>
      <p:sp>
        <p:nvSpPr>
          <p:cNvPr id="4" name="Text 2"/>
          <p:cNvSpPr/>
          <p:nvPr/>
        </p:nvSpPr>
        <p:spPr>
          <a:xfrm>
            <a:off x="274320" y="91440"/>
            <a:ext cx="5486400" cy="274320"/>
          </a:xfrm>
          <a:prstGeom prst="rect">
            <a:avLst/>
          </a:prstGeom>
          <a:noFill/>
          <a:ln/>
        </p:spPr>
        <p:txBody>
          <a:bodyPr wrap="square" lIns="0" tIns="0" rIns="0" bIns="0" rtlCol="0" anchor="ctr"/>
          <a:lstStyle/>
          <a:p>
            <a:pPr indent="0" marL="0">
              <a:buNone/>
            </a:pPr>
            <a:r>
              <a:rPr lang="en-US" sz="1000" b="1" spc="200" kern="0" dirty="0">
                <a:solidFill>
                  <a:srgbClr val="55C8E8"/>
                </a:solidFill>
                <a:latin typeface="Calibri" pitchFamily="34" charset="0"/>
                <a:ea typeface="Calibri" pitchFamily="34" charset="-122"/>
                <a:cs typeface="Calibri" pitchFamily="34" charset="-120"/>
              </a:rPr>
              <a:t>FLORIDA FILES  |  FIELD HISTORIAN</a:t>
            </a:r>
            <a:endParaRPr lang="en-US" sz="1000" dirty="0"/>
          </a:p>
        </p:txBody>
      </p:sp>
      <p:sp>
        <p:nvSpPr>
          <p:cNvPr id="5" name="Text 3"/>
          <p:cNvSpPr/>
          <p:nvPr/>
        </p:nvSpPr>
        <p:spPr>
          <a:xfrm>
            <a:off x="7132320" y="91440"/>
            <a:ext cx="1737360" cy="274320"/>
          </a:xfrm>
          <a:prstGeom prst="rect">
            <a:avLst/>
          </a:prstGeom>
          <a:noFill/>
          <a:ln/>
        </p:spPr>
        <p:txBody>
          <a:bodyPr wrap="square" lIns="0" tIns="0" rIns="0" bIns="0" rtlCol="0" anchor="ctr"/>
          <a:lstStyle/>
          <a:p>
            <a:pPr algn="r" indent="0" marL="0">
              <a:buNone/>
            </a:pPr>
            <a:r>
              <a:rPr lang="en-US" sz="1000" b="1" dirty="0">
                <a:solidFill>
                  <a:srgbClr val="D4943A"/>
                </a:solidFill>
                <a:latin typeface="Calibri" pitchFamily="34" charset="0"/>
                <a:ea typeface="Calibri" pitchFamily="34" charset="-122"/>
                <a:cs typeface="Calibri" pitchFamily="34" charset="-120"/>
              </a:rPr>
              <a:t>4.06.06</a:t>
            </a:r>
            <a:endParaRPr lang="en-US" sz="1000" dirty="0"/>
          </a:p>
        </p:txBody>
      </p:sp>
      <p:sp>
        <p:nvSpPr>
          <p:cNvPr id="6" name="Shape 4"/>
          <p:cNvSpPr/>
          <p:nvPr/>
        </p:nvSpPr>
        <p:spPr>
          <a:xfrm>
            <a:off x="365760" y="731520"/>
            <a:ext cx="8412480" cy="2057400"/>
          </a:xfrm>
          <a:prstGeom prst="roundRect">
            <a:avLst>
              <a:gd name="adj" fmla="val 6667"/>
            </a:avLst>
          </a:prstGeom>
          <a:solidFill>
            <a:srgbClr val="1A2D5A"/>
          </a:solidFill>
          <a:ln w="19050">
            <a:solidFill>
              <a:srgbClr val="3A5080"/>
            </a:solidFill>
            <a:prstDash val="solid"/>
          </a:ln>
        </p:spPr>
      </p:sp>
      <p:sp>
        <p:nvSpPr>
          <p:cNvPr id="7" name="Text 5"/>
          <p:cNvSpPr/>
          <p:nvPr/>
        </p:nvSpPr>
        <p:spPr>
          <a:xfrm>
            <a:off x="594360" y="841248"/>
            <a:ext cx="4572000" cy="23774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MS. RIVERA'S MESSAGE</a:t>
            </a:r>
            <a:endParaRPr lang="en-US" sz="900" dirty="0"/>
          </a:p>
        </p:txBody>
      </p:sp>
      <p:sp>
        <p:nvSpPr>
          <p:cNvPr id="8" name="Text 6"/>
          <p:cNvSpPr/>
          <p:nvPr/>
        </p:nvSpPr>
        <p:spPr>
          <a:xfrm>
            <a:off x="594360" y="1115568"/>
            <a:ext cx="7955280" cy="1508760"/>
          </a:xfrm>
          <a:prstGeom prst="rect">
            <a:avLst/>
          </a:prstGeom>
          <a:noFill/>
          <a:ln/>
        </p:spPr>
        <p:txBody>
          <a:bodyPr wrap="square" lIns="0" tIns="0" rIns="0" bIns="0" rtlCol="0" anchor="t"/>
          <a:lstStyle/>
          <a:p>
            <a:pPr indent="0" marL="0">
              <a:buNone/>
            </a:pPr>
            <a:r>
              <a:rPr lang="en-US" sz="1400" i="1" dirty="0">
                <a:solidFill>
                  <a:srgbClr val="FFFFFF"/>
                </a:solidFill>
                <a:latin typeface="Cambria" pitchFamily="34" charset="0"/>
                <a:ea typeface="Cambria" pitchFamily="34" charset="-122"/>
                <a:cs typeface="Cambria" pitchFamily="34" charset="-120"/>
              </a:rPr>
              <a:t>"This is the last file in the wing, and I want us to slow down for it. It's about what colonization did to the Native peoples who were already here — real communities, real losses. Even with the next door so close, there's no rushing this one. Let's open it carefully, with respect and evidence."</a:t>
            </a:r>
            <a:endParaRPr lang="en-US" sz="1400" dirty="0"/>
          </a:p>
        </p:txBody>
      </p:sp>
      <p:sp>
        <p:nvSpPr>
          <p:cNvPr id="9" name="Shape 7"/>
          <p:cNvSpPr/>
          <p:nvPr/>
        </p:nvSpPr>
        <p:spPr>
          <a:xfrm>
            <a:off x="365760" y="3090672"/>
            <a:ext cx="3931920" cy="1051560"/>
          </a:xfrm>
          <a:prstGeom prst="roundRect">
            <a:avLst>
              <a:gd name="adj" fmla="val 10435"/>
            </a:avLst>
          </a:prstGeom>
          <a:solidFill>
            <a:srgbClr val="FFF3DC"/>
          </a:solidFill>
          <a:ln w="19050">
            <a:solidFill>
              <a:srgbClr val="F5E6C8"/>
            </a:solidFill>
            <a:prstDash val="solid"/>
          </a:ln>
        </p:spPr>
      </p:sp>
      <p:sp>
        <p:nvSpPr>
          <p:cNvPr id="10" name="Text 8"/>
          <p:cNvSpPr/>
          <p:nvPr/>
        </p:nvSpPr>
        <p:spPr>
          <a:xfrm>
            <a:off x="548640" y="3182112"/>
            <a:ext cx="3200400" cy="228600"/>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YOUR ROLE TODAY</a:t>
            </a:r>
            <a:endParaRPr lang="en-US" sz="900" dirty="0"/>
          </a:p>
        </p:txBody>
      </p:sp>
      <p:sp>
        <p:nvSpPr>
          <p:cNvPr id="11" name="Text 9"/>
          <p:cNvSpPr/>
          <p:nvPr/>
        </p:nvSpPr>
        <p:spPr>
          <a:xfrm>
            <a:off x="548640" y="3429000"/>
            <a:ext cx="3566160" cy="594360"/>
          </a:xfrm>
          <a:prstGeom prst="rect">
            <a:avLst/>
          </a:prstGeom>
          <a:noFill/>
          <a:ln/>
        </p:spPr>
        <p:txBody>
          <a:bodyPr wrap="square" lIns="0" tIns="0" rIns="0" bIns="0" rtlCol="0" anchor="t"/>
          <a:lstStyle/>
          <a:p>
            <a:pPr indent="0" marL="0">
              <a:buNone/>
            </a:pPr>
            <a:r>
              <a:rPr lang="en-US" sz="1200" dirty="0">
                <a:solidFill>
                  <a:srgbClr val="5A4A3A"/>
                </a:solidFill>
                <a:latin typeface="Calibri" pitchFamily="34" charset="0"/>
                <a:ea typeface="Calibri" pitchFamily="34" charset="-122"/>
                <a:cs typeface="Calibri" pitchFamily="34" charset="-120"/>
              </a:rPr>
              <a:t>Field Historian on the Florida History Team — study real evidence honestly and respectfully.</a:t>
            </a:r>
            <a:endParaRPr lang="en-US" sz="1200" dirty="0"/>
          </a:p>
        </p:txBody>
      </p:sp>
      <p:sp>
        <p:nvSpPr>
          <p:cNvPr id="12" name="Shape 10"/>
          <p:cNvSpPr/>
          <p:nvPr/>
        </p:nvSpPr>
        <p:spPr>
          <a:xfrm>
            <a:off x="4572000" y="3090672"/>
            <a:ext cx="4206240" cy="1051560"/>
          </a:xfrm>
          <a:prstGeom prst="roundRect">
            <a:avLst>
              <a:gd name="adj" fmla="val 10435"/>
            </a:avLst>
          </a:prstGeom>
          <a:solidFill>
            <a:srgbClr val="E2E8F4"/>
          </a:solidFill>
          <a:ln w="19050">
            <a:solidFill>
              <a:srgbClr val="B0B8CC"/>
            </a:solidFill>
            <a:prstDash val="solid"/>
          </a:ln>
        </p:spPr>
      </p:sp>
      <p:sp>
        <p:nvSpPr>
          <p:cNvPr id="13" name="Text 11"/>
          <p:cNvSpPr/>
          <p:nvPr/>
        </p:nvSpPr>
        <p:spPr>
          <a:xfrm>
            <a:off x="4754880" y="3182112"/>
            <a:ext cx="3657600" cy="228600"/>
          </a:xfrm>
          <a:prstGeom prst="rect">
            <a:avLst/>
          </a:prstGeom>
          <a:noFill/>
          <a:ln/>
        </p:spPr>
        <p:txBody>
          <a:bodyPr wrap="square" lIns="0" tIns="0" rIns="0" bIns="0" rtlCol="0" anchor="ctr"/>
          <a:lstStyle/>
          <a:p>
            <a:pPr indent="0" marL="0">
              <a:buNone/>
            </a:pPr>
            <a:r>
              <a:rPr lang="en-US" sz="900" b="1" spc="150" kern="0" dirty="0">
                <a:solidFill>
                  <a:srgbClr val="0E1C42"/>
                </a:solidFill>
                <a:latin typeface="Calibri" pitchFamily="34" charset="0"/>
                <a:ea typeface="Calibri" pitchFamily="34" charset="-122"/>
                <a:cs typeface="Calibri" pitchFamily="34" charset="-120"/>
              </a:rPr>
              <a:t>TODAY'S MISSION</a:t>
            </a:r>
            <a:endParaRPr lang="en-US" sz="900" dirty="0"/>
          </a:p>
        </p:txBody>
      </p:sp>
      <p:sp>
        <p:nvSpPr>
          <p:cNvPr id="14" name="Text 12"/>
          <p:cNvSpPr/>
          <p:nvPr/>
        </p:nvSpPr>
        <p:spPr>
          <a:xfrm>
            <a:off x="4754880" y="3429000"/>
            <a:ext cx="3840480" cy="594360"/>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Investigate four effects of colonization on Florida's Native peoples — and practice studying this history with care.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9144000" cy="548640"/>
          </a:xfrm>
          <a:prstGeom prst="rect">
            <a:avLst/>
          </a:prstGeom>
          <a:solidFill>
            <a:srgbClr val="0E1C42"/>
          </a:solidFill>
          <a:ln w="12700">
            <a:solidFill>
              <a:srgbClr val="0E1C42"/>
            </a:solidFill>
            <a:prstDash val="solid"/>
          </a:ln>
        </p:spPr>
      </p:sp>
      <p:sp>
        <p:nvSpPr>
          <p:cNvPr id="4" name="Text 2"/>
          <p:cNvSpPr/>
          <p:nvPr/>
        </p:nvSpPr>
        <p:spPr>
          <a:xfrm>
            <a:off x="274320" y="91440"/>
            <a:ext cx="6400800" cy="274320"/>
          </a:xfrm>
          <a:prstGeom prst="rect">
            <a:avLst/>
          </a:prstGeom>
          <a:noFill/>
          <a:ln/>
        </p:spPr>
        <p:txBody>
          <a:bodyPr wrap="square" lIns="0" tIns="0" rIns="0" bIns="0" rtlCol="0" anchor="ctr"/>
          <a:lstStyle/>
          <a:p>
            <a:pPr indent="0" marL="0">
              <a:buNone/>
            </a:pPr>
            <a:r>
              <a:rPr lang="en-US" sz="1000" b="1" spc="200" kern="0" dirty="0">
                <a:solidFill>
                  <a:srgbClr val="55C8E8"/>
                </a:solidFill>
                <a:latin typeface="Calibri" pitchFamily="34" charset="0"/>
                <a:ea typeface="Calibri" pitchFamily="34" charset="-122"/>
                <a:cs typeface="Calibri" pitchFamily="34" charset="-120"/>
              </a:rPr>
              <a:t>CONTEXT  |  WHO WAS ALREADY HERE</a:t>
            </a:r>
            <a:endParaRPr lang="en-US" sz="1000" dirty="0"/>
          </a:p>
        </p:txBody>
      </p:sp>
      <p:sp>
        <p:nvSpPr>
          <p:cNvPr id="5" name="Text 3"/>
          <p:cNvSpPr/>
          <p:nvPr/>
        </p:nvSpPr>
        <p:spPr>
          <a:xfrm>
            <a:off x="274320" y="685800"/>
            <a:ext cx="8412480" cy="502920"/>
          </a:xfrm>
          <a:prstGeom prst="rect">
            <a:avLst/>
          </a:prstGeom>
          <a:noFill/>
          <a:ln/>
        </p:spPr>
        <p:txBody>
          <a:bodyPr wrap="square" lIns="0" tIns="0" rIns="0" bIns="0"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The People of Florida — Before and Still</a:t>
            </a:r>
            <a:endParaRPr lang="en-US" sz="2600" dirty="0"/>
          </a:p>
        </p:txBody>
      </p:sp>
      <p:sp>
        <p:nvSpPr>
          <p:cNvPr id="6" name="Text 4"/>
          <p:cNvSpPr/>
          <p:nvPr/>
        </p:nvSpPr>
        <p:spPr>
          <a:xfrm>
            <a:off x="274320" y="1261872"/>
            <a:ext cx="8412480" cy="502920"/>
          </a:xfrm>
          <a:prstGeom prst="rect">
            <a:avLst/>
          </a:prstGeom>
          <a:noFill/>
          <a:ln/>
        </p:spPr>
        <p:txBody>
          <a:bodyPr wrap="square" lIns="0" tIns="0" rIns="0" bIns="0" rtlCol="0" anchor="ctr"/>
          <a:lstStyle/>
          <a:p>
            <a:pPr indent="0" marL="0">
              <a:buNone/>
            </a:pPr>
            <a:r>
              <a:rPr lang="en-US" sz="1600" b="1" dirty="0">
                <a:solidFill>
                  <a:srgbClr val="0E1C42"/>
                </a:solidFill>
                <a:latin typeface="Calibri" pitchFamily="34" charset="0"/>
                <a:ea typeface="Calibri" pitchFamily="34" charset="-122"/>
                <a:cs typeface="Calibri" pitchFamily="34" charset="-120"/>
              </a:rPr>
              <a:t>The Timucua, Apalachee, and Calusa peoples have lived in Florida for thousands of years.</a:t>
            </a:r>
            <a:endParaRPr lang="en-US" sz="1600" dirty="0"/>
          </a:p>
        </p:txBody>
      </p:sp>
      <p:sp>
        <p:nvSpPr>
          <p:cNvPr id="7" name="Shape 5"/>
          <p:cNvSpPr/>
          <p:nvPr/>
        </p:nvSpPr>
        <p:spPr>
          <a:xfrm>
            <a:off x="256032" y="1874520"/>
            <a:ext cx="2697480" cy="1874520"/>
          </a:xfrm>
          <a:prstGeom prst="roundRect">
            <a:avLst>
              <a:gd name="adj" fmla="val 5854"/>
            </a:avLst>
          </a:prstGeom>
          <a:solidFill>
            <a:srgbClr val="1A2D5A"/>
          </a:solidFill>
          <a:ln w="12700">
            <a:solidFill>
              <a:srgbClr val="3A5080"/>
            </a:solidFill>
            <a:prstDash val="solid"/>
          </a:ln>
        </p:spPr>
      </p:sp>
      <p:sp>
        <p:nvSpPr>
          <p:cNvPr id="8" name="Text 6"/>
          <p:cNvSpPr/>
          <p:nvPr/>
        </p:nvSpPr>
        <p:spPr>
          <a:xfrm>
            <a:off x="393192" y="1965960"/>
            <a:ext cx="2423160" cy="320040"/>
          </a:xfrm>
          <a:prstGeom prst="rect">
            <a:avLst/>
          </a:prstGeom>
          <a:noFill/>
          <a:ln/>
        </p:spPr>
        <p:txBody>
          <a:bodyPr wrap="square" lIns="0" tIns="0" rIns="0" bIns="0" rtlCol="0" anchor="ctr"/>
          <a:lstStyle/>
          <a:p>
            <a:pPr indent="0" marL="0">
              <a:buNone/>
            </a:pPr>
            <a:r>
              <a:rPr lang="en-US" sz="1600" b="1" dirty="0">
                <a:solidFill>
                  <a:srgbClr val="D4943A"/>
                </a:solidFill>
                <a:latin typeface="Cambria" pitchFamily="34" charset="0"/>
                <a:ea typeface="Cambria" pitchFamily="34" charset="-122"/>
                <a:cs typeface="Cambria" pitchFamily="34" charset="-120"/>
              </a:rPr>
              <a:t>Timucua</a:t>
            </a:r>
            <a:endParaRPr lang="en-US" sz="1600" dirty="0"/>
          </a:p>
        </p:txBody>
      </p:sp>
      <p:sp>
        <p:nvSpPr>
          <p:cNvPr id="9" name="Text 7"/>
          <p:cNvSpPr/>
          <p:nvPr/>
        </p:nvSpPr>
        <p:spPr>
          <a:xfrm>
            <a:off x="393192" y="2304288"/>
            <a:ext cx="2423160" cy="256032"/>
          </a:xfrm>
          <a:prstGeom prst="rect">
            <a:avLst/>
          </a:prstGeom>
          <a:noFill/>
          <a:ln/>
        </p:spPr>
        <p:txBody>
          <a:bodyPr wrap="square" lIns="0" tIns="0" rIns="0" bIns="0" rtlCol="0" anchor="ctr"/>
          <a:lstStyle/>
          <a:p>
            <a:pPr indent="0" marL="0">
              <a:buNone/>
            </a:pPr>
            <a:r>
              <a:rPr lang="en-US" sz="1100" i="1" dirty="0">
                <a:solidFill>
                  <a:srgbClr val="55C8E8"/>
                </a:solidFill>
                <a:latin typeface="Calibri" pitchFamily="34" charset="0"/>
                <a:ea typeface="Calibri" pitchFamily="34" charset="-122"/>
                <a:cs typeface="Calibri" pitchFamily="34" charset="-120"/>
              </a:rPr>
              <a:t>Northern &amp; Central Florida</a:t>
            </a:r>
            <a:endParaRPr lang="en-US" sz="1100" dirty="0"/>
          </a:p>
        </p:txBody>
      </p:sp>
      <p:sp>
        <p:nvSpPr>
          <p:cNvPr id="10" name="Text 8"/>
          <p:cNvSpPr/>
          <p:nvPr/>
        </p:nvSpPr>
        <p:spPr>
          <a:xfrm>
            <a:off x="393192" y="2587752"/>
            <a:ext cx="2423160" cy="1078992"/>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Lived in villages, farmed and hunted, created complex societies and art forms passed down through generations</a:t>
            </a:r>
            <a:endParaRPr lang="en-US" sz="1100" dirty="0"/>
          </a:p>
        </p:txBody>
      </p:sp>
      <p:sp>
        <p:nvSpPr>
          <p:cNvPr id="11" name="Shape 9"/>
          <p:cNvSpPr/>
          <p:nvPr/>
        </p:nvSpPr>
        <p:spPr>
          <a:xfrm>
            <a:off x="3154680" y="1874520"/>
            <a:ext cx="2697480" cy="1874520"/>
          </a:xfrm>
          <a:prstGeom prst="roundRect">
            <a:avLst>
              <a:gd name="adj" fmla="val 5854"/>
            </a:avLst>
          </a:prstGeom>
          <a:solidFill>
            <a:srgbClr val="1A2D5A"/>
          </a:solidFill>
          <a:ln w="12700">
            <a:solidFill>
              <a:srgbClr val="3A5080"/>
            </a:solidFill>
            <a:prstDash val="solid"/>
          </a:ln>
        </p:spPr>
      </p:sp>
      <p:sp>
        <p:nvSpPr>
          <p:cNvPr id="12" name="Text 10"/>
          <p:cNvSpPr/>
          <p:nvPr/>
        </p:nvSpPr>
        <p:spPr>
          <a:xfrm>
            <a:off x="3291840" y="1965960"/>
            <a:ext cx="2423160" cy="320040"/>
          </a:xfrm>
          <a:prstGeom prst="rect">
            <a:avLst/>
          </a:prstGeom>
          <a:noFill/>
          <a:ln/>
        </p:spPr>
        <p:txBody>
          <a:bodyPr wrap="square" lIns="0" tIns="0" rIns="0" bIns="0" rtlCol="0" anchor="ctr"/>
          <a:lstStyle/>
          <a:p>
            <a:pPr indent="0" marL="0">
              <a:buNone/>
            </a:pPr>
            <a:r>
              <a:rPr lang="en-US" sz="1600" b="1" dirty="0">
                <a:solidFill>
                  <a:srgbClr val="D4943A"/>
                </a:solidFill>
                <a:latin typeface="Cambria" pitchFamily="34" charset="0"/>
                <a:ea typeface="Cambria" pitchFamily="34" charset="-122"/>
                <a:cs typeface="Cambria" pitchFamily="34" charset="-120"/>
              </a:rPr>
              <a:t>Apalachee</a:t>
            </a:r>
            <a:endParaRPr lang="en-US" sz="1600" dirty="0"/>
          </a:p>
        </p:txBody>
      </p:sp>
      <p:sp>
        <p:nvSpPr>
          <p:cNvPr id="13" name="Text 11"/>
          <p:cNvSpPr/>
          <p:nvPr/>
        </p:nvSpPr>
        <p:spPr>
          <a:xfrm>
            <a:off x="3291840" y="2304288"/>
            <a:ext cx="2423160" cy="256032"/>
          </a:xfrm>
          <a:prstGeom prst="rect">
            <a:avLst/>
          </a:prstGeom>
          <a:noFill/>
          <a:ln/>
        </p:spPr>
        <p:txBody>
          <a:bodyPr wrap="square" lIns="0" tIns="0" rIns="0" bIns="0" rtlCol="0" anchor="ctr"/>
          <a:lstStyle/>
          <a:p>
            <a:pPr indent="0" marL="0">
              <a:buNone/>
            </a:pPr>
            <a:r>
              <a:rPr lang="en-US" sz="1100" i="1" dirty="0">
                <a:solidFill>
                  <a:srgbClr val="55C8E8"/>
                </a:solidFill>
                <a:latin typeface="Calibri" pitchFamily="34" charset="0"/>
                <a:ea typeface="Calibri" pitchFamily="34" charset="-122"/>
                <a:cs typeface="Calibri" pitchFamily="34" charset="-120"/>
              </a:rPr>
              <a:t>The Panhandle</a:t>
            </a:r>
            <a:endParaRPr lang="en-US" sz="1100" dirty="0"/>
          </a:p>
        </p:txBody>
      </p:sp>
      <p:sp>
        <p:nvSpPr>
          <p:cNvPr id="14" name="Text 12"/>
          <p:cNvSpPr/>
          <p:nvPr/>
        </p:nvSpPr>
        <p:spPr>
          <a:xfrm>
            <a:off x="3291840" y="2587752"/>
            <a:ext cx="2423160" cy="1078992"/>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Known for farming, trade networks, and the Apalachee Ball Game — a sport played across the Southeast</a:t>
            </a:r>
            <a:endParaRPr lang="en-US" sz="1100" dirty="0"/>
          </a:p>
        </p:txBody>
      </p:sp>
      <p:sp>
        <p:nvSpPr>
          <p:cNvPr id="15" name="Shape 13"/>
          <p:cNvSpPr/>
          <p:nvPr/>
        </p:nvSpPr>
        <p:spPr>
          <a:xfrm>
            <a:off x="6053328" y="1874520"/>
            <a:ext cx="2697480" cy="1874520"/>
          </a:xfrm>
          <a:prstGeom prst="roundRect">
            <a:avLst>
              <a:gd name="adj" fmla="val 5854"/>
            </a:avLst>
          </a:prstGeom>
          <a:solidFill>
            <a:srgbClr val="1A2D5A"/>
          </a:solidFill>
          <a:ln w="12700">
            <a:solidFill>
              <a:srgbClr val="3A5080"/>
            </a:solidFill>
            <a:prstDash val="solid"/>
          </a:ln>
        </p:spPr>
      </p:sp>
      <p:sp>
        <p:nvSpPr>
          <p:cNvPr id="16" name="Text 14"/>
          <p:cNvSpPr/>
          <p:nvPr/>
        </p:nvSpPr>
        <p:spPr>
          <a:xfrm>
            <a:off x="6190488" y="1965960"/>
            <a:ext cx="2423160" cy="320040"/>
          </a:xfrm>
          <a:prstGeom prst="rect">
            <a:avLst/>
          </a:prstGeom>
          <a:noFill/>
          <a:ln/>
        </p:spPr>
        <p:txBody>
          <a:bodyPr wrap="square" lIns="0" tIns="0" rIns="0" bIns="0" rtlCol="0" anchor="ctr"/>
          <a:lstStyle/>
          <a:p>
            <a:pPr indent="0" marL="0">
              <a:buNone/>
            </a:pPr>
            <a:r>
              <a:rPr lang="en-US" sz="1600" b="1" dirty="0">
                <a:solidFill>
                  <a:srgbClr val="D4943A"/>
                </a:solidFill>
                <a:latin typeface="Cambria" pitchFamily="34" charset="0"/>
                <a:ea typeface="Cambria" pitchFamily="34" charset="-122"/>
                <a:cs typeface="Cambria" pitchFamily="34" charset="-120"/>
              </a:rPr>
              <a:t>Calusa</a:t>
            </a:r>
            <a:endParaRPr lang="en-US" sz="1600" dirty="0"/>
          </a:p>
        </p:txBody>
      </p:sp>
      <p:sp>
        <p:nvSpPr>
          <p:cNvPr id="17" name="Text 15"/>
          <p:cNvSpPr/>
          <p:nvPr/>
        </p:nvSpPr>
        <p:spPr>
          <a:xfrm>
            <a:off x="6190488" y="2304288"/>
            <a:ext cx="2423160" cy="256032"/>
          </a:xfrm>
          <a:prstGeom prst="rect">
            <a:avLst/>
          </a:prstGeom>
          <a:noFill/>
          <a:ln/>
        </p:spPr>
        <p:txBody>
          <a:bodyPr wrap="square" lIns="0" tIns="0" rIns="0" bIns="0" rtlCol="0" anchor="ctr"/>
          <a:lstStyle/>
          <a:p>
            <a:pPr indent="0" marL="0">
              <a:buNone/>
            </a:pPr>
            <a:r>
              <a:rPr lang="en-US" sz="1100" i="1" dirty="0">
                <a:solidFill>
                  <a:srgbClr val="55C8E8"/>
                </a:solidFill>
                <a:latin typeface="Calibri" pitchFamily="34" charset="0"/>
                <a:ea typeface="Calibri" pitchFamily="34" charset="-122"/>
                <a:cs typeface="Calibri" pitchFamily="34" charset="-120"/>
              </a:rPr>
              <a:t>Southwest Florida</a:t>
            </a:r>
            <a:endParaRPr lang="en-US" sz="1100" dirty="0"/>
          </a:p>
        </p:txBody>
      </p:sp>
      <p:sp>
        <p:nvSpPr>
          <p:cNvPr id="18" name="Text 16"/>
          <p:cNvSpPr/>
          <p:nvPr/>
        </p:nvSpPr>
        <p:spPr>
          <a:xfrm>
            <a:off x="6190488" y="2587752"/>
            <a:ext cx="2423160" cy="1078992"/>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Masters of the water — built shell mounds, fished, and controlled major trade routes along the coast</a:t>
            </a:r>
            <a:endParaRPr lang="en-US" sz="1100" dirty="0"/>
          </a:p>
        </p:txBody>
      </p:sp>
      <p:sp>
        <p:nvSpPr>
          <p:cNvPr id="19" name="Shape 17"/>
          <p:cNvSpPr/>
          <p:nvPr/>
        </p:nvSpPr>
        <p:spPr>
          <a:xfrm>
            <a:off x="256032" y="4041648"/>
            <a:ext cx="8631936" cy="749808"/>
          </a:xfrm>
          <a:prstGeom prst="roundRect">
            <a:avLst>
              <a:gd name="adj" fmla="val 12195"/>
            </a:avLst>
          </a:prstGeom>
          <a:solidFill>
            <a:srgbClr val="34B76F"/>
          </a:solidFill>
          <a:ln w="12700">
            <a:solidFill>
              <a:srgbClr val="2A9A5C"/>
            </a:solidFill>
            <a:prstDash val="solid"/>
          </a:ln>
        </p:spPr>
      </p:sp>
      <p:sp>
        <p:nvSpPr>
          <p:cNvPr id="20" name="Text 18"/>
          <p:cNvSpPr/>
          <p:nvPr/>
        </p:nvSpPr>
        <p:spPr>
          <a:xfrm>
            <a:off x="438912" y="4114800"/>
            <a:ext cx="1463040" cy="228600"/>
          </a:xfrm>
          <a:prstGeom prst="rect">
            <a:avLst/>
          </a:prstGeom>
          <a:noFill/>
          <a:ln/>
        </p:spPr>
        <p:txBody>
          <a:bodyPr wrap="square" lIns="0" tIns="0" rIns="0" bIns="0" rtlCol="0" anchor="ctr"/>
          <a:lstStyle/>
          <a:p>
            <a:pPr indent="0" marL="0">
              <a:buNone/>
            </a:pPr>
            <a:r>
              <a:rPr lang="en-US" sz="900" b="1" spc="150" kern="0" dirty="0">
                <a:solidFill>
                  <a:srgbClr val="FFFFFF"/>
                </a:solidFill>
                <a:latin typeface="Calibri" pitchFamily="34" charset="0"/>
                <a:ea typeface="Calibri" pitchFamily="34" charset="-122"/>
                <a:cs typeface="Calibri" pitchFamily="34" charset="-120"/>
              </a:rPr>
              <a:t>PRESENT DAY:</a:t>
            </a:r>
            <a:endParaRPr lang="en-US" sz="900" dirty="0"/>
          </a:p>
        </p:txBody>
      </p:sp>
      <p:sp>
        <p:nvSpPr>
          <p:cNvPr id="21" name="Text 19"/>
          <p:cNvSpPr/>
          <p:nvPr/>
        </p:nvSpPr>
        <p:spPr>
          <a:xfrm>
            <a:off x="438912" y="4315968"/>
            <a:ext cx="8321040" cy="36576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Descendants of Florida's Native peoples are still here today. The Seminole and Miccosukee Tribes live in Florida now — and carry these histories forward.</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9144000" cy="548640"/>
          </a:xfrm>
          <a:prstGeom prst="rect">
            <a:avLst/>
          </a:prstGeom>
          <a:solidFill>
            <a:srgbClr val="0E1C42"/>
          </a:solidFill>
          <a:ln w="12700">
            <a:solidFill>
              <a:srgbClr val="0E1C42"/>
            </a:solidFill>
            <a:prstDash val="solid"/>
          </a:ln>
        </p:spPr>
      </p:sp>
      <p:sp>
        <p:nvSpPr>
          <p:cNvPr id="4" name="Text 2"/>
          <p:cNvSpPr/>
          <p:nvPr/>
        </p:nvSpPr>
        <p:spPr>
          <a:xfrm>
            <a:off x="274320" y="91440"/>
            <a:ext cx="6400800" cy="274320"/>
          </a:xfrm>
          <a:prstGeom prst="rect">
            <a:avLst/>
          </a:prstGeom>
          <a:noFill/>
          <a:ln/>
        </p:spPr>
        <p:txBody>
          <a:bodyPr wrap="square" lIns="0" tIns="0" rIns="0" bIns="0" rtlCol="0" anchor="ctr"/>
          <a:lstStyle/>
          <a:p>
            <a:pPr indent="0" marL="0">
              <a:buNone/>
            </a:pPr>
            <a:r>
              <a:rPr lang="en-US" sz="1000" b="1" spc="200" kern="0" dirty="0">
                <a:solidFill>
                  <a:srgbClr val="55C8E8"/>
                </a:solidFill>
                <a:latin typeface="Calibri" pitchFamily="34" charset="0"/>
                <a:ea typeface="Calibri" pitchFamily="34" charset="-122"/>
                <a:cs typeface="Calibri" pitchFamily="34" charset="-120"/>
              </a:rPr>
              <a:t>CLUE BOX  |  STUDY THE SOURCE</a:t>
            </a:r>
            <a:endParaRPr lang="en-US" sz="1000" dirty="0"/>
          </a:p>
        </p:txBody>
      </p:sp>
      <p:sp>
        <p:nvSpPr>
          <p:cNvPr id="5" name="Text 3"/>
          <p:cNvSpPr/>
          <p:nvPr/>
        </p:nvSpPr>
        <p:spPr>
          <a:xfrm>
            <a:off x="274320" y="658368"/>
            <a:ext cx="5486400" cy="457200"/>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What does this source show us?</a:t>
            </a:r>
            <a:endParaRPr lang="en-US" sz="2200" dirty="0"/>
          </a:p>
        </p:txBody>
      </p:sp>
      <p:sp>
        <p:nvSpPr>
          <p:cNvPr id="6" name="Shape 4"/>
          <p:cNvSpPr/>
          <p:nvPr/>
        </p:nvSpPr>
        <p:spPr>
          <a:xfrm>
            <a:off x="256032" y="1188720"/>
            <a:ext cx="5029200" cy="2926080"/>
          </a:xfrm>
          <a:prstGeom prst="roundRect">
            <a:avLst>
              <a:gd name="adj" fmla="val 3750"/>
            </a:avLst>
          </a:prstGeom>
          <a:solidFill>
            <a:srgbClr val="E2E8F4"/>
          </a:solidFill>
          <a:ln w="19050">
            <a:solidFill>
              <a:srgbClr val="B0B8CC"/>
            </a:solidFill>
            <a:prstDash val="dash"/>
          </a:ln>
        </p:spPr>
      </p:sp>
      <p:sp>
        <p:nvSpPr>
          <p:cNvPr id="7" name="Text 5"/>
          <p:cNvSpPr/>
          <p:nvPr/>
        </p:nvSpPr>
        <p:spPr>
          <a:xfrm>
            <a:off x="256032" y="1188720"/>
            <a:ext cx="50292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8" name="Text 6"/>
          <p:cNvSpPr/>
          <p:nvPr/>
        </p:nvSpPr>
        <p:spPr>
          <a:xfrm>
            <a:off x="393192" y="1463040"/>
            <a:ext cx="4754880" cy="25603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Museum illustration of a Timucua or Apalachee village: thatched longhouses, community gathering space, people going about daily life — OR a population decline chart showing Native Florida population 1500s-1700s.</a:t>
            </a:r>
            <a:endParaRPr lang="en-US" sz="1100" dirty="0"/>
          </a:p>
        </p:txBody>
      </p:sp>
      <p:sp>
        <p:nvSpPr>
          <p:cNvPr id="9" name="Shape 7"/>
          <p:cNvSpPr/>
          <p:nvPr/>
        </p:nvSpPr>
        <p:spPr>
          <a:xfrm>
            <a:off x="256032" y="4224528"/>
            <a:ext cx="2286000" cy="438912"/>
          </a:xfrm>
          <a:prstGeom prst="roundRect">
            <a:avLst>
              <a:gd name="adj" fmla="val 20833"/>
            </a:avLst>
          </a:prstGeom>
          <a:solidFill>
            <a:srgbClr val="1A2D5A"/>
          </a:solidFill>
          <a:ln w="12700">
            <a:solidFill>
              <a:srgbClr val="3A5080"/>
            </a:solidFill>
            <a:prstDash val="solid"/>
          </a:ln>
        </p:spPr>
      </p:sp>
      <p:sp>
        <p:nvSpPr>
          <p:cNvPr id="10" name="Text 8"/>
          <p:cNvSpPr/>
          <p:nvPr/>
        </p:nvSpPr>
        <p:spPr>
          <a:xfrm>
            <a:off x="365760" y="4315968"/>
            <a:ext cx="2084832" cy="256032"/>
          </a:xfrm>
          <a:prstGeom prst="rect">
            <a:avLst/>
          </a:prstGeom>
          <a:noFill/>
          <a:ln/>
        </p:spPr>
        <p:txBody>
          <a:bodyPr wrap="square" lIns="0" tIns="0" rIns="0" bIns="0" rtlCol="0" anchor="ctr"/>
          <a:lstStyle/>
          <a:p>
            <a:pPr indent="0" marL="0">
              <a:buNone/>
            </a:pPr>
            <a:r>
              <a:rPr lang="en-US" sz="1000" b="1" i="1" dirty="0">
                <a:solidFill>
                  <a:srgbClr val="55C8E8"/>
                </a:solidFill>
                <a:latin typeface="Calibri" pitchFamily="34" charset="0"/>
                <a:ea typeface="Calibri" pitchFamily="34" charset="-122"/>
                <a:cs typeface="Calibri" pitchFamily="34" charset="-120"/>
              </a:rPr>
              <a:t>5 seconds — look carefully</a:t>
            </a:r>
            <a:endParaRPr lang="en-US" sz="1000" dirty="0"/>
          </a:p>
        </p:txBody>
      </p:sp>
      <p:sp>
        <p:nvSpPr>
          <p:cNvPr id="11" name="Shape 9"/>
          <p:cNvSpPr/>
          <p:nvPr/>
        </p:nvSpPr>
        <p:spPr>
          <a:xfrm>
            <a:off x="5486400" y="1188720"/>
            <a:ext cx="3364992" cy="2148840"/>
          </a:xfrm>
          <a:prstGeom prst="roundRect">
            <a:avLst>
              <a:gd name="adj" fmla="val 5106"/>
            </a:avLst>
          </a:prstGeom>
          <a:solidFill>
            <a:srgbClr val="FFF3DC"/>
          </a:solidFill>
          <a:ln w="19050">
            <a:solidFill>
              <a:srgbClr val="F5E6C8"/>
            </a:solidFill>
            <a:prstDash val="solid"/>
          </a:ln>
        </p:spPr>
      </p:sp>
      <p:sp>
        <p:nvSpPr>
          <p:cNvPr id="12" name="Text 10"/>
          <p:cNvSpPr/>
          <p:nvPr/>
        </p:nvSpPr>
        <p:spPr>
          <a:xfrm>
            <a:off x="5623560" y="1243584"/>
            <a:ext cx="3090672"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3" name="Text 11"/>
          <p:cNvSpPr/>
          <p:nvPr/>
        </p:nvSpPr>
        <p:spPr>
          <a:xfrm>
            <a:off x="5623560" y="1444752"/>
            <a:ext cx="3090672" cy="18288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notice... and it makes me wonder..."</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this source is showing us... because..."</a:t>
            </a:r>
            <a:endParaRPr lang="en-US" sz="1200" dirty="0"/>
          </a:p>
        </p:txBody>
      </p:sp>
      <p:sp>
        <p:nvSpPr>
          <p:cNvPr id="14" name="Shape 12"/>
          <p:cNvSpPr/>
          <p:nvPr/>
        </p:nvSpPr>
        <p:spPr>
          <a:xfrm>
            <a:off x="5486400" y="3456432"/>
            <a:ext cx="3364992" cy="1005840"/>
          </a:xfrm>
          <a:prstGeom prst="roundRect">
            <a:avLst>
              <a:gd name="adj" fmla="val 9091"/>
            </a:avLst>
          </a:prstGeom>
          <a:solidFill>
            <a:srgbClr val="E2E8F4"/>
          </a:solidFill>
          <a:ln w="12700">
            <a:solidFill>
              <a:srgbClr val="B0B8CC"/>
            </a:solidFill>
            <a:prstDash val="solid"/>
          </a:ln>
        </p:spPr>
      </p:sp>
      <p:sp>
        <p:nvSpPr>
          <p:cNvPr id="15" name="Text 13"/>
          <p:cNvSpPr/>
          <p:nvPr/>
        </p:nvSpPr>
        <p:spPr>
          <a:xfrm>
            <a:off x="5650992" y="3547872"/>
            <a:ext cx="2560320" cy="201168"/>
          </a:xfrm>
          <a:prstGeom prst="rect">
            <a:avLst/>
          </a:prstGeom>
          <a:noFill/>
          <a:ln/>
        </p:spPr>
        <p:txBody>
          <a:bodyPr wrap="square" lIns="0" tIns="0" rIns="0" bIns="0"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SOURCE TYPE</a:t>
            </a:r>
            <a:endParaRPr lang="en-US" sz="900" dirty="0"/>
          </a:p>
        </p:txBody>
      </p:sp>
      <p:sp>
        <p:nvSpPr>
          <p:cNvPr id="16" name="Text 14"/>
          <p:cNvSpPr/>
          <p:nvPr/>
        </p:nvSpPr>
        <p:spPr>
          <a:xfrm>
            <a:off x="5650992" y="3767328"/>
            <a:ext cx="3017520" cy="594360"/>
          </a:xfrm>
          <a:prstGeom prst="rect">
            <a:avLst/>
          </a:prstGeom>
          <a:noFill/>
          <a:ln/>
        </p:spPr>
        <p:txBody>
          <a:bodyPr wrap="square" lIns="0" tIns="0" rIns="0" bIns="0" rtlCol="0" anchor="t"/>
          <a:lstStyle/>
          <a:p>
            <a:pPr indent="0" marL="0">
              <a:buNone/>
            </a:pPr>
            <a:r>
              <a:rPr lang="en-US" sz="1100" i="1" dirty="0">
                <a:solidFill>
                  <a:srgbClr val="0E1C42"/>
                </a:solidFill>
                <a:latin typeface="Calibri" pitchFamily="34" charset="0"/>
                <a:ea typeface="Calibri" pitchFamily="34" charset="-122"/>
                <a:cs typeface="Calibri" pitchFamily="34" charset="-120"/>
              </a:rPr>
              <a:t>What kind of source is this? Who created it — and when?</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9144000" cy="548640"/>
          </a:xfrm>
          <a:prstGeom prst="rect">
            <a:avLst/>
          </a:prstGeom>
          <a:solidFill>
            <a:srgbClr val="0E1C42"/>
          </a:solidFill>
          <a:ln w="12700">
            <a:solidFill>
              <a:srgbClr val="0E1C42"/>
            </a:solidFill>
            <a:prstDash val="solid"/>
          </a:ln>
        </p:spPr>
      </p:sp>
      <p:sp>
        <p:nvSpPr>
          <p:cNvPr id="4" name="Text 2"/>
          <p:cNvSpPr/>
          <p:nvPr/>
        </p:nvSpPr>
        <p:spPr>
          <a:xfrm>
            <a:off x="274320" y="91440"/>
            <a:ext cx="7315200" cy="274320"/>
          </a:xfrm>
          <a:prstGeom prst="rect">
            <a:avLst/>
          </a:prstGeom>
          <a:noFill/>
          <a:ln/>
        </p:spPr>
        <p:txBody>
          <a:bodyPr wrap="square" lIns="0" tIns="0" rIns="0" bIns="0"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SOURCE EVALUATION  |  FIELD HISTORIAN SKILL</a:t>
            </a:r>
            <a:endParaRPr lang="en-US" sz="1000" dirty="0"/>
          </a:p>
        </p:txBody>
      </p:sp>
      <p:sp>
        <p:nvSpPr>
          <p:cNvPr id="5" name="Text 3"/>
          <p:cNvSpPr/>
          <p:nvPr/>
        </p:nvSpPr>
        <p:spPr>
          <a:xfrm>
            <a:off x="274320" y="658368"/>
            <a:ext cx="8229600" cy="457200"/>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Thinking Critically About Our Sources</a:t>
            </a:r>
            <a:endParaRPr lang="en-US" sz="2400" dirty="0"/>
          </a:p>
        </p:txBody>
      </p:sp>
      <p:sp>
        <p:nvSpPr>
          <p:cNvPr id="6" name="Shape 4"/>
          <p:cNvSpPr/>
          <p:nvPr/>
        </p:nvSpPr>
        <p:spPr>
          <a:xfrm>
            <a:off x="274320" y="1234440"/>
            <a:ext cx="5120640" cy="2880360"/>
          </a:xfrm>
          <a:prstGeom prst="roundRect">
            <a:avLst>
              <a:gd name="adj" fmla="val 4762"/>
            </a:avLst>
          </a:prstGeom>
          <a:solidFill>
            <a:srgbClr val="1A2D5A"/>
          </a:solidFill>
          <a:ln/>
          <a:effectLst>
            <a:outerShdw sx="100000" sy="100000" kx="0" ky="0" algn="bl" rotWithShape="0" blurRad="101600" dist="38100" dir="8100000">
              <a:srgbClr val="000000">
                <a:alpha val="20000"/>
              </a:srgbClr>
            </a:outerShdw>
          </a:effectLst>
        </p:spPr>
      </p:sp>
      <p:sp>
        <p:nvSpPr>
          <p:cNvPr id="7" name="Text 5"/>
          <p:cNvSpPr/>
          <p:nvPr/>
        </p:nvSpPr>
        <p:spPr>
          <a:xfrm>
            <a:off x="457200" y="1325880"/>
            <a:ext cx="4754880" cy="2560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EVALUATE THE SOURCE</a:t>
            </a:r>
            <a:endParaRPr lang="en-US" sz="900" dirty="0"/>
          </a:p>
        </p:txBody>
      </p:sp>
      <p:sp>
        <p:nvSpPr>
          <p:cNvPr id="8" name="Text 6"/>
          <p:cNvSpPr/>
          <p:nvPr/>
        </p:nvSpPr>
        <p:spPr>
          <a:xfrm>
            <a:off x="457200" y="1581912"/>
            <a:ext cx="4754880" cy="244144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Who created this source — and why? What was their purpose?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Whose voice is missing from this record? Who is NOT speaking?</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this look like from the perspective of someone who lived in this community?</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Is this source enough to tell the whole story? What else would we need?</a:t>
            </a:r>
            <a:endParaRPr lang="en-US" sz="1100" dirty="0"/>
          </a:p>
        </p:txBody>
      </p:sp>
      <p:sp>
        <p:nvSpPr>
          <p:cNvPr id="9" name="Shape 7"/>
          <p:cNvSpPr/>
          <p:nvPr/>
        </p:nvSpPr>
        <p:spPr>
          <a:xfrm>
            <a:off x="5623560" y="1234440"/>
            <a:ext cx="3218688" cy="1417320"/>
          </a:xfrm>
          <a:prstGeom prst="roundRect">
            <a:avLst>
              <a:gd name="adj" fmla="val 7742"/>
            </a:avLst>
          </a:prstGeom>
          <a:solidFill>
            <a:srgbClr val="1A2D5A"/>
          </a:solidFill>
          <a:ln w="12700">
            <a:solidFill>
              <a:srgbClr val="3A5080"/>
            </a:solidFill>
            <a:prstDash val="solid"/>
          </a:ln>
        </p:spPr>
      </p:sp>
      <p:sp>
        <p:nvSpPr>
          <p:cNvPr id="10" name="Text 8"/>
          <p:cNvSpPr/>
          <p:nvPr/>
        </p:nvSpPr>
        <p:spPr>
          <a:xfrm>
            <a:off x="5806440" y="1325880"/>
            <a:ext cx="2743200" cy="228600"/>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TYPES OF EVIDENCE</a:t>
            </a:r>
            <a:endParaRPr lang="en-US" sz="900" dirty="0"/>
          </a:p>
        </p:txBody>
      </p:sp>
      <p:sp>
        <p:nvSpPr>
          <p:cNvPr id="11" name="Text 9"/>
          <p:cNvSpPr/>
          <p:nvPr/>
        </p:nvSpPr>
        <p:spPr>
          <a:xfrm>
            <a:off x="5806440" y="1581912"/>
            <a:ext cx="2834640" cy="96012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Spanish written records</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Archaeological finds (artifacts, tools, sites)</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Native oral traditions passed down through generations</a:t>
            </a:r>
            <a:endParaRPr lang="en-US" sz="1100" dirty="0"/>
          </a:p>
        </p:txBody>
      </p:sp>
      <p:sp>
        <p:nvSpPr>
          <p:cNvPr id="12" name="Shape 10"/>
          <p:cNvSpPr/>
          <p:nvPr/>
        </p:nvSpPr>
        <p:spPr>
          <a:xfrm>
            <a:off x="5623560" y="2953512"/>
            <a:ext cx="3218688" cy="1161288"/>
          </a:xfrm>
          <a:prstGeom prst="roundRect">
            <a:avLst>
              <a:gd name="adj" fmla="val 9449"/>
            </a:avLst>
          </a:prstGeom>
          <a:solidFill>
            <a:srgbClr val="FFF3DC"/>
          </a:solidFill>
          <a:ln w="19050">
            <a:solidFill>
              <a:srgbClr val="F5E6C8"/>
            </a:solidFill>
            <a:prstDash val="solid"/>
          </a:ln>
        </p:spPr>
      </p:sp>
      <p:sp>
        <p:nvSpPr>
          <p:cNvPr id="13" name="Text 11"/>
          <p:cNvSpPr/>
          <p:nvPr/>
        </p:nvSpPr>
        <p:spPr>
          <a:xfrm>
            <a:off x="5806440" y="3044952"/>
            <a:ext cx="2743200" cy="228600"/>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IMPORTANT</a:t>
            </a:r>
            <a:endParaRPr lang="en-US" sz="900" dirty="0"/>
          </a:p>
        </p:txBody>
      </p:sp>
      <p:sp>
        <p:nvSpPr>
          <p:cNvPr id="14" name="Text 12"/>
          <p:cNvSpPr/>
          <p:nvPr/>
        </p:nvSpPr>
        <p:spPr>
          <a:xfrm>
            <a:off x="5806440" y="3310128"/>
            <a:ext cx="2834640" cy="713232"/>
          </a:xfrm>
          <a:prstGeom prst="rect">
            <a:avLst/>
          </a:prstGeom>
          <a:noFill/>
          <a:ln/>
        </p:spPr>
        <p:txBody>
          <a:bodyPr wrap="square" lIns="0" tIns="0" rIns="0" bIns="0" rtlCol="0" anchor="t"/>
          <a:lstStyle/>
          <a:p>
            <a:pPr indent="0" marL="0">
              <a:buNone/>
            </a:pPr>
            <a:r>
              <a:rPr lang="en-US" sz="1100" dirty="0">
                <a:solidFill>
                  <a:srgbClr val="5A4A3A"/>
                </a:solidFill>
                <a:latin typeface="Calibri" pitchFamily="34" charset="0"/>
                <a:ea typeface="Calibri" pitchFamily="34" charset="-122"/>
                <a:cs typeface="Calibri" pitchFamily="34" charset="-120"/>
              </a:rPr>
              <a:t>Oral tradition is valid evidence. Stories passed down by Native communities about their own history count as historical sources — just like written records do.</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Text 2"/>
          <p:cNvSpPr/>
          <p:nvPr/>
        </p:nvSpPr>
        <p:spPr>
          <a:xfrm>
            <a:off x="320040" y="502920"/>
            <a:ext cx="2743200" cy="320040"/>
          </a:xfrm>
          <a:prstGeom prst="rect">
            <a:avLst/>
          </a:prstGeom>
          <a:noFill/>
          <a:ln/>
        </p:spPr>
        <p:txBody>
          <a:bodyPr wrap="square" lIns="0" tIns="0" rIns="0" bIns="0" rtlCol="0" anchor="ctr"/>
          <a:lstStyle/>
          <a:p>
            <a:pPr indent="0" marL="0">
              <a:buNone/>
            </a:pPr>
            <a:r>
              <a:rPr lang="en-US" sz="1100" b="1" spc="250" kern="0" dirty="0">
                <a:solidFill>
                  <a:srgbClr val="D4943A"/>
                </a:solidFill>
                <a:latin typeface="Calibri" pitchFamily="34" charset="0"/>
                <a:ea typeface="Calibri" pitchFamily="34" charset="-122"/>
                <a:cs typeface="Calibri" pitchFamily="34" charset="-120"/>
              </a:rPr>
              <a:t>EFFECT #1</a:t>
            </a:r>
            <a:endParaRPr lang="en-US" sz="1100" dirty="0"/>
          </a:p>
        </p:txBody>
      </p:sp>
      <p:sp>
        <p:nvSpPr>
          <p:cNvPr id="6" name="Shape 3"/>
          <p:cNvSpPr/>
          <p:nvPr/>
        </p:nvSpPr>
        <p:spPr>
          <a:xfrm>
            <a:off x="320040" y="896112"/>
            <a:ext cx="8503920" cy="45720"/>
          </a:xfrm>
          <a:prstGeom prst="rect">
            <a:avLst/>
          </a:prstGeom>
          <a:solidFill>
            <a:srgbClr val="D4943A"/>
          </a:solidFill>
          <a:ln w="12700">
            <a:solidFill>
              <a:srgbClr val="D4943A"/>
            </a:solidFill>
            <a:prstDash val="solid"/>
          </a:ln>
        </p:spPr>
      </p:sp>
      <p:sp>
        <p:nvSpPr>
          <p:cNvPr id="7" name="Text 4"/>
          <p:cNvSpPr/>
          <p:nvPr/>
        </p:nvSpPr>
        <p:spPr>
          <a:xfrm>
            <a:off x="320040" y="1005840"/>
            <a:ext cx="8229600" cy="713232"/>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New Diseases</a:t>
            </a:r>
            <a:endParaRPr lang="en-US" sz="4000" dirty="0"/>
          </a:p>
        </p:txBody>
      </p:sp>
      <p:sp>
        <p:nvSpPr>
          <p:cNvPr id="8" name="Text 5"/>
          <p:cNvSpPr/>
          <p:nvPr/>
        </p:nvSpPr>
        <p:spPr>
          <a:xfrm>
            <a:off x="320040" y="1828800"/>
            <a:ext cx="8321040" cy="822960"/>
          </a:xfrm>
          <a:prstGeom prst="rect">
            <a:avLst/>
          </a:prstGeom>
          <a:noFill/>
          <a:ln/>
        </p:spPr>
        <p:txBody>
          <a:bodyPr wrap="square" lIns="0" tIns="0" rIns="0" bIns="0" rtlCol="0" anchor="ctr"/>
          <a:lstStyle/>
          <a:p>
            <a:pPr indent="0" marL="0">
              <a:buNone/>
            </a:pPr>
            <a:r>
              <a:rPr lang="en-US" sz="1700" dirty="0">
                <a:solidFill>
                  <a:srgbClr val="F0F2F8"/>
                </a:solidFill>
                <a:latin typeface="Calibri" pitchFamily="34" charset="0"/>
                <a:ea typeface="Calibri" pitchFamily="34" charset="-122"/>
                <a:cs typeface="Calibri" pitchFamily="34" charset="-120"/>
              </a:rPr>
              <a:t>Because Native peoples had no immunity to European diseases like smallpox and measles, diseases spread quickly — and caused the greatest loss of life of any effect of colonization.</a:t>
            </a:r>
            <a:endParaRPr lang="en-US" sz="1700" dirty="0"/>
          </a:p>
        </p:txBody>
      </p:sp>
      <p:sp>
        <p:nvSpPr>
          <p:cNvPr id="9" name="Shape 6"/>
          <p:cNvSpPr/>
          <p:nvPr/>
        </p:nvSpPr>
        <p:spPr>
          <a:xfrm>
            <a:off x="320040" y="2788920"/>
            <a:ext cx="3977640" cy="1097280"/>
          </a:xfrm>
          <a:prstGeom prst="roundRect">
            <a:avLst>
              <a:gd name="adj" fmla="val 10000"/>
            </a:avLst>
          </a:prstGeom>
          <a:solidFill>
            <a:srgbClr val="1A2D5A"/>
          </a:solidFill>
          <a:ln w="19050">
            <a:solidFill>
              <a:srgbClr val="3A5080"/>
            </a:solidFill>
            <a:prstDash val="solid"/>
          </a:ln>
        </p:spPr>
      </p:sp>
      <p:sp>
        <p:nvSpPr>
          <p:cNvPr id="10" name="Text 7"/>
          <p:cNvSpPr/>
          <p:nvPr/>
        </p:nvSpPr>
        <p:spPr>
          <a:xfrm>
            <a:off x="502920" y="2862072"/>
            <a:ext cx="2286000" cy="228600"/>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KEY TERM</a:t>
            </a:r>
            <a:endParaRPr lang="en-US" sz="900" dirty="0"/>
          </a:p>
        </p:txBody>
      </p:sp>
      <p:sp>
        <p:nvSpPr>
          <p:cNvPr id="11" name="Text 8"/>
          <p:cNvSpPr/>
          <p:nvPr/>
        </p:nvSpPr>
        <p:spPr>
          <a:xfrm>
            <a:off x="502920" y="3108960"/>
            <a:ext cx="3611880" cy="68580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disease — sickness. New diseases spread quickly among Native peoples because their bodies had never been exposed to them before and had no defenses.</a:t>
            </a:r>
            <a:endParaRPr lang="en-US" sz="1200" dirty="0"/>
          </a:p>
        </p:txBody>
      </p:sp>
      <p:sp>
        <p:nvSpPr>
          <p:cNvPr id="12" name="Shape 9"/>
          <p:cNvSpPr/>
          <p:nvPr/>
        </p:nvSpPr>
        <p:spPr>
          <a:xfrm>
            <a:off x="4526280" y="2788920"/>
            <a:ext cx="4315968" cy="1097280"/>
          </a:xfrm>
          <a:prstGeom prst="roundRect">
            <a:avLst>
              <a:gd name="adj" fmla="val 10000"/>
            </a:avLst>
          </a:prstGeom>
          <a:solidFill>
            <a:srgbClr val="1A2D5A"/>
          </a:solidFill>
          <a:ln w="19050">
            <a:solidFill>
              <a:srgbClr val="3A5080"/>
            </a:solidFill>
            <a:prstDash val="solid"/>
          </a:ln>
        </p:spPr>
      </p:sp>
      <p:sp>
        <p:nvSpPr>
          <p:cNvPr id="13" name="Text 10"/>
          <p:cNvSpPr/>
          <p:nvPr/>
        </p:nvSpPr>
        <p:spPr>
          <a:xfrm>
            <a:off x="4709160" y="2862072"/>
            <a:ext cx="2743200" cy="228600"/>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KEY TERM</a:t>
            </a:r>
            <a:endParaRPr lang="en-US" sz="900" dirty="0"/>
          </a:p>
        </p:txBody>
      </p:sp>
      <p:sp>
        <p:nvSpPr>
          <p:cNvPr id="14" name="Text 11"/>
          <p:cNvSpPr/>
          <p:nvPr/>
        </p:nvSpPr>
        <p:spPr>
          <a:xfrm>
            <a:off x="4709160" y="3108960"/>
            <a:ext cx="3977640" cy="68580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consequence — result or effect. The consequence of disease was a dramatic decline in Native population across Florida within generations of European arrival.</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9144000" cy="548640"/>
          </a:xfrm>
          <a:prstGeom prst="rect">
            <a:avLst/>
          </a:prstGeom>
          <a:solidFill>
            <a:srgbClr val="0E1C42"/>
          </a:solidFill>
          <a:ln w="12700">
            <a:solidFill>
              <a:srgbClr val="0E1C42"/>
            </a:solidFill>
            <a:prstDash val="solid"/>
          </a:ln>
        </p:spPr>
      </p:sp>
      <p:sp>
        <p:nvSpPr>
          <p:cNvPr id="4" name="Text 2"/>
          <p:cNvSpPr/>
          <p:nvPr/>
        </p:nvSpPr>
        <p:spPr>
          <a:xfrm>
            <a:off x="274320" y="91440"/>
            <a:ext cx="8229600" cy="274320"/>
          </a:xfrm>
          <a:prstGeom prst="rect">
            <a:avLst/>
          </a:prstGeom>
          <a:noFill/>
          <a:ln/>
        </p:spPr>
        <p:txBody>
          <a:bodyPr wrap="square" lIns="0" tIns="0" rIns="0" bIns="0" rtlCol="0" anchor="ctr"/>
          <a:lstStyle/>
          <a:p>
            <a:pPr indent="0" marL="0">
              <a:buNone/>
            </a:pPr>
            <a:r>
              <a:rPr lang="en-US" sz="1000" b="1" spc="200" kern="0" dirty="0">
                <a:solidFill>
                  <a:srgbClr val="55C8E8"/>
                </a:solidFill>
                <a:latin typeface="Calibri" pitchFamily="34" charset="0"/>
                <a:ea typeface="Calibri" pitchFamily="34" charset="-122"/>
                <a:cs typeface="Calibri" pitchFamily="34" charset="-120"/>
              </a:rPr>
              <a:t>MULTI-SOURCE COMPARE  |  TWO SOURCES, ONE EVENT</a:t>
            </a:r>
            <a:endParaRPr lang="en-US" sz="1000" dirty="0"/>
          </a:p>
        </p:txBody>
      </p:sp>
      <p:sp>
        <p:nvSpPr>
          <p:cNvPr id="5" name="Text 3"/>
          <p:cNvSpPr/>
          <p:nvPr/>
        </p:nvSpPr>
        <p:spPr>
          <a:xfrm>
            <a:off x="274320" y="658368"/>
            <a:ext cx="8229600" cy="457200"/>
          </a:xfrm>
          <a:prstGeom prst="rect">
            <a:avLst/>
          </a:prstGeom>
          <a:noFill/>
          <a:ln/>
        </p:spPr>
        <p:txBody>
          <a:bodyPr wrap="square" lIns="0" tIns="0" rIns="0" bIns="0" rtlCol="0" anchor="ctr"/>
          <a:lstStyle/>
          <a:p>
            <a:pPr indent="0" marL="0">
              <a:buNone/>
            </a:pPr>
            <a:r>
              <a:rPr lang="en-US" sz="2100" b="1" dirty="0">
                <a:solidFill>
                  <a:srgbClr val="0E1C42"/>
                </a:solidFill>
                <a:latin typeface="Cambria" pitchFamily="34" charset="0"/>
                <a:ea typeface="Cambria" pitchFamily="34" charset="-122"/>
                <a:cs typeface="Cambria" pitchFamily="34" charset="-120"/>
              </a:rPr>
              <a:t>Same event — different sources. What do we learn from each?</a:t>
            </a:r>
            <a:endParaRPr lang="en-US" sz="2100" dirty="0"/>
          </a:p>
        </p:txBody>
      </p:sp>
      <p:sp>
        <p:nvSpPr>
          <p:cNvPr id="6" name="Text 4"/>
          <p:cNvSpPr/>
          <p:nvPr/>
        </p:nvSpPr>
        <p:spPr>
          <a:xfrm>
            <a:off x="256032" y="1234440"/>
            <a:ext cx="3977640" cy="256032"/>
          </a:xfrm>
          <a:prstGeom prst="rect">
            <a:avLst/>
          </a:prstGeom>
          <a:noFill/>
          <a:ln/>
        </p:spPr>
        <p:txBody>
          <a:bodyPr wrap="square" lIns="0" tIns="0" rIns="0" bIns="0" rtlCol="0" anchor="ctr"/>
          <a:lstStyle/>
          <a:p>
            <a:pPr indent="0" marL="0">
              <a:buNone/>
            </a:pPr>
            <a:r>
              <a:rPr lang="en-US" sz="1000" b="1" spc="150" kern="0" dirty="0">
                <a:solidFill>
                  <a:srgbClr val="0E1C42"/>
                </a:solidFill>
                <a:latin typeface="Calibri" pitchFamily="34" charset="0"/>
                <a:ea typeface="Calibri" pitchFamily="34" charset="-122"/>
                <a:cs typeface="Calibri" pitchFamily="34" charset="-120"/>
              </a:rPr>
              <a:t>SOURCE A</a:t>
            </a:r>
            <a:endParaRPr lang="en-US" sz="1000" dirty="0"/>
          </a:p>
        </p:txBody>
      </p:sp>
      <p:sp>
        <p:nvSpPr>
          <p:cNvPr id="7" name="Shape 5"/>
          <p:cNvSpPr/>
          <p:nvPr/>
        </p:nvSpPr>
        <p:spPr>
          <a:xfrm>
            <a:off x="256032" y="1508760"/>
            <a:ext cx="3977640" cy="1965960"/>
          </a:xfrm>
          <a:prstGeom prst="roundRect">
            <a:avLst>
              <a:gd name="adj" fmla="val 5581"/>
            </a:avLst>
          </a:prstGeom>
          <a:solidFill>
            <a:srgbClr val="E2E8F4"/>
          </a:solidFill>
          <a:ln w="19050">
            <a:solidFill>
              <a:srgbClr val="B0B8CC"/>
            </a:solidFill>
            <a:prstDash val="dash"/>
          </a:ln>
        </p:spPr>
      </p:sp>
      <p:sp>
        <p:nvSpPr>
          <p:cNvPr id="8" name="Text 6"/>
          <p:cNvSpPr/>
          <p:nvPr/>
        </p:nvSpPr>
        <p:spPr>
          <a:xfrm>
            <a:off x="256032" y="1508760"/>
            <a:ext cx="397764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9" name="Text 7"/>
          <p:cNvSpPr/>
          <p:nvPr/>
        </p:nvSpPr>
        <p:spPr>
          <a:xfrm>
            <a:off x="393192" y="1783080"/>
            <a:ext cx="3703320" cy="16002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Spanish colonial record or missionary diary page describing disease spread among Native peoples — formal institutional document, 1500s-1600s style</a:t>
            </a:r>
            <a:endParaRPr lang="en-US" sz="1100" dirty="0"/>
          </a:p>
        </p:txBody>
      </p:sp>
      <p:sp>
        <p:nvSpPr>
          <p:cNvPr id="10" name="Text 8"/>
          <p:cNvSpPr/>
          <p:nvPr/>
        </p:nvSpPr>
        <p:spPr>
          <a:xfrm>
            <a:off x="256032" y="3520440"/>
            <a:ext cx="3977640" cy="384048"/>
          </a:xfrm>
          <a:prstGeom prst="rect">
            <a:avLst/>
          </a:prstGeom>
          <a:noFill/>
          <a:ln/>
        </p:spPr>
        <p:txBody>
          <a:bodyPr wrap="square" lIns="0" tIns="0" rIns="0" bIns="0" rtlCol="0" anchor="ctr"/>
          <a:lstStyle/>
          <a:p>
            <a:pPr algn="ctr" indent="0" marL="0">
              <a:buNone/>
            </a:pPr>
            <a:r>
              <a:rPr lang="en-US" sz="1100" i="1" dirty="0">
                <a:solidFill>
                  <a:srgbClr val="0E1C42"/>
                </a:solidFill>
                <a:latin typeface="Calibri" pitchFamily="34" charset="0"/>
                <a:ea typeface="Calibri" pitchFamily="34" charset="-122"/>
                <a:cs typeface="Calibri" pitchFamily="34" charset="-120"/>
              </a:rPr>
              <a:t>Spanish Written Records (1500s-1600s)</a:t>
            </a:r>
            <a:endParaRPr lang="en-US" sz="1100" dirty="0"/>
          </a:p>
        </p:txBody>
      </p:sp>
      <p:sp>
        <p:nvSpPr>
          <p:cNvPr id="11" name="Text 9"/>
          <p:cNvSpPr/>
          <p:nvPr/>
        </p:nvSpPr>
        <p:spPr>
          <a:xfrm>
            <a:off x="4910328" y="1234440"/>
            <a:ext cx="3977640" cy="256032"/>
          </a:xfrm>
          <a:prstGeom prst="rect">
            <a:avLst/>
          </a:prstGeom>
          <a:noFill/>
          <a:ln/>
        </p:spPr>
        <p:txBody>
          <a:bodyPr wrap="square" lIns="0" tIns="0" rIns="0" bIns="0" rtlCol="0" anchor="ctr"/>
          <a:lstStyle/>
          <a:p>
            <a:pPr indent="0" marL="0">
              <a:buNone/>
            </a:pPr>
            <a:r>
              <a:rPr lang="en-US" sz="1000" b="1" spc="150" kern="0" dirty="0">
                <a:solidFill>
                  <a:srgbClr val="0E1C42"/>
                </a:solidFill>
                <a:latin typeface="Calibri" pitchFamily="34" charset="0"/>
                <a:ea typeface="Calibri" pitchFamily="34" charset="-122"/>
                <a:cs typeface="Calibri" pitchFamily="34" charset="-120"/>
              </a:rPr>
              <a:t>SOURCE B</a:t>
            </a:r>
            <a:endParaRPr lang="en-US" sz="1000" dirty="0"/>
          </a:p>
        </p:txBody>
      </p:sp>
      <p:sp>
        <p:nvSpPr>
          <p:cNvPr id="12" name="Shape 10"/>
          <p:cNvSpPr/>
          <p:nvPr/>
        </p:nvSpPr>
        <p:spPr>
          <a:xfrm>
            <a:off x="4910328" y="1508760"/>
            <a:ext cx="3977640" cy="1965960"/>
          </a:xfrm>
          <a:prstGeom prst="roundRect">
            <a:avLst>
              <a:gd name="adj" fmla="val 5581"/>
            </a:avLst>
          </a:prstGeom>
          <a:solidFill>
            <a:srgbClr val="E2E8F4"/>
          </a:solidFill>
          <a:ln w="19050">
            <a:solidFill>
              <a:srgbClr val="B0B8CC"/>
            </a:solidFill>
            <a:prstDash val="dash"/>
          </a:ln>
        </p:spPr>
      </p:sp>
      <p:sp>
        <p:nvSpPr>
          <p:cNvPr id="13" name="Text 11"/>
          <p:cNvSpPr/>
          <p:nvPr/>
        </p:nvSpPr>
        <p:spPr>
          <a:xfrm>
            <a:off x="4910328" y="1508760"/>
            <a:ext cx="397764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4" name="Text 12"/>
          <p:cNvSpPr/>
          <p:nvPr/>
        </p:nvSpPr>
        <p:spPr>
          <a:xfrm>
            <a:off x="5047488" y="1783080"/>
            <a:ext cx="3703320" cy="16002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Archaeological site diagram or Native oral storytelling scene: should feel present and living, not museum-static. Captures evidence Native communities preserved for centuries.</a:t>
            </a:r>
            <a:endParaRPr lang="en-US" sz="1100" dirty="0"/>
          </a:p>
        </p:txBody>
      </p:sp>
      <p:sp>
        <p:nvSpPr>
          <p:cNvPr id="15" name="Text 13"/>
          <p:cNvSpPr/>
          <p:nvPr/>
        </p:nvSpPr>
        <p:spPr>
          <a:xfrm>
            <a:off x="4910328" y="3520440"/>
            <a:ext cx="3977640" cy="384048"/>
          </a:xfrm>
          <a:prstGeom prst="rect">
            <a:avLst/>
          </a:prstGeom>
          <a:noFill/>
          <a:ln/>
        </p:spPr>
        <p:txBody>
          <a:bodyPr wrap="square" lIns="0" tIns="0" rIns="0" bIns="0" rtlCol="0" anchor="ctr"/>
          <a:lstStyle/>
          <a:p>
            <a:pPr algn="ctr" indent="0" marL="0">
              <a:buNone/>
            </a:pPr>
            <a:r>
              <a:rPr lang="en-US" sz="1100" i="1" dirty="0">
                <a:solidFill>
                  <a:srgbClr val="0E1C42"/>
                </a:solidFill>
                <a:latin typeface="Calibri" pitchFamily="34" charset="0"/>
                <a:ea typeface="Calibri" pitchFamily="34" charset="-122"/>
                <a:cs typeface="Calibri" pitchFamily="34" charset="-120"/>
              </a:rPr>
              <a:t>Archaeological Evidence &amp; Native Oral Tradition</a:t>
            </a:r>
            <a:endParaRPr lang="en-US" sz="1100" dirty="0"/>
          </a:p>
        </p:txBody>
      </p:sp>
      <p:sp>
        <p:nvSpPr>
          <p:cNvPr id="16" name="Shape 14"/>
          <p:cNvSpPr/>
          <p:nvPr/>
        </p:nvSpPr>
        <p:spPr>
          <a:xfrm>
            <a:off x="256032" y="3977640"/>
            <a:ext cx="8631936" cy="868680"/>
          </a:xfrm>
          <a:prstGeom prst="roundRect">
            <a:avLst>
              <a:gd name="adj" fmla="val 12632"/>
            </a:avLst>
          </a:prstGeom>
          <a:solidFill>
            <a:srgbClr val="FFF3DC"/>
          </a:solidFill>
          <a:ln w="19050">
            <a:solidFill>
              <a:srgbClr val="F5E6C8"/>
            </a:solidFill>
            <a:prstDash val="solid"/>
          </a:ln>
        </p:spPr>
      </p:sp>
      <p:sp>
        <p:nvSpPr>
          <p:cNvPr id="17" name="Text 15"/>
          <p:cNvSpPr/>
          <p:nvPr/>
        </p:nvSpPr>
        <p:spPr>
          <a:xfrm>
            <a:off x="393192" y="4032504"/>
            <a:ext cx="8357616"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8" name="Text 16"/>
          <p:cNvSpPr/>
          <p:nvPr/>
        </p:nvSpPr>
        <p:spPr>
          <a:xfrm>
            <a:off x="393192" y="4233672"/>
            <a:ext cx="8357616" cy="5486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"Spanish written records say... but archaeological evidence and oral tradition suggest...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 source that is missing from both of these is... because..."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9144000" cy="548640"/>
          </a:xfrm>
          <a:prstGeom prst="rect">
            <a:avLst/>
          </a:prstGeom>
          <a:solidFill>
            <a:srgbClr val="0E1C42"/>
          </a:solidFill>
          <a:ln w="12700">
            <a:solidFill>
              <a:srgbClr val="0E1C42"/>
            </a:solidFill>
            <a:prstDash val="solid"/>
          </a:ln>
        </p:spPr>
      </p:sp>
      <p:sp>
        <p:nvSpPr>
          <p:cNvPr id="4" name="Text 2"/>
          <p:cNvSpPr/>
          <p:nvPr/>
        </p:nvSpPr>
        <p:spPr>
          <a:xfrm>
            <a:off x="274320" y="91440"/>
            <a:ext cx="6858000" cy="274320"/>
          </a:xfrm>
          <a:prstGeom prst="rect">
            <a:avLst/>
          </a:prstGeom>
          <a:noFill/>
          <a:ln/>
        </p:spPr>
        <p:txBody>
          <a:bodyPr wrap="square" lIns="0" tIns="0" rIns="0" bIns="0"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CAUSE AND EFFECT  |  THREE MORE EFFECTS</a:t>
            </a:r>
            <a:endParaRPr lang="en-US" sz="1000" dirty="0"/>
          </a:p>
        </p:txBody>
      </p:sp>
      <p:sp>
        <p:nvSpPr>
          <p:cNvPr id="5" name="Text 3"/>
          <p:cNvSpPr/>
          <p:nvPr/>
        </p:nvSpPr>
        <p:spPr>
          <a:xfrm>
            <a:off x="274320" y="658368"/>
            <a:ext cx="8229600" cy="457200"/>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What else did colonization change?</a:t>
            </a:r>
            <a:endParaRPr lang="en-US" sz="2400" dirty="0"/>
          </a:p>
        </p:txBody>
      </p:sp>
      <p:sp>
        <p:nvSpPr>
          <p:cNvPr id="6" name="Shape 4"/>
          <p:cNvSpPr/>
          <p:nvPr/>
        </p:nvSpPr>
        <p:spPr>
          <a:xfrm>
            <a:off x="164592" y="1234440"/>
            <a:ext cx="2743200" cy="347472"/>
          </a:xfrm>
          <a:prstGeom prst="roundRect">
            <a:avLst>
              <a:gd name="adj" fmla="val 21053"/>
            </a:avLst>
          </a:prstGeom>
          <a:solidFill>
            <a:srgbClr val="1A8A7D"/>
          </a:solidFill>
          <a:ln w="12700">
            <a:solidFill>
              <a:srgbClr val="1A8A7D"/>
            </a:solidFill>
            <a:prstDash val="solid"/>
          </a:ln>
        </p:spPr>
      </p:sp>
      <p:sp>
        <p:nvSpPr>
          <p:cNvPr id="7" name="Text 5"/>
          <p:cNvSpPr/>
          <p:nvPr/>
        </p:nvSpPr>
        <p:spPr>
          <a:xfrm>
            <a:off x="256032" y="1261872"/>
            <a:ext cx="256032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EFFECT #2: Mission System</a:t>
            </a:r>
            <a:endParaRPr lang="en-US" sz="1100" dirty="0"/>
          </a:p>
        </p:txBody>
      </p:sp>
      <p:sp>
        <p:nvSpPr>
          <p:cNvPr id="8" name="Shape 6"/>
          <p:cNvSpPr/>
          <p:nvPr/>
        </p:nvSpPr>
        <p:spPr>
          <a:xfrm>
            <a:off x="164592" y="1691640"/>
            <a:ext cx="2743200" cy="896112"/>
          </a:xfrm>
          <a:prstGeom prst="roundRect">
            <a:avLst>
              <a:gd name="adj" fmla="val 10204"/>
            </a:avLst>
          </a:prstGeom>
          <a:solidFill>
            <a:srgbClr val="E2E8F4"/>
          </a:solidFill>
          <a:ln w="12700">
            <a:solidFill>
              <a:srgbClr val="B0B8CC"/>
            </a:solidFill>
            <a:prstDash val="solid"/>
          </a:ln>
        </p:spPr>
      </p:sp>
      <p:sp>
        <p:nvSpPr>
          <p:cNvPr id="9" name="Text 7"/>
          <p:cNvSpPr/>
          <p:nvPr/>
        </p:nvSpPr>
        <p:spPr>
          <a:xfrm>
            <a:off x="274320" y="1755648"/>
            <a:ext cx="1828800" cy="201168"/>
          </a:xfrm>
          <a:prstGeom prst="rect">
            <a:avLst/>
          </a:prstGeom>
          <a:noFill/>
          <a:ln/>
        </p:spPr>
        <p:txBody>
          <a:bodyPr wrap="square" lIns="0" tIns="0" rIns="0" bIns="0" rtlCol="0" anchor="ctr"/>
          <a:lstStyle/>
          <a:p>
            <a:pPr indent="0" marL="0">
              <a:buNone/>
            </a:pPr>
            <a:r>
              <a:rPr lang="en-US" sz="900" b="1" spc="150" kern="0" dirty="0">
                <a:solidFill>
                  <a:srgbClr val="0E1C42"/>
                </a:solidFill>
                <a:latin typeface="Calibri" pitchFamily="34" charset="0"/>
                <a:ea typeface="Calibri" pitchFamily="34" charset="-122"/>
                <a:cs typeface="Calibri" pitchFamily="34" charset="-120"/>
              </a:rPr>
              <a:t>CAUSE</a:t>
            </a:r>
            <a:endParaRPr lang="en-US" sz="900" dirty="0"/>
          </a:p>
        </p:txBody>
      </p:sp>
      <p:sp>
        <p:nvSpPr>
          <p:cNvPr id="10" name="Text 8"/>
          <p:cNvSpPr/>
          <p:nvPr/>
        </p:nvSpPr>
        <p:spPr>
          <a:xfrm>
            <a:off x="274320" y="1965960"/>
            <a:ext cx="2523744" cy="548640"/>
          </a:xfrm>
          <a:prstGeom prst="rect">
            <a:avLst/>
          </a:prstGeom>
          <a:noFill/>
          <a:ln/>
        </p:spPr>
        <p:txBody>
          <a:bodyPr wrap="square" lIns="0" tIns="0" rIns="0" bIns="0" rtlCol="0" anchor="t"/>
          <a:lstStyle/>
          <a:p>
            <a:pPr indent="0" marL="0">
              <a:buNone/>
            </a:pPr>
            <a:r>
              <a:rPr lang="en-US" sz="1100" dirty="0">
                <a:solidFill>
                  <a:srgbClr val="0E1C42"/>
                </a:solidFill>
                <a:latin typeface="Calibri" pitchFamily="34" charset="0"/>
                <a:ea typeface="Calibri" pitchFamily="34" charset="-122"/>
                <a:cs typeface="Calibri" pitchFamily="34" charset="-120"/>
              </a:rPr>
              <a:t>Spanish built missions throughout Florida</a:t>
            </a:r>
            <a:endParaRPr lang="en-US" sz="1100" dirty="0"/>
          </a:p>
        </p:txBody>
      </p:sp>
      <p:sp>
        <p:nvSpPr>
          <p:cNvPr id="11" name="Text 9"/>
          <p:cNvSpPr/>
          <p:nvPr/>
        </p:nvSpPr>
        <p:spPr>
          <a:xfrm>
            <a:off x="987552" y="2651760"/>
            <a:ext cx="1097280" cy="274320"/>
          </a:xfrm>
          <a:prstGeom prst="rect">
            <a:avLst/>
          </a:prstGeom>
          <a:noFill/>
          <a:ln/>
        </p:spPr>
        <p:txBody>
          <a:bodyPr wrap="square" lIns="0" tIns="0" rIns="0" bIns="0" rtlCol="0" anchor="ctr"/>
          <a:lstStyle/>
          <a:p>
            <a:pPr algn="ctr" indent="0" marL="0">
              <a:buNone/>
            </a:pPr>
            <a:r>
              <a:rPr lang="en-US" sz="1400" b="1" dirty="0">
                <a:solidFill>
                  <a:srgbClr val="1A8A7D"/>
                </a:solidFill>
                <a:latin typeface="Calibri" pitchFamily="34" charset="0"/>
                <a:ea typeface="Calibri" pitchFamily="34" charset="-122"/>
                <a:cs typeface="Calibri" pitchFamily="34" charset="-120"/>
              </a:rPr>
              <a:t>=&gt;</a:t>
            </a:r>
            <a:endParaRPr lang="en-US" sz="1400" dirty="0"/>
          </a:p>
        </p:txBody>
      </p:sp>
      <p:sp>
        <p:nvSpPr>
          <p:cNvPr id="12" name="Shape 10"/>
          <p:cNvSpPr/>
          <p:nvPr/>
        </p:nvSpPr>
        <p:spPr>
          <a:xfrm>
            <a:off x="164592" y="2999232"/>
            <a:ext cx="2743200" cy="1508760"/>
          </a:xfrm>
          <a:prstGeom prst="roundRect">
            <a:avLst>
              <a:gd name="adj" fmla="val 6061"/>
            </a:avLst>
          </a:prstGeom>
          <a:solidFill>
            <a:srgbClr val="1A2D5A"/>
          </a:solidFill>
          <a:ln w="12700">
            <a:solidFill>
              <a:srgbClr val="3A5080"/>
            </a:solidFill>
            <a:prstDash val="solid"/>
          </a:ln>
        </p:spPr>
      </p:sp>
      <p:sp>
        <p:nvSpPr>
          <p:cNvPr id="13" name="Text 11"/>
          <p:cNvSpPr/>
          <p:nvPr/>
        </p:nvSpPr>
        <p:spPr>
          <a:xfrm>
            <a:off x="274320" y="3063240"/>
            <a:ext cx="1828800" cy="201168"/>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EFFECT</a:t>
            </a:r>
            <a:endParaRPr lang="en-US" sz="900" dirty="0"/>
          </a:p>
        </p:txBody>
      </p:sp>
      <p:sp>
        <p:nvSpPr>
          <p:cNvPr id="14" name="Text 12"/>
          <p:cNvSpPr/>
          <p:nvPr/>
        </p:nvSpPr>
        <p:spPr>
          <a:xfrm>
            <a:off x="274320" y="3291840"/>
            <a:ext cx="2523744" cy="114300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Native peoples were pressured to change religion, adopt new work routines, and give up traditional ways of life. Many experienced forced labor.</a:t>
            </a:r>
            <a:endParaRPr lang="en-US" sz="1100" dirty="0"/>
          </a:p>
        </p:txBody>
      </p:sp>
      <p:sp>
        <p:nvSpPr>
          <p:cNvPr id="15" name="Shape 13"/>
          <p:cNvSpPr/>
          <p:nvPr/>
        </p:nvSpPr>
        <p:spPr>
          <a:xfrm>
            <a:off x="3072384" y="1234440"/>
            <a:ext cx="2743200" cy="347472"/>
          </a:xfrm>
          <a:prstGeom prst="roundRect">
            <a:avLst>
              <a:gd name="adj" fmla="val 21053"/>
            </a:avLst>
          </a:prstGeom>
          <a:solidFill>
            <a:srgbClr val="8B6FC0"/>
          </a:solidFill>
          <a:ln w="12700">
            <a:solidFill>
              <a:srgbClr val="8B6FC0"/>
            </a:solidFill>
            <a:prstDash val="solid"/>
          </a:ln>
        </p:spPr>
      </p:sp>
      <p:sp>
        <p:nvSpPr>
          <p:cNvPr id="16" name="Text 14"/>
          <p:cNvSpPr/>
          <p:nvPr/>
        </p:nvSpPr>
        <p:spPr>
          <a:xfrm>
            <a:off x="3163824" y="1261872"/>
            <a:ext cx="256032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EFFECT #3: Conflict &amp; Slave Raids</a:t>
            </a:r>
            <a:endParaRPr lang="en-US" sz="1100" dirty="0"/>
          </a:p>
        </p:txBody>
      </p:sp>
      <p:sp>
        <p:nvSpPr>
          <p:cNvPr id="17" name="Shape 15"/>
          <p:cNvSpPr/>
          <p:nvPr/>
        </p:nvSpPr>
        <p:spPr>
          <a:xfrm>
            <a:off x="3072384" y="1691640"/>
            <a:ext cx="2743200" cy="896112"/>
          </a:xfrm>
          <a:prstGeom prst="roundRect">
            <a:avLst>
              <a:gd name="adj" fmla="val 10204"/>
            </a:avLst>
          </a:prstGeom>
          <a:solidFill>
            <a:srgbClr val="E2E8F4"/>
          </a:solidFill>
          <a:ln w="12700">
            <a:solidFill>
              <a:srgbClr val="B0B8CC"/>
            </a:solidFill>
            <a:prstDash val="solid"/>
          </a:ln>
        </p:spPr>
      </p:sp>
      <p:sp>
        <p:nvSpPr>
          <p:cNvPr id="18" name="Text 16"/>
          <p:cNvSpPr/>
          <p:nvPr/>
        </p:nvSpPr>
        <p:spPr>
          <a:xfrm>
            <a:off x="3182112" y="1755648"/>
            <a:ext cx="1828800" cy="201168"/>
          </a:xfrm>
          <a:prstGeom prst="rect">
            <a:avLst/>
          </a:prstGeom>
          <a:noFill/>
          <a:ln/>
        </p:spPr>
        <p:txBody>
          <a:bodyPr wrap="square" lIns="0" tIns="0" rIns="0" bIns="0" rtlCol="0" anchor="ctr"/>
          <a:lstStyle/>
          <a:p>
            <a:pPr indent="0" marL="0">
              <a:buNone/>
            </a:pPr>
            <a:r>
              <a:rPr lang="en-US" sz="900" b="1" spc="150" kern="0" dirty="0">
                <a:solidFill>
                  <a:srgbClr val="0E1C42"/>
                </a:solidFill>
                <a:latin typeface="Calibri" pitchFamily="34" charset="0"/>
                <a:ea typeface="Calibri" pitchFamily="34" charset="-122"/>
                <a:cs typeface="Calibri" pitchFamily="34" charset="-120"/>
              </a:rPr>
              <a:t>CAUSE</a:t>
            </a:r>
            <a:endParaRPr lang="en-US" sz="900" dirty="0"/>
          </a:p>
        </p:txBody>
      </p:sp>
      <p:sp>
        <p:nvSpPr>
          <p:cNvPr id="19" name="Text 17"/>
          <p:cNvSpPr/>
          <p:nvPr/>
        </p:nvSpPr>
        <p:spPr>
          <a:xfrm>
            <a:off x="3182112" y="1965960"/>
            <a:ext cx="2523744" cy="548640"/>
          </a:xfrm>
          <a:prstGeom prst="rect">
            <a:avLst/>
          </a:prstGeom>
          <a:noFill/>
          <a:ln/>
        </p:spPr>
        <p:txBody>
          <a:bodyPr wrap="square" lIns="0" tIns="0" rIns="0" bIns="0" rtlCol="0" anchor="t"/>
          <a:lstStyle/>
          <a:p>
            <a:pPr indent="0" marL="0">
              <a:buNone/>
            </a:pPr>
            <a:r>
              <a:rPr lang="en-US" sz="1100" dirty="0">
                <a:solidFill>
                  <a:srgbClr val="0E1C42"/>
                </a:solidFill>
                <a:latin typeface="Calibri" pitchFamily="34" charset="0"/>
                <a:ea typeface="Calibri" pitchFamily="34" charset="-122"/>
                <a:cs typeface="Calibri" pitchFamily="34" charset="-120"/>
              </a:rPr>
              <a:t>European powers fought over Florida; rivals raided Native villages</a:t>
            </a:r>
            <a:endParaRPr lang="en-US" sz="1100" dirty="0"/>
          </a:p>
        </p:txBody>
      </p:sp>
      <p:sp>
        <p:nvSpPr>
          <p:cNvPr id="20" name="Text 18"/>
          <p:cNvSpPr/>
          <p:nvPr/>
        </p:nvSpPr>
        <p:spPr>
          <a:xfrm>
            <a:off x="3895344" y="2651760"/>
            <a:ext cx="1097280" cy="274320"/>
          </a:xfrm>
          <a:prstGeom prst="rect">
            <a:avLst/>
          </a:prstGeom>
          <a:noFill/>
          <a:ln/>
        </p:spPr>
        <p:txBody>
          <a:bodyPr wrap="square" lIns="0" tIns="0" rIns="0" bIns="0" rtlCol="0" anchor="ctr"/>
          <a:lstStyle/>
          <a:p>
            <a:pPr algn="ctr" indent="0" marL="0">
              <a:buNone/>
            </a:pPr>
            <a:r>
              <a:rPr lang="en-US" sz="1400" b="1" dirty="0">
                <a:solidFill>
                  <a:srgbClr val="8B6FC0"/>
                </a:solidFill>
                <a:latin typeface="Calibri" pitchFamily="34" charset="0"/>
                <a:ea typeface="Calibri" pitchFamily="34" charset="-122"/>
                <a:cs typeface="Calibri" pitchFamily="34" charset="-120"/>
              </a:rPr>
              <a:t>=&gt;</a:t>
            </a:r>
            <a:endParaRPr lang="en-US" sz="1400" dirty="0"/>
          </a:p>
        </p:txBody>
      </p:sp>
      <p:sp>
        <p:nvSpPr>
          <p:cNvPr id="21" name="Shape 19"/>
          <p:cNvSpPr/>
          <p:nvPr/>
        </p:nvSpPr>
        <p:spPr>
          <a:xfrm>
            <a:off x="3072384" y="2999232"/>
            <a:ext cx="2743200" cy="1508760"/>
          </a:xfrm>
          <a:prstGeom prst="roundRect">
            <a:avLst>
              <a:gd name="adj" fmla="val 6061"/>
            </a:avLst>
          </a:prstGeom>
          <a:solidFill>
            <a:srgbClr val="1A2D5A"/>
          </a:solidFill>
          <a:ln w="12700">
            <a:solidFill>
              <a:srgbClr val="3A5080"/>
            </a:solidFill>
            <a:prstDash val="solid"/>
          </a:ln>
        </p:spPr>
      </p:sp>
      <p:sp>
        <p:nvSpPr>
          <p:cNvPr id="22" name="Text 20"/>
          <p:cNvSpPr/>
          <p:nvPr/>
        </p:nvSpPr>
        <p:spPr>
          <a:xfrm>
            <a:off x="3182112" y="3063240"/>
            <a:ext cx="1828800" cy="201168"/>
          </a:xfrm>
          <a:prstGeom prst="rect">
            <a:avLst/>
          </a:prstGeom>
          <a:noFill/>
          <a:ln/>
        </p:spPr>
        <p:txBody>
          <a:bodyPr wrap="square" lIns="0" tIns="0" rIns="0" bIns="0" rtlCol="0" anchor="ctr"/>
          <a:lstStyle/>
          <a:p>
            <a:pPr indent="0" marL="0">
              <a:buNone/>
            </a:pPr>
            <a:r>
              <a:rPr lang="en-US" sz="900" b="1" spc="150" kern="0" dirty="0">
                <a:solidFill>
                  <a:srgbClr val="8B6FC0"/>
                </a:solidFill>
                <a:latin typeface="Calibri" pitchFamily="34" charset="0"/>
                <a:ea typeface="Calibri" pitchFamily="34" charset="-122"/>
                <a:cs typeface="Calibri" pitchFamily="34" charset="-120"/>
              </a:rPr>
              <a:t>EFFECT</a:t>
            </a:r>
            <a:endParaRPr lang="en-US" sz="900" dirty="0"/>
          </a:p>
        </p:txBody>
      </p:sp>
      <p:sp>
        <p:nvSpPr>
          <p:cNvPr id="23" name="Text 21"/>
          <p:cNvSpPr/>
          <p:nvPr/>
        </p:nvSpPr>
        <p:spPr>
          <a:xfrm>
            <a:off x="3182112" y="3291840"/>
            <a:ext cx="2523744" cy="114300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Warfare and slave raids broke communities apart, separated families, and destroyed villages — especially in northern Florida.</a:t>
            </a:r>
            <a:endParaRPr lang="en-US" sz="1100" dirty="0"/>
          </a:p>
        </p:txBody>
      </p:sp>
      <p:sp>
        <p:nvSpPr>
          <p:cNvPr id="24" name="Shape 22"/>
          <p:cNvSpPr/>
          <p:nvPr/>
        </p:nvSpPr>
        <p:spPr>
          <a:xfrm>
            <a:off x="5980176" y="1234440"/>
            <a:ext cx="2743200" cy="347472"/>
          </a:xfrm>
          <a:prstGeom prst="roundRect">
            <a:avLst>
              <a:gd name="adj" fmla="val 21053"/>
            </a:avLst>
          </a:prstGeom>
          <a:solidFill>
            <a:srgbClr val="E8636B"/>
          </a:solidFill>
          <a:ln w="12700">
            <a:solidFill>
              <a:srgbClr val="E8636B"/>
            </a:solidFill>
            <a:prstDash val="solid"/>
          </a:ln>
        </p:spPr>
      </p:sp>
      <p:sp>
        <p:nvSpPr>
          <p:cNvPr id="25" name="Text 23"/>
          <p:cNvSpPr/>
          <p:nvPr/>
        </p:nvSpPr>
        <p:spPr>
          <a:xfrm>
            <a:off x="6071616" y="1261872"/>
            <a:ext cx="256032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EFFECT #4: Displacement</a:t>
            </a:r>
            <a:endParaRPr lang="en-US" sz="1100" dirty="0"/>
          </a:p>
        </p:txBody>
      </p:sp>
      <p:sp>
        <p:nvSpPr>
          <p:cNvPr id="26" name="Shape 24"/>
          <p:cNvSpPr/>
          <p:nvPr/>
        </p:nvSpPr>
        <p:spPr>
          <a:xfrm>
            <a:off x="5980176" y="1691640"/>
            <a:ext cx="2743200" cy="896112"/>
          </a:xfrm>
          <a:prstGeom prst="roundRect">
            <a:avLst>
              <a:gd name="adj" fmla="val 10204"/>
            </a:avLst>
          </a:prstGeom>
          <a:solidFill>
            <a:srgbClr val="E2E8F4"/>
          </a:solidFill>
          <a:ln w="12700">
            <a:solidFill>
              <a:srgbClr val="B0B8CC"/>
            </a:solidFill>
            <a:prstDash val="solid"/>
          </a:ln>
        </p:spPr>
      </p:sp>
      <p:sp>
        <p:nvSpPr>
          <p:cNvPr id="27" name="Text 25"/>
          <p:cNvSpPr/>
          <p:nvPr/>
        </p:nvSpPr>
        <p:spPr>
          <a:xfrm>
            <a:off x="6089904" y="1755648"/>
            <a:ext cx="1828800" cy="201168"/>
          </a:xfrm>
          <a:prstGeom prst="rect">
            <a:avLst/>
          </a:prstGeom>
          <a:noFill/>
          <a:ln/>
        </p:spPr>
        <p:txBody>
          <a:bodyPr wrap="square" lIns="0" tIns="0" rIns="0" bIns="0" rtlCol="0" anchor="ctr"/>
          <a:lstStyle/>
          <a:p>
            <a:pPr indent="0" marL="0">
              <a:buNone/>
            </a:pPr>
            <a:r>
              <a:rPr lang="en-US" sz="900" b="1" spc="150" kern="0" dirty="0">
                <a:solidFill>
                  <a:srgbClr val="0E1C42"/>
                </a:solidFill>
                <a:latin typeface="Calibri" pitchFamily="34" charset="0"/>
                <a:ea typeface="Calibri" pitchFamily="34" charset="-122"/>
                <a:cs typeface="Calibri" pitchFamily="34" charset="-120"/>
              </a:rPr>
              <a:t>CAUSE</a:t>
            </a:r>
            <a:endParaRPr lang="en-US" sz="900" dirty="0"/>
          </a:p>
        </p:txBody>
      </p:sp>
      <p:sp>
        <p:nvSpPr>
          <p:cNvPr id="28" name="Text 26"/>
          <p:cNvSpPr/>
          <p:nvPr/>
        </p:nvSpPr>
        <p:spPr>
          <a:xfrm>
            <a:off x="6089904" y="1965960"/>
            <a:ext cx="2523744" cy="548640"/>
          </a:xfrm>
          <a:prstGeom prst="rect">
            <a:avLst/>
          </a:prstGeom>
          <a:noFill/>
          <a:ln/>
        </p:spPr>
        <p:txBody>
          <a:bodyPr wrap="square" lIns="0" tIns="0" rIns="0" bIns="0" rtlCol="0" anchor="t"/>
          <a:lstStyle/>
          <a:p>
            <a:pPr indent="0" marL="0">
              <a:buNone/>
            </a:pPr>
            <a:r>
              <a:rPr lang="en-US" sz="1100" dirty="0">
                <a:solidFill>
                  <a:srgbClr val="0E1C42"/>
                </a:solidFill>
                <a:latin typeface="Calibri" pitchFamily="34" charset="0"/>
                <a:ea typeface="Calibri" pitchFamily="34" charset="-122"/>
                <a:cs typeface="Calibri" pitchFamily="34" charset="-120"/>
              </a:rPr>
              <a:t>As population fell and danger grew, staying in homelands became impossible</a:t>
            </a:r>
            <a:endParaRPr lang="en-US" sz="1100" dirty="0"/>
          </a:p>
        </p:txBody>
      </p:sp>
      <p:sp>
        <p:nvSpPr>
          <p:cNvPr id="29" name="Text 27"/>
          <p:cNvSpPr/>
          <p:nvPr/>
        </p:nvSpPr>
        <p:spPr>
          <a:xfrm>
            <a:off x="6803136" y="2651760"/>
            <a:ext cx="1097280" cy="274320"/>
          </a:xfrm>
          <a:prstGeom prst="rect">
            <a:avLst/>
          </a:prstGeom>
          <a:noFill/>
          <a:ln/>
        </p:spPr>
        <p:txBody>
          <a:bodyPr wrap="square" lIns="0" tIns="0" rIns="0" bIns="0" rtlCol="0" anchor="ctr"/>
          <a:lstStyle/>
          <a:p>
            <a:pPr algn="ctr" indent="0" marL="0">
              <a:buNone/>
            </a:pPr>
            <a:r>
              <a:rPr lang="en-US" sz="1400" b="1" dirty="0">
                <a:solidFill>
                  <a:srgbClr val="E8636B"/>
                </a:solidFill>
                <a:latin typeface="Calibri" pitchFamily="34" charset="0"/>
                <a:ea typeface="Calibri" pitchFamily="34" charset="-122"/>
                <a:cs typeface="Calibri" pitchFamily="34" charset="-120"/>
              </a:rPr>
              <a:t>=&gt;</a:t>
            </a:r>
            <a:endParaRPr lang="en-US" sz="1400" dirty="0"/>
          </a:p>
        </p:txBody>
      </p:sp>
      <p:sp>
        <p:nvSpPr>
          <p:cNvPr id="30" name="Shape 28"/>
          <p:cNvSpPr/>
          <p:nvPr/>
        </p:nvSpPr>
        <p:spPr>
          <a:xfrm>
            <a:off x="5980176" y="2999232"/>
            <a:ext cx="2743200" cy="1508760"/>
          </a:xfrm>
          <a:prstGeom prst="roundRect">
            <a:avLst>
              <a:gd name="adj" fmla="val 6061"/>
            </a:avLst>
          </a:prstGeom>
          <a:solidFill>
            <a:srgbClr val="1A2D5A"/>
          </a:solidFill>
          <a:ln w="12700">
            <a:solidFill>
              <a:srgbClr val="3A5080"/>
            </a:solidFill>
            <a:prstDash val="solid"/>
          </a:ln>
        </p:spPr>
      </p:sp>
      <p:sp>
        <p:nvSpPr>
          <p:cNvPr id="31" name="Text 29"/>
          <p:cNvSpPr/>
          <p:nvPr/>
        </p:nvSpPr>
        <p:spPr>
          <a:xfrm>
            <a:off x="6089904" y="3063240"/>
            <a:ext cx="1828800" cy="201168"/>
          </a:xfrm>
          <a:prstGeom prst="rect">
            <a:avLst/>
          </a:prstGeom>
          <a:noFill/>
          <a:ln/>
        </p:spPr>
        <p:txBody>
          <a:bodyPr wrap="square" lIns="0" tIns="0" rIns="0" bIns="0" rtlCol="0" anchor="ctr"/>
          <a:lstStyle/>
          <a:p>
            <a:pPr indent="0" marL="0">
              <a:buNone/>
            </a:pPr>
            <a:r>
              <a:rPr lang="en-US" sz="900" b="1" spc="150" kern="0" dirty="0">
                <a:solidFill>
                  <a:srgbClr val="E8636B"/>
                </a:solidFill>
                <a:latin typeface="Calibri" pitchFamily="34" charset="0"/>
                <a:ea typeface="Calibri" pitchFamily="34" charset="-122"/>
                <a:cs typeface="Calibri" pitchFamily="34" charset="-120"/>
              </a:rPr>
              <a:t>EFFECT</a:t>
            </a:r>
            <a:endParaRPr lang="en-US" sz="900" dirty="0"/>
          </a:p>
        </p:txBody>
      </p:sp>
      <p:sp>
        <p:nvSpPr>
          <p:cNvPr id="32" name="Text 30"/>
          <p:cNvSpPr/>
          <p:nvPr/>
        </p:nvSpPr>
        <p:spPr>
          <a:xfrm>
            <a:off x="6089904" y="3291840"/>
            <a:ext cx="2523744" cy="114300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Many communities were forced to leave lands their ancestors had lived on for thousands of years.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A2D5A"/>
          </a:solidFill>
          <a:ln w="12700">
            <a:solidFill>
              <a:srgbClr val="1A2D5A"/>
            </a:solidFill>
            <a:prstDash val="solid"/>
          </a:ln>
        </p:spPr>
      </p:sp>
      <p:sp>
        <p:nvSpPr>
          <p:cNvPr id="3" name="Text 1"/>
          <p:cNvSpPr/>
          <p:nvPr/>
        </p:nvSpPr>
        <p:spPr>
          <a:xfrm>
            <a:off x="320040" y="164592"/>
            <a:ext cx="6400800" cy="274320"/>
          </a:xfrm>
          <a:prstGeom prst="rect">
            <a:avLst/>
          </a:prstGeom>
          <a:noFill/>
          <a:ln/>
        </p:spPr>
        <p:txBody>
          <a:bodyPr wrap="square" lIns="0" tIns="0" rIns="0" bIns="0" rtlCol="0" anchor="ctr"/>
          <a:lstStyle/>
          <a:p>
            <a:pPr indent="0" marL="0">
              <a:buNone/>
            </a:pPr>
            <a:r>
              <a:rPr lang="en-US" sz="1000" b="1" spc="200" kern="0" dirty="0">
                <a:solidFill>
                  <a:srgbClr val="55C8E8"/>
                </a:solidFill>
                <a:latin typeface="Calibri" pitchFamily="34" charset="0"/>
                <a:ea typeface="Calibri" pitchFamily="34" charset="-122"/>
                <a:cs typeface="Calibri" pitchFamily="34" charset="-120"/>
              </a:rPr>
              <a:t>DISCUSSION  |  THINK DEEPLY</a:t>
            </a:r>
            <a:endParaRPr lang="en-US" sz="1000" dirty="0"/>
          </a:p>
        </p:txBody>
      </p:sp>
      <p:sp>
        <p:nvSpPr>
          <p:cNvPr id="4" name="Text 2"/>
          <p:cNvSpPr/>
          <p:nvPr/>
        </p:nvSpPr>
        <p:spPr>
          <a:xfrm>
            <a:off x="320040" y="502920"/>
            <a:ext cx="8412480" cy="59436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Whose voice is missing — and why does that matter?</a:t>
            </a:r>
            <a:endParaRPr lang="en-US" sz="2600" dirty="0"/>
          </a:p>
        </p:txBody>
      </p:sp>
      <p:sp>
        <p:nvSpPr>
          <p:cNvPr id="5" name="Shape 3"/>
          <p:cNvSpPr/>
          <p:nvPr/>
        </p:nvSpPr>
        <p:spPr>
          <a:xfrm>
            <a:off x="320040" y="1234440"/>
            <a:ext cx="5074920" cy="3063240"/>
          </a:xfrm>
          <a:prstGeom prst="roundRect">
            <a:avLst>
              <a:gd name="adj" fmla="val 4478"/>
            </a:avLst>
          </a:prstGeom>
          <a:solidFill>
            <a:srgbClr val="1A2D5A"/>
          </a:solidFill>
          <a:ln/>
          <a:effectLst>
            <a:outerShdw sx="100000" sy="100000" kx="0" ky="0" algn="bl" rotWithShape="0" blurRad="101600" dist="38100" dir="8100000">
              <a:srgbClr val="000000">
                <a:alpha val="20000"/>
              </a:srgbClr>
            </a:outerShdw>
          </a:effectLst>
        </p:spPr>
      </p:sp>
      <p:sp>
        <p:nvSpPr>
          <p:cNvPr id="6" name="Text 4"/>
          <p:cNvSpPr/>
          <p:nvPr/>
        </p:nvSpPr>
        <p:spPr>
          <a:xfrm>
            <a:off x="502920" y="1325880"/>
            <a:ext cx="470916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7" name="Text 5"/>
          <p:cNvSpPr/>
          <p:nvPr/>
        </p:nvSpPr>
        <p:spPr>
          <a:xfrm>
            <a:off x="502920" y="1581912"/>
            <a:ext cx="4709160" cy="262432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Whose voice is missing from the Spanish written records — and why?</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you need to know to understand this history from the Timucua perspective?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makes this history hard to study — and why does that difficulty matter?</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someone reach a different conclusion from the same evidence? What would change?</a:t>
            </a:r>
            <a:endParaRPr lang="en-US" sz="1100" dirty="0"/>
          </a:p>
        </p:txBody>
      </p:sp>
      <p:sp>
        <p:nvSpPr>
          <p:cNvPr id="8" name="Shape 6"/>
          <p:cNvSpPr/>
          <p:nvPr/>
        </p:nvSpPr>
        <p:spPr>
          <a:xfrm>
            <a:off x="5577840" y="1234440"/>
            <a:ext cx="3246120" cy="2194560"/>
          </a:xfrm>
          <a:prstGeom prst="roundRect">
            <a:avLst>
              <a:gd name="adj" fmla="val 5000"/>
            </a:avLst>
          </a:prstGeom>
          <a:solidFill>
            <a:srgbClr val="FFF3DC"/>
          </a:solidFill>
          <a:ln w="19050">
            <a:solidFill>
              <a:srgbClr val="F5E6C8"/>
            </a:solidFill>
            <a:prstDash val="solid"/>
          </a:ln>
        </p:spPr>
      </p:sp>
      <p:sp>
        <p:nvSpPr>
          <p:cNvPr id="9" name="Text 7"/>
          <p:cNvSpPr/>
          <p:nvPr/>
        </p:nvSpPr>
        <p:spPr>
          <a:xfrm>
            <a:off x="5715000" y="1289304"/>
            <a:ext cx="297180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0" name="Text 8"/>
          <p:cNvSpPr/>
          <p:nvPr/>
        </p:nvSpPr>
        <p:spPr>
          <a:xfrm>
            <a:off x="5715000" y="1490472"/>
            <a:ext cx="2971800" cy="187452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voice that is missing from this record is...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"To understand this from the Timucua perspective, I would need to know... because..."</a:t>
            </a:r>
            <a:endParaRPr lang="en-US" sz="1200" dirty="0"/>
          </a:p>
        </p:txBody>
      </p:sp>
      <p:sp>
        <p:nvSpPr>
          <p:cNvPr id="11" name="Shape 9"/>
          <p:cNvSpPr/>
          <p:nvPr/>
        </p:nvSpPr>
        <p:spPr>
          <a:xfrm>
            <a:off x="5577840" y="3566160"/>
            <a:ext cx="3246120" cy="749808"/>
          </a:xfrm>
          <a:prstGeom prst="roundRect">
            <a:avLst>
              <a:gd name="adj" fmla="val 12195"/>
            </a:avLst>
          </a:prstGeom>
          <a:solidFill>
            <a:srgbClr val="D4943A"/>
          </a:solidFill>
          <a:ln w="12700">
            <a:solidFill>
              <a:srgbClr val="D4943A"/>
            </a:solidFill>
            <a:prstDash val="solid"/>
          </a:ln>
        </p:spPr>
      </p:sp>
      <p:sp>
        <p:nvSpPr>
          <p:cNvPr id="12" name="Text 10"/>
          <p:cNvSpPr/>
          <p:nvPr/>
        </p:nvSpPr>
        <p:spPr>
          <a:xfrm>
            <a:off x="5760720" y="3639312"/>
            <a:ext cx="2743200" cy="201168"/>
          </a:xfrm>
          <a:prstGeom prst="rect">
            <a:avLst/>
          </a:prstGeom>
          <a:noFill/>
          <a:ln/>
        </p:spPr>
        <p:txBody>
          <a:bodyPr wrap="square" lIns="0" tIns="0" rIns="0" bIns="0" rtlCol="0" anchor="ctr"/>
          <a:lstStyle/>
          <a:p>
            <a:pPr indent="0" marL="0">
              <a:buNone/>
            </a:pPr>
            <a:r>
              <a:rPr lang="en-US" sz="900" b="1" spc="150" kern="0" dirty="0">
                <a:solidFill>
                  <a:srgbClr val="FFFFFF"/>
                </a:solidFill>
                <a:latin typeface="Calibri" pitchFamily="34" charset="0"/>
                <a:ea typeface="Calibri" pitchFamily="34" charset="-122"/>
                <a:cs typeface="Calibri" pitchFamily="34" charset="-120"/>
              </a:rPr>
              <a:t>VIRTUE CONNECTION</a:t>
            </a:r>
            <a:endParaRPr lang="en-US" sz="900" dirty="0"/>
          </a:p>
        </p:txBody>
      </p:sp>
      <p:sp>
        <p:nvSpPr>
          <p:cNvPr id="13" name="Text 11"/>
          <p:cNvSpPr/>
          <p:nvPr/>
        </p:nvSpPr>
        <p:spPr>
          <a:xfrm>
            <a:off x="5760720" y="3858768"/>
            <a:ext cx="2926080" cy="365760"/>
          </a:xfrm>
          <a:prstGeom prst="rect">
            <a:avLst/>
          </a:prstGeom>
          <a:noFill/>
          <a:ln/>
        </p:spPr>
        <p:txBody>
          <a:bodyPr wrap="square" lIns="0" tIns="0" rIns="0" bIns="0" rtlCol="0" anchor="ctr"/>
          <a:lstStyle/>
          <a:p>
            <a:pPr indent="0" marL="0">
              <a:buNone/>
            </a:pPr>
            <a:r>
              <a:rPr lang="en-US" sz="1100" i="1" dirty="0">
                <a:solidFill>
                  <a:srgbClr val="FFFFFF"/>
                </a:solidFill>
                <a:latin typeface="Calibri" pitchFamily="34" charset="0"/>
                <a:ea typeface="Calibri" pitchFamily="34" charset="-122"/>
                <a:cs typeface="Calibri" pitchFamily="34" charset="-120"/>
              </a:rPr>
              <a:t>Courtesy: treating the true stories of real people with care and respect.</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9144000" cy="548640"/>
          </a:xfrm>
          <a:prstGeom prst="rect">
            <a:avLst/>
          </a:prstGeom>
          <a:solidFill>
            <a:srgbClr val="0E1C42"/>
          </a:solidFill>
          <a:ln w="12700">
            <a:solidFill>
              <a:srgbClr val="0E1C42"/>
            </a:solidFill>
            <a:prstDash val="solid"/>
          </a:ln>
        </p:spPr>
      </p:sp>
      <p:sp>
        <p:nvSpPr>
          <p:cNvPr id="4" name="Text 2"/>
          <p:cNvSpPr/>
          <p:nvPr/>
        </p:nvSpPr>
        <p:spPr>
          <a:xfrm>
            <a:off x="274320" y="91440"/>
            <a:ext cx="6400800" cy="274320"/>
          </a:xfrm>
          <a:prstGeom prst="rect">
            <a:avLst/>
          </a:prstGeom>
          <a:noFill/>
          <a:ln/>
        </p:spPr>
        <p:txBody>
          <a:bodyPr wrap="square" lIns="0" tIns="0" rIns="0" bIns="0" rtlCol="0" anchor="ctr"/>
          <a:lstStyle/>
          <a:p>
            <a:pPr indent="0" marL="0">
              <a:buNone/>
            </a:pPr>
            <a:r>
              <a:rPr lang="en-US" sz="1000" b="1" spc="200" kern="0" dirty="0">
                <a:solidFill>
                  <a:srgbClr val="55C8E8"/>
                </a:solidFill>
                <a:latin typeface="Calibri" pitchFamily="34" charset="0"/>
                <a:ea typeface="Calibri" pitchFamily="34" charset="-122"/>
                <a:cs typeface="Calibri" pitchFamily="34" charset="-120"/>
              </a:rPr>
              <a:t>GUIDED PRACTICE  |  TEACHER MODELS</a:t>
            </a:r>
            <a:endParaRPr lang="en-US" sz="1000" dirty="0"/>
          </a:p>
        </p:txBody>
      </p:sp>
      <p:sp>
        <p:nvSpPr>
          <p:cNvPr id="5" name="Text 3"/>
          <p:cNvSpPr/>
          <p:nvPr/>
        </p:nvSpPr>
        <p:spPr>
          <a:xfrm>
            <a:off x="274320" y="658368"/>
            <a:ext cx="8412480" cy="457200"/>
          </a:xfrm>
          <a:prstGeom prst="rect">
            <a:avLst/>
          </a:prstGeom>
          <a:noFill/>
          <a:ln/>
        </p:spPr>
        <p:txBody>
          <a:bodyPr wrap="square" lIns="0" tIns="0" rIns="0" bIns="0" rtlCol="0" anchor="ctr"/>
          <a:lstStyle/>
          <a:p>
            <a:pPr indent="0" marL="0">
              <a:buNone/>
            </a:pPr>
            <a:r>
              <a:rPr lang="en-US" sz="2100" b="1" dirty="0">
                <a:solidFill>
                  <a:srgbClr val="0E1C42"/>
                </a:solidFill>
                <a:latin typeface="Cambria" pitchFamily="34" charset="0"/>
                <a:ea typeface="Cambria" pitchFamily="34" charset="-122"/>
                <a:cs typeface="Cambria" pitchFamily="34" charset="-120"/>
              </a:rPr>
              <a:t>Watch how I answer this question with evidence and respect</a:t>
            </a:r>
            <a:endParaRPr lang="en-US" sz="2100" dirty="0"/>
          </a:p>
        </p:txBody>
      </p:sp>
      <p:sp>
        <p:nvSpPr>
          <p:cNvPr id="6" name="Shape 4"/>
          <p:cNvSpPr/>
          <p:nvPr/>
        </p:nvSpPr>
        <p:spPr>
          <a:xfrm>
            <a:off x="274320" y="1207008"/>
            <a:ext cx="8595360" cy="658368"/>
          </a:xfrm>
          <a:prstGeom prst="roundRect">
            <a:avLst>
              <a:gd name="adj" fmla="val 13889"/>
            </a:avLst>
          </a:prstGeom>
          <a:solidFill>
            <a:srgbClr val="1A2D5A"/>
          </a:solidFill>
          <a:ln w="12700">
            <a:solidFill>
              <a:srgbClr val="3A5080"/>
            </a:solidFill>
            <a:prstDash val="solid"/>
          </a:ln>
        </p:spPr>
      </p:sp>
      <p:sp>
        <p:nvSpPr>
          <p:cNvPr id="7" name="Text 5"/>
          <p:cNvSpPr/>
          <p:nvPr/>
        </p:nvSpPr>
        <p:spPr>
          <a:xfrm>
            <a:off x="457200" y="1280160"/>
            <a:ext cx="228600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THE QUESTION:</a:t>
            </a:r>
            <a:endParaRPr lang="en-US" sz="900" dirty="0"/>
          </a:p>
        </p:txBody>
      </p:sp>
      <p:sp>
        <p:nvSpPr>
          <p:cNvPr id="8" name="Text 6"/>
          <p:cNvSpPr/>
          <p:nvPr/>
        </p:nvSpPr>
        <p:spPr>
          <a:xfrm>
            <a:off x="457200" y="1481328"/>
            <a:ext cx="8229600" cy="320040"/>
          </a:xfrm>
          <a:prstGeom prst="rect">
            <a:avLst/>
          </a:prstGeom>
          <a:noFill/>
          <a:ln/>
        </p:spPr>
        <p:txBody>
          <a:bodyPr wrap="square" lIns="0" tIns="0" rIns="0" bIns="0" rtlCol="0" anchor="ctr"/>
          <a:lstStyle/>
          <a:p>
            <a:pPr indent="0" marL="0">
              <a:buNone/>
            </a:pPr>
            <a:r>
              <a:rPr lang="en-US" sz="1300" i="1" dirty="0">
                <a:solidFill>
                  <a:srgbClr val="FFFFFF"/>
                </a:solidFill>
                <a:latin typeface="Cambria" pitchFamily="34" charset="0"/>
                <a:ea typeface="Cambria" pitchFamily="34" charset="-122"/>
                <a:cs typeface="Cambria" pitchFamily="34" charset="-120"/>
              </a:rPr>
              <a:t>"Describe one effect of colonization on Florida's Native peoples, and give your evidence."</a:t>
            </a:r>
            <a:endParaRPr lang="en-US" sz="1300" dirty="0"/>
          </a:p>
        </p:txBody>
      </p:sp>
      <p:sp>
        <p:nvSpPr>
          <p:cNvPr id="9" name="Shape 7"/>
          <p:cNvSpPr/>
          <p:nvPr/>
        </p:nvSpPr>
        <p:spPr>
          <a:xfrm>
            <a:off x="274320" y="1984248"/>
            <a:ext cx="8595360" cy="2240280"/>
          </a:xfrm>
          <a:prstGeom prst="roundRect">
            <a:avLst>
              <a:gd name="adj" fmla="val 4898"/>
            </a:avLst>
          </a:prstGeom>
          <a:solidFill>
            <a:srgbClr val="FFF3DC"/>
          </a:solidFill>
          <a:ln w="19050">
            <a:solidFill>
              <a:srgbClr val="F5E6C8"/>
            </a:solidFill>
            <a:prstDash val="solid"/>
          </a:ln>
        </p:spPr>
      </p:sp>
      <p:sp>
        <p:nvSpPr>
          <p:cNvPr id="10" name="Text 8"/>
          <p:cNvSpPr/>
          <p:nvPr/>
        </p:nvSpPr>
        <p:spPr>
          <a:xfrm>
            <a:off x="457200" y="2075688"/>
            <a:ext cx="4572000" cy="228600"/>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TEACHER'S MODEL RESPONSE</a:t>
            </a:r>
            <a:endParaRPr lang="en-US" sz="900" dirty="0"/>
          </a:p>
        </p:txBody>
      </p:sp>
      <p:sp>
        <p:nvSpPr>
          <p:cNvPr id="11" name="Text 9"/>
          <p:cNvSpPr/>
          <p:nvPr/>
        </p:nvSpPr>
        <p:spPr>
          <a:xfrm>
            <a:off x="457200" y="2350008"/>
            <a:ext cx="8229600" cy="1783080"/>
          </a:xfrm>
          <a:prstGeom prst="rect">
            <a:avLst/>
          </a:prstGeom>
          <a:noFill/>
          <a:ln/>
        </p:spPr>
        <p:txBody>
          <a:bodyPr wrap="square" lIns="0" tIns="0" rIns="0" bIns="0" rtlCol="0" anchor="t"/>
          <a:lstStyle/>
          <a:p>
            <a:pPr indent="0" marL="0">
              <a:buNone/>
            </a:pPr>
            <a:r>
              <a:rPr lang="en-US" sz="1300" i="1" dirty="0">
                <a:solidFill>
                  <a:srgbClr val="5A4A3A"/>
                </a:solidFill>
                <a:latin typeface="Cambria" pitchFamily="34" charset="0"/>
                <a:ea typeface="Cambria" pitchFamily="34" charset="-122"/>
                <a:cs typeface="Cambria" pitchFamily="34" charset="-120"/>
              </a:rPr>
              <a:t>"One effect of colonization on Florida's Native peoples was the spread of new diseases. The evidence that supports this is that the Timucua, Apalachee, and Calusa peoples had no immunity to European diseases like smallpox and measles — causing a dramatic decline in population within generations of European arrival. This matters because disease weakened communities and made it harder to resist other effects of colonization."</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9144000" cy="548640"/>
          </a:xfrm>
          <a:prstGeom prst="rect">
            <a:avLst/>
          </a:prstGeom>
          <a:solidFill>
            <a:srgbClr val="0E1C42"/>
          </a:solidFill>
          <a:ln w="12700">
            <a:solidFill>
              <a:srgbClr val="0E1C42"/>
            </a:solidFill>
            <a:prstDash val="solid"/>
          </a:ln>
        </p:spPr>
      </p:sp>
      <p:sp>
        <p:nvSpPr>
          <p:cNvPr id="4" name="Text 2"/>
          <p:cNvSpPr/>
          <p:nvPr/>
        </p:nvSpPr>
        <p:spPr>
          <a:xfrm>
            <a:off x="274320" y="91440"/>
            <a:ext cx="6400800" cy="274320"/>
          </a:xfrm>
          <a:prstGeom prst="rect">
            <a:avLst/>
          </a:prstGeom>
          <a:noFill/>
          <a:ln/>
        </p:spPr>
        <p:txBody>
          <a:bodyPr wrap="square" lIns="0" tIns="0" rIns="0" bIns="0"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GUIDED PRACTICE  |  YOU DEFEND</a:t>
            </a:r>
            <a:endParaRPr lang="en-US" sz="1000" dirty="0"/>
          </a:p>
        </p:txBody>
      </p:sp>
      <p:sp>
        <p:nvSpPr>
          <p:cNvPr id="5" name="Text 3"/>
          <p:cNvSpPr/>
          <p:nvPr/>
        </p:nvSpPr>
        <p:spPr>
          <a:xfrm>
            <a:off x="274320" y="658368"/>
            <a:ext cx="8503920" cy="475488"/>
          </a:xfrm>
          <a:prstGeom prst="rect">
            <a:avLst/>
          </a:prstGeom>
          <a:noFill/>
          <a:ln/>
        </p:spPr>
        <p:txBody>
          <a:bodyPr wrap="square" lIns="0" tIns="0" rIns="0" bIns="0" rtlCol="0" anchor="ctr"/>
          <a:lstStyle/>
          <a:p>
            <a:pPr indent="0" marL="0">
              <a:buNone/>
            </a:pPr>
            <a:r>
              <a:rPr lang="en-US" sz="2100" b="1" dirty="0">
                <a:solidFill>
                  <a:srgbClr val="0E1C42"/>
                </a:solidFill>
                <a:latin typeface="Cambria" pitchFamily="34" charset="0"/>
                <a:ea typeface="Cambria" pitchFamily="34" charset="-122"/>
                <a:cs typeface="Cambria" pitchFamily="34" charset="-120"/>
              </a:rPr>
              <a:t>Which effect was most devastating — and can you defend your answer?</a:t>
            </a:r>
            <a:endParaRPr lang="en-US" sz="2100" dirty="0"/>
          </a:p>
        </p:txBody>
      </p:sp>
      <p:sp>
        <p:nvSpPr>
          <p:cNvPr id="6" name="Shape 4"/>
          <p:cNvSpPr/>
          <p:nvPr/>
        </p:nvSpPr>
        <p:spPr>
          <a:xfrm>
            <a:off x="274320" y="1261872"/>
            <a:ext cx="5029200" cy="2514600"/>
          </a:xfrm>
          <a:prstGeom prst="roundRect">
            <a:avLst>
              <a:gd name="adj" fmla="val 5455"/>
            </a:avLst>
          </a:prstGeom>
          <a:solidFill>
            <a:srgbClr val="1A2D5A"/>
          </a:solidFill>
          <a:ln/>
          <a:effectLst>
            <a:outerShdw sx="100000" sy="100000" kx="0" ky="0" algn="bl" rotWithShape="0" blurRad="101600" dist="38100" dir="8100000">
              <a:srgbClr val="000000">
                <a:alpha val="20000"/>
              </a:srgbClr>
            </a:outerShdw>
          </a:effectLst>
        </p:spPr>
      </p:sp>
      <p:sp>
        <p:nvSpPr>
          <p:cNvPr id="7" name="Text 5"/>
          <p:cNvSpPr/>
          <p:nvPr/>
        </p:nvSpPr>
        <p:spPr>
          <a:xfrm>
            <a:off x="457200" y="1353312"/>
            <a:ext cx="466344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8" name="Text 6"/>
          <p:cNvSpPr/>
          <p:nvPr/>
        </p:nvSpPr>
        <p:spPr>
          <a:xfrm>
            <a:off x="457200" y="1609344"/>
            <a:ext cx="4663440" cy="207568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effect of colonization was most devastating to Florida's Native communities — and what evidence supports your choice?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someone who chose a DIFFERENT effect say to challenge you?</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Is the 'most devastating' question actually answerable — or does it depend on whose perspective you take?</a:t>
            </a:r>
            <a:endParaRPr lang="en-US" sz="1100" dirty="0"/>
          </a:p>
        </p:txBody>
      </p:sp>
      <p:sp>
        <p:nvSpPr>
          <p:cNvPr id="9" name="Shape 7"/>
          <p:cNvSpPr/>
          <p:nvPr/>
        </p:nvSpPr>
        <p:spPr>
          <a:xfrm>
            <a:off x="5486400" y="1261872"/>
            <a:ext cx="3364992" cy="2514600"/>
          </a:xfrm>
          <a:prstGeom prst="roundRect">
            <a:avLst>
              <a:gd name="adj" fmla="val 4364"/>
            </a:avLst>
          </a:prstGeom>
          <a:solidFill>
            <a:srgbClr val="FFF3DC"/>
          </a:solidFill>
          <a:ln w="19050">
            <a:solidFill>
              <a:srgbClr val="F5E6C8"/>
            </a:solidFill>
            <a:prstDash val="solid"/>
          </a:ln>
        </p:spPr>
      </p:sp>
      <p:sp>
        <p:nvSpPr>
          <p:cNvPr id="10" name="Text 8"/>
          <p:cNvSpPr/>
          <p:nvPr/>
        </p:nvSpPr>
        <p:spPr>
          <a:xfrm>
            <a:off x="5623560" y="1316736"/>
            <a:ext cx="3090672"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1" name="Text 9"/>
          <p:cNvSpPr/>
          <p:nvPr/>
        </p:nvSpPr>
        <p:spPr>
          <a:xfrm>
            <a:off x="5623560" y="1517904"/>
            <a:ext cx="3090672" cy="21945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would say the most devastating effect was ___ because the evidence shows..."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"Someone who chose a different effect might argue... but I would respond by saying..."</a:t>
            </a:r>
            <a:endParaRPr lang="en-US" sz="1200" dirty="0"/>
          </a:p>
        </p:txBody>
      </p:sp>
      <p:sp>
        <p:nvSpPr>
          <p:cNvPr id="12" name="Shape 10"/>
          <p:cNvSpPr/>
          <p:nvPr/>
        </p:nvSpPr>
        <p:spPr>
          <a:xfrm>
            <a:off x="274320" y="3913632"/>
            <a:ext cx="8595360" cy="777240"/>
          </a:xfrm>
          <a:prstGeom prst="roundRect">
            <a:avLst>
              <a:gd name="adj" fmla="val 11765"/>
            </a:avLst>
          </a:prstGeom>
          <a:solidFill>
            <a:srgbClr val="E2E8F4"/>
          </a:solidFill>
          <a:ln w="12700">
            <a:solidFill>
              <a:srgbClr val="B0B8CC"/>
            </a:solidFill>
            <a:prstDash val="solid"/>
          </a:ln>
        </p:spPr>
      </p:sp>
      <p:sp>
        <p:nvSpPr>
          <p:cNvPr id="13" name="Text 11"/>
          <p:cNvSpPr/>
          <p:nvPr/>
        </p:nvSpPr>
        <p:spPr>
          <a:xfrm>
            <a:off x="457200" y="3986784"/>
            <a:ext cx="8229600" cy="256032"/>
          </a:xfrm>
          <a:prstGeom prst="rect">
            <a:avLst/>
          </a:prstGeom>
          <a:noFill/>
          <a:ln/>
        </p:spPr>
        <p:txBody>
          <a:bodyPr wrap="square" lIns="0" tIns="0" rIns="0" bIns="0" rtlCol="0" anchor="ctr"/>
          <a:lstStyle/>
          <a:p>
            <a:pPr indent="0" marL="0">
              <a:buNone/>
            </a:pPr>
            <a:r>
              <a:rPr lang="en-US" sz="1100" b="1" dirty="0">
                <a:solidFill>
                  <a:srgbClr val="0E1C42"/>
                </a:solidFill>
                <a:latin typeface="Calibri" pitchFamily="34" charset="0"/>
                <a:ea typeface="Calibri" pitchFamily="34" charset="-122"/>
                <a:cs typeface="Calibri" pitchFamily="34" charset="-120"/>
              </a:rPr>
              <a:t>FOUR EFFECTS:   #1 Disease   |   #2 Mission Pressure   |   #3 Conflict &amp; Raids   |   #4 Displacement</a:t>
            </a:r>
            <a:endParaRPr lang="en-US" sz="1100" dirty="0"/>
          </a:p>
        </p:txBody>
      </p:sp>
      <p:sp>
        <p:nvSpPr>
          <p:cNvPr id="14" name="Text 12"/>
          <p:cNvSpPr/>
          <p:nvPr/>
        </p:nvSpPr>
        <p:spPr>
          <a:xfrm>
            <a:off x="457200" y="4251960"/>
            <a:ext cx="8229600" cy="256032"/>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Whichever you choose, your answer must include specific evidence from the lesson — and use respectful language.</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9144000" cy="548640"/>
          </a:xfrm>
          <a:prstGeom prst="rect">
            <a:avLst/>
          </a:prstGeom>
          <a:solidFill>
            <a:srgbClr val="0E1C42"/>
          </a:solidFill>
          <a:ln w="12700">
            <a:solidFill>
              <a:srgbClr val="0E1C42"/>
            </a:solidFill>
            <a:prstDash val="solid"/>
          </a:ln>
        </p:spPr>
      </p:sp>
      <p:sp>
        <p:nvSpPr>
          <p:cNvPr id="4" name="Text 2"/>
          <p:cNvSpPr/>
          <p:nvPr/>
        </p:nvSpPr>
        <p:spPr>
          <a:xfrm>
            <a:off x="274320" y="91440"/>
            <a:ext cx="6858000" cy="274320"/>
          </a:xfrm>
          <a:prstGeom prst="rect">
            <a:avLst/>
          </a:prstGeom>
          <a:noFill/>
          <a:ln/>
        </p:spPr>
        <p:txBody>
          <a:bodyPr wrap="square" lIns="0" tIns="0" rIns="0" bIns="0" rtlCol="0" anchor="ctr"/>
          <a:lstStyle/>
          <a:p>
            <a:pPr indent="0" marL="0">
              <a:buNone/>
            </a:pPr>
            <a:r>
              <a:rPr lang="en-US" sz="1000" b="1" spc="200" kern="0" dirty="0">
                <a:solidFill>
                  <a:srgbClr val="55C8E8"/>
                </a:solidFill>
                <a:latin typeface="Calibri" pitchFamily="34" charset="0"/>
                <a:ea typeface="Calibri" pitchFamily="34" charset="-122"/>
                <a:cs typeface="Calibri" pitchFamily="34" charset="-120"/>
              </a:rPr>
              <a:t>GUIDED PRACTICE  |  CRITIQUE THE SAMPLE</a:t>
            </a:r>
            <a:endParaRPr lang="en-US" sz="1000" dirty="0"/>
          </a:p>
        </p:txBody>
      </p:sp>
      <p:sp>
        <p:nvSpPr>
          <p:cNvPr id="5" name="Text 3"/>
          <p:cNvSpPr/>
          <p:nvPr/>
        </p:nvSpPr>
        <p:spPr>
          <a:xfrm>
            <a:off x="274320" y="658368"/>
            <a:ext cx="8229600" cy="457200"/>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What is missing from this response?</a:t>
            </a:r>
            <a:endParaRPr lang="en-US" sz="2400" dirty="0"/>
          </a:p>
        </p:txBody>
      </p:sp>
      <p:sp>
        <p:nvSpPr>
          <p:cNvPr id="6" name="Shape 4"/>
          <p:cNvSpPr/>
          <p:nvPr/>
        </p:nvSpPr>
        <p:spPr>
          <a:xfrm>
            <a:off x="274320" y="1234440"/>
            <a:ext cx="8595360" cy="1325880"/>
          </a:xfrm>
          <a:prstGeom prst="roundRect">
            <a:avLst>
              <a:gd name="adj" fmla="val 8276"/>
            </a:avLst>
          </a:prstGeom>
          <a:solidFill>
            <a:srgbClr val="E2E8F4"/>
          </a:solidFill>
          <a:ln w="19050">
            <a:solidFill>
              <a:srgbClr val="B0B8CC"/>
            </a:solidFill>
            <a:prstDash val="solid"/>
          </a:ln>
        </p:spPr>
      </p:sp>
      <p:sp>
        <p:nvSpPr>
          <p:cNvPr id="7" name="Text 5"/>
          <p:cNvSpPr/>
          <p:nvPr/>
        </p:nvSpPr>
        <p:spPr>
          <a:xfrm>
            <a:off x="457200" y="1325880"/>
            <a:ext cx="4572000" cy="228600"/>
          </a:xfrm>
          <a:prstGeom prst="rect">
            <a:avLst/>
          </a:prstGeom>
          <a:noFill/>
          <a:ln/>
        </p:spPr>
        <p:txBody>
          <a:bodyPr wrap="square" lIns="0" tIns="0" rIns="0" bIns="0"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STUDENT SAMPLE RESPONSE</a:t>
            </a:r>
            <a:endParaRPr lang="en-US" sz="900" dirty="0"/>
          </a:p>
        </p:txBody>
      </p:sp>
      <p:sp>
        <p:nvSpPr>
          <p:cNvPr id="8" name="Text 6"/>
          <p:cNvSpPr/>
          <p:nvPr/>
        </p:nvSpPr>
        <p:spPr>
          <a:xfrm>
            <a:off x="457200" y="1581912"/>
            <a:ext cx="8229600" cy="886968"/>
          </a:xfrm>
          <a:prstGeom prst="rect">
            <a:avLst/>
          </a:prstGeom>
          <a:noFill/>
          <a:ln/>
        </p:spPr>
        <p:txBody>
          <a:bodyPr wrap="square" lIns="0" tIns="0" rIns="0" bIns="0" rtlCol="0" anchor="t"/>
          <a:lstStyle/>
          <a:p>
            <a:pPr indent="0" marL="0">
              <a:buNone/>
            </a:pPr>
            <a:r>
              <a:rPr lang="en-US" sz="1400" i="1" dirty="0">
                <a:solidFill>
                  <a:srgbClr val="0E1C42"/>
                </a:solidFill>
                <a:latin typeface="Cambria" pitchFamily="34" charset="0"/>
                <a:ea typeface="Cambria" pitchFamily="34" charset="-122"/>
                <a:cs typeface="Cambria" pitchFamily="34" charset="-120"/>
              </a:rPr>
              <a:t>"The Native Americans were hurt by colonization. The Spanish came and bad things happened to the people who already lived there. This is why colonization was bad."</a:t>
            </a:r>
            <a:endParaRPr lang="en-US" sz="1400" dirty="0"/>
          </a:p>
        </p:txBody>
      </p:sp>
      <p:sp>
        <p:nvSpPr>
          <p:cNvPr id="9" name="Shape 7"/>
          <p:cNvSpPr/>
          <p:nvPr/>
        </p:nvSpPr>
        <p:spPr>
          <a:xfrm>
            <a:off x="274320" y="2697480"/>
            <a:ext cx="5029200" cy="1965960"/>
          </a:xfrm>
          <a:prstGeom prst="roundRect">
            <a:avLst>
              <a:gd name="adj" fmla="val 6977"/>
            </a:avLst>
          </a:prstGeom>
          <a:solidFill>
            <a:srgbClr val="1A2D5A"/>
          </a:solidFill>
          <a:ln/>
          <a:effectLst>
            <a:outerShdw sx="100000" sy="100000" kx="0" ky="0" algn="bl" rotWithShape="0" blurRad="101600" dist="38100" dir="8100000">
              <a:srgbClr val="000000">
                <a:alpha val="20000"/>
              </a:srgbClr>
            </a:outerShdw>
          </a:effectLst>
        </p:spPr>
      </p:sp>
      <p:sp>
        <p:nvSpPr>
          <p:cNvPr id="10" name="Text 8"/>
          <p:cNvSpPr/>
          <p:nvPr/>
        </p:nvSpPr>
        <p:spPr>
          <a:xfrm>
            <a:off x="457200" y="2788920"/>
            <a:ext cx="466344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1" name="Text 9"/>
          <p:cNvSpPr/>
          <p:nvPr/>
        </p:nvSpPr>
        <p:spPr>
          <a:xfrm>
            <a:off x="457200" y="3044952"/>
            <a:ext cx="4663440" cy="152704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Does this response name a SPECIFIC effect? What is missing?</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Does it include any evidence from the lesson? What would stronger evidence look like?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Is the language respectful? Does it treat Native peoples as real, distinct communities?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would you revise this to meet Field Historian standards?</a:t>
            </a:r>
            <a:endParaRPr lang="en-US" sz="1100" dirty="0"/>
          </a:p>
        </p:txBody>
      </p:sp>
      <p:sp>
        <p:nvSpPr>
          <p:cNvPr id="12" name="Shape 10"/>
          <p:cNvSpPr/>
          <p:nvPr/>
        </p:nvSpPr>
        <p:spPr>
          <a:xfrm>
            <a:off x="5486400" y="2697480"/>
            <a:ext cx="3364992" cy="1965960"/>
          </a:xfrm>
          <a:prstGeom prst="roundRect">
            <a:avLst>
              <a:gd name="adj" fmla="val 5581"/>
            </a:avLst>
          </a:prstGeom>
          <a:solidFill>
            <a:srgbClr val="FFF3DC"/>
          </a:solidFill>
          <a:ln w="19050">
            <a:solidFill>
              <a:srgbClr val="F5E6C8"/>
            </a:solidFill>
            <a:prstDash val="solid"/>
          </a:ln>
        </p:spPr>
      </p:sp>
      <p:sp>
        <p:nvSpPr>
          <p:cNvPr id="13" name="Text 11"/>
          <p:cNvSpPr/>
          <p:nvPr/>
        </p:nvSpPr>
        <p:spPr>
          <a:xfrm>
            <a:off x="5650992" y="2788920"/>
            <a:ext cx="2743200" cy="228600"/>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YOUR REVISION</a:t>
            </a:r>
            <a:endParaRPr lang="en-US" sz="900" dirty="0"/>
          </a:p>
        </p:txBody>
      </p:sp>
      <p:sp>
        <p:nvSpPr>
          <p:cNvPr id="14" name="Text 12"/>
          <p:cNvSpPr/>
          <p:nvPr/>
        </p:nvSpPr>
        <p:spPr>
          <a:xfrm>
            <a:off x="5650992" y="3063240"/>
            <a:ext cx="3017520" cy="1508760"/>
          </a:xfrm>
          <a:prstGeom prst="rect">
            <a:avLst/>
          </a:prstGeom>
          <a:noFill/>
          <a:ln/>
        </p:spPr>
        <p:txBody>
          <a:bodyPr wrap="square" lIns="0" tIns="0" rIns="0" bIns="0" rtlCol="0" anchor="t"/>
          <a:lstStyle/>
          <a:p>
            <a:pPr indent="0" marL="0">
              <a:buNone/>
            </a:pPr>
            <a:r>
              <a:rPr lang="en-US" sz="1200" i="1" dirty="0">
                <a:solidFill>
                  <a:srgbClr val="5A4A3A"/>
                </a:solidFill>
                <a:latin typeface="Cambria" pitchFamily="34" charset="0"/>
                <a:ea typeface="Cambria" pitchFamily="34" charset="-122"/>
                <a:cs typeface="Cambria" pitchFamily="34" charset="-120"/>
              </a:rPr>
              <a:t>"One effect of colonization was ___. The evidence that supports this is ___. This mattered because ___."</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9144000" cy="548640"/>
          </a:xfrm>
          <a:prstGeom prst="rect">
            <a:avLst/>
          </a:prstGeom>
          <a:solidFill>
            <a:srgbClr val="0E1C42"/>
          </a:solidFill>
          <a:ln w="12700">
            <a:solidFill>
              <a:srgbClr val="0E1C42"/>
            </a:solidFill>
            <a:prstDash val="solid"/>
          </a:ln>
        </p:spPr>
      </p:sp>
      <p:sp>
        <p:nvSpPr>
          <p:cNvPr id="4" name="Text 2"/>
          <p:cNvSpPr/>
          <p:nvPr/>
        </p:nvSpPr>
        <p:spPr>
          <a:xfrm>
            <a:off x="274320" y="91440"/>
            <a:ext cx="7315200" cy="274320"/>
          </a:xfrm>
          <a:prstGeom prst="rect">
            <a:avLst/>
          </a:prstGeom>
          <a:noFill/>
          <a:ln/>
        </p:spPr>
        <p:txBody>
          <a:bodyPr wrap="square" lIns="0" tIns="0" rIns="0" bIns="0"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YOUR ASSIGNMENT  |  FIELD HISTORIAN REPORT</a:t>
            </a:r>
            <a:endParaRPr lang="en-US" sz="1000" dirty="0"/>
          </a:p>
        </p:txBody>
      </p:sp>
      <p:sp>
        <p:nvSpPr>
          <p:cNvPr id="5" name="Text 3"/>
          <p:cNvSpPr/>
          <p:nvPr/>
        </p:nvSpPr>
        <p:spPr>
          <a:xfrm>
            <a:off x="274320" y="658368"/>
            <a:ext cx="8412480" cy="457200"/>
          </a:xfrm>
          <a:prstGeom prst="rect">
            <a:avLst/>
          </a:prstGeom>
          <a:noFill/>
          <a:ln/>
        </p:spPr>
        <p:txBody>
          <a:bodyPr wrap="square" lIns="0" tIns="0" rIns="0" bIns="0" rtlCol="0" anchor="ctr"/>
          <a:lstStyle/>
          <a:p>
            <a:pPr indent="0" marL="0">
              <a:buNone/>
            </a:pPr>
            <a:r>
              <a:rPr lang="en-US" sz="2000" b="1" dirty="0">
                <a:solidFill>
                  <a:srgbClr val="0E1C42"/>
                </a:solidFill>
                <a:latin typeface="Cambria" pitchFamily="34" charset="0"/>
                <a:ea typeface="Cambria" pitchFamily="34" charset="-122"/>
                <a:cs typeface="Cambria" pitchFamily="34" charset="-120"/>
              </a:rPr>
              <a:t>Time to show what you know — carefully and respectfully</a:t>
            </a:r>
            <a:endParaRPr lang="en-US" sz="2000" dirty="0"/>
          </a:p>
        </p:txBody>
      </p:sp>
      <p:sp>
        <p:nvSpPr>
          <p:cNvPr id="6" name="Shape 4"/>
          <p:cNvSpPr/>
          <p:nvPr/>
        </p:nvSpPr>
        <p:spPr>
          <a:xfrm>
            <a:off x="274320" y="1234440"/>
            <a:ext cx="5650992" cy="1078992"/>
          </a:xfrm>
          <a:prstGeom prst="roundRect">
            <a:avLst>
              <a:gd name="adj" fmla="val 8475"/>
            </a:avLst>
          </a:prstGeom>
          <a:solidFill>
            <a:srgbClr val="1A2D5A"/>
          </a:solidFill>
          <a:ln w="12700">
            <a:solidFill>
              <a:srgbClr val="3A5080"/>
            </a:solidFill>
            <a:prstDash val="solid"/>
          </a:ln>
        </p:spPr>
      </p:sp>
      <p:sp>
        <p:nvSpPr>
          <p:cNvPr id="7" name="Text 5"/>
          <p:cNvSpPr/>
          <p:nvPr/>
        </p:nvSpPr>
        <p:spPr>
          <a:xfrm>
            <a:off x="457200" y="1307592"/>
            <a:ext cx="2743200" cy="228600"/>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QUESTION 1</a:t>
            </a:r>
            <a:endParaRPr lang="en-US" sz="900" dirty="0"/>
          </a:p>
        </p:txBody>
      </p:sp>
      <p:sp>
        <p:nvSpPr>
          <p:cNvPr id="8" name="Text 6"/>
          <p:cNvSpPr/>
          <p:nvPr/>
        </p:nvSpPr>
        <p:spPr>
          <a:xfrm>
            <a:off x="457200" y="1554480"/>
            <a:ext cx="5285232" cy="658368"/>
          </a:xfrm>
          <a:prstGeom prst="rect">
            <a:avLst/>
          </a:prstGeom>
          <a:noFill/>
          <a:ln/>
        </p:spPr>
        <p:txBody>
          <a:bodyPr wrap="square" lIns="0" tIns="0" rIns="0" bIns="0" rtlCol="0" anchor="t"/>
          <a:lstStyle/>
          <a:p>
            <a:pPr indent="0" marL="0">
              <a:buNone/>
            </a:pPr>
            <a:r>
              <a:rPr lang="en-US" sz="1200" i="1" dirty="0">
                <a:solidFill>
                  <a:srgbClr val="FFFFFF"/>
                </a:solidFill>
                <a:latin typeface="Cambria" pitchFamily="34" charset="0"/>
                <a:ea typeface="Cambria" pitchFamily="34" charset="-122"/>
                <a:cs typeface="Cambria" pitchFamily="34" charset="-120"/>
              </a:rPr>
              <a:t>"Describe one effect of colonization on Florida's Native peoples, and give your evidence."</a:t>
            </a:r>
            <a:endParaRPr lang="en-US" sz="1200" dirty="0"/>
          </a:p>
        </p:txBody>
      </p:sp>
      <p:sp>
        <p:nvSpPr>
          <p:cNvPr id="9" name="Shape 7"/>
          <p:cNvSpPr/>
          <p:nvPr/>
        </p:nvSpPr>
        <p:spPr>
          <a:xfrm>
            <a:off x="6108192" y="1234440"/>
            <a:ext cx="2743200" cy="1078992"/>
          </a:xfrm>
          <a:prstGeom prst="roundRect">
            <a:avLst>
              <a:gd name="adj" fmla="val 8475"/>
            </a:avLst>
          </a:prstGeom>
          <a:solidFill>
            <a:srgbClr val="E2E8F4"/>
          </a:solidFill>
          <a:ln w="12700">
            <a:solidFill>
              <a:srgbClr val="B0B8CC"/>
            </a:solidFill>
            <a:prstDash val="solid"/>
          </a:ln>
        </p:spPr>
      </p:sp>
      <p:sp>
        <p:nvSpPr>
          <p:cNvPr id="10" name="Text 8"/>
          <p:cNvSpPr/>
          <p:nvPr/>
        </p:nvSpPr>
        <p:spPr>
          <a:xfrm>
            <a:off x="6291072" y="1307592"/>
            <a:ext cx="1828800" cy="201168"/>
          </a:xfrm>
          <a:prstGeom prst="rect">
            <a:avLst/>
          </a:prstGeom>
          <a:noFill/>
          <a:ln/>
        </p:spPr>
        <p:txBody>
          <a:bodyPr wrap="square" lIns="0" tIns="0" rIns="0" bIns="0"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HINT</a:t>
            </a:r>
            <a:endParaRPr lang="en-US" sz="900" dirty="0"/>
          </a:p>
        </p:txBody>
      </p:sp>
      <p:sp>
        <p:nvSpPr>
          <p:cNvPr id="11" name="Text 9"/>
          <p:cNvSpPr/>
          <p:nvPr/>
        </p:nvSpPr>
        <p:spPr>
          <a:xfrm>
            <a:off x="6291072" y="1527048"/>
            <a:ext cx="2377440" cy="658368"/>
          </a:xfrm>
          <a:prstGeom prst="rect">
            <a:avLst/>
          </a:prstGeom>
          <a:noFill/>
          <a:ln/>
        </p:spPr>
        <p:txBody>
          <a:bodyPr wrap="square" lIns="0" tIns="0" rIns="0" bIns="0" rtlCol="0" anchor="t"/>
          <a:lstStyle/>
          <a:p>
            <a:pPr indent="0" marL="0">
              <a:buNone/>
            </a:pPr>
            <a:r>
              <a:rPr lang="en-US" sz="1100" dirty="0">
                <a:solidFill>
                  <a:srgbClr val="0E1C42"/>
                </a:solidFill>
                <a:latin typeface="Calibri" pitchFamily="34" charset="0"/>
                <a:ea typeface="Calibri" pitchFamily="34" charset="-122"/>
                <a:cs typeface="Calibri" pitchFamily="34" charset="-120"/>
              </a:rPr>
              <a:t>Name one effect + one lesson detail + use respectful language</a:t>
            </a:r>
            <a:endParaRPr lang="en-US" sz="1100" dirty="0"/>
          </a:p>
        </p:txBody>
      </p:sp>
      <p:sp>
        <p:nvSpPr>
          <p:cNvPr id="12" name="Shape 10"/>
          <p:cNvSpPr/>
          <p:nvPr/>
        </p:nvSpPr>
        <p:spPr>
          <a:xfrm>
            <a:off x="274320" y="2450592"/>
            <a:ext cx="5650992" cy="1078992"/>
          </a:xfrm>
          <a:prstGeom prst="roundRect">
            <a:avLst>
              <a:gd name="adj" fmla="val 8475"/>
            </a:avLst>
          </a:prstGeom>
          <a:solidFill>
            <a:srgbClr val="1A2D5A"/>
          </a:solidFill>
          <a:ln w="12700">
            <a:solidFill>
              <a:srgbClr val="3A5080"/>
            </a:solidFill>
            <a:prstDash val="solid"/>
          </a:ln>
        </p:spPr>
      </p:sp>
      <p:sp>
        <p:nvSpPr>
          <p:cNvPr id="13" name="Text 11"/>
          <p:cNvSpPr/>
          <p:nvPr/>
        </p:nvSpPr>
        <p:spPr>
          <a:xfrm>
            <a:off x="457200" y="2523744"/>
            <a:ext cx="2743200" cy="228600"/>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QUESTION 2</a:t>
            </a:r>
            <a:endParaRPr lang="en-US" sz="900" dirty="0"/>
          </a:p>
        </p:txBody>
      </p:sp>
      <p:sp>
        <p:nvSpPr>
          <p:cNvPr id="14" name="Text 12"/>
          <p:cNvSpPr/>
          <p:nvPr/>
        </p:nvSpPr>
        <p:spPr>
          <a:xfrm>
            <a:off x="457200" y="2770632"/>
            <a:ext cx="5285232" cy="658368"/>
          </a:xfrm>
          <a:prstGeom prst="rect">
            <a:avLst/>
          </a:prstGeom>
          <a:noFill/>
          <a:ln/>
        </p:spPr>
        <p:txBody>
          <a:bodyPr wrap="square" lIns="0" tIns="0" rIns="0" bIns="0" rtlCol="0" anchor="t"/>
          <a:lstStyle/>
          <a:p>
            <a:pPr indent="0" marL="0">
              <a:buNone/>
            </a:pPr>
            <a:r>
              <a:rPr lang="en-US" sz="1200" i="1" dirty="0">
                <a:solidFill>
                  <a:srgbClr val="FFFFFF"/>
                </a:solidFill>
                <a:latin typeface="Cambria" pitchFamily="34" charset="0"/>
                <a:ea typeface="Cambria" pitchFamily="34" charset="-122"/>
                <a:cs typeface="Cambria" pitchFamily="34" charset="-120"/>
              </a:rPr>
              <a:t>"Why is it important to study this part of history honestly and respectfully?"</a:t>
            </a:r>
            <a:endParaRPr lang="en-US" sz="1200" dirty="0"/>
          </a:p>
        </p:txBody>
      </p:sp>
      <p:sp>
        <p:nvSpPr>
          <p:cNvPr id="15" name="Shape 13"/>
          <p:cNvSpPr/>
          <p:nvPr/>
        </p:nvSpPr>
        <p:spPr>
          <a:xfrm>
            <a:off x="6108192" y="2450592"/>
            <a:ext cx="2743200" cy="1078992"/>
          </a:xfrm>
          <a:prstGeom prst="roundRect">
            <a:avLst>
              <a:gd name="adj" fmla="val 8475"/>
            </a:avLst>
          </a:prstGeom>
          <a:solidFill>
            <a:srgbClr val="E2E8F4"/>
          </a:solidFill>
          <a:ln w="12700">
            <a:solidFill>
              <a:srgbClr val="B0B8CC"/>
            </a:solidFill>
            <a:prstDash val="solid"/>
          </a:ln>
        </p:spPr>
      </p:sp>
      <p:sp>
        <p:nvSpPr>
          <p:cNvPr id="16" name="Text 14"/>
          <p:cNvSpPr/>
          <p:nvPr/>
        </p:nvSpPr>
        <p:spPr>
          <a:xfrm>
            <a:off x="6291072" y="2523744"/>
            <a:ext cx="1828800" cy="201168"/>
          </a:xfrm>
          <a:prstGeom prst="rect">
            <a:avLst/>
          </a:prstGeom>
          <a:noFill/>
          <a:ln/>
        </p:spPr>
        <p:txBody>
          <a:bodyPr wrap="square" lIns="0" tIns="0" rIns="0" bIns="0"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HINT</a:t>
            </a:r>
            <a:endParaRPr lang="en-US" sz="900" dirty="0"/>
          </a:p>
        </p:txBody>
      </p:sp>
      <p:sp>
        <p:nvSpPr>
          <p:cNvPr id="17" name="Text 15"/>
          <p:cNvSpPr/>
          <p:nvPr/>
        </p:nvSpPr>
        <p:spPr>
          <a:xfrm>
            <a:off x="6291072" y="2743200"/>
            <a:ext cx="2377440" cy="658368"/>
          </a:xfrm>
          <a:prstGeom prst="rect">
            <a:avLst/>
          </a:prstGeom>
          <a:noFill/>
          <a:ln/>
        </p:spPr>
        <p:txBody>
          <a:bodyPr wrap="square" lIns="0" tIns="0" rIns="0" bIns="0" rtlCol="0" anchor="t"/>
          <a:lstStyle/>
          <a:p>
            <a:pPr indent="0" marL="0">
              <a:buNone/>
            </a:pPr>
            <a:r>
              <a:rPr lang="en-US" sz="1100" dirty="0">
                <a:solidFill>
                  <a:srgbClr val="0E1C42"/>
                </a:solidFill>
                <a:latin typeface="Calibri" pitchFamily="34" charset="0"/>
                <a:ea typeface="Calibri" pitchFamily="34" charset="-122"/>
                <a:cs typeface="Calibri" pitchFamily="34" charset="-120"/>
              </a:rPr>
              <a:t>Think about Courtesy — how we treat the true stories of real people</a:t>
            </a:r>
            <a:endParaRPr lang="en-US" sz="1100" dirty="0"/>
          </a:p>
        </p:txBody>
      </p:sp>
      <p:sp>
        <p:nvSpPr>
          <p:cNvPr id="18" name="Shape 16"/>
          <p:cNvSpPr/>
          <p:nvPr/>
        </p:nvSpPr>
        <p:spPr>
          <a:xfrm>
            <a:off x="274320" y="3657600"/>
            <a:ext cx="5650992" cy="1143000"/>
          </a:xfrm>
          <a:prstGeom prst="roundRect">
            <a:avLst>
              <a:gd name="adj" fmla="val 8000"/>
            </a:avLst>
          </a:prstGeom>
          <a:solidFill>
            <a:srgbClr val="8B6FC0"/>
          </a:solidFill>
          <a:ln w="12700">
            <a:solidFill>
              <a:srgbClr val="7A5FAF"/>
            </a:solidFill>
            <a:prstDash val="solid"/>
          </a:ln>
        </p:spPr>
      </p:sp>
      <p:sp>
        <p:nvSpPr>
          <p:cNvPr id="19" name="Text 17"/>
          <p:cNvSpPr/>
          <p:nvPr/>
        </p:nvSpPr>
        <p:spPr>
          <a:xfrm>
            <a:off x="457200" y="3730752"/>
            <a:ext cx="3657600" cy="228600"/>
          </a:xfrm>
          <a:prstGeom prst="rect">
            <a:avLst/>
          </a:prstGeom>
          <a:noFill/>
          <a:ln/>
        </p:spPr>
        <p:txBody>
          <a:bodyPr wrap="square" lIns="0" tIns="0" rIns="0" bIns="0" rtlCol="0" anchor="ctr"/>
          <a:lstStyle/>
          <a:p>
            <a:pPr indent="0" marL="0">
              <a:buNone/>
            </a:pPr>
            <a:r>
              <a:rPr lang="en-US" sz="900" b="1" spc="150" kern="0" dirty="0">
                <a:solidFill>
                  <a:srgbClr val="FFFFFF"/>
                </a:solidFill>
                <a:latin typeface="Calibri" pitchFamily="34" charset="0"/>
                <a:ea typeface="Calibri" pitchFamily="34" charset="-122"/>
                <a:cs typeface="Calibri" pitchFamily="34" charset="-120"/>
              </a:rPr>
              <a:t>UNLOCK CHALLENGE</a:t>
            </a:r>
            <a:endParaRPr lang="en-US" sz="900" dirty="0"/>
          </a:p>
        </p:txBody>
      </p:sp>
      <p:sp>
        <p:nvSpPr>
          <p:cNvPr id="20" name="Text 18"/>
          <p:cNvSpPr/>
          <p:nvPr/>
        </p:nvSpPr>
        <p:spPr>
          <a:xfrm>
            <a:off x="457200" y="3977640"/>
            <a:ext cx="5285232" cy="731520"/>
          </a:xfrm>
          <a:prstGeom prst="rect">
            <a:avLst/>
          </a:prstGeom>
          <a:noFill/>
          <a:ln/>
        </p:spPr>
        <p:txBody>
          <a:bodyPr wrap="square" lIns="0" tIns="0" rIns="0" bIns="0" rtlCol="0" anchor="t"/>
          <a:lstStyle/>
          <a:p>
            <a:pPr indent="0" marL="0">
              <a:buNone/>
            </a:pPr>
            <a:r>
              <a:rPr lang="en-US" sz="1000" dirty="0">
                <a:solidFill>
                  <a:srgbClr val="FFFFFF"/>
                </a:solidFill>
                <a:latin typeface="Calibri" pitchFamily="34" charset="0"/>
                <a:ea typeface="Calibri" pitchFamily="34" charset="-122"/>
                <a:cs typeface="Calibri" pitchFamily="34" charset="-120"/>
              </a:rPr>
              <a:t>Put these events in order and explain ONE cause-and-effect connection: Europeans arrive in Florida =&gt; Spanish missions established =&gt; new diseases and conflict spread =&gt; many Native communities decline or are forced to move. Write 2-3 sentences using respectful language explaining how one event led to another.</a:t>
            </a:r>
            <a:endParaRPr lang="en-US" sz="1000" dirty="0"/>
          </a:p>
        </p:txBody>
      </p:sp>
      <p:sp>
        <p:nvSpPr>
          <p:cNvPr id="21" name="Shape 19"/>
          <p:cNvSpPr/>
          <p:nvPr/>
        </p:nvSpPr>
        <p:spPr>
          <a:xfrm>
            <a:off x="6108192" y="3657600"/>
            <a:ext cx="2743200" cy="1143000"/>
          </a:xfrm>
          <a:prstGeom prst="roundRect">
            <a:avLst>
              <a:gd name="adj" fmla="val 8000"/>
            </a:avLst>
          </a:prstGeom>
          <a:solidFill>
            <a:srgbClr val="34B76F"/>
          </a:solidFill>
          <a:ln w="12700">
            <a:solidFill>
              <a:srgbClr val="2A9A5C"/>
            </a:solidFill>
            <a:prstDash val="solid"/>
          </a:ln>
        </p:spPr>
      </p:sp>
      <p:sp>
        <p:nvSpPr>
          <p:cNvPr id="22" name="Text 20"/>
          <p:cNvSpPr/>
          <p:nvPr/>
        </p:nvSpPr>
        <p:spPr>
          <a:xfrm>
            <a:off x="6291072" y="3730752"/>
            <a:ext cx="2468880" cy="228600"/>
          </a:xfrm>
          <a:prstGeom prst="rect">
            <a:avLst/>
          </a:prstGeom>
          <a:noFill/>
          <a:ln/>
        </p:spPr>
        <p:txBody>
          <a:bodyPr wrap="square" lIns="0" tIns="0" rIns="0" bIns="0" rtlCol="0" anchor="ctr"/>
          <a:lstStyle/>
          <a:p>
            <a:pPr indent="0" marL="0">
              <a:buNone/>
            </a:pPr>
            <a:r>
              <a:rPr lang="en-US" sz="900" b="1" spc="150" kern="0" dirty="0">
                <a:solidFill>
                  <a:srgbClr val="FFFFFF"/>
                </a:solidFill>
                <a:latin typeface="Calibri" pitchFamily="34" charset="0"/>
                <a:ea typeface="Calibri" pitchFamily="34" charset="-122"/>
                <a:cs typeface="Calibri" pitchFamily="34" charset="-120"/>
              </a:rPr>
              <a:t>TURN-IN CHECKLIST</a:t>
            </a:r>
            <a:endParaRPr lang="en-US" sz="900" dirty="0"/>
          </a:p>
        </p:txBody>
      </p:sp>
      <p:sp>
        <p:nvSpPr>
          <p:cNvPr id="23" name="Text 21"/>
          <p:cNvSpPr/>
          <p:nvPr/>
        </p:nvSpPr>
        <p:spPr>
          <a:xfrm>
            <a:off x="6291072" y="3977640"/>
            <a:ext cx="2487168" cy="749808"/>
          </a:xfrm>
          <a:prstGeom prst="rect">
            <a:avLst/>
          </a:prstGeom>
          <a:noFill/>
          <a:ln/>
        </p:spPr>
        <p:txBody>
          <a:bodyPr wrap="square" lIns="0" tIns="0" rIns="0" bIns="0" rtlCol="0" anchor="t"/>
          <a:lstStyle/>
          <a:p>
            <a:pPr indent="0" marL="0">
              <a:buNone/>
            </a:pPr>
            <a:r>
              <a:rPr lang="en-US" sz="1000" dirty="0">
                <a:solidFill>
                  <a:srgbClr val="FFFFFF"/>
                </a:solidFill>
                <a:latin typeface="Calibri" pitchFamily="34" charset="0"/>
                <a:ea typeface="Calibri" pitchFamily="34" charset="-122"/>
                <a:cs typeface="Calibri" pitchFamily="34" charset="-120"/>
              </a:rPr>
              <a:t>- Studied source + answered respectfully</a:t>
            </a:r>
            <a:endParaRPr lang="en-US" sz="1000" dirty="0"/>
          </a:p>
          <a:p>
            <a:pPr indent="0" marL="0">
              <a:buNone/>
            </a:pPr>
            <a:r>
              <a:rPr lang="en-US" sz="1000" dirty="0">
                <a:solidFill>
                  <a:srgbClr val="FFFFFF"/>
                </a:solidFill>
                <a:latin typeface="Calibri" pitchFamily="34" charset="0"/>
                <a:ea typeface="Calibri" pitchFamily="34" charset="-122"/>
                <a:cs typeface="Calibri" pitchFamily="34" charset="-120"/>
              </a:rPr>
              <a:t>- Ordered timeline + explained cause-effect</a:t>
            </a:r>
            <a:endParaRPr lang="en-US" sz="1000" dirty="0"/>
          </a:p>
          <a:p>
            <a:pPr indent="0" marL="0">
              <a:buNone/>
            </a:pPr>
            <a:r>
              <a:rPr lang="en-US" sz="1000" dirty="0">
                <a:solidFill>
                  <a:srgbClr val="FFFFFF"/>
                </a:solidFill>
                <a:latin typeface="Calibri" pitchFamily="34" charset="0"/>
                <a:ea typeface="Calibri" pitchFamily="34" charset="-122"/>
                <a:cs typeface="Calibri" pitchFamily="34" charset="-120"/>
              </a:rPr>
              <a:t>- Wrote Historian's Sentence</a:t>
            </a:r>
            <a:endParaRPr lang="en-US" sz="1000" dirty="0"/>
          </a:p>
          <a:p>
            <a:pPr indent="0" marL="0">
              <a:buNone/>
            </a:pPr>
            <a:r>
              <a:rPr lang="en-US" sz="1000" dirty="0">
                <a:solidFill>
                  <a:srgbClr val="FFFFFF"/>
                </a:solidFill>
                <a:latin typeface="Calibri" pitchFamily="34" charset="0"/>
                <a:ea typeface="Calibri" pitchFamily="34" charset="-122"/>
                <a:cs typeface="Calibri" pitchFamily="34" charset="-120"/>
              </a:rPr>
              <a:t>- Copied/downloaded + submitted to Canvas</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Text 2"/>
          <p:cNvSpPr/>
          <p:nvPr/>
        </p:nvSpPr>
        <p:spPr>
          <a:xfrm>
            <a:off x="320040" y="502920"/>
            <a:ext cx="7315200" cy="320040"/>
          </a:xfrm>
          <a:prstGeom prst="rect">
            <a:avLst/>
          </a:prstGeom>
          <a:noFill/>
          <a:ln/>
        </p:spPr>
        <p:txBody>
          <a:bodyPr wrap="square" lIns="0" tIns="0" rIns="0" bIns="0" rtlCol="0" anchor="ctr"/>
          <a:lstStyle/>
          <a:p>
            <a:pPr indent="0" marL="0">
              <a:buNone/>
            </a:pPr>
            <a:r>
              <a:rPr lang="en-US" sz="1100" b="1" spc="200" kern="0" dirty="0">
                <a:solidFill>
                  <a:srgbClr val="D4943A"/>
                </a:solidFill>
                <a:latin typeface="Calibri" pitchFamily="34" charset="0"/>
                <a:ea typeface="Calibri" pitchFamily="34" charset="-122"/>
                <a:cs typeface="Calibri" pitchFamily="34" charset="-120"/>
              </a:rPr>
              <a:t>FILE SAVED  |  4.06.06  |  FIELD HISTORIAN</a:t>
            </a:r>
            <a:endParaRPr lang="en-US" sz="1100" dirty="0"/>
          </a:p>
        </p:txBody>
      </p:sp>
      <p:sp>
        <p:nvSpPr>
          <p:cNvPr id="6" name="Shape 3"/>
          <p:cNvSpPr/>
          <p:nvPr/>
        </p:nvSpPr>
        <p:spPr>
          <a:xfrm>
            <a:off x="320040" y="914400"/>
            <a:ext cx="8503920" cy="45720"/>
          </a:xfrm>
          <a:prstGeom prst="rect">
            <a:avLst/>
          </a:prstGeom>
          <a:solidFill>
            <a:srgbClr val="D4943A"/>
          </a:solidFill>
          <a:ln w="12700">
            <a:solidFill>
              <a:srgbClr val="D4943A"/>
            </a:solidFill>
            <a:prstDash val="solid"/>
          </a:ln>
        </p:spPr>
      </p:sp>
      <p:sp>
        <p:nvSpPr>
          <p:cNvPr id="7" name="Text 4"/>
          <p:cNvSpPr/>
          <p:nvPr/>
        </p:nvSpPr>
        <p:spPr>
          <a:xfrm>
            <a:off x="320040" y="1051560"/>
            <a:ext cx="8412480" cy="123444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We opened it the right way —</a:t>
            </a:r>
            <a:endParaRPr lang="en-US" sz="3800" dirty="0"/>
          </a:p>
          <a:p>
            <a:pPr indent="0" marL="0">
              <a:buNone/>
            </a:pPr>
            <a:r>
              <a:rPr lang="en-US" sz="3800" b="1" dirty="0">
                <a:solidFill>
                  <a:srgbClr val="FFFFFF"/>
                </a:solidFill>
                <a:latin typeface="Cambria" pitchFamily="34" charset="0"/>
                <a:ea typeface="Cambria" pitchFamily="34" charset="-122"/>
                <a:cs typeface="Cambria" pitchFamily="34" charset="-120"/>
              </a:rPr>
              <a:t>honestly, and with care.</a:t>
            </a:r>
            <a:endParaRPr lang="en-US" sz="3800" dirty="0"/>
          </a:p>
        </p:txBody>
      </p:sp>
      <p:sp>
        <p:nvSpPr>
          <p:cNvPr id="8" name="Shape 5"/>
          <p:cNvSpPr/>
          <p:nvPr/>
        </p:nvSpPr>
        <p:spPr>
          <a:xfrm>
            <a:off x="320040" y="2423160"/>
            <a:ext cx="8503920" cy="960120"/>
          </a:xfrm>
          <a:prstGeom prst="roundRect">
            <a:avLst>
              <a:gd name="adj" fmla="val 11429"/>
            </a:avLst>
          </a:prstGeom>
          <a:solidFill>
            <a:srgbClr val="1A2D5A"/>
          </a:solidFill>
          <a:ln w="19050">
            <a:solidFill>
              <a:srgbClr val="3A5080"/>
            </a:solidFill>
            <a:prstDash val="solid"/>
          </a:ln>
        </p:spPr>
      </p:sp>
      <p:sp>
        <p:nvSpPr>
          <p:cNvPr id="9" name="Text 6"/>
          <p:cNvSpPr/>
          <p:nvPr/>
        </p:nvSpPr>
        <p:spPr>
          <a:xfrm>
            <a:off x="502920" y="2542032"/>
            <a:ext cx="8229600" cy="749808"/>
          </a:xfrm>
          <a:prstGeom prst="rect">
            <a:avLst/>
          </a:prstGeom>
          <a:noFill/>
          <a:ln/>
        </p:spPr>
        <p:txBody>
          <a:bodyPr wrap="square" lIns="0" tIns="0" rIns="0" bIns="0" rtlCol="0" anchor="ctr"/>
          <a:lstStyle/>
          <a:p>
            <a:pPr indent="0" marL="0">
              <a:buNone/>
            </a:pPr>
            <a:r>
              <a:rPr lang="en-US" sz="1400" i="1" dirty="0">
                <a:solidFill>
                  <a:srgbClr val="F0F2F8"/>
                </a:solidFill>
                <a:latin typeface="Calibri" pitchFamily="34" charset="0"/>
                <a:ea typeface="Calibri" pitchFamily="34" charset="-122"/>
                <a:cs typeface="Calibri" pitchFamily="34" charset="-120"/>
              </a:rPr>
              <a:t>The Seminole and Miccosukee peoples carry these histories forward. The Timucua, Apalachee, and Calusa peoples are the ancestors of living communities — and their courage is part of Florida's story to this day.</a:t>
            </a:r>
            <a:endParaRPr lang="en-US" sz="1400" dirty="0"/>
          </a:p>
        </p:txBody>
      </p:sp>
      <p:sp>
        <p:nvSpPr>
          <p:cNvPr id="10" name="Shape 7"/>
          <p:cNvSpPr/>
          <p:nvPr/>
        </p:nvSpPr>
        <p:spPr>
          <a:xfrm>
            <a:off x="320040" y="3547872"/>
            <a:ext cx="4114800" cy="914400"/>
          </a:xfrm>
          <a:prstGeom prst="roundRect">
            <a:avLst>
              <a:gd name="adj" fmla="val 10000"/>
            </a:avLst>
          </a:prstGeom>
          <a:solidFill>
            <a:srgbClr val="D4943A"/>
          </a:solidFill>
          <a:ln w="12700">
            <a:solidFill>
              <a:srgbClr val="D4943A"/>
            </a:solidFill>
            <a:prstDash val="solid"/>
          </a:ln>
        </p:spPr>
      </p:sp>
      <p:sp>
        <p:nvSpPr>
          <p:cNvPr id="11" name="Text 8"/>
          <p:cNvSpPr/>
          <p:nvPr/>
        </p:nvSpPr>
        <p:spPr>
          <a:xfrm>
            <a:off x="502920" y="3621024"/>
            <a:ext cx="3200400" cy="256032"/>
          </a:xfrm>
          <a:prstGeom prst="rect">
            <a:avLst/>
          </a:prstGeom>
          <a:noFill/>
          <a:ln/>
        </p:spPr>
        <p:txBody>
          <a:bodyPr wrap="square" lIns="0" tIns="0" rIns="0" bIns="0" rtlCol="0" anchor="ctr"/>
          <a:lstStyle/>
          <a:p>
            <a:pPr indent="0" marL="0">
              <a:buNone/>
            </a:pPr>
            <a:r>
              <a:rPr lang="en-US" sz="900" b="1" spc="150" kern="0" dirty="0">
                <a:solidFill>
                  <a:srgbClr val="FFFFFF"/>
                </a:solidFill>
                <a:latin typeface="Calibri" pitchFamily="34" charset="0"/>
                <a:ea typeface="Calibri" pitchFamily="34" charset="-122"/>
                <a:cs typeface="Calibri" pitchFamily="34" charset="-120"/>
              </a:rPr>
              <a:t>VIRTUE: COURTESY</a:t>
            </a:r>
            <a:endParaRPr lang="en-US" sz="900" dirty="0"/>
          </a:p>
        </p:txBody>
      </p:sp>
      <p:sp>
        <p:nvSpPr>
          <p:cNvPr id="12" name="Text 9"/>
          <p:cNvSpPr/>
          <p:nvPr/>
        </p:nvSpPr>
        <p:spPr>
          <a:xfrm>
            <a:off x="502920" y="3904488"/>
            <a:ext cx="3749040" cy="475488"/>
          </a:xfrm>
          <a:prstGeom prst="rect">
            <a:avLst/>
          </a:prstGeom>
          <a:noFill/>
          <a:ln/>
        </p:spPr>
        <p:txBody>
          <a:bodyPr wrap="square" lIns="0" tIns="0" rIns="0" bIns="0"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Treating the true stories of real people with care and respect — even when the truth is hard.</a:t>
            </a:r>
            <a:endParaRPr lang="en-US" sz="1200" dirty="0"/>
          </a:p>
        </p:txBody>
      </p:sp>
      <p:sp>
        <p:nvSpPr>
          <p:cNvPr id="13" name="Shape 10"/>
          <p:cNvSpPr/>
          <p:nvPr/>
        </p:nvSpPr>
        <p:spPr>
          <a:xfrm>
            <a:off x="4709160" y="3547872"/>
            <a:ext cx="4114800" cy="914400"/>
          </a:xfrm>
          <a:prstGeom prst="roundRect">
            <a:avLst>
              <a:gd name="adj" fmla="val 10000"/>
            </a:avLst>
          </a:prstGeom>
          <a:solidFill>
            <a:srgbClr val="1A2D5A"/>
          </a:solidFill>
          <a:ln w="12700">
            <a:solidFill>
              <a:srgbClr val="3A5080"/>
            </a:solidFill>
            <a:prstDash val="solid"/>
          </a:ln>
        </p:spPr>
      </p:sp>
      <p:sp>
        <p:nvSpPr>
          <p:cNvPr id="14" name="Text 11"/>
          <p:cNvSpPr/>
          <p:nvPr/>
        </p:nvSpPr>
        <p:spPr>
          <a:xfrm>
            <a:off x="4892040" y="3621024"/>
            <a:ext cx="320040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COMING NEXT</a:t>
            </a:r>
            <a:endParaRPr lang="en-US" sz="900" dirty="0"/>
          </a:p>
        </p:txBody>
      </p:sp>
      <p:sp>
        <p:nvSpPr>
          <p:cNvPr id="15" name="Text 12"/>
          <p:cNvSpPr/>
          <p:nvPr/>
        </p:nvSpPr>
        <p:spPr>
          <a:xfrm>
            <a:off x="4892040" y="3904488"/>
            <a:ext cx="3749040" cy="475488"/>
          </a:xfrm>
          <a:prstGeom prst="rect">
            <a:avLst/>
          </a:prstGeom>
          <a:noFill/>
          <a:ln/>
        </p:spPr>
        <p:txBody>
          <a:bodyPr wrap="square" lIns="0" tIns="0" rIns="0" bIns="0"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Unit 4.07 — We continue building Florida's story, carrying what we learned here forward.</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2026-07-14T00:32:46Z</dcterms:created>
  <dcterms:modified xsi:type="dcterms:W3CDTF">2026-07-14T00:32:46Z</dcterms:modified>
</cp:coreProperties>
</file>