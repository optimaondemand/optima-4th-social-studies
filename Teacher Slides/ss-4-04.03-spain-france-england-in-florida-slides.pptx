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Three European flags (Spanish, French, English) flying over a panoramic Florida coastline with indigenous settlement visible in the distance — dramatic golden-hour light, colonial-era illustration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story beat. Read the message aloud as if it just arrived. Build suspense: 'For two lessons we watched Spain. Today two more flags appear — and Florida becomes a three-way fight. France. England. Spain. One coast.' Keep energy up.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roadmap quickly — under 1 minute. This primes students for what's coming. Say: 'We're going to discover France, compare sources, analyze motives, then hear from the First Peoples who were already here. Then you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image. 5 seconds of silence. Then ask: 'What do you notice? Don't tell me what country — just what you see.' After a few responses: 'What would make someone cross an ocean to build this?' Accept all responses. Don't reveal France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the thinking: 'Don't just say religion — defend it. What evidence from the settlement do you see?' After chat: 'Let's test that idea.' Do NOT reveal France yet. Hold the reveal for slide 6. Coach: hold back, let them argue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each event one by one if possible. Celebrate: 'You read that settlement correctly — France built Fort Caroline because of religious persecution.' Ask retrieval: 30 seconds of silence. Then cold-call 2-3 students. This pre-teaches Assignment Q1 (name three powers + one event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both sources side by side. Ask: 'Before we read closely — what do you notice just from looking?' Then: 'How does the Spanish account describe this land? How does the French account describe the same coast? Why might they look so different?' Move into evaluateSource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source evaluation with a G4 reliability layer. Don't accept 'I trust Source B because it's older.' Push: 'What MOTIVE does each source have? What do they need the reader to believe?' The missing Timucua perspective is critical — it pre-teaches Q3. Hold facilitator stance; don't resolve the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transferable pattern explicitly: 'This isn't just about Florida in 1565. ANY time two groups want the same land, watch for whose story gets told — and whose gets left out. You'll see this pattern in every unit from here.' Connects to Q2 motives and Q3 First Peoples.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discovery pattern as Slide 4. Silence, then: 'What flag is on those ships? What does a fleet like that mean?' Don't name England yet. After chat: 'Where does this fit on the timeline? Spain and France are already fighting over Florida — now a THIRD country shows up.' Leads to Discussion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'Tricky One' embedded in discussion: whose claim was most legitimate? Don't resolve it. Let students argue. The point is that the question IS hard, and the First Peoples perspective makes every European claim weaker. Hold facilitator stance. Say: 'Is evidence strong enough to change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England. Then linger on the First Peoples box. Say: 'This is the most important sentence on this slide. Read it with me.' Ask: 'What would an HONEST historian do differently than what Spain, France, and England's accounts did?' Connects directly to Assignment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kind of courage aloud. Ask: 'Which kind of courage do you think was hardest? Why?' Take 2-3 answers. Then: 'A historian has to see all three — not just one nation's story.' Connects to the honest history theme and the Historian's Notebook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through each part: 'Watch how I use the CLAIM-EVIDENCE-EXPLANATION-CONNECTION structure. I'm not just naming the three countries — I'm explaining why and connecting to the bigger pattern.' Keep this under 2 minutes. Transition: 'Now your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their country and motive — don't assign one to them. After 2 minutes: cold-call a few pairs. Plant the counter-argument: 'Your partner says all countries just wanted power. Can you defend the motive you chose?' Scaffolds Assignment Q2 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response's error is vagueness, not wrongness. Push students to name specific nations (Timucua, Calusa, etc.) and cite specific evidence ('the timeline shows they lived through every flag change'). This scaffolds Q3's requirement to 'name at least one First Peoples nation and explain what the rivalry meant.' Don't fix the response FOR them — ask them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resolve this question. Let students argue. The correct takeaway is: 'Historians can genuinely disagree when evidence is mixed — and that's not a failure, that's the discipline.' If students get stuck, ask: 'What would you need to know to answer this with confidence?' Validate thoughtful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give students 10 seconds to think, then reveal answers together. Celebrate correct answers. For question 3: 'Why does option C keep the First Peoples in the story? Why does that matter for an honest historian?' Brief —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Think aloud through Q2: 'If asked why three powers wanted Florida, point back to God, Gold, Glory — each country had its own version.' Walk through the Historian's Notebook prompt. Show the turn-in checklist: studied sources + evidence questions + Notebook entry + Sentence + submitted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Three European flags side by side with a Florida landscape in the background — warm golden light, sense of resolution and completion, colonial-era illustration style. No human 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4389120"/>
            <a:ext cx="9144000" cy="91440"/>
          </a:xfrm>
          <a:prstGeom prst="rect">
            <a:avLst/>
          </a:prstGeom>
          <a:solidFill>
            <a:srgbClr val="D4943A"/>
          </a:solidFill>
          <a:ln w="12700">
            <a:solidFill>
              <a:srgbClr val="D4943A"/>
            </a:solidFill>
            <a:prstDash val="solid"/>
          </a:ln>
        </p:spPr>
      </p:sp>
      <p:sp>
        <p:nvSpPr>
          <p:cNvPr id="6" name="Shape 3"/>
          <p:cNvSpPr/>
          <p:nvPr/>
        </p:nvSpPr>
        <p:spPr>
          <a:xfrm>
            <a:off x="457200" y="365760"/>
            <a:ext cx="2011680" cy="347472"/>
          </a:xfrm>
          <a:prstGeom prst="roundRect">
            <a:avLst>
              <a:gd name="adj" fmla="val 26316"/>
            </a:avLst>
          </a:prstGeom>
          <a:solidFill>
            <a:srgbClr val="D4943A"/>
          </a:solidFill>
          <a:ln w="12700">
            <a:solidFill>
              <a:srgbClr val="D4943A"/>
            </a:solidFill>
            <a:prstDash val="solid"/>
          </a:ln>
        </p:spPr>
      </p:sp>
      <p:sp>
        <p:nvSpPr>
          <p:cNvPr id="7" name="Text 4"/>
          <p:cNvSpPr/>
          <p:nvPr/>
        </p:nvSpPr>
        <p:spPr>
          <a:xfrm>
            <a:off x="457200" y="365760"/>
            <a:ext cx="20116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LESSON 4.04.03</a:t>
            </a:r>
            <a:endParaRPr lang="en-US" sz="1100" dirty="0"/>
          </a:p>
        </p:txBody>
      </p:sp>
      <p:sp>
        <p:nvSpPr>
          <p:cNvPr id="8" name="Text 5"/>
          <p:cNvSpPr/>
          <p:nvPr/>
        </p:nvSpPr>
        <p:spPr>
          <a:xfrm>
            <a:off x="457200" y="960120"/>
            <a:ext cx="8229600"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Spain, France, and England in Florida</a:t>
            </a:r>
            <a:endParaRPr lang="en-US" sz="4000" dirty="0"/>
          </a:p>
        </p:txBody>
      </p:sp>
      <p:sp>
        <p:nvSpPr>
          <p:cNvPr id="9" name="Shape 6"/>
          <p:cNvSpPr/>
          <p:nvPr/>
        </p:nvSpPr>
        <p:spPr>
          <a:xfrm>
            <a:off x="457200" y="2240280"/>
            <a:ext cx="4572000" cy="36576"/>
          </a:xfrm>
          <a:prstGeom prst="rect">
            <a:avLst/>
          </a:prstGeom>
          <a:solidFill>
            <a:srgbClr val="55C8E8"/>
          </a:solidFill>
          <a:ln w="12700">
            <a:solidFill>
              <a:srgbClr val="55C8E8"/>
            </a:solidFill>
            <a:prstDash val="solid"/>
          </a:ln>
        </p:spPr>
      </p:sp>
      <p:sp>
        <p:nvSpPr>
          <p:cNvPr id="10" name="Text 7"/>
          <p:cNvSpPr/>
          <p:nvPr/>
        </p:nvSpPr>
        <p:spPr>
          <a:xfrm>
            <a:off x="457200" y="2377440"/>
            <a:ext cx="8046720" cy="914400"/>
          </a:xfrm>
          <a:prstGeom prst="rect">
            <a:avLst/>
          </a:prstGeom>
          <a:noFill/>
          <a:ln/>
        </p:spPr>
        <p:txBody>
          <a:bodyPr wrap="square" lIns="0" tIns="0" rIns="0" bIns="0" rtlCol="0" anchor="t"/>
          <a:lstStyle/>
          <a:p>
            <a:pPr algn="l" indent="0" marL="0">
              <a:buNone/>
            </a:pPr>
            <a:r>
              <a:rPr lang="en-US" sz="1600" i="1" dirty="0">
                <a:solidFill>
                  <a:srgbClr val="F0F2F8"/>
                </a:solidFill>
                <a:latin typeface="Calibri" pitchFamily="34" charset="0"/>
                <a:ea typeface="Calibri" pitchFamily="34" charset="-122"/>
                <a:cs typeface="Calibri" pitchFamily="34" charset="-120"/>
              </a:rPr>
              <a:t>How did the rivalry between Spain, France, and England shape early Florida —</a:t>
            </a:r>
            <a:endParaRPr lang="en-US" sz="1600" dirty="0"/>
          </a:p>
          <a:p>
            <a:pPr algn="l" indent="0" marL="0">
              <a:buNone/>
            </a:pPr>
            <a:r>
              <a:rPr lang="en-US" sz="1600" i="1" dirty="0">
                <a:solidFill>
                  <a:srgbClr val="F0F2F8"/>
                </a:solidFill>
                <a:latin typeface="Calibri" pitchFamily="34" charset="0"/>
                <a:ea typeface="Calibri" pitchFamily="34" charset="-122"/>
                <a:cs typeface="Calibri" pitchFamily="34" charset="-120"/>
              </a:rPr>
              <a:t>and what did it mean for the people already living here?</a:t>
            </a:r>
            <a:endParaRPr lang="en-US" sz="1600" dirty="0"/>
          </a:p>
        </p:txBody>
      </p:sp>
      <p:sp>
        <p:nvSpPr>
          <p:cNvPr id="11" name="Text 8"/>
          <p:cNvSpPr/>
          <p:nvPr/>
        </p:nvSpPr>
        <p:spPr>
          <a:xfrm>
            <a:off x="457200" y="4663440"/>
            <a:ext cx="8229600" cy="320040"/>
          </a:xfrm>
          <a:prstGeom prst="rect">
            <a:avLst/>
          </a:prstGeom>
          <a:noFill/>
          <a:ln/>
        </p:spPr>
        <p:txBody>
          <a:bodyPr wrap="square" lIns="0" tIns="0" rIns="0" bIns="0" rtlCol="0" anchor="ctr"/>
          <a:lstStyle/>
          <a:p>
            <a:pPr algn="l" indent="0" marL="0">
              <a:buNone/>
            </a:pPr>
            <a:r>
              <a:rPr lang="en-US" sz="1200" dirty="0">
                <a:solidFill>
                  <a:srgbClr val="7A88A8"/>
                </a:solidFill>
                <a:latin typeface="Calibri" pitchFamily="34" charset="0"/>
                <a:ea typeface="Calibri" pitchFamily="34" charset="-122"/>
                <a:cs typeface="Calibri" pitchFamily="34" charset="-120"/>
              </a:rPr>
              <a:t>Florida History Team  |  Grade 4 Social Studies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3A5080"/>
            </a:solidFill>
            <a:prstDash val="dash"/>
          </a:ln>
        </p:spPr>
      </p:sp>
      <p:sp>
        <p:nvSpPr>
          <p:cNvPr id="3" name="Shape 1"/>
          <p:cNvSpPr/>
          <p:nvPr/>
        </p:nvSpPr>
        <p:spPr>
          <a:xfrm>
            <a:off x="457200" y="320040"/>
            <a:ext cx="2926080" cy="347472"/>
          </a:xfrm>
          <a:prstGeom prst="roundRect">
            <a:avLst>
              <a:gd name="adj" fmla="val 26316"/>
            </a:avLst>
          </a:prstGeom>
          <a:solidFill>
            <a:srgbClr val="D4943A"/>
          </a:solidFill>
          <a:ln w="12700">
            <a:solidFill>
              <a:srgbClr val="D4943A"/>
            </a:solidFill>
            <a:prstDash val="solid"/>
          </a:ln>
        </p:spPr>
      </p:sp>
      <p:sp>
        <p:nvSpPr>
          <p:cNvPr id="4" name="Text 2"/>
          <p:cNvSpPr/>
          <p:nvPr/>
        </p:nvSpPr>
        <p:spPr>
          <a:xfrm>
            <a:off x="457200" y="320040"/>
            <a:ext cx="2926080" cy="34747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MESSAGE FROM INSIDE CANVAS</a:t>
            </a:r>
            <a:endParaRPr lang="en-US" sz="900" dirty="0"/>
          </a:p>
        </p:txBody>
      </p:sp>
      <p:sp>
        <p:nvSpPr>
          <p:cNvPr id="5" name="Text 3"/>
          <p:cNvSpPr/>
          <p:nvPr/>
        </p:nvSpPr>
        <p:spPr>
          <a:xfrm>
            <a:off x="457200" y="822960"/>
            <a:ext cx="8229600" cy="45720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Canvas locked my files again.</a:t>
            </a:r>
            <a:endParaRPr lang="en-US" sz="2400" dirty="0"/>
          </a:p>
        </p:txBody>
      </p:sp>
      <p:sp>
        <p:nvSpPr>
          <p:cNvPr id="6" name="Text 4"/>
          <p:cNvSpPr/>
          <p:nvPr/>
        </p:nvSpPr>
        <p:spPr>
          <a:xfrm>
            <a:off x="457200" y="1371600"/>
            <a:ext cx="8046720" cy="1005840"/>
          </a:xfrm>
          <a:prstGeom prst="rect">
            <a:avLst/>
          </a:prstGeom>
          <a:noFill/>
          <a:ln/>
        </p:spPr>
        <p:txBody>
          <a:bodyPr wrap="square" lIns="0" tIns="0" rIns="0" bIns="0" rtlCol="0" anchor="t"/>
          <a:lstStyle/>
          <a:p>
            <a:pPr algn="l" indent="0" marL="0">
              <a:buNone/>
            </a:pPr>
            <a:r>
              <a:rPr lang="en-US" sz="1600" dirty="0">
                <a:solidFill>
                  <a:srgbClr val="F0F2F8"/>
                </a:solidFill>
                <a:latin typeface="Calibri" pitchFamily="34" charset="0"/>
                <a:ea typeface="Calibri" pitchFamily="34" charset="-122"/>
                <a:cs typeface="Calibri" pitchFamily="34" charset="-120"/>
              </a:rPr>
              <a:t>This time it dropped a map on my desk with three different flags — all pointing at Florida. Spain we've already talked about, but France and England were here too, all wanting the same coast at the same time.</a:t>
            </a:r>
            <a:endParaRPr lang="en-US" sz="1600" dirty="0"/>
          </a:p>
        </p:txBody>
      </p:sp>
      <p:sp>
        <p:nvSpPr>
          <p:cNvPr id="7" name="Text 5"/>
          <p:cNvSpPr/>
          <p:nvPr/>
        </p:nvSpPr>
        <p:spPr>
          <a:xfrm>
            <a:off x="457200" y="2468880"/>
            <a:ext cx="8046720" cy="731520"/>
          </a:xfrm>
          <a:prstGeom prst="rect">
            <a:avLst/>
          </a:prstGeom>
          <a:noFill/>
          <a:ln/>
        </p:spPr>
        <p:txBody>
          <a:bodyPr wrap="square" lIns="0" tIns="0" rIns="0" bIns="0" rtlCol="0" anchor="t"/>
          <a:lstStyle/>
          <a:p>
            <a:pPr algn="l" indent="0" marL="0">
              <a:buNone/>
            </a:pPr>
            <a:r>
              <a:rPr lang="en-US" sz="1600" i="1" dirty="0">
                <a:solidFill>
                  <a:srgbClr val="55C8E8"/>
                </a:solidFill>
                <a:latin typeface="Calibri" pitchFamily="34" charset="0"/>
                <a:ea typeface="Calibri" pitchFamily="34" charset="-122"/>
                <a:cs typeface="Calibri" pitchFamily="34" charset="-120"/>
              </a:rPr>
              <a:t>Can you look at the evidence and explain how three European powers ended up competing for the same piece of land?</a:t>
            </a:r>
            <a:endParaRPr lang="en-US" sz="1600" dirty="0"/>
          </a:p>
        </p:txBody>
      </p:sp>
      <p:sp>
        <p:nvSpPr>
          <p:cNvPr id="8" name="Text 6"/>
          <p:cNvSpPr/>
          <p:nvPr/>
        </p:nvSpPr>
        <p:spPr>
          <a:xfrm>
            <a:off x="457200" y="3291840"/>
            <a:ext cx="8046720" cy="320040"/>
          </a:xfrm>
          <a:prstGeom prst="rect">
            <a:avLst/>
          </a:prstGeom>
          <a:noFill/>
          <a:ln/>
        </p:spPr>
        <p:txBody>
          <a:bodyPr wrap="square" lIns="0" tIns="0" rIns="0" bIns="0" rtlCol="0" anchor="ctr"/>
          <a:lstStyle/>
          <a:p>
            <a:pPr algn="l" indent="0" marL="0">
              <a:buNone/>
            </a:pPr>
            <a:r>
              <a:rPr lang="en-US" sz="1300" i="1" dirty="0">
                <a:solidFill>
                  <a:srgbClr val="7A88A8"/>
                </a:solidFill>
                <a:latin typeface="Calibri" pitchFamily="34" charset="0"/>
                <a:ea typeface="Calibri" pitchFamily="34" charset="-122"/>
                <a:cs typeface="Calibri" pitchFamily="34" charset="-120"/>
              </a:rPr>
              <a:t>— Your teacher, still inside Module 4  |  Episode 4 of 13</a:t>
            </a:r>
            <a:endParaRPr lang="en-US" sz="1300" dirty="0"/>
          </a:p>
        </p:txBody>
      </p:sp>
      <p:sp>
        <p:nvSpPr>
          <p:cNvPr id="9" name="Shape 7"/>
          <p:cNvSpPr/>
          <p:nvPr/>
        </p:nvSpPr>
        <p:spPr>
          <a:xfrm>
            <a:off x="457200" y="3749040"/>
            <a:ext cx="8046720" cy="640080"/>
          </a:xfrm>
          <a:prstGeom prst="roundRect">
            <a:avLst>
              <a:gd name="adj" fmla="val 17143"/>
            </a:avLst>
          </a:prstGeom>
          <a:solidFill>
            <a:srgbClr val="1A2D5A"/>
          </a:solidFill>
          <a:ln w="19050">
            <a:solidFill>
              <a:srgbClr val="55C8E8"/>
            </a:solidFill>
            <a:prstDash val="solid"/>
          </a:ln>
        </p:spPr>
      </p:sp>
      <p:sp>
        <p:nvSpPr>
          <p:cNvPr id="10" name="Text 8"/>
          <p:cNvSpPr/>
          <p:nvPr/>
        </p:nvSpPr>
        <p:spPr>
          <a:xfrm>
            <a:off x="640080" y="3794760"/>
            <a:ext cx="7680960" cy="54864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Your Role: Florida Historian on the Florida History Team. Your mission: identify the three European powers, trace their key forts and battles, and explain the rivalry.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229600" cy="502920"/>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TODAY'S PATH</a:t>
            </a:r>
            <a:endParaRPr lang="en-US" sz="1100" dirty="0"/>
          </a:p>
        </p:txBody>
      </p:sp>
      <p:sp>
        <p:nvSpPr>
          <p:cNvPr id="5" name="Text 3"/>
          <p:cNvSpPr/>
          <p:nvPr/>
        </p:nvSpPr>
        <p:spPr>
          <a:xfrm>
            <a:off x="457200" y="658368"/>
            <a:ext cx="822960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We're Investigating Today</a:t>
            </a:r>
            <a:endParaRPr lang="en-US" sz="2400" dirty="0"/>
          </a:p>
        </p:txBody>
      </p:sp>
      <p:sp>
        <p:nvSpPr>
          <p:cNvPr id="6" name="Shape 4"/>
          <p:cNvSpPr/>
          <p:nvPr/>
        </p:nvSpPr>
        <p:spPr>
          <a:xfrm>
            <a:off x="457200" y="1234440"/>
            <a:ext cx="8229600" cy="576072"/>
          </a:xfrm>
          <a:prstGeom prst="roundRect">
            <a:avLst>
              <a:gd name="adj" fmla="val 15873"/>
            </a:avLst>
          </a:prstGeom>
          <a:solidFill>
            <a:srgbClr val="FFFFFF"/>
          </a:solidFill>
          <a:ln w="25400">
            <a:solidFill>
              <a:srgbClr val="D4943A"/>
            </a:solidFill>
            <a:prstDash val="solid"/>
          </a:ln>
        </p:spPr>
      </p:sp>
      <p:sp>
        <p:nvSpPr>
          <p:cNvPr id="7" name="Shape 5"/>
          <p:cNvSpPr/>
          <p:nvPr/>
        </p:nvSpPr>
        <p:spPr>
          <a:xfrm>
            <a:off x="457200" y="1234440"/>
            <a:ext cx="1371600" cy="576072"/>
          </a:xfrm>
          <a:prstGeom prst="roundRect">
            <a:avLst>
              <a:gd name="adj" fmla="val 15873"/>
            </a:avLst>
          </a:prstGeom>
          <a:solidFill>
            <a:srgbClr val="D4943A"/>
          </a:solidFill>
          <a:ln w="12700">
            <a:solidFill>
              <a:srgbClr val="D4943A"/>
            </a:solidFill>
            <a:prstDash val="solid"/>
          </a:ln>
        </p:spPr>
      </p:sp>
      <p:sp>
        <p:nvSpPr>
          <p:cNvPr id="8" name="Text 6"/>
          <p:cNvSpPr/>
          <p:nvPr/>
        </p:nvSpPr>
        <p:spPr>
          <a:xfrm>
            <a:off x="457200" y="1234440"/>
            <a:ext cx="1371600" cy="576072"/>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DISCOVER</a:t>
            </a:r>
            <a:endParaRPr lang="en-US" sz="1000" dirty="0"/>
          </a:p>
        </p:txBody>
      </p:sp>
      <p:sp>
        <p:nvSpPr>
          <p:cNvPr id="9" name="Text 7"/>
          <p:cNvSpPr/>
          <p:nvPr/>
        </p:nvSpPr>
        <p:spPr>
          <a:xfrm>
            <a:off x="1965960" y="1280160"/>
            <a:ext cx="6583680" cy="484632"/>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Who was France in Florida? What did they want?</a:t>
            </a:r>
            <a:endParaRPr lang="en-US" sz="1300" dirty="0"/>
          </a:p>
        </p:txBody>
      </p:sp>
      <p:sp>
        <p:nvSpPr>
          <p:cNvPr id="10" name="Shape 8"/>
          <p:cNvSpPr/>
          <p:nvPr/>
        </p:nvSpPr>
        <p:spPr>
          <a:xfrm>
            <a:off x="457200" y="1901952"/>
            <a:ext cx="8229600" cy="576072"/>
          </a:xfrm>
          <a:prstGeom prst="roundRect">
            <a:avLst>
              <a:gd name="adj" fmla="val 15873"/>
            </a:avLst>
          </a:prstGeom>
          <a:solidFill>
            <a:srgbClr val="FFFFFF"/>
          </a:solidFill>
          <a:ln w="25400">
            <a:solidFill>
              <a:srgbClr val="1A8A7D"/>
            </a:solidFill>
            <a:prstDash val="solid"/>
          </a:ln>
        </p:spPr>
      </p:sp>
      <p:sp>
        <p:nvSpPr>
          <p:cNvPr id="11" name="Shape 9"/>
          <p:cNvSpPr/>
          <p:nvPr/>
        </p:nvSpPr>
        <p:spPr>
          <a:xfrm>
            <a:off x="457200" y="1901952"/>
            <a:ext cx="1371600" cy="576072"/>
          </a:xfrm>
          <a:prstGeom prst="roundRect">
            <a:avLst>
              <a:gd name="adj" fmla="val 15873"/>
            </a:avLst>
          </a:prstGeom>
          <a:solidFill>
            <a:srgbClr val="1A8A7D"/>
          </a:solidFill>
          <a:ln w="12700">
            <a:solidFill>
              <a:srgbClr val="1A8A7D"/>
            </a:solidFill>
            <a:prstDash val="solid"/>
          </a:ln>
        </p:spPr>
      </p:sp>
      <p:sp>
        <p:nvSpPr>
          <p:cNvPr id="12" name="Text 10"/>
          <p:cNvSpPr/>
          <p:nvPr/>
        </p:nvSpPr>
        <p:spPr>
          <a:xfrm>
            <a:off x="457200" y="1901952"/>
            <a:ext cx="1371600" cy="576072"/>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COMPARE</a:t>
            </a:r>
            <a:endParaRPr lang="en-US" sz="1000" dirty="0"/>
          </a:p>
        </p:txBody>
      </p:sp>
      <p:sp>
        <p:nvSpPr>
          <p:cNvPr id="13" name="Text 11"/>
          <p:cNvSpPr/>
          <p:nvPr/>
        </p:nvSpPr>
        <p:spPr>
          <a:xfrm>
            <a:off x="1965960" y="1947672"/>
            <a:ext cx="6583680" cy="484632"/>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Two sources on the same territory — whose account can we trust?</a:t>
            </a:r>
            <a:endParaRPr lang="en-US" sz="1300" dirty="0"/>
          </a:p>
        </p:txBody>
      </p:sp>
      <p:sp>
        <p:nvSpPr>
          <p:cNvPr id="14" name="Shape 12"/>
          <p:cNvSpPr/>
          <p:nvPr/>
        </p:nvSpPr>
        <p:spPr>
          <a:xfrm>
            <a:off x="457200" y="2569464"/>
            <a:ext cx="8229600" cy="576072"/>
          </a:xfrm>
          <a:prstGeom prst="roundRect">
            <a:avLst>
              <a:gd name="adj" fmla="val 15873"/>
            </a:avLst>
          </a:prstGeom>
          <a:solidFill>
            <a:srgbClr val="FFFFFF"/>
          </a:solidFill>
          <a:ln w="25400">
            <a:solidFill>
              <a:srgbClr val="55C8E8"/>
            </a:solidFill>
            <a:prstDash val="solid"/>
          </a:ln>
        </p:spPr>
      </p:sp>
      <p:sp>
        <p:nvSpPr>
          <p:cNvPr id="15" name="Shape 13"/>
          <p:cNvSpPr/>
          <p:nvPr/>
        </p:nvSpPr>
        <p:spPr>
          <a:xfrm>
            <a:off x="457200" y="2569464"/>
            <a:ext cx="1371600" cy="576072"/>
          </a:xfrm>
          <a:prstGeom prst="roundRect">
            <a:avLst>
              <a:gd name="adj" fmla="val 15873"/>
            </a:avLst>
          </a:prstGeom>
          <a:solidFill>
            <a:srgbClr val="55C8E8"/>
          </a:solidFill>
          <a:ln w="12700">
            <a:solidFill>
              <a:srgbClr val="55C8E8"/>
            </a:solidFill>
            <a:prstDash val="solid"/>
          </a:ln>
        </p:spPr>
      </p:sp>
      <p:sp>
        <p:nvSpPr>
          <p:cNvPr id="16" name="Text 14"/>
          <p:cNvSpPr/>
          <p:nvPr/>
        </p:nvSpPr>
        <p:spPr>
          <a:xfrm>
            <a:off x="457200" y="2569464"/>
            <a:ext cx="1371600" cy="576072"/>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ANALYZE</a:t>
            </a:r>
            <a:endParaRPr lang="en-US" sz="1000" dirty="0"/>
          </a:p>
        </p:txBody>
      </p:sp>
      <p:sp>
        <p:nvSpPr>
          <p:cNvPr id="17" name="Text 15"/>
          <p:cNvSpPr/>
          <p:nvPr/>
        </p:nvSpPr>
        <p:spPr>
          <a:xfrm>
            <a:off x="1965960" y="2615184"/>
            <a:ext cx="6583680" cy="484632"/>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Why did THREE nations want the SAME coast?</a:t>
            </a:r>
            <a:endParaRPr lang="en-US" sz="1300" dirty="0"/>
          </a:p>
        </p:txBody>
      </p:sp>
      <p:sp>
        <p:nvSpPr>
          <p:cNvPr id="18" name="Shape 16"/>
          <p:cNvSpPr/>
          <p:nvPr/>
        </p:nvSpPr>
        <p:spPr>
          <a:xfrm>
            <a:off x="457200" y="3236976"/>
            <a:ext cx="8229600" cy="576072"/>
          </a:xfrm>
          <a:prstGeom prst="roundRect">
            <a:avLst>
              <a:gd name="adj" fmla="val 15873"/>
            </a:avLst>
          </a:prstGeom>
          <a:solidFill>
            <a:srgbClr val="FFFFFF"/>
          </a:solidFill>
          <a:ln w="25400">
            <a:solidFill>
              <a:srgbClr val="E8636B"/>
            </a:solidFill>
            <a:prstDash val="solid"/>
          </a:ln>
        </p:spPr>
      </p:sp>
      <p:sp>
        <p:nvSpPr>
          <p:cNvPr id="19" name="Shape 17"/>
          <p:cNvSpPr/>
          <p:nvPr/>
        </p:nvSpPr>
        <p:spPr>
          <a:xfrm>
            <a:off x="457200" y="3236976"/>
            <a:ext cx="1371600" cy="576072"/>
          </a:xfrm>
          <a:prstGeom prst="roundRect">
            <a:avLst>
              <a:gd name="adj" fmla="val 15873"/>
            </a:avLst>
          </a:prstGeom>
          <a:solidFill>
            <a:srgbClr val="E8636B"/>
          </a:solidFill>
          <a:ln w="12700">
            <a:solidFill>
              <a:srgbClr val="E8636B"/>
            </a:solidFill>
            <a:prstDash val="solid"/>
          </a:ln>
        </p:spPr>
      </p:sp>
      <p:sp>
        <p:nvSpPr>
          <p:cNvPr id="20" name="Text 18"/>
          <p:cNvSpPr/>
          <p:nvPr/>
        </p:nvSpPr>
        <p:spPr>
          <a:xfrm>
            <a:off x="457200" y="3236976"/>
            <a:ext cx="1371600" cy="576072"/>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EVALUATE</a:t>
            </a:r>
            <a:endParaRPr lang="en-US" sz="1000" dirty="0"/>
          </a:p>
        </p:txBody>
      </p:sp>
      <p:sp>
        <p:nvSpPr>
          <p:cNvPr id="21" name="Text 19"/>
          <p:cNvSpPr/>
          <p:nvPr/>
        </p:nvSpPr>
        <p:spPr>
          <a:xfrm>
            <a:off x="1965960" y="3282696"/>
            <a:ext cx="6583680" cy="484632"/>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What happened to the First Peoples through every flag change?</a:t>
            </a:r>
            <a:endParaRPr lang="en-US" sz="1300" dirty="0"/>
          </a:p>
        </p:txBody>
      </p:sp>
      <p:sp>
        <p:nvSpPr>
          <p:cNvPr id="22" name="Shape 20"/>
          <p:cNvSpPr/>
          <p:nvPr/>
        </p:nvSpPr>
        <p:spPr>
          <a:xfrm>
            <a:off x="457200" y="3904488"/>
            <a:ext cx="8229600" cy="576072"/>
          </a:xfrm>
          <a:prstGeom prst="roundRect">
            <a:avLst>
              <a:gd name="adj" fmla="val 15873"/>
            </a:avLst>
          </a:prstGeom>
          <a:solidFill>
            <a:srgbClr val="FFFFFF"/>
          </a:solidFill>
          <a:ln w="25400">
            <a:solidFill>
              <a:srgbClr val="8B6FC0"/>
            </a:solidFill>
            <a:prstDash val="solid"/>
          </a:ln>
        </p:spPr>
      </p:sp>
      <p:sp>
        <p:nvSpPr>
          <p:cNvPr id="23" name="Shape 21"/>
          <p:cNvSpPr/>
          <p:nvPr/>
        </p:nvSpPr>
        <p:spPr>
          <a:xfrm>
            <a:off x="457200" y="3904488"/>
            <a:ext cx="1371600" cy="576072"/>
          </a:xfrm>
          <a:prstGeom prst="roundRect">
            <a:avLst>
              <a:gd name="adj" fmla="val 15873"/>
            </a:avLst>
          </a:prstGeom>
          <a:solidFill>
            <a:srgbClr val="8B6FC0"/>
          </a:solidFill>
          <a:ln w="12700">
            <a:solidFill>
              <a:srgbClr val="8B6FC0"/>
            </a:solidFill>
            <a:prstDash val="solid"/>
          </a:ln>
        </p:spPr>
      </p:sp>
      <p:sp>
        <p:nvSpPr>
          <p:cNvPr id="24" name="Text 22"/>
          <p:cNvSpPr/>
          <p:nvPr/>
        </p:nvSpPr>
        <p:spPr>
          <a:xfrm>
            <a:off x="457200" y="3904488"/>
            <a:ext cx="1371600" cy="576072"/>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PRACTICE + ASSIGN</a:t>
            </a:r>
            <a:endParaRPr lang="en-US" sz="1000" dirty="0"/>
          </a:p>
        </p:txBody>
      </p:sp>
      <p:sp>
        <p:nvSpPr>
          <p:cNvPr id="25" name="Text 23"/>
          <p:cNvSpPr/>
          <p:nvPr/>
        </p:nvSpPr>
        <p:spPr>
          <a:xfrm>
            <a:off x="1965960" y="3950208"/>
            <a:ext cx="6583680" cy="484632"/>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Build your evidence, defend your claim, write your Historian's Notebook entry.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229600" cy="50292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CLUE BOX  |  A NEW FLAG ARRIVES</a:t>
            </a:r>
            <a:endParaRPr lang="en-US" sz="1100" dirty="0"/>
          </a:p>
        </p:txBody>
      </p:sp>
      <p:sp>
        <p:nvSpPr>
          <p:cNvPr id="5" name="Text 3"/>
          <p:cNvSpPr/>
          <p:nvPr/>
        </p:nvSpPr>
        <p:spPr>
          <a:xfrm>
            <a:off x="457200" y="594360"/>
            <a:ext cx="8229600" cy="384048"/>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Look carefully. Don't name it yet — just notice.</a:t>
            </a:r>
            <a:endParaRPr lang="en-US" sz="1800" dirty="0"/>
          </a:p>
        </p:txBody>
      </p:sp>
      <p:sp>
        <p:nvSpPr>
          <p:cNvPr id="6" name="Shape 4"/>
          <p:cNvSpPr/>
          <p:nvPr/>
        </p:nvSpPr>
        <p:spPr>
          <a:xfrm>
            <a:off x="457200" y="1078992"/>
            <a:ext cx="5029200" cy="3108960"/>
          </a:xfrm>
          <a:prstGeom prst="roundRect">
            <a:avLst>
              <a:gd name="adj" fmla="val 3529"/>
            </a:avLst>
          </a:prstGeom>
          <a:solidFill>
            <a:srgbClr val="E2E8F4"/>
          </a:solidFill>
          <a:ln w="19050">
            <a:solidFill>
              <a:srgbClr val="B0B8CC"/>
            </a:solidFill>
            <a:prstDash val="dash"/>
          </a:ln>
        </p:spPr>
      </p:sp>
      <p:sp>
        <p:nvSpPr>
          <p:cNvPr id="7" name="Text 5"/>
          <p:cNvSpPr/>
          <p:nvPr/>
        </p:nvSpPr>
        <p:spPr>
          <a:xfrm>
            <a:off x="457200" y="1078992"/>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94360" y="1353312"/>
            <a:ext cx="4754880" cy="2743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small wooden settlement on the Florida coast, 1564. Log structures, a flag flying that is NOT Spanish. Small group of settlers. Dense subtropical vegetation. No labels.</a:t>
            </a:r>
            <a:endParaRPr lang="en-US" sz="1100" dirty="0"/>
          </a:p>
        </p:txBody>
      </p:sp>
      <p:sp>
        <p:nvSpPr>
          <p:cNvPr id="9" name="Shape 7"/>
          <p:cNvSpPr/>
          <p:nvPr/>
        </p:nvSpPr>
        <p:spPr>
          <a:xfrm>
            <a:off x="5669280" y="1078992"/>
            <a:ext cx="3017520" cy="1280160"/>
          </a:xfrm>
          <a:prstGeom prst="roundRect">
            <a:avLst>
              <a:gd name="adj" fmla="val 8571"/>
            </a:avLst>
          </a:prstGeom>
          <a:solidFill>
            <a:srgbClr val="FFFFFF"/>
          </a:solidFill>
          <a:ln w="19050">
            <a:solidFill>
              <a:srgbClr val="B0B8CC"/>
            </a:solidFill>
            <a:prstDash val="solid"/>
          </a:ln>
        </p:spPr>
      </p:sp>
      <p:sp>
        <p:nvSpPr>
          <p:cNvPr id="10" name="Text 8"/>
          <p:cNvSpPr/>
          <p:nvPr/>
        </p:nvSpPr>
        <p:spPr>
          <a:xfrm>
            <a:off x="5806440" y="1143000"/>
            <a:ext cx="274320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What do you notice?</a:t>
            </a:r>
            <a:endParaRPr lang="en-US" sz="1100" dirty="0"/>
          </a:p>
        </p:txBody>
      </p:sp>
      <p:sp>
        <p:nvSpPr>
          <p:cNvPr id="11" name="Text 9"/>
          <p:cNvSpPr/>
          <p:nvPr/>
        </p:nvSpPr>
        <p:spPr>
          <a:xfrm>
            <a:off x="5806440" y="1417320"/>
            <a:ext cx="2743200" cy="82296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Look at: the flag, the structures, the location. Who might have built this? What did they need? What were they afraid of?</a:t>
            </a:r>
            <a:endParaRPr lang="en-US" sz="1100" dirty="0"/>
          </a:p>
        </p:txBody>
      </p:sp>
      <p:sp>
        <p:nvSpPr>
          <p:cNvPr id="12" name="Shape 10"/>
          <p:cNvSpPr/>
          <p:nvPr/>
        </p:nvSpPr>
        <p:spPr>
          <a:xfrm>
            <a:off x="5669280" y="2514600"/>
            <a:ext cx="3017520" cy="411480"/>
          </a:xfrm>
          <a:prstGeom prst="roundRect">
            <a:avLst>
              <a:gd name="adj" fmla="val 22222"/>
            </a:avLst>
          </a:prstGeom>
          <a:solidFill>
            <a:srgbClr val="E2E8F4"/>
          </a:solidFill>
          <a:ln w="12700">
            <a:solidFill>
              <a:srgbClr val="B0B8CC"/>
            </a:solidFill>
            <a:prstDash val="solid"/>
          </a:ln>
        </p:spPr>
      </p:sp>
      <p:sp>
        <p:nvSpPr>
          <p:cNvPr id="13" name="Text 11"/>
          <p:cNvSpPr/>
          <p:nvPr/>
        </p:nvSpPr>
        <p:spPr>
          <a:xfrm>
            <a:off x="5669280" y="2514600"/>
            <a:ext cx="3017520" cy="41148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5 seconds of silence — just look.</a:t>
            </a:r>
            <a:endParaRPr lang="en-US" sz="1100" dirty="0"/>
          </a:p>
        </p:txBody>
      </p:sp>
      <p:sp>
        <p:nvSpPr>
          <p:cNvPr id="14" name="Shape 12"/>
          <p:cNvSpPr/>
          <p:nvPr/>
        </p:nvSpPr>
        <p:spPr>
          <a:xfrm>
            <a:off x="5669280" y="3035808"/>
            <a:ext cx="3017520" cy="1627632"/>
          </a:xfrm>
          <a:prstGeom prst="roundRect">
            <a:avLst>
              <a:gd name="adj" fmla="val 6742"/>
            </a:avLst>
          </a:prstGeom>
          <a:solidFill>
            <a:srgbClr val="FFF3DC"/>
          </a:solidFill>
          <a:ln w="19050">
            <a:solidFill>
              <a:srgbClr val="F5E6C8"/>
            </a:solidFill>
            <a:prstDash val="solid"/>
          </a:ln>
        </p:spPr>
      </p:sp>
      <p:sp>
        <p:nvSpPr>
          <p:cNvPr id="15" name="Text 13"/>
          <p:cNvSpPr/>
          <p:nvPr/>
        </p:nvSpPr>
        <p:spPr>
          <a:xfrm>
            <a:off x="5806440" y="3090672"/>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806440" y="3291840"/>
            <a:ext cx="2743200" cy="130759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which makes me think...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settlement needed ______ because ______."</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229600" cy="502920"/>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DISCUSSION  |  WHY RISK EVERYTHING?</a:t>
            </a:r>
            <a:endParaRPr lang="en-US" sz="1100" dirty="0"/>
          </a:p>
        </p:txBody>
      </p:sp>
      <p:sp>
        <p:nvSpPr>
          <p:cNvPr id="5" name="Text 3"/>
          <p:cNvSpPr/>
          <p:nvPr/>
        </p:nvSpPr>
        <p:spPr>
          <a:xfrm>
            <a:off x="457200" y="621792"/>
            <a:ext cx="8229600" cy="438912"/>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 second country crossed an ocean for Florida.</a:t>
            </a:r>
            <a:endParaRPr lang="en-US" sz="2200" dirty="0"/>
          </a:p>
        </p:txBody>
      </p:sp>
      <p:sp>
        <p:nvSpPr>
          <p:cNvPr id="6" name="Shape 4"/>
          <p:cNvSpPr/>
          <p:nvPr/>
        </p:nvSpPr>
        <p:spPr>
          <a:xfrm>
            <a:off x="457200" y="1170432"/>
            <a:ext cx="4937760" cy="3383280"/>
          </a:xfrm>
          <a:prstGeom prst="roundRect">
            <a:avLst>
              <a:gd name="adj" fmla="val 4054"/>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640080" y="1261872"/>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640080" y="1517904"/>
            <a:ext cx="4572000" cy="2944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You're a Huguenot in France — your family is persecuted for your religion. The king offers you a ship. Do you go? What would make you say yes?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Spain already claimed Florida. France built Fort Caroline there anyway. Was that brave, foolish, or both? How do you know?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disagreed with building Fort Caroline say? What's their strongest argument?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the motives we studied yesterday were God, Gold, and Glory — which motive best explains WHY France built Fort Caroline?</a:t>
            </a:r>
            <a:endParaRPr lang="en-US" sz="1100" dirty="0"/>
          </a:p>
        </p:txBody>
      </p:sp>
      <p:sp>
        <p:nvSpPr>
          <p:cNvPr id="9" name="Shape 7"/>
          <p:cNvSpPr/>
          <p:nvPr/>
        </p:nvSpPr>
        <p:spPr>
          <a:xfrm>
            <a:off x="5577840" y="1170432"/>
            <a:ext cx="3108960" cy="1828800"/>
          </a:xfrm>
          <a:prstGeom prst="roundRect">
            <a:avLst>
              <a:gd name="adj" fmla="val 6000"/>
            </a:avLst>
          </a:prstGeom>
          <a:solidFill>
            <a:srgbClr val="FFF3DC"/>
          </a:solidFill>
          <a:ln w="19050">
            <a:solidFill>
              <a:srgbClr val="F5E6C8"/>
            </a:solidFill>
            <a:prstDash val="solid"/>
          </a:ln>
        </p:spPr>
      </p:sp>
      <p:sp>
        <p:nvSpPr>
          <p:cNvPr id="10" name="Text 8"/>
          <p:cNvSpPr/>
          <p:nvPr/>
        </p:nvSpPr>
        <p:spPr>
          <a:xfrm>
            <a:off x="5715000" y="1225296"/>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715000" y="1426464"/>
            <a:ext cx="283464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France came to Florida because... The evidence that supports it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might disagree and say... but I still think... because..."</a:t>
            </a:r>
            <a:endParaRPr lang="en-US" sz="1200" dirty="0"/>
          </a:p>
        </p:txBody>
      </p:sp>
      <p:sp>
        <p:nvSpPr>
          <p:cNvPr id="12" name="Shape 10"/>
          <p:cNvSpPr/>
          <p:nvPr/>
        </p:nvSpPr>
        <p:spPr>
          <a:xfrm>
            <a:off x="5577840" y="3154680"/>
            <a:ext cx="3108960" cy="1399032"/>
          </a:xfrm>
          <a:prstGeom prst="roundRect">
            <a:avLst>
              <a:gd name="adj" fmla="val 7843"/>
            </a:avLst>
          </a:prstGeom>
          <a:solidFill>
            <a:srgbClr val="FFFFFF"/>
          </a:solidFill>
          <a:ln w="19050">
            <a:solidFill>
              <a:srgbClr val="D4943A"/>
            </a:solidFill>
            <a:prstDash val="solid"/>
          </a:ln>
        </p:spPr>
      </p:sp>
      <p:sp>
        <p:nvSpPr>
          <p:cNvPr id="13" name="Text 11"/>
          <p:cNvSpPr/>
          <p:nvPr/>
        </p:nvSpPr>
        <p:spPr>
          <a:xfrm>
            <a:off x="5715000" y="3218688"/>
            <a:ext cx="2834640" cy="256032"/>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Pre-teach for Assignment Q2</a:t>
            </a:r>
            <a:endParaRPr lang="en-US" sz="900" dirty="0"/>
          </a:p>
        </p:txBody>
      </p:sp>
      <p:sp>
        <p:nvSpPr>
          <p:cNvPr id="14" name="Text 12"/>
          <p:cNvSpPr/>
          <p:nvPr/>
        </p:nvSpPr>
        <p:spPr>
          <a:xfrm>
            <a:off x="5715000" y="3493008"/>
            <a:ext cx="2834640" cy="96012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Q2 asks: Why did three different European countries want the same piece of land? Students are building that answer right now.</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3A5080"/>
            </a:solidFill>
            <a:prstDash val="dash"/>
          </a:ln>
        </p:spPr>
      </p:sp>
      <p:sp>
        <p:nvSpPr>
          <p:cNvPr id="3" name="Shape 1"/>
          <p:cNvSpPr/>
          <p:nvPr/>
        </p:nvSpPr>
        <p:spPr>
          <a:xfrm>
            <a:off x="0" y="0"/>
            <a:ext cx="9144000" cy="5143500"/>
          </a:xfrm>
          <a:prstGeom prst="rect">
            <a:avLst/>
          </a:prstGeom>
          <a:solidFill>
            <a:srgbClr val="0B1835">
              <a:alpha val="55000"/>
            </a:srgbClr>
          </a:solidFill>
          <a:ln/>
        </p:spPr>
      </p:sp>
      <p:sp>
        <p:nvSpPr>
          <p:cNvPr id="4" name="Shape 2"/>
          <p:cNvSpPr/>
          <p:nvPr/>
        </p:nvSpPr>
        <p:spPr>
          <a:xfrm>
            <a:off x="457200" y="320040"/>
            <a:ext cx="2286000" cy="347472"/>
          </a:xfrm>
          <a:prstGeom prst="roundRect">
            <a:avLst>
              <a:gd name="adj" fmla="val 26316"/>
            </a:avLst>
          </a:prstGeom>
          <a:solidFill>
            <a:srgbClr val="1A8A7D"/>
          </a:solidFill>
          <a:ln w="12700">
            <a:solidFill>
              <a:srgbClr val="1A8A7D"/>
            </a:solidFill>
            <a:prstDash val="solid"/>
          </a:ln>
        </p:spPr>
      </p:sp>
      <p:sp>
        <p:nvSpPr>
          <p:cNvPr id="5" name="Text 3"/>
          <p:cNvSpPr/>
          <p:nvPr/>
        </p:nvSpPr>
        <p:spPr>
          <a:xfrm>
            <a:off x="457200" y="320040"/>
            <a:ext cx="2286000" cy="34747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REVEAL  |  FRANCE IN FLORIDA</a:t>
            </a:r>
            <a:endParaRPr lang="en-US" sz="900" dirty="0"/>
          </a:p>
        </p:txBody>
      </p:sp>
      <p:sp>
        <p:nvSpPr>
          <p:cNvPr id="6" name="Text 4"/>
          <p:cNvSpPr/>
          <p:nvPr/>
        </p:nvSpPr>
        <p:spPr>
          <a:xfrm>
            <a:off x="457200" y="804672"/>
            <a:ext cx="8229600" cy="47548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You discovered it: France was the second flag.</a:t>
            </a:r>
            <a:endParaRPr lang="en-US" sz="2600" dirty="0"/>
          </a:p>
        </p:txBody>
      </p:sp>
      <p:sp>
        <p:nvSpPr>
          <p:cNvPr id="7" name="Shape 5"/>
          <p:cNvSpPr/>
          <p:nvPr/>
        </p:nvSpPr>
        <p:spPr>
          <a:xfrm>
            <a:off x="457200" y="1417320"/>
            <a:ext cx="8229600" cy="914400"/>
          </a:xfrm>
          <a:prstGeom prst="roundRect">
            <a:avLst>
              <a:gd name="adj" fmla="val 12000"/>
            </a:avLst>
          </a:prstGeom>
          <a:solidFill>
            <a:srgbClr val="1A2D5A"/>
          </a:solidFill>
          <a:ln w="12700">
            <a:solidFill>
              <a:srgbClr val="55C8E8"/>
            </a:solidFill>
            <a:prstDash val="solid"/>
          </a:ln>
        </p:spPr>
      </p:sp>
      <p:sp>
        <p:nvSpPr>
          <p:cNvPr id="8" name="Shape 6"/>
          <p:cNvSpPr/>
          <p:nvPr/>
        </p:nvSpPr>
        <p:spPr>
          <a:xfrm>
            <a:off x="457200" y="1417320"/>
            <a:ext cx="914400" cy="914400"/>
          </a:xfrm>
          <a:prstGeom prst="roundRect">
            <a:avLst>
              <a:gd name="adj" fmla="val 12000"/>
            </a:avLst>
          </a:prstGeom>
          <a:solidFill>
            <a:srgbClr val="D4943A"/>
          </a:solidFill>
          <a:ln w="12700">
            <a:solidFill>
              <a:srgbClr val="D4943A"/>
            </a:solidFill>
            <a:prstDash val="solid"/>
          </a:ln>
        </p:spPr>
      </p:sp>
      <p:sp>
        <p:nvSpPr>
          <p:cNvPr id="9" name="Text 7"/>
          <p:cNvSpPr/>
          <p:nvPr/>
        </p:nvSpPr>
        <p:spPr>
          <a:xfrm>
            <a:off x="457200" y="1417320"/>
            <a:ext cx="91440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1564</a:t>
            </a:r>
            <a:endParaRPr lang="en-US" sz="1700" dirty="0"/>
          </a:p>
        </p:txBody>
      </p:sp>
      <p:sp>
        <p:nvSpPr>
          <p:cNvPr id="10" name="Text 8"/>
          <p:cNvSpPr/>
          <p:nvPr/>
        </p:nvSpPr>
        <p:spPr>
          <a:xfrm>
            <a:off x="1508760" y="1490472"/>
            <a:ext cx="7040880" cy="256032"/>
          </a:xfrm>
          <a:prstGeom prst="rect">
            <a:avLst/>
          </a:prstGeom>
          <a:noFill/>
          <a:ln/>
        </p:spPr>
        <p:txBody>
          <a:bodyPr wrap="square" lIns="0" tIns="0" rIns="0" bIns="0"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France</a:t>
            </a:r>
            <a:endParaRPr lang="en-US" sz="1100" dirty="0"/>
          </a:p>
        </p:txBody>
      </p:sp>
      <p:sp>
        <p:nvSpPr>
          <p:cNvPr id="11" name="Text 9"/>
          <p:cNvSpPr/>
          <p:nvPr/>
        </p:nvSpPr>
        <p:spPr>
          <a:xfrm>
            <a:off x="1508760" y="1764792"/>
            <a:ext cx="7040880" cy="50292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French Huguenots (Protestants escaping persecution) build Fort Caroline near today's Jacksonville — looking for religious safety.</a:t>
            </a:r>
            <a:endParaRPr lang="en-US" sz="1200" dirty="0"/>
          </a:p>
        </p:txBody>
      </p:sp>
      <p:sp>
        <p:nvSpPr>
          <p:cNvPr id="12" name="Shape 10"/>
          <p:cNvSpPr/>
          <p:nvPr/>
        </p:nvSpPr>
        <p:spPr>
          <a:xfrm>
            <a:off x="457200" y="2441448"/>
            <a:ext cx="8229600" cy="914400"/>
          </a:xfrm>
          <a:prstGeom prst="roundRect">
            <a:avLst>
              <a:gd name="adj" fmla="val 12000"/>
            </a:avLst>
          </a:prstGeom>
          <a:solidFill>
            <a:srgbClr val="1A2D5A"/>
          </a:solidFill>
          <a:ln w="12700">
            <a:solidFill>
              <a:srgbClr val="55C8E8"/>
            </a:solidFill>
            <a:prstDash val="solid"/>
          </a:ln>
        </p:spPr>
      </p:sp>
      <p:sp>
        <p:nvSpPr>
          <p:cNvPr id="13" name="Shape 11"/>
          <p:cNvSpPr/>
          <p:nvPr/>
        </p:nvSpPr>
        <p:spPr>
          <a:xfrm>
            <a:off x="457200" y="2441448"/>
            <a:ext cx="914400" cy="914400"/>
          </a:xfrm>
          <a:prstGeom prst="roundRect">
            <a:avLst>
              <a:gd name="adj" fmla="val 12000"/>
            </a:avLst>
          </a:prstGeom>
          <a:solidFill>
            <a:srgbClr val="D4943A"/>
          </a:solidFill>
          <a:ln w="12700">
            <a:solidFill>
              <a:srgbClr val="D4943A"/>
            </a:solidFill>
            <a:prstDash val="solid"/>
          </a:ln>
        </p:spPr>
      </p:sp>
      <p:sp>
        <p:nvSpPr>
          <p:cNvPr id="14" name="Text 12"/>
          <p:cNvSpPr/>
          <p:nvPr/>
        </p:nvSpPr>
        <p:spPr>
          <a:xfrm>
            <a:off x="457200" y="2441448"/>
            <a:ext cx="91440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1565</a:t>
            </a:r>
            <a:endParaRPr lang="en-US" sz="1700" dirty="0"/>
          </a:p>
        </p:txBody>
      </p:sp>
      <p:sp>
        <p:nvSpPr>
          <p:cNvPr id="15" name="Text 13"/>
          <p:cNvSpPr/>
          <p:nvPr/>
        </p:nvSpPr>
        <p:spPr>
          <a:xfrm>
            <a:off x="1508760" y="2514600"/>
            <a:ext cx="7040880" cy="256032"/>
          </a:xfrm>
          <a:prstGeom prst="rect">
            <a:avLst/>
          </a:prstGeom>
          <a:noFill/>
          <a:ln/>
        </p:spPr>
        <p:txBody>
          <a:bodyPr wrap="square" lIns="0" tIns="0" rIns="0" bIns="0"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Spain responds</a:t>
            </a:r>
            <a:endParaRPr lang="en-US" sz="1100" dirty="0"/>
          </a:p>
        </p:txBody>
      </p:sp>
      <p:sp>
        <p:nvSpPr>
          <p:cNvPr id="16" name="Text 14"/>
          <p:cNvSpPr/>
          <p:nvPr/>
        </p:nvSpPr>
        <p:spPr>
          <a:xfrm>
            <a:off x="1508760" y="2788920"/>
            <a:ext cx="7040880" cy="50292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Pedro Menendez de Aviles founds St. Augustine — oldest continuously occupied European settlement in the U.S.</a:t>
            </a:r>
            <a:endParaRPr lang="en-US" sz="1200" dirty="0"/>
          </a:p>
        </p:txBody>
      </p:sp>
      <p:sp>
        <p:nvSpPr>
          <p:cNvPr id="17" name="Shape 15"/>
          <p:cNvSpPr/>
          <p:nvPr/>
        </p:nvSpPr>
        <p:spPr>
          <a:xfrm>
            <a:off x="457200" y="3465576"/>
            <a:ext cx="8229600" cy="914400"/>
          </a:xfrm>
          <a:prstGeom prst="roundRect">
            <a:avLst>
              <a:gd name="adj" fmla="val 12000"/>
            </a:avLst>
          </a:prstGeom>
          <a:solidFill>
            <a:srgbClr val="1A2D5A"/>
          </a:solidFill>
          <a:ln w="12700">
            <a:solidFill>
              <a:srgbClr val="55C8E8"/>
            </a:solidFill>
            <a:prstDash val="solid"/>
          </a:ln>
        </p:spPr>
      </p:sp>
      <p:sp>
        <p:nvSpPr>
          <p:cNvPr id="18" name="Shape 16"/>
          <p:cNvSpPr/>
          <p:nvPr/>
        </p:nvSpPr>
        <p:spPr>
          <a:xfrm>
            <a:off x="457200" y="3465576"/>
            <a:ext cx="914400" cy="914400"/>
          </a:xfrm>
          <a:prstGeom prst="roundRect">
            <a:avLst>
              <a:gd name="adj" fmla="val 12000"/>
            </a:avLst>
          </a:prstGeom>
          <a:solidFill>
            <a:srgbClr val="D4943A"/>
          </a:solidFill>
          <a:ln w="12700">
            <a:solidFill>
              <a:srgbClr val="D4943A"/>
            </a:solidFill>
            <a:prstDash val="solid"/>
          </a:ln>
        </p:spPr>
      </p:sp>
      <p:sp>
        <p:nvSpPr>
          <p:cNvPr id="19" name="Text 17"/>
          <p:cNvSpPr/>
          <p:nvPr/>
        </p:nvSpPr>
        <p:spPr>
          <a:xfrm>
            <a:off x="457200" y="3465576"/>
            <a:ext cx="91440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1565</a:t>
            </a:r>
            <a:endParaRPr lang="en-US" sz="1700" dirty="0"/>
          </a:p>
        </p:txBody>
      </p:sp>
      <p:sp>
        <p:nvSpPr>
          <p:cNvPr id="20" name="Text 18"/>
          <p:cNvSpPr/>
          <p:nvPr/>
        </p:nvSpPr>
        <p:spPr>
          <a:xfrm>
            <a:off x="1508760" y="3538728"/>
            <a:ext cx="7040880" cy="256032"/>
          </a:xfrm>
          <a:prstGeom prst="rect">
            <a:avLst/>
          </a:prstGeom>
          <a:noFill/>
          <a:ln/>
        </p:spPr>
        <p:txBody>
          <a:bodyPr wrap="square" lIns="0" tIns="0" rIns="0" bIns="0"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Massacre</a:t>
            </a:r>
            <a:endParaRPr lang="en-US" sz="1100" dirty="0"/>
          </a:p>
        </p:txBody>
      </p:sp>
      <p:sp>
        <p:nvSpPr>
          <p:cNvPr id="21" name="Text 19"/>
          <p:cNvSpPr/>
          <p:nvPr/>
        </p:nvSpPr>
        <p:spPr>
          <a:xfrm>
            <a:off x="1508760" y="3813048"/>
            <a:ext cx="7040880" cy="50292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Menendez attacks Fort Caroline. Many French settlers are killed at Matanzas Inlet. (Matanzas = 'killings' in Spanish.)</a:t>
            </a:r>
            <a:endParaRPr lang="en-US" sz="1200" dirty="0"/>
          </a:p>
        </p:txBody>
      </p:sp>
      <p:sp>
        <p:nvSpPr>
          <p:cNvPr id="22" name="Shape 20"/>
          <p:cNvSpPr/>
          <p:nvPr/>
        </p:nvSpPr>
        <p:spPr>
          <a:xfrm>
            <a:off x="457200" y="4617720"/>
            <a:ext cx="8229600" cy="384048"/>
          </a:xfrm>
          <a:prstGeom prst="roundRect">
            <a:avLst>
              <a:gd name="adj" fmla="val 19048"/>
            </a:avLst>
          </a:prstGeom>
          <a:solidFill>
            <a:srgbClr val="D4943A">
              <a:alpha val="15000"/>
            </a:srgbClr>
          </a:solidFill>
          <a:ln w="12700">
            <a:solidFill>
              <a:srgbClr val="D4943A"/>
            </a:solidFill>
            <a:prstDash val="solid"/>
          </a:ln>
        </p:spPr>
      </p:sp>
      <p:sp>
        <p:nvSpPr>
          <p:cNvPr id="23" name="Text 21"/>
          <p:cNvSpPr/>
          <p:nvPr/>
        </p:nvSpPr>
        <p:spPr>
          <a:xfrm>
            <a:off x="548640" y="4617720"/>
            <a:ext cx="80467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Cover the screen. Name: the French settlement, the Spanish city founded the same year, and the place of the massacre.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412480" cy="50292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MULTI-SOURCE COMPARE  |  SAME TERRITORY, TWO STORIES</a:t>
            </a:r>
            <a:endParaRPr lang="en-US" sz="1100" dirty="0"/>
          </a:p>
        </p:txBody>
      </p:sp>
      <p:sp>
        <p:nvSpPr>
          <p:cNvPr id="5" name="Text 3"/>
          <p:cNvSpPr/>
          <p:nvPr/>
        </p:nvSpPr>
        <p:spPr>
          <a:xfrm>
            <a:off x="457200" y="594360"/>
            <a:ext cx="8229600" cy="41148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Spain and France both wrote about Florida. Do they agree?</a:t>
            </a:r>
            <a:endParaRPr lang="en-US" sz="2000" dirty="0"/>
          </a:p>
        </p:txBody>
      </p:sp>
      <p:sp>
        <p:nvSpPr>
          <p:cNvPr id="6" name="Shape 4"/>
          <p:cNvSpPr/>
          <p:nvPr/>
        </p:nvSpPr>
        <p:spPr>
          <a:xfrm>
            <a:off x="274320" y="1097280"/>
            <a:ext cx="822960" cy="292608"/>
          </a:xfrm>
          <a:prstGeom prst="roundRect">
            <a:avLst>
              <a:gd name="adj" fmla="val 25000"/>
            </a:avLst>
          </a:prstGeom>
          <a:solidFill>
            <a:srgbClr val="D4943A"/>
          </a:solidFill>
          <a:ln w="12700">
            <a:solidFill>
              <a:srgbClr val="D4943A"/>
            </a:solidFill>
            <a:prstDash val="solid"/>
          </a:ln>
        </p:spPr>
      </p:sp>
      <p:sp>
        <p:nvSpPr>
          <p:cNvPr id="7" name="Text 5"/>
          <p:cNvSpPr/>
          <p:nvPr/>
        </p:nvSpPr>
        <p:spPr>
          <a:xfrm>
            <a:off x="274320" y="1097280"/>
            <a:ext cx="8229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SOURCE A</a:t>
            </a:r>
            <a:endParaRPr lang="en-US" sz="900" dirty="0"/>
          </a:p>
        </p:txBody>
      </p:sp>
      <p:sp>
        <p:nvSpPr>
          <p:cNvPr id="8" name="Text 6"/>
          <p:cNvSpPr/>
          <p:nvPr/>
        </p:nvSpPr>
        <p:spPr>
          <a:xfrm>
            <a:off x="1188720" y="1115568"/>
            <a:ext cx="3291840" cy="256032"/>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Spanish colonial account of Florida coast territory, 1565</a:t>
            </a:r>
            <a:endParaRPr lang="en-US" sz="1100" dirty="0"/>
          </a:p>
        </p:txBody>
      </p:sp>
      <p:sp>
        <p:nvSpPr>
          <p:cNvPr id="9" name="Shape 7"/>
          <p:cNvSpPr/>
          <p:nvPr/>
        </p:nvSpPr>
        <p:spPr>
          <a:xfrm>
            <a:off x="274320" y="1444752"/>
            <a:ext cx="4114800" cy="2606040"/>
          </a:xfrm>
          <a:prstGeom prst="roundRect">
            <a:avLst>
              <a:gd name="adj" fmla="val 4211"/>
            </a:avLst>
          </a:prstGeom>
          <a:solidFill>
            <a:srgbClr val="E2E8F4"/>
          </a:solidFill>
          <a:ln w="19050">
            <a:solidFill>
              <a:srgbClr val="B0B8CC"/>
            </a:solidFill>
            <a:prstDash val="dash"/>
          </a:ln>
        </p:spPr>
      </p:sp>
      <p:sp>
        <p:nvSpPr>
          <p:cNvPr id="10" name="Text 8"/>
          <p:cNvSpPr/>
          <p:nvPr/>
        </p:nvSpPr>
        <p:spPr>
          <a:xfrm>
            <a:off x="274320" y="1444752"/>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411480" y="1719072"/>
            <a:ext cx="3840480" cy="2240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Spanish colonial document or map of Florida, 1565 — formal script, Spanish royal seal, coastal features labeled in Spanish. Official tone. No human faces.</a:t>
            </a:r>
            <a:endParaRPr lang="en-US" sz="1100" dirty="0"/>
          </a:p>
        </p:txBody>
      </p:sp>
      <p:sp>
        <p:nvSpPr>
          <p:cNvPr id="12" name="Shape 10"/>
          <p:cNvSpPr/>
          <p:nvPr/>
        </p:nvSpPr>
        <p:spPr>
          <a:xfrm>
            <a:off x="4754880" y="1097280"/>
            <a:ext cx="822960" cy="292608"/>
          </a:xfrm>
          <a:prstGeom prst="roundRect">
            <a:avLst>
              <a:gd name="adj" fmla="val 25000"/>
            </a:avLst>
          </a:prstGeom>
          <a:solidFill>
            <a:srgbClr val="1A8A7D"/>
          </a:solidFill>
          <a:ln w="12700">
            <a:solidFill>
              <a:srgbClr val="1A8A7D"/>
            </a:solidFill>
            <a:prstDash val="solid"/>
          </a:ln>
        </p:spPr>
      </p:sp>
      <p:sp>
        <p:nvSpPr>
          <p:cNvPr id="13" name="Text 11"/>
          <p:cNvSpPr/>
          <p:nvPr/>
        </p:nvSpPr>
        <p:spPr>
          <a:xfrm>
            <a:off x="4754880" y="1097280"/>
            <a:ext cx="8229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SOURCE B</a:t>
            </a:r>
            <a:endParaRPr lang="en-US" sz="900" dirty="0"/>
          </a:p>
        </p:txBody>
      </p:sp>
      <p:sp>
        <p:nvSpPr>
          <p:cNvPr id="14" name="Text 12"/>
          <p:cNvSpPr/>
          <p:nvPr/>
        </p:nvSpPr>
        <p:spPr>
          <a:xfrm>
            <a:off x="5669280" y="1115568"/>
            <a:ext cx="3017520" cy="256032"/>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French Huguenot account of the same Florida coast, 1564</a:t>
            </a:r>
            <a:endParaRPr lang="en-US" sz="1100" dirty="0"/>
          </a:p>
        </p:txBody>
      </p:sp>
      <p:sp>
        <p:nvSpPr>
          <p:cNvPr id="15" name="Shape 13"/>
          <p:cNvSpPr/>
          <p:nvPr/>
        </p:nvSpPr>
        <p:spPr>
          <a:xfrm>
            <a:off x="4754880" y="1444752"/>
            <a:ext cx="3931920" cy="2606040"/>
          </a:xfrm>
          <a:prstGeom prst="roundRect">
            <a:avLst>
              <a:gd name="adj" fmla="val 4211"/>
            </a:avLst>
          </a:prstGeom>
          <a:solidFill>
            <a:srgbClr val="E2E8F4"/>
          </a:solidFill>
          <a:ln w="19050">
            <a:solidFill>
              <a:srgbClr val="B0B8CC"/>
            </a:solidFill>
            <a:prstDash val="dash"/>
          </a:ln>
        </p:spPr>
      </p:sp>
      <p:sp>
        <p:nvSpPr>
          <p:cNvPr id="16" name="Text 14"/>
          <p:cNvSpPr/>
          <p:nvPr/>
        </p:nvSpPr>
        <p:spPr>
          <a:xfrm>
            <a:off x="4754880" y="1444752"/>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4892040" y="1719072"/>
            <a:ext cx="3657600" cy="2240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French Huguenot illustration of the Florida coast, 1564 — detailed naturalist-style drawing, labeled in French, shows lush vegetation and peaceful indigenous presence. No human faces.</a:t>
            </a:r>
            <a:endParaRPr lang="en-US" sz="1100" dirty="0"/>
          </a:p>
        </p:txBody>
      </p:sp>
      <p:sp>
        <p:nvSpPr>
          <p:cNvPr id="18" name="Shape 16"/>
          <p:cNvSpPr/>
          <p:nvPr/>
        </p:nvSpPr>
        <p:spPr>
          <a:xfrm>
            <a:off x="274320" y="4160520"/>
            <a:ext cx="8595360" cy="804672"/>
          </a:xfrm>
          <a:prstGeom prst="roundRect">
            <a:avLst>
              <a:gd name="adj" fmla="val 13636"/>
            </a:avLst>
          </a:prstGeom>
          <a:solidFill>
            <a:srgbClr val="FFF3DC"/>
          </a:solidFill>
          <a:ln w="19050">
            <a:solidFill>
              <a:srgbClr val="F5E6C8"/>
            </a:solidFill>
            <a:prstDash val="solid"/>
          </a:ln>
        </p:spPr>
      </p:sp>
      <p:sp>
        <p:nvSpPr>
          <p:cNvPr id="19" name="Text 17"/>
          <p:cNvSpPr/>
          <p:nvPr/>
        </p:nvSpPr>
        <p:spPr>
          <a:xfrm>
            <a:off x="411480" y="4215384"/>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0" name="Text 18"/>
          <p:cNvSpPr/>
          <p:nvPr/>
        </p:nvSpPr>
        <p:spPr>
          <a:xfrm>
            <a:off x="411480" y="4416552"/>
            <a:ext cx="8321040" cy="4846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and Source B agree that... but disagree about...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trust Source ___ more because... What it leaves out is..."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412480" cy="50292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SOURCE EVALUATION  |  WHOSE ACCOUNT DO YOU TRUST?</a:t>
            </a:r>
            <a:endParaRPr lang="en-US" sz="1100" dirty="0"/>
          </a:p>
        </p:txBody>
      </p:sp>
      <p:sp>
        <p:nvSpPr>
          <p:cNvPr id="5" name="Text 3"/>
          <p:cNvSpPr/>
          <p:nvPr/>
        </p:nvSpPr>
        <p:spPr>
          <a:xfrm>
            <a:off x="457200" y="621792"/>
            <a:ext cx="8229600" cy="50292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Which nation's account would you trust most to be accurate about what Florida was like?</a:t>
            </a:r>
            <a:endParaRPr lang="en-US" sz="2000" dirty="0"/>
          </a:p>
        </p:txBody>
      </p:sp>
      <p:sp>
        <p:nvSpPr>
          <p:cNvPr id="6" name="Shape 4"/>
          <p:cNvSpPr/>
          <p:nvPr/>
        </p:nvSpPr>
        <p:spPr>
          <a:xfrm>
            <a:off x="457200" y="1261872"/>
            <a:ext cx="5029200" cy="3017520"/>
          </a:xfrm>
          <a:prstGeom prst="roundRect">
            <a:avLst>
              <a:gd name="adj" fmla="val 4545"/>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640080" y="1353312"/>
            <a:ext cx="466344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8" name="Text 6"/>
          <p:cNvSpPr/>
          <p:nvPr/>
        </p:nvSpPr>
        <p:spPr>
          <a:xfrm>
            <a:off x="640080" y="1609344"/>
            <a:ext cx="4663440" cy="25786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created Source A? Who created Source B? What was each nation's PURPOSE in writing about Florida?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Spain WANT to include in its account of Florida? What would it want to HIDE?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France WANT to include in its account? What would it want to HIDE?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Neither source asked the Timucua what they thought of these claims. What perspective is completely missing from both accounts?</a:t>
            </a:r>
            <a:endParaRPr lang="en-US" sz="1100" dirty="0"/>
          </a:p>
        </p:txBody>
      </p:sp>
      <p:sp>
        <p:nvSpPr>
          <p:cNvPr id="9" name="Shape 7"/>
          <p:cNvSpPr/>
          <p:nvPr/>
        </p:nvSpPr>
        <p:spPr>
          <a:xfrm>
            <a:off x="5669280" y="1261872"/>
            <a:ext cx="3017520" cy="2286000"/>
          </a:xfrm>
          <a:prstGeom prst="roundRect">
            <a:avLst>
              <a:gd name="adj" fmla="val 4800"/>
            </a:avLst>
          </a:prstGeom>
          <a:solidFill>
            <a:srgbClr val="FFF3DC"/>
          </a:solidFill>
          <a:ln w="19050">
            <a:solidFill>
              <a:srgbClr val="F5E6C8"/>
            </a:solidFill>
            <a:prstDash val="solid"/>
          </a:ln>
        </p:spPr>
      </p:sp>
      <p:sp>
        <p:nvSpPr>
          <p:cNvPr id="10" name="Text 8"/>
          <p:cNvSpPr/>
          <p:nvPr/>
        </p:nvSpPr>
        <p:spPr>
          <a:xfrm>
            <a:off x="5806440" y="1316736"/>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806440" y="1517904"/>
            <a:ext cx="274320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trust Source ___ more because... The limitation of that source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"Both sources leave out ______ because ______ — and that matters because ______."</a:t>
            </a:r>
            <a:endParaRPr lang="en-US" sz="1200" dirty="0"/>
          </a:p>
        </p:txBody>
      </p:sp>
      <p:sp>
        <p:nvSpPr>
          <p:cNvPr id="12" name="Shape 10"/>
          <p:cNvSpPr/>
          <p:nvPr/>
        </p:nvSpPr>
        <p:spPr>
          <a:xfrm>
            <a:off x="5669280" y="3657600"/>
            <a:ext cx="3017520" cy="822960"/>
          </a:xfrm>
          <a:prstGeom prst="roundRect">
            <a:avLst>
              <a:gd name="adj" fmla="val 11111"/>
            </a:avLst>
          </a:prstGeom>
          <a:solidFill>
            <a:srgbClr val="FFFFFF"/>
          </a:solidFill>
          <a:ln w="19050">
            <a:solidFill>
              <a:srgbClr val="E8636B"/>
            </a:solidFill>
            <a:prstDash val="solid"/>
          </a:ln>
        </p:spPr>
      </p:sp>
      <p:sp>
        <p:nvSpPr>
          <p:cNvPr id="13" name="Text 11"/>
          <p:cNvSpPr/>
          <p:nvPr/>
        </p:nvSpPr>
        <p:spPr>
          <a:xfrm>
            <a:off x="5806440" y="3721608"/>
            <a:ext cx="2743200" cy="228600"/>
          </a:xfrm>
          <a:prstGeom prst="rect">
            <a:avLst/>
          </a:prstGeom>
          <a:noFill/>
          <a:ln/>
        </p:spPr>
        <p:txBody>
          <a:bodyPr wrap="square" lIns="0" tIns="0" rIns="0" bIns="0"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Pre-teach for Assignment Q3</a:t>
            </a:r>
            <a:endParaRPr lang="en-US" sz="900" dirty="0"/>
          </a:p>
        </p:txBody>
      </p:sp>
      <p:sp>
        <p:nvSpPr>
          <p:cNvPr id="14" name="Text 12"/>
          <p:cNvSpPr/>
          <p:nvPr/>
        </p:nvSpPr>
        <p:spPr>
          <a:xfrm>
            <a:off x="5806440" y="3977640"/>
            <a:ext cx="2743200" cy="457200"/>
          </a:xfrm>
          <a:prstGeom prst="rect">
            <a:avLst/>
          </a:prstGeom>
          <a:noFill/>
          <a:ln/>
        </p:spPr>
        <p:txBody>
          <a:bodyPr wrap="square" lIns="0" tIns="0" rIns="0" bIns="0" rtlCol="0" anchor="t"/>
          <a:lstStyle/>
          <a:p>
            <a:pPr indent="0" marL="0">
              <a:buNone/>
            </a:pPr>
            <a:r>
              <a:rPr lang="en-US" sz="1000" dirty="0">
                <a:solidFill>
                  <a:srgbClr val="0E1C42"/>
                </a:solidFill>
                <a:latin typeface="Calibri" pitchFamily="34" charset="0"/>
                <a:ea typeface="Calibri" pitchFamily="34" charset="-122"/>
                <a:cs typeface="Calibri" pitchFamily="34" charset="-120"/>
              </a:rPr>
              <a:t>Q3 asks about the First Peoples' experience. The missing perspective question here scaffolds that thinking.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3A5080"/>
            </a:solidFill>
            <a:prstDash val="dash"/>
          </a:ln>
        </p:spPr>
      </p:sp>
      <p:sp>
        <p:nvSpPr>
          <p:cNvPr id="3" name="Shape 1"/>
          <p:cNvSpPr/>
          <p:nvPr/>
        </p:nvSpPr>
        <p:spPr>
          <a:xfrm>
            <a:off x="0" y="0"/>
            <a:ext cx="9144000" cy="5143500"/>
          </a:xfrm>
          <a:prstGeom prst="rect">
            <a:avLst/>
          </a:prstGeom>
          <a:solidFill>
            <a:srgbClr val="0B1835">
              <a:alpha val="55000"/>
            </a:srgbClr>
          </a:solidFill>
          <a:ln/>
        </p:spPr>
      </p:sp>
      <p:sp>
        <p:nvSpPr>
          <p:cNvPr id="4" name="Shape 2"/>
          <p:cNvSpPr/>
          <p:nvPr/>
        </p:nvSpPr>
        <p:spPr>
          <a:xfrm>
            <a:off x="457200" y="320040"/>
            <a:ext cx="2560320" cy="347472"/>
          </a:xfrm>
          <a:prstGeom prst="roundRect">
            <a:avLst>
              <a:gd name="adj" fmla="val 26316"/>
            </a:avLst>
          </a:prstGeom>
          <a:solidFill>
            <a:srgbClr val="8B6FC0"/>
          </a:solidFill>
          <a:ln w="12700">
            <a:solidFill>
              <a:srgbClr val="8B6FC0"/>
            </a:solidFill>
            <a:prstDash val="solid"/>
          </a:ln>
        </p:spPr>
      </p:sp>
      <p:sp>
        <p:nvSpPr>
          <p:cNvPr id="5" name="Text 3"/>
          <p:cNvSpPr/>
          <p:nvPr/>
        </p:nvSpPr>
        <p:spPr>
          <a:xfrm>
            <a:off x="457200" y="320040"/>
            <a:ext cx="2560320" cy="34747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TRANSFERABLE PATTERN</a:t>
            </a:r>
            <a:endParaRPr lang="en-US" sz="900" dirty="0"/>
          </a:p>
        </p:txBody>
      </p:sp>
      <p:sp>
        <p:nvSpPr>
          <p:cNvPr id="6" name="Text 4"/>
          <p:cNvSpPr/>
          <p:nvPr/>
        </p:nvSpPr>
        <p:spPr>
          <a:xfrm>
            <a:off x="457200" y="822960"/>
            <a:ext cx="8229600" cy="438912"/>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You discovered the pattern.</a:t>
            </a:r>
            <a:endParaRPr lang="en-US" sz="2600" dirty="0"/>
          </a:p>
        </p:txBody>
      </p:sp>
      <p:sp>
        <p:nvSpPr>
          <p:cNvPr id="7" name="Shape 5"/>
          <p:cNvSpPr/>
          <p:nvPr/>
        </p:nvSpPr>
        <p:spPr>
          <a:xfrm>
            <a:off x="457200" y="1389888"/>
            <a:ext cx="8229600" cy="1371600"/>
          </a:xfrm>
          <a:prstGeom prst="roundRect">
            <a:avLst>
              <a:gd name="adj" fmla="val 10000"/>
            </a:avLst>
          </a:prstGeom>
          <a:solidFill>
            <a:srgbClr val="1A2D5A"/>
          </a:solidFill>
          <a:ln w="25400">
            <a:solidFill>
              <a:srgbClr val="8B6FC0"/>
            </a:solidFill>
            <a:prstDash val="solid"/>
          </a:ln>
        </p:spPr>
      </p:sp>
      <p:sp>
        <p:nvSpPr>
          <p:cNvPr id="8" name="Text 6"/>
          <p:cNvSpPr/>
          <p:nvPr/>
        </p:nvSpPr>
        <p:spPr>
          <a:xfrm>
            <a:off x="640080" y="1481328"/>
            <a:ext cx="7863840" cy="11887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When multiple groups compete for the same resource, each tells a story that justifies its own claim — but those stories always leave something out.</a:t>
            </a:r>
            <a:endParaRPr lang="en-US" sz="2100" dirty="0"/>
          </a:p>
        </p:txBody>
      </p:sp>
      <p:sp>
        <p:nvSpPr>
          <p:cNvPr id="9" name="Text 7"/>
          <p:cNvSpPr/>
          <p:nvPr/>
        </p:nvSpPr>
        <p:spPr>
          <a:xfrm>
            <a:off x="457200" y="2907792"/>
            <a:ext cx="8229600" cy="292608"/>
          </a:xfrm>
          <a:prstGeom prst="rect">
            <a:avLst/>
          </a:prstGeom>
          <a:noFill/>
          <a:ln/>
        </p:spPr>
        <p:txBody>
          <a:bodyPr wrap="square" lIns="0" tIns="0" rIns="0" bIns="0"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In Florida:</a:t>
            </a:r>
            <a:endParaRPr lang="en-US" sz="1400" dirty="0"/>
          </a:p>
        </p:txBody>
      </p:sp>
      <p:sp>
        <p:nvSpPr>
          <p:cNvPr id="10" name="Shape 8"/>
          <p:cNvSpPr/>
          <p:nvPr/>
        </p:nvSpPr>
        <p:spPr>
          <a:xfrm>
            <a:off x="457200" y="3246120"/>
            <a:ext cx="8229600" cy="457200"/>
          </a:xfrm>
          <a:prstGeom prst="roundRect">
            <a:avLst>
              <a:gd name="adj" fmla="val 16000"/>
            </a:avLst>
          </a:prstGeom>
          <a:solidFill>
            <a:srgbClr val="1A2D5A"/>
          </a:solidFill>
          <a:ln w="12700">
            <a:solidFill>
              <a:srgbClr val="55C8E8"/>
            </a:solidFill>
            <a:prstDash val="solid"/>
          </a:ln>
        </p:spPr>
      </p:sp>
      <p:sp>
        <p:nvSpPr>
          <p:cNvPr id="11" name="Text 9"/>
          <p:cNvSpPr/>
          <p:nvPr/>
        </p:nvSpPr>
        <p:spPr>
          <a:xfrm>
            <a:off x="640080" y="3246120"/>
            <a:ext cx="7863840" cy="457200"/>
          </a:xfrm>
          <a:prstGeom prst="rect">
            <a:avLst/>
          </a:prstGeom>
          <a:noFill/>
          <a:ln/>
        </p:spPr>
        <p:txBody>
          <a:bodyPr wrap="square" lIns="0" tIns="0" rIns="0" bIns="0" rtlCol="0" anchor="ctr"/>
          <a:lstStyle/>
          <a:p>
            <a:pPr indent="0" marL="0">
              <a:buNone/>
            </a:pPr>
            <a:r>
              <a:rPr lang="en-US" sz="1100" dirty="0">
                <a:solidFill>
                  <a:srgbClr val="F0F2F8"/>
                </a:solidFill>
                <a:latin typeface="Calibri" pitchFamily="34" charset="0"/>
                <a:ea typeface="Calibri" pitchFamily="34" charset="-122"/>
                <a:cs typeface="Calibri" pitchFamily="34" charset="-120"/>
              </a:rPr>
              <a:t>Spain's account: Florida was their empire. French presence was illegal. (Left out: Timucua had been here for thousands of years.)</a:t>
            </a:r>
            <a:endParaRPr lang="en-US" sz="1100" dirty="0"/>
          </a:p>
        </p:txBody>
      </p:sp>
      <p:sp>
        <p:nvSpPr>
          <p:cNvPr id="12" name="Shape 10"/>
          <p:cNvSpPr/>
          <p:nvPr/>
        </p:nvSpPr>
        <p:spPr>
          <a:xfrm>
            <a:off x="457200" y="3758184"/>
            <a:ext cx="8229600" cy="457200"/>
          </a:xfrm>
          <a:prstGeom prst="roundRect">
            <a:avLst>
              <a:gd name="adj" fmla="val 16000"/>
            </a:avLst>
          </a:prstGeom>
          <a:solidFill>
            <a:srgbClr val="1A2D5A"/>
          </a:solidFill>
          <a:ln w="12700">
            <a:solidFill>
              <a:srgbClr val="55C8E8"/>
            </a:solidFill>
            <a:prstDash val="solid"/>
          </a:ln>
        </p:spPr>
      </p:sp>
      <p:sp>
        <p:nvSpPr>
          <p:cNvPr id="13" name="Text 11"/>
          <p:cNvSpPr/>
          <p:nvPr/>
        </p:nvSpPr>
        <p:spPr>
          <a:xfrm>
            <a:off x="640080" y="3758184"/>
            <a:ext cx="7863840" cy="457200"/>
          </a:xfrm>
          <a:prstGeom prst="rect">
            <a:avLst/>
          </a:prstGeom>
          <a:noFill/>
          <a:ln/>
        </p:spPr>
        <p:txBody>
          <a:bodyPr wrap="square" lIns="0" tIns="0" rIns="0" bIns="0" rtlCol="0" anchor="ctr"/>
          <a:lstStyle/>
          <a:p>
            <a:pPr indent="0" marL="0">
              <a:buNone/>
            </a:pPr>
            <a:r>
              <a:rPr lang="en-US" sz="1100" dirty="0">
                <a:solidFill>
                  <a:srgbClr val="F0F2F8"/>
                </a:solidFill>
                <a:latin typeface="Calibri" pitchFamily="34" charset="0"/>
                <a:ea typeface="Calibri" pitchFamily="34" charset="-122"/>
                <a:cs typeface="Calibri" pitchFamily="34" charset="-120"/>
              </a:rPr>
              <a:t>France's account: Florida was a refuge for the persecuted. (Left out: they were claiming land that belonged to someone else.)</a:t>
            </a:r>
            <a:endParaRPr lang="en-US" sz="1100" dirty="0"/>
          </a:p>
        </p:txBody>
      </p:sp>
      <p:sp>
        <p:nvSpPr>
          <p:cNvPr id="14" name="Shape 12"/>
          <p:cNvSpPr/>
          <p:nvPr/>
        </p:nvSpPr>
        <p:spPr>
          <a:xfrm>
            <a:off x="457200" y="4270248"/>
            <a:ext cx="8229600" cy="457200"/>
          </a:xfrm>
          <a:prstGeom prst="roundRect">
            <a:avLst>
              <a:gd name="adj" fmla="val 16000"/>
            </a:avLst>
          </a:prstGeom>
          <a:solidFill>
            <a:srgbClr val="1A2D5A"/>
          </a:solidFill>
          <a:ln w="12700">
            <a:solidFill>
              <a:srgbClr val="55C8E8"/>
            </a:solidFill>
            <a:prstDash val="solid"/>
          </a:ln>
        </p:spPr>
      </p:sp>
      <p:sp>
        <p:nvSpPr>
          <p:cNvPr id="15" name="Text 13"/>
          <p:cNvSpPr/>
          <p:nvPr/>
        </p:nvSpPr>
        <p:spPr>
          <a:xfrm>
            <a:off x="640080" y="4270248"/>
            <a:ext cx="7863840" cy="457200"/>
          </a:xfrm>
          <a:prstGeom prst="rect">
            <a:avLst/>
          </a:prstGeom>
          <a:noFill/>
          <a:ln/>
        </p:spPr>
        <p:txBody>
          <a:bodyPr wrap="square" lIns="0" tIns="0" rIns="0" bIns="0" rtlCol="0" anchor="ctr"/>
          <a:lstStyle/>
          <a:p>
            <a:pPr indent="0" marL="0">
              <a:buNone/>
            </a:pPr>
            <a:r>
              <a:rPr lang="en-US" sz="1100" dirty="0">
                <a:solidFill>
                  <a:srgbClr val="F0F2F8"/>
                </a:solidFill>
                <a:latin typeface="Calibri" pitchFamily="34" charset="0"/>
                <a:ea typeface="Calibri" pitchFamily="34" charset="-122"/>
                <a:cs typeface="Calibri" pitchFamily="34" charset="-120"/>
              </a:rPr>
              <a:t>England's account: Florida was up for grabs. (Left out: same problem — and the first two countries hadn't even resolved it.)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229600" cy="50292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CLUE BOX  |  A THIRD FLAG ARRIVES</a:t>
            </a:r>
            <a:endParaRPr lang="en-US" sz="1100" dirty="0"/>
          </a:p>
        </p:txBody>
      </p:sp>
      <p:sp>
        <p:nvSpPr>
          <p:cNvPr id="5" name="Text 3"/>
          <p:cNvSpPr/>
          <p:nvPr/>
        </p:nvSpPr>
        <p:spPr>
          <a:xfrm>
            <a:off x="457200" y="594360"/>
            <a:ext cx="8229600" cy="41148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1586. Twenty years later. A new threat from the sea.</a:t>
            </a:r>
            <a:endParaRPr lang="en-US" sz="2000" dirty="0"/>
          </a:p>
        </p:txBody>
      </p:sp>
      <p:sp>
        <p:nvSpPr>
          <p:cNvPr id="6" name="Shape 4"/>
          <p:cNvSpPr/>
          <p:nvPr/>
        </p:nvSpPr>
        <p:spPr>
          <a:xfrm>
            <a:off x="365760" y="1097280"/>
            <a:ext cx="4937760" cy="3200400"/>
          </a:xfrm>
          <a:prstGeom prst="roundRect">
            <a:avLst>
              <a:gd name="adj" fmla="val 3429"/>
            </a:avLst>
          </a:prstGeom>
          <a:solidFill>
            <a:srgbClr val="E2E8F4"/>
          </a:solidFill>
          <a:ln w="19050">
            <a:solidFill>
              <a:srgbClr val="B0B8CC"/>
            </a:solidFill>
            <a:prstDash val="dash"/>
          </a:ln>
        </p:spPr>
      </p:sp>
      <p:sp>
        <p:nvSpPr>
          <p:cNvPr id="7" name="Text 5"/>
          <p:cNvSpPr/>
          <p:nvPr/>
        </p:nvSpPr>
        <p:spPr>
          <a:xfrm>
            <a:off x="365760" y="1097280"/>
            <a:ext cx="49377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371600"/>
            <a:ext cx="466344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English fleet of ships entering a harbor, 1586 — several warships with English flags visible, colonial-era illustration style, Florida coast visible in background, buildings on shore, dramatic scene. No human faces.</a:t>
            </a:r>
            <a:endParaRPr lang="en-US" sz="1100" dirty="0"/>
          </a:p>
        </p:txBody>
      </p:sp>
      <p:sp>
        <p:nvSpPr>
          <p:cNvPr id="9" name="Shape 7"/>
          <p:cNvSpPr/>
          <p:nvPr/>
        </p:nvSpPr>
        <p:spPr>
          <a:xfrm>
            <a:off x="5577840" y="1097280"/>
            <a:ext cx="3108960" cy="1463040"/>
          </a:xfrm>
          <a:prstGeom prst="roundRect">
            <a:avLst>
              <a:gd name="adj" fmla="val 7500"/>
            </a:avLst>
          </a:prstGeom>
          <a:solidFill>
            <a:srgbClr val="FFFFFF"/>
          </a:solidFill>
          <a:ln w="19050">
            <a:solidFill>
              <a:srgbClr val="B0B8CC"/>
            </a:solidFill>
            <a:prstDash val="solid"/>
          </a:ln>
        </p:spPr>
      </p:sp>
      <p:sp>
        <p:nvSpPr>
          <p:cNvPr id="10" name="Text 8"/>
          <p:cNvSpPr/>
          <p:nvPr/>
        </p:nvSpPr>
        <p:spPr>
          <a:xfrm>
            <a:off x="5715000" y="1161288"/>
            <a:ext cx="283464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What do you notice?</a:t>
            </a:r>
            <a:endParaRPr lang="en-US" sz="1100" dirty="0"/>
          </a:p>
        </p:txBody>
      </p:sp>
      <p:sp>
        <p:nvSpPr>
          <p:cNvPr id="11" name="Text 9"/>
          <p:cNvSpPr/>
          <p:nvPr/>
        </p:nvSpPr>
        <p:spPr>
          <a:xfrm>
            <a:off x="5715000" y="1435608"/>
            <a:ext cx="2834640" cy="91440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Look at: the ships, the flags, the town in the background. What is about to happen? What evidence makes you say that?</a:t>
            </a:r>
            <a:endParaRPr lang="en-US" sz="1100" dirty="0"/>
          </a:p>
        </p:txBody>
      </p:sp>
      <p:sp>
        <p:nvSpPr>
          <p:cNvPr id="12" name="Shape 10"/>
          <p:cNvSpPr/>
          <p:nvPr/>
        </p:nvSpPr>
        <p:spPr>
          <a:xfrm>
            <a:off x="5577840" y="2697480"/>
            <a:ext cx="3108960" cy="365760"/>
          </a:xfrm>
          <a:prstGeom prst="roundRect">
            <a:avLst>
              <a:gd name="adj" fmla="val 25000"/>
            </a:avLst>
          </a:prstGeom>
          <a:solidFill>
            <a:srgbClr val="E2E8F4"/>
          </a:solidFill>
          <a:ln w="12700">
            <a:solidFill>
              <a:srgbClr val="B0B8CC"/>
            </a:solidFill>
            <a:prstDash val="solid"/>
          </a:ln>
        </p:spPr>
      </p:sp>
      <p:sp>
        <p:nvSpPr>
          <p:cNvPr id="13" name="Text 11"/>
          <p:cNvSpPr/>
          <p:nvPr/>
        </p:nvSpPr>
        <p:spPr>
          <a:xfrm>
            <a:off x="5577840" y="2697480"/>
            <a:ext cx="3108960" cy="36576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5 seconds — look before you speak.</a:t>
            </a:r>
            <a:endParaRPr lang="en-US" sz="1100" dirty="0"/>
          </a:p>
        </p:txBody>
      </p:sp>
      <p:sp>
        <p:nvSpPr>
          <p:cNvPr id="14" name="Shape 12"/>
          <p:cNvSpPr/>
          <p:nvPr/>
        </p:nvSpPr>
        <p:spPr>
          <a:xfrm>
            <a:off x="5577840" y="3154680"/>
            <a:ext cx="3108960" cy="1627632"/>
          </a:xfrm>
          <a:prstGeom prst="roundRect">
            <a:avLst>
              <a:gd name="adj" fmla="val 6742"/>
            </a:avLst>
          </a:prstGeom>
          <a:solidFill>
            <a:srgbClr val="FFF3DC"/>
          </a:solidFill>
          <a:ln w="19050">
            <a:solidFill>
              <a:srgbClr val="F5E6C8"/>
            </a:solidFill>
            <a:prstDash val="solid"/>
          </a:ln>
        </p:spPr>
      </p:sp>
      <p:sp>
        <p:nvSpPr>
          <p:cNvPr id="15" name="Text 13"/>
          <p:cNvSpPr/>
          <p:nvPr/>
        </p:nvSpPr>
        <p:spPr>
          <a:xfrm>
            <a:off x="5715000" y="320954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715000" y="3410712"/>
            <a:ext cx="2834640" cy="130759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is ______ because the evidence shows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different from the French settlement because... which means..."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229600" cy="502920"/>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DISCUSSION  |  THREE CLAIMS, ZERO PERMISSION</a:t>
            </a:r>
            <a:endParaRPr lang="en-US" sz="1100" dirty="0"/>
          </a:p>
        </p:txBody>
      </p:sp>
      <p:sp>
        <p:nvSpPr>
          <p:cNvPr id="5" name="Text 3"/>
          <p:cNvSpPr/>
          <p:nvPr/>
        </p:nvSpPr>
        <p:spPr>
          <a:xfrm>
            <a:off x="457200" y="621792"/>
            <a:ext cx="8229600" cy="50292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All three nations wanted the same land. None asked the people already living there.</a:t>
            </a:r>
            <a:endParaRPr lang="en-US" sz="2000" dirty="0"/>
          </a:p>
        </p:txBody>
      </p:sp>
      <p:sp>
        <p:nvSpPr>
          <p:cNvPr id="6" name="Shape 4"/>
          <p:cNvSpPr/>
          <p:nvPr/>
        </p:nvSpPr>
        <p:spPr>
          <a:xfrm>
            <a:off x="457200" y="1234440"/>
            <a:ext cx="5029200" cy="3337560"/>
          </a:xfrm>
          <a:prstGeom prst="roundRect">
            <a:avLst>
              <a:gd name="adj" fmla="val 4110"/>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640080" y="132588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640080" y="1581912"/>
            <a:ext cx="4663440" cy="28986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Spain, France, and England all claimed Florida at the same time. Which nation's claim do you think was most legitimate? What evidence makes you say that?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None of these nations asked the Timucua, Calusa, Apalachee, or Tequesta for permission. How does that change how you evaluate each claim?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was it like for the First Peoples to watch three different foreign powers fight over their land? What evidence from the lesson helps you answer that?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 historian wants to keep the First Peoples in the story. What would a DISHONEST history of Florida leave out?</a:t>
            </a:r>
            <a:endParaRPr lang="en-US" sz="1100" dirty="0"/>
          </a:p>
        </p:txBody>
      </p:sp>
      <p:sp>
        <p:nvSpPr>
          <p:cNvPr id="9" name="Shape 7"/>
          <p:cNvSpPr/>
          <p:nvPr/>
        </p:nvSpPr>
        <p:spPr>
          <a:xfrm>
            <a:off x="5669280" y="1234440"/>
            <a:ext cx="3108960" cy="2286000"/>
          </a:xfrm>
          <a:prstGeom prst="roundRect">
            <a:avLst>
              <a:gd name="adj" fmla="val 4800"/>
            </a:avLst>
          </a:prstGeom>
          <a:solidFill>
            <a:srgbClr val="FFF3DC"/>
          </a:solidFill>
          <a:ln w="19050">
            <a:solidFill>
              <a:srgbClr val="F5E6C8"/>
            </a:solidFill>
            <a:prstDash val="solid"/>
          </a:ln>
        </p:spPr>
      </p:sp>
      <p:sp>
        <p:nvSpPr>
          <p:cNvPr id="10" name="Text 8"/>
          <p:cNvSpPr/>
          <p:nvPr/>
        </p:nvSpPr>
        <p:spPr>
          <a:xfrm>
            <a:off x="5806440" y="128930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806440" y="1490472"/>
            <a:ext cx="283464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nation with the most legitimate claim was ______ because... but the strongest counter-argument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"For the First Peoples, the three-power rivalry meant... because... The evidence that shows this is..."</a:t>
            </a:r>
            <a:endParaRPr lang="en-US" sz="1200" dirty="0"/>
          </a:p>
        </p:txBody>
      </p:sp>
      <p:sp>
        <p:nvSpPr>
          <p:cNvPr id="12" name="Shape 10"/>
          <p:cNvSpPr/>
          <p:nvPr/>
        </p:nvSpPr>
        <p:spPr>
          <a:xfrm>
            <a:off x="5669280" y="3657600"/>
            <a:ext cx="3108960" cy="822960"/>
          </a:xfrm>
          <a:prstGeom prst="roundRect">
            <a:avLst>
              <a:gd name="adj" fmla="val 11111"/>
            </a:avLst>
          </a:prstGeom>
          <a:solidFill>
            <a:srgbClr val="FFFFFF"/>
          </a:solidFill>
          <a:ln w="19050">
            <a:solidFill>
              <a:srgbClr val="E8636B"/>
            </a:solidFill>
            <a:prstDash val="solid"/>
          </a:ln>
        </p:spPr>
      </p:sp>
      <p:sp>
        <p:nvSpPr>
          <p:cNvPr id="13" name="Text 11"/>
          <p:cNvSpPr/>
          <p:nvPr/>
        </p:nvSpPr>
        <p:spPr>
          <a:xfrm>
            <a:off x="5806440" y="3721608"/>
            <a:ext cx="2834640" cy="228600"/>
          </a:xfrm>
          <a:prstGeom prst="rect">
            <a:avLst/>
          </a:prstGeom>
          <a:noFill/>
          <a:ln/>
        </p:spPr>
        <p:txBody>
          <a:bodyPr wrap="square" lIns="0" tIns="0" rIns="0" bIns="0"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Pre-teach for Assignment Q1 + Q3</a:t>
            </a:r>
            <a:endParaRPr lang="en-US" sz="900" dirty="0"/>
          </a:p>
        </p:txBody>
      </p:sp>
      <p:sp>
        <p:nvSpPr>
          <p:cNvPr id="14" name="Text 12"/>
          <p:cNvSpPr/>
          <p:nvPr/>
        </p:nvSpPr>
        <p:spPr>
          <a:xfrm>
            <a:off x="5806440" y="3977640"/>
            <a:ext cx="2834640" cy="457200"/>
          </a:xfrm>
          <a:prstGeom prst="rect">
            <a:avLst/>
          </a:prstGeom>
          <a:noFill/>
          <a:ln/>
        </p:spPr>
        <p:txBody>
          <a:bodyPr wrap="square" lIns="0" tIns="0" rIns="0" bIns="0" rtlCol="0" anchor="t"/>
          <a:lstStyle/>
          <a:p>
            <a:pPr indent="0" marL="0">
              <a:buNone/>
            </a:pPr>
            <a:r>
              <a:rPr lang="en-US" sz="1000" dirty="0">
                <a:solidFill>
                  <a:srgbClr val="0E1C42"/>
                </a:solidFill>
                <a:latin typeface="Calibri" pitchFamily="34" charset="0"/>
                <a:ea typeface="Calibri" pitchFamily="34" charset="-122"/>
                <a:cs typeface="Calibri" pitchFamily="34" charset="-120"/>
              </a:rPr>
              <a:t>Q1: Three powers + one event each. Q3: First Peoples' experience. Both are being built here.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3A5080"/>
            </a:solidFill>
            <a:prstDash val="dash"/>
          </a:ln>
        </p:spPr>
      </p:sp>
      <p:sp>
        <p:nvSpPr>
          <p:cNvPr id="3" name="Shape 1"/>
          <p:cNvSpPr/>
          <p:nvPr/>
        </p:nvSpPr>
        <p:spPr>
          <a:xfrm>
            <a:off x="0" y="0"/>
            <a:ext cx="9144000" cy="5143500"/>
          </a:xfrm>
          <a:prstGeom prst="rect">
            <a:avLst/>
          </a:prstGeom>
          <a:solidFill>
            <a:srgbClr val="0B1835">
              <a:alpha val="55000"/>
            </a:srgbClr>
          </a:solidFill>
          <a:ln/>
        </p:spPr>
      </p:sp>
      <p:sp>
        <p:nvSpPr>
          <p:cNvPr id="4" name="Shape 2"/>
          <p:cNvSpPr/>
          <p:nvPr/>
        </p:nvSpPr>
        <p:spPr>
          <a:xfrm>
            <a:off x="457200" y="320040"/>
            <a:ext cx="2011680" cy="347472"/>
          </a:xfrm>
          <a:prstGeom prst="roundRect">
            <a:avLst>
              <a:gd name="adj" fmla="val 26316"/>
            </a:avLst>
          </a:prstGeom>
          <a:solidFill>
            <a:srgbClr val="E8636B"/>
          </a:solidFill>
          <a:ln w="12700">
            <a:solidFill>
              <a:srgbClr val="E8636B"/>
            </a:solidFill>
            <a:prstDash val="solid"/>
          </a:ln>
        </p:spPr>
      </p:sp>
      <p:sp>
        <p:nvSpPr>
          <p:cNvPr id="5" name="Text 3"/>
          <p:cNvSpPr/>
          <p:nvPr/>
        </p:nvSpPr>
        <p:spPr>
          <a:xfrm>
            <a:off x="457200" y="320040"/>
            <a:ext cx="2011680" cy="34747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REVEAL  |  THREE NATIONS</a:t>
            </a:r>
            <a:endParaRPr lang="en-US" sz="900" dirty="0"/>
          </a:p>
        </p:txBody>
      </p:sp>
      <p:sp>
        <p:nvSpPr>
          <p:cNvPr id="6" name="Text 4"/>
          <p:cNvSpPr/>
          <p:nvPr/>
        </p:nvSpPr>
        <p:spPr>
          <a:xfrm>
            <a:off x="457200" y="804672"/>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You discovered it: England was the third flag.</a:t>
            </a:r>
            <a:endParaRPr lang="en-US" sz="2400" dirty="0"/>
          </a:p>
        </p:txBody>
      </p:sp>
      <p:sp>
        <p:nvSpPr>
          <p:cNvPr id="7" name="Shape 5"/>
          <p:cNvSpPr/>
          <p:nvPr/>
        </p:nvSpPr>
        <p:spPr>
          <a:xfrm>
            <a:off x="457200" y="1371600"/>
            <a:ext cx="8229600" cy="804672"/>
          </a:xfrm>
          <a:prstGeom prst="roundRect">
            <a:avLst>
              <a:gd name="adj" fmla="val 13636"/>
            </a:avLst>
          </a:prstGeom>
          <a:solidFill>
            <a:srgbClr val="1A2D5A"/>
          </a:solidFill>
          <a:ln w="12700">
            <a:solidFill>
              <a:srgbClr val="E8636B"/>
            </a:solidFill>
            <a:prstDash val="solid"/>
          </a:ln>
        </p:spPr>
      </p:sp>
      <p:sp>
        <p:nvSpPr>
          <p:cNvPr id="8" name="Shape 6"/>
          <p:cNvSpPr/>
          <p:nvPr/>
        </p:nvSpPr>
        <p:spPr>
          <a:xfrm>
            <a:off x="457200" y="1371600"/>
            <a:ext cx="914400" cy="804672"/>
          </a:xfrm>
          <a:prstGeom prst="roundRect">
            <a:avLst>
              <a:gd name="adj" fmla="val 13636"/>
            </a:avLst>
          </a:prstGeom>
          <a:solidFill>
            <a:srgbClr val="E8636B"/>
          </a:solidFill>
          <a:ln w="12700">
            <a:solidFill>
              <a:srgbClr val="E8636B"/>
            </a:solidFill>
            <a:prstDash val="solid"/>
          </a:ln>
        </p:spPr>
      </p:sp>
      <p:sp>
        <p:nvSpPr>
          <p:cNvPr id="9" name="Text 7"/>
          <p:cNvSpPr/>
          <p:nvPr/>
        </p:nvSpPr>
        <p:spPr>
          <a:xfrm>
            <a:off x="457200" y="1371600"/>
            <a:ext cx="914400" cy="80467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1586</a:t>
            </a:r>
            <a:endParaRPr lang="en-US" sz="1700" dirty="0"/>
          </a:p>
        </p:txBody>
      </p:sp>
      <p:sp>
        <p:nvSpPr>
          <p:cNvPr id="10" name="Text 8"/>
          <p:cNvSpPr/>
          <p:nvPr/>
        </p:nvSpPr>
        <p:spPr>
          <a:xfrm>
            <a:off x="1508760" y="1426464"/>
            <a:ext cx="7040880" cy="228600"/>
          </a:xfrm>
          <a:prstGeom prst="rect">
            <a:avLst/>
          </a:prstGeom>
          <a:noFill/>
          <a:ln/>
        </p:spPr>
        <p:txBody>
          <a:bodyPr wrap="square" lIns="0" tIns="0" rIns="0" bIns="0" rtlCol="0" anchor="ctr"/>
          <a:lstStyle/>
          <a:p>
            <a:pPr indent="0" marL="0">
              <a:buNone/>
            </a:pPr>
            <a:r>
              <a:rPr lang="en-US" sz="1100" b="1" dirty="0">
                <a:solidFill>
                  <a:srgbClr val="E8636B"/>
                </a:solidFill>
                <a:latin typeface="Calibri" pitchFamily="34" charset="0"/>
                <a:ea typeface="Calibri" pitchFamily="34" charset="-122"/>
                <a:cs typeface="Calibri" pitchFamily="34" charset="-120"/>
              </a:rPr>
              <a:t>England raids</a:t>
            </a:r>
            <a:endParaRPr lang="en-US" sz="1100" dirty="0"/>
          </a:p>
        </p:txBody>
      </p:sp>
      <p:sp>
        <p:nvSpPr>
          <p:cNvPr id="11" name="Text 9"/>
          <p:cNvSpPr/>
          <p:nvPr/>
        </p:nvSpPr>
        <p:spPr>
          <a:xfrm>
            <a:off x="1508760" y="1673352"/>
            <a:ext cx="7040880" cy="45720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Sir Francis Drake burns St. Augustine — England is now actively contesting Spain's grip on Florida.</a:t>
            </a:r>
            <a:endParaRPr lang="en-US" sz="1200" dirty="0"/>
          </a:p>
        </p:txBody>
      </p:sp>
      <p:sp>
        <p:nvSpPr>
          <p:cNvPr id="12" name="Shape 10"/>
          <p:cNvSpPr/>
          <p:nvPr/>
        </p:nvSpPr>
        <p:spPr>
          <a:xfrm>
            <a:off x="457200" y="2286000"/>
            <a:ext cx="8229600" cy="804672"/>
          </a:xfrm>
          <a:prstGeom prst="roundRect">
            <a:avLst>
              <a:gd name="adj" fmla="val 13636"/>
            </a:avLst>
          </a:prstGeom>
          <a:solidFill>
            <a:srgbClr val="1A2D5A"/>
          </a:solidFill>
          <a:ln w="12700">
            <a:solidFill>
              <a:srgbClr val="E8636B"/>
            </a:solidFill>
            <a:prstDash val="solid"/>
          </a:ln>
        </p:spPr>
      </p:sp>
      <p:sp>
        <p:nvSpPr>
          <p:cNvPr id="13" name="Shape 11"/>
          <p:cNvSpPr/>
          <p:nvPr/>
        </p:nvSpPr>
        <p:spPr>
          <a:xfrm>
            <a:off x="457200" y="2286000"/>
            <a:ext cx="914400" cy="804672"/>
          </a:xfrm>
          <a:prstGeom prst="roundRect">
            <a:avLst>
              <a:gd name="adj" fmla="val 13636"/>
            </a:avLst>
          </a:prstGeom>
          <a:solidFill>
            <a:srgbClr val="E8636B"/>
          </a:solidFill>
          <a:ln w="12700">
            <a:solidFill>
              <a:srgbClr val="E8636B"/>
            </a:solidFill>
            <a:prstDash val="solid"/>
          </a:ln>
        </p:spPr>
      </p:sp>
      <p:sp>
        <p:nvSpPr>
          <p:cNvPr id="14" name="Text 12"/>
          <p:cNvSpPr/>
          <p:nvPr/>
        </p:nvSpPr>
        <p:spPr>
          <a:xfrm>
            <a:off x="457200" y="2286000"/>
            <a:ext cx="914400" cy="80467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1763</a:t>
            </a:r>
            <a:endParaRPr lang="en-US" sz="1700" dirty="0"/>
          </a:p>
        </p:txBody>
      </p:sp>
      <p:sp>
        <p:nvSpPr>
          <p:cNvPr id="15" name="Text 13"/>
          <p:cNvSpPr/>
          <p:nvPr/>
        </p:nvSpPr>
        <p:spPr>
          <a:xfrm>
            <a:off x="1508760" y="2340864"/>
            <a:ext cx="7040880" cy="228600"/>
          </a:xfrm>
          <a:prstGeom prst="rect">
            <a:avLst/>
          </a:prstGeom>
          <a:noFill/>
          <a:ln/>
        </p:spPr>
        <p:txBody>
          <a:bodyPr wrap="square" lIns="0" tIns="0" rIns="0" bIns="0" rtlCol="0" anchor="ctr"/>
          <a:lstStyle/>
          <a:p>
            <a:pPr indent="0" marL="0">
              <a:buNone/>
            </a:pPr>
            <a:r>
              <a:rPr lang="en-US" sz="1100" b="1" dirty="0">
                <a:solidFill>
                  <a:srgbClr val="E8636B"/>
                </a:solidFill>
                <a:latin typeface="Calibri" pitchFamily="34" charset="0"/>
                <a:ea typeface="Calibri" pitchFamily="34" charset="-122"/>
                <a:cs typeface="Calibri" pitchFamily="34" charset="-120"/>
              </a:rPr>
              <a:t>England wins</a:t>
            </a:r>
            <a:endParaRPr lang="en-US" sz="1100" dirty="0"/>
          </a:p>
        </p:txBody>
      </p:sp>
      <p:sp>
        <p:nvSpPr>
          <p:cNvPr id="16" name="Text 14"/>
          <p:cNvSpPr/>
          <p:nvPr/>
        </p:nvSpPr>
        <p:spPr>
          <a:xfrm>
            <a:off x="1508760" y="2587752"/>
            <a:ext cx="7040880" cy="45720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After a long war, Spain cedes Florida to England. European Florida is not one flag's story — it is three.</a:t>
            </a:r>
            <a:endParaRPr lang="en-US" sz="1200" dirty="0"/>
          </a:p>
        </p:txBody>
      </p:sp>
      <p:sp>
        <p:nvSpPr>
          <p:cNvPr id="17" name="Shape 15"/>
          <p:cNvSpPr/>
          <p:nvPr/>
        </p:nvSpPr>
        <p:spPr>
          <a:xfrm>
            <a:off x="457200" y="3273552"/>
            <a:ext cx="8229600" cy="1188720"/>
          </a:xfrm>
          <a:prstGeom prst="roundRect">
            <a:avLst>
              <a:gd name="adj" fmla="val 11538"/>
            </a:avLst>
          </a:prstGeom>
          <a:solidFill>
            <a:srgbClr val="1A2D5A"/>
          </a:solidFill>
          <a:ln w="25400">
            <a:solidFill>
              <a:srgbClr val="D4943A"/>
            </a:solidFill>
            <a:prstDash val="solid"/>
          </a:ln>
        </p:spPr>
      </p:sp>
      <p:sp>
        <p:nvSpPr>
          <p:cNvPr id="18" name="Text 16"/>
          <p:cNvSpPr/>
          <p:nvPr/>
        </p:nvSpPr>
        <p:spPr>
          <a:xfrm>
            <a:off x="640080" y="3337560"/>
            <a:ext cx="7863840" cy="27432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The people who were here all along:</a:t>
            </a:r>
            <a:endParaRPr lang="en-US" sz="1300" dirty="0"/>
          </a:p>
        </p:txBody>
      </p:sp>
      <p:sp>
        <p:nvSpPr>
          <p:cNvPr id="19" name="Text 17"/>
          <p:cNvSpPr/>
          <p:nvPr/>
        </p:nvSpPr>
        <p:spPr>
          <a:xfrm>
            <a:off x="640080" y="3630168"/>
            <a:ext cx="7863840" cy="77724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The Calusa, Timucua, Apalachee, and Tequesta did not invite any of these powers. They were here for thousands of years before 1564, and they lived through every battle, every fort, every flag change. Honest historians keep them in the story.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3A5080"/>
            </a:solidFill>
            <a:prstDash val="dash"/>
          </a:ln>
        </p:spPr>
      </p:sp>
      <p:sp>
        <p:nvSpPr>
          <p:cNvPr id="3" name="Shape 1"/>
          <p:cNvSpPr/>
          <p:nvPr/>
        </p:nvSpPr>
        <p:spPr>
          <a:xfrm>
            <a:off x="0" y="0"/>
            <a:ext cx="9144000" cy="5143500"/>
          </a:xfrm>
          <a:prstGeom prst="rect">
            <a:avLst/>
          </a:prstGeom>
          <a:solidFill>
            <a:srgbClr val="0B1835">
              <a:alpha val="50000"/>
            </a:srgbClr>
          </a:solidFill>
          <a:ln/>
        </p:spPr>
      </p:sp>
      <p:sp>
        <p:nvSpPr>
          <p:cNvPr id="4" name="Shape 2"/>
          <p:cNvSpPr/>
          <p:nvPr/>
        </p:nvSpPr>
        <p:spPr>
          <a:xfrm>
            <a:off x="457200" y="320040"/>
            <a:ext cx="2286000" cy="347472"/>
          </a:xfrm>
          <a:prstGeom prst="roundRect">
            <a:avLst>
              <a:gd name="adj" fmla="val 26316"/>
            </a:avLst>
          </a:prstGeom>
          <a:solidFill>
            <a:srgbClr val="D4943A"/>
          </a:solidFill>
          <a:ln w="12700">
            <a:solidFill>
              <a:srgbClr val="D4943A"/>
            </a:solidFill>
            <a:prstDash val="solid"/>
          </a:ln>
        </p:spPr>
      </p:sp>
      <p:sp>
        <p:nvSpPr>
          <p:cNvPr id="5" name="Text 3"/>
          <p:cNvSpPr/>
          <p:nvPr/>
        </p:nvSpPr>
        <p:spPr>
          <a:xfrm>
            <a:off x="457200" y="320040"/>
            <a:ext cx="2286000" cy="347472"/>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VIRTUE SPOTLIGHT</a:t>
            </a:r>
            <a:endParaRPr lang="en-US" sz="900" dirty="0"/>
          </a:p>
        </p:txBody>
      </p:sp>
      <p:sp>
        <p:nvSpPr>
          <p:cNvPr id="6" name="Text 4"/>
          <p:cNvSpPr/>
          <p:nvPr/>
        </p:nvSpPr>
        <p:spPr>
          <a:xfrm>
            <a:off x="457200" y="822960"/>
            <a:ext cx="8229600" cy="594360"/>
          </a:xfrm>
          <a:prstGeom prst="rect">
            <a:avLst/>
          </a:prstGeom>
          <a:noFill/>
          <a:ln/>
        </p:spPr>
        <p:txBody>
          <a:bodyPr wrap="square" lIns="0" tIns="0" rIns="0" bIns="0" rtlCol="0" anchor="ctr"/>
          <a:lstStyle/>
          <a:p>
            <a:pPr indent="0" marL="0">
              <a:buNone/>
            </a:pPr>
            <a:r>
              <a:rPr lang="en-US" sz="4200" b="1" dirty="0">
                <a:solidFill>
                  <a:srgbClr val="D4943A"/>
                </a:solidFill>
                <a:latin typeface="Cambria" pitchFamily="34" charset="0"/>
                <a:ea typeface="Cambria" pitchFamily="34" charset="-122"/>
                <a:cs typeface="Cambria" pitchFamily="34" charset="-120"/>
              </a:rPr>
              <a:t>Courage</a:t>
            </a:r>
            <a:endParaRPr lang="en-US" sz="4200" dirty="0"/>
          </a:p>
        </p:txBody>
      </p:sp>
      <p:sp>
        <p:nvSpPr>
          <p:cNvPr id="7" name="Text 5"/>
          <p:cNvSpPr/>
          <p:nvPr/>
        </p:nvSpPr>
        <p:spPr>
          <a:xfrm>
            <a:off x="457200" y="1481328"/>
            <a:ext cx="8229600" cy="347472"/>
          </a:xfrm>
          <a:prstGeom prst="rect">
            <a:avLst/>
          </a:prstGeom>
          <a:noFill/>
          <a:ln/>
        </p:spPr>
        <p:txBody>
          <a:bodyPr wrap="square" lIns="0" tIns="0" rIns="0" bIns="0" rtlCol="0" anchor="ctr"/>
          <a:lstStyle/>
          <a:p>
            <a:pPr indent="0" marL="0">
              <a:buNone/>
            </a:pPr>
            <a:r>
              <a:rPr lang="en-US" sz="1800" i="1" dirty="0">
                <a:solidFill>
                  <a:srgbClr val="F0F2F8"/>
                </a:solidFill>
                <a:latin typeface="Calibri" pitchFamily="34" charset="0"/>
                <a:ea typeface="Calibri" pitchFamily="34" charset="-122"/>
                <a:cs typeface="Calibri" pitchFamily="34" charset="-120"/>
              </a:rPr>
              <a:t>Courage took different shapes in this story.</a:t>
            </a:r>
            <a:endParaRPr lang="en-US" sz="1800" dirty="0"/>
          </a:p>
        </p:txBody>
      </p:sp>
      <p:sp>
        <p:nvSpPr>
          <p:cNvPr id="8" name="Shape 6"/>
          <p:cNvSpPr/>
          <p:nvPr/>
        </p:nvSpPr>
        <p:spPr>
          <a:xfrm>
            <a:off x="457200" y="1938528"/>
            <a:ext cx="8229600" cy="804672"/>
          </a:xfrm>
          <a:prstGeom prst="roundRect">
            <a:avLst>
              <a:gd name="adj" fmla="val 13636"/>
            </a:avLst>
          </a:prstGeom>
          <a:solidFill>
            <a:srgbClr val="1A2D5A"/>
          </a:solidFill>
          <a:ln w="12700">
            <a:solidFill>
              <a:srgbClr val="D4943A"/>
            </a:solidFill>
            <a:prstDash val="solid"/>
          </a:ln>
        </p:spPr>
      </p:sp>
      <p:sp>
        <p:nvSpPr>
          <p:cNvPr id="9" name="Text 7"/>
          <p:cNvSpPr/>
          <p:nvPr/>
        </p:nvSpPr>
        <p:spPr>
          <a:xfrm>
            <a:off x="640080" y="2011680"/>
            <a:ext cx="7863840" cy="22860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Spanish soldiers</a:t>
            </a:r>
            <a:endParaRPr lang="en-US" sz="1200" dirty="0"/>
          </a:p>
        </p:txBody>
      </p:sp>
      <p:sp>
        <p:nvSpPr>
          <p:cNvPr id="10" name="Text 8"/>
          <p:cNvSpPr/>
          <p:nvPr/>
        </p:nvSpPr>
        <p:spPr>
          <a:xfrm>
            <a:off x="640080" y="2258568"/>
            <a:ext cx="7863840" cy="438912"/>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showed courage building a permanent settlement at St. Augustine — the oldest in the U.S. — in a land already contested by two other nations.</a:t>
            </a:r>
            <a:endParaRPr lang="en-US" sz="1200" dirty="0"/>
          </a:p>
        </p:txBody>
      </p:sp>
      <p:sp>
        <p:nvSpPr>
          <p:cNvPr id="11" name="Shape 9"/>
          <p:cNvSpPr/>
          <p:nvPr/>
        </p:nvSpPr>
        <p:spPr>
          <a:xfrm>
            <a:off x="457200" y="2834640"/>
            <a:ext cx="8229600" cy="804672"/>
          </a:xfrm>
          <a:prstGeom prst="roundRect">
            <a:avLst>
              <a:gd name="adj" fmla="val 13636"/>
            </a:avLst>
          </a:prstGeom>
          <a:solidFill>
            <a:srgbClr val="1A2D5A"/>
          </a:solidFill>
          <a:ln w="12700">
            <a:solidFill>
              <a:srgbClr val="D4943A"/>
            </a:solidFill>
            <a:prstDash val="solid"/>
          </a:ln>
        </p:spPr>
      </p:sp>
      <p:sp>
        <p:nvSpPr>
          <p:cNvPr id="12" name="Text 10"/>
          <p:cNvSpPr/>
          <p:nvPr/>
        </p:nvSpPr>
        <p:spPr>
          <a:xfrm>
            <a:off x="640080" y="2907792"/>
            <a:ext cx="7863840" cy="22860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French Huguenots</a:t>
            </a:r>
            <a:endParaRPr lang="en-US" sz="1200" dirty="0"/>
          </a:p>
        </p:txBody>
      </p:sp>
      <p:sp>
        <p:nvSpPr>
          <p:cNvPr id="13" name="Text 11"/>
          <p:cNvSpPr/>
          <p:nvPr/>
        </p:nvSpPr>
        <p:spPr>
          <a:xfrm>
            <a:off x="640080" y="3154680"/>
            <a:ext cx="7863840" cy="438912"/>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showed courage crossing an ocean to build Fort Caroline, trying to start a new home where they could practice their faith freely.</a:t>
            </a:r>
            <a:endParaRPr lang="en-US" sz="1200" dirty="0"/>
          </a:p>
        </p:txBody>
      </p:sp>
      <p:sp>
        <p:nvSpPr>
          <p:cNvPr id="14" name="Shape 12"/>
          <p:cNvSpPr/>
          <p:nvPr/>
        </p:nvSpPr>
        <p:spPr>
          <a:xfrm>
            <a:off x="457200" y="3730752"/>
            <a:ext cx="8229600" cy="804672"/>
          </a:xfrm>
          <a:prstGeom prst="roundRect">
            <a:avLst>
              <a:gd name="adj" fmla="val 13636"/>
            </a:avLst>
          </a:prstGeom>
          <a:solidFill>
            <a:srgbClr val="1A2D5A"/>
          </a:solidFill>
          <a:ln w="12700">
            <a:solidFill>
              <a:srgbClr val="D4943A"/>
            </a:solidFill>
            <a:prstDash val="solid"/>
          </a:ln>
        </p:spPr>
      </p:sp>
      <p:sp>
        <p:nvSpPr>
          <p:cNvPr id="15" name="Text 13"/>
          <p:cNvSpPr/>
          <p:nvPr/>
        </p:nvSpPr>
        <p:spPr>
          <a:xfrm>
            <a:off x="640080" y="3803904"/>
            <a:ext cx="7863840" cy="22860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Timucua and Apalachee</a:t>
            </a:r>
            <a:endParaRPr lang="en-US" sz="1200" dirty="0"/>
          </a:p>
        </p:txBody>
      </p:sp>
      <p:sp>
        <p:nvSpPr>
          <p:cNvPr id="16" name="Text 14"/>
          <p:cNvSpPr/>
          <p:nvPr/>
        </p:nvSpPr>
        <p:spPr>
          <a:xfrm>
            <a:off x="640080" y="4050792"/>
            <a:ext cx="7863840" cy="438912"/>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showed courage holding on to who they were while three foreign powers fought across their land — year after year, flag after flag.</a:t>
            </a:r>
            <a:endParaRPr lang="en-US" sz="1200" dirty="0"/>
          </a:p>
        </p:txBody>
      </p:sp>
      <p:sp>
        <p:nvSpPr>
          <p:cNvPr id="17" name="Text 15"/>
          <p:cNvSpPr/>
          <p:nvPr/>
        </p:nvSpPr>
        <p:spPr>
          <a:xfrm>
            <a:off x="457200" y="4681728"/>
            <a:ext cx="8229600" cy="347472"/>
          </a:xfrm>
          <a:prstGeom prst="rect">
            <a:avLst/>
          </a:prstGeom>
          <a:noFill/>
          <a:ln/>
        </p:spPr>
        <p:txBody>
          <a:bodyPr wrap="square" lIns="0" tIns="0" rIns="0" bIns="0"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A historian sees all three kinds of courage.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229600" cy="502920"/>
          </a:xfrm>
          <a:prstGeom prst="rect">
            <a:avLst/>
          </a:prstGeom>
          <a:noFill/>
          <a:ln/>
        </p:spPr>
        <p:txBody>
          <a:bodyPr wrap="square" lIns="0" tIns="0" rIns="0" bIns="0" rtlCol="0" anchor="ctr"/>
          <a:lstStyle/>
          <a:p>
            <a:pPr indent="0" marL="0">
              <a:buNone/>
            </a:pPr>
            <a:r>
              <a:rPr lang="en-US" sz="1100" b="1" spc="150" kern="0" dirty="0">
                <a:solidFill>
                  <a:srgbClr val="34B76F"/>
                </a:solidFill>
                <a:latin typeface="Calibri" pitchFamily="34" charset="0"/>
                <a:ea typeface="Calibri" pitchFamily="34" charset="-122"/>
                <a:cs typeface="Calibri" pitchFamily="34" charset="-120"/>
              </a:rPr>
              <a:t>GUIDED PRACTICE  |  TEACHER MODELS (BRIEF)</a:t>
            </a:r>
            <a:endParaRPr lang="en-US" sz="1100" dirty="0"/>
          </a:p>
        </p:txBody>
      </p:sp>
      <p:sp>
        <p:nvSpPr>
          <p:cNvPr id="5" name="Text 3"/>
          <p:cNvSpPr/>
          <p:nvPr/>
        </p:nvSpPr>
        <p:spPr>
          <a:xfrm>
            <a:off x="457200" y="621792"/>
            <a:ext cx="8229600" cy="41148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Watch me build one answer. Then you'll build your own.</a:t>
            </a:r>
            <a:endParaRPr lang="en-US" sz="2000" dirty="0"/>
          </a:p>
        </p:txBody>
      </p:sp>
      <p:sp>
        <p:nvSpPr>
          <p:cNvPr id="6" name="Shape 4"/>
          <p:cNvSpPr/>
          <p:nvPr/>
        </p:nvSpPr>
        <p:spPr>
          <a:xfrm>
            <a:off x="457200" y="1143000"/>
            <a:ext cx="8229600" cy="3200400"/>
          </a:xfrm>
          <a:prstGeom prst="roundRect">
            <a:avLst>
              <a:gd name="adj" fmla="val 4286"/>
            </a:avLst>
          </a:prstGeom>
          <a:solidFill>
            <a:srgbClr val="FFFFFF"/>
          </a:solidFill>
          <a:ln w="25400">
            <a:solidFill>
              <a:srgbClr val="34B76F"/>
            </a:solidFill>
            <a:prstDash val="solid"/>
          </a:ln>
        </p:spPr>
      </p:sp>
      <p:sp>
        <p:nvSpPr>
          <p:cNvPr id="7" name="Text 5"/>
          <p:cNvSpPr/>
          <p:nvPr/>
        </p:nvSpPr>
        <p:spPr>
          <a:xfrm>
            <a:off x="640080" y="1234440"/>
            <a:ext cx="7863840" cy="27432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Assignment Q1 — Teacher model:</a:t>
            </a:r>
            <a:endParaRPr lang="en-US" sz="1100" dirty="0"/>
          </a:p>
        </p:txBody>
      </p:sp>
      <p:sp>
        <p:nvSpPr>
          <p:cNvPr id="8" name="Text 6"/>
          <p:cNvSpPr/>
          <p:nvPr/>
        </p:nvSpPr>
        <p:spPr>
          <a:xfrm>
            <a:off x="640080" y="1527048"/>
            <a:ext cx="7863840" cy="45720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"Name the three European powers that tried to settle Florida and one place or event connected to each one."</a:t>
            </a:r>
            <a:endParaRPr lang="en-US" sz="1200" dirty="0"/>
          </a:p>
        </p:txBody>
      </p:sp>
      <p:sp>
        <p:nvSpPr>
          <p:cNvPr id="9" name="Shape 7"/>
          <p:cNvSpPr/>
          <p:nvPr/>
        </p:nvSpPr>
        <p:spPr>
          <a:xfrm>
            <a:off x="640080" y="2084832"/>
            <a:ext cx="1280160" cy="402336"/>
          </a:xfrm>
          <a:prstGeom prst="roundRect">
            <a:avLst>
              <a:gd name="adj" fmla="val 18182"/>
            </a:avLst>
          </a:prstGeom>
          <a:solidFill>
            <a:srgbClr val="D4943A"/>
          </a:solidFill>
          <a:ln w="12700">
            <a:solidFill>
              <a:srgbClr val="D4943A"/>
            </a:solidFill>
            <a:prstDash val="solid"/>
          </a:ln>
        </p:spPr>
      </p:sp>
      <p:sp>
        <p:nvSpPr>
          <p:cNvPr id="10" name="Text 8"/>
          <p:cNvSpPr/>
          <p:nvPr/>
        </p:nvSpPr>
        <p:spPr>
          <a:xfrm>
            <a:off x="640080" y="2084832"/>
            <a:ext cx="128016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CLAIM</a:t>
            </a:r>
            <a:endParaRPr lang="en-US" sz="900" dirty="0"/>
          </a:p>
        </p:txBody>
      </p:sp>
      <p:sp>
        <p:nvSpPr>
          <p:cNvPr id="11" name="Text 9"/>
          <p:cNvSpPr/>
          <p:nvPr/>
        </p:nvSpPr>
        <p:spPr>
          <a:xfrm>
            <a:off x="2057400" y="2130552"/>
            <a:ext cx="6583680" cy="33832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Spain, France, and England all tried to settle or control Florida.</a:t>
            </a:r>
            <a:endParaRPr lang="en-US" sz="1100" dirty="0"/>
          </a:p>
        </p:txBody>
      </p:sp>
      <p:sp>
        <p:nvSpPr>
          <p:cNvPr id="12" name="Shape 10"/>
          <p:cNvSpPr/>
          <p:nvPr/>
        </p:nvSpPr>
        <p:spPr>
          <a:xfrm>
            <a:off x="640080" y="2587752"/>
            <a:ext cx="1280160" cy="402336"/>
          </a:xfrm>
          <a:prstGeom prst="roundRect">
            <a:avLst>
              <a:gd name="adj" fmla="val 18182"/>
            </a:avLst>
          </a:prstGeom>
          <a:solidFill>
            <a:srgbClr val="1A8A7D"/>
          </a:solidFill>
          <a:ln w="12700">
            <a:solidFill>
              <a:srgbClr val="1A8A7D"/>
            </a:solidFill>
            <a:prstDash val="solid"/>
          </a:ln>
        </p:spPr>
      </p:sp>
      <p:sp>
        <p:nvSpPr>
          <p:cNvPr id="13" name="Text 11"/>
          <p:cNvSpPr/>
          <p:nvPr/>
        </p:nvSpPr>
        <p:spPr>
          <a:xfrm>
            <a:off x="640080" y="2587752"/>
            <a:ext cx="128016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EVIDENCE (x3)</a:t>
            </a:r>
            <a:endParaRPr lang="en-US" sz="900" dirty="0"/>
          </a:p>
        </p:txBody>
      </p:sp>
      <p:sp>
        <p:nvSpPr>
          <p:cNvPr id="14" name="Text 12"/>
          <p:cNvSpPr/>
          <p:nvPr/>
        </p:nvSpPr>
        <p:spPr>
          <a:xfrm>
            <a:off x="2057400" y="2633472"/>
            <a:ext cx="6583680" cy="33832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Spain founded St. Augustine in 1565. France built Fort Caroline in 1564. England raided St. Augustine under Drake in 1586.</a:t>
            </a:r>
            <a:endParaRPr lang="en-US" sz="1100" dirty="0"/>
          </a:p>
        </p:txBody>
      </p:sp>
      <p:sp>
        <p:nvSpPr>
          <p:cNvPr id="15" name="Shape 13"/>
          <p:cNvSpPr/>
          <p:nvPr/>
        </p:nvSpPr>
        <p:spPr>
          <a:xfrm>
            <a:off x="640080" y="3090672"/>
            <a:ext cx="1280160" cy="402336"/>
          </a:xfrm>
          <a:prstGeom prst="roundRect">
            <a:avLst>
              <a:gd name="adj" fmla="val 18182"/>
            </a:avLst>
          </a:prstGeom>
          <a:solidFill>
            <a:srgbClr val="55C8E8"/>
          </a:solidFill>
          <a:ln w="12700">
            <a:solidFill>
              <a:srgbClr val="55C8E8"/>
            </a:solidFill>
            <a:prstDash val="solid"/>
          </a:ln>
        </p:spPr>
      </p:sp>
      <p:sp>
        <p:nvSpPr>
          <p:cNvPr id="16" name="Text 14"/>
          <p:cNvSpPr/>
          <p:nvPr/>
        </p:nvSpPr>
        <p:spPr>
          <a:xfrm>
            <a:off x="640080" y="3090672"/>
            <a:ext cx="128016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EXPLANATION</a:t>
            </a:r>
            <a:endParaRPr lang="en-US" sz="900" dirty="0"/>
          </a:p>
        </p:txBody>
      </p:sp>
      <p:sp>
        <p:nvSpPr>
          <p:cNvPr id="17" name="Text 15"/>
          <p:cNvSpPr/>
          <p:nvPr/>
        </p:nvSpPr>
        <p:spPr>
          <a:xfrm>
            <a:off x="2057400" y="3136392"/>
            <a:ext cx="6583680" cy="33832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Each nation had a different motive — Spain wanted to protect its empire, France wanted religious safety, England wanted to weaken Spain.</a:t>
            </a:r>
            <a:endParaRPr lang="en-US" sz="1100" dirty="0"/>
          </a:p>
        </p:txBody>
      </p:sp>
      <p:sp>
        <p:nvSpPr>
          <p:cNvPr id="18" name="Shape 16"/>
          <p:cNvSpPr/>
          <p:nvPr/>
        </p:nvSpPr>
        <p:spPr>
          <a:xfrm>
            <a:off x="640080" y="3593592"/>
            <a:ext cx="1280160" cy="402336"/>
          </a:xfrm>
          <a:prstGeom prst="roundRect">
            <a:avLst>
              <a:gd name="adj" fmla="val 18182"/>
            </a:avLst>
          </a:prstGeom>
          <a:solidFill>
            <a:srgbClr val="8B6FC0"/>
          </a:solidFill>
          <a:ln w="12700">
            <a:solidFill>
              <a:srgbClr val="8B6FC0"/>
            </a:solidFill>
            <a:prstDash val="solid"/>
          </a:ln>
        </p:spPr>
      </p:sp>
      <p:sp>
        <p:nvSpPr>
          <p:cNvPr id="19" name="Text 17"/>
          <p:cNvSpPr/>
          <p:nvPr/>
        </p:nvSpPr>
        <p:spPr>
          <a:xfrm>
            <a:off x="640080" y="3593592"/>
            <a:ext cx="128016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CONNECTION</a:t>
            </a:r>
            <a:endParaRPr lang="en-US" sz="900" dirty="0"/>
          </a:p>
        </p:txBody>
      </p:sp>
      <p:sp>
        <p:nvSpPr>
          <p:cNvPr id="20" name="Text 18"/>
          <p:cNvSpPr/>
          <p:nvPr/>
        </p:nvSpPr>
        <p:spPr>
          <a:xfrm>
            <a:off x="2057400" y="3639312"/>
            <a:ext cx="6583680" cy="33832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This pattern repeats whenever nations compete for the same land — each one justifies its own claim and leaves out the others'.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229600" cy="502920"/>
          </a:xfrm>
          <a:prstGeom prst="rect">
            <a:avLst/>
          </a:prstGeom>
          <a:noFill/>
          <a:ln/>
        </p:spPr>
        <p:txBody>
          <a:bodyPr wrap="square" lIns="0" tIns="0" rIns="0" bIns="0" rtlCol="0" anchor="ctr"/>
          <a:lstStyle/>
          <a:p>
            <a:pPr indent="0" marL="0">
              <a:buNone/>
            </a:pPr>
            <a:r>
              <a:rPr lang="en-US" sz="1100" b="1" spc="150" kern="0" dirty="0">
                <a:solidFill>
                  <a:srgbClr val="34B76F"/>
                </a:solidFill>
                <a:latin typeface="Calibri" pitchFamily="34" charset="0"/>
                <a:ea typeface="Calibri" pitchFamily="34" charset="-122"/>
                <a:cs typeface="Calibri" pitchFamily="34" charset="-120"/>
              </a:rPr>
              <a:t>GUIDED PRACTICE  |  INVESTIGATE + DEFEND</a:t>
            </a:r>
            <a:endParaRPr lang="en-US" sz="1100" dirty="0"/>
          </a:p>
        </p:txBody>
      </p:sp>
      <p:sp>
        <p:nvSpPr>
          <p:cNvPr id="5" name="Text 3"/>
          <p:cNvSpPr/>
          <p:nvPr/>
        </p:nvSpPr>
        <p:spPr>
          <a:xfrm>
            <a:off x="457200" y="621792"/>
            <a:ext cx="8229600" cy="50292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Assignment Q2: Why did three different European countries want the same piece of land?</a:t>
            </a:r>
            <a:endParaRPr lang="en-US" sz="1800" dirty="0"/>
          </a:p>
        </p:txBody>
      </p:sp>
      <p:sp>
        <p:nvSpPr>
          <p:cNvPr id="6" name="Shape 4"/>
          <p:cNvSpPr/>
          <p:nvPr/>
        </p:nvSpPr>
        <p:spPr>
          <a:xfrm>
            <a:off x="365760" y="1234440"/>
            <a:ext cx="5029200" cy="2423160"/>
          </a:xfrm>
          <a:prstGeom prst="roundRect">
            <a:avLst>
              <a:gd name="adj" fmla="val 4528"/>
            </a:avLst>
          </a:prstGeom>
          <a:solidFill>
            <a:srgbClr val="FFFFFF"/>
          </a:solidFill>
          <a:ln w="19050">
            <a:solidFill>
              <a:srgbClr val="1A8A7D"/>
            </a:solidFill>
            <a:prstDash val="solid"/>
          </a:ln>
        </p:spPr>
      </p:sp>
      <p:sp>
        <p:nvSpPr>
          <p:cNvPr id="7" name="Text 5"/>
          <p:cNvSpPr/>
          <p:nvPr/>
        </p:nvSpPr>
        <p:spPr>
          <a:xfrm>
            <a:off x="548640" y="1298448"/>
            <a:ext cx="4663440" cy="256032"/>
          </a:xfrm>
          <a:prstGeom prst="rect">
            <a:avLst/>
          </a:prstGeom>
          <a:noFill/>
          <a:ln/>
        </p:spPr>
        <p:txBody>
          <a:bodyPr wrap="square" lIns="0" tIns="0" rIns="0" bIns="0" rtlCol="0" anchor="ctr"/>
          <a:lstStyle/>
          <a:p>
            <a:pPr indent="0" marL="0">
              <a:buNone/>
            </a:pPr>
            <a:r>
              <a:rPr lang="en-US" sz="1100" b="1" dirty="0">
                <a:solidFill>
                  <a:srgbClr val="1A8A7D"/>
                </a:solidFill>
                <a:latin typeface="Calibri" pitchFamily="34" charset="0"/>
                <a:ea typeface="Calibri" pitchFamily="34" charset="-122"/>
                <a:cs typeface="Calibri" pitchFamily="34" charset="-120"/>
              </a:rPr>
              <a:t>Your Investigation</a:t>
            </a:r>
            <a:endParaRPr lang="en-US" sz="1100" dirty="0"/>
          </a:p>
        </p:txBody>
      </p:sp>
      <p:sp>
        <p:nvSpPr>
          <p:cNvPr id="8" name="Text 6"/>
          <p:cNvSpPr/>
          <p:nvPr/>
        </p:nvSpPr>
        <p:spPr>
          <a:xfrm>
            <a:off x="548640" y="1581912"/>
            <a:ext cx="4663440" cy="54864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Step 1: Choose ONE country. Which motive — God, Gold, or Glory — best explains why THAT country wanted Florida?</a:t>
            </a:r>
            <a:endParaRPr lang="en-US" sz="1200" dirty="0"/>
          </a:p>
        </p:txBody>
      </p:sp>
      <p:sp>
        <p:nvSpPr>
          <p:cNvPr id="9" name="Text 7"/>
          <p:cNvSpPr/>
          <p:nvPr/>
        </p:nvSpPr>
        <p:spPr>
          <a:xfrm>
            <a:off x="548640" y="2194560"/>
            <a:ext cx="4663440" cy="41148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Step 2: Name ONE specific event or place as your evidence.</a:t>
            </a:r>
            <a:endParaRPr lang="en-US" sz="1200" dirty="0"/>
          </a:p>
        </p:txBody>
      </p:sp>
      <p:sp>
        <p:nvSpPr>
          <p:cNvPr id="10" name="Text 8"/>
          <p:cNvSpPr/>
          <p:nvPr/>
        </p:nvSpPr>
        <p:spPr>
          <a:xfrm>
            <a:off x="548640" y="2670048"/>
            <a:ext cx="4663440" cy="59436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Step 3: Defend your claim. Someone says: 'All three countries just wanted power.' Do you agree or disagree? Why?</a:t>
            </a:r>
            <a:endParaRPr lang="en-US" sz="1200" dirty="0"/>
          </a:p>
        </p:txBody>
      </p:sp>
      <p:sp>
        <p:nvSpPr>
          <p:cNvPr id="11" name="Shape 9"/>
          <p:cNvSpPr/>
          <p:nvPr/>
        </p:nvSpPr>
        <p:spPr>
          <a:xfrm>
            <a:off x="5577840" y="1234440"/>
            <a:ext cx="3200400" cy="2423160"/>
          </a:xfrm>
          <a:prstGeom prst="roundRect">
            <a:avLst>
              <a:gd name="adj" fmla="val 566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760720" y="1325880"/>
            <a:ext cx="28346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760720" y="1581912"/>
            <a:ext cx="2834640" cy="1984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motive is the MOST convincing for the country you chose? Why is it stronger than the other two motives?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disagrees with your motive say? Is their evidence strong enough to change your answer?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a country have had MORE than one motive? Which evidence supports that?</a:t>
            </a:r>
            <a:endParaRPr lang="en-US" sz="1100" dirty="0"/>
          </a:p>
        </p:txBody>
      </p:sp>
      <p:sp>
        <p:nvSpPr>
          <p:cNvPr id="14" name="Shape 12"/>
          <p:cNvSpPr/>
          <p:nvPr/>
        </p:nvSpPr>
        <p:spPr>
          <a:xfrm>
            <a:off x="365760" y="3749040"/>
            <a:ext cx="8412480" cy="1005840"/>
          </a:xfrm>
          <a:prstGeom prst="roundRect">
            <a:avLst>
              <a:gd name="adj" fmla="val 10909"/>
            </a:avLst>
          </a:prstGeom>
          <a:solidFill>
            <a:srgbClr val="FFF3DC"/>
          </a:solidFill>
          <a:ln w="19050">
            <a:solidFill>
              <a:srgbClr val="F5E6C8"/>
            </a:solidFill>
            <a:prstDash val="solid"/>
          </a:ln>
        </p:spPr>
      </p:sp>
      <p:sp>
        <p:nvSpPr>
          <p:cNvPr id="15" name="Text 13"/>
          <p:cNvSpPr/>
          <p:nvPr/>
        </p:nvSpPr>
        <p:spPr>
          <a:xfrm>
            <a:off x="502920" y="380390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4005072"/>
            <a:ext cx="813816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chose ______ because the strongest evidence is ______ — which shows the motive was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might disagree and say... but that doesn't change my answer because..."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229600" cy="502920"/>
          </a:xfrm>
          <a:prstGeom prst="rect">
            <a:avLst/>
          </a:prstGeom>
          <a:noFill/>
          <a:ln/>
        </p:spPr>
        <p:txBody>
          <a:bodyPr wrap="square" lIns="0" tIns="0" rIns="0" bIns="0" rtlCol="0" anchor="ctr"/>
          <a:lstStyle/>
          <a:p>
            <a:pPr indent="0" marL="0">
              <a:buNone/>
            </a:pPr>
            <a:r>
              <a:rPr lang="en-US" sz="1100" b="1" spc="150" kern="0" dirty="0">
                <a:solidFill>
                  <a:srgbClr val="34B76F"/>
                </a:solidFill>
                <a:latin typeface="Calibri" pitchFamily="34" charset="0"/>
                <a:ea typeface="Calibri" pitchFamily="34" charset="-122"/>
                <a:cs typeface="Calibri" pitchFamily="34" charset="-120"/>
              </a:rPr>
              <a:t>GUIDED PRACTICE  |  CRITIQUE THE RESPONSE</a:t>
            </a:r>
            <a:endParaRPr lang="en-US" sz="1100" dirty="0"/>
          </a:p>
        </p:txBody>
      </p:sp>
      <p:sp>
        <p:nvSpPr>
          <p:cNvPr id="5" name="Text 3"/>
          <p:cNvSpPr/>
          <p:nvPr/>
        </p:nvSpPr>
        <p:spPr>
          <a:xfrm>
            <a:off x="457200" y="621792"/>
            <a:ext cx="8229600" cy="41148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Read this sample answer to Assignment Q3. What's strong? What's missing?</a:t>
            </a:r>
            <a:endParaRPr lang="en-US" sz="1800" dirty="0"/>
          </a:p>
        </p:txBody>
      </p:sp>
      <p:sp>
        <p:nvSpPr>
          <p:cNvPr id="6" name="Shape 4"/>
          <p:cNvSpPr/>
          <p:nvPr/>
        </p:nvSpPr>
        <p:spPr>
          <a:xfrm>
            <a:off x="365760" y="1143000"/>
            <a:ext cx="8412480" cy="1325880"/>
          </a:xfrm>
          <a:prstGeom prst="roundRect">
            <a:avLst>
              <a:gd name="adj" fmla="val 8276"/>
            </a:avLst>
          </a:prstGeom>
          <a:solidFill>
            <a:srgbClr val="FFFFFF"/>
          </a:solidFill>
          <a:ln w="19050">
            <a:solidFill>
              <a:srgbClr val="E8636B"/>
            </a:solidFill>
            <a:prstDash val="solid"/>
          </a:ln>
        </p:spPr>
      </p:sp>
      <p:sp>
        <p:nvSpPr>
          <p:cNvPr id="7" name="Text 5"/>
          <p:cNvSpPr/>
          <p:nvPr/>
        </p:nvSpPr>
        <p:spPr>
          <a:xfrm>
            <a:off x="548640" y="1207008"/>
            <a:ext cx="8046720" cy="256032"/>
          </a:xfrm>
          <a:prstGeom prst="rect">
            <a:avLst/>
          </a:prstGeom>
          <a:noFill/>
          <a:ln/>
        </p:spPr>
        <p:txBody>
          <a:bodyPr wrap="square" lIns="0" tIns="0" rIns="0" bIns="0" rtlCol="0" anchor="ctr"/>
          <a:lstStyle/>
          <a:p>
            <a:pPr indent="0" marL="0">
              <a:buNone/>
            </a:pPr>
            <a:r>
              <a:rPr lang="en-US" sz="1000" b="1" dirty="0">
                <a:solidFill>
                  <a:srgbClr val="E8636B"/>
                </a:solidFill>
                <a:latin typeface="Calibri" pitchFamily="34" charset="0"/>
                <a:ea typeface="Calibri" pitchFamily="34" charset="-122"/>
                <a:cs typeface="Calibri" pitchFamily="34" charset="-120"/>
              </a:rPr>
              <a:t>SAMPLE RESPONSE (Assignment Q3):</a:t>
            </a:r>
            <a:endParaRPr lang="en-US" sz="1000" dirty="0"/>
          </a:p>
        </p:txBody>
      </p:sp>
      <p:sp>
        <p:nvSpPr>
          <p:cNvPr id="8" name="Text 6"/>
          <p:cNvSpPr/>
          <p:nvPr/>
        </p:nvSpPr>
        <p:spPr>
          <a:xfrm>
            <a:off x="548640" y="1481328"/>
            <a:ext cx="8046720" cy="804672"/>
          </a:xfrm>
          <a:prstGeom prst="rect">
            <a:avLst/>
          </a:prstGeom>
          <a:noFill/>
          <a:ln/>
        </p:spPr>
        <p:txBody>
          <a:bodyPr wrap="square" lIns="0" tIns="0" rIns="0" bIns="0"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"While Spain, France, and England fought over Florida, the Native Americans were also there. They probably did not like it. The Europeans were not nice to them."</a:t>
            </a:r>
            <a:endParaRPr lang="en-US" sz="1300" dirty="0"/>
          </a:p>
        </p:txBody>
      </p:sp>
      <p:sp>
        <p:nvSpPr>
          <p:cNvPr id="9" name="Shape 7"/>
          <p:cNvSpPr/>
          <p:nvPr/>
        </p:nvSpPr>
        <p:spPr>
          <a:xfrm>
            <a:off x="365760" y="2578608"/>
            <a:ext cx="5029200" cy="2148840"/>
          </a:xfrm>
          <a:prstGeom prst="roundRect">
            <a:avLst>
              <a:gd name="adj" fmla="val 6383"/>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48640" y="2670048"/>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48640" y="2926080"/>
            <a:ext cx="4663440" cy="1709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This answer is not WRONG — but it's weak. What specific evidence is missing?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It says 'Native Americans' — the lesson taught us specific nation names. Why does using specific names matter for an honest historian?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It says 'probably did not like it.' What specific EVIDENCE from the lesson could replace that guess?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make this a STRONG historian's answer? What would you add or change?</a:t>
            </a:r>
            <a:endParaRPr lang="en-US" sz="1100" dirty="0"/>
          </a:p>
        </p:txBody>
      </p:sp>
      <p:sp>
        <p:nvSpPr>
          <p:cNvPr id="12" name="Shape 10"/>
          <p:cNvSpPr/>
          <p:nvPr/>
        </p:nvSpPr>
        <p:spPr>
          <a:xfrm>
            <a:off x="5577840" y="2578608"/>
            <a:ext cx="3200400" cy="2148840"/>
          </a:xfrm>
          <a:prstGeom prst="roundRect">
            <a:avLst>
              <a:gd name="adj" fmla="val 5106"/>
            </a:avLst>
          </a:prstGeom>
          <a:solidFill>
            <a:srgbClr val="FFF3DC"/>
          </a:solidFill>
          <a:ln w="19050">
            <a:solidFill>
              <a:srgbClr val="F5E6C8"/>
            </a:solidFill>
            <a:prstDash val="solid"/>
          </a:ln>
        </p:spPr>
      </p:sp>
      <p:sp>
        <p:nvSpPr>
          <p:cNvPr id="13" name="Text 11"/>
          <p:cNvSpPr/>
          <p:nvPr/>
        </p:nvSpPr>
        <p:spPr>
          <a:xfrm>
            <a:off x="5715000" y="2633472"/>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715000" y="2834640"/>
            <a:ext cx="2926080" cy="1828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answer is weak because it's missing... I would strengthen it by adding...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version would say ______ instead of 'probably did not like it' because ______."</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229600" cy="502920"/>
          </a:xfrm>
          <a:prstGeom prst="rect">
            <a:avLst/>
          </a:prstGeom>
          <a:noFill/>
          <a:ln/>
        </p:spPr>
        <p:txBody>
          <a:bodyPr wrap="square" lIns="0" tIns="0" rIns="0" bIns="0" rtlCol="0" anchor="ctr"/>
          <a:lstStyle/>
          <a:p>
            <a:pPr indent="0" marL="0">
              <a:buNone/>
            </a:pPr>
            <a:r>
              <a:rPr lang="en-US" sz="1100" b="1" spc="150" kern="0" dirty="0">
                <a:solidFill>
                  <a:srgbClr val="E8636B"/>
                </a:solidFill>
                <a:latin typeface="Calibri" pitchFamily="34" charset="0"/>
                <a:ea typeface="Calibri" pitchFamily="34" charset="-122"/>
                <a:cs typeface="Calibri" pitchFamily="34" charset="-120"/>
              </a:rPr>
              <a:t>GUIDED PRACTICE  |  THE TRICKY ONE</a:t>
            </a:r>
            <a:endParaRPr lang="en-US" sz="1100" dirty="0"/>
          </a:p>
        </p:txBody>
      </p:sp>
      <p:sp>
        <p:nvSpPr>
          <p:cNvPr id="5" name="Shape 3"/>
          <p:cNvSpPr/>
          <p:nvPr/>
        </p:nvSpPr>
        <p:spPr>
          <a:xfrm>
            <a:off x="365760" y="594360"/>
            <a:ext cx="8412480" cy="1280160"/>
          </a:xfrm>
          <a:prstGeom prst="roundRect">
            <a:avLst>
              <a:gd name="adj" fmla="val 10714"/>
            </a:avLst>
          </a:prstGeom>
          <a:solidFill>
            <a:srgbClr val="1A2D5A"/>
          </a:solidFill>
          <a:ln w="25400">
            <a:solidFill>
              <a:srgbClr val="E8636B"/>
            </a:solidFill>
            <a:prstDash val="solid"/>
          </a:ln>
        </p:spPr>
      </p:sp>
      <p:sp>
        <p:nvSpPr>
          <p:cNvPr id="6" name="Text 4"/>
          <p:cNvSpPr/>
          <p:nvPr/>
        </p:nvSpPr>
        <p:spPr>
          <a:xfrm>
            <a:off x="548640" y="685800"/>
            <a:ext cx="8046720" cy="109728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If three nations claimed the same land and none of them asked the people already living there, whose claim was most legitimate — and is that even a question history can answer?</a:t>
            </a:r>
            <a:endParaRPr lang="en-US" sz="1700" dirty="0"/>
          </a:p>
        </p:txBody>
      </p:sp>
      <p:sp>
        <p:nvSpPr>
          <p:cNvPr id="7" name="Shape 5"/>
          <p:cNvSpPr/>
          <p:nvPr/>
        </p:nvSpPr>
        <p:spPr>
          <a:xfrm>
            <a:off x="365760" y="1993392"/>
            <a:ext cx="5029200" cy="2606040"/>
          </a:xfrm>
          <a:prstGeom prst="roundRect">
            <a:avLst>
              <a:gd name="adj" fmla="val 5263"/>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548640" y="2084832"/>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48640" y="2340864"/>
            <a:ext cx="4663440" cy="2167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'legitimate' the same as 'strongest army'? Or does it mean something else?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Spain was there the longest. France had religious persecution as a reason. England was there last. Does any of that make a claim MORE legitimate?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historians reasonably disagree about this? What evidence would each side use?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this question tell us about how we should read historical claims today?</a:t>
            </a:r>
            <a:endParaRPr lang="en-US" sz="1100" dirty="0"/>
          </a:p>
        </p:txBody>
      </p:sp>
      <p:sp>
        <p:nvSpPr>
          <p:cNvPr id="10" name="Shape 8"/>
          <p:cNvSpPr/>
          <p:nvPr/>
        </p:nvSpPr>
        <p:spPr>
          <a:xfrm>
            <a:off x="5577840" y="1993392"/>
            <a:ext cx="3200400" cy="1828800"/>
          </a:xfrm>
          <a:prstGeom prst="roundRect">
            <a:avLst>
              <a:gd name="adj" fmla="val 6000"/>
            </a:avLst>
          </a:prstGeom>
          <a:solidFill>
            <a:srgbClr val="FFF3DC"/>
          </a:solidFill>
          <a:ln w="19050">
            <a:solidFill>
              <a:srgbClr val="F5E6C8"/>
            </a:solidFill>
            <a:prstDash val="solid"/>
          </a:ln>
        </p:spPr>
      </p:sp>
      <p:sp>
        <p:nvSpPr>
          <p:cNvPr id="11" name="Text 9"/>
          <p:cNvSpPr/>
          <p:nvPr/>
        </p:nvSpPr>
        <p:spPr>
          <a:xfrm>
            <a:off x="5715000" y="2048256"/>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715000" y="2249424"/>
            <a:ext cx="292608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______ had the most legitimate claim because... but the problem with that answer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"Reasonable historians might disagree about this because the evidence shows... on one side and... on the other."</a:t>
            </a:r>
            <a:endParaRPr lang="en-US" sz="1200" dirty="0"/>
          </a:p>
        </p:txBody>
      </p:sp>
      <p:sp>
        <p:nvSpPr>
          <p:cNvPr id="13" name="Shape 11"/>
          <p:cNvSpPr/>
          <p:nvPr/>
        </p:nvSpPr>
        <p:spPr>
          <a:xfrm>
            <a:off x="5577840" y="3931920"/>
            <a:ext cx="3200400" cy="822960"/>
          </a:xfrm>
          <a:prstGeom prst="roundRect">
            <a:avLst>
              <a:gd name="adj" fmla="val 11111"/>
            </a:avLst>
          </a:prstGeom>
          <a:solidFill>
            <a:srgbClr val="FFFFFF"/>
          </a:solidFill>
          <a:ln w="12700">
            <a:solidFill>
              <a:srgbClr val="E8636B"/>
            </a:solidFill>
            <a:prstDash val="solid"/>
          </a:ln>
        </p:spPr>
      </p:sp>
      <p:sp>
        <p:nvSpPr>
          <p:cNvPr id="14" name="Text 12"/>
          <p:cNvSpPr/>
          <p:nvPr/>
        </p:nvSpPr>
        <p:spPr>
          <a:xfrm>
            <a:off x="5715000" y="3995928"/>
            <a:ext cx="2926080" cy="228600"/>
          </a:xfrm>
          <a:prstGeom prst="rect">
            <a:avLst/>
          </a:prstGeom>
          <a:noFill/>
          <a:ln/>
        </p:spPr>
        <p:txBody>
          <a:bodyPr wrap="square" lIns="0" tIns="0" rIns="0" bIns="0" rtlCol="0" anchor="ctr"/>
          <a:lstStyle/>
          <a:p>
            <a:pPr indent="0" marL="0">
              <a:buNone/>
            </a:pPr>
            <a:r>
              <a:rPr lang="en-US" sz="1000" b="1" dirty="0">
                <a:solidFill>
                  <a:srgbClr val="E8636B"/>
                </a:solidFill>
                <a:latin typeface="Calibri" pitchFamily="34" charset="0"/>
                <a:ea typeface="Calibri" pitchFamily="34" charset="-122"/>
                <a:cs typeface="Calibri" pitchFamily="34" charset="-120"/>
              </a:rPr>
              <a:t>It's OK to not resolve this one.</a:t>
            </a:r>
            <a:endParaRPr lang="en-US" sz="1000" dirty="0"/>
          </a:p>
        </p:txBody>
      </p:sp>
      <p:sp>
        <p:nvSpPr>
          <p:cNvPr id="15" name="Text 13"/>
          <p:cNvSpPr/>
          <p:nvPr/>
        </p:nvSpPr>
        <p:spPr>
          <a:xfrm>
            <a:off x="5715000" y="4242816"/>
            <a:ext cx="2926080" cy="457200"/>
          </a:xfrm>
          <a:prstGeom prst="rect">
            <a:avLst/>
          </a:prstGeom>
          <a:noFill/>
          <a:ln/>
        </p:spPr>
        <p:txBody>
          <a:bodyPr wrap="square" lIns="0" tIns="0" rIns="0" bIns="0" rtlCol="0" anchor="t"/>
          <a:lstStyle/>
          <a:p>
            <a:pPr indent="0" marL="0">
              <a:buNone/>
            </a:pPr>
            <a:r>
              <a:rPr lang="en-US" sz="1000" dirty="0">
                <a:solidFill>
                  <a:srgbClr val="0E1C42"/>
                </a:solidFill>
                <a:latin typeface="Calibri" pitchFamily="34" charset="0"/>
                <a:ea typeface="Calibri" pitchFamily="34" charset="-122"/>
                <a:cs typeface="Calibri" pitchFamily="34" charset="-120"/>
              </a:rPr>
              <a:t>Reasonable people can genuinely disagree when evidence is mixed. That's a real historical skill.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229600" cy="502920"/>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SELF-CHECK  |  THREE QUICK QUESTIONS</a:t>
            </a:r>
            <a:endParaRPr lang="en-US" sz="1100" dirty="0"/>
          </a:p>
        </p:txBody>
      </p:sp>
      <p:sp>
        <p:nvSpPr>
          <p:cNvPr id="5" name="Text 3"/>
          <p:cNvSpPr/>
          <p:nvPr/>
        </p:nvSpPr>
        <p:spPr>
          <a:xfrm>
            <a:off x="457200" y="621792"/>
            <a:ext cx="8229600" cy="384048"/>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Not graded — just for you. Can you answer all three?</a:t>
            </a:r>
            <a:endParaRPr lang="en-US" sz="1800" dirty="0"/>
          </a:p>
        </p:txBody>
      </p:sp>
      <p:sp>
        <p:nvSpPr>
          <p:cNvPr id="6" name="Shape 4"/>
          <p:cNvSpPr/>
          <p:nvPr/>
        </p:nvSpPr>
        <p:spPr>
          <a:xfrm>
            <a:off x="365760" y="1115568"/>
            <a:ext cx="8412480" cy="1170432"/>
          </a:xfrm>
          <a:prstGeom prst="roundRect">
            <a:avLst>
              <a:gd name="adj" fmla="val 7813"/>
            </a:avLst>
          </a:prstGeom>
          <a:solidFill>
            <a:srgbClr val="FFFFFF"/>
          </a:solidFill>
          <a:ln w="19050">
            <a:solidFill>
              <a:srgbClr val="B0B8CC"/>
            </a:solidFill>
            <a:prstDash val="solid"/>
          </a:ln>
        </p:spPr>
      </p:sp>
      <p:sp>
        <p:nvSpPr>
          <p:cNvPr id="7" name="Text 5"/>
          <p:cNvSpPr/>
          <p:nvPr/>
        </p:nvSpPr>
        <p:spPr>
          <a:xfrm>
            <a:off x="548640" y="1179576"/>
            <a:ext cx="8046720" cy="25603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1. Which European country founded St. Augustine in 1565?</a:t>
            </a:r>
            <a:endParaRPr lang="en-US" sz="1200" dirty="0"/>
          </a:p>
        </p:txBody>
      </p:sp>
      <p:sp>
        <p:nvSpPr>
          <p:cNvPr id="8" name="Text 6"/>
          <p:cNvSpPr/>
          <p:nvPr/>
        </p:nvSpPr>
        <p:spPr>
          <a:xfrm>
            <a:off x="548640" y="1453896"/>
            <a:ext cx="8046720" cy="256032"/>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A) France   </a:t>
            </a:r>
            <a:pPr indent="0" marL="0">
              <a:buNone/>
            </a:pPr>
            <a:r>
              <a:rPr lang="en-US" sz="1100" b="1" dirty="0">
                <a:solidFill>
                  <a:srgbClr val="34B76F"/>
                </a:solidFill>
                <a:latin typeface="Calibri" pitchFamily="34" charset="0"/>
                <a:ea typeface="Calibri" pitchFamily="34" charset="-122"/>
                <a:cs typeface="Calibri" pitchFamily="34" charset="-120"/>
              </a:rPr>
              <a:t>B) Spain   </a:t>
            </a:r>
            <a:pPr indent="0" marL="0">
              <a:buNone/>
            </a:pPr>
            <a:r>
              <a:rPr lang="en-US" sz="1100" dirty="0">
                <a:solidFill>
                  <a:srgbClr val="7A88A8"/>
                </a:solidFill>
                <a:latin typeface="Calibri" pitchFamily="34" charset="0"/>
                <a:ea typeface="Calibri" pitchFamily="34" charset="-122"/>
                <a:cs typeface="Calibri" pitchFamily="34" charset="-120"/>
              </a:rPr>
              <a:t>C) England</a:t>
            </a:r>
            <a:endParaRPr lang="en-US" sz="1100" dirty="0"/>
          </a:p>
        </p:txBody>
      </p:sp>
      <p:sp>
        <p:nvSpPr>
          <p:cNvPr id="9" name="Text 7"/>
          <p:cNvSpPr/>
          <p:nvPr/>
        </p:nvSpPr>
        <p:spPr>
          <a:xfrm>
            <a:off x="548640" y="1773936"/>
            <a:ext cx="8046720" cy="438912"/>
          </a:xfrm>
          <a:prstGeom prst="rect">
            <a:avLst/>
          </a:prstGeom>
          <a:noFill/>
          <a:ln/>
        </p:spPr>
        <p:txBody>
          <a:bodyPr wrap="square" lIns="0" tIns="0" rIns="0" bIns="0" rtlCol="0" anchor="ctr"/>
          <a:lstStyle/>
          <a:p>
            <a:pPr indent="0" marL="0">
              <a:buNone/>
            </a:pPr>
            <a:r>
              <a:rPr lang="en-US" sz="1100" i="1" dirty="0">
                <a:solidFill>
                  <a:srgbClr val="34B76F"/>
                </a:solidFill>
                <a:latin typeface="Calibri" pitchFamily="34" charset="0"/>
                <a:ea typeface="Calibri" pitchFamily="34" charset="-122"/>
                <a:cs typeface="Calibri" pitchFamily="34" charset="-120"/>
              </a:rPr>
              <a:t>B — Spain. Pedro Menendez de Aviles founded St. Augustine for Spain in 1565.</a:t>
            </a:r>
            <a:endParaRPr lang="en-US" sz="1100" dirty="0"/>
          </a:p>
        </p:txBody>
      </p:sp>
      <p:sp>
        <p:nvSpPr>
          <p:cNvPr id="10" name="Shape 8"/>
          <p:cNvSpPr/>
          <p:nvPr/>
        </p:nvSpPr>
        <p:spPr>
          <a:xfrm>
            <a:off x="365760" y="2377440"/>
            <a:ext cx="8412480" cy="1170432"/>
          </a:xfrm>
          <a:prstGeom prst="roundRect">
            <a:avLst>
              <a:gd name="adj" fmla="val 7813"/>
            </a:avLst>
          </a:prstGeom>
          <a:solidFill>
            <a:srgbClr val="FFFFFF"/>
          </a:solidFill>
          <a:ln w="19050">
            <a:solidFill>
              <a:srgbClr val="B0B8CC"/>
            </a:solidFill>
            <a:prstDash val="solid"/>
          </a:ln>
        </p:spPr>
      </p:sp>
      <p:sp>
        <p:nvSpPr>
          <p:cNvPr id="11" name="Text 9"/>
          <p:cNvSpPr/>
          <p:nvPr/>
        </p:nvSpPr>
        <p:spPr>
          <a:xfrm>
            <a:off x="548640" y="2441448"/>
            <a:ext cx="8046720" cy="25603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2. What was Fort Caroline?</a:t>
            </a:r>
            <a:endParaRPr lang="en-US" sz="1200" dirty="0"/>
          </a:p>
        </p:txBody>
      </p:sp>
      <p:sp>
        <p:nvSpPr>
          <p:cNvPr id="12" name="Text 10"/>
          <p:cNvSpPr/>
          <p:nvPr/>
        </p:nvSpPr>
        <p:spPr>
          <a:xfrm>
            <a:off x="548640" y="2715768"/>
            <a:ext cx="8046720" cy="256032"/>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A) A Spanish church built by Menendez   </a:t>
            </a:r>
            <a:pPr indent="0" marL="0">
              <a:buNone/>
            </a:pPr>
            <a:r>
              <a:rPr lang="en-US" sz="1100" b="1" dirty="0">
                <a:solidFill>
                  <a:srgbClr val="34B76F"/>
                </a:solidFill>
                <a:latin typeface="Calibri" pitchFamily="34" charset="0"/>
                <a:ea typeface="Calibri" pitchFamily="34" charset="-122"/>
                <a:cs typeface="Calibri" pitchFamily="34" charset="-120"/>
              </a:rPr>
              <a:t>B) A French Huguenot settlement near today's Jacksonville   </a:t>
            </a:r>
            <a:pPr indent="0" marL="0">
              <a:buNone/>
            </a:pPr>
            <a:r>
              <a:rPr lang="en-US" sz="1100" dirty="0">
                <a:solidFill>
                  <a:srgbClr val="7A88A8"/>
                </a:solidFill>
                <a:latin typeface="Calibri" pitchFamily="34" charset="0"/>
                <a:ea typeface="Calibri" pitchFamily="34" charset="-122"/>
                <a:cs typeface="Calibri" pitchFamily="34" charset="-120"/>
              </a:rPr>
              <a:t>C) The first English fort in Florida</a:t>
            </a:r>
            <a:endParaRPr lang="en-US" sz="1100" dirty="0"/>
          </a:p>
        </p:txBody>
      </p:sp>
      <p:sp>
        <p:nvSpPr>
          <p:cNvPr id="13" name="Text 11"/>
          <p:cNvSpPr/>
          <p:nvPr/>
        </p:nvSpPr>
        <p:spPr>
          <a:xfrm>
            <a:off x="548640" y="3035808"/>
            <a:ext cx="8046720" cy="438912"/>
          </a:xfrm>
          <a:prstGeom prst="rect">
            <a:avLst/>
          </a:prstGeom>
          <a:noFill/>
          <a:ln/>
        </p:spPr>
        <p:txBody>
          <a:bodyPr wrap="square" lIns="0" tIns="0" rIns="0" bIns="0" rtlCol="0" anchor="ctr"/>
          <a:lstStyle/>
          <a:p>
            <a:pPr indent="0" marL="0">
              <a:buNone/>
            </a:pPr>
            <a:r>
              <a:rPr lang="en-US" sz="1100" i="1" dirty="0">
                <a:solidFill>
                  <a:srgbClr val="34B76F"/>
                </a:solidFill>
                <a:latin typeface="Calibri" pitchFamily="34" charset="0"/>
                <a:ea typeface="Calibri" pitchFamily="34" charset="-122"/>
                <a:cs typeface="Calibri" pitchFamily="34" charset="-120"/>
              </a:rPr>
              <a:t>B — Fort Caroline was a French Huguenot settlement built in 1564, one year before St. Augustine.</a:t>
            </a:r>
            <a:endParaRPr lang="en-US" sz="1100" dirty="0"/>
          </a:p>
        </p:txBody>
      </p:sp>
      <p:sp>
        <p:nvSpPr>
          <p:cNvPr id="14" name="Shape 12"/>
          <p:cNvSpPr/>
          <p:nvPr/>
        </p:nvSpPr>
        <p:spPr>
          <a:xfrm>
            <a:off x="365760" y="3639312"/>
            <a:ext cx="8412480" cy="1170432"/>
          </a:xfrm>
          <a:prstGeom prst="roundRect">
            <a:avLst>
              <a:gd name="adj" fmla="val 7813"/>
            </a:avLst>
          </a:prstGeom>
          <a:solidFill>
            <a:srgbClr val="FFFFFF"/>
          </a:solidFill>
          <a:ln w="19050">
            <a:solidFill>
              <a:srgbClr val="B0B8CC"/>
            </a:solidFill>
            <a:prstDash val="solid"/>
          </a:ln>
        </p:spPr>
      </p:sp>
      <p:sp>
        <p:nvSpPr>
          <p:cNvPr id="15" name="Text 13"/>
          <p:cNvSpPr/>
          <p:nvPr/>
        </p:nvSpPr>
        <p:spPr>
          <a:xfrm>
            <a:off x="548640" y="3703320"/>
            <a:ext cx="8046720" cy="25603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3. Which is the MOST honest summary of early Florida's story?</a:t>
            </a:r>
            <a:endParaRPr lang="en-US" sz="1200" dirty="0"/>
          </a:p>
        </p:txBody>
      </p:sp>
      <p:sp>
        <p:nvSpPr>
          <p:cNvPr id="16" name="Text 14"/>
          <p:cNvSpPr/>
          <p:nvPr/>
        </p:nvSpPr>
        <p:spPr>
          <a:xfrm>
            <a:off x="548640" y="3977640"/>
            <a:ext cx="8046720" cy="256032"/>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A) Spain peacefully discovered an empty Florida   </a:t>
            </a:r>
            <a:pPr indent="0" marL="0">
              <a:buNone/>
            </a:pPr>
            <a:r>
              <a:rPr lang="en-US" sz="1100" dirty="0">
                <a:solidFill>
                  <a:srgbClr val="7A88A8"/>
                </a:solidFill>
                <a:latin typeface="Calibri" pitchFamily="34" charset="0"/>
                <a:ea typeface="Calibri" pitchFamily="34" charset="-122"/>
                <a:cs typeface="Calibri" pitchFamily="34" charset="-120"/>
              </a:rPr>
              <a:t>B) France and England were the only powers that mattered   </a:t>
            </a:r>
            <a:pPr indent="0" marL="0">
              <a:buNone/>
            </a:pPr>
            <a:r>
              <a:rPr lang="en-US" sz="1100" b="1" dirty="0">
                <a:solidFill>
                  <a:srgbClr val="34B76F"/>
                </a:solidFill>
                <a:latin typeface="Calibri" pitchFamily="34" charset="0"/>
                <a:ea typeface="Calibri" pitchFamily="34" charset="-122"/>
                <a:cs typeface="Calibri" pitchFamily="34" charset="-120"/>
              </a:rPr>
              <a:t>C) Three European powers competed while the First Peoples lived through every flag change</a:t>
            </a:r>
            <a:endParaRPr lang="en-US" sz="1100" dirty="0"/>
          </a:p>
        </p:txBody>
      </p:sp>
      <p:sp>
        <p:nvSpPr>
          <p:cNvPr id="17" name="Text 15"/>
          <p:cNvSpPr/>
          <p:nvPr/>
        </p:nvSpPr>
        <p:spPr>
          <a:xfrm>
            <a:off x="548640" y="4297680"/>
            <a:ext cx="8046720" cy="438912"/>
          </a:xfrm>
          <a:prstGeom prst="rect">
            <a:avLst/>
          </a:prstGeom>
          <a:noFill/>
          <a:ln/>
        </p:spPr>
        <p:txBody>
          <a:bodyPr wrap="square" lIns="0" tIns="0" rIns="0" bIns="0" rtlCol="0" anchor="ctr"/>
          <a:lstStyle/>
          <a:p>
            <a:pPr indent="0" marL="0">
              <a:buNone/>
            </a:pPr>
            <a:r>
              <a:rPr lang="en-US" sz="1100" i="1" dirty="0">
                <a:solidFill>
                  <a:srgbClr val="34B76F"/>
                </a:solidFill>
                <a:latin typeface="Calibri" pitchFamily="34" charset="0"/>
                <a:ea typeface="Calibri" pitchFamily="34" charset="-122"/>
                <a:cs typeface="Calibri" pitchFamily="34" charset="-120"/>
              </a:rPr>
              <a:t>C — That summary names the rivalry AND keeps the First Peoples in the story where they belong.</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02920"/>
          </a:xfrm>
          <a:prstGeom prst="rect">
            <a:avLst/>
          </a:prstGeom>
          <a:solidFill>
            <a:srgbClr val="0E1C42"/>
          </a:solidFill>
          <a:ln w="12700">
            <a:solidFill>
              <a:srgbClr val="0E1C42"/>
            </a:solidFill>
            <a:prstDash val="solid"/>
          </a:ln>
        </p:spPr>
      </p:sp>
      <p:sp>
        <p:nvSpPr>
          <p:cNvPr id="4" name="Text 2"/>
          <p:cNvSpPr/>
          <p:nvPr/>
        </p:nvSpPr>
        <p:spPr>
          <a:xfrm>
            <a:off x="365760" y="0"/>
            <a:ext cx="8412480" cy="50292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ASSIGNMENT  |  YOUR HISTORIAN'S NOTEBOOK ENTRY</a:t>
            </a:r>
            <a:endParaRPr lang="en-US" sz="1100" dirty="0"/>
          </a:p>
        </p:txBody>
      </p:sp>
      <p:sp>
        <p:nvSpPr>
          <p:cNvPr id="5" name="Text 3"/>
          <p:cNvSpPr/>
          <p:nvPr/>
        </p:nvSpPr>
        <p:spPr>
          <a:xfrm>
            <a:off x="457200" y="594360"/>
            <a:ext cx="8229600" cy="36576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Time to show what you know.</a:t>
            </a:r>
            <a:endParaRPr lang="en-US" sz="2000" dirty="0"/>
          </a:p>
        </p:txBody>
      </p:sp>
      <p:sp>
        <p:nvSpPr>
          <p:cNvPr id="6" name="Shape 4"/>
          <p:cNvSpPr/>
          <p:nvPr/>
        </p:nvSpPr>
        <p:spPr>
          <a:xfrm>
            <a:off x="365760" y="1051560"/>
            <a:ext cx="8412480" cy="749808"/>
          </a:xfrm>
          <a:prstGeom prst="roundRect">
            <a:avLst>
              <a:gd name="adj" fmla="val 12195"/>
            </a:avLst>
          </a:prstGeom>
          <a:solidFill>
            <a:srgbClr val="FFFFFF"/>
          </a:solidFill>
          <a:ln w="25400">
            <a:solidFill>
              <a:srgbClr val="D4943A"/>
            </a:solidFill>
            <a:prstDash val="solid"/>
          </a:ln>
        </p:spPr>
      </p:sp>
      <p:sp>
        <p:nvSpPr>
          <p:cNvPr id="7" name="Shape 5"/>
          <p:cNvSpPr/>
          <p:nvPr/>
        </p:nvSpPr>
        <p:spPr>
          <a:xfrm>
            <a:off x="365760" y="1051560"/>
            <a:ext cx="594360" cy="749808"/>
          </a:xfrm>
          <a:prstGeom prst="roundRect">
            <a:avLst>
              <a:gd name="adj" fmla="val 15385"/>
            </a:avLst>
          </a:prstGeom>
          <a:solidFill>
            <a:srgbClr val="D4943A"/>
          </a:solidFill>
          <a:ln w="12700">
            <a:solidFill>
              <a:srgbClr val="D4943A"/>
            </a:solidFill>
            <a:prstDash val="solid"/>
          </a:ln>
        </p:spPr>
      </p:sp>
      <p:sp>
        <p:nvSpPr>
          <p:cNvPr id="8" name="Text 6"/>
          <p:cNvSpPr/>
          <p:nvPr/>
        </p:nvSpPr>
        <p:spPr>
          <a:xfrm>
            <a:off x="365760" y="1051560"/>
            <a:ext cx="594360" cy="7498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Q1</a:t>
            </a:r>
            <a:endParaRPr lang="en-US" sz="1200" dirty="0"/>
          </a:p>
        </p:txBody>
      </p:sp>
      <p:sp>
        <p:nvSpPr>
          <p:cNvPr id="9" name="Text 7"/>
          <p:cNvSpPr/>
          <p:nvPr/>
        </p:nvSpPr>
        <p:spPr>
          <a:xfrm>
            <a:off x="1051560" y="1115568"/>
            <a:ext cx="6035040" cy="621792"/>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Name the three European powers that tried to settle Florida and one place or event connected to each one.</a:t>
            </a:r>
            <a:endParaRPr lang="en-US" sz="1200" dirty="0"/>
          </a:p>
        </p:txBody>
      </p:sp>
      <p:sp>
        <p:nvSpPr>
          <p:cNvPr id="10" name="Text 8"/>
          <p:cNvSpPr/>
          <p:nvPr/>
        </p:nvSpPr>
        <p:spPr>
          <a:xfrm>
            <a:off x="7132320" y="1115568"/>
            <a:ext cx="1554480" cy="621792"/>
          </a:xfrm>
          <a:prstGeom prst="rect">
            <a:avLst/>
          </a:prstGeom>
          <a:noFill/>
          <a:ln/>
        </p:spPr>
        <p:txBody>
          <a:bodyPr wrap="square" lIns="0" tIns="0" rIns="0" bIns="0" rtlCol="0" anchor="ctr"/>
          <a:lstStyle/>
          <a:p>
            <a:pPr algn="r" indent="0" marL="0">
              <a:buNone/>
            </a:pPr>
            <a:r>
              <a:rPr lang="en-US" sz="900" i="1" dirty="0">
                <a:solidFill>
                  <a:srgbClr val="7A88A8"/>
                </a:solidFill>
                <a:latin typeface="Calibri" pitchFamily="34" charset="0"/>
                <a:ea typeface="Calibri" pitchFamily="34" charset="-122"/>
                <a:cs typeface="Calibri" pitchFamily="34" charset="-120"/>
              </a:rPr>
              <a:t>Scaffolded: Slides 4-6, 10-12, 14</a:t>
            </a:r>
            <a:endParaRPr lang="en-US" sz="900" dirty="0"/>
          </a:p>
        </p:txBody>
      </p:sp>
      <p:sp>
        <p:nvSpPr>
          <p:cNvPr id="11" name="Shape 9"/>
          <p:cNvSpPr/>
          <p:nvPr/>
        </p:nvSpPr>
        <p:spPr>
          <a:xfrm>
            <a:off x="365760" y="1892808"/>
            <a:ext cx="8412480" cy="749808"/>
          </a:xfrm>
          <a:prstGeom prst="roundRect">
            <a:avLst>
              <a:gd name="adj" fmla="val 12195"/>
            </a:avLst>
          </a:prstGeom>
          <a:solidFill>
            <a:srgbClr val="FFFFFF"/>
          </a:solidFill>
          <a:ln w="25400">
            <a:solidFill>
              <a:srgbClr val="1A8A7D"/>
            </a:solidFill>
            <a:prstDash val="solid"/>
          </a:ln>
        </p:spPr>
      </p:sp>
      <p:sp>
        <p:nvSpPr>
          <p:cNvPr id="12" name="Shape 10"/>
          <p:cNvSpPr/>
          <p:nvPr/>
        </p:nvSpPr>
        <p:spPr>
          <a:xfrm>
            <a:off x="365760" y="1892808"/>
            <a:ext cx="594360" cy="749808"/>
          </a:xfrm>
          <a:prstGeom prst="roundRect">
            <a:avLst>
              <a:gd name="adj" fmla="val 15385"/>
            </a:avLst>
          </a:prstGeom>
          <a:solidFill>
            <a:srgbClr val="1A8A7D"/>
          </a:solidFill>
          <a:ln w="12700">
            <a:solidFill>
              <a:srgbClr val="1A8A7D"/>
            </a:solidFill>
            <a:prstDash val="solid"/>
          </a:ln>
        </p:spPr>
      </p:sp>
      <p:sp>
        <p:nvSpPr>
          <p:cNvPr id="13" name="Text 11"/>
          <p:cNvSpPr/>
          <p:nvPr/>
        </p:nvSpPr>
        <p:spPr>
          <a:xfrm>
            <a:off x="365760" y="1892808"/>
            <a:ext cx="594360" cy="7498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Q2</a:t>
            </a:r>
            <a:endParaRPr lang="en-US" sz="1200" dirty="0"/>
          </a:p>
        </p:txBody>
      </p:sp>
      <p:sp>
        <p:nvSpPr>
          <p:cNvPr id="14" name="Text 12"/>
          <p:cNvSpPr/>
          <p:nvPr/>
        </p:nvSpPr>
        <p:spPr>
          <a:xfrm>
            <a:off x="1051560" y="1956816"/>
            <a:ext cx="6035040" cy="621792"/>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Why did three different European countries want the same piece of land? Use what we learned yesterday about motives.</a:t>
            </a:r>
            <a:endParaRPr lang="en-US" sz="1200" dirty="0"/>
          </a:p>
        </p:txBody>
      </p:sp>
      <p:sp>
        <p:nvSpPr>
          <p:cNvPr id="15" name="Text 13"/>
          <p:cNvSpPr/>
          <p:nvPr/>
        </p:nvSpPr>
        <p:spPr>
          <a:xfrm>
            <a:off x="7132320" y="1956816"/>
            <a:ext cx="1554480" cy="621792"/>
          </a:xfrm>
          <a:prstGeom prst="rect">
            <a:avLst/>
          </a:prstGeom>
          <a:noFill/>
          <a:ln/>
        </p:spPr>
        <p:txBody>
          <a:bodyPr wrap="square" lIns="0" tIns="0" rIns="0" bIns="0" rtlCol="0" anchor="ctr"/>
          <a:lstStyle/>
          <a:p>
            <a:pPr algn="r" indent="0" marL="0">
              <a:buNone/>
            </a:pPr>
            <a:r>
              <a:rPr lang="en-US" sz="900" i="1" dirty="0">
                <a:solidFill>
                  <a:srgbClr val="7A88A8"/>
                </a:solidFill>
                <a:latin typeface="Calibri" pitchFamily="34" charset="0"/>
                <a:ea typeface="Calibri" pitchFamily="34" charset="-122"/>
                <a:cs typeface="Calibri" pitchFamily="34" charset="-120"/>
              </a:rPr>
              <a:t>Scaffolded: Slides 5, 7-9, 15</a:t>
            </a:r>
            <a:endParaRPr lang="en-US" sz="900" dirty="0"/>
          </a:p>
        </p:txBody>
      </p:sp>
      <p:sp>
        <p:nvSpPr>
          <p:cNvPr id="16" name="Shape 14"/>
          <p:cNvSpPr/>
          <p:nvPr/>
        </p:nvSpPr>
        <p:spPr>
          <a:xfrm>
            <a:off x="365760" y="2734056"/>
            <a:ext cx="8412480" cy="749808"/>
          </a:xfrm>
          <a:prstGeom prst="roundRect">
            <a:avLst>
              <a:gd name="adj" fmla="val 12195"/>
            </a:avLst>
          </a:prstGeom>
          <a:solidFill>
            <a:srgbClr val="FFFFFF"/>
          </a:solidFill>
          <a:ln w="25400">
            <a:solidFill>
              <a:srgbClr val="E8636B"/>
            </a:solidFill>
            <a:prstDash val="solid"/>
          </a:ln>
        </p:spPr>
      </p:sp>
      <p:sp>
        <p:nvSpPr>
          <p:cNvPr id="17" name="Shape 15"/>
          <p:cNvSpPr/>
          <p:nvPr/>
        </p:nvSpPr>
        <p:spPr>
          <a:xfrm>
            <a:off x="365760" y="2734056"/>
            <a:ext cx="594360" cy="749808"/>
          </a:xfrm>
          <a:prstGeom prst="roundRect">
            <a:avLst>
              <a:gd name="adj" fmla="val 15385"/>
            </a:avLst>
          </a:prstGeom>
          <a:solidFill>
            <a:srgbClr val="E8636B"/>
          </a:solidFill>
          <a:ln w="12700">
            <a:solidFill>
              <a:srgbClr val="E8636B"/>
            </a:solidFill>
            <a:prstDash val="solid"/>
          </a:ln>
        </p:spPr>
      </p:sp>
      <p:sp>
        <p:nvSpPr>
          <p:cNvPr id="18" name="Text 16"/>
          <p:cNvSpPr/>
          <p:nvPr/>
        </p:nvSpPr>
        <p:spPr>
          <a:xfrm>
            <a:off x="365760" y="2734056"/>
            <a:ext cx="594360" cy="7498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Q3</a:t>
            </a:r>
            <a:endParaRPr lang="en-US" sz="1200" dirty="0"/>
          </a:p>
        </p:txBody>
      </p:sp>
      <p:sp>
        <p:nvSpPr>
          <p:cNvPr id="19" name="Text 17"/>
          <p:cNvSpPr/>
          <p:nvPr/>
        </p:nvSpPr>
        <p:spPr>
          <a:xfrm>
            <a:off x="1051560" y="2798064"/>
            <a:ext cx="6035040" cy="621792"/>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While Spain, France, and England fought for control, who was actually living on this land — and what was their experience?</a:t>
            </a:r>
            <a:endParaRPr lang="en-US" sz="1200" dirty="0"/>
          </a:p>
        </p:txBody>
      </p:sp>
      <p:sp>
        <p:nvSpPr>
          <p:cNvPr id="20" name="Text 18"/>
          <p:cNvSpPr/>
          <p:nvPr/>
        </p:nvSpPr>
        <p:spPr>
          <a:xfrm>
            <a:off x="7132320" y="2798064"/>
            <a:ext cx="1554480" cy="621792"/>
          </a:xfrm>
          <a:prstGeom prst="rect">
            <a:avLst/>
          </a:prstGeom>
          <a:noFill/>
          <a:ln/>
        </p:spPr>
        <p:txBody>
          <a:bodyPr wrap="square" lIns="0" tIns="0" rIns="0" bIns="0" rtlCol="0" anchor="ctr"/>
          <a:lstStyle/>
          <a:p>
            <a:pPr algn="r" indent="0" marL="0">
              <a:buNone/>
            </a:pPr>
            <a:r>
              <a:rPr lang="en-US" sz="900" i="1" dirty="0">
                <a:solidFill>
                  <a:srgbClr val="7A88A8"/>
                </a:solidFill>
                <a:latin typeface="Calibri" pitchFamily="34" charset="0"/>
                <a:ea typeface="Calibri" pitchFamily="34" charset="-122"/>
                <a:cs typeface="Calibri" pitchFamily="34" charset="-120"/>
              </a:rPr>
              <a:t>Scaffolded: Slides 8, 11-12, 16</a:t>
            </a:r>
            <a:endParaRPr lang="en-US" sz="900" dirty="0"/>
          </a:p>
        </p:txBody>
      </p:sp>
      <p:sp>
        <p:nvSpPr>
          <p:cNvPr id="21" name="Shape 19"/>
          <p:cNvSpPr/>
          <p:nvPr/>
        </p:nvSpPr>
        <p:spPr>
          <a:xfrm>
            <a:off x="365760" y="3611880"/>
            <a:ext cx="5120640" cy="1078992"/>
          </a:xfrm>
          <a:prstGeom prst="roundRect">
            <a:avLst>
              <a:gd name="adj" fmla="val 10169"/>
            </a:avLst>
          </a:prstGeom>
          <a:solidFill>
            <a:srgbClr val="FFFFFF"/>
          </a:solidFill>
          <a:ln w="19050">
            <a:solidFill>
              <a:srgbClr val="0E1C42"/>
            </a:solidFill>
            <a:prstDash val="solid"/>
          </a:ln>
        </p:spPr>
      </p:sp>
      <p:sp>
        <p:nvSpPr>
          <p:cNvPr id="22" name="Text 20"/>
          <p:cNvSpPr/>
          <p:nvPr/>
        </p:nvSpPr>
        <p:spPr>
          <a:xfrm>
            <a:off x="548640" y="3675888"/>
            <a:ext cx="475488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Historian's Notebook Entry</a:t>
            </a:r>
            <a:endParaRPr lang="en-US" sz="1100" dirty="0"/>
          </a:p>
        </p:txBody>
      </p:sp>
      <p:sp>
        <p:nvSpPr>
          <p:cNvPr id="23" name="Text 21"/>
          <p:cNvSpPr/>
          <p:nvPr/>
        </p:nvSpPr>
        <p:spPr>
          <a:xfrm>
            <a:off x="548640" y="3950208"/>
            <a:ext cx="4754880" cy="658368"/>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In 4-6 sentences: Why did three European powers fight over Florida, and what did their rivalry mean for the people already living here? Use one event, one motive, and one First Peoples nation.</a:t>
            </a:r>
            <a:endParaRPr lang="en-US" sz="1100" dirty="0"/>
          </a:p>
        </p:txBody>
      </p:sp>
      <p:sp>
        <p:nvSpPr>
          <p:cNvPr id="24" name="Shape 22"/>
          <p:cNvSpPr/>
          <p:nvPr/>
        </p:nvSpPr>
        <p:spPr>
          <a:xfrm>
            <a:off x="5669280" y="3611880"/>
            <a:ext cx="3108960" cy="1078992"/>
          </a:xfrm>
          <a:prstGeom prst="roundRect">
            <a:avLst>
              <a:gd name="adj" fmla="val 10169"/>
            </a:avLst>
          </a:prstGeom>
          <a:solidFill>
            <a:srgbClr val="FFF3DC"/>
          </a:solidFill>
          <a:ln w="19050">
            <a:solidFill>
              <a:srgbClr val="F5E6C8"/>
            </a:solidFill>
            <a:prstDash val="solid"/>
          </a:ln>
        </p:spPr>
      </p:sp>
      <p:sp>
        <p:nvSpPr>
          <p:cNvPr id="25" name="Text 23"/>
          <p:cNvSpPr/>
          <p:nvPr/>
        </p:nvSpPr>
        <p:spPr>
          <a:xfrm>
            <a:off x="5806440" y="3675888"/>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HISTORIAN'S SENTENCE</a:t>
            </a:r>
            <a:endParaRPr lang="en-US" sz="900" dirty="0"/>
          </a:p>
        </p:txBody>
      </p:sp>
      <p:sp>
        <p:nvSpPr>
          <p:cNvPr id="26" name="Text 24"/>
          <p:cNvSpPr/>
          <p:nvPr/>
        </p:nvSpPr>
        <p:spPr>
          <a:xfrm>
            <a:off x="5806440" y="3913632"/>
            <a:ext cx="2834640" cy="713232"/>
          </a:xfrm>
          <a:prstGeom prst="rect">
            <a:avLst/>
          </a:prstGeom>
          <a:noFill/>
          <a:ln/>
        </p:spPr>
        <p:txBody>
          <a:bodyPr wrap="square" lIns="0" tIns="0" rIns="0" bIns="0" rtlCol="0" anchor="ctr"/>
          <a:lstStyle/>
          <a:p>
            <a:pPr indent="0" marL="0">
              <a:buNone/>
            </a:pPr>
            <a:r>
              <a:rPr lang="en-US" sz="1200" i="1" dirty="0">
                <a:solidFill>
                  <a:srgbClr val="5A4A3A"/>
                </a:solidFill>
                <a:latin typeface="Cambria" pitchFamily="34" charset="0"/>
                <a:ea typeface="Cambria" pitchFamily="34" charset="-122"/>
                <a:cs typeface="Cambria" pitchFamily="34" charset="-120"/>
              </a:rPr>
              <a:t>"As a Florida historian, I can say that ______ because ______."</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4389120"/>
            <a:ext cx="9144000" cy="91440"/>
          </a:xfrm>
          <a:prstGeom prst="rect">
            <a:avLst/>
          </a:prstGeom>
          <a:solidFill>
            <a:srgbClr val="D4943A"/>
          </a:solidFill>
          <a:ln w="12700">
            <a:solidFill>
              <a:srgbClr val="D4943A"/>
            </a:solidFill>
            <a:prstDash val="solid"/>
          </a:ln>
        </p:spPr>
      </p:sp>
      <p:sp>
        <p:nvSpPr>
          <p:cNvPr id="6" name="Shape 3"/>
          <p:cNvSpPr/>
          <p:nvPr/>
        </p:nvSpPr>
        <p:spPr>
          <a:xfrm>
            <a:off x="457200" y="365760"/>
            <a:ext cx="2286000" cy="365760"/>
          </a:xfrm>
          <a:prstGeom prst="roundRect">
            <a:avLst>
              <a:gd name="adj" fmla="val 25000"/>
            </a:avLst>
          </a:prstGeom>
          <a:solidFill>
            <a:srgbClr val="34B76F"/>
          </a:solidFill>
          <a:ln w="12700">
            <a:solidFill>
              <a:srgbClr val="34B76F"/>
            </a:solidFill>
            <a:prstDash val="solid"/>
          </a:ln>
        </p:spPr>
      </p:sp>
      <p:sp>
        <p:nvSpPr>
          <p:cNvPr id="7" name="Text 4"/>
          <p:cNvSpPr/>
          <p:nvPr/>
        </p:nvSpPr>
        <p:spPr>
          <a:xfrm>
            <a:off x="457200" y="365760"/>
            <a:ext cx="2286000" cy="365760"/>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FILE UNLOCKED</a:t>
            </a:r>
            <a:endParaRPr lang="en-US" sz="1100" dirty="0"/>
          </a:p>
        </p:txBody>
      </p:sp>
      <p:sp>
        <p:nvSpPr>
          <p:cNvPr id="8" name="Text 5"/>
          <p:cNvSpPr/>
          <p:nvPr/>
        </p:nvSpPr>
        <p:spPr>
          <a:xfrm>
            <a:off x="457200" y="86868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Spain, France, and England were each connected to Florida's early colonial story in different ways.</a:t>
            </a:r>
            <a:endParaRPr lang="en-US" sz="2600" dirty="0"/>
          </a:p>
        </p:txBody>
      </p:sp>
      <p:sp>
        <p:nvSpPr>
          <p:cNvPr id="9" name="Text 6"/>
          <p:cNvSpPr/>
          <p:nvPr/>
        </p:nvSpPr>
        <p:spPr>
          <a:xfrm>
            <a:off x="457200" y="1737360"/>
            <a:ext cx="8229600" cy="594360"/>
          </a:xfrm>
          <a:prstGeom prst="rect">
            <a:avLst/>
          </a:prstGeom>
          <a:noFill/>
          <a:ln/>
        </p:spPr>
        <p:txBody>
          <a:bodyPr wrap="square" lIns="0" tIns="0" rIns="0" bIns="0" rtlCol="0" anchor="ctr"/>
          <a:lstStyle/>
          <a:p>
            <a:pPr indent="0" marL="0">
              <a:buNone/>
            </a:pPr>
            <a:r>
              <a:rPr lang="en-US" sz="1700" i="1" dirty="0">
                <a:solidFill>
                  <a:srgbClr val="F0F2F8"/>
                </a:solidFill>
                <a:latin typeface="Calibri" pitchFamily="34" charset="0"/>
                <a:ea typeface="Calibri" pitchFamily="34" charset="-122"/>
                <a:cs typeface="Calibri" pitchFamily="34" charset="-120"/>
              </a:rPr>
              <a:t>You proved it. You traced the rivalry from Fort Caroline to St. Augustine to Drake's raid. The Florida File is locked in.</a:t>
            </a:r>
            <a:endParaRPr lang="en-US" sz="1700" dirty="0"/>
          </a:p>
        </p:txBody>
      </p:sp>
      <p:sp>
        <p:nvSpPr>
          <p:cNvPr id="10" name="Shape 7"/>
          <p:cNvSpPr/>
          <p:nvPr/>
        </p:nvSpPr>
        <p:spPr>
          <a:xfrm>
            <a:off x="457200" y="2468880"/>
            <a:ext cx="8046720" cy="36576"/>
          </a:xfrm>
          <a:prstGeom prst="rect">
            <a:avLst/>
          </a:prstGeom>
          <a:solidFill>
            <a:srgbClr val="55C8E8"/>
          </a:solidFill>
          <a:ln w="12700">
            <a:solidFill>
              <a:srgbClr val="55C8E8"/>
            </a:solidFill>
            <a:prstDash val="solid"/>
          </a:ln>
        </p:spPr>
      </p:sp>
      <p:sp>
        <p:nvSpPr>
          <p:cNvPr id="11" name="Text 8"/>
          <p:cNvSpPr/>
          <p:nvPr/>
        </p:nvSpPr>
        <p:spPr>
          <a:xfrm>
            <a:off x="457200" y="2606040"/>
            <a:ext cx="8229600" cy="292608"/>
          </a:xfrm>
          <a:prstGeom prst="rect">
            <a:avLst/>
          </a:prstGeom>
          <a:noFill/>
          <a:ln/>
        </p:spPr>
        <p:txBody>
          <a:bodyPr wrap="square" lIns="0" tIns="0" rIns="0" bIns="0"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This Week — Three Lessons of Unit 4:</a:t>
            </a:r>
            <a:endParaRPr lang="en-US" sz="1400" dirty="0"/>
          </a:p>
        </p:txBody>
      </p:sp>
      <p:sp>
        <p:nvSpPr>
          <p:cNvPr id="12" name="Text 9"/>
          <p:cNvSpPr/>
          <p:nvPr/>
        </p:nvSpPr>
        <p:spPr>
          <a:xfrm>
            <a:off x="457200" y="2926080"/>
            <a:ext cx="8229600" cy="347472"/>
          </a:xfrm>
          <a:prstGeom prst="rect">
            <a:avLst/>
          </a:prstGeom>
          <a:noFill/>
          <a:ln/>
        </p:spPr>
        <p:txBody>
          <a:bodyPr wrap="square" lIns="0" tIns="0" rIns="0" bIns="0" rtlCol="0" anchor="ctr"/>
          <a:lstStyle/>
          <a:p>
            <a:pPr indent="0" marL="0">
              <a:buNone/>
            </a:pPr>
            <a:r>
              <a:rPr lang="en-US" sz="1400" dirty="0">
                <a:solidFill>
                  <a:srgbClr val="F0F2F8"/>
                </a:solidFill>
                <a:latin typeface="Calibri" pitchFamily="34" charset="0"/>
                <a:ea typeface="Calibri" pitchFamily="34" charset="-122"/>
                <a:cs typeface="Calibri" pitchFamily="34" charset="-120"/>
              </a:rPr>
              <a:t>Day 1: Explorers  |  Day 2: Motives (God, Gold, Glory)  |  Day 3: The Rivalry (Today)</a:t>
            </a:r>
            <a:endParaRPr lang="en-US" sz="1400" dirty="0"/>
          </a:p>
        </p:txBody>
      </p:sp>
      <p:sp>
        <p:nvSpPr>
          <p:cNvPr id="13" name="Shape 10"/>
          <p:cNvSpPr/>
          <p:nvPr/>
        </p:nvSpPr>
        <p:spPr>
          <a:xfrm>
            <a:off x="457200" y="3401568"/>
            <a:ext cx="8229600" cy="804672"/>
          </a:xfrm>
          <a:prstGeom prst="roundRect">
            <a:avLst>
              <a:gd name="adj" fmla="val 13636"/>
            </a:avLst>
          </a:prstGeom>
          <a:solidFill>
            <a:srgbClr val="1A2D5A"/>
          </a:solidFill>
          <a:ln w="19050">
            <a:solidFill>
              <a:srgbClr val="D4943A"/>
            </a:solidFill>
            <a:prstDash val="solid"/>
          </a:ln>
        </p:spPr>
      </p:sp>
      <p:sp>
        <p:nvSpPr>
          <p:cNvPr id="14" name="Text 11"/>
          <p:cNvSpPr/>
          <p:nvPr/>
        </p:nvSpPr>
        <p:spPr>
          <a:xfrm>
            <a:off x="640080" y="3465576"/>
            <a:ext cx="7863840" cy="256032"/>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Coming Next — Lesson 4.04.04:</a:t>
            </a:r>
            <a:endParaRPr lang="en-US" sz="1200" dirty="0"/>
          </a:p>
        </p:txBody>
      </p:sp>
      <p:sp>
        <p:nvSpPr>
          <p:cNvPr id="15" name="Text 12"/>
          <p:cNvSpPr/>
          <p:nvPr/>
        </p:nvSpPr>
        <p:spPr>
          <a:xfrm>
            <a:off x="640080" y="3739896"/>
            <a:ext cx="7863840" cy="411480"/>
          </a:xfrm>
          <a:prstGeom prst="rect">
            <a:avLst/>
          </a:prstGeom>
          <a:noFill/>
          <a:ln/>
        </p:spPr>
        <p:txBody>
          <a:bodyPr wrap="square" lIns="0" tIns="0" rIns="0" bIns="0" rtlCol="0" anchor="t"/>
          <a:lstStyle/>
          <a:p>
            <a:pPr indent="0" marL="0">
              <a:buNone/>
            </a:pPr>
            <a:r>
              <a:rPr lang="en-US" sz="1300" dirty="0">
                <a:solidFill>
                  <a:srgbClr val="F0F2F8"/>
                </a:solidFill>
                <a:latin typeface="Calibri" pitchFamily="34" charset="0"/>
                <a:ea typeface="Calibri" pitchFamily="34" charset="-122"/>
                <a:cs typeface="Calibri" pitchFamily="34" charset="-120"/>
              </a:rPr>
              <a:t>The LAST lesson of Unit 4. We pull back and see the full picture: what European colonization actually caused in Florida — and what it left behind.</a:t>
            </a:r>
            <a:endParaRPr lang="en-US" sz="1300" dirty="0"/>
          </a:p>
        </p:txBody>
      </p:sp>
      <p:sp>
        <p:nvSpPr>
          <p:cNvPr id="16" name="Text 13"/>
          <p:cNvSpPr/>
          <p:nvPr/>
        </p:nvSpPr>
        <p:spPr>
          <a:xfrm>
            <a:off x="457200" y="4736592"/>
            <a:ext cx="8229600" cy="292608"/>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Episode 4 of 13  |  Unit 4 finale is next.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2026-07-14T00:16:57Z</dcterms:created>
  <dcterms:modified xsi:type="dcterms:W3CDTF">2026-07-14T00:16:57Z</dcterms:modified>
</cp:coreProperties>
</file>