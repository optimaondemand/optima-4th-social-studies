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glowing checkpoint door in a dark digital corridor, golden light pulsing at door edges, pixel-art game-UI style, dramatic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mission aloud. Remind students they have studied each of these topics separately in Units 3-4 — today they connect the files. The checkpoint door only opens when all four cards are accounted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10-15 seconds of look time before students click anything. Prediction activates prior knowledge. Ask 2-3 students to share. Do not confirm or deny predictions yet — let the evidence wall do that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 knowledge activation only — do not evaluate or correct answers. The 'discovery' question is a preview of Assignment Q3. Let disagreement emerge but do not resolve it here. Note which students push back on 'discovery' — they have strong prior understanding to draw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students past 'the Calusa lived near water' to 'the estuaries gave them shellfish, fish, and protected waterways that made large communities possible.' The map and the First Peoples card together tell a story neither tells alone. This is the core reasoning for Assignment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are rehearsing Assignment Q1 right now. Require the 'because' — not 'they lived near the coast' but 'they lived near the coast because the estuaries provided year-round food and protected waterways.' The second Socratic question tests conceptual transfer: if the geography were different, the settlement pattern would differ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Give 20 seconds for students to type both answers in chat before moving on. The contrast is deliberate — exploring and colonizing are not the same act depending on whose perspective you hold. This sets up Assignment Q2 and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are rehearsing Assignment Q2 right now. Most Contact-era sources were written by Europeans, for European audiences. The missing perspective — First Peoples' own accounts — is itself historical evidence. Remind students: an incomplete source is still evidence, it just requires more honesty about what it can and cannot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think-aloud slowly — point to each part of the sentence pattern as you read. The goal is for students to see the STRUCTURE, not just the example. They will use this exact pattern for Assignment Q1 and the Synthesis Entry. Run it twice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are rehearsing Assignment Q2 right now. Hold the 'good or bad' question open — resist giving the answer. The Socratic panel is designed to surface the complexity: someone could argue contact brought new goods (good), but disease and forced labor make a simple 'good' answer dishonest. Let students argue it out, then reveal Q2's exact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weak answer has two problems: 'discovered' erases prior inhabitants, and 'better place' contradicts the Contact card. Ask 'what card is missing?' before naming 'discovery' as the word problem. Students who critique this answer ARE doing Assignment Q3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resolve this. The transferable pattern is the point. If a student says 'contact was bad, period,' ask: what evidence would make you revise that? If they say 'it had long-term benefits,' ask: who paid the cost? Hold the tension. The Synthesis Entry will require students to work with exactly this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assignment question aloud and ask: 'Have we already discussed this?' Students should be able to say yes for all three. The Synthesis Entry uses exactly the connecting words from the sentence pattern on Slide 9. Historian's Sentence is the reflection log — one sentence that captures the biggest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and let the virtue breathe. Ask: 'Did anyone feel tempted today to ignore the Contact card because it made the story messier?' That temptation IS the virtue challenge. Honesty in history is not just about not lying — it is about not looking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glowing digital checkpoint door in a dark corridor, cracking open with warm golden light flooding through — pixel-art game-UI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457200"/>
            <a:ext cx="8229600" cy="274320"/>
          </a:xfrm>
          <a:prstGeom prst="rect">
            <a:avLst/>
          </a:prstGeom>
          <a:noFill/>
          <a:ln/>
        </p:spPr>
        <p:txBody>
          <a:bodyPr wrap="square" rtlCol="0" anchor="ctr"/>
          <a:lstStyle/>
          <a:p>
            <a:pPr algn="ctr" indent="0" marL="0">
              <a:buNone/>
            </a:pPr>
            <a:r>
              <a:rPr lang="en-US" sz="1100" b="1" spc="200" kern="0" dirty="0">
                <a:solidFill>
                  <a:srgbClr val="55C8E8"/>
                </a:solidFill>
                <a:latin typeface="Calibri" pitchFamily="34" charset="0"/>
                <a:ea typeface="Calibri" pitchFamily="34" charset="-122"/>
                <a:cs typeface="Calibri" pitchFamily="34" charset="-120"/>
              </a:rPr>
              <a:t>LESSON 4.05.01</a:t>
            </a:r>
            <a:endParaRPr lang="en-US" sz="1100" dirty="0"/>
          </a:p>
        </p:txBody>
      </p:sp>
      <p:sp>
        <p:nvSpPr>
          <p:cNvPr id="6" name="Text 3"/>
          <p:cNvSpPr/>
          <p:nvPr/>
        </p:nvSpPr>
        <p:spPr>
          <a:xfrm>
            <a:off x="457200" y="822960"/>
            <a:ext cx="8229600" cy="150876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Evidence Review: Geography,</a:t>
            </a:r>
            <a:endParaRPr lang="en-US" sz="3400" dirty="0"/>
          </a:p>
          <a:p>
            <a:pPr algn="ctr" indent="0" marL="0">
              <a:buNone/>
            </a:pPr>
            <a:r>
              <a:rPr lang="en-US" sz="3400" b="1" dirty="0">
                <a:solidFill>
                  <a:srgbClr val="FFFFFF"/>
                </a:solidFill>
                <a:latin typeface="Cambria" pitchFamily="34" charset="0"/>
                <a:ea typeface="Cambria" pitchFamily="34" charset="-122"/>
                <a:cs typeface="Cambria" pitchFamily="34" charset="-120"/>
              </a:rPr>
              <a:t>First Peoples, and Exploration</a:t>
            </a:r>
            <a:endParaRPr lang="en-US" sz="3400" dirty="0"/>
          </a:p>
        </p:txBody>
      </p:sp>
      <p:sp>
        <p:nvSpPr>
          <p:cNvPr id="7" name="Text 4"/>
          <p:cNvSpPr/>
          <p:nvPr/>
        </p:nvSpPr>
        <p:spPr>
          <a:xfrm>
            <a:off x="457200" y="2423160"/>
            <a:ext cx="8229600" cy="411480"/>
          </a:xfrm>
          <a:prstGeom prst="rect">
            <a:avLst/>
          </a:prstGeom>
          <a:noFill/>
          <a:ln/>
        </p:spPr>
        <p:txBody>
          <a:bodyPr wrap="square" rtlCol="0" anchor="ctr"/>
          <a:lstStyle/>
          <a:p>
            <a:pPr algn="ctr" indent="0" marL="0">
              <a:buNone/>
            </a:pPr>
            <a:r>
              <a:rPr lang="en-US" sz="1600" dirty="0">
                <a:solidFill>
                  <a:srgbClr val="D4943A"/>
                </a:solidFill>
                <a:latin typeface="Calibri" pitchFamily="34" charset="0"/>
                <a:ea typeface="Calibri" pitchFamily="34" charset="-122"/>
                <a:cs typeface="Calibri" pitchFamily="34" charset="-120"/>
              </a:rPr>
              <a:t>Synthesis 1: Land, People, and First Contact</a:t>
            </a:r>
            <a:endParaRPr lang="en-US" sz="1600" dirty="0"/>
          </a:p>
        </p:txBody>
      </p:sp>
      <p:sp>
        <p:nvSpPr>
          <p:cNvPr id="8" name="Text 5"/>
          <p:cNvSpPr/>
          <p:nvPr/>
        </p:nvSpPr>
        <p:spPr>
          <a:xfrm>
            <a:off x="914400" y="3017520"/>
            <a:ext cx="7315200" cy="685800"/>
          </a:xfrm>
          <a:prstGeom prst="rect">
            <a:avLst/>
          </a:prstGeom>
          <a:noFill/>
          <a:ln/>
        </p:spPr>
        <p:txBody>
          <a:bodyPr wrap="square" rtlCol="0" anchor="ctr"/>
          <a:lstStyle/>
          <a:p>
            <a:pPr algn="ctr" indent="0" marL="0">
              <a:buNone/>
            </a:pPr>
            <a:r>
              <a:rPr lang="en-US" sz="1300" i="1" dirty="0">
                <a:solidFill>
                  <a:srgbClr val="B8C8E8"/>
                </a:solidFill>
                <a:latin typeface="Calibri" pitchFamily="34" charset="0"/>
                <a:ea typeface="Calibri" pitchFamily="34" charset="-122"/>
                <a:cs typeface="Calibri" pitchFamily="34" charset="-120"/>
              </a:rPr>
              <a:t>A checkpoint door just appeared at the end of the module.</a:t>
            </a:r>
            <a:endParaRPr lang="en-US" sz="1300" dirty="0"/>
          </a:p>
          <a:p>
            <a:pPr algn="ctr" indent="0" marL="0">
              <a:buNone/>
            </a:pPr>
            <a:r>
              <a:rPr lang="en-US" sz="1300" i="1" dirty="0">
                <a:solidFill>
                  <a:srgbClr val="B8C8E8"/>
                </a:solidFill>
                <a:latin typeface="Calibri" pitchFamily="34" charset="0"/>
                <a:ea typeface="Calibri" pitchFamily="34" charset="-122"/>
                <a:cs typeface="Calibri" pitchFamily="34" charset="-120"/>
              </a:rPr>
              <a:t>Ms. Rivera is counting on the Florida History Team to open it.</a:t>
            </a:r>
            <a:endParaRPr lang="en-US" sz="1300" dirty="0"/>
          </a:p>
        </p:txBody>
      </p:sp>
      <p:sp>
        <p:nvSpPr>
          <p:cNvPr id="9" name="Text 6"/>
          <p:cNvSpPr/>
          <p:nvPr/>
        </p:nvSpPr>
        <p:spPr>
          <a:xfrm>
            <a:off x="457200" y="4114800"/>
            <a:ext cx="8229600" cy="274320"/>
          </a:xfrm>
          <a:prstGeom prst="rect">
            <a:avLst/>
          </a:prstGeom>
          <a:noFill/>
          <a:ln/>
        </p:spPr>
        <p:txBody>
          <a:bodyPr wrap="square" rtlCol="0" anchor="ctr"/>
          <a:lstStyle/>
          <a:p>
            <a:pPr algn="ctr" indent="0" marL="0">
              <a:buNone/>
            </a:pPr>
            <a:r>
              <a:rPr lang="en-US" sz="1000" dirty="0">
                <a:solidFill>
                  <a:srgbClr val="7A88A8"/>
                </a:solidFill>
                <a:latin typeface="Calibri" pitchFamily="34" charset="0"/>
                <a:ea typeface="Calibri" pitchFamily="34" charset="-122"/>
                <a:cs typeface="Calibri" pitchFamily="34" charset="-120"/>
              </a:rPr>
              <a:t>SS.4.A.2.1  |  SS.4.A.3.1  |  SS.4.G.1.1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p:spPr>
      </p:sp>
      <p:sp>
        <p:nvSpPr>
          <p:cNvPr id="3" name="Shape 1"/>
          <p:cNvSpPr/>
          <p:nvPr/>
        </p:nvSpPr>
        <p:spPr>
          <a:xfrm>
            <a:off x="0" y="0"/>
            <a:ext cx="9144000" cy="5143500"/>
          </a:xfrm>
          <a:prstGeom prst="rect">
            <a:avLst/>
          </a:prstGeom>
          <a:solidFill>
            <a:srgbClr val="0E1C42">
              <a:alpha val="70000"/>
            </a:srgbClr>
          </a:solidFill>
          <a:ln/>
        </p:spPr>
      </p:sp>
      <p:sp>
        <p:nvSpPr>
          <p:cNvPr id="4" name="Shape 2"/>
          <p:cNvSpPr/>
          <p:nvPr/>
        </p:nvSpPr>
        <p:spPr>
          <a:xfrm>
            <a:off x="2926080" y="292608"/>
            <a:ext cx="3291840" cy="438912"/>
          </a:xfrm>
          <a:prstGeom prst="roundRect">
            <a:avLst>
              <a:gd name="adj" fmla="val 20833"/>
            </a:avLst>
          </a:prstGeom>
          <a:solidFill>
            <a:srgbClr val="34B76F"/>
          </a:solidFill>
          <a:ln/>
        </p:spPr>
      </p:sp>
      <p:sp>
        <p:nvSpPr>
          <p:cNvPr id="5" name="Text 3"/>
          <p:cNvSpPr/>
          <p:nvPr/>
        </p:nvSpPr>
        <p:spPr>
          <a:xfrm>
            <a:off x="2926080" y="292608"/>
            <a:ext cx="3291840" cy="43891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FILE UNLOCKED: Early Florida Evidence</a:t>
            </a:r>
            <a:endParaRPr lang="en-US" sz="1000" dirty="0"/>
          </a:p>
        </p:txBody>
      </p:sp>
      <p:sp>
        <p:nvSpPr>
          <p:cNvPr id="6" name="Text 4"/>
          <p:cNvSpPr/>
          <p:nvPr/>
        </p:nvSpPr>
        <p:spPr>
          <a:xfrm>
            <a:off x="457200" y="960120"/>
            <a:ext cx="8229600" cy="274320"/>
          </a:xfrm>
          <a:prstGeom prst="rect">
            <a:avLst/>
          </a:prstGeom>
          <a:noFill/>
          <a:ln/>
        </p:spPr>
        <p:txBody>
          <a:bodyPr wrap="square"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MISSION QUESTION</a:t>
            </a:r>
            <a:endParaRPr lang="en-US" sz="1000" dirty="0"/>
          </a:p>
        </p:txBody>
      </p:sp>
      <p:sp>
        <p:nvSpPr>
          <p:cNvPr id="7" name="Text 5"/>
          <p:cNvSpPr/>
          <p:nvPr/>
        </p:nvSpPr>
        <p:spPr>
          <a:xfrm>
            <a:off x="457200" y="1298448"/>
            <a:ext cx="8229600" cy="1417320"/>
          </a:xfrm>
          <a:prstGeom prst="rect">
            <a:avLst/>
          </a:prstGeom>
          <a:noFill/>
          <a:ln/>
        </p:spPr>
        <p:txBody>
          <a:bodyPr wrap="square" rtlCol="0" anchor="ctr"/>
          <a:lstStyle/>
          <a:p>
            <a:pPr algn="ctr" indent="0" marL="0">
              <a:buNone/>
            </a:pPr>
            <a:r>
              <a:rPr lang="en-US" sz="2500" b="1" dirty="0">
                <a:solidFill>
                  <a:srgbClr val="FFFFFF"/>
                </a:solidFill>
                <a:latin typeface="Cambria" pitchFamily="34" charset="0"/>
                <a:ea typeface="Cambria" pitchFamily="34" charset="-122"/>
                <a:cs typeface="Cambria" pitchFamily="34" charset="-120"/>
              </a:rPr>
              <a:t>What patterns connect Florida's land,</a:t>
            </a:r>
            <a:endParaRPr lang="en-US" sz="2500" dirty="0"/>
          </a:p>
          <a:p>
            <a:pPr algn="ctr" indent="0" marL="0">
              <a:buNone/>
            </a:pPr>
            <a:r>
              <a:rPr lang="en-US" sz="2500" b="1" dirty="0">
                <a:solidFill>
                  <a:srgbClr val="FFFFFF"/>
                </a:solidFill>
                <a:latin typeface="Cambria" pitchFamily="34" charset="0"/>
                <a:ea typeface="Cambria" pitchFamily="34" charset="-122"/>
                <a:cs typeface="Cambria" pitchFamily="34" charset="-120"/>
              </a:rPr>
              <a:t>the First Peoples who lived here,</a:t>
            </a:r>
            <a:endParaRPr lang="en-US" sz="2500" dirty="0"/>
          </a:p>
          <a:p>
            <a:pPr algn="ctr" indent="0" marL="0">
              <a:buNone/>
            </a:pPr>
            <a:r>
              <a:rPr lang="en-US" sz="2500" b="1" dirty="0">
                <a:solidFill>
                  <a:srgbClr val="FFFFFF"/>
                </a:solidFill>
                <a:latin typeface="Cambria" pitchFamily="34" charset="0"/>
                <a:ea typeface="Cambria" pitchFamily="34" charset="-122"/>
                <a:cs typeface="Cambria" pitchFamily="34" charset="-120"/>
              </a:rPr>
              <a:t>and the explorers who came searching?</a:t>
            </a:r>
            <a:endParaRPr lang="en-US" sz="2500" dirty="0"/>
          </a:p>
        </p:txBody>
      </p:sp>
      <p:sp>
        <p:nvSpPr>
          <p:cNvPr id="8" name="Shape 6"/>
          <p:cNvSpPr/>
          <p:nvPr/>
        </p:nvSpPr>
        <p:spPr>
          <a:xfrm>
            <a:off x="3200400" y="2834640"/>
            <a:ext cx="2743200" cy="36576"/>
          </a:xfrm>
          <a:prstGeom prst="rect">
            <a:avLst/>
          </a:prstGeom>
          <a:solidFill>
            <a:srgbClr val="D4943A"/>
          </a:solidFill>
          <a:ln/>
        </p:spPr>
      </p:sp>
      <p:sp>
        <p:nvSpPr>
          <p:cNvPr id="9" name="Text 7"/>
          <p:cNvSpPr/>
          <p:nvPr/>
        </p:nvSpPr>
        <p:spPr>
          <a:xfrm>
            <a:off x="731520" y="2971800"/>
            <a:ext cx="7680960" cy="640080"/>
          </a:xfrm>
          <a:prstGeom prst="rect">
            <a:avLst/>
          </a:prstGeom>
          <a:noFill/>
          <a:ln/>
        </p:spPr>
        <p:txBody>
          <a:bodyPr wrap="square" rtlCol="0" anchor="ctr"/>
          <a:lstStyle/>
          <a:p>
            <a:pPr algn="ctr" indent="0" marL="0">
              <a:buNone/>
            </a:pPr>
            <a:r>
              <a:rPr lang="en-US" sz="1300" i="1" dirty="0">
                <a:solidFill>
                  <a:srgbClr val="B8C8E8"/>
                </a:solidFill>
                <a:latin typeface="Calibri" pitchFamily="34" charset="0"/>
                <a:ea typeface="Calibri" pitchFamily="34" charset="-122"/>
                <a:cs typeface="Calibri" pitchFamily="34" charset="-120"/>
              </a:rPr>
              <a:t>Ms. Rivera is trapped inside Canvas. She needs the Florida History Team</a:t>
            </a:r>
            <a:endParaRPr lang="en-US" sz="1300" dirty="0"/>
          </a:p>
          <a:p>
            <a:pPr algn="ctr" indent="0" marL="0">
              <a:buNone/>
            </a:pPr>
            <a:r>
              <a:rPr lang="en-US" sz="1300" i="1" dirty="0">
                <a:solidFill>
                  <a:srgbClr val="B8C8E8"/>
                </a:solidFill>
                <a:latin typeface="Calibri" pitchFamily="34" charset="0"/>
                <a:ea typeface="Calibri" pitchFamily="34" charset="-122"/>
                <a:cs typeface="Calibri" pitchFamily="34" charset="-120"/>
              </a:rPr>
              <a:t>to sort every early Florida file and unlock the checkpoint door.</a:t>
            </a:r>
            <a:endParaRPr lang="en-US" sz="1300" dirty="0"/>
          </a:p>
        </p:txBody>
      </p:sp>
      <p:sp>
        <p:nvSpPr>
          <p:cNvPr id="10" name="Text 8"/>
          <p:cNvSpPr/>
          <p:nvPr/>
        </p:nvSpPr>
        <p:spPr>
          <a:xfrm>
            <a:off x="1371600" y="3840480"/>
            <a:ext cx="6400800" cy="365760"/>
          </a:xfrm>
          <a:prstGeom prst="rect">
            <a:avLst/>
          </a:prstGeom>
          <a:noFill/>
          <a:ln/>
        </p:spPr>
        <p:txBody>
          <a:bodyPr wrap="square" rtlCol="0" anchor="ctr"/>
          <a:lstStyle/>
          <a:p>
            <a:pPr algn="ctr" indent="0" marL="0">
              <a:buNone/>
            </a:pPr>
            <a:r>
              <a:rPr lang="en-US" sz="1200" b="1" dirty="0">
                <a:solidFill>
                  <a:srgbClr val="D4943A"/>
                </a:solidFill>
                <a:latin typeface="Calibri" pitchFamily="34" charset="0"/>
                <a:ea typeface="Calibri" pitchFamily="34" charset="-122"/>
                <a:cs typeface="Calibri" pitchFamily="34" charset="-120"/>
              </a:rPr>
              <a:t>Your role: Florida historian on the evidence review team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64592"/>
            <a:ext cx="228600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CLUE BOX</a:t>
            </a:r>
            <a:endParaRPr lang="en-US" sz="900" dirty="0"/>
          </a:p>
        </p:txBody>
      </p:sp>
      <p:sp>
        <p:nvSpPr>
          <p:cNvPr id="4" name="Text 2"/>
          <p:cNvSpPr/>
          <p:nvPr/>
        </p:nvSpPr>
        <p:spPr>
          <a:xfrm>
            <a:off x="365760" y="457200"/>
            <a:ext cx="841248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The Evidence Wall</a:t>
            </a:r>
            <a:endParaRPr lang="en-US" sz="2200" dirty="0"/>
          </a:p>
        </p:txBody>
      </p:sp>
      <p:sp>
        <p:nvSpPr>
          <p:cNvPr id="5" name="Shape 3"/>
          <p:cNvSpPr/>
          <p:nvPr/>
        </p:nvSpPr>
        <p:spPr>
          <a:xfrm>
            <a:off x="274320" y="960120"/>
            <a:ext cx="4937760" cy="2788920"/>
          </a:xfrm>
          <a:prstGeom prst="roundRect">
            <a:avLst>
              <a:gd name="adj" fmla="val 3934"/>
            </a:avLst>
          </a:prstGeom>
          <a:solidFill>
            <a:srgbClr val="E2E8F4"/>
          </a:solidFill>
          <a:ln w="19050">
            <a:solidFill>
              <a:srgbClr val="B0B8CC"/>
            </a:solidFill>
            <a:prstDash val="dash"/>
          </a:ln>
        </p:spPr>
      </p:sp>
      <p:sp>
        <p:nvSpPr>
          <p:cNvPr id="6" name="Text 4"/>
          <p:cNvSpPr/>
          <p:nvPr/>
        </p:nvSpPr>
        <p:spPr>
          <a:xfrm>
            <a:off x="274320" y="960120"/>
            <a:ext cx="49377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1234440"/>
            <a:ext cx="4663440" cy="2423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Four labeled cards arranged on a wall: GEOGRAPHY | FIRST PEOPLES | EXPLORATION | CONTACT — bulletin board or evidence wall style</a:t>
            </a:r>
            <a:endParaRPr lang="en-US" sz="1100" dirty="0"/>
          </a:p>
        </p:txBody>
      </p:sp>
      <p:sp>
        <p:nvSpPr>
          <p:cNvPr id="8" name="Shape 6"/>
          <p:cNvSpPr/>
          <p:nvPr/>
        </p:nvSpPr>
        <p:spPr>
          <a:xfrm>
            <a:off x="5440680" y="960120"/>
            <a:ext cx="3246120" cy="1325880"/>
          </a:xfrm>
          <a:prstGeom prst="roundRect">
            <a:avLst>
              <a:gd name="adj" fmla="val 8276"/>
            </a:avLst>
          </a:prstGeom>
          <a:solidFill>
            <a:srgbClr val="FFFFFF"/>
          </a:solidFill>
          <a:ln w="12700">
            <a:solidFill>
              <a:srgbClr val="D0D8E8"/>
            </a:solidFill>
            <a:prstDash val="solid"/>
          </a:ln>
        </p:spPr>
      </p:sp>
      <p:sp>
        <p:nvSpPr>
          <p:cNvPr id="9" name="Text 7"/>
          <p:cNvSpPr/>
          <p:nvPr/>
        </p:nvSpPr>
        <p:spPr>
          <a:xfrm>
            <a:off x="5577840" y="1042416"/>
            <a:ext cx="2971800" cy="27432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Look at the four cards.</a:t>
            </a:r>
            <a:endParaRPr lang="en-US" sz="1200" dirty="0"/>
          </a:p>
        </p:txBody>
      </p:sp>
      <p:sp>
        <p:nvSpPr>
          <p:cNvPr id="10" name="Text 8"/>
          <p:cNvSpPr/>
          <p:nvPr/>
        </p:nvSpPr>
        <p:spPr>
          <a:xfrm>
            <a:off x="5577840" y="1335024"/>
            <a:ext cx="2971800" cy="82296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Before you read — which two do you think will be EASIEST to connect? Which two might surprise you?</a:t>
            </a:r>
            <a:endParaRPr lang="en-US" sz="1100" dirty="0"/>
          </a:p>
        </p:txBody>
      </p:sp>
      <p:sp>
        <p:nvSpPr>
          <p:cNvPr id="11" name="Shape 9"/>
          <p:cNvSpPr/>
          <p:nvPr/>
        </p:nvSpPr>
        <p:spPr>
          <a:xfrm>
            <a:off x="5440680" y="2468880"/>
            <a:ext cx="3246120" cy="1280160"/>
          </a:xfrm>
          <a:prstGeom prst="roundRect">
            <a:avLst>
              <a:gd name="adj" fmla="val 8571"/>
            </a:avLst>
          </a:prstGeom>
          <a:solidFill>
            <a:srgbClr val="FFF3DC"/>
          </a:solidFill>
          <a:ln w="19050">
            <a:solidFill>
              <a:srgbClr val="F5E6C8"/>
            </a:solidFill>
            <a:prstDash val="solid"/>
          </a:ln>
        </p:spPr>
      </p:sp>
      <p:sp>
        <p:nvSpPr>
          <p:cNvPr id="12" name="Text 10"/>
          <p:cNvSpPr/>
          <p:nvPr/>
        </p:nvSpPr>
        <p:spPr>
          <a:xfrm>
            <a:off x="5577840" y="252374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577840" y="2724912"/>
            <a:ext cx="2971800" cy="9601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predict the easiest connection is 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___ and ___ might surprise me because..."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64592"/>
            <a:ext cx="228600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DISCUSSION</a:t>
            </a:r>
            <a:endParaRPr lang="en-US" sz="900" dirty="0"/>
          </a:p>
        </p:txBody>
      </p:sp>
      <p:sp>
        <p:nvSpPr>
          <p:cNvPr id="4" name="Text 2"/>
          <p:cNvSpPr/>
          <p:nvPr/>
        </p:nvSpPr>
        <p:spPr>
          <a:xfrm>
            <a:off x="365760" y="457200"/>
            <a:ext cx="841248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Do You Already Know?</a:t>
            </a:r>
            <a:endParaRPr lang="en-US" sz="2200" dirty="0"/>
          </a:p>
        </p:txBody>
      </p:sp>
      <p:sp>
        <p:nvSpPr>
          <p:cNvPr id="5" name="Shape 3"/>
          <p:cNvSpPr/>
          <p:nvPr/>
        </p:nvSpPr>
        <p:spPr>
          <a:xfrm>
            <a:off x="365760" y="987552"/>
            <a:ext cx="4937760" cy="685800"/>
          </a:xfrm>
          <a:prstGeom prst="roundRect">
            <a:avLst>
              <a:gd name="adj" fmla="val 13333"/>
            </a:avLst>
          </a:prstGeom>
          <a:solidFill>
            <a:srgbClr val="FFFFFF"/>
          </a:solidFill>
          <a:ln w="12700">
            <a:solidFill>
              <a:srgbClr val="D0D8E8"/>
            </a:solidFill>
            <a:prstDash val="solid"/>
          </a:ln>
        </p:spPr>
      </p:sp>
      <p:sp>
        <p:nvSpPr>
          <p:cNvPr id="6" name="Text 4"/>
          <p:cNvSpPr/>
          <p:nvPr/>
        </p:nvSpPr>
        <p:spPr>
          <a:xfrm>
            <a:off x="502920" y="1042416"/>
            <a:ext cx="4663440" cy="566928"/>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Pull up everything you know from Units 1-4. You have studied each file separately — now connect them.</a:t>
            </a:r>
            <a:endParaRPr lang="en-US" sz="1100" dirty="0"/>
          </a:p>
        </p:txBody>
      </p:sp>
      <p:sp>
        <p:nvSpPr>
          <p:cNvPr id="7" name="Shape 5"/>
          <p:cNvSpPr/>
          <p:nvPr/>
        </p:nvSpPr>
        <p:spPr>
          <a:xfrm>
            <a:off x="365760" y="1920240"/>
            <a:ext cx="4937760" cy="1920240"/>
          </a:xfrm>
          <a:prstGeom prst="roundRect">
            <a:avLst>
              <a:gd name="adj" fmla="val 7143"/>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548640" y="201168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548640" y="2267712"/>
            <a:ext cx="4572000" cy="14813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remember about Florida's geography from Units 1-4?</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Florida tribe lived on the southwest coast — and why there specifically?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say Europeans 'discovered' Florida? What would you push back with?</a:t>
            </a:r>
            <a:endParaRPr lang="en-US" sz="1100" dirty="0"/>
          </a:p>
        </p:txBody>
      </p:sp>
      <p:sp>
        <p:nvSpPr>
          <p:cNvPr id="10" name="Shape 8"/>
          <p:cNvSpPr/>
          <p:nvPr/>
        </p:nvSpPr>
        <p:spPr>
          <a:xfrm>
            <a:off x="5486400" y="987552"/>
            <a:ext cx="3200400" cy="2852928"/>
          </a:xfrm>
          <a:prstGeom prst="roundRect">
            <a:avLst>
              <a:gd name="adj" fmla="val 3846"/>
            </a:avLst>
          </a:prstGeom>
          <a:solidFill>
            <a:srgbClr val="FFF3DC"/>
          </a:solidFill>
          <a:ln w="19050">
            <a:solidFill>
              <a:srgbClr val="F5E6C8"/>
            </a:solidFill>
            <a:prstDash val="solid"/>
          </a:ln>
        </p:spPr>
      </p:sp>
      <p:sp>
        <p:nvSpPr>
          <p:cNvPr id="11" name="Text 9"/>
          <p:cNvSpPr/>
          <p:nvPr/>
        </p:nvSpPr>
        <p:spPr>
          <a:xfrm>
            <a:off x="5623560" y="1042416"/>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623560" y="1243584"/>
            <a:ext cx="2926080" cy="253288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remember...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push back on 'discovery' because..."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64592"/>
            <a:ext cx="228600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CLUE BOX</a:t>
            </a:r>
            <a:endParaRPr lang="en-US" sz="900" dirty="0"/>
          </a:p>
        </p:txBody>
      </p:sp>
      <p:sp>
        <p:nvSpPr>
          <p:cNvPr id="4" name="Text 2"/>
          <p:cNvSpPr/>
          <p:nvPr/>
        </p:nvSpPr>
        <p:spPr>
          <a:xfrm>
            <a:off x="365760" y="457200"/>
            <a:ext cx="8412480" cy="45720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Connect 1: How did the LAND shape where and how the First Peoples lived?</a:t>
            </a:r>
            <a:endParaRPr lang="en-US" sz="1800" dirty="0"/>
          </a:p>
        </p:txBody>
      </p:sp>
      <p:sp>
        <p:nvSpPr>
          <p:cNvPr id="5" name="Shape 3"/>
          <p:cNvSpPr/>
          <p:nvPr/>
        </p:nvSpPr>
        <p:spPr>
          <a:xfrm>
            <a:off x="274320" y="1005840"/>
            <a:ext cx="3931920" cy="2331720"/>
          </a:xfrm>
          <a:prstGeom prst="roundRect">
            <a:avLst>
              <a:gd name="adj" fmla="val 4706"/>
            </a:avLst>
          </a:prstGeom>
          <a:solidFill>
            <a:srgbClr val="E2E8F4"/>
          </a:solidFill>
          <a:ln w="19050">
            <a:solidFill>
              <a:srgbClr val="B0B8CC"/>
            </a:solidFill>
            <a:prstDash val="dash"/>
          </a:ln>
        </p:spPr>
      </p:sp>
      <p:sp>
        <p:nvSpPr>
          <p:cNvPr id="6" name="Text 4"/>
          <p:cNvSpPr/>
          <p:nvPr/>
        </p:nvSpPr>
        <p:spPr>
          <a:xfrm>
            <a:off x="274320" y="1005840"/>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1280160"/>
            <a:ext cx="3657600" cy="1965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map highlighting estuaries, mangrove coasts, freshwater springs, and wetlands — southwest coast labeled, warm colors</a:t>
            </a:r>
            <a:endParaRPr lang="en-US" sz="1100" dirty="0"/>
          </a:p>
        </p:txBody>
      </p:sp>
      <p:sp>
        <p:nvSpPr>
          <p:cNvPr id="8" name="Shape 6"/>
          <p:cNvSpPr/>
          <p:nvPr/>
        </p:nvSpPr>
        <p:spPr>
          <a:xfrm>
            <a:off x="4389120" y="1005840"/>
            <a:ext cx="4297680" cy="2331720"/>
          </a:xfrm>
          <a:prstGeom prst="roundRect">
            <a:avLst>
              <a:gd name="adj" fmla="val 4706"/>
            </a:avLst>
          </a:prstGeom>
          <a:solidFill>
            <a:srgbClr val="E2E8F4"/>
          </a:solidFill>
          <a:ln w="19050">
            <a:solidFill>
              <a:srgbClr val="B0B8CC"/>
            </a:solidFill>
            <a:prstDash val="dash"/>
          </a:ln>
        </p:spPr>
      </p:sp>
      <p:sp>
        <p:nvSpPr>
          <p:cNvPr id="9" name="Text 7"/>
          <p:cNvSpPr/>
          <p:nvPr/>
        </p:nvSpPr>
        <p:spPr>
          <a:xfrm>
            <a:off x="4389120" y="1005840"/>
            <a:ext cx="42976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4526280" y="1280160"/>
            <a:ext cx="4023360" cy="1965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Illustration of a Calusa shell mound village on the southwest Florida coast — people visible, watercraft, shellfish</a:t>
            </a:r>
            <a:endParaRPr lang="en-US" sz="1100" dirty="0"/>
          </a:p>
        </p:txBody>
      </p:sp>
      <p:sp>
        <p:nvSpPr>
          <p:cNvPr id="11" name="Shape 9"/>
          <p:cNvSpPr/>
          <p:nvPr/>
        </p:nvSpPr>
        <p:spPr>
          <a:xfrm>
            <a:off x="274320" y="3611880"/>
            <a:ext cx="8412480" cy="109728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457200" y="3703320"/>
            <a:ext cx="804672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3" name="Text 11"/>
          <p:cNvSpPr/>
          <p:nvPr/>
        </p:nvSpPr>
        <p:spPr>
          <a:xfrm>
            <a:off x="457200" y="3959352"/>
            <a:ext cx="8046720" cy="6583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card answers 'why HERE?' — geography names or people's names?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specific geography feature best explains the Calusa's location?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be missing if we had the map but not the First Peoples card?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64592"/>
            <a:ext cx="365760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MULTI-SOURCE COMPARE</a:t>
            </a:r>
            <a:endParaRPr lang="en-US" sz="900" dirty="0"/>
          </a:p>
        </p:txBody>
      </p:sp>
      <p:sp>
        <p:nvSpPr>
          <p:cNvPr id="4" name="Text 2"/>
          <p:cNvSpPr/>
          <p:nvPr/>
        </p:nvSpPr>
        <p:spPr>
          <a:xfrm>
            <a:off x="365760" y="457200"/>
            <a:ext cx="8412480" cy="411480"/>
          </a:xfrm>
          <a:prstGeom prst="rect">
            <a:avLst/>
          </a:prstGeom>
          <a:noFill/>
          <a:ln/>
        </p:spPr>
        <p:txBody>
          <a:bodyPr wrap="square"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Geography Evidence vs. First Peoples Evidence</a:t>
            </a:r>
            <a:endParaRPr lang="en-US" sz="2100" dirty="0"/>
          </a:p>
        </p:txBody>
      </p:sp>
      <p:sp>
        <p:nvSpPr>
          <p:cNvPr id="5" name="Shape 3"/>
          <p:cNvSpPr/>
          <p:nvPr/>
        </p:nvSpPr>
        <p:spPr>
          <a:xfrm>
            <a:off x="274320" y="987552"/>
            <a:ext cx="4069080" cy="1828800"/>
          </a:xfrm>
          <a:prstGeom prst="roundRect">
            <a:avLst>
              <a:gd name="adj" fmla="val 6000"/>
            </a:avLst>
          </a:prstGeom>
          <a:solidFill>
            <a:srgbClr val="E2E8F4"/>
          </a:solidFill>
          <a:ln w="19050">
            <a:solidFill>
              <a:srgbClr val="B0B8CC"/>
            </a:solidFill>
            <a:prstDash val="dash"/>
          </a:ln>
        </p:spPr>
      </p:sp>
      <p:sp>
        <p:nvSpPr>
          <p:cNvPr id="6" name="Text 4"/>
          <p:cNvSpPr/>
          <p:nvPr/>
        </p:nvSpPr>
        <p:spPr>
          <a:xfrm>
            <a:off x="274320" y="987552"/>
            <a:ext cx="40690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1261872"/>
            <a:ext cx="3794760" cy="1463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GEOGRAPHY CARD — Florida peninsula, two coasts, freshwater springs, wetlands, warm/wet climate, food from water</a:t>
            </a:r>
            <a:endParaRPr lang="en-US" sz="1100" dirty="0"/>
          </a:p>
        </p:txBody>
      </p:sp>
      <p:sp>
        <p:nvSpPr>
          <p:cNvPr id="8" name="Text 6"/>
          <p:cNvSpPr/>
          <p:nvPr/>
        </p:nvSpPr>
        <p:spPr>
          <a:xfrm>
            <a:off x="274320" y="2852928"/>
            <a:ext cx="4069080" cy="256032"/>
          </a:xfrm>
          <a:prstGeom prst="rect">
            <a:avLst/>
          </a:prstGeom>
          <a:noFill/>
          <a:ln/>
        </p:spPr>
        <p:txBody>
          <a:bodyPr wrap="square" rtlCol="0" anchor="ctr"/>
          <a:lstStyle/>
          <a:p>
            <a:pPr algn="ctr" indent="0" marL="0">
              <a:buNone/>
            </a:pPr>
            <a:r>
              <a:rPr lang="en-US" sz="1000" b="1" dirty="0">
                <a:solidFill>
                  <a:srgbClr val="1A8A7D"/>
                </a:solidFill>
                <a:latin typeface="Calibri" pitchFamily="34" charset="0"/>
                <a:ea typeface="Calibri" pitchFamily="34" charset="-122"/>
                <a:cs typeface="Calibri" pitchFamily="34" charset="-120"/>
              </a:rPr>
              <a:t>GEOGRAPHY CARD</a:t>
            </a:r>
            <a:endParaRPr lang="en-US" sz="1000" dirty="0"/>
          </a:p>
        </p:txBody>
      </p:sp>
      <p:sp>
        <p:nvSpPr>
          <p:cNvPr id="9" name="Text 7"/>
          <p:cNvSpPr/>
          <p:nvPr/>
        </p:nvSpPr>
        <p:spPr>
          <a:xfrm>
            <a:off x="274320" y="3108960"/>
            <a:ext cx="4069080" cy="201168"/>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Florida's land and water</a:t>
            </a:r>
            <a:endParaRPr lang="en-US" sz="900" dirty="0"/>
          </a:p>
        </p:txBody>
      </p:sp>
      <p:sp>
        <p:nvSpPr>
          <p:cNvPr id="10" name="Shape 8"/>
          <p:cNvSpPr/>
          <p:nvPr/>
        </p:nvSpPr>
        <p:spPr>
          <a:xfrm>
            <a:off x="4526280" y="987552"/>
            <a:ext cx="4133088" cy="1828800"/>
          </a:xfrm>
          <a:prstGeom prst="roundRect">
            <a:avLst>
              <a:gd name="adj" fmla="val 6000"/>
            </a:avLst>
          </a:prstGeom>
          <a:solidFill>
            <a:srgbClr val="E2E8F4"/>
          </a:solidFill>
          <a:ln w="19050">
            <a:solidFill>
              <a:srgbClr val="B0B8CC"/>
            </a:solidFill>
            <a:prstDash val="dash"/>
          </a:ln>
        </p:spPr>
      </p:sp>
      <p:sp>
        <p:nvSpPr>
          <p:cNvPr id="11" name="Text 9"/>
          <p:cNvSpPr/>
          <p:nvPr/>
        </p:nvSpPr>
        <p:spPr>
          <a:xfrm>
            <a:off x="4526280" y="987552"/>
            <a:ext cx="4133088"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2" name="Text 10"/>
          <p:cNvSpPr/>
          <p:nvPr/>
        </p:nvSpPr>
        <p:spPr>
          <a:xfrm>
            <a:off x="4663440" y="1261872"/>
            <a:ext cx="3858768" cy="1463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FIRST PEOPLES CARD — Calusa, Tequesta, Apalachee, Timucua, Ais — communities mapped across Florida regions</a:t>
            </a:r>
            <a:endParaRPr lang="en-US" sz="1100" dirty="0"/>
          </a:p>
        </p:txBody>
      </p:sp>
      <p:sp>
        <p:nvSpPr>
          <p:cNvPr id="13" name="Text 11"/>
          <p:cNvSpPr/>
          <p:nvPr/>
        </p:nvSpPr>
        <p:spPr>
          <a:xfrm>
            <a:off x="4526280" y="2852928"/>
            <a:ext cx="4133088" cy="256032"/>
          </a:xfrm>
          <a:prstGeom prst="rect">
            <a:avLst/>
          </a:prstGeom>
          <a:noFill/>
          <a:ln/>
        </p:spPr>
        <p:txBody>
          <a:bodyPr wrap="square" rtlCol="0" anchor="ctr"/>
          <a:lstStyle/>
          <a:p>
            <a:pPr algn="ctr" indent="0" marL="0">
              <a:buNone/>
            </a:pPr>
            <a:r>
              <a:rPr lang="en-US" sz="1000" b="1" dirty="0">
                <a:solidFill>
                  <a:srgbClr val="8B6FC0"/>
                </a:solidFill>
                <a:latin typeface="Calibri" pitchFamily="34" charset="0"/>
                <a:ea typeface="Calibri" pitchFamily="34" charset="-122"/>
                <a:cs typeface="Calibri" pitchFamily="34" charset="-120"/>
              </a:rPr>
              <a:t>FIRST PEOPLES CARD</a:t>
            </a:r>
            <a:endParaRPr lang="en-US" sz="1000" dirty="0"/>
          </a:p>
        </p:txBody>
      </p:sp>
      <p:sp>
        <p:nvSpPr>
          <p:cNvPr id="14" name="Text 12"/>
          <p:cNvSpPr/>
          <p:nvPr/>
        </p:nvSpPr>
        <p:spPr>
          <a:xfrm>
            <a:off x="4526280" y="3108960"/>
            <a:ext cx="4133088" cy="201168"/>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Florida's earliest communities</a:t>
            </a:r>
            <a:endParaRPr lang="en-US" sz="900" dirty="0"/>
          </a:p>
        </p:txBody>
      </p:sp>
      <p:sp>
        <p:nvSpPr>
          <p:cNvPr id="15" name="Shape 13"/>
          <p:cNvSpPr/>
          <p:nvPr/>
        </p:nvSpPr>
        <p:spPr>
          <a:xfrm>
            <a:off x="274320" y="3547872"/>
            <a:ext cx="4663440" cy="1188720"/>
          </a:xfrm>
          <a:prstGeom prst="roundRect">
            <a:avLst>
              <a:gd name="adj" fmla="val 9231"/>
            </a:avLst>
          </a:prstGeom>
          <a:solidFill>
            <a:srgbClr val="FFF3DC"/>
          </a:solidFill>
          <a:ln w="19050">
            <a:solidFill>
              <a:srgbClr val="F5E6C8"/>
            </a:solidFill>
            <a:prstDash val="solid"/>
          </a:ln>
        </p:spPr>
      </p:sp>
      <p:sp>
        <p:nvSpPr>
          <p:cNvPr id="16" name="Text 14"/>
          <p:cNvSpPr/>
          <p:nvPr/>
        </p:nvSpPr>
        <p:spPr>
          <a:xfrm>
            <a:off x="411480" y="3602736"/>
            <a:ext cx="43891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411480" y="3803904"/>
            <a:ext cx="4389120" cy="868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"Geography and First Peoples connect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geography card explains the First Peoples' location because..."</a:t>
            </a:r>
            <a:endParaRPr lang="en-US" sz="1200" dirty="0"/>
          </a:p>
        </p:txBody>
      </p:sp>
      <p:sp>
        <p:nvSpPr>
          <p:cNvPr id="18" name="Shape 16"/>
          <p:cNvSpPr/>
          <p:nvPr/>
        </p:nvSpPr>
        <p:spPr>
          <a:xfrm>
            <a:off x="5120640" y="3547872"/>
            <a:ext cx="3520440" cy="1188720"/>
          </a:xfrm>
          <a:prstGeom prst="roundRect">
            <a:avLst>
              <a:gd name="adj" fmla="val 11538"/>
            </a:avLst>
          </a:prstGeom>
          <a:solidFill>
            <a:srgbClr val="1A2D5A"/>
          </a:solidFill>
          <a:ln/>
          <a:effectLst>
            <a:outerShdw sx="100000" sy="100000" kx="0" ky="0" algn="bl" rotWithShape="0" blurRad="101600" dist="38100" dir="8100000">
              <a:srgbClr val="000000">
                <a:alpha val="20000"/>
              </a:srgbClr>
            </a:outerShdw>
          </a:effectLst>
        </p:spPr>
      </p:sp>
      <p:sp>
        <p:nvSpPr>
          <p:cNvPr id="19" name="Text 17"/>
          <p:cNvSpPr/>
          <p:nvPr/>
        </p:nvSpPr>
        <p:spPr>
          <a:xfrm>
            <a:off x="5303520" y="3639312"/>
            <a:ext cx="31546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0" name="Text 18"/>
          <p:cNvSpPr/>
          <p:nvPr/>
        </p:nvSpPr>
        <p:spPr>
          <a:xfrm>
            <a:off x="5303520" y="3895344"/>
            <a:ext cx="3154680" cy="749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evidence best explains WHY the Calusa thrived where they did?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about your answer if Florida had no estuaries?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p:spPr>
      </p:sp>
      <p:sp>
        <p:nvSpPr>
          <p:cNvPr id="3" name="Shape 1"/>
          <p:cNvSpPr/>
          <p:nvPr/>
        </p:nvSpPr>
        <p:spPr>
          <a:xfrm>
            <a:off x="0" y="0"/>
            <a:ext cx="9144000" cy="5143500"/>
          </a:xfrm>
          <a:prstGeom prst="rect">
            <a:avLst/>
          </a:prstGeom>
          <a:solidFill>
            <a:srgbClr val="0E1C42">
              <a:alpha val="70000"/>
            </a:srgbClr>
          </a:solidFill>
          <a:ln/>
        </p:spPr>
      </p:sp>
      <p:sp>
        <p:nvSpPr>
          <p:cNvPr id="4" name="Text 2"/>
          <p:cNvSpPr/>
          <p:nvPr/>
        </p:nvSpPr>
        <p:spPr>
          <a:xfrm>
            <a:off x="457200" y="256032"/>
            <a:ext cx="8229600" cy="274320"/>
          </a:xfrm>
          <a:prstGeom prst="rect">
            <a:avLst/>
          </a:prstGeom>
          <a:noFill/>
          <a:ln/>
        </p:spPr>
        <p:txBody>
          <a:bodyPr wrap="square"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DARK REVEAL</a:t>
            </a:r>
            <a:endParaRPr lang="en-US" sz="1000" dirty="0"/>
          </a:p>
        </p:txBody>
      </p:sp>
      <p:sp>
        <p:nvSpPr>
          <p:cNvPr id="5" name="Text 3"/>
          <p:cNvSpPr/>
          <p:nvPr/>
        </p:nvSpPr>
        <p:spPr>
          <a:xfrm>
            <a:off x="457200" y="640080"/>
            <a:ext cx="8229600" cy="11887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Exploration Changed Everything —</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For the People Already Here</a:t>
            </a:r>
            <a:endParaRPr lang="en-US" sz="3000" dirty="0"/>
          </a:p>
        </p:txBody>
      </p:sp>
      <p:sp>
        <p:nvSpPr>
          <p:cNvPr id="6" name="Shape 4"/>
          <p:cNvSpPr/>
          <p:nvPr/>
        </p:nvSpPr>
        <p:spPr>
          <a:xfrm>
            <a:off x="2743200" y="1938528"/>
            <a:ext cx="3657600" cy="36576"/>
          </a:xfrm>
          <a:prstGeom prst="rect">
            <a:avLst/>
          </a:prstGeom>
          <a:solidFill>
            <a:srgbClr val="D4943A"/>
          </a:solidFill>
          <a:ln/>
        </p:spPr>
      </p:sp>
      <p:sp>
        <p:nvSpPr>
          <p:cNvPr id="7" name="Text 5"/>
          <p:cNvSpPr/>
          <p:nvPr/>
        </p:nvSpPr>
        <p:spPr>
          <a:xfrm>
            <a:off x="731520" y="2084832"/>
            <a:ext cx="7680960" cy="640080"/>
          </a:xfrm>
          <a:prstGeom prst="rect">
            <a:avLst/>
          </a:prstGeom>
          <a:noFill/>
          <a:ln/>
        </p:spPr>
        <p:txBody>
          <a:bodyPr wrap="square" rtlCol="0" anchor="ctr"/>
          <a:lstStyle/>
          <a:p>
            <a:pPr algn="ctr" indent="0" marL="0">
              <a:buNone/>
            </a:pPr>
            <a:r>
              <a:rPr lang="en-US" sz="1500" i="1" dirty="0">
                <a:solidFill>
                  <a:srgbClr val="55C8E8"/>
                </a:solidFill>
                <a:latin typeface="Calibri" pitchFamily="34" charset="0"/>
                <a:ea typeface="Calibri" pitchFamily="34" charset="-122"/>
                <a:cs typeface="Calibri" pitchFamily="34" charset="-120"/>
              </a:rPr>
              <a:t>Europeans came looking for gold, land, and converts.</a:t>
            </a:r>
            <a:endParaRPr lang="en-US" sz="1500" dirty="0"/>
          </a:p>
          <a:p>
            <a:pPr algn="ctr" indent="0" marL="0">
              <a:buNone/>
            </a:pPr>
            <a:r>
              <a:rPr lang="en-US" sz="1500" i="1" dirty="0">
                <a:solidFill>
                  <a:srgbClr val="55C8E8"/>
                </a:solidFill>
                <a:latin typeface="Calibri" pitchFamily="34" charset="0"/>
                <a:ea typeface="Calibri" pitchFamily="34" charset="-122"/>
                <a:cs typeface="Calibri" pitchFamily="34" charset="-120"/>
              </a:rPr>
              <a:t>They landed in someone else's home.</a:t>
            </a:r>
            <a:endParaRPr lang="en-US" sz="1500" dirty="0"/>
          </a:p>
        </p:txBody>
      </p:sp>
      <p:sp>
        <p:nvSpPr>
          <p:cNvPr id="8" name="Shape 6"/>
          <p:cNvSpPr/>
          <p:nvPr/>
        </p:nvSpPr>
        <p:spPr>
          <a:xfrm>
            <a:off x="640080" y="2907792"/>
            <a:ext cx="3566160" cy="1280160"/>
          </a:xfrm>
          <a:prstGeom prst="roundRect">
            <a:avLst>
              <a:gd name="adj" fmla="val 8571"/>
            </a:avLst>
          </a:prstGeom>
          <a:solidFill>
            <a:srgbClr val="1A2D5A"/>
          </a:solidFill>
          <a:ln w="12700">
            <a:solidFill>
              <a:srgbClr val="3A5080"/>
            </a:solidFill>
            <a:prstDash val="solid"/>
          </a:ln>
        </p:spPr>
      </p:sp>
      <p:sp>
        <p:nvSpPr>
          <p:cNvPr id="9" name="Text 7"/>
          <p:cNvSpPr/>
          <p:nvPr/>
        </p:nvSpPr>
        <p:spPr>
          <a:xfrm>
            <a:off x="804672" y="2999232"/>
            <a:ext cx="3246120" cy="274320"/>
          </a:xfrm>
          <a:prstGeom prst="rect">
            <a:avLst/>
          </a:prstGeom>
          <a:noFill/>
          <a:ln/>
        </p:spPr>
        <p:txBody>
          <a:bodyPr wrap="square"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Europeans were looking for:</a:t>
            </a:r>
            <a:endParaRPr lang="en-US" sz="1100" dirty="0"/>
          </a:p>
        </p:txBody>
      </p:sp>
      <p:sp>
        <p:nvSpPr>
          <p:cNvPr id="10" name="Text 8"/>
          <p:cNvSpPr/>
          <p:nvPr/>
        </p:nvSpPr>
        <p:spPr>
          <a:xfrm>
            <a:off x="804672" y="3291840"/>
            <a:ext cx="3246120" cy="777240"/>
          </a:xfrm>
          <a:prstGeom prst="rect">
            <a:avLst/>
          </a:prstGeom>
          <a:noFill/>
          <a:ln/>
        </p:spPr>
        <p:txBody>
          <a:bodyPr wrap="square"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Name one thing from the Exploration card.</a:t>
            </a:r>
            <a:endParaRPr lang="en-US" sz="1200" dirty="0"/>
          </a:p>
        </p:txBody>
      </p:sp>
      <p:sp>
        <p:nvSpPr>
          <p:cNvPr id="11" name="Shape 9"/>
          <p:cNvSpPr/>
          <p:nvPr/>
        </p:nvSpPr>
        <p:spPr>
          <a:xfrm>
            <a:off x="4754880" y="2907792"/>
            <a:ext cx="3566160" cy="1280160"/>
          </a:xfrm>
          <a:prstGeom prst="roundRect">
            <a:avLst>
              <a:gd name="adj" fmla="val 8571"/>
            </a:avLst>
          </a:prstGeom>
          <a:solidFill>
            <a:srgbClr val="1A2D5A"/>
          </a:solidFill>
          <a:ln w="12700">
            <a:solidFill>
              <a:srgbClr val="3A5080"/>
            </a:solidFill>
            <a:prstDash val="solid"/>
          </a:ln>
        </p:spPr>
      </p:sp>
      <p:sp>
        <p:nvSpPr>
          <p:cNvPr id="12" name="Text 10"/>
          <p:cNvSpPr/>
          <p:nvPr/>
        </p:nvSpPr>
        <p:spPr>
          <a:xfrm>
            <a:off x="4919472" y="2999232"/>
            <a:ext cx="3246120" cy="274320"/>
          </a:xfrm>
          <a:prstGeom prst="rect">
            <a:avLst/>
          </a:prstGeom>
          <a:noFill/>
          <a:ln/>
        </p:spPr>
        <p:txBody>
          <a:bodyPr wrap="square" rtlCol="0" anchor="ctr"/>
          <a:lstStyle/>
          <a:p>
            <a:pPr indent="0" marL="0">
              <a:buNone/>
            </a:pPr>
            <a:r>
              <a:rPr lang="en-US" sz="1100" b="1" dirty="0">
                <a:solidFill>
                  <a:srgbClr val="E8636B"/>
                </a:solidFill>
                <a:latin typeface="Calibri" pitchFamily="34" charset="0"/>
                <a:ea typeface="Calibri" pitchFamily="34" charset="-122"/>
                <a:cs typeface="Calibri" pitchFamily="34" charset="-120"/>
              </a:rPr>
              <a:t>First Peoples lost:</a:t>
            </a:r>
            <a:endParaRPr lang="en-US" sz="1100" dirty="0"/>
          </a:p>
        </p:txBody>
      </p:sp>
      <p:sp>
        <p:nvSpPr>
          <p:cNvPr id="13" name="Text 11"/>
          <p:cNvSpPr/>
          <p:nvPr/>
        </p:nvSpPr>
        <p:spPr>
          <a:xfrm>
            <a:off x="4919472" y="3291840"/>
            <a:ext cx="3246120" cy="777240"/>
          </a:xfrm>
          <a:prstGeom prst="rect">
            <a:avLst/>
          </a:prstGeom>
          <a:noFill/>
          <a:ln/>
        </p:spPr>
        <p:txBody>
          <a:bodyPr wrap="square"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Name one thing from the Contact card.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64592"/>
            <a:ext cx="274320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SOURCE STUDY</a:t>
            </a:r>
            <a:endParaRPr lang="en-US" sz="900" dirty="0"/>
          </a:p>
        </p:txBody>
      </p:sp>
      <p:sp>
        <p:nvSpPr>
          <p:cNvPr id="4" name="Text 2"/>
          <p:cNvSpPr/>
          <p:nvPr/>
        </p:nvSpPr>
        <p:spPr>
          <a:xfrm>
            <a:off x="365760" y="457200"/>
            <a:ext cx="841248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The Contact Card</a:t>
            </a:r>
            <a:endParaRPr lang="en-US" sz="2200" dirty="0"/>
          </a:p>
        </p:txBody>
      </p:sp>
      <p:sp>
        <p:nvSpPr>
          <p:cNvPr id="5" name="Shape 3"/>
          <p:cNvSpPr/>
          <p:nvPr/>
        </p:nvSpPr>
        <p:spPr>
          <a:xfrm>
            <a:off x="274320" y="987552"/>
            <a:ext cx="4389120" cy="2468880"/>
          </a:xfrm>
          <a:prstGeom prst="roundRect">
            <a:avLst>
              <a:gd name="adj" fmla="val 4444"/>
            </a:avLst>
          </a:prstGeom>
          <a:solidFill>
            <a:srgbClr val="E2E8F4"/>
          </a:solidFill>
          <a:ln w="19050">
            <a:solidFill>
              <a:srgbClr val="B0B8CC"/>
            </a:solidFill>
            <a:prstDash val="dash"/>
          </a:ln>
        </p:spPr>
      </p:sp>
      <p:sp>
        <p:nvSpPr>
          <p:cNvPr id="6" name="Text 4"/>
          <p:cNvSpPr/>
          <p:nvPr/>
        </p:nvSpPr>
        <p:spPr>
          <a:xfrm>
            <a:off x="274320" y="987552"/>
            <a:ext cx="43891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1261872"/>
            <a:ext cx="4114800" cy="21031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First contact scene: Spanish ships approaching Florida shoreline, Native peoples on shore watching — historical illustration, dramatic perspective</a:t>
            </a:r>
            <a:endParaRPr lang="en-US" sz="1100" dirty="0"/>
          </a:p>
        </p:txBody>
      </p:sp>
      <p:sp>
        <p:nvSpPr>
          <p:cNvPr id="8" name="Shape 6"/>
          <p:cNvSpPr/>
          <p:nvPr/>
        </p:nvSpPr>
        <p:spPr>
          <a:xfrm>
            <a:off x="4846320" y="987552"/>
            <a:ext cx="3794760" cy="2468880"/>
          </a:xfrm>
          <a:prstGeom prst="roundRect">
            <a:avLst>
              <a:gd name="adj" fmla="val 4444"/>
            </a:avLst>
          </a:prstGeom>
          <a:solidFill>
            <a:srgbClr val="FFFFFF"/>
          </a:solidFill>
          <a:ln w="12700">
            <a:solidFill>
              <a:srgbClr val="D0D8E8"/>
            </a:solidFill>
            <a:prstDash val="solid"/>
          </a:ln>
        </p:spPr>
      </p:sp>
      <p:sp>
        <p:nvSpPr>
          <p:cNvPr id="9" name="Text 7"/>
          <p:cNvSpPr/>
          <p:nvPr/>
        </p:nvSpPr>
        <p:spPr>
          <a:xfrm>
            <a:off x="5010912" y="1078992"/>
            <a:ext cx="3474720" cy="256032"/>
          </a:xfrm>
          <a:prstGeom prst="rect">
            <a:avLst/>
          </a:prstGeom>
          <a:noFill/>
          <a:ln/>
        </p:spPr>
        <p:txBody>
          <a:bodyPr wrap="square" rtlCol="0" anchor="ctr"/>
          <a:lstStyle/>
          <a:p>
            <a:pPr indent="0" marL="0">
              <a:buNone/>
            </a:pPr>
            <a:r>
              <a:rPr lang="en-US" sz="1000" b="1" spc="150" kern="0" dirty="0">
                <a:solidFill>
                  <a:srgbClr val="0E1C42"/>
                </a:solidFill>
                <a:latin typeface="Calibri" pitchFamily="34" charset="0"/>
                <a:ea typeface="Calibri" pitchFamily="34" charset="-122"/>
                <a:cs typeface="Calibri" pitchFamily="34" charset="-120"/>
              </a:rPr>
              <a:t>CONTACT CARD</a:t>
            </a:r>
            <a:endParaRPr lang="en-US" sz="1000" dirty="0"/>
          </a:p>
        </p:txBody>
      </p:sp>
      <p:sp>
        <p:nvSpPr>
          <p:cNvPr id="10" name="Text 8"/>
          <p:cNvSpPr/>
          <p:nvPr/>
        </p:nvSpPr>
        <p:spPr>
          <a:xfrm>
            <a:off x="5010912" y="1371600"/>
            <a:ext cx="3474720" cy="19202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New goods, animals, and weapons arrived.</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Diseases with no defense.</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Communities lost, pushed from land, forced labor.</a:t>
            </a:r>
            <a:endParaRPr lang="en-US" sz="1200" dirty="0"/>
          </a:p>
        </p:txBody>
      </p:sp>
      <p:sp>
        <p:nvSpPr>
          <p:cNvPr id="11" name="Shape 9"/>
          <p:cNvSpPr/>
          <p:nvPr/>
        </p:nvSpPr>
        <p:spPr>
          <a:xfrm>
            <a:off x="274320" y="3730752"/>
            <a:ext cx="8412480" cy="1051560"/>
          </a:xfrm>
          <a:prstGeom prst="roundRect">
            <a:avLst>
              <a:gd name="adj" fmla="val 13043"/>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457200" y="3822192"/>
            <a:ext cx="804672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3" name="Text 11"/>
          <p:cNvSpPr/>
          <p:nvPr/>
        </p:nvSpPr>
        <p:spPr>
          <a:xfrm>
            <a:off x="457200" y="4078224"/>
            <a:ext cx="8046720" cy="6126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created most accounts of this period,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Whose perspective is MISSING from most Contact-era sources?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a source that shows only one side be trusted? What makes you say so?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64592"/>
            <a:ext cx="457200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GUIDED PRACTICE — MODEL</a:t>
            </a:r>
            <a:endParaRPr lang="en-US" sz="900" dirty="0"/>
          </a:p>
        </p:txBody>
      </p:sp>
      <p:sp>
        <p:nvSpPr>
          <p:cNvPr id="4" name="Text 2"/>
          <p:cNvSpPr/>
          <p:nvPr/>
        </p:nvSpPr>
        <p:spPr>
          <a:xfrm>
            <a:off x="365760" y="457200"/>
            <a:ext cx="841248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Watch Me Connect Two Cards</a:t>
            </a:r>
            <a:endParaRPr lang="en-US" sz="2200" dirty="0"/>
          </a:p>
        </p:txBody>
      </p:sp>
      <p:sp>
        <p:nvSpPr>
          <p:cNvPr id="5" name="Shape 3"/>
          <p:cNvSpPr/>
          <p:nvPr/>
        </p:nvSpPr>
        <p:spPr>
          <a:xfrm>
            <a:off x="365760" y="987552"/>
            <a:ext cx="8321040" cy="2194560"/>
          </a:xfrm>
          <a:prstGeom prst="roundRect">
            <a:avLst>
              <a:gd name="adj" fmla="val 6250"/>
            </a:avLst>
          </a:prstGeom>
          <a:solidFill>
            <a:srgbClr val="1A2D5A"/>
          </a:solidFill>
          <a:ln/>
          <a:effectLst>
            <a:outerShdw sx="100000" sy="100000" kx="0" ky="0" algn="bl" rotWithShape="0" blurRad="101600" dist="38100" dir="8100000">
              <a:srgbClr val="000000">
                <a:alpha val="15000"/>
              </a:srgbClr>
            </a:outerShdw>
          </a:effectLst>
        </p:spPr>
      </p:sp>
      <p:sp>
        <p:nvSpPr>
          <p:cNvPr id="6" name="Text 4"/>
          <p:cNvSpPr/>
          <p:nvPr/>
        </p:nvSpPr>
        <p:spPr>
          <a:xfrm>
            <a:off x="566928" y="1078992"/>
            <a:ext cx="3657600" cy="256032"/>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TEACHER THINK-ALOUD</a:t>
            </a:r>
            <a:endParaRPr lang="en-US" sz="900" dirty="0"/>
          </a:p>
        </p:txBody>
      </p:sp>
      <p:sp>
        <p:nvSpPr>
          <p:cNvPr id="7" name="Text 5"/>
          <p:cNvSpPr/>
          <p:nvPr/>
        </p:nvSpPr>
        <p:spPr>
          <a:xfrm>
            <a:off x="566928" y="1371600"/>
            <a:ext cx="7909560" cy="169164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Calusa lived along the southwest coast. The Geography card shows that coast is full of estuaries, mangroves, and shellfish. Connection: the Calusa lived there because the land gave them exactly what they needed."</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See how I used details from BOTH cards — and added a word that shows WHY they connect?</a:t>
            </a:r>
            <a:endParaRPr lang="en-US" sz="1300" dirty="0"/>
          </a:p>
        </p:txBody>
      </p:sp>
      <p:sp>
        <p:nvSpPr>
          <p:cNvPr id="8" name="Shape 6"/>
          <p:cNvSpPr/>
          <p:nvPr/>
        </p:nvSpPr>
        <p:spPr>
          <a:xfrm>
            <a:off x="365760" y="3337560"/>
            <a:ext cx="8321040" cy="1097280"/>
          </a:xfrm>
          <a:prstGeom prst="roundRect">
            <a:avLst>
              <a:gd name="adj" fmla="val 10000"/>
            </a:avLst>
          </a:prstGeom>
          <a:solidFill>
            <a:srgbClr val="FFF3DC"/>
          </a:solidFill>
          <a:ln w="19050">
            <a:solidFill>
              <a:srgbClr val="F5E6C8"/>
            </a:solidFill>
            <a:prstDash val="solid"/>
          </a:ln>
        </p:spPr>
      </p:sp>
      <p:sp>
        <p:nvSpPr>
          <p:cNvPr id="9" name="Text 7"/>
          <p:cNvSpPr/>
          <p:nvPr/>
        </p:nvSpPr>
        <p:spPr>
          <a:xfrm>
            <a:off x="566928" y="3429000"/>
            <a:ext cx="274320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SENTENCE PATTERN</a:t>
            </a:r>
            <a:endParaRPr lang="en-US" sz="900" dirty="0"/>
          </a:p>
        </p:txBody>
      </p:sp>
      <p:sp>
        <p:nvSpPr>
          <p:cNvPr id="10" name="Text 8"/>
          <p:cNvSpPr/>
          <p:nvPr/>
        </p:nvSpPr>
        <p:spPr>
          <a:xfrm>
            <a:off x="566928" y="3675888"/>
            <a:ext cx="7909560" cy="658368"/>
          </a:xfrm>
          <a:prstGeom prst="rect">
            <a:avLst/>
          </a:prstGeom>
          <a:noFill/>
          <a:ln/>
        </p:spPr>
        <p:txBody>
          <a:bodyPr wrap="square" rtlCol="0" anchor="ctr"/>
          <a:lstStyle/>
          <a:p>
            <a:pPr indent="0" marL="0">
              <a:buNone/>
            </a:pPr>
            <a:r>
              <a:rPr lang="en-US" sz="1200" dirty="0">
                <a:solidFill>
                  <a:srgbClr val="5A4A3A"/>
                </a:solidFill>
                <a:latin typeface="Calibri" pitchFamily="34" charset="0"/>
                <a:ea typeface="Calibri" pitchFamily="34" charset="-122"/>
                <a:cs typeface="Calibri" pitchFamily="34" charset="-120"/>
              </a:rPr>
              <a:t>[Card A detail]  +  [Card B detail]  +  [Connection word: because / so / even though / this meant]  +  [What the connection IS]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64592"/>
            <a:ext cx="457200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GUIDED PRACTICE — DEFEND</a:t>
            </a:r>
            <a:endParaRPr lang="en-US" sz="900" dirty="0"/>
          </a:p>
        </p:txBody>
      </p:sp>
      <p:sp>
        <p:nvSpPr>
          <p:cNvPr id="4" name="Text 2"/>
          <p:cNvSpPr/>
          <p:nvPr/>
        </p:nvSpPr>
        <p:spPr>
          <a:xfrm>
            <a:off x="365760" y="457200"/>
            <a:ext cx="841248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Your Turn: Connect Two Cards</a:t>
            </a:r>
            <a:endParaRPr lang="en-US" sz="2200" dirty="0"/>
          </a:p>
        </p:txBody>
      </p:sp>
      <p:sp>
        <p:nvSpPr>
          <p:cNvPr id="5" name="Shape 3"/>
          <p:cNvSpPr/>
          <p:nvPr/>
        </p:nvSpPr>
        <p:spPr>
          <a:xfrm>
            <a:off x="365760" y="987552"/>
            <a:ext cx="8321040" cy="594360"/>
          </a:xfrm>
          <a:prstGeom prst="roundRect">
            <a:avLst>
              <a:gd name="adj" fmla="val 15385"/>
            </a:avLst>
          </a:prstGeom>
          <a:solidFill>
            <a:srgbClr val="FFFFFF"/>
          </a:solidFill>
          <a:ln w="12700">
            <a:solidFill>
              <a:srgbClr val="D0D8E8"/>
            </a:solidFill>
            <a:prstDash val="solid"/>
          </a:ln>
        </p:spPr>
      </p:sp>
      <p:sp>
        <p:nvSpPr>
          <p:cNvPr id="6" name="Text 4"/>
          <p:cNvSpPr/>
          <p:nvPr/>
        </p:nvSpPr>
        <p:spPr>
          <a:xfrm>
            <a:off x="502920" y="1042416"/>
            <a:ext cx="8046720" cy="47548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Pick one pair: Geography + First Peoples  OR  Exploration + Contact. Connect them using the sentence pattern. Type your answer in chat.</a:t>
            </a:r>
            <a:endParaRPr lang="en-US" sz="1100" dirty="0"/>
          </a:p>
        </p:txBody>
      </p:sp>
      <p:sp>
        <p:nvSpPr>
          <p:cNvPr id="7" name="Shape 5"/>
          <p:cNvSpPr/>
          <p:nvPr/>
        </p:nvSpPr>
        <p:spPr>
          <a:xfrm>
            <a:off x="365760" y="1828800"/>
            <a:ext cx="4572000" cy="1188720"/>
          </a:xfrm>
          <a:prstGeom prst="roundRect">
            <a:avLst>
              <a:gd name="adj" fmla="val 9231"/>
            </a:avLst>
          </a:prstGeom>
          <a:solidFill>
            <a:srgbClr val="FFF3DC"/>
          </a:solidFill>
          <a:ln w="19050">
            <a:solidFill>
              <a:srgbClr val="F5E6C8"/>
            </a:solidFill>
            <a:prstDash val="solid"/>
          </a:ln>
        </p:spPr>
      </p:sp>
      <p:sp>
        <p:nvSpPr>
          <p:cNvPr id="8" name="Text 6"/>
          <p:cNvSpPr/>
          <p:nvPr/>
        </p:nvSpPr>
        <p:spPr>
          <a:xfrm>
            <a:off x="502920" y="1883664"/>
            <a:ext cx="42976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502920" y="2084832"/>
            <a:ext cx="4297680" cy="868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___ card and the ___ card connect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strongest evidence from the Contact card is... because..."</a:t>
            </a:r>
            <a:endParaRPr lang="en-US" sz="1200" dirty="0"/>
          </a:p>
        </p:txBody>
      </p:sp>
      <p:sp>
        <p:nvSpPr>
          <p:cNvPr id="10" name="Shape 8"/>
          <p:cNvSpPr/>
          <p:nvPr/>
        </p:nvSpPr>
        <p:spPr>
          <a:xfrm>
            <a:off x="5120640" y="1828800"/>
            <a:ext cx="3520440" cy="1188720"/>
          </a:xfrm>
          <a:prstGeom prst="roundRect">
            <a:avLst>
              <a:gd name="adj" fmla="val 11538"/>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5303520" y="1920240"/>
            <a:ext cx="31546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5303520" y="2176272"/>
            <a:ext cx="3154680" cy="749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Was the arrival of Europeans good OR bad for First Peoples? Or is that the wrong question?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who says 'good' argue? What evidence would they use?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evidence makes a simple 'good or bad' answer incomplete?</a:t>
            </a:r>
            <a:endParaRPr lang="en-US" sz="1100" dirty="0"/>
          </a:p>
        </p:txBody>
      </p:sp>
      <p:sp>
        <p:nvSpPr>
          <p:cNvPr id="13" name="Shape 11"/>
          <p:cNvSpPr/>
          <p:nvPr/>
        </p:nvSpPr>
        <p:spPr>
          <a:xfrm>
            <a:off x="365760" y="3246120"/>
            <a:ext cx="8321040" cy="1005840"/>
          </a:xfrm>
          <a:prstGeom prst="roundRect">
            <a:avLst>
              <a:gd name="adj" fmla="val 10909"/>
            </a:avLst>
          </a:prstGeom>
          <a:solidFill>
            <a:srgbClr val="E8F0FF"/>
          </a:solidFill>
          <a:ln w="12700">
            <a:solidFill>
              <a:srgbClr val="B8C8E8"/>
            </a:solidFill>
            <a:prstDash val="solid"/>
          </a:ln>
        </p:spPr>
      </p:sp>
      <p:sp>
        <p:nvSpPr>
          <p:cNvPr id="14" name="Text 12"/>
          <p:cNvSpPr/>
          <p:nvPr/>
        </p:nvSpPr>
        <p:spPr>
          <a:xfrm>
            <a:off x="548640" y="3319272"/>
            <a:ext cx="3200400" cy="228600"/>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ASSIGNMENT Q2 PREVIEW</a:t>
            </a:r>
            <a:endParaRPr lang="en-US" sz="900" dirty="0"/>
          </a:p>
        </p:txBody>
      </p:sp>
      <p:sp>
        <p:nvSpPr>
          <p:cNvPr id="15" name="Text 13"/>
          <p:cNvSpPr/>
          <p:nvPr/>
        </p:nvSpPr>
        <p:spPr>
          <a:xfrm>
            <a:off x="548640" y="3566160"/>
            <a:ext cx="7863840" cy="594360"/>
          </a:xfrm>
          <a:prstGeom prst="rect">
            <a:avLst/>
          </a:prstGeom>
          <a:noFill/>
          <a:ln/>
        </p:spPr>
        <p:txBody>
          <a:bodyPr wrap="square" rtlCol="0" anchor="t"/>
          <a:lstStyle/>
          <a:p>
            <a:pPr indent="0" marL="0">
              <a:buNone/>
            </a:pPr>
            <a:r>
              <a:rPr lang="en-US" sz="1100" i="1" dirty="0">
                <a:solidFill>
                  <a:srgbClr val="0E1C42"/>
                </a:solidFill>
                <a:latin typeface="Calibri" pitchFamily="34" charset="0"/>
                <a:ea typeface="Calibri" pitchFamily="34" charset="-122"/>
                <a:cs typeface="Calibri" pitchFamily="34" charset="-120"/>
              </a:rPr>
              <a:t>"Was the arrival of Europeans good or bad for Florida's First Peoples? Use evidence from the Contact card to support an honest answer."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64592"/>
            <a:ext cx="457200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GUIDED PRACTICE — CRITIQUE</a:t>
            </a:r>
            <a:endParaRPr lang="en-US" sz="900" dirty="0"/>
          </a:p>
        </p:txBody>
      </p:sp>
      <p:sp>
        <p:nvSpPr>
          <p:cNvPr id="4" name="Text 2"/>
          <p:cNvSpPr/>
          <p:nvPr/>
        </p:nvSpPr>
        <p:spPr>
          <a:xfrm>
            <a:off x="365760" y="457200"/>
            <a:ext cx="841248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Find the Problem With This Answer</a:t>
            </a:r>
            <a:endParaRPr lang="en-US" sz="2200" dirty="0"/>
          </a:p>
        </p:txBody>
      </p:sp>
      <p:sp>
        <p:nvSpPr>
          <p:cNvPr id="5" name="Shape 3"/>
          <p:cNvSpPr/>
          <p:nvPr/>
        </p:nvSpPr>
        <p:spPr>
          <a:xfrm>
            <a:off x="365760" y="987552"/>
            <a:ext cx="8321040" cy="804672"/>
          </a:xfrm>
          <a:prstGeom prst="roundRect">
            <a:avLst>
              <a:gd name="adj" fmla="val 13636"/>
            </a:avLst>
          </a:prstGeom>
          <a:solidFill>
            <a:srgbClr val="FFF0F0"/>
          </a:solidFill>
          <a:ln w="19050">
            <a:solidFill>
              <a:srgbClr val="E8636B"/>
            </a:solidFill>
            <a:prstDash val="solid"/>
          </a:ln>
        </p:spPr>
      </p:sp>
      <p:sp>
        <p:nvSpPr>
          <p:cNvPr id="6" name="Text 4"/>
          <p:cNvSpPr/>
          <p:nvPr/>
        </p:nvSpPr>
        <p:spPr>
          <a:xfrm>
            <a:off x="566928" y="1060704"/>
            <a:ext cx="4114800" cy="228600"/>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 ANSWER TO EVALUATE</a:t>
            </a:r>
            <a:endParaRPr lang="en-US" sz="900" dirty="0"/>
          </a:p>
        </p:txBody>
      </p:sp>
      <p:sp>
        <p:nvSpPr>
          <p:cNvPr id="7" name="Text 5"/>
          <p:cNvSpPr/>
          <p:nvPr/>
        </p:nvSpPr>
        <p:spPr>
          <a:xfrm>
            <a:off x="566928" y="1307592"/>
            <a:ext cx="7909560" cy="365760"/>
          </a:xfrm>
          <a:prstGeom prst="rect">
            <a:avLst/>
          </a:prstGeom>
          <a:noFill/>
          <a:ln/>
        </p:spPr>
        <p:txBody>
          <a:bodyPr wrap="square" rtlCol="0" anchor="ctr"/>
          <a:lstStyle/>
          <a:p>
            <a:pPr indent="0" marL="0">
              <a:buNone/>
            </a:pPr>
            <a:r>
              <a:rPr lang="en-US" sz="1400" i="1" dirty="0">
                <a:solidFill>
                  <a:srgbClr val="8B0000"/>
                </a:solidFill>
                <a:latin typeface="Cambria" pitchFamily="34" charset="0"/>
                <a:ea typeface="Cambria" pitchFamily="34" charset="-122"/>
                <a:cs typeface="Cambria" pitchFamily="34" charset="-120"/>
              </a:rPr>
              <a:t>"Europeans discovered Florida and it became a better place."</a:t>
            </a:r>
            <a:endParaRPr lang="en-US" sz="1400" dirty="0"/>
          </a:p>
        </p:txBody>
      </p:sp>
      <p:sp>
        <p:nvSpPr>
          <p:cNvPr id="8" name="Shape 6"/>
          <p:cNvSpPr/>
          <p:nvPr/>
        </p:nvSpPr>
        <p:spPr>
          <a:xfrm>
            <a:off x="365760" y="1993392"/>
            <a:ext cx="4937760" cy="1481328"/>
          </a:xfrm>
          <a:prstGeom prst="roundRect">
            <a:avLst>
              <a:gd name="adj" fmla="val 9259"/>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084832"/>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340864"/>
            <a:ext cx="4572000" cy="104241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word in this sentence is the problem?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card on the wall did this student quietly skip?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word would you use instead of 'discovered' — and what evidence supports it?</a:t>
            </a:r>
            <a:endParaRPr lang="en-US" sz="1100" dirty="0"/>
          </a:p>
        </p:txBody>
      </p:sp>
      <p:sp>
        <p:nvSpPr>
          <p:cNvPr id="11" name="Shape 9"/>
          <p:cNvSpPr/>
          <p:nvPr/>
        </p:nvSpPr>
        <p:spPr>
          <a:xfrm>
            <a:off x="5486400" y="1993392"/>
            <a:ext cx="3200400" cy="1481328"/>
          </a:xfrm>
          <a:prstGeom prst="roundRect">
            <a:avLst>
              <a:gd name="adj" fmla="val 7407"/>
            </a:avLst>
          </a:prstGeom>
          <a:solidFill>
            <a:srgbClr val="FFF3DC"/>
          </a:solidFill>
          <a:ln w="19050">
            <a:solidFill>
              <a:srgbClr val="F5E6C8"/>
            </a:solidFill>
            <a:prstDash val="solid"/>
          </a:ln>
        </p:spPr>
      </p:sp>
      <p:sp>
        <p:nvSpPr>
          <p:cNvPr id="12" name="Text 10"/>
          <p:cNvSpPr/>
          <p:nvPr/>
        </p:nvSpPr>
        <p:spPr>
          <a:xfrm>
            <a:off x="5623560" y="2048256"/>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623560" y="2249424"/>
            <a:ext cx="2926080" cy="116128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answer is incomplete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use the word ___ instead because..."</a:t>
            </a:r>
            <a:endParaRPr lang="en-US" sz="1200" dirty="0"/>
          </a:p>
        </p:txBody>
      </p:sp>
      <p:sp>
        <p:nvSpPr>
          <p:cNvPr id="14" name="Shape 12"/>
          <p:cNvSpPr/>
          <p:nvPr/>
        </p:nvSpPr>
        <p:spPr>
          <a:xfrm>
            <a:off x="365760" y="3657600"/>
            <a:ext cx="8321040" cy="987552"/>
          </a:xfrm>
          <a:prstGeom prst="roundRect">
            <a:avLst>
              <a:gd name="adj" fmla="val 11111"/>
            </a:avLst>
          </a:prstGeom>
          <a:solidFill>
            <a:srgbClr val="E8F0FF"/>
          </a:solidFill>
          <a:ln w="12700">
            <a:solidFill>
              <a:srgbClr val="B8C8E8"/>
            </a:solidFill>
            <a:prstDash val="solid"/>
          </a:ln>
        </p:spPr>
      </p:sp>
      <p:sp>
        <p:nvSpPr>
          <p:cNvPr id="15" name="Text 13"/>
          <p:cNvSpPr/>
          <p:nvPr/>
        </p:nvSpPr>
        <p:spPr>
          <a:xfrm>
            <a:off x="566928" y="3730752"/>
            <a:ext cx="3200400" cy="228600"/>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ASSIGNMENT Q3 PREVIEW</a:t>
            </a:r>
            <a:endParaRPr lang="en-US" sz="900" dirty="0"/>
          </a:p>
        </p:txBody>
      </p:sp>
      <p:sp>
        <p:nvSpPr>
          <p:cNvPr id="16" name="Text 14"/>
          <p:cNvSpPr/>
          <p:nvPr/>
        </p:nvSpPr>
        <p:spPr>
          <a:xfrm>
            <a:off x="566928" y="3977640"/>
            <a:ext cx="7909560" cy="566928"/>
          </a:xfrm>
          <a:prstGeom prst="rect">
            <a:avLst/>
          </a:prstGeom>
          <a:noFill/>
          <a:ln/>
        </p:spPr>
        <p:txBody>
          <a:bodyPr wrap="square" rtlCol="0" anchor="t"/>
          <a:lstStyle/>
          <a:p>
            <a:pPr indent="0" marL="0">
              <a:buNone/>
            </a:pPr>
            <a:r>
              <a:rPr lang="en-US" sz="1100" i="1" dirty="0">
                <a:solidFill>
                  <a:srgbClr val="0E1C42"/>
                </a:solidFill>
                <a:latin typeface="Calibri" pitchFamily="34" charset="0"/>
                <a:ea typeface="Calibri" pitchFamily="34" charset="-122"/>
                <a:cs typeface="Calibri" pitchFamily="34" charset="-120"/>
              </a:rPr>
              <a:t>"Some accounts call this period the 'discovery' of Florida. What word would you use instead, and what evidence from the four cards supports your choice?"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64592"/>
            <a:ext cx="502920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GUIDED PRACTICE — TRICKY ONE</a:t>
            </a:r>
            <a:endParaRPr lang="en-US" sz="900" dirty="0"/>
          </a:p>
        </p:txBody>
      </p:sp>
      <p:sp>
        <p:nvSpPr>
          <p:cNvPr id="4" name="Text 2"/>
          <p:cNvSpPr/>
          <p:nvPr/>
        </p:nvSpPr>
        <p:spPr>
          <a:xfrm>
            <a:off x="365760" y="457200"/>
            <a:ext cx="8412480" cy="45720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Can Two Conflicting Conclusions Both Be Honest?</a:t>
            </a:r>
            <a:endParaRPr lang="en-US" sz="2000" dirty="0"/>
          </a:p>
        </p:txBody>
      </p:sp>
      <p:sp>
        <p:nvSpPr>
          <p:cNvPr id="5" name="Shape 3"/>
          <p:cNvSpPr/>
          <p:nvPr/>
        </p:nvSpPr>
        <p:spPr>
          <a:xfrm>
            <a:off x="365760" y="1024128"/>
            <a:ext cx="8321040" cy="1170432"/>
          </a:xfrm>
          <a:prstGeom prst="roundRect">
            <a:avLst>
              <a:gd name="adj" fmla="val 9375"/>
            </a:avLst>
          </a:prstGeom>
          <a:solidFill>
            <a:srgbClr val="1A2D5A"/>
          </a:solidFill>
          <a:ln/>
        </p:spPr>
      </p:sp>
      <p:sp>
        <p:nvSpPr>
          <p:cNvPr id="6" name="Text 4"/>
          <p:cNvSpPr/>
          <p:nvPr/>
        </p:nvSpPr>
        <p:spPr>
          <a:xfrm>
            <a:off x="566928" y="1115568"/>
            <a:ext cx="2743200" cy="2286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THE TRICKY ONE</a:t>
            </a:r>
            <a:endParaRPr lang="en-US" sz="900" dirty="0"/>
          </a:p>
        </p:txBody>
      </p:sp>
      <p:sp>
        <p:nvSpPr>
          <p:cNvPr id="7" name="Text 5"/>
          <p:cNvSpPr/>
          <p:nvPr/>
        </p:nvSpPr>
        <p:spPr>
          <a:xfrm>
            <a:off x="566928" y="1371600"/>
            <a:ext cx="7909560" cy="713232"/>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Some historians argue that contact eventually connected Florida to a bigger world — and that connection had long-term benefits. Others say no benefit justifies the cost to First Peoples. Can both be true?</a:t>
            </a:r>
            <a:endParaRPr lang="en-US" sz="1200" dirty="0"/>
          </a:p>
        </p:txBody>
      </p:sp>
      <p:sp>
        <p:nvSpPr>
          <p:cNvPr id="8" name="Shape 6"/>
          <p:cNvSpPr/>
          <p:nvPr/>
        </p:nvSpPr>
        <p:spPr>
          <a:xfrm>
            <a:off x="365760" y="2377440"/>
            <a:ext cx="4937760" cy="1463040"/>
          </a:xfrm>
          <a:prstGeom prst="roundRect">
            <a:avLst>
              <a:gd name="adj" fmla="val 9375"/>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46888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724912"/>
            <a:ext cx="4572000" cy="10241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piece of evidence is STRONGEST for your position?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'reasonable people can disagree here' a valid historical conclusion? When is it, and when isn't it?</a:t>
            </a:r>
            <a:endParaRPr lang="en-US" sz="1100" dirty="0"/>
          </a:p>
        </p:txBody>
      </p:sp>
      <p:sp>
        <p:nvSpPr>
          <p:cNvPr id="11" name="Shape 9"/>
          <p:cNvSpPr/>
          <p:nvPr/>
        </p:nvSpPr>
        <p:spPr>
          <a:xfrm>
            <a:off x="5486400" y="2377440"/>
            <a:ext cx="3200400" cy="1463040"/>
          </a:xfrm>
          <a:prstGeom prst="roundRect">
            <a:avLst>
              <a:gd name="adj" fmla="val 7500"/>
            </a:avLst>
          </a:prstGeom>
          <a:solidFill>
            <a:srgbClr val="FFF3DC"/>
          </a:solidFill>
          <a:ln w="19050">
            <a:solidFill>
              <a:srgbClr val="F5E6C8"/>
            </a:solidFill>
            <a:prstDash val="solid"/>
          </a:ln>
        </p:spPr>
      </p:sp>
      <p:sp>
        <p:nvSpPr>
          <p:cNvPr id="12" name="Text 10"/>
          <p:cNvSpPr/>
          <p:nvPr/>
        </p:nvSpPr>
        <p:spPr>
          <a:xfrm>
            <a:off x="5623560" y="243230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623560" y="2633472"/>
            <a:ext cx="292608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position is ___ because... The evidence that supports it is..."</a:t>
            </a:r>
            <a:endParaRPr lang="en-US" sz="1200" dirty="0"/>
          </a:p>
        </p:txBody>
      </p:sp>
      <p:sp>
        <p:nvSpPr>
          <p:cNvPr id="14" name="Shape 12"/>
          <p:cNvSpPr/>
          <p:nvPr/>
        </p:nvSpPr>
        <p:spPr>
          <a:xfrm>
            <a:off x="365760" y="4023360"/>
            <a:ext cx="8321040" cy="658368"/>
          </a:xfrm>
          <a:prstGeom prst="roundRect">
            <a:avLst>
              <a:gd name="adj" fmla="val 13889"/>
            </a:avLst>
          </a:prstGeom>
          <a:solidFill>
            <a:srgbClr val="FFF3DC"/>
          </a:solidFill>
          <a:ln w="12700">
            <a:solidFill>
              <a:srgbClr val="F5E6C8"/>
            </a:solidFill>
            <a:prstDash val="solid"/>
          </a:ln>
        </p:spPr>
      </p:sp>
      <p:sp>
        <p:nvSpPr>
          <p:cNvPr id="15" name="Text 13"/>
          <p:cNvSpPr/>
          <p:nvPr/>
        </p:nvSpPr>
        <p:spPr>
          <a:xfrm>
            <a:off x="548640" y="4096512"/>
            <a:ext cx="7955280" cy="502920"/>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TRANSFERABLE PATTERN: When evidence is genuinely mixed, honest history names the tension — it does not pick a side without showing the cost of that choice.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73152"/>
            <a:ext cx="365760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HISTORIAN'S NOTEBOOK</a:t>
            </a:r>
            <a:endParaRPr lang="en-US" sz="900" dirty="0"/>
          </a:p>
        </p:txBody>
      </p:sp>
      <p:sp>
        <p:nvSpPr>
          <p:cNvPr id="4" name="Text 2"/>
          <p:cNvSpPr/>
          <p:nvPr/>
        </p:nvSpPr>
        <p:spPr>
          <a:xfrm>
            <a:off x="365760" y="347472"/>
            <a:ext cx="8412480" cy="347472"/>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Synthesis Entry</a:t>
            </a:r>
            <a:endParaRPr lang="en-US" sz="2000" dirty="0"/>
          </a:p>
        </p:txBody>
      </p:sp>
      <p:sp>
        <p:nvSpPr>
          <p:cNvPr id="5" name="Shape 3"/>
          <p:cNvSpPr/>
          <p:nvPr/>
        </p:nvSpPr>
        <p:spPr>
          <a:xfrm>
            <a:off x="274320" y="804672"/>
            <a:ext cx="8412480" cy="621792"/>
          </a:xfrm>
          <a:prstGeom prst="roundRect">
            <a:avLst>
              <a:gd name="adj" fmla="val 14706"/>
            </a:avLst>
          </a:prstGeom>
          <a:solidFill>
            <a:srgbClr val="FFFFFF"/>
          </a:solidFill>
          <a:ln w="12700">
            <a:solidFill>
              <a:srgbClr val="D0D8E8"/>
            </a:solidFill>
            <a:prstDash val="solid"/>
          </a:ln>
        </p:spPr>
      </p:sp>
      <p:sp>
        <p:nvSpPr>
          <p:cNvPr id="6" name="Text 4"/>
          <p:cNvSpPr/>
          <p:nvPr/>
        </p:nvSpPr>
        <p:spPr>
          <a:xfrm>
            <a:off x="411480" y="877824"/>
            <a:ext cx="502920" cy="475488"/>
          </a:xfrm>
          <a:prstGeom prst="rect">
            <a:avLst/>
          </a:prstGeom>
          <a:noFill/>
          <a:ln/>
        </p:spPr>
        <p:txBody>
          <a:bodyPr wrap="square"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Q1</a:t>
            </a:r>
            <a:endParaRPr lang="en-US" sz="1200" dirty="0"/>
          </a:p>
        </p:txBody>
      </p:sp>
      <p:sp>
        <p:nvSpPr>
          <p:cNvPr id="7" name="Text 5"/>
          <p:cNvSpPr/>
          <p:nvPr/>
        </p:nvSpPr>
        <p:spPr>
          <a:xfrm>
            <a:off x="960120" y="877824"/>
            <a:ext cx="7589520" cy="475488"/>
          </a:xfrm>
          <a:prstGeom prst="rect">
            <a:avLst/>
          </a:prstGeom>
          <a:noFill/>
          <a:ln/>
        </p:spPr>
        <p:txBody>
          <a:bodyPr wrap="square" rtlCol="0" anchor="ctr"/>
          <a:lstStyle/>
          <a:p>
            <a:pPr indent="0" marL="0">
              <a:buNone/>
            </a:pPr>
            <a:r>
              <a:rPr lang="en-US" sz="1000" dirty="0">
                <a:solidFill>
                  <a:srgbClr val="0E1C42"/>
                </a:solidFill>
                <a:latin typeface="Calibri" pitchFamily="34" charset="0"/>
                <a:ea typeface="Calibri" pitchFamily="34" charset="-122"/>
                <a:cs typeface="Calibri" pitchFamily="34" charset="-120"/>
              </a:rPr>
              <a:t>Name one piece of geography evidence and one piece of First Peoples evidence from the wall. How do they connect?</a:t>
            </a:r>
            <a:endParaRPr lang="en-US" sz="1000" dirty="0"/>
          </a:p>
        </p:txBody>
      </p:sp>
      <p:sp>
        <p:nvSpPr>
          <p:cNvPr id="8" name="Shape 6"/>
          <p:cNvSpPr/>
          <p:nvPr/>
        </p:nvSpPr>
        <p:spPr>
          <a:xfrm>
            <a:off x="274320" y="1499616"/>
            <a:ext cx="8412480" cy="621792"/>
          </a:xfrm>
          <a:prstGeom prst="roundRect">
            <a:avLst>
              <a:gd name="adj" fmla="val 14706"/>
            </a:avLst>
          </a:prstGeom>
          <a:solidFill>
            <a:srgbClr val="FFFFFF"/>
          </a:solidFill>
          <a:ln w="12700">
            <a:solidFill>
              <a:srgbClr val="D0D8E8"/>
            </a:solidFill>
            <a:prstDash val="solid"/>
          </a:ln>
        </p:spPr>
      </p:sp>
      <p:sp>
        <p:nvSpPr>
          <p:cNvPr id="9" name="Text 7"/>
          <p:cNvSpPr/>
          <p:nvPr/>
        </p:nvSpPr>
        <p:spPr>
          <a:xfrm>
            <a:off x="411480" y="1572768"/>
            <a:ext cx="502920" cy="475488"/>
          </a:xfrm>
          <a:prstGeom prst="rect">
            <a:avLst/>
          </a:prstGeom>
          <a:noFill/>
          <a:ln/>
        </p:spPr>
        <p:txBody>
          <a:bodyPr wrap="square"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Q2</a:t>
            </a:r>
            <a:endParaRPr lang="en-US" sz="1200" dirty="0"/>
          </a:p>
        </p:txBody>
      </p:sp>
      <p:sp>
        <p:nvSpPr>
          <p:cNvPr id="10" name="Text 8"/>
          <p:cNvSpPr/>
          <p:nvPr/>
        </p:nvSpPr>
        <p:spPr>
          <a:xfrm>
            <a:off x="960120" y="1572768"/>
            <a:ext cx="7589520" cy="475488"/>
          </a:xfrm>
          <a:prstGeom prst="rect">
            <a:avLst/>
          </a:prstGeom>
          <a:noFill/>
          <a:ln/>
        </p:spPr>
        <p:txBody>
          <a:bodyPr wrap="square" rtlCol="0" anchor="ctr"/>
          <a:lstStyle/>
          <a:p>
            <a:pPr indent="0" marL="0">
              <a:buNone/>
            </a:pPr>
            <a:r>
              <a:rPr lang="en-US" sz="1000" dirty="0">
                <a:solidFill>
                  <a:srgbClr val="0E1C42"/>
                </a:solidFill>
                <a:latin typeface="Calibri" pitchFamily="34" charset="0"/>
                <a:ea typeface="Calibri" pitchFamily="34" charset="-122"/>
                <a:cs typeface="Calibri" pitchFamily="34" charset="-120"/>
              </a:rPr>
              <a:t>Was the arrival of Europeans good or bad for Florida's First Peoples? Use evidence from the Contact card to support an honest answer.</a:t>
            </a:r>
            <a:endParaRPr lang="en-US" sz="1000" dirty="0"/>
          </a:p>
        </p:txBody>
      </p:sp>
      <p:sp>
        <p:nvSpPr>
          <p:cNvPr id="11" name="Shape 9"/>
          <p:cNvSpPr/>
          <p:nvPr/>
        </p:nvSpPr>
        <p:spPr>
          <a:xfrm>
            <a:off x="274320" y="2194560"/>
            <a:ext cx="8412480" cy="621792"/>
          </a:xfrm>
          <a:prstGeom prst="roundRect">
            <a:avLst>
              <a:gd name="adj" fmla="val 14706"/>
            </a:avLst>
          </a:prstGeom>
          <a:solidFill>
            <a:srgbClr val="FFFFFF"/>
          </a:solidFill>
          <a:ln w="12700">
            <a:solidFill>
              <a:srgbClr val="D0D8E8"/>
            </a:solidFill>
            <a:prstDash val="solid"/>
          </a:ln>
        </p:spPr>
      </p:sp>
      <p:sp>
        <p:nvSpPr>
          <p:cNvPr id="12" name="Text 10"/>
          <p:cNvSpPr/>
          <p:nvPr/>
        </p:nvSpPr>
        <p:spPr>
          <a:xfrm>
            <a:off x="411480" y="2267712"/>
            <a:ext cx="502920" cy="475488"/>
          </a:xfrm>
          <a:prstGeom prst="rect">
            <a:avLst/>
          </a:prstGeom>
          <a:noFill/>
          <a:ln/>
        </p:spPr>
        <p:txBody>
          <a:bodyPr wrap="square"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Q3</a:t>
            </a:r>
            <a:endParaRPr lang="en-US" sz="1200" dirty="0"/>
          </a:p>
        </p:txBody>
      </p:sp>
      <p:sp>
        <p:nvSpPr>
          <p:cNvPr id="13" name="Text 11"/>
          <p:cNvSpPr/>
          <p:nvPr/>
        </p:nvSpPr>
        <p:spPr>
          <a:xfrm>
            <a:off x="960120" y="2267712"/>
            <a:ext cx="7589520" cy="475488"/>
          </a:xfrm>
          <a:prstGeom prst="rect">
            <a:avLst/>
          </a:prstGeom>
          <a:noFill/>
          <a:ln/>
        </p:spPr>
        <p:txBody>
          <a:bodyPr wrap="square" rtlCol="0" anchor="ctr"/>
          <a:lstStyle/>
          <a:p>
            <a:pPr indent="0" marL="0">
              <a:buNone/>
            </a:pPr>
            <a:r>
              <a:rPr lang="en-US" sz="1000" dirty="0">
                <a:solidFill>
                  <a:srgbClr val="0E1C42"/>
                </a:solidFill>
                <a:latin typeface="Calibri" pitchFamily="34" charset="0"/>
                <a:ea typeface="Calibri" pitchFamily="34" charset="-122"/>
                <a:cs typeface="Calibri" pitchFamily="34" charset="-120"/>
              </a:rPr>
              <a:t>Some accounts call this period the 'discovery' of Florida. What word would you use instead, and what evidence from the four cards supports your choice?</a:t>
            </a:r>
            <a:endParaRPr lang="en-US" sz="1000" dirty="0"/>
          </a:p>
        </p:txBody>
      </p:sp>
      <p:sp>
        <p:nvSpPr>
          <p:cNvPr id="14" name="Shape 12"/>
          <p:cNvSpPr/>
          <p:nvPr/>
        </p:nvSpPr>
        <p:spPr>
          <a:xfrm>
            <a:off x="274320" y="2944368"/>
            <a:ext cx="4983480" cy="868680"/>
          </a:xfrm>
          <a:prstGeom prst="roundRect">
            <a:avLst>
              <a:gd name="adj" fmla="val 12632"/>
            </a:avLst>
          </a:prstGeom>
          <a:solidFill>
            <a:srgbClr val="1A2D5A"/>
          </a:solidFill>
          <a:ln/>
        </p:spPr>
      </p:sp>
      <p:sp>
        <p:nvSpPr>
          <p:cNvPr id="15" name="Text 13"/>
          <p:cNvSpPr/>
          <p:nvPr/>
        </p:nvSpPr>
        <p:spPr>
          <a:xfrm>
            <a:off x="457200" y="3017520"/>
            <a:ext cx="2743200" cy="2286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SYNTHESIS ENTRY</a:t>
            </a:r>
            <a:endParaRPr lang="en-US" sz="900" dirty="0"/>
          </a:p>
        </p:txBody>
      </p:sp>
      <p:sp>
        <p:nvSpPr>
          <p:cNvPr id="16" name="Text 14"/>
          <p:cNvSpPr/>
          <p:nvPr/>
        </p:nvSpPr>
        <p:spPr>
          <a:xfrm>
            <a:off x="457200" y="3264408"/>
            <a:ext cx="4572000" cy="475488"/>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Choose 3 of 4 cards. Write 4-5 sentences.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Use: because  |  so  |  even though  |  this meant</a:t>
            </a:r>
            <a:endParaRPr lang="en-US" sz="1100" dirty="0"/>
          </a:p>
        </p:txBody>
      </p:sp>
      <p:sp>
        <p:nvSpPr>
          <p:cNvPr id="17" name="Shape 15"/>
          <p:cNvSpPr/>
          <p:nvPr/>
        </p:nvSpPr>
        <p:spPr>
          <a:xfrm>
            <a:off x="5440680" y="2944368"/>
            <a:ext cx="3429000" cy="868680"/>
          </a:xfrm>
          <a:prstGeom prst="roundRect">
            <a:avLst>
              <a:gd name="adj" fmla="val 12632"/>
            </a:avLst>
          </a:prstGeom>
          <a:solidFill>
            <a:srgbClr val="FFF3DC"/>
          </a:solidFill>
          <a:ln w="19050">
            <a:solidFill>
              <a:srgbClr val="F5E6C8"/>
            </a:solidFill>
            <a:prstDash val="solid"/>
          </a:ln>
        </p:spPr>
      </p:sp>
      <p:sp>
        <p:nvSpPr>
          <p:cNvPr id="18" name="Text 16"/>
          <p:cNvSpPr/>
          <p:nvPr/>
        </p:nvSpPr>
        <p:spPr>
          <a:xfrm>
            <a:off x="5596128" y="3017520"/>
            <a:ext cx="310896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HISTORIAN'S SENTENCE</a:t>
            </a:r>
            <a:endParaRPr lang="en-US" sz="900" dirty="0"/>
          </a:p>
        </p:txBody>
      </p:sp>
      <p:sp>
        <p:nvSpPr>
          <p:cNvPr id="19" name="Text 17"/>
          <p:cNvSpPr/>
          <p:nvPr/>
        </p:nvSpPr>
        <p:spPr>
          <a:xfrm>
            <a:off x="5596128" y="3264408"/>
            <a:ext cx="3108960" cy="475488"/>
          </a:xfrm>
          <a:prstGeom prst="rect">
            <a:avLst/>
          </a:prstGeom>
          <a:noFill/>
          <a:ln/>
        </p:spPr>
        <p:txBody>
          <a:bodyPr wrap="square" rtlCol="0" anchor="t"/>
          <a:lstStyle/>
          <a:p>
            <a:pPr indent="0" marL="0">
              <a:buNone/>
            </a:pPr>
            <a:r>
              <a:rPr lang="en-US" sz="1000" i="1" dirty="0">
                <a:solidFill>
                  <a:srgbClr val="5A4A3A"/>
                </a:solidFill>
                <a:latin typeface="Cambria" pitchFamily="34" charset="0"/>
                <a:ea typeface="Cambria" pitchFamily="34" charset="-122"/>
                <a:cs typeface="Cambria" pitchFamily="34" charset="-120"/>
              </a:rPr>
              <a:t>"In this evidence review, I learned that _______ because _______."</a:t>
            </a:r>
            <a:endParaRPr lang="en-US" sz="1000" dirty="0"/>
          </a:p>
        </p:txBody>
      </p:sp>
      <p:sp>
        <p:nvSpPr>
          <p:cNvPr id="20" name="Shape 18"/>
          <p:cNvSpPr/>
          <p:nvPr/>
        </p:nvSpPr>
        <p:spPr>
          <a:xfrm>
            <a:off x="274320" y="3977640"/>
            <a:ext cx="8412480" cy="658368"/>
          </a:xfrm>
          <a:prstGeom prst="roundRect">
            <a:avLst>
              <a:gd name="adj" fmla="val 13889"/>
            </a:avLst>
          </a:prstGeom>
          <a:solidFill>
            <a:srgbClr val="E8F4EE"/>
          </a:solidFill>
          <a:ln w="12700">
            <a:solidFill>
              <a:srgbClr val="B8D8C8"/>
            </a:solidFill>
            <a:prstDash val="solid"/>
          </a:ln>
        </p:spPr>
      </p:sp>
      <p:sp>
        <p:nvSpPr>
          <p:cNvPr id="21" name="Text 19"/>
          <p:cNvSpPr/>
          <p:nvPr/>
        </p:nvSpPr>
        <p:spPr>
          <a:xfrm>
            <a:off x="457200" y="4050792"/>
            <a:ext cx="2743200" cy="201168"/>
          </a:xfrm>
          <a:prstGeom prst="rect">
            <a:avLst/>
          </a:prstGeom>
          <a:noFill/>
          <a:ln/>
        </p:spPr>
        <p:txBody>
          <a:bodyPr wrap="square"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TURN-IN CHECKLIST</a:t>
            </a:r>
            <a:endParaRPr lang="en-US" sz="900" dirty="0"/>
          </a:p>
        </p:txBody>
      </p:sp>
      <p:sp>
        <p:nvSpPr>
          <p:cNvPr id="22" name="Text 20"/>
          <p:cNvSpPr/>
          <p:nvPr/>
        </p:nvSpPr>
        <p:spPr>
          <a:xfrm>
            <a:off x="457200" y="4251960"/>
            <a:ext cx="8046720" cy="320040"/>
          </a:xfrm>
          <a:prstGeom prst="rect">
            <a:avLst/>
          </a:prstGeom>
          <a:noFill/>
          <a:ln/>
        </p:spPr>
        <p:txBody>
          <a:bodyPr wrap="square" rtlCol="0" anchor="ctr"/>
          <a:lstStyle/>
          <a:p>
            <a:pPr indent="0" marL="0">
              <a:buNone/>
            </a:pPr>
            <a:r>
              <a:rPr lang="en-US" sz="900" dirty="0">
                <a:solidFill>
                  <a:srgbClr val="0E1C42"/>
                </a:solidFill>
                <a:latin typeface="Calibri" pitchFamily="34" charset="0"/>
                <a:ea typeface="Calibri" pitchFamily="34" charset="-122"/>
                <a:cs typeface="Calibri" pitchFamily="34" charset="-120"/>
              </a:rPr>
              <a:t>Walked all 4 cards   |   Answered all 3 evidence questions   |   Completed Synthesis Entry   |   Historian's Sentence done   |   Submitted to Canvas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p:spPr>
      </p:sp>
      <p:sp>
        <p:nvSpPr>
          <p:cNvPr id="3" name="Shape 1"/>
          <p:cNvSpPr/>
          <p:nvPr/>
        </p:nvSpPr>
        <p:spPr>
          <a:xfrm>
            <a:off x="0" y="0"/>
            <a:ext cx="9144000" cy="5143500"/>
          </a:xfrm>
          <a:prstGeom prst="rect">
            <a:avLst/>
          </a:prstGeom>
          <a:solidFill>
            <a:srgbClr val="0E1C42">
              <a:alpha val="70000"/>
            </a:srgbClr>
          </a:solidFill>
          <a:ln/>
        </p:spPr>
      </p:sp>
      <p:sp>
        <p:nvSpPr>
          <p:cNvPr id="4" name="Text 2"/>
          <p:cNvSpPr/>
          <p:nvPr/>
        </p:nvSpPr>
        <p:spPr>
          <a:xfrm>
            <a:off x="457200" y="411480"/>
            <a:ext cx="8229600" cy="320040"/>
          </a:xfrm>
          <a:prstGeom prst="rect">
            <a:avLst/>
          </a:prstGeom>
          <a:noFill/>
          <a:ln/>
        </p:spPr>
        <p:txBody>
          <a:bodyPr wrap="square" rtlCol="0" anchor="ctr"/>
          <a:lstStyle/>
          <a:p>
            <a:pPr algn="ctr" indent="0" marL="0">
              <a:buNone/>
            </a:pPr>
            <a:r>
              <a:rPr lang="en-US" sz="1100" b="1" spc="250" kern="0" dirty="0">
                <a:solidFill>
                  <a:srgbClr val="D4943A"/>
                </a:solidFill>
                <a:latin typeface="Calibri" pitchFamily="34" charset="0"/>
                <a:ea typeface="Calibri" pitchFamily="34" charset="-122"/>
                <a:cs typeface="Calibri" pitchFamily="34" charset="-120"/>
              </a:rPr>
              <a:t>VIRTUE SPOTLIGHT</a:t>
            </a:r>
            <a:endParaRPr lang="en-US" sz="1100" dirty="0"/>
          </a:p>
        </p:txBody>
      </p:sp>
      <p:sp>
        <p:nvSpPr>
          <p:cNvPr id="5" name="Shape 3"/>
          <p:cNvSpPr/>
          <p:nvPr/>
        </p:nvSpPr>
        <p:spPr>
          <a:xfrm>
            <a:off x="2743200" y="868680"/>
            <a:ext cx="3657600" cy="45720"/>
          </a:xfrm>
          <a:prstGeom prst="rect">
            <a:avLst/>
          </a:prstGeom>
          <a:solidFill>
            <a:srgbClr val="D4943A"/>
          </a:solidFill>
          <a:ln/>
        </p:spPr>
      </p:sp>
      <p:sp>
        <p:nvSpPr>
          <p:cNvPr id="6" name="Text 4"/>
          <p:cNvSpPr/>
          <p:nvPr/>
        </p:nvSpPr>
        <p:spPr>
          <a:xfrm>
            <a:off x="457200" y="1005840"/>
            <a:ext cx="8229600" cy="914400"/>
          </a:xfrm>
          <a:prstGeom prst="rect">
            <a:avLst/>
          </a:prstGeom>
          <a:noFill/>
          <a:ln/>
        </p:spPr>
        <p:txBody>
          <a:bodyPr wrap="square"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Honesty</a:t>
            </a:r>
            <a:endParaRPr lang="en-US" sz="5200" dirty="0"/>
          </a:p>
        </p:txBody>
      </p:sp>
      <p:sp>
        <p:nvSpPr>
          <p:cNvPr id="7" name="Shape 5"/>
          <p:cNvSpPr/>
          <p:nvPr/>
        </p:nvSpPr>
        <p:spPr>
          <a:xfrm>
            <a:off x="731520" y="2084832"/>
            <a:ext cx="7680960" cy="1371600"/>
          </a:xfrm>
          <a:prstGeom prst="roundRect">
            <a:avLst>
              <a:gd name="adj" fmla="val 10000"/>
            </a:avLst>
          </a:prstGeom>
          <a:solidFill>
            <a:srgbClr val="1A2D5A"/>
          </a:solidFill>
          <a:ln/>
        </p:spPr>
      </p:sp>
      <p:sp>
        <p:nvSpPr>
          <p:cNvPr id="8" name="Text 6"/>
          <p:cNvSpPr/>
          <p:nvPr/>
        </p:nvSpPr>
        <p:spPr>
          <a:xfrm>
            <a:off x="914400" y="2176272"/>
            <a:ext cx="7315200" cy="118872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Honesty is the historian's first tool.</a:t>
            </a:r>
            <a:endParaRPr lang="en-US" sz="1400" dirty="0"/>
          </a:p>
          <a:p>
            <a:pPr algn="ctr" indent="0" marL="0">
              <a:buNone/>
            </a:pP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Only claim what the sources actually show. Don't stretch a fact to fit a pattern. Don't drop a detail that complicates your idea.</a:t>
            </a:r>
            <a:endParaRPr lang="en-US" sz="1400" dirty="0"/>
          </a:p>
        </p:txBody>
      </p:sp>
      <p:sp>
        <p:nvSpPr>
          <p:cNvPr id="9" name="Text 7"/>
          <p:cNvSpPr/>
          <p:nvPr/>
        </p:nvSpPr>
        <p:spPr>
          <a:xfrm>
            <a:off x="731520" y="3639312"/>
            <a:ext cx="7680960" cy="502920"/>
          </a:xfrm>
          <a:prstGeom prst="rect">
            <a:avLst/>
          </a:prstGeom>
          <a:noFill/>
          <a:ln/>
        </p:spPr>
        <p:txBody>
          <a:bodyPr wrap="square" rtlCol="0" anchor="ctr"/>
          <a:lstStyle/>
          <a:p>
            <a:pPr algn="ctr" indent="0" marL="0">
              <a:buNone/>
            </a:pPr>
            <a:r>
              <a:rPr lang="en-US" sz="1300" i="1" dirty="0">
                <a:solidFill>
                  <a:srgbClr val="D4943A"/>
                </a:solidFill>
                <a:latin typeface="Calibri" pitchFamily="34" charset="0"/>
                <a:ea typeface="Calibri" pitchFamily="34" charset="-122"/>
                <a:cs typeface="Calibri" pitchFamily="34" charset="-120"/>
              </a:rPr>
              <a:t>Today's honesty challenge: the Contact card complicates every tidy story. Keep it in.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2560320" y="384048"/>
            <a:ext cx="4023360" cy="457200"/>
          </a:xfrm>
          <a:prstGeom prst="roundRect">
            <a:avLst>
              <a:gd name="adj" fmla="val 20000"/>
            </a:avLst>
          </a:prstGeom>
          <a:solidFill>
            <a:srgbClr val="34B76F"/>
          </a:solidFill>
          <a:ln/>
        </p:spPr>
      </p:sp>
      <p:sp>
        <p:nvSpPr>
          <p:cNvPr id="6" name="Text 3"/>
          <p:cNvSpPr/>
          <p:nvPr/>
        </p:nvSpPr>
        <p:spPr>
          <a:xfrm>
            <a:off x="2560320" y="384048"/>
            <a:ext cx="40233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FILE SAVED -- Checkpoint Door Unlocked!</a:t>
            </a:r>
            <a:endParaRPr lang="en-US" sz="1100" dirty="0"/>
          </a:p>
        </p:txBody>
      </p:sp>
      <p:sp>
        <p:nvSpPr>
          <p:cNvPr id="7" name="Text 4"/>
          <p:cNvSpPr/>
          <p:nvPr/>
        </p:nvSpPr>
        <p:spPr>
          <a:xfrm>
            <a:off x="457200" y="1005840"/>
            <a:ext cx="8229600" cy="155448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You sorted every early</a:t>
            </a:r>
            <a:endParaRPr lang="en-US" sz="3200" dirty="0"/>
          </a:p>
          <a:p>
            <a:pPr algn="ctr" indent="0" marL="0">
              <a:buNone/>
            </a:pPr>
            <a:r>
              <a:rPr lang="en-US" sz="3200" b="1" dirty="0">
                <a:solidFill>
                  <a:srgbClr val="FFFFFF"/>
                </a:solidFill>
                <a:latin typeface="Cambria" pitchFamily="34" charset="0"/>
                <a:ea typeface="Cambria" pitchFamily="34" charset="-122"/>
                <a:cs typeface="Cambria" pitchFamily="34" charset="-120"/>
              </a:rPr>
              <a:t>Florida file and connected</a:t>
            </a:r>
            <a:endParaRPr lang="en-US" sz="3200" dirty="0"/>
          </a:p>
          <a:p>
            <a:pPr algn="ctr" indent="0" marL="0">
              <a:buNone/>
            </a:pPr>
            <a:r>
              <a:rPr lang="en-US" sz="3200" b="1" dirty="0">
                <a:solidFill>
                  <a:srgbClr val="FFFFFF"/>
                </a:solidFill>
                <a:latin typeface="Cambria" pitchFamily="34" charset="0"/>
                <a:ea typeface="Cambria" pitchFamily="34" charset="-122"/>
                <a:cs typeface="Cambria" pitchFamily="34" charset="-120"/>
              </a:rPr>
              <a:t>the evidence honestly.</a:t>
            </a:r>
            <a:endParaRPr lang="en-US" sz="3200" dirty="0"/>
          </a:p>
        </p:txBody>
      </p:sp>
      <p:sp>
        <p:nvSpPr>
          <p:cNvPr id="8" name="Text 5"/>
          <p:cNvSpPr/>
          <p:nvPr/>
        </p:nvSpPr>
        <p:spPr>
          <a:xfrm>
            <a:off x="457200" y="2697480"/>
            <a:ext cx="8229600" cy="457200"/>
          </a:xfrm>
          <a:prstGeom prst="rect">
            <a:avLst/>
          </a:prstGeom>
          <a:noFill/>
          <a:ln/>
        </p:spPr>
        <p:txBody>
          <a:bodyPr wrap="square" rtlCol="0" anchor="ctr"/>
          <a:lstStyle/>
          <a:p>
            <a:pPr algn="ctr" indent="0" marL="0">
              <a:buNone/>
            </a:pPr>
            <a:r>
              <a:rPr lang="en-US" sz="1800" i="1" dirty="0">
                <a:solidFill>
                  <a:srgbClr val="D4943A"/>
                </a:solidFill>
                <a:latin typeface="Calibri" pitchFamily="34" charset="0"/>
                <a:ea typeface="Calibri" pitchFamily="34" charset="-122"/>
                <a:cs typeface="Calibri" pitchFamily="34" charset="-120"/>
              </a:rPr>
              <a:t>The whole door just lit up.</a:t>
            </a:r>
            <a:endParaRPr lang="en-US" sz="1800" dirty="0"/>
          </a:p>
        </p:txBody>
      </p:sp>
      <p:sp>
        <p:nvSpPr>
          <p:cNvPr id="9" name="Shape 6"/>
          <p:cNvSpPr/>
          <p:nvPr/>
        </p:nvSpPr>
        <p:spPr>
          <a:xfrm>
            <a:off x="3200400" y="3291840"/>
            <a:ext cx="2743200" cy="36576"/>
          </a:xfrm>
          <a:prstGeom prst="rect">
            <a:avLst/>
          </a:prstGeom>
          <a:solidFill>
            <a:srgbClr val="D4943A"/>
          </a:solidFill>
          <a:ln/>
        </p:spPr>
      </p:sp>
      <p:sp>
        <p:nvSpPr>
          <p:cNvPr id="10" name="Text 7"/>
          <p:cNvSpPr/>
          <p:nvPr/>
        </p:nvSpPr>
        <p:spPr>
          <a:xfrm>
            <a:off x="457200" y="3456432"/>
            <a:ext cx="8229600" cy="256032"/>
          </a:xfrm>
          <a:prstGeom prst="rect">
            <a:avLst/>
          </a:prstGeom>
          <a:noFill/>
          <a:ln/>
        </p:spPr>
        <p:txBody>
          <a:bodyPr wrap="square"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COMING NEXT</a:t>
            </a:r>
            <a:endParaRPr lang="en-US" sz="1000" dirty="0"/>
          </a:p>
        </p:txBody>
      </p:sp>
      <p:sp>
        <p:nvSpPr>
          <p:cNvPr id="11" name="Text 8"/>
          <p:cNvSpPr/>
          <p:nvPr/>
        </p:nvSpPr>
        <p:spPr>
          <a:xfrm>
            <a:off x="457200" y="3767328"/>
            <a:ext cx="8229600" cy="411480"/>
          </a:xfrm>
          <a:prstGeom prst="rect">
            <a:avLst/>
          </a:prstGeom>
          <a:noFill/>
          <a:ln/>
        </p:spPr>
        <p:txBody>
          <a:bodyPr wrap="square" rtlCol="0" anchor="ctr"/>
          <a:lstStyle/>
          <a:p>
            <a:pPr algn="ctr" indent="0" marL="0">
              <a:buNone/>
            </a:pPr>
            <a:r>
              <a:rPr lang="en-US" sz="1600" i="1" dirty="0">
                <a:solidFill>
                  <a:srgbClr val="55C8E8"/>
                </a:solidFill>
                <a:latin typeface="Calibri" pitchFamily="34" charset="0"/>
                <a:ea typeface="Calibri" pitchFamily="34" charset="-122"/>
                <a:cs typeface="Calibri" pitchFamily="34" charset="-120"/>
              </a:rPr>
              <a:t>Council Chamber: What Changed After Contact?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2026-07-14T00:26:41Z</dcterms:created>
  <dcterms:modified xsi:type="dcterms:W3CDTF">2026-07-14T00:26:41Z</dcterms:modified>
</cp:coreProperties>
</file>