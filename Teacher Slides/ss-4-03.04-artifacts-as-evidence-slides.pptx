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Close-up museum photograph of the Key Marco Cat — small dark wooden figurine, smooth ancient surface, mysterious. Dramatically lit against deep black. No human faces in background. Sense of discovery and reverence.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Archaeological excavation site: wet muck, wooden artifact emerging from dark soil, brush tools nearby. Sense of discovery. Evokes the Key Marco 1896 dig. No human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is the most rigorous source lesson in Unit 3 so far. The central skill: separating observation from inference. Every student should leave knowing the difference between 'I see' and 'I think.' The artifact IS the primary source today — not a picture of a document. That's new. Speaker note: The Key Marco Cat is held at the Smithsonian National Museum of Natural History. It is a Calusa cultural object — treat it with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entire lesson hinges on this distinction. In the first 5 seconds, students ONLY observe — no explaining, no guessing. Then they share in chat. Then you introduce the two-move framework: observation first, inference second, always labelled. This is the historian's core epistemological move, and 4th graders can do it if it's taught explicitly. Watch for students who jump straight to inference ('it looks like a weapon') — pull them back to observation first: 'What specifically do you see that makes you say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discussion is foundational. Don't rush it. The goal: every student can sort a sentence into 'observation' or 'inference' and explain why. The third question (two historians, different inferences) is rich — both can be right if their observations are solid and their reasoning is careful. Multiple defensible inferences from the same evidence is a real feature of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quote to say aloud: 'When there are no written records, artifacts are how we hear the past speak.' This is the lesson's central claim. Pause here. Ask: 'What would we know about the Calusa if all their artifacts had rotted — and they left no writing?' The answer is: almost nothing. That's how powerful artifacts are — and how much depends on preservation conditions like the Key Marco muck.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assignment's primary source — all three evidence questions are about this object. Let students observe in silence for 5-7 seconds. Then invite observations: 'What do you see?' Redirect any inference (it's a cat!) back to observation: 'What specifically do you see that makes you say that?' Key observations: small (about 6 inches), carved wood, dark from age, kneeling posture, rounded ears, smooth surface, animal or part-human features. The Calusa carved this — it is a cultural object belonging to a people with living descendants.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Assignment Q1 and Q2 are practiced here. Push the fourth Socratic question hard: 'What can archaeology never tell us about this object?' Expected rich answers: who made it, what name they gave it, whether it was sacred or everyday, what hands held it, what it meant to those people. These are legitimate limits of evidence — and a mature historian names them honestly. Remind students: the Calusa are a real people; this object carries cultural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categories — shows, infers, cannot know — is the entire analytical framework for this lesson. Students will use this structure in their object labels. Pause on WHAT WE CANNOT KNOW. This is the most intellectually honest moment in the lesson. A student who names something we cannot know is doing the highest level of thinking. Celebrate it: 'That is exactly what an honest historian says.'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comparison challenge: what does each source show that the other cannot? The artifact shows artistic skill and cultural sophistication but says nothing about political organization. The Spanish account confirms Calusa power and trade but was written by an outsider and doesn't mention daily life or art. Together they give a fuller picture. Neither alone is enough. This is the core multi-source argument for Assignment Q3: why artifacts matter even without written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Socratic question is the Tricky One preview: a tool found without a maker or date — is it still evidence? Push for: 'Yes, but carefully.' An undated tool still tells us materials were worked, skills existed, activities were performed — even without a name or date attached. Historians use partial evidence all the time; the obligation is to be honest about what the evidence can and cannot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lesson's big idea stated fully. Ask: 'Can you name another culture from history that we know mostly through objects rather than writing?' Good examples: ancient Egyptians (early period), Stonehenge builders, Mississippian mound builders, pre-contact Florida peoples broadly. The pattern is global and repeating. A student who gets this will think differently about what counts as evidence — for the rest of their education.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Unlock Challenge requires: (1) two observations beginning with 'I see,' (2) one inference beginning with 'Maybe,' (3) one honest sentence about what the artifact cannot tell us. This virtue slide models all three. Read it aloud with students — they can use this as a template for their museum label. The 'WHAT I CANNOT KNOW' sentence is the hardest — and the most valuable.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label aloud in first person. Students can follow along. Key teaching moment: say the word 'maybe' slowly and deliberately when you reach the inference. Say 'cannot know' with confidence — it should sound strong, not apologetic. This is what honest historical thinking sounds like. Students write their own version independently after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definition of a good observation: 'A specific detail a stranger could verify by looking at the same photograph.' That standard eliminates most interpretive language. Walk students through: 'rounded ears' passes the test; 'cat figure' does not (stranger might see a dog or wolf). This precision matters in all source work — teach it here, and students carry it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sample label has: 'carved by a Calusa shaman' (invented), 'for use in healing ceremonies' (invented), 'shows a panther spirit' (inference presented as fact), 'were sacred to them' (invented). Every single claim beyond 'this is a carved wooden figure' is inference presented as fact. This is a common error in museum labels historically — it actually happened with many Native artifacts. Students who catch this are doing real critical thinking about how history is presented.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question has a defensible answer: yes, it is still evidence — but the claims must be proportional to what is known. 'Someone worked this stone' is supported even without a name or date. 'The Calusa used this in ceremonies' is not. The key idea: historians scale their claims to match their evidence. Do NOT give students the answer — let them argue. Both 'still evidence' and 'not enough to use' can be defended if the reasoning is 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in chat before revealing answers. Q2 is the one to watch — students often get it backward. Q3 is the direct preparation for Assignment Q3. Students who cannot answer Q3 without notes should look back at the Key Marco Cat reveal slide before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 wording from the Canvas lesson. Q1 begins with 'I see' — check that students don't drift into interpretation. Q2 begins with 'Maybe' — check that the inference connects to their specific observation. Q3 should reference the Key Marco Cat or another artifact by name. Walk through the turn-in process: all three questions + unlock challenge + historian's sentence → copy/download → submit to Canvas.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The Key Marco Cat displayed in a museum case, dramatically lit, against a dark background. A sense of reverence and discovery. The object glowing softly as the sole light source. No human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Text 2"/>
          <p:cNvSpPr/>
          <p:nvPr/>
        </p:nvSpPr>
        <p:spPr>
          <a:xfrm>
            <a:off x="457200" y="365760"/>
            <a:ext cx="8229600" cy="320040"/>
          </a:xfrm>
          <a:prstGeom prst="rect">
            <a:avLst/>
          </a:prstGeom>
          <a:noFill/>
          <a:ln/>
        </p:spPr>
        <p:txBody>
          <a:bodyPr wrap="square" rtlCol="0" anchor="ctr"/>
          <a:lstStyle/>
          <a:p>
            <a:pPr algn="ctr" indent="0" marL="0">
              <a:buNone/>
            </a:pPr>
            <a:r>
              <a:rPr lang="en-US" sz="1300" b="1" spc="200" kern="0" dirty="0">
                <a:solidFill>
                  <a:srgbClr val="55C8E8"/>
                </a:solidFill>
                <a:latin typeface="Calibri" pitchFamily="34" charset="0"/>
                <a:ea typeface="Calibri" pitchFamily="34" charset="-122"/>
                <a:cs typeface="Calibri" pitchFamily="34" charset="-120"/>
              </a:rPr>
              <a:t>4.03.04</a:t>
            </a:r>
            <a:endParaRPr lang="en-US" sz="1300" dirty="0"/>
          </a:p>
        </p:txBody>
      </p:sp>
      <p:sp>
        <p:nvSpPr>
          <p:cNvPr id="6" name="Text 3"/>
          <p:cNvSpPr/>
          <p:nvPr/>
        </p:nvSpPr>
        <p:spPr>
          <a:xfrm>
            <a:off x="457200" y="777240"/>
            <a:ext cx="8229600" cy="914400"/>
          </a:xfrm>
          <a:prstGeom prst="rect">
            <a:avLst/>
          </a:prstGeom>
          <a:noFill/>
          <a:ln/>
        </p:spPr>
        <p:txBody>
          <a:bodyPr wrap="square"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Artifacts as Evidence</a:t>
            </a:r>
            <a:endParaRPr lang="en-US" sz="4400" dirty="0"/>
          </a:p>
        </p:txBody>
      </p:sp>
      <p:sp>
        <p:nvSpPr>
          <p:cNvPr id="7" name="Shape 4"/>
          <p:cNvSpPr/>
          <p:nvPr/>
        </p:nvSpPr>
        <p:spPr>
          <a:xfrm>
            <a:off x="3200400" y="1828800"/>
            <a:ext cx="2743200" cy="54864"/>
          </a:xfrm>
          <a:prstGeom prst="rect">
            <a:avLst/>
          </a:prstGeom>
          <a:solidFill>
            <a:srgbClr val="D4943A"/>
          </a:solidFill>
          <a:ln w="12700">
            <a:solidFill>
              <a:srgbClr val="D4943A"/>
            </a:solidFill>
            <a:prstDash val="solid"/>
          </a:ln>
        </p:spPr>
      </p:sp>
      <p:sp>
        <p:nvSpPr>
          <p:cNvPr id="8" name="Text 5"/>
          <p:cNvSpPr/>
          <p:nvPr/>
        </p:nvSpPr>
        <p:spPr>
          <a:xfrm>
            <a:off x="731520" y="1965960"/>
            <a:ext cx="7680960" cy="685800"/>
          </a:xfrm>
          <a:prstGeom prst="rect">
            <a:avLst/>
          </a:prstGeom>
          <a:noFill/>
          <a:ln/>
        </p:spPr>
        <p:txBody>
          <a:bodyPr wrap="square" rtlCol="0" anchor="ctr"/>
          <a:lstStyle/>
          <a:p>
            <a:pPr algn="ctr" indent="0" marL="0">
              <a:buNone/>
            </a:pPr>
            <a:r>
              <a:rPr lang="en-US" sz="1700" i="1" dirty="0">
                <a:solidFill>
                  <a:srgbClr val="F0F2F8"/>
                </a:solidFill>
                <a:latin typeface="Cambria" pitchFamily="34" charset="0"/>
                <a:ea typeface="Cambria" pitchFamily="34" charset="-122"/>
                <a:cs typeface="Cambria" pitchFamily="34" charset="-120"/>
              </a:rPr>
              <a:t>What can a single artifact really tell us — and where does seeing end and guessing begin?</a:t>
            </a:r>
            <a:endParaRPr lang="en-US" sz="1700" dirty="0"/>
          </a:p>
        </p:txBody>
      </p:sp>
      <p:sp>
        <p:nvSpPr>
          <p:cNvPr id="9" name="Text 6"/>
          <p:cNvSpPr/>
          <p:nvPr/>
        </p:nvSpPr>
        <p:spPr>
          <a:xfrm>
            <a:off x="457200" y="4663440"/>
            <a:ext cx="8229600" cy="274320"/>
          </a:xfrm>
          <a:prstGeom prst="rect">
            <a:avLst/>
          </a:prstGeom>
          <a:noFill/>
          <a:ln/>
        </p:spPr>
        <p:txBody>
          <a:bodyPr wrap="square" rtlCol="0" anchor="ctr"/>
          <a:lstStyle/>
          <a:p>
            <a:pPr algn="ctr" indent="0" marL="0">
              <a:buNone/>
            </a:pPr>
            <a:r>
              <a:rPr lang="en-US" sz="1200" dirty="0">
                <a:solidFill>
                  <a:srgbClr val="7A88A8"/>
                </a:solidFill>
                <a:latin typeface="Calibri" pitchFamily="34" charset="0"/>
                <a:ea typeface="Calibri" pitchFamily="34" charset="-122"/>
                <a:cs typeface="Calibri" pitchFamily="34" charset="-120"/>
              </a:rPr>
              <a:t>Grade 4 Social Studies · First Floridians · Week 8</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457200" y="274320"/>
            <a:ext cx="8229600" cy="4297680"/>
          </a:xfrm>
          <a:prstGeom prst="roundRect">
            <a:avLst>
              <a:gd name="adj" fmla="val 3830"/>
            </a:avLst>
          </a:prstGeom>
          <a:solidFill>
            <a:srgbClr val="1A2D5A">
              <a:alpha val="80000"/>
            </a:srgbClr>
          </a:solidFill>
          <a:ln w="19050">
            <a:solidFill>
              <a:srgbClr val="55C8E8"/>
            </a:solidFill>
            <a:prstDash val="solid"/>
          </a:ln>
        </p:spPr>
      </p:sp>
      <p:sp>
        <p:nvSpPr>
          <p:cNvPr id="6" name="Text 3"/>
          <p:cNvSpPr/>
          <p:nvPr/>
        </p:nvSpPr>
        <p:spPr>
          <a:xfrm>
            <a:off x="731520" y="411480"/>
            <a:ext cx="7680960" cy="274320"/>
          </a:xfrm>
          <a:prstGeom prst="rect">
            <a:avLst/>
          </a:prstGeom>
          <a:noFill/>
          <a:ln/>
        </p:spPr>
        <p:txBody>
          <a:bodyPr wrap="square" rtlCol="0" anchor="ctr"/>
          <a:lstStyle/>
          <a:p>
            <a:pPr algn="ctr" indent="0" marL="0">
              <a:buNone/>
            </a:pPr>
            <a:r>
              <a:rPr lang="en-US" sz="1000" b="1" spc="200" kern="0" dirty="0">
                <a:solidFill>
                  <a:srgbClr val="55C8E8"/>
                </a:solidFill>
                <a:latin typeface="Calibri" pitchFamily="34" charset="0"/>
                <a:ea typeface="Calibri" pitchFamily="34" charset="-122"/>
                <a:cs typeface="Calibri" pitchFamily="34" charset="-120"/>
              </a:rPr>
              <a:t>MESSAGE FROM INSIDE CANVAS</a:t>
            </a:r>
            <a:endParaRPr lang="en-US" sz="1000" dirty="0"/>
          </a:p>
        </p:txBody>
      </p:sp>
      <p:sp>
        <p:nvSpPr>
          <p:cNvPr id="7" name="Text 4"/>
          <p:cNvSpPr/>
          <p:nvPr/>
        </p:nvSpPr>
        <p:spPr>
          <a:xfrm>
            <a:off x="822960" y="777240"/>
            <a:ext cx="7498080" cy="502920"/>
          </a:xfrm>
          <a:prstGeom prst="rect">
            <a:avLst/>
          </a:prstGeom>
          <a:noFill/>
          <a:ln/>
        </p:spPr>
        <p:txBody>
          <a:bodyPr wrap="square" rtlCol="0" anchor="ctr"/>
          <a:lstStyle/>
          <a:p>
            <a:pPr algn="ctr" indent="0" marL="0">
              <a:buNone/>
            </a:pPr>
            <a:r>
              <a:rPr lang="en-US" sz="1500" dirty="0">
                <a:solidFill>
                  <a:srgbClr val="FFFFFF"/>
                </a:solidFill>
                <a:latin typeface="Cambria" pitchFamily="34" charset="0"/>
                <a:ea typeface="Cambria" pitchFamily="34" charset="-122"/>
                <a:cs typeface="Cambria" pitchFamily="34" charset="-120"/>
              </a:rPr>
              <a:t>Canvas pulled up today's Florida File and showed me an artifact — but there's no caption.</a:t>
            </a:r>
            <a:endParaRPr lang="en-US" sz="1500" dirty="0"/>
          </a:p>
        </p:txBody>
      </p:sp>
      <p:sp>
        <p:nvSpPr>
          <p:cNvPr id="8" name="Text 5"/>
          <p:cNvSpPr/>
          <p:nvPr/>
        </p:nvSpPr>
        <p:spPr>
          <a:xfrm>
            <a:off x="822960" y="1353312"/>
            <a:ext cx="7498080" cy="594360"/>
          </a:xfrm>
          <a:prstGeom prst="rect">
            <a:avLst/>
          </a:prstGeom>
          <a:noFill/>
          <a:ln/>
        </p:spPr>
        <p:txBody>
          <a:bodyPr wrap="square" rtlCol="0" anchor="ctr"/>
          <a:lstStyle/>
          <a:p>
            <a:pPr algn="ctr" indent="0" marL="0">
              <a:buNone/>
            </a:pPr>
            <a:r>
              <a:rPr lang="en-US" sz="1400" i="1" dirty="0">
                <a:solidFill>
                  <a:srgbClr val="F0F2F8"/>
                </a:solidFill>
                <a:latin typeface="Cambria" pitchFamily="34" charset="0"/>
                <a:ea typeface="Cambria" pitchFamily="34" charset="-122"/>
                <a:cs typeface="Cambria" pitchFamily="34" charset="-120"/>
              </a:rPr>
              <a:t>I can see the object, but I can't tell what it means, and I can't get to the label tool from in here. Can you observe it carefully for me?</a:t>
            </a:r>
            <a:endParaRPr lang="en-US" sz="1400" dirty="0"/>
          </a:p>
        </p:txBody>
      </p:sp>
      <p:sp>
        <p:nvSpPr>
          <p:cNvPr id="9" name="Text 6"/>
          <p:cNvSpPr/>
          <p:nvPr/>
        </p:nvSpPr>
        <p:spPr>
          <a:xfrm>
            <a:off x="822960" y="2011680"/>
            <a:ext cx="7498080" cy="640080"/>
          </a:xfrm>
          <a:prstGeom prst="rect">
            <a:avLst/>
          </a:prstGeom>
          <a:noFill/>
          <a:ln/>
        </p:spPr>
        <p:txBody>
          <a:bodyPr wrap="square" rtlCol="0" anchor="ctr"/>
          <a:lstStyle/>
          <a:p>
            <a:pPr algn="ctr" indent="0" marL="0">
              <a:buNone/>
            </a:pPr>
            <a:r>
              <a:rPr lang="en-US" sz="1400" b="1" dirty="0">
                <a:solidFill>
                  <a:srgbClr val="D4943A"/>
                </a:solidFill>
                <a:latin typeface="Cambria" pitchFamily="34" charset="0"/>
                <a:ea typeface="Cambria" pitchFamily="34" charset="-122"/>
                <a:cs typeface="Cambria" pitchFamily="34" charset="-120"/>
              </a:rPr>
              <a:t>Look at what's really there before you start guessing. I'm counting on you to help figure out what this artifact can teach us about Florida's first peoples.</a:t>
            </a:r>
            <a:endParaRPr lang="en-US" sz="1400" dirty="0"/>
          </a:p>
        </p:txBody>
      </p:sp>
      <p:sp>
        <p:nvSpPr>
          <p:cNvPr id="10" name="Text 7"/>
          <p:cNvSpPr/>
          <p:nvPr/>
        </p:nvSpPr>
        <p:spPr>
          <a:xfrm>
            <a:off x="822960" y="2743200"/>
            <a:ext cx="7498080" cy="548640"/>
          </a:xfrm>
          <a:prstGeom prst="rect">
            <a:avLst/>
          </a:prstGeom>
          <a:noFill/>
          <a:ln/>
        </p:spPr>
        <p:txBody>
          <a:bodyPr wrap="square" rtlCol="0" anchor="ctr"/>
          <a:lstStyle/>
          <a:p>
            <a:pPr algn="ctr" indent="0" marL="0">
              <a:buNone/>
            </a:pPr>
            <a:r>
              <a:rPr lang="en-US" sz="1300" i="1" dirty="0">
                <a:solidFill>
                  <a:srgbClr val="F0F2F8"/>
                </a:solidFill>
                <a:latin typeface="Calibri" pitchFamily="34" charset="0"/>
                <a:ea typeface="Calibri" pitchFamily="34" charset="-122"/>
                <a:cs typeface="Calibri" pitchFamily="34" charset="-120"/>
              </a:rPr>
              <a:t>This object was buried in the wet muck of an island called Key Marco for hundreds of years before an archaeologist found it in 1896.</a:t>
            </a:r>
            <a:endParaRPr lang="en-US" sz="1300" dirty="0"/>
          </a:p>
        </p:txBody>
      </p:sp>
      <p:sp>
        <p:nvSpPr>
          <p:cNvPr id="11" name="Text 8"/>
          <p:cNvSpPr/>
          <p:nvPr/>
        </p:nvSpPr>
        <p:spPr>
          <a:xfrm>
            <a:off x="822960" y="3383280"/>
            <a:ext cx="7498080" cy="320040"/>
          </a:xfrm>
          <a:prstGeom prst="rect">
            <a:avLst/>
          </a:prstGeom>
          <a:noFill/>
          <a:ln/>
        </p:spPr>
        <p:txBody>
          <a:bodyPr wrap="square" rtlCol="0" anchor="ctr"/>
          <a:lstStyle/>
          <a:p>
            <a:pPr algn="ctr" indent="0" marL="0">
              <a:buNone/>
            </a:pPr>
            <a:r>
              <a:rPr lang="en-US" sz="1200" i="1" dirty="0">
                <a:solidFill>
                  <a:srgbClr val="7A88A8"/>
                </a:solidFill>
                <a:latin typeface="Calibri" pitchFamily="34" charset="0"/>
                <a:ea typeface="Calibri" pitchFamily="34" charset="-122"/>
                <a:cs typeface="Calibri" pitchFamily="34" charset="-120"/>
              </a:rPr>
              <a:t>— Your teacher, still somewhere inside Module 3 · Episode 3 of 13</a:t>
            </a:r>
            <a:endParaRPr lang="en-US" sz="1200" dirty="0"/>
          </a:p>
        </p:txBody>
      </p:sp>
      <p:sp>
        <p:nvSpPr>
          <p:cNvPr id="12" name="Text 9"/>
          <p:cNvSpPr/>
          <p:nvPr/>
        </p:nvSpPr>
        <p:spPr>
          <a:xfrm>
            <a:off x="822960" y="3794760"/>
            <a:ext cx="7498080" cy="320040"/>
          </a:xfrm>
          <a:prstGeom prst="rect">
            <a:avLst/>
          </a:prstGeom>
          <a:noFill/>
          <a:ln/>
        </p:spPr>
        <p:txBody>
          <a:bodyPr wrap="square" rtlCol="0" anchor="ctr"/>
          <a:lstStyle/>
          <a:p>
            <a:pPr algn="ctr" indent="0" marL="0">
              <a:buNone/>
            </a:pPr>
            <a:r>
              <a:rPr lang="en-US" sz="1300" b="1" dirty="0">
                <a:solidFill>
                  <a:srgbClr val="55C8E8"/>
                </a:solidFill>
                <a:latin typeface="Calibri" pitchFamily="34" charset="0"/>
                <a:ea typeface="Calibri" pitchFamily="34" charset="-122"/>
                <a:cs typeface="Calibri" pitchFamily="34" charset="-120"/>
              </a:rPr>
              <a:t>Your role: Florida Historian · Student Research Team</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228600"/>
            <a:ext cx="8412480" cy="320040"/>
          </a:xfrm>
          <a:prstGeom prst="rect">
            <a:avLst/>
          </a:prstGeom>
          <a:noFill/>
          <a:ln/>
        </p:spPr>
        <p:txBody>
          <a:bodyPr wrap="square" rtlCol="0" anchor="ctr"/>
          <a:lstStyle/>
          <a:p>
            <a:pPr indent="0" marL="0">
              <a:buNone/>
            </a:pPr>
            <a:r>
              <a:rPr lang="en-US" sz="1100" b="1" spc="200" kern="0" dirty="0">
                <a:solidFill>
                  <a:srgbClr val="7A88A8"/>
                </a:solidFill>
                <a:latin typeface="Calibri" pitchFamily="34" charset="0"/>
                <a:ea typeface="Calibri" pitchFamily="34" charset="-122"/>
                <a:cs typeface="Calibri" pitchFamily="34" charset="-120"/>
              </a:rPr>
              <a:t>TODAY'S PATH</a:t>
            </a:r>
            <a:endParaRPr lang="en-US" sz="1100" dirty="0"/>
          </a:p>
        </p:txBody>
      </p:sp>
      <p:sp>
        <p:nvSpPr>
          <p:cNvPr id="4" name="Text 2"/>
          <p:cNvSpPr/>
          <p:nvPr/>
        </p:nvSpPr>
        <p:spPr>
          <a:xfrm>
            <a:off x="365760" y="548640"/>
            <a:ext cx="8412480" cy="59436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Reading an Artifact: From Seeing to Knowing</a:t>
            </a:r>
            <a:endParaRPr lang="en-US" sz="2400" dirty="0"/>
          </a:p>
        </p:txBody>
      </p:sp>
      <p:sp>
        <p:nvSpPr>
          <p:cNvPr id="5" name="Shape 3"/>
          <p:cNvSpPr/>
          <p:nvPr/>
        </p:nvSpPr>
        <p:spPr>
          <a:xfrm>
            <a:off x="365760" y="1261872"/>
            <a:ext cx="457200" cy="457200"/>
          </a:xfrm>
          <a:prstGeom prst="roundRect">
            <a:avLst>
              <a:gd name="adj" fmla="val 20000"/>
            </a:avLst>
          </a:prstGeom>
          <a:solidFill>
            <a:srgbClr val="8B6FC0"/>
          </a:solidFill>
          <a:ln w="12700">
            <a:solidFill>
              <a:srgbClr val="8B6FC0"/>
            </a:solidFill>
            <a:prstDash val="solid"/>
          </a:ln>
        </p:spPr>
      </p:sp>
      <p:sp>
        <p:nvSpPr>
          <p:cNvPr id="6" name="Text 4"/>
          <p:cNvSpPr/>
          <p:nvPr/>
        </p:nvSpPr>
        <p:spPr>
          <a:xfrm>
            <a:off x="365760" y="1307592"/>
            <a:ext cx="457200" cy="36576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960120" y="1280160"/>
            <a:ext cx="3657600" cy="228600"/>
          </a:xfrm>
          <a:prstGeom prst="rect">
            <a:avLst/>
          </a:prstGeom>
          <a:noFill/>
          <a:ln/>
        </p:spPr>
        <p:txBody>
          <a:bodyPr wrap="square"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Artifact Tray — First Look</a:t>
            </a:r>
            <a:endParaRPr lang="en-US" sz="1400" dirty="0"/>
          </a:p>
        </p:txBody>
      </p:sp>
      <p:sp>
        <p:nvSpPr>
          <p:cNvPr id="8" name="Text 6"/>
          <p:cNvSpPr/>
          <p:nvPr/>
        </p:nvSpPr>
        <p:spPr>
          <a:xfrm>
            <a:off x="960120" y="1508760"/>
            <a:ext cx="7498080" cy="201168"/>
          </a:xfrm>
          <a:prstGeom prst="rect">
            <a:avLst/>
          </a:prstGeom>
          <a:noFill/>
          <a:ln/>
        </p:spPr>
        <p:txBody>
          <a:bodyPr wrap="square" rtlCol="0" anchor="ctr"/>
          <a:lstStyle/>
          <a:p>
            <a:pPr indent="0" marL="0">
              <a:buNone/>
            </a:pPr>
            <a:r>
              <a:rPr lang="en-US" sz="1100" dirty="0">
                <a:solidFill>
                  <a:srgbClr val="7A88A8"/>
                </a:solidFill>
                <a:latin typeface="Calibri" pitchFamily="34" charset="0"/>
                <a:ea typeface="Calibri" pitchFamily="34" charset="-122"/>
                <a:cs typeface="Calibri" pitchFamily="34" charset="-120"/>
              </a:rPr>
              <a:t>Observe before you infer: what do you actually see?</a:t>
            </a:r>
            <a:endParaRPr lang="en-US" sz="1100" dirty="0"/>
          </a:p>
        </p:txBody>
      </p:sp>
      <p:sp>
        <p:nvSpPr>
          <p:cNvPr id="9" name="Shape 7"/>
          <p:cNvSpPr/>
          <p:nvPr/>
        </p:nvSpPr>
        <p:spPr>
          <a:xfrm>
            <a:off x="365760" y="1920240"/>
            <a:ext cx="457200" cy="457200"/>
          </a:xfrm>
          <a:prstGeom prst="roundRect">
            <a:avLst>
              <a:gd name="adj" fmla="val 20000"/>
            </a:avLst>
          </a:prstGeom>
          <a:solidFill>
            <a:srgbClr val="8B6FC0"/>
          </a:solidFill>
          <a:ln w="12700">
            <a:solidFill>
              <a:srgbClr val="8B6FC0"/>
            </a:solidFill>
            <a:prstDash val="solid"/>
          </a:ln>
        </p:spPr>
      </p:sp>
      <p:sp>
        <p:nvSpPr>
          <p:cNvPr id="10" name="Text 8"/>
          <p:cNvSpPr/>
          <p:nvPr/>
        </p:nvSpPr>
        <p:spPr>
          <a:xfrm>
            <a:off x="365760" y="1965960"/>
            <a:ext cx="457200" cy="36576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960120" y="1938528"/>
            <a:ext cx="3657600" cy="228600"/>
          </a:xfrm>
          <a:prstGeom prst="rect">
            <a:avLst/>
          </a:prstGeom>
          <a:noFill/>
          <a:ln/>
        </p:spPr>
        <p:txBody>
          <a:bodyPr wrap="square"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What Is an Artifact? Why Does It Matter?</a:t>
            </a:r>
            <a:endParaRPr lang="en-US" sz="1400" dirty="0"/>
          </a:p>
        </p:txBody>
      </p:sp>
      <p:sp>
        <p:nvSpPr>
          <p:cNvPr id="12" name="Text 10"/>
          <p:cNvSpPr/>
          <p:nvPr/>
        </p:nvSpPr>
        <p:spPr>
          <a:xfrm>
            <a:off x="960120" y="2167128"/>
            <a:ext cx="7498080" cy="201168"/>
          </a:xfrm>
          <a:prstGeom prst="rect">
            <a:avLst/>
          </a:prstGeom>
          <a:noFill/>
          <a:ln/>
        </p:spPr>
        <p:txBody>
          <a:bodyPr wrap="square" rtlCol="0" anchor="ctr"/>
          <a:lstStyle/>
          <a:p>
            <a:pPr indent="0" marL="0">
              <a:buNone/>
            </a:pPr>
            <a:r>
              <a:rPr lang="en-US" sz="1100" dirty="0">
                <a:solidFill>
                  <a:srgbClr val="7A88A8"/>
                </a:solidFill>
                <a:latin typeface="Calibri" pitchFamily="34" charset="0"/>
                <a:ea typeface="Calibri" pitchFamily="34" charset="-122"/>
                <a:cs typeface="Calibri" pitchFamily="34" charset="-120"/>
              </a:rPr>
              <a:t>Objects as the voice of peoples without written records</a:t>
            </a:r>
            <a:endParaRPr lang="en-US" sz="1100" dirty="0"/>
          </a:p>
        </p:txBody>
      </p:sp>
      <p:sp>
        <p:nvSpPr>
          <p:cNvPr id="13" name="Shape 11"/>
          <p:cNvSpPr/>
          <p:nvPr/>
        </p:nvSpPr>
        <p:spPr>
          <a:xfrm>
            <a:off x="365760" y="2578608"/>
            <a:ext cx="457200" cy="457200"/>
          </a:xfrm>
          <a:prstGeom prst="roundRect">
            <a:avLst>
              <a:gd name="adj" fmla="val 20000"/>
            </a:avLst>
          </a:prstGeom>
          <a:solidFill>
            <a:srgbClr val="8B6FC0"/>
          </a:solidFill>
          <a:ln w="12700">
            <a:solidFill>
              <a:srgbClr val="8B6FC0"/>
            </a:solidFill>
            <a:prstDash val="solid"/>
          </a:ln>
        </p:spPr>
      </p:sp>
      <p:sp>
        <p:nvSpPr>
          <p:cNvPr id="14" name="Text 12"/>
          <p:cNvSpPr/>
          <p:nvPr/>
        </p:nvSpPr>
        <p:spPr>
          <a:xfrm>
            <a:off x="365760" y="2624328"/>
            <a:ext cx="457200" cy="36576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3"/>
          <p:cNvSpPr/>
          <p:nvPr/>
        </p:nvSpPr>
        <p:spPr>
          <a:xfrm>
            <a:off x="960120" y="2596896"/>
            <a:ext cx="3657600" cy="228600"/>
          </a:xfrm>
          <a:prstGeom prst="rect">
            <a:avLst/>
          </a:prstGeom>
          <a:noFill/>
          <a:ln/>
        </p:spPr>
        <p:txBody>
          <a:bodyPr wrap="square"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The Key Marco Cat — Source Study</a:t>
            </a:r>
            <a:endParaRPr lang="en-US" sz="1400" dirty="0"/>
          </a:p>
        </p:txBody>
      </p:sp>
      <p:sp>
        <p:nvSpPr>
          <p:cNvPr id="16" name="Text 14"/>
          <p:cNvSpPr/>
          <p:nvPr/>
        </p:nvSpPr>
        <p:spPr>
          <a:xfrm>
            <a:off x="960120" y="2825496"/>
            <a:ext cx="7498080" cy="201168"/>
          </a:xfrm>
          <a:prstGeom prst="rect">
            <a:avLst/>
          </a:prstGeom>
          <a:noFill/>
          <a:ln/>
        </p:spPr>
        <p:txBody>
          <a:bodyPr wrap="square" rtlCol="0" anchor="ctr"/>
          <a:lstStyle/>
          <a:p>
            <a:pPr indent="0" marL="0">
              <a:buNone/>
            </a:pPr>
            <a:r>
              <a:rPr lang="en-US" sz="1100" dirty="0">
                <a:solidFill>
                  <a:srgbClr val="7A88A8"/>
                </a:solidFill>
                <a:latin typeface="Calibri" pitchFamily="34" charset="0"/>
                <a:ea typeface="Calibri" pitchFamily="34" charset="-122"/>
                <a:cs typeface="Calibri" pitchFamily="34" charset="-120"/>
              </a:rPr>
              <a:t>Observation, inference, and the two-move method</a:t>
            </a:r>
            <a:endParaRPr lang="en-US" sz="1100" dirty="0"/>
          </a:p>
        </p:txBody>
      </p:sp>
      <p:sp>
        <p:nvSpPr>
          <p:cNvPr id="17" name="Shape 15"/>
          <p:cNvSpPr/>
          <p:nvPr/>
        </p:nvSpPr>
        <p:spPr>
          <a:xfrm>
            <a:off x="365760" y="3236976"/>
            <a:ext cx="457200" cy="457200"/>
          </a:xfrm>
          <a:prstGeom prst="roundRect">
            <a:avLst>
              <a:gd name="adj" fmla="val 20000"/>
            </a:avLst>
          </a:prstGeom>
          <a:solidFill>
            <a:srgbClr val="8B6FC0"/>
          </a:solidFill>
          <a:ln w="12700">
            <a:solidFill>
              <a:srgbClr val="8B6FC0"/>
            </a:solidFill>
            <a:prstDash val="solid"/>
          </a:ln>
        </p:spPr>
      </p:sp>
      <p:sp>
        <p:nvSpPr>
          <p:cNvPr id="18" name="Text 16"/>
          <p:cNvSpPr/>
          <p:nvPr/>
        </p:nvSpPr>
        <p:spPr>
          <a:xfrm>
            <a:off x="365760" y="3282696"/>
            <a:ext cx="457200" cy="36576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9" name="Text 17"/>
          <p:cNvSpPr/>
          <p:nvPr/>
        </p:nvSpPr>
        <p:spPr>
          <a:xfrm>
            <a:off x="960120" y="3255264"/>
            <a:ext cx="3657600" cy="228600"/>
          </a:xfrm>
          <a:prstGeom prst="rect">
            <a:avLst/>
          </a:prstGeom>
          <a:noFill/>
          <a:ln/>
        </p:spPr>
        <p:txBody>
          <a:bodyPr wrap="square"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Compare: Artifact vs. Oral Tradition</a:t>
            </a:r>
            <a:endParaRPr lang="en-US" sz="1400" dirty="0"/>
          </a:p>
        </p:txBody>
      </p:sp>
      <p:sp>
        <p:nvSpPr>
          <p:cNvPr id="20" name="Text 18"/>
          <p:cNvSpPr/>
          <p:nvPr/>
        </p:nvSpPr>
        <p:spPr>
          <a:xfrm>
            <a:off x="960120" y="3483864"/>
            <a:ext cx="7498080" cy="201168"/>
          </a:xfrm>
          <a:prstGeom prst="rect">
            <a:avLst/>
          </a:prstGeom>
          <a:noFill/>
          <a:ln/>
        </p:spPr>
        <p:txBody>
          <a:bodyPr wrap="square" rtlCol="0" anchor="ctr"/>
          <a:lstStyle/>
          <a:p>
            <a:pPr indent="0" marL="0">
              <a:buNone/>
            </a:pPr>
            <a:r>
              <a:rPr lang="en-US" sz="1100" dirty="0">
                <a:solidFill>
                  <a:srgbClr val="7A88A8"/>
                </a:solidFill>
                <a:latin typeface="Calibri" pitchFamily="34" charset="0"/>
                <a:ea typeface="Calibri" pitchFamily="34" charset="-122"/>
                <a:cs typeface="Calibri" pitchFamily="34" charset="-120"/>
              </a:rPr>
              <a:t>Two sources on the same community — what each can do</a:t>
            </a:r>
            <a:endParaRPr lang="en-US" sz="1100" dirty="0"/>
          </a:p>
        </p:txBody>
      </p:sp>
      <p:sp>
        <p:nvSpPr>
          <p:cNvPr id="21" name="Shape 19"/>
          <p:cNvSpPr/>
          <p:nvPr/>
        </p:nvSpPr>
        <p:spPr>
          <a:xfrm>
            <a:off x="365760" y="3895344"/>
            <a:ext cx="457200" cy="457200"/>
          </a:xfrm>
          <a:prstGeom prst="roundRect">
            <a:avLst>
              <a:gd name="adj" fmla="val 20000"/>
            </a:avLst>
          </a:prstGeom>
          <a:solidFill>
            <a:srgbClr val="8B6FC0"/>
          </a:solidFill>
          <a:ln w="12700">
            <a:solidFill>
              <a:srgbClr val="8B6FC0"/>
            </a:solidFill>
            <a:prstDash val="solid"/>
          </a:ln>
        </p:spPr>
      </p:sp>
      <p:sp>
        <p:nvSpPr>
          <p:cNvPr id="22" name="Text 20"/>
          <p:cNvSpPr/>
          <p:nvPr/>
        </p:nvSpPr>
        <p:spPr>
          <a:xfrm>
            <a:off x="365760" y="3941064"/>
            <a:ext cx="457200" cy="36576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3" name="Text 21"/>
          <p:cNvSpPr/>
          <p:nvPr/>
        </p:nvSpPr>
        <p:spPr>
          <a:xfrm>
            <a:off x="960120" y="3913632"/>
            <a:ext cx="3657600" cy="228600"/>
          </a:xfrm>
          <a:prstGeom prst="rect">
            <a:avLst/>
          </a:prstGeom>
          <a:noFill/>
          <a:ln/>
        </p:spPr>
        <p:txBody>
          <a:bodyPr wrap="square"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Guided Practice + Assignment</a:t>
            </a:r>
            <a:endParaRPr lang="en-US" sz="1400" dirty="0"/>
          </a:p>
        </p:txBody>
      </p:sp>
      <p:sp>
        <p:nvSpPr>
          <p:cNvPr id="24" name="Text 22"/>
          <p:cNvSpPr/>
          <p:nvPr/>
        </p:nvSpPr>
        <p:spPr>
          <a:xfrm>
            <a:off x="960120" y="4142232"/>
            <a:ext cx="7498080" cy="201168"/>
          </a:xfrm>
          <a:prstGeom prst="rect">
            <a:avLst/>
          </a:prstGeom>
          <a:noFill/>
          <a:ln/>
        </p:spPr>
        <p:txBody>
          <a:bodyPr wrap="square" rtlCol="0" anchor="ctr"/>
          <a:lstStyle/>
          <a:p>
            <a:pPr indent="0" marL="0">
              <a:buNone/>
            </a:pPr>
            <a:r>
              <a:rPr lang="en-US" sz="1100" dirty="0">
                <a:solidFill>
                  <a:srgbClr val="7A88A8"/>
                </a:solidFill>
                <a:latin typeface="Calibri" pitchFamily="34" charset="0"/>
                <a:ea typeface="Calibri" pitchFamily="34" charset="-122"/>
                <a:cs typeface="Calibri" pitchFamily="34" charset="-120"/>
              </a:rPr>
              <a:t>Write your honest object label with seeing and guessing separate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182880"/>
            <a:ext cx="5029200" cy="274320"/>
          </a:xfrm>
          <a:prstGeom prst="rect">
            <a:avLst/>
          </a:prstGeom>
          <a:noFill/>
          <a:ln/>
        </p:spPr>
        <p:txBody>
          <a:bodyPr wrap="square"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CLUE BOX — ARTIFACT TRAY</a:t>
            </a:r>
            <a:endParaRPr lang="en-US" sz="1000" dirty="0"/>
          </a:p>
        </p:txBody>
      </p:sp>
      <p:sp>
        <p:nvSpPr>
          <p:cNvPr id="4" name="Text 2"/>
          <p:cNvSpPr/>
          <p:nvPr/>
        </p:nvSpPr>
        <p:spPr>
          <a:xfrm>
            <a:off x="365760" y="457200"/>
            <a:ext cx="5029200" cy="50292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Look. Don't Label Yet.</a:t>
            </a:r>
            <a:endParaRPr lang="en-US" sz="2200" dirty="0"/>
          </a:p>
        </p:txBody>
      </p:sp>
      <p:sp>
        <p:nvSpPr>
          <p:cNvPr id="5" name="Shape 3"/>
          <p:cNvSpPr/>
          <p:nvPr/>
        </p:nvSpPr>
        <p:spPr>
          <a:xfrm>
            <a:off x="365760" y="1051560"/>
            <a:ext cx="4754880" cy="3474720"/>
          </a:xfrm>
          <a:prstGeom prst="roundRect">
            <a:avLst>
              <a:gd name="adj" fmla="val 3158"/>
            </a:avLst>
          </a:prstGeom>
          <a:solidFill>
            <a:srgbClr val="E2E8F4"/>
          </a:solidFill>
          <a:ln w="19050">
            <a:solidFill>
              <a:srgbClr val="B0B8CC"/>
            </a:solidFill>
            <a:prstDash val="dash"/>
          </a:ln>
        </p:spPr>
      </p:sp>
      <p:sp>
        <p:nvSpPr>
          <p:cNvPr id="6" name="Text 4"/>
          <p:cNvSpPr/>
          <p:nvPr/>
        </p:nvSpPr>
        <p:spPr>
          <a:xfrm>
            <a:off x="365760" y="1051560"/>
            <a:ext cx="47548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1325880"/>
            <a:ext cx="4480560" cy="31089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Museum-style flat-lay photograph of a small artifact tray: pottery shards (reddish-brown clay), a shell tool or scraper, a piece of woven palmetto fiber, and a paper source tag with handwriting. Clean background. Archaeological context. No human figures.</a:t>
            </a:r>
            <a:endParaRPr lang="en-US" sz="1100" dirty="0"/>
          </a:p>
        </p:txBody>
      </p:sp>
      <p:sp>
        <p:nvSpPr>
          <p:cNvPr id="8" name="Text 6"/>
          <p:cNvSpPr/>
          <p:nvPr/>
        </p:nvSpPr>
        <p:spPr>
          <a:xfrm>
            <a:off x="365760" y="4572000"/>
            <a:ext cx="4754880" cy="256032"/>
          </a:xfrm>
          <a:prstGeom prst="rect">
            <a:avLst/>
          </a:prstGeom>
          <a:noFill/>
          <a:ln/>
        </p:spPr>
        <p:txBody>
          <a:bodyPr wrap="square" rtlCol="0" anchor="ctr"/>
          <a:lstStyle/>
          <a:p>
            <a:pPr algn="ctr" indent="0" marL="0">
              <a:buNone/>
            </a:pPr>
            <a:r>
              <a:rPr lang="en-US" sz="1200" b="1" dirty="0">
                <a:solidFill>
                  <a:srgbClr val="0E1C42"/>
                </a:solidFill>
                <a:latin typeface="Calibri" pitchFamily="34" charset="0"/>
                <a:ea typeface="Calibri" pitchFamily="34" charset="-122"/>
                <a:cs typeface="Calibri" pitchFamily="34" charset="-120"/>
              </a:rPr>
              <a:t>5 seconds — observe. Do NOT explain yet.</a:t>
            </a:r>
            <a:endParaRPr lang="en-US" sz="1200" dirty="0"/>
          </a:p>
        </p:txBody>
      </p:sp>
      <p:sp>
        <p:nvSpPr>
          <p:cNvPr id="9" name="Shape 7"/>
          <p:cNvSpPr/>
          <p:nvPr/>
        </p:nvSpPr>
        <p:spPr>
          <a:xfrm>
            <a:off x="5303520" y="1051560"/>
            <a:ext cx="3520440" cy="1920240"/>
          </a:xfrm>
          <a:prstGeom prst="roundRect">
            <a:avLst>
              <a:gd name="adj" fmla="val 5714"/>
            </a:avLst>
          </a:prstGeom>
          <a:solidFill>
            <a:srgbClr val="FFF3DC"/>
          </a:solidFill>
          <a:ln w="19050">
            <a:solidFill>
              <a:srgbClr val="F5E6C8"/>
            </a:solidFill>
            <a:prstDash val="solid"/>
          </a:ln>
        </p:spPr>
      </p:sp>
      <p:sp>
        <p:nvSpPr>
          <p:cNvPr id="10" name="Text 8"/>
          <p:cNvSpPr/>
          <p:nvPr/>
        </p:nvSpPr>
        <p:spPr>
          <a:xfrm>
            <a:off x="5440680" y="1106424"/>
            <a:ext cx="32461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5440680" y="1307592"/>
            <a:ext cx="3246120" cy="16002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see... [describe exactly what is there]"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material I notice is... and it might have come from..."</a:t>
            </a:r>
            <a:endParaRPr lang="en-US" sz="1200" dirty="0"/>
          </a:p>
        </p:txBody>
      </p:sp>
      <p:sp>
        <p:nvSpPr>
          <p:cNvPr id="12" name="Shape 10"/>
          <p:cNvSpPr/>
          <p:nvPr/>
        </p:nvSpPr>
        <p:spPr>
          <a:xfrm>
            <a:off x="5303520" y="3108960"/>
            <a:ext cx="3520440" cy="1737360"/>
          </a:xfrm>
          <a:prstGeom prst="roundRect">
            <a:avLst>
              <a:gd name="adj" fmla="val 6316"/>
            </a:avLst>
          </a:prstGeom>
          <a:solidFill>
            <a:srgbClr val="FFFFFF"/>
          </a:solidFill>
          <a:ln w="12700">
            <a:solidFill>
              <a:srgbClr val="8B6FC0"/>
            </a:solidFill>
            <a:prstDash val="solid"/>
          </a:ln>
        </p:spPr>
      </p:sp>
      <p:sp>
        <p:nvSpPr>
          <p:cNvPr id="13" name="Text 11"/>
          <p:cNvSpPr/>
          <p:nvPr/>
        </p:nvSpPr>
        <p:spPr>
          <a:xfrm>
            <a:off x="5486400" y="3200400"/>
            <a:ext cx="3154680" cy="274320"/>
          </a:xfrm>
          <a:prstGeom prst="rect">
            <a:avLst/>
          </a:prstGeom>
          <a:noFill/>
          <a:ln/>
        </p:spPr>
        <p:txBody>
          <a:bodyPr wrap="square" rtlCol="0" anchor="ctr"/>
          <a:lstStyle/>
          <a:p>
            <a:pPr indent="0" marL="0">
              <a:buNone/>
            </a:pPr>
            <a:r>
              <a:rPr lang="en-US" sz="900" b="1" spc="120" kern="0" dirty="0">
                <a:solidFill>
                  <a:srgbClr val="8B6FC0"/>
                </a:solidFill>
                <a:latin typeface="Calibri" pitchFamily="34" charset="0"/>
                <a:ea typeface="Calibri" pitchFamily="34" charset="-122"/>
                <a:cs typeface="Calibri" pitchFamily="34" charset="-120"/>
              </a:rPr>
              <a:t>TWO MOVES — REMEMBER THEM</a:t>
            </a:r>
            <a:endParaRPr lang="en-US" sz="900" dirty="0"/>
          </a:p>
        </p:txBody>
      </p:sp>
      <p:sp>
        <p:nvSpPr>
          <p:cNvPr id="14" name="Text 12"/>
          <p:cNvSpPr/>
          <p:nvPr/>
        </p:nvSpPr>
        <p:spPr>
          <a:xfrm>
            <a:off x="5486400" y="3520440"/>
            <a:ext cx="3154680" cy="1234440"/>
          </a:xfrm>
          <a:prstGeom prst="rect">
            <a:avLst/>
          </a:prstGeom>
          <a:noFill/>
          <a:ln/>
        </p:spPr>
        <p:txBody>
          <a:bodyPr wrap="square" rtlCol="0" anchor="t"/>
          <a:lstStyle/>
          <a:p>
            <a:pPr indent="0" marL="0">
              <a:buNone/>
            </a:pPr>
            <a:r>
              <a:rPr lang="en-US" sz="1000" dirty="0">
                <a:solidFill>
                  <a:srgbClr val="0E1C42"/>
                </a:solidFill>
                <a:latin typeface="Calibri" pitchFamily="34" charset="0"/>
                <a:ea typeface="Calibri" pitchFamily="34" charset="-122"/>
                <a:cs typeface="Calibri" pitchFamily="34" charset="-120"/>
              </a:rPr>
              <a:t>OBSERVATION:</a:t>
            </a:r>
            <a:endParaRPr lang="en-US" sz="1000" dirty="0"/>
          </a:p>
          <a:p>
            <a:pPr indent="0" marL="0">
              <a:buNone/>
            </a:pPr>
            <a:r>
              <a:rPr lang="en-US" sz="1000" dirty="0">
                <a:solidFill>
                  <a:srgbClr val="0E1C42"/>
                </a:solidFill>
                <a:latin typeface="Calibri" pitchFamily="34" charset="0"/>
                <a:ea typeface="Calibri" pitchFamily="34" charset="-122"/>
                <a:cs typeface="Calibri" pitchFamily="34" charset="-120"/>
              </a:rPr>
              <a:t>Say what you see. No guessing.</a:t>
            </a:r>
            <a:endParaRPr lang="en-US" sz="1000" dirty="0"/>
          </a:p>
          <a:p>
            <a:pPr indent="0" marL="0">
              <a:buNone/>
            </a:pPr>
            <a:endParaRPr lang="en-US" sz="1000" dirty="0"/>
          </a:p>
          <a:p>
            <a:pPr indent="0" marL="0">
              <a:buNone/>
            </a:pPr>
            <a:r>
              <a:rPr lang="en-US" sz="1000" dirty="0">
                <a:solidFill>
                  <a:srgbClr val="0E1C42"/>
                </a:solidFill>
                <a:latin typeface="Calibri" pitchFamily="34" charset="0"/>
                <a:ea typeface="Calibri" pitchFamily="34" charset="-122"/>
                <a:cs typeface="Calibri" pitchFamily="34" charset="-120"/>
              </a:rPr>
              <a:t>INFERENCE:</a:t>
            </a:r>
            <a:endParaRPr lang="en-US" sz="1000" dirty="0"/>
          </a:p>
          <a:p>
            <a:pPr indent="0" marL="0">
              <a:buNone/>
            </a:pPr>
            <a:r>
              <a:rPr lang="en-US" sz="1000" dirty="0">
                <a:solidFill>
                  <a:srgbClr val="0E1C42"/>
                </a:solidFill>
                <a:latin typeface="Calibri" pitchFamily="34" charset="0"/>
                <a:ea typeface="Calibri" pitchFamily="34" charset="-122"/>
                <a:cs typeface="Calibri" pitchFamily="34" charset="-120"/>
              </a:rPr>
              <a:t>Careful guess from what you see.</a:t>
            </a:r>
            <a:endParaRPr lang="en-US" sz="1000" dirty="0"/>
          </a:p>
          <a:p>
            <a:pPr indent="0" marL="0">
              <a:buNone/>
            </a:pPr>
            <a:r>
              <a:rPr lang="en-US" sz="1000" dirty="0">
                <a:solidFill>
                  <a:srgbClr val="0E1C42"/>
                </a:solidFill>
                <a:latin typeface="Calibri" pitchFamily="34" charset="0"/>
                <a:ea typeface="Calibri" pitchFamily="34" charset="-122"/>
                <a:cs typeface="Calibri" pitchFamily="34" charset="-120"/>
              </a:rPr>
              <a:t>Mark it: 'Maybe...' or 'I think...'</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182880"/>
            <a:ext cx="8412480" cy="274320"/>
          </a:xfrm>
          <a:prstGeom prst="rect">
            <a:avLst/>
          </a:prstGeom>
          <a:noFill/>
          <a:ln/>
        </p:spPr>
        <p:txBody>
          <a:bodyPr wrap="square"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DISCUSSION — TWO MOVES</a:t>
            </a:r>
            <a:endParaRPr lang="en-US" sz="1000" dirty="0"/>
          </a:p>
        </p:txBody>
      </p:sp>
      <p:sp>
        <p:nvSpPr>
          <p:cNvPr id="4" name="Text 2"/>
          <p:cNvSpPr/>
          <p:nvPr/>
        </p:nvSpPr>
        <p:spPr>
          <a:xfrm>
            <a:off x="365760" y="457200"/>
            <a:ext cx="8412480" cy="54864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What Are You Actually Doing When You Describe?</a:t>
            </a:r>
            <a:endParaRPr lang="en-US" sz="2200" dirty="0"/>
          </a:p>
        </p:txBody>
      </p:sp>
      <p:sp>
        <p:nvSpPr>
          <p:cNvPr id="5" name="Shape 3"/>
          <p:cNvSpPr/>
          <p:nvPr/>
        </p:nvSpPr>
        <p:spPr>
          <a:xfrm>
            <a:off x="365760" y="1143000"/>
            <a:ext cx="5120640" cy="3566160"/>
          </a:xfrm>
          <a:prstGeom prst="roundRect">
            <a:avLst>
              <a:gd name="adj" fmla="val 3846"/>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548640" y="1234440"/>
            <a:ext cx="475488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548640" y="1490472"/>
            <a:ext cx="4754880" cy="312724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 say: 'It looks like a weapon.' Is that an observation or an inference — and how do you know?</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Can you have an inference without an observation first? Try to construct one — is it solid?</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two historians look at the same object and reach different inferences, are they both wrong?</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does it matter to keep observations and inferences separate in a label or report?</a:t>
            </a:r>
            <a:endParaRPr lang="en-US" sz="1100" dirty="0"/>
          </a:p>
        </p:txBody>
      </p:sp>
      <p:sp>
        <p:nvSpPr>
          <p:cNvPr id="8" name="Shape 6"/>
          <p:cNvSpPr/>
          <p:nvPr/>
        </p:nvSpPr>
        <p:spPr>
          <a:xfrm>
            <a:off x="5669280" y="1143000"/>
            <a:ext cx="3200400" cy="2286000"/>
          </a:xfrm>
          <a:prstGeom prst="roundRect">
            <a:avLst>
              <a:gd name="adj" fmla="val 4800"/>
            </a:avLst>
          </a:prstGeom>
          <a:solidFill>
            <a:srgbClr val="FFF3DC"/>
          </a:solidFill>
          <a:ln w="19050">
            <a:solidFill>
              <a:srgbClr val="F5E6C8"/>
            </a:solidFill>
            <a:prstDash val="solid"/>
          </a:ln>
        </p:spPr>
      </p:sp>
      <p:sp>
        <p:nvSpPr>
          <p:cNvPr id="9" name="Text 7"/>
          <p:cNvSpPr/>
          <p:nvPr/>
        </p:nvSpPr>
        <p:spPr>
          <a:xfrm>
            <a:off x="5806440" y="1197864"/>
            <a:ext cx="29260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5806440" y="1399032"/>
            <a:ext cx="2926080" cy="19659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"That sentence is an inference because... the observation behind it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"Keeping them separate matters because..."</a:t>
            </a:r>
            <a:endParaRPr lang="en-US" sz="1200" dirty="0"/>
          </a:p>
        </p:txBody>
      </p:sp>
      <p:sp>
        <p:nvSpPr>
          <p:cNvPr id="11" name="Shape 9"/>
          <p:cNvSpPr/>
          <p:nvPr/>
        </p:nvSpPr>
        <p:spPr>
          <a:xfrm>
            <a:off x="5669280" y="3566160"/>
            <a:ext cx="3200400" cy="1188720"/>
          </a:xfrm>
          <a:prstGeom prst="roundRect">
            <a:avLst>
              <a:gd name="adj" fmla="val 7692"/>
            </a:avLst>
          </a:prstGeom>
          <a:solidFill>
            <a:srgbClr val="FFFFFF"/>
          </a:solidFill>
          <a:ln w="12700">
            <a:solidFill>
              <a:srgbClr val="8B6FC0"/>
            </a:solidFill>
            <a:prstDash val="solid"/>
          </a:ln>
        </p:spPr>
      </p:sp>
      <p:sp>
        <p:nvSpPr>
          <p:cNvPr id="12" name="Text 10"/>
          <p:cNvSpPr/>
          <p:nvPr/>
        </p:nvSpPr>
        <p:spPr>
          <a:xfrm>
            <a:off x="5852160" y="3657600"/>
            <a:ext cx="2834640" cy="228600"/>
          </a:xfrm>
          <a:prstGeom prst="rect">
            <a:avLst/>
          </a:prstGeom>
          <a:noFill/>
          <a:ln/>
        </p:spPr>
        <p:txBody>
          <a:bodyPr wrap="square"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TEST ANY SENTENCE:</a:t>
            </a:r>
            <a:endParaRPr lang="en-US" sz="900" dirty="0"/>
          </a:p>
        </p:txBody>
      </p:sp>
      <p:sp>
        <p:nvSpPr>
          <p:cNvPr id="13" name="Text 11"/>
          <p:cNvSpPr/>
          <p:nvPr/>
        </p:nvSpPr>
        <p:spPr>
          <a:xfrm>
            <a:off x="5852160" y="3931920"/>
            <a:ext cx="2834640" cy="731520"/>
          </a:xfrm>
          <a:prstGeom prst="rect">
            <a:avLst/>
          </a:prstGeom>
          <a:noFill/>
          <a:ln/>
        </p:spPr>
        <p:txBody>
          <a:bodyPr wrap="square" rtlCol="0" anchor="t"/>
          <a:lstStyle/>
          <a:p>
            <a:pPr indent="0" marL="0">
              <a:buNone/>
            </a:pPr>
            <a:r>
              <a:rPr lang="en-US" sz="1000" i="1" dirty="0">
                <a:solidFill>
                  <a:srgbClr val="0E1C42"/>
                </a:solidFill>
                <a:latin typeface="Calibri" pitchFamily="34" charset="0"/>
                <a:ea typeface="Calibri" pitchFamily="34" charset="-122"/>
                <a:cs typeface="Calibri" pitchFamily="34" charset="-120"/>
              </a:rPr>
              <a:t>Can I see this directly? = Observation</a:t>
            </a:r>
            <a:endParaRPr lang="en-US" sz="1000" dirty="0"/>
          </a:p>
          <a:p>
            <a:pPr indent="0" marL="0">
              <a:buNone/>
            </a:pPr>
            <a:r>
              <a:rPr lang="en-US" sz="1000" i="1" dirty="0">
                <a:solidFill>
                  <a:srgbClr val="0E1C42"/>
                </a:solidFill>
                <a:latin typeface="Calibri" pitchFamily="34" charset="0"/>
                <a:ea typeface="Calibri" pitchFamily="34" charset="-122"/>
                <a:cs typeface="Calibri" pitchFamily="34" charset="-120"/>
              </a:rPr>
              <a:t>Am I interpreting what I see? = Inference</a:t>
            </a:r>
            <a:endParaRPr lang="en-US" sz="1000" dirty="0"/>
          </a:p>
          <a:p>
            <a:pPr indent="0" marL="0">
              <a:buNone/>
            </a:pPr>
            <a:r>
              <a:rPr lang="en-US" sz="1000" i="1" dirty="0">
                <a:solidFill>
                  <a:srgbClr val="0E1C42"/>
                </a:solidFill>
                <a:latin typeface="Calibri" pitchFamily="34" charset="0"/>
                <a:ea typeface="Calibri" pitchFamily="34" charset="-122"/>
                <a:cs typeface="Calibri" pitchFamily="34" charset="-120"/>
              </a:rPr>
              <a:t>Inference needs 'Maybe' or 'I think.'</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w="12700">
            <a:solidFill>
              <a:srgbClr val="0E1C42"/>
            </a:solidFill>
            <a:prstDash val="solid"/>
          </a:ln>
        </p:spPr>
      </p:sp>
      <p:sp>
        <p:nvSpPr>
          <p:cNvPr id="3" name="Shape 1"/>
          <p:cNvSpPr/>
          <p:nvPr/>
        </p:nvSpPr>
        <p:spPr>
          <a:xfrm>
            <a:off x="0" y="0"/>
            <a:ext cx="9144000" cy="73152"/>
          </a:xfrm>
          <a:prstGeom prst="rect">
            <a:avLst/>
          </a:prstGeom>
          <a:solidFill>
            <a:srgbClr val="8B6FC0"/>
          </a:solidFill>
          <a:ln w="12700">
            <a:solidFill>
              <a:srgbClr val="8B6FC0"/>
            </a:solidFill>
            <a:prstDash val="solid"/>
          </a:ln>
        </p:spPr>
      </p:sp>
      <p:sp>
        <p:nvSpPr>
          <p:cNvPr id="4" name="Text 2"/>
          <p:cNvSpPr/>
          <p:nvPr/>
        </p:nvSpPr>
        <p:spPr>
          <a:xfrm>
            <a:off x="457200" y="182880"/>
            <a:ext cx="8229600" cy="292608"/>
          </a:xfrm>
          <a:prstGeom prst="rect">
            <a:avLst/>
          </a:prstGeom>
          <a:noFill/>
          <a:ln/>
        </p:spPr>
        <p:txBody>
          <a:bodyPr wrap="square" rtlCol="0" anchor="ctr"/>
          <a:lstStyle/>
          <a:p>
            <a:pPr algn="ctr" indent="0" marL="0">
              <a:buNone/>
            </a:pPr>
            <a:r>
              <a:rPr lang="en-US" sz="1100" b="1" spc="200" kern="0" dirty="0">
                <a:solidFill>
                  <a:srgbClr val="8B6FC0"/>
                </a:solidFill>
                <a:latin typeface="Calibri" pitchFamily="34" charset="0"/>
                <a:ea typeface="Calibri" pitchFamily="34" charset="-122"/>
                <a:cs typeface="Calibri" pitchFamily="34" charset="-120"/>
              </a:rPr>
              <a:t>YOU DISCOVERED: THE TWO MOVES</a:t>
            </a:r>
            <a:endParaRPr lang="en-US" sz="1100" dirty="0"/>
          </a:p>
        </p:txBody>
      </p:sp>
      <p:sp>
        <p:nvSpPr>
          <p:cNvPr id="5" name="Text 3"/>
          <p:cNvSpPr/>
          <p:nvPr/>
        </p:nvSpPr>
        <p:spPr>
          <a:xfrm>
            <a:off x="457200" y="530352"/>
            <a:ext cx="8229600" cy="594360"/>
          </a:xfrm>
          <a:prstGeom prst="rect">
            <a:avLst/>
          </a:prstGeom>
          <a:noFill/>
          <a:ln/>
        </p:spPr>
        <p:txBody>
          <a:bodyPr wrap="square" rtlCol="0" anchor="ctr"/>
          <a:lstStyle/>
          <a:p>
            <a:pPr algn="ctr" indent="0" marL="0">
              <a:buNone/>
            </a:pPr>
            <a:r>
              <a:rPr lang="en-US" sz="2500" b="1" dirty="0">
                <a:solidFill>
                  <a:srgbClr val="FFFFFF"/>
                </a:solidFill>
                <a:latin typeface="Cambria" pitchFamily="34" charset="0"/>
                <a:ea typeface="Cambria" pitchFamily="34" charset="-122"/>
                <a:cs typeface="Cambria" pitchFamily="34" charset="-120"/>
              </a:rPr>
              <a:t>Artifacts: When Objects Speak for the Past</a:t>
            </a:r>
            <a:endParaRPr lang="en-US" sz="2500" dirty="0"/>
          </a:p>
        </p:txBody>
      </p:sp>
      <p:sp>
        <p:nvSpPr>
          <p:cNvPr id="6" name="Shape 4"/>
          <p:cNvSpPr/>
          <p:nvPr/>
        </p:nvSpPr>
        <p:spPr>
          <a:xfrm>
            <a:off x="365760" y="1298448"/>
            <a:ext cx="1645920" cy="502920"/>
          </a:xfrm>
          <a:prstGeom prst="roundRect">
            <a:avLst>
              <a:gd name="adj" fmla="val 18182"/>
            </a:avLst>
          </a:prstGeom>
          <a:solidFill>
            <a:srgbClr val="8B6FC0"/>
          </a:solidFill>
          <a:ln w="12700">
            <a:solidFill>
              <a:srgbClr val="8B6FC0"/>
            </a:solidFill>
            <a:prstDash val="solid"/>
          </a:ln>
        </p:spPr>
      </p:sp>
      <p:sp>
        <p:nvSpPr>
          <p:cNvPr id="7" name="Text 5"/>
          <p:cNvSpPr/>
          <p:nvPr/>
        </p:nvSpPr>
        <p:spPr>
          <a:xfrm>
            <a:off x="365760" y="1371600"/>
            <a:ext cx="164592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ARTIFACT</a:t>
            </a:r>
            <a:endParaRPr lang="en-US" sz="1000" dirty="0"/>
          </a:p>
        </p:txBody>
      </p:sp>
      <p:sp>
        <p:nvSpPr>
          <p:cNvPr id="8" name="Text 6"/>
          <p:cNvSpPr/>
          <p:nvPr/>
        </p:nvSpPr>
        <p:spPr>
          <a:xfrm>
            <a:off x="2194560" y="1362456"/>
            <a:ext cx="6583680" cy="530352"/>
          </a:xfrm>
          <a:prstGeom prst="rect">
            <a:avLst/>
          </a:prstGeom>
          <a:noFill/>
          <a:ln/>
        </p:spPr>
        <p:txBody>
          <a:bodyPr wrap="square" rtlCol="0" anchor="ctr"/>
          <a:lstStyle/>
          <a:p>
            <a:pPr indent="0" marL="0">
              <a:buNone/>
            </a:pPr>
            <a:r>
              <a:rPr lang="en-US" sz="1300" dirty="0">
                <a:solidFill>
                  <a:srgbClr val="F0F2F8"/>
                </a:solidFill>
                <a:latin typeface="Calibri" pitchFamily="34" charset="0"/>
                <a:ea typeface="Calibri" pitchFamily="34" charset="-122"/>
                <a:cs typeface="Calibri" pitchFamily="34" charset="-120"/>
              </a:rPr>
              <a:t>Any object made or used by people in the past. A pot, spear point, fishhook, button, basket, wooden carving — all artifacts.</a:t>
            </a:r>
            <a:endParaRPr lang="en-US" sz="1300" dirty="0"/>
          </a:p>
        </p:txBody>
      </p:sp>
      <p:sp>
        <p:nvSpPr>
          <p:cNvPr id="9" name="Shape 7"/>
          <p:cNvSpPr/>
          <p:nvPr/>
        </p:nvSpPr>
        <p:spPr>
          <a:xfrm>
            <a:off x="365760" y="2048256"/>
            <a:ext cx="1645920" cy="502920"/>
          </a:xfrm>
          <a:prstGeom prst="roundRect">
            <a:avLst>
              <a:gd name="adj" fmla="val 18182"/>
            </a:avLst>
          </a:prstGeom>
          <a:solidFill>
            <a:srgbClr val="55C8E8"/>
          </a:solidFill>
          <a:ln w="12700">
            <a:solidFill>
              <a:srgbClr val="55C8E8"/>
            </a:solidFill>
            <a:prstDash val="solid"/>
          </a:ln>
        </p:spPr>
      </p:sp>
      <p:sp>
        <p:nvSpPr>
          <p:cNvPr id="10" name="Text 8"/>
          <p:cNvSpPr/>
          <p:nvPr/>
        </p:nvSpPr>
        <p:spPr>
          <a:xfrm>
            <a:off x="365760" y="2121408"/>
            <a:ext cx="164592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OBSERVATION</a:t>
            </a:r>
            <a:endParaRPr lang="en-US" sz="1000" dirty="0"/>
          </a:p>
        </p:txBody>
      </p:sp>
      <p:sp>
        <p:nvSpPr>
          <p:cNvPr id="11" name="Text 9"/>
          <p:cNvSpPr/>
          <p:nvPr/>
        </p:nvSpPr>
        <p:spPr>
          <a:xfrm>
            <a:off x="2194560" y="2112264"/>
            <a:ext cx="6583680" cy="530352"/>
          </a:xfrm>
          <a:prstGeom prst="rect">
            <a:avLst/>
          </a:prstGeom>
          <a:noFill/>
          <a:ln/>
        </p:spPr>
        <p:txBody>
          <a:bodyPr wrap="square" rtlCol="0" anchor="ctr"/>
          <a:lstStyle/>
          <a:p>
            <a:pPr indent="0" marL="0">
              <a:buNone/>
            </a:pPr>
            <a:r>
              <a:rPr lang="en-US" sz="1300" dirty="0">
                <a:solidFill>
                  <a:srgbClr val="F0F2F8"/>
                </a:solidFill>
                <a:latin typeface="Calibri" pitchFamily="34" charset="0"/>
                <a:ea typeface="Calibri" pitchFamily="34" charset="-122"/>
                <a:cs typeface="Calibri" pitchFamily="34" charset="-120"/>
              </a:rPr>
              <a:t>Saying exactly what you see. 'The figurine is small. It is carved from wood. It has rounded ears.' Just describing.</a:t>
            </a:r>
            <a:endParaRPr lang="en-US" sz="1300" dirty="0"/>
          </a:p>
        </p:txBody>
      </p:sp>
      <p:sp>
        <p:nvSpPr>
          <p:cNvPr id="12" name="Shape 10"/>
          <p:cNvSpPr/>
          <p:nvPr/>
        </p:nvSpPr>
        <p:spPr>
          <a:xfrm>
            <a:off x="365760" y="2798064"/>
            <a:ext cx="1645920" cy="502920"/>
          </a:xfrm>
          <a:prstGeom prst="roundRect">
            <a:avLst>
              <a:gd name="adj" fmla="val 18182"/>
            </a:avLst>
          </a:prstGeom>
          <a:solidFill>
            <a:srgbClr val="D4943A"/>
          </a:solidFill>
          <a:ln w="12700">
            <a:solidFill>
              <a:srgbClr val="D4943A"/>
            </a:solidFill>
            <a:prstDash val="solid"/>
          </a:ln>
        </p:spPr>
      </p:sp>
      <p:sp>
        <p:nvSpPr>
          <p:cNvPr id="13" name="Text 11"/>
          <p:cNvSpPr/>
          <p:nvPr/>
        </p:nvSpPr>
        <p:spPr>
          <a:xfrm>
            <a:off x="365760" y="2871216"/>
            <a:ext cx="164592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INFERENCE</a:t>
            </a:r>
            <a:endParaRPr lang="en-US" sz="1000" dirty="0"/>
          </a:p>
        </p:txBody>
      </p:sp>
      <p:sp>
        <p:nvSpPr>
          <p:cNvPr id="14" name="Text 12"/>
          <p:cNvSpPr/>
          <p:nvPr/>
        </p:nvSpPr>
        <p:spPr>
          <a:xfrm>
            <a:off x="2194560" y="2862072"/>
            <a:ext cx="6583680" cy="530352"/>
          </a:xfrm>
          <a:prstGeom prst="rect">
            <a:avLst/>
          </a:prstGeom>
          <a:noFill/>
          <a:ln/>
        </p:spPr>
        <p:txBody>
          <a:bodyPr wrap="square" rtlCol="0" anchor="ctr"/>
          <a:lstStyle/>
          <a:p>
            <a:pPr indent="0" marL="0">
              <a:buNone/>
            </a:pPr>
            <a:r>
              <a:rPr lang="en-US" sz="1300" dirty="0">
                <a:solidFill>
                  <a:srgbClr val="F0F2F8"/>
                </a:solidFill>
                <a:latin typeface="Calibri" pitchFamily="34" charset="0"/>
                <a:ea typeface="Calibri" pitchFamily="34" charset="-122"/>
                <a:cs typeface="Calibri" pitchFamily="34" charset="-120"/>
              </a:rPr>
              <a:t>A careful guess about what your observation means. 'Maybe it represents a panther.' Must be marked as a guess.</a:t>
            </a:r>
            <a:endParaRPr lang="en-US" sz="1300" dirty="0"/>
          </a:p>
        </p:txBody>
      </p:sp>
      <p:sp>
        <p:nvSpPr>
          <p:cNvPr id="15" name="Shape 13"/>
          <p:cNvSpPr/>
          <p:nvPr/>
        </p:nvSpPr>
        <p:spPr>
          <a:xfrm>
            <a:off x="365760" y="3547872"/>
            <a:ext cx="1645920" cy="502920"/>
          </a:xfrm>
          <a:prstGeom prst="roundRect">
            <a:avLst>
              <a:gd name="adj" fmla="val 18182"/>
            </a:avLst>
          </a:prstGeom>
          <a:solidFill>
            <a:srgbClr val="34B76F"/>
          </a:solidFill>
          <a:ln w="12700">
            <a:solidFill>
              <a:srgbClr val="34B76F"/>
            </a:solidFill>
            <a:prstDash val="solid"/>
          </a:ln>
        </p:spPr>
      </p:sp>
      <p:sp>
        <p:nvSpPr>
          <p:cNvPr id="16" name="Text 14"/>
          <p:cNvSpPr/>
          <p:nvPr/>
        </p:nvSpPr>
        <p:spPr>
          <a:xfrm>
            <a:off x="365760" y="3621024"/>
            <a:ext cx="164592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WHY ARTIFACTS</a:t>
            </a:r>
            <a:endParaRPr lang="en-US" sz="1000" dirty="0"/>
          </a:p>
        </p:txBody>
      </p:sp>
      <p:sp>
        <p:nvSpPr>
          <p:cNvPr id="17" name="Text 15"/>
          <p:cNvSpPr/>
          <p:nvPr/>
        </p:nvSpPr>
        <p:spPr>
          <a:xfrm>
            <a:off x="2194560" y="3611880"/>
            <a:ext cx="6583680" cy="530352"/>
          </a:xfrm>
          <a:prstGeom prst="rect">
            <a:avLst/>
          </a:prstGeom>
          <a:noFill/>
          <a:ln/>
        </p:spPr>
        <p:txBody>
          <a:bodyPr wrap="square" rtlCol="0" anchor="ctr"/>
          <a:lstStyle/>
          <a:p>
            <a:pPr indent="0" marL="0">
              <a:buNone/>
            </a:pPr>
            <a:r>
              <a:rPr lang="en-US" sz="1300" dirty="0">
                <a:solidFill>
                  <a:srgbClr val="F0F2F8"/>
                </a:solidFill>
                <a:latin typeface="Calibri" pitchFamily="34" charset="0"/>
                <a:ea typeface="Calibri" pitchFamily="34" charset="-122"/>
                <a:cs typeface="Calibri" pitchFamily="34" charset="-120"/>
              </a:rPr>
              <a:t>For Florida's first peoples, who left no written records, artifacts are how we hear them speak across centuries.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182880"/>
            <a:ext cx="5029200" cy="274320"/>
          </a:xfrm>
          <a:prstGeom prst="rect">
            <a:avLst/>
          </a:prstGeom>
          <a:noFill/>
          <a:ln/>
        </p:spPr>
        <p:txBody>
          <a:bodyPr wrap="square"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CLUE BOX — PRIMARY SOURCE ARTIFACT</a:t>
            </a:r>
            <a:endParaRPr lang="en-US" sz="1000" dirty="0"/>
          </a:p>
        </p:txBody>
      </p:sp>
      <p:sp>
        <p:nvSpPr>
          <p:cNvPr id="4" name="Text 2"/>
          <p:cNvSpPr/>
          <p:nvPr/>
        </p:nvSpPr>
        <p:spPr>
          <a:xfrm>
            <a:off x="365760" y="457200"/>
            <a:ext cx="5029200" cy="50292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The Key Marco Cat</a:t>
            </a:r>
            <a:endParaRPr lang="en-US" sz="2400" dirty="0"/>
          </a:p>
        </p:txBody>
      </p:sp>
      <p:sp>
        <p:nvSpPr>
          <p:cNvPr id="5" name="Shape 3"/>
          <p:cNvSpPr/>
          <p:nvPr/>
        </p:nvSpPr>
        <p:spPr>
          <a:xfrm>
            <a:off x="365760" y="1051560"/>
            <a:ext cx="4754880" cy="3246120"/>
          </a:xfrm>
          <a:prstGeom prst="roundRect">
            <a:avLst>
              <a:gd name="adj" fmla="val 3380"/>
            </a:avLst>
          </a:prstGeom>
          <a:solidFill>
            <a:srgbClr val="E2E8F4"/>
          </a:solidFill>
          <a:ln w="19050">
            <a:solidFill>
              <a:srgbClr val="B0B8CC"/>
            </a:solidFill>
            <a:prstDash val="dash"/>
          </a:ln>
        </p:spPr>
      </p:sp>
      <p:sp>
        <p:nvSpPr>
          <p:cNvPr id="6" name="Text 4"/>
          <p:cNvSpPr/>
          <p:nvPr/>
        </p:nvSpPr>
        <p:spPr>
          <a:xfrm>
            <a:off x="365760" y="1051560"/>
            <a:ext cx="47548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1325880"/>
            <a:ext cx="4480560" cy="28803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Museum photograph of the Key Marco Cat: a small (~6 in / 15 cm) carved wooden figurine of a kneeling human/feline figure, dark from age and burial, surface smooth. Side or three-quarter view. Calusa culture, c. 500-1500 CE, recovered from Key Marco, Florida, 1896. Now at Smithsonian National Museum of Natural History.</a:t>
            </a:r>
            <a:endParaRPr lang="en-US" sz="1100" dirty="0"/>
          </a:p>
        </p:txBody>
      </p:sp>
      <p:sp>
        <p:nvSpPr>
          <p:cNvPr id="8" name="Text 6"/>
          <p:cNvSpPr/>
          <p:nvPr/>
        </p:nvSpPr>
        <p:spPr>
          <a:xfrm>
            <a:off x="365760" y="4370832"/>
            <a:ext cx="4754880" cy="256032"/>
          </a:xfrm>
          <a:prstGeom prst="rect">
            <a:avLst/>
          </a:prstGeom>
          <a:noFill/>
          <a:ln/>
        </p:spPr>
        <p:txBody>
          <a:bodyPr wrap="square" rtlCol="0" anchor="ctr"/>
          <a:lstStyle/>
          <a:p>
            <a:pPr algn="ctr" indent="0" marL="0">
              <a:buNone/>
            </a:pPr>
            <a:r>
              <a:rPr lang="en-US" sz="1000" i="1" dirty="0">
                <a:solidFill>
                  <a:srgbClr val="7A88A8"/>
                </a:solidFill>
                <a:latin typeface="Calibri" pitchFamily="34" charset="0"/>
                <a:ea typeface="Calibri" pitchFamily="34" charset="-122"/>
                <a:cs typeface="Calibri" pitchFamily="34" charset="-120"/>
              </a:rPr>
              <a:t>Calusa · c. 500–1500 CE · Key Marco, FL · recovered 1896 · Smithsonian</a:t>
            </a:r>
            <a:endParaRPr lang="en-US" sz="1000" dirty="0"/>
          </a:p>
        </p:txBody>
      </p:sp>
      <p:sp>
        <p:nvSpPr>
          <p:cNvPr id="9" name="Shape 7"/>
          <p:cNvSpPr/>
          <p:nvPr/>
        </p:nvSpPr>
        <p:spPr>
          <a:xfrm>
            <a:off x="5303520" y="1051560"/>
            <a:ext cx="3520440" cy="2011680"/>
          </a:xfrm>
          <a:prstGeom prst="roundRect">
            <a:avLst>
              <a:gd name="adj" fmla="val 5455"/>
            </a:avLst>
          </a:prstGeom>
          <a:solidFill>
            <a:srgbClr val="FFF3DC"/>
          </a:solidFill>
          <a:ln w="19050">
            <a:solidFill>
              <a:srgbClr val="F5E6C8"/>
            </a:solidFill>
            <a:prstDash val="solid"/>
          </a:ln>
        </p:spPr>
      </p:sp>
      <p:sp>
        <p:nvSpPr>
          <p:cNvPr id="10" name="Text 8"/>
          <p:cNvSpPr/>
          <p:nvPr/>
        </p:nvSpPr>
        <p:spPr>
          <a:xfrm>
            <a:off x="5440680" y="1106424"/>
            <a:ext cx="32461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5440680" y="1307592"/>
            <a:ext cx="3246120" cy="16916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see... [describe size, shape, material, surface]"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"Maybe... because I notice..."</a:t>
            </a:r>
            <a:endParaRPr lang="en-US" sz="1200" dirty="0"/>
          </a:p>
        </p:txBody>
      </p:sp>
      <p:sp>
        <p:nvSpPr>
          <p:cNvPr id="12" name="Shape 10"/>
          <p:cNvSpPr/>
          <p:nvPr/>
        </p:nvSpPr>
        <p:spPr>
          <a:xfrm>
            <a:off x="5303520" y="3200400"/>
            <a:ext cx="3520440" cy="1600200"/>
          </a:xfrm>
          <a:prstGeom prst="roundRect">
            <a:avLst>
              <a:gd name="adj" fmla="val 6857"/>
            </a:avLst>
          </a:prstGeom>
          <a:solidFill>
            <a:srgbClr val="FFFFFF"/>
          </a:solidFill>
          <a:ln w="12700">
            <a:solidFill>
              <a:srgbClr val="D4943A"/>
            </a:solidFill>
            <a:prstDash val="solid"/>
          </a:ln>
        </p:spPr>
      </p:sp>
      <p:sp>
        <p:nvSpPr>
          <p:cNvPr id="13" name="Text 11"/>
          <p:cNvSpPr/>
          <p:nvPr/>
        </p:nvSpPr>
        <p:spPr>
          <a:xfrm>
            <a:off x="5486400" y="3291840"/>
            <a:ext cx="3154680" cy="256032"/>
          </a:xfrm>
          <a:prstGeom prst="rect">
            <a:avLst/>
          </a:prstGeom>
          <a:noFill/>
          <a:ln/>
        </p:spPr>
        <p:txBody>
          <a:bodyPr wrap="square" rtlCol="0" anchor="ctr"/>
          <a:lstStyle/>
          <a:p>
            <a:pPr indent="0" marL="0">
              <a:buNone/>
            </a:pPr>
            <a:r>
              <a:rPr lang="en-US" sz="900" b="1" spc="120" kern="0" dirty="0">
                <a:solidFill>
                  <a:srgbClr val="D4943A"/>
                </a:solidFill>
                <a:latin typeface="Calibri" pitchFamily="34" charset="0"/>
                <a:ea typeface="Calibri" pitchFamily="34" charset="-122"/>
                <a:cs typeface="Calibri" pitchFamily="34" charset="-120"/>
              </a:rPr>
              <a:t>OBSERVE FIRST — then infer</a:t>
            </a:r>
            <a:endParaRPr lang="en-US" sz="900" dirty="0"/>
          </a:p>
        </p:txBody>
      </p:sp>
      <p:sp>
        <p:nvSpPr>
          <p:cNvPr id="14" name="Text 12"/>
          <p:cNvSpPr/>
          <p:nvPr/>
        </p:nvSpPr>
        <p:spPr>
          <a:xfrm>
            <a:off x="5486400" y="3593592"/>
            <a:ext cx="3154680" cy="1115568"/>
          </a:xfrm>
          <a:prstGeom prst="rect">
            <a:avLst/>
          </a:prstGeom>
          <a:noFill/>
          <a:ln/>
        </p:spPr>
        <p:txBody>
          <a:bodyPr wrap="square" rtlCol="0" anchor="t"/>
          <a:lstStyle/>
          <a:p>
            <a:pPr indent="0" marL="0">
              <a:buNone/>
            </a:pPr>
            <a:r>
              <a:rPr lang="en-US" sz="1000" dirty="0">
                <a:solidFill>
                  <a:srgbClr val="0E1C42"/>
                </a:solidFill>
                <a:latin typeface="Calibri" pitchFamily="34" charset="0"/>
                <a:ea typeface="Calibri" pitchFamily="34" charset="-122"/>
                <a:cs typeface="Calibri" pitchFamily="34" charset="-120"/>
              </a:rPr>
              <a:t>Size? Shape? Material?</a:t>
            </a:r>
            <a:endParaRPr lang="en-US" sz="1000" dirty="0"/>
          </a:p>
          <a:p>
            <a:pPr indent="0" marL="0">
              <a:buNone/>
            </a:pPr>
            <a:r>
              <a:rPr lang="en-US" sz="1000" dirty="0">
                <a:solidFill>
                  <a:srgbClr val="0E1C42"/>
                </a:solidFill>
                <a:latin typeface="Calibri" pitchFamily="34" charset="0"/>
                <a:ea typeface="Calibri" pitchFamily="34" charset="-122"/>
                <a:cs typeface="Calibri" pitchFamily="34" charset="-120"/>
              </a:rPr>
              <a:t>Surface texture?</a:t>
            </a:r>
            <a:endParaRPr lang="en-US" sz="1000" dirty="0"/>
          </a:p>
          <a:p>
            <a:pPr indent="0" marL="0">
              <a:buNone/>
            </a:pPr>
            <a:r>
              <a:rPr lang="en-US" sz="1000" dirty="0">
                <a:solidFill>
                  <a:srgbClr val="0E1C42"/>
                </a:solidFill>
                <a:latin typeface="Calibri" pitchFamily="34" charset="0"/>
                <a:ea typeface="Calibri" pitchFamily="34" charset="-122"/>
                <a:cs typeface="Calibri" pitchFamily="34" charset="-120"/>
              </a:rPr>
              <a:t>Any features you can describe exactly?</a:t>
            </a:r>
            <a:endParaRPr lang="en-US" sz="1000" dirty="0"/>
          </a:p>
          <a:p>
            <a:pPr indent="0" marL="0">
              <a:buNone/>
            </a:pPr>
            <a:r>
              <a:rPr lang="en-US" sz="1000" dirty="0">
                <a:solidFill>
                  <a:srgbClr val="0E1C42"/>
                </a:solidFill>
                <a:latin typeface="Calibri" pitchFamily="34" charset="0"/>
                <a:ea typeface="Calibri" pitchFamily="34" charset="-122"/>
                <a:cs typeface="Calibri" pitchFamily="34" charset="-120"/>
              </a:rPr>
              <a:t>What do you notice first?</a:t>
            </a:r>
            <a:endParaRPr lang="en-US" sz="1000" dirty="0"/>
          </a:p>
          <a:p>
            <a:pPr indent="0" marL="0">
              <a:buNone/>
            </a:pPr>
            <a:r>
              <a:rPr lang="en-US" sz="1000" dirty="0">
                <a:solidFill>
                  <a:srgbClr val="0E1C42"/>
                </a:solidFill>
                <a:latin typeface="Calibri" pitchFamily="34" charset="0"/>
                <a:ea typeface="Calibri" pitchFamily="34" charset="-122"/>
                <a:cs typeface="Calibri" pitchFamily="34" charset="-120"/>
              </a:rPr>
              <a:t>What takes more looking?</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182880"/>
            <a:ext cx="8412480" cy="274320"/>
          </a:xfrm>
          <a:prstGeom prst="rect">
            <a:avLst/>
          </a:prstGeom>
          <a:noFill/>
          <a:ln/>
        </p:spPr>
        <p:txBody>
          <a:bodyPr wrap="square"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DISCUSSION — KEY MARCO CAT</a:t>
            </a:r>
            <a:endParaRPr lang="en-US" sz="1000" dirty="0"/>
          </a:p>
        </p:txBody>
      </p:sp>
      <p:sp>
        <p:nvSpPr>
          <p:cNvPr id="4" name="Text 2"/>
          <p:cNvSpPr/>
          <p:nvPr/>
        </p:nvSpPr>
        <p:spPr>
          <a:xfrm>
            <a:off x="365760" y="457200"/>
            <a:ext cx="8412480" cy="54864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What Does This Object Prove — and What Can't It?</a:t>
            </a:r>
            <a:endParaRPr lang="en-US" sz="2200" dirty="0"/>
          </a:p>
        </p:txBody>
      </p:sp>
      <p:sp>
        <p:nvSpPr>
          <p:cNvPr id="5" name="Shape 3"/>
          <p:cNvSpPr/>
          <p:nvPr/>
        </p:nvSpPr>
        <p:spPr>
          <a:xfrm>
            <a:off x="365760" y="1143000"/>
            <a:ext cx="5120640" cy="3566160"/>
          </a:xfrm>
          <a:prstGeom prst="roundRect">
            <a:avLst>
              <a:gd name="adj" fmla="val 3846"/>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548640" y="1234440"/>
            <a:ext cx="475488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548640" y="1490472"/>
            <a:ext cx="4754880" cy="312724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Name one thing about this object that is observation — and one that is inference. Be specific.</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The smooth surface and clear animal shape: does that prove the Calusa had artistic skill — or does it suggest it?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this object have been used in a ceremony? Is that observation, inference, or something we simply cannot know?</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is one question about this object that archaeology may never be able to answer?</a:t>
            </a:r>
            <a:endParaRPr lang="en-US" sz="1100" dirty="0"/>
          </a:p>
        </p:txBody>
      </p:sp>
      <p:sp>
        <p:nvSpPr>
          <p:cNvPr id="8" name="Shape 6"/>
          <p:cNvSpPr/>
          <p:nvPr/>
        </p:nvSpPr>
        <p:spPr>
          <a:xfrm>
            <a:off x="5669280" y="1143000"/>
            <a:ext cx="3200400" cy="2286000"/>
          </a:xfrm>
          <a:prstGeom prst="roundRect">
            <a:avLst>
              <a:gd name="adj" fmla="val 4800"/>
            </a:avLst>
          </a:prstGeom>
          <a:solidFill>
            <a:srgbClr val="FFF3DC"/>
          </a:solidFill>
          <a:ln w="19050">
            <a:solidFill>
              <a:srgbClr val="F5E6C8"/>
            </a:solidFill>
            <a:prstDash val="solid"/>
          </a:ln>
        </p:spPr>
      </p:sp>
      <p:sp>
        <p:nvSpPr>
          <p:cNvPr id="9" name="Text 7"/>
          <p:cNvSpPr/>
          <p:nvPr/>
        </p:nvSpPr>
        <p:spPr>
          <a:xfrm>
            <a:off x="5806440" y="1197864"/>
            <a:ext cx="29260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5806440" y="1399032"/>
            <a:ext cx="2926080" cy="19659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see [observation]. I think this means [inference]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thing this artifact can prove is... One thing it cannot prove is..."</a:t>
            </a:r>
            <a:endParaRPr lang="en-US" sz="1200" dirty="0"/>
          </a:p>
        </p:txBody>
      </p:sp>
      <p:sp>
        <p:nvSpPr>
          <p:cNvPr id="11" name="Shape 9"/>
          <p:cNvSpPr/>
          <p:nvPr/>
        </p:nvSpPr>
        <p:spPr>
          <a:xfrm>
            <a:off x="5669280" y="3566160"/>
            <a:ext cx="3200400" cy="1188720"/>
          </a:xfrm>
          <a:prstGeom prst="roundRect">
            <a:avLst>
              <a:gd name="adj" fmla="val 7692"/>
            </a:avLst>
          </a:prstGeom>
          <a:solidFill>
            <a:srgbClr val="FFFFFF"/>
          </a:solidFill>
          <a:ln w="12700">
            <a:solidFill>
              <a:srgbClr val="8B6FC0"/>
            </a:solidFill>
            <a:prstDash val="solid"/>
          </a:ln>
        </p:spPr>
      </p:sp>
      <p:sp>
        <p:nvSpPr>
          <p:cNvPr id="12" name="Text 10"/>
          <p:cNvSpPr/>
          <p:nvPr/>
        </p:nvSpPr>
        <p:spPr>
          <a:xfrm>
            <a:off x="5852160" y="3657600"/>
            <a:ext cx="2834640" cy="228600"/>
          </a:xfrm>
          <a:prstGeom prst="rect">
            <a:avLst/>
          </a:prstGeom>
          <a:noFill/>
          <a:ln/>
        </p:spPr>
        <p:txBody>
          <a:bodyPr wrap="square"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ASSIGNMENT PREVIEW</a:t>
            </a:r>
            <a:endParaRPr lang="en-US" sz="900" dirty="0"/>
          </a:p>
        </p:txBody>
      </p:sp>
      <p:sp>
        <p:nvSpPr>
          <p:cNvPr id="13" name="Text 11"/>
          <p:cNvSpPr/>
          <p:nvPr/>
        </p:nvSpPr>
        <p:spPr>
          <a:xfrm>
            <a:off x="5852160" y="3931920"/>
            <a:ext cx="2834640" cy="731520"/>
          </a:xfrm>
          <a:prstGeom prst="rect">
            <a:avLst/>
          </a:prstGeom>
          <a:noFill/>
          <a:ln/>
        </p:spPr>
        <p:txBody>
          <a:bodyPr wrap="square" rtlCol="0" anchor="t"/>
          <a:lstStyle/>
          <a:p>
            <a:pPr indent="0" marL="0">
              <a:buNone/>
            </a:pPr>
            <a:r>
              <a:rPr lang="en-US" sz="1000" i="1" dirty="0">
                <a:solidFill>
                  <a:srgbClr val="5A4A3A"/>
                </a:solidFill>
                <a:latin typeface="Calibri" pitchFamily="34" charset="0"/>
                <a:ea typeface="Calibri" pitchFamily="34" charset="-122"/>
                <a:cs typeface="Calibri" pitchFamily="34" charset="-120"/>
              </a:rPr>
              <a:t>Q1: Write one observation.</a:t>
            </a:r>
            <a:endParaRPr lang="en-US" sz="1000" dirty="0"/>
          </a:p>
          <a:p>
            <a:pPr indent="0" marL="0">
              <a:buNone/>
            </a:pPr>
            <a:r>
              <a:rPr lang="en-US" sz="1000" i="1" dirty="0">
                <a:solidFill>
                  <a:srgbClr val="5A4A3A"/>
                </a:solidFill>
                <a:latin typeface="Calibri" pitchFamily="34" charset="0"/>
                <a:ea typeface="Calibri" pitchFamily="34" charset="-122"/>
                <a:cs typeface="Calibri" pitchFamily="34" charset="-120"/>
              </a:rPr>
              <a:t>Q2: Write one careful inference.</a:t>
            </a:r>
            <a:endParaRPr lang="en-US" sz="1000" dirty="0"/>
          </a:p>
          <a:p>
            <a:pPr indent="0" marL="0">
              <a:buNone/>
            </a:pPr>
            <a:r>
              <a:rPr lang="en-US" sz="1000" i="1" dirty="0">
                <a:solidFill>
                  <a:srgbClr val="5A4A3A"/>
                </a:solidFill>
                <a:latin typeface="Calibri" pitchFamily="34" charset="0"/>
                <a:ea typeface="Calibri" pitchFamily="34" charset="-122"/>
                <a:cs typeface="Calibri" pitchFamily="34" charset="-120"/>
              </a:rPr>
              <a:t>Both begin in this discussion.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w="12700">
            <a:solidFill>
              <a:srgbClr val="0E1C42"/>
            </a:solidFill>
            <a:prstDash val="solid"/>
          </a:ln>
        </p:spPr>
      </p:sp>
      <p:sp>
        <p:nvSpPr>
          <p:cNvPr id="3" name="Shape 1"/>
          <p:cNvSpPr/>
          <p:nvPr/>
        </p:nvSpPr>
        <p:spPr>
          <a:xfrm>
            <a:off x="0" y="0"/>
            <a:ext cx="9144000" cy="73152"/>
          </a:xfrm>
          <a:prstGeom prst="rect">
            <a:avLst/>
          </a:prstGeom>
          <a:solidFill>
            <a:srgbClr val="D4943A"/>
          </a:solidFill>
          <a:ln w="12700">
            <a:solidFill>
              <a:srgbClr val="D4943A"/>
            </a:solidFill>
            <a:prstDash val="solid"/>
          </a:ln>
        </p:spPr>
      </p:sp>
      <p:sp>
        <p:nvSpPr>
          <p:cNvPr id="4" name="Text 2"/>
          <p:cNvSpPr/>
          <p:nvPr/>
        </p:nvSpPr>
        <p:spPr>
          <a:xfrm>
            <a:off x="457200" y="182880"/>
            <a:ext cx="8229600" cy="292608"/>
          </a:xfrm>
          <a:prstGeom prst="rect">
            <a:avLst/>
          </a:prstGeom>
          <a:noFill/>
          <a:ln/>
        </p:spPr>
        <p:txBody>
          <a:bodyPr wrap="square" rtlCol="0" anchor="ctr"/>
          <a:lstStyle/>
          <a:p>
            <a:pPr algn="ctr" indent="0" marL="0">
              <a:buNone/>
            </a:pPr>
            <a:r>
              <a:rPr lang="en-US" sz="1100" b="1" spc="200" kern="0" dirty="0">
                <a:solidFill>
                  <a:srgbClr val="55C8E8"/>
                </a:solidFill>
                <a:latin typeface="Calibri" pitchFamily="34" charset="0"/>
                <a:ea typeface="Calibri" pitchFamily="34" charset="-122"/>
                <a:cs typeface="Calibri" pitchFamily="34" charset="-120"/>
              </a:rPr>
              <a:t>YOU DISCOVERED: THE KEY MARCO CAT</a:t>
            </a:r>
            <a:endParaRPr lang="en-US" sz="1100" dirty="0"/>
          </a:p>
        </p:txBody>
      </p:sp>
      <p:sp>
        <p:nvSpPr>
          <p:cNvPr id="5" name="Text 3"/>
          <p:cNvSpPr/>
          <p:nvPr/>
        </p:nvSpPr>
        <p:spPr>
          <a:xfrm>
            <a:off x="457200" y="530352"/>
            <a:ext cx="8229600" cy="594360"/>
          </a:xfrm>
          <a:prstGeom prst="rect">
            <a:avLst/>
          </a:prstGeom>
          <a:noFill/>
          <a:ln/>
        </p:spPr>
        <p:txBody>
          <a:bodyPr wrap="square" rtlCol="0" anchor="ctr"/>
          <a:lstStyle/>
          <a:p>
            <a:pPr algn="ctr" indent="0" marL="0">
              <a:buNone/>
            </a:pPr>
            <a:r>
              <a:rPr lang="en-US" sz="2300" b="1" dirty="0">
                <a:solidFill>
                  <a:srgbClr val="FFFFFF"/>
                </a:solidFill>
                <a:latin typeface="Cambria" pitchFamily="34" charset="0"/>
                <a:ea typeface="Cambria" pitchFamily="34" charset="-122"/>
                <a:cs typeface="Cambria" pitchFamily="34" charset="-120"/>
              </a:rPr>
              <a:t>One Object Changes What a Whole Community Looks Like</a:t>
            </a:r>
            <a:endParaRPr lang="en-US" sz="2300" dirty="0"/>
          </a:p>
        </p:txBody>
      </p:sp>
      <p:sp>
        <p:nvSpPr>
          <p:cNvPr id="6" name="Shape 4"/>
          <p:cNvSpPr/>
          <p:nvPr/>
        </p:nvSpPr>
        <p:spPr>
          <a:xfrm>
            <a:off x="365760" y="1298448"/>
            <a:ext cx="1828800" cy="502920"/>
          </a:xfrm>
          <a:prstGeom prst="roundRect">
            <a:avLst>
              <a:gd name="adj" fmla="val 18182"/>
            </a:avLst>
          </a:prstGeom>
          <a:solidFill>
            <a:srgbClr val="D4943A"/>
          </a:solidFill>
          <a:ln w="12700">
            <a:solidFill>
              <a:srgbClr val="D4943A"/>
            </a:solidFill>
            <a:prstDash val="solid"/>
          </a:ln>
        </p:spPr>
      </p:sp>
      <p:sp>
        <p:nvSpPr>
          <p:cNvPr id="7" name="Text 5"/>
          <p:cNvSpPr/>
          <p:nvPr/>
        </p:nvSpPr>
        <p:spPr>
          <a:xfrm>
            <a:off x="365760" y="1371600"/>
            <a:ext cx="1828800" cy="347472"/>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WHAT IT SHOWS</a:t>
            </a:r>
            <a:endParaRPr lang="en-US" sz="950" dirty="0"/>
          </a:p>
        </p:txBody>
      </p:sp>
      <p:sp>
        <p:nvSpPr>
          <p:cNvPr id="8" name="Text 6"/>
          <p:cNvSpPr/>
          <p:nvPr/>
        </p:nvSpPr>
        <p:spPr>
          <a:xfrm>
            <a:off x="2377440" y="1362456"/>
            <a:ext cx="6400800" cy="530352"/>
          </a:xfrm>
          <a:prstGeom prst="rect">
            <a:avLst/>
          </a:prstGeom>
          <a:noFill/>
          <a:ln/>
        </p:spPr>
        <p:txBody>
          <a:bodyPr wrap="square" rtlCol="0" anchor="ctr"/>
          <a:lstStyle/>
          <a:p>
            <a:pPr indent="0" marL="0">
              <a:buNone/>
            </a:pPr>
            <a:r>
              <a:rPr lang="en-US" sz="1300" dirty="0">
                <a:solidFill>
                  <a:srgbClr val="F0F2F8"/>
                </a:solidFill>
                <a:latin typeface="Calibri" pitchFamily="34" charset="0"/>
                <a:ea typeface="Calibri" pitchFamily="34" charset="-122"/>
                <a:cs typeface="Calibri" pitchFamily="34" charset="-120"/>
              </a:rPr>
              <a:t>The Calusa carved wood beautifully, with smooth surfaces and clear shapes. They had time and skill for art.</a:t>
            </a:r>
            <a:endParaRPr lang="en-US" sz="1300" dirty="0"/>
          </a:p>
        </p:txBody>
      </p:sp>
      <p:sp>
        <p:nvSpPr>
          <p:cNvPr id="9" name="Shape 7"/>
          <p:cNvSpPr/>
          <p:nvPr/>
        </p:nvSpPr>
        <p:spPr>
          <a:xfrm>
            <a:off x="365760" y="2048256"/>
            <a:ext cx="1828800" cy="502920"/>
          </a:xfrm>
          <a:prstGeom prst="roundRect">
            <a:avLst>
              <a:gd name="adj" fmla="val 18182"/>
            </a:avLst>
          </a:prstGeom>
          <a:solidFill>
            <a:srgbClr val="8B6FC0"/>
          </a:solidFill>
          <a:ln w="12700">
            <a:solidFill>
              <a:srgbClr val="8B6FC0"/>
            </a:solidFill>
            <a:prstDash val="solid"/>
          </a:ln>
        </p:spPr>
      </p:sp>
      <p:sp>
        <p:nvSpPr>
          <p:cNvPr id="10" name="Text 8"/>
          <p:cNvSpPr/>
          <p:nvPr/>
        </p:nvSpPr>
        <p:spPr>
          <a:xfrm>
            <a:off x="365760" y="2121408"/>
            <a:ext cx="1828800" cy="347472"/>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WHAT WE INFER</a:t>
            </a:r>
            <a:endParaRPr lang="en-US" sz="950" dirty="0"/>
          </a:p>
        </p:txBody>
      </p:sp>
      <p:sp>
        <p:nvSpPr>
          <p:cNvPr id="11" name="Text 9"/>
          <p:cNvSpPr/>
          <p:nvPr/>
        </p:nvSpPr>
        <p:spPr>
          <a:xfrm>
            <a:off x="2377440" y="2112264"/>
            <a:ext cx="6400800" cy="530352"/>
          </a:xfrm>
          <a:prstGeom prst="rect">
            <a:avLst/>
          </a:prstGeom>
          <a:noFill/>
          <a:ln/>
        </p:spPr>
        <p:txBody>
          <a:bodyPr wrap="square" rtlCol="0" anchor="ctr"/>
          <a:lstStyle/>
          <a:p>
            <a:pPr indent="0" marL="0">
              <a:buNone/>
            </a:pPr>
            <a:r>
              <a:rPr lang="en-US" sz="1300" dirty="0">
                <a:solidFill>
                  <a:srgbClr val="F0F2F8"/>
                </a:solidFill>
                <a:latin typeface="Calibri" pitchFamily="34" charset="0"/>
                <a:ea typeface="Calibri" pitchFamily="34" charset="-122"/>
                <a:cs typeface="Calibri" pitchFamily="34" charset="-120"/>
              </a:rPr>
              <a:t>The figure likely represents an animal — possibly a panther or cat spirit. 'Maybe' it had ceremonial meaning.</a:t>
            </a:r>
            <a:endParaRPr lang="en-US" sz="1300" dirty="0"/>
          </a:p>
        </p:txBody>
      </p:sp>
      <p:sp>
        <p:nvSpPr>
          <p:cNvPr id="12" name="Shape 10"/>
          <p:cNvSpPr/>
          <p:nvPr/>
        </p:nvSpPr>
        <p:spPr>
          <a:xfrm>
            <a:off x="365760" y="2798064"/>
            <a:ext cx="1828800" cy="502920"/>
          </a:xfrm>
          <a:prstGeom prst="roundRect">
            <a:avLst>
              <a:gd name="adj" fmla="val 18182"/>
            </a:avLst>
          </a:prstGeom>
          <a:solidFill>
            <a:srgbClr val="E8636B"/>
          </a:solidFill>
          <a:ln w="12700">
            <a:solidFill>
              <a:srgbClr val="E8636B"/>
            </a:solidFill>
            <a:prstDash val="solid"/>
          </a:ln>
        </p:spPr>
      </p:sp>
      <p:sp>
        <p:nvSpPr>
          <p:cNvPr id="13" name="Text 11"/>
          <p:cNvSpPr/>
          <p:nvPr/>
        </p:nvSpPr>
        <p:spPr>
          <a:xfrm>
            <a:off x="365760" y="2871216"/>
            <a:ext cx="1828800" cy="347472"/>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WHAT WE CANNOT KNOW</a:t>
            </a:r>
            <a:endParaRPr lang="en-US" sz="950" dirty="0"/>
          </a:p>
        </p:txBody>
      </p:sp>
      <p:sp>
        <p:nvSpPr>
          <p:cNvPr id="14" name="Text 12"/>
          <p:cNvSpPr/>
          <p:nvPr/>
        </p:nvSpPr>
        <p:spPr>
          <a:xfrm>
            <a:off x="2377440" y="2862072"/>
            <a:ext cx="6400800" cy="530352"/>
          </a:xfrm>
          <a:prstGeom prst="rect">
            <a:avLst/>
          </a:prstGeom>
          <a:noFill/>
          <a:ln/>
        </p:spPr>
        <p:txBody>
          <a:bodyPr wrap="square" rtlCol="0" anchor="ctr"/>
          <a:lstStyle/>
          <a:p>
            <a:pPr indent="0" marL="0">
              <a:buNone/>
            </a:pPr>
            <a:r>
              <a:rPr lang="en-US" sz="1300" dirty="0">
                <a:solidFill>
                  <a:srgbClr val="F0F2F8"/>
                </a:solidFill>
                <a:latin typeface="Calibri" pitchFamily="34" charset="0"/>
                <a:ea typeface="Calibri" pitchFamily="34" charset="-122"/>
                <a:cs typeface="Calibri" pitchFamily="34" charset="-120"/>
              </a:rPr>
              <a:t>What the figure meant to the people who made it, who carved it, or what ceremony (if any) it was used in.</a:t>
            </a:r>
            <a:endParaRPr lang="en-US" sz="1300" dirty="0"/>
          </a:p>
        </p:txBody>
      </p:sp>
      <p:sp>
        <p:nvSpPr>
          <p:cNvPr id="15" name="Shape 13"/>
          <p:cNvSpPr/>
          <p:nvPr/>
        </p:nvSpPr>
        <p:spPr>
          <a:xfrm>
            <a:off x="365760" y="3547872"/>
            <a:ext cx="1828800" cy="502920"/>
          </a:xfrm>
          <a:prstGeom prst="roundRect">
            <a:avLst>
              <a:gd name="adj" fmla="val 18182"/>
            </a:avLst>
          </a:prstGeom>
          <a:solidFill>
            <a:srgbClr val="34B76F"/>
          </a:solidFill>
          <a:ln w="12700">
            <a:solidFill>
              <a:srgbClr val="34B76F"/>
            </a:solidFill>
            <a:prstDash val="solid"/>
          </a:ln>
        </p:spPr>
      </p:sp>
      <p:sp>
        <p:nvSpPr>
          <p:cNvPr id="16" name="Text 14"/>
          <p:cNvSpPr/>
          <p:nvPr/>
        </p:nvSpPr>
        <p:spPr>
          <a:xfrm>
            <a:off x="365760" y="3621024"/>
            <a:ext cx="1828800" cy="347472"/>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WHY IT MATTERS</a:t>
            </a:r>
            <a:endParaRPr lang="en-US" sz="950" dirty="0"/>
          </a:p>
        </p:txBody>
      </p:sp>
      <p:sp>
        <p:nvSpPr>
          <p:cNvPr id="17" name="Text 15"/>
          <p:cNvSpPr/>
          <p:nvPr/>
        </p:nvSpPr>
        <p:spPr>
          <a:xfrm>
            <a:off x="2377440" y="3611880"/>
            <a:ext cx="6400800" cy="530352"/>
          </a:xfrm>
          <a:prstGeom prst="rect">
            <a:avLst/>
          </a:prstGeom>
          <a:noFill/>
          <a:ln/>
        </p:spPr>
        <p:txBody>
          <a:bodyPr wrap="square" rtlCol="0" anchor="ctr"/>
          <a:lstStyle/>
          <a:p>
            <a:pPr indent="0" marL="0">
              <a:buNone/>
            </a:pPr>
            <a:r>
              <a:rPr lang="en-US" sz="1300" dirty="0">
                <a:solidFill>
                  <a:srgbClr val="F0F2F8"/>
                </a:solidFill>
                <a:latin typeface="Calibri" pitchFamily="34" charset="0"/>
                <a:ea typeface="Calibri" pitchFamily="34" charset="-122"/>
                <a:cs typeface="Calibri" pitchFamily="34" charset="-120"/>
              </a:rPr>
              <a:t>Without this one artifact preserved in the muck, we would have almost no evidence the Calusa made fine art at all.</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137160"/>
            <a:ext cx="8412480" cy="256032"/>
          </a:xfrm>
          <a:prstGeom prst="rect">
            <a:avLst/>
          </a:prstGeom>
          <a:noFill/>
          <a:ln/>
        </p:spPr>
        <p:txBody>
          <a:bodyPr wrap="square"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MULTI-SOURCE COMPARE</a:t>
            </a:r>
            <a:endParaRPr lang="en-US" sz="1000" dirty="0"/>
          </a:p>
        </p:txBody>
      </p:sp>
      <p:sp>
        <p:nvSpPr>
          <p:cNvPr id="4" name="Text 2"/>
          <p:cNvSpPr/>
          <p:nvPr/>
        </p:nvSpPr>
        <p:spPr>
          <a:xfrm>
            <a:off x="365760" y="393192"/>
            <a:ext cx="8412480" cy="50292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Two Sources on the Same Community</a:t>
            </a:r>
            <a:endParaRPr lang="en-US" sz="2200" dirty="0"/>
          </a:p>
        </p:txBody>
      </p:sp>
      <p:sp>
        <p:nvSpPr>
          <p:cNvPr id="5" name="Shape 3"/>
          <p:cNvSpPr/>
          <p:nvPr/>
        </p:nvSpPr>
        <p:spPr>
          <a:xfrm>
            <a:off x="274320" y="960120"/>
            <a:ext cx="4023360" cy="3886200"/>
          </a:xfrm>
          <a:prstGeom prst="roundRect">
            <a:avLst>
              <a:gd name="adj" fmla="val 3529"/>
            </a:avLst>
          </a:prstGeom>
          <a:solidFill>
            <a:srgbClr val="FFFFFF"/>
          </a:solidFill>
          <a:ln w="25400">
            <a:solidFill>
              <a:srgbClr val="8B6FC0"/>
            </a:solidFill>
            <a:prstDash val="solid"/>
          </a:ln>
        </p:spPr>
      </p:sp>
      <p:sp>
        <p:nvSpPr>
          <p:cNvPr id="6" name="Text 4"/>
          <p:cNvSpPr/>
          <p:nvPr/>
        </p:nvSpPr>
        <p:spPr>
          <a:xfrm>
            <a:off x="457200" y="1051560"/>
            <a:ext cx="3657600" cy="274320"/>
          </a:xfrm>
          <a:prstGeom prst="rect">
            <a:avLst/>
          </a:prstGeom>
          <a:noFill/>
          <a:ln/>
        </p:spPr>
        <p:txBody>
          <a:bodyPr wrap="square"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SOURCE A: ARTIFACT</a:t>
            </a:r>
            <a:endParaRPr lang="en-US" sz="1100" dirty="0"/>
          </a:p>
        </p:txBody>
      </p:sp>
      <p:sp>
        <p:nvSpPr>
          <p:cNvPr id="7" name="Shape 5"/>
          <p:cNvSpPr/>
          <p:nvPr/>
        </p:nvSpPr>
        <p:spPr>
          <a:xfrm>
            <a:off x="411480" y="1371600"/>
            <a:ext cx="3657600" cy="1920240"/>
          </a:xfrm>
          <a:prstGeom prst="roundRect">
            <a:avLst>
              <a:gd name="adj" fmla="val 5714"/>
            </a:avLst>
          </a:prstGeom>
          <a:solidFill>
            <a:srgbClr val="E2E8F4"/>
          </a:solidFill>
          <a:ln w="19050">
            <a:solidFill>
              <a:srgbClr val="B0B8CC"/>
            </a:solidFill>
            <a:prstDash val="dash"/>
          </a:ln>
        </p:spPr>
      </p:sp>
      <p:sp>
        <p:nvSpPr>
          <p:cNvPr id="8" name="Text 6"/>
          <p:cNvSpPr/>
          <p:nvPr/>
        </p:nvSpPr>
        <p:spPr>
          <a:xfrm>
            <a:off x="411480" y="1371600"/>
            <a:ext cx="36576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9" name="Text 7"/>
          <p:cNvSpPr/>
          <p:nvPr/>
        </p:nvSpPr>
        <p:spPr>
          <a:xfrm>
            <a:off x="548640" y="1645920"/>
            <a:ext cx="3383280" cy="15544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Key Marco Cat: small Calusa wooden figurine, carved wood, kneeling human/feline figure, dark and smooth. Museum photograph.</a:t>
            </a:r>
            <a:endParaRPr lang="en-US" sz="1100" dirty="0"/>
          </a:p>
        </p:txBody>
      </p:sp>
      <p:sp>
        <p:nvSpPr>
          <p:cNvPr id="10" name="Text 8"/>
          <p:cNvSpPr/>
          <p:nvPr/>
        </p:nvSpPr>
        <p:spPr>
          <a:xfrm>
            <a:off x="457200" y="3383280"/>
            <a:ext cx="3657600" cy="1325880"/>
          </a:xfrm>
          <a:prstGeom prst="rect">
            <a:avLst/>
          </a:prstGeom>
          <a:noFill/>
          <a:ln/>
        </p:spPr>
        <p:txBody>
          <a:bodyPr wrap="square" rtlCol="0" anchor="t"/>
          <a:lstStyle/>
          <a:p>
            <a:pPr indent="0" marL="0">
              <a:buNone/>
            </a:pPr>
            <a:r>
              <a:rPr lang="en-US" sz="1000" dirty="0">
                <a:solidFill>
                  <a:srgbClr val="0E1C42"/>
                </a:solidFill>
                <a:latin typeface="Calibri" pitchFamily="34" charset="0"/>
                <a:ea typeface="Calibri" pitchFamily="34" charset="-122"/>
                <a:cs typeface="Calibri" pitchFamily="34" charset="-120"/>
              </a:rPr>
              <a:t>The Key Marco Cat</a:t>
            </a:r>
            <a:endParaRPr lang="en-US" sz="1000" dirty="0"/>
          </a:p>
          <a:p>
            <a:pPr indent="0" marL="0">
              <a:buNone/>
            </a:pPr>
            <a:r>
              <a:rPr lang="en-US" sz="1000" dirty="0">
                <a:solidFill>
                  <a:srgbClr val="0E1C42"/>
                </a:solidFill>
                <a:latin typeface="Calibri" pitchFamily="34" charset="0"/>
                <a:ea typeface="Calibri" pitchFamily="34" charset="-122"/>
                <a:cs typeface="Calibri" pitchFamily="34" charset="-120"/>
              </a:rPr>
              <a:t>c. 500–1500 CE</a:t>
            </a:r>
            <a:endParaRPr lang="en-US" sz="1000" dirty="0"/>
          </a:p>
          <a:p>
            <a:pPr indent="0" marL="0">
              <a:buNone/>
            </a:pPr>
            <a:r>
              <a:rPr lang="en-US" sz="1000" dirty="0">
                <a:solidFill>
                  <a:srgbClr val="0E1C42"/>
                </a:solidFill>
                <a:latin typeface="Calibri" pitchFamily="34" charset="0"/>
                <a:ea typeface="Calibri" pitchFamily="34" charset="-122"/>
                <a:cs typeface="Calibri" pitchFamily="34" charset="-120"/>
              </a:rPr>
              <a:t>Recovered 1896, Key Marco, FL</a:t>
            </a:r>
            <a:endParaRPr lang="en-US" sz="1000" dirty="0"/>
          </a:p>
          <a:p>
            <a:pPr indent="0" marL="0">
              <a:buNone/>
            </a:pPr>
            <a:endParaRPr lang="en-US" sz="1000" dirty="0"/>
          </a:p>
          <a:p>
            <a:pPr indent="0" marL="0">
              <a:buNone/>
            </a:pPr>
            <a:r>
              <a:rPr lang="en-US" sz="1000" dirty="0">
                <a:solidFill>
                  <a:srgbClr val="0E1C42"/>
                </a:solidFill>
                <a:latin typeface="Calibri" pitchFamily="34" charset="0"/>
                <a:ea typeface="Calibri" pitchFamily="34" charset="-122"/>
                <a:cs typeface="Calibri" pitchFamily="34" charset="-120"/>
              </a:rPr>
              <a:t>Shows: skilled carving, artistic tradition</a:t>
            </a:r>
            <a:endParaRPr lang="en-US" sz="1000" dirty="0"/>
          </a:p>
          <a:p>
            <a:pPr indent="0" marL="0">
              <a:buNone/>
            </a:pPr>
            <a:r>
              <a:rPr lang="en-US" sz="1000" dirty="0">
                <a:solidFill>
                  <a:srgbClr val="0E1C42"/>
                </a:solidFill>
                <a:latin typeface="Calibri" pitchFamily="34" charset="0"/>
                <a:ea typeface="Calibri" pitchFamily="34" charset="-122"/>
                <a:cs typeface="Calibri" pitchFamily="34" charset="-120"/>
              </a:rPr>
              <a:t>Cannot show: meaning, maker, use</a:t>
            </a:r>
            <a:endParaRPr lang="en-US" sz="1000" dirty="0"/>
          </a:p>
        </p:txBody>
      </p:sp>
      <p:sp>
        <p:nvSpPr>
          <p:cNvPr id="11" name="Shape 9"/>
          <p:cNvSpPr/>
          <p:nvPr/>
        </p:nvSpPr>
        <p:spPr>
          <a:xfrm>
            <a:off x="4572000" y="960120"/>
            <a:ext cx="4023360" cy="3886200"/>
          </a:xfrm>
          <a:prstGeom prst="roundRect">
            <a:avLst>
              <a:gd name="adj" fmla="val 3529"/>
            </a:avLst>
          </a:prstGeom>
          <a:solidFill>
            <a:srgbClr val="FFFFFF"/>
          </a:solidFill>
          <a:ln w="25400">
            <a:solidFill>
              <a:srgbClr val="D4943A"/>
            </a:solidFill>
            <a:prstDash val="solid"/>
          </a:ln>
        </p:spPr>
      </p:sp>
      <p:sp>
        <p:nvSpPr>
          <p:cNvPr id="12" name="Text 10"/>
          <p:cNvSpPr/>
          <p:nvPr/>
        </p:nvSpPr>
        <p:spPr>
          <a:xfrm>
            <a:off x="4754880" y="1051560"/>
            <a:ext cx="3657600" cy="274320"/>
          </a:xfrm>
          <a:prstGeom prst="rect">
            <a:avLst/>
          </a:prstGeom>
          <a:noFill/>
          <a:ln/>
        </p:spPr>
        <p:txBody>
          <a:bodyPr wrap="square" rtlCol="0" anchor="ctr"/>
          <a:lstStyle/>
          <a:p>
            <a:pPr algn="ctr" indent="0" marL="0">
              <a:buNone/>
            </a:pPr>
            <a:r>
              <a:rPr lang="en-US" sz="1100" b="1" dirty="0">
                <a:solidFill>
                  <a:srgbClr val="D4943A"/>
                </a:solidFill>
                <a:latin typeface="Calibri" pitchFamily="34" charset="0"/>
                <a:ea typeface="Calibri" pitchFamily="34" charset="-122"/>
                <a:cs typeface="Calibri" pitchFamily="34" charset="-120"/>
              </a:rPr>
              <a:t>SOURCE B: WRITTEN ACCOUNT</a:t>
            </a:r>
            <a:endParaRPr lang="en-US" sz="1100" dirty="0"/>
          </a:p>
        </p:txBody>
      </p:sp>
      <p:sp>
        <p:nvSpPr>
          <p:cNvPr id="13" name="Shape 11"/>
          <p:cNvSpPr/>
          <p:nvPr/>
        </p:nvSpPr>
        <p:spPr>
          <a:xfrm>
            <a:off x="4709160" y="1371600"/>
            <a:ext cx="3657600" cy="1920240"/>
          </a:xfrm>
          <a:prstGeom prst="roundRect">
            <a:avLst>
              <a:gd name="adj" fmla="val 5714"/>
            </a:avLst>
          </a:prstGeom>
          <a:solidFill>
            <a:srgbClr val="E2E8F4"/>
          </a:solidFill>
          <a:ln w="19050">
            <a:solidFill>
              <a:srgbClr val="B0B8CC"/>
            </a:solidFill>
            <a:prstDash val="dash"/>
          </a:ln>
        </p:spPr>
      </p:sp>
      <p:sp>
        <p:nvSpPr>
          <p:cNvPr id="14" name="Text 12"/>
          <p:cNvSpPr/>
          <p:nvPr/>
        </p:nvSpPr>
        <p:spPr>
          <a:xfrm>
            <a:off x="4709160" y="1371600"/>
            <a:ext cx="36576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5" name="Text 13"/>
          <p:cNvSpPr/>
          <p:nvPr/>
        </p:nvSpPr>
        <p:spPr>
          <a:xfrm>
            <a:off x="4846320" y="1645920"/>
            <a:ext cx="3383280" cy="15544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Page from a 16th-century Spanish account describing the Calusa — handwritten manuscript or printed text with decorative border. Public domain. No human faces.</a:t>
            </a:r>
            <a:endParaRPr lang="en-US" sz="1100" dirty="0"/>
          </a:p>
        </p:txBody>
      </p:sp>
      <p:sp>
        <p:nvSpPr>
          <p:cNvPr id="16" name="Text 14"/>
          <p:cNvSpPr/>
          <p:nvPr/>
        </p:nvSpPr>
        <p:spPr>
          <a:xfrm>
            <a:off x="4754880" y="3383280"/>
            <a:ext cx="3657600" cy="1325880"/>
          </a:xfrm>
          <a:prstGeom prst="rect">
            <a:avLst/>
          </a:prstGeom>
          <a:noFill/>
          <a:ln/>
        </p:spPr>
        <p:txBody>
          <a:bodyPr wrap="square" rtlCol="0" anchor="t"/>
          <a:lstStyle/>
          <a:p>
            <a:pPr indent="0" marL="0">
              <a:buNone/>
            </a:pPr>
            <a:r>
              <a:rPr lang="en-US" sz="1000" dirty="0">
                <a:solidFill>
                  <a:srgbClr val="0E1C42"/>
                </a:solidFill>
                <a:latin typeface="Calibri" pitchFamily="34" charset="0"/>
                <a:ea typeface="Calibri" pitchFamily="34" charset="-122"/>
                <a:cs typeface="Calibri" pitchFamily="34" charset="-120"/>
              </a:rPr>
              <a:t>Spanish written account, 1560s</a:t>
            </a:r>
            <a:endParaRPr lang="en-US" sz="1000" dirty="0"/>
          </a:p>
          <a:p>
            <a:pPr indent="0" marL="0">
              <a:buNone/>
            </a:pPr>
            <a:r>
              <a:rPr lang="en-US" sz="1000" dirty="0">
                <a:solidFill>
                  <a:srgbClr val="0E1C42"/>
                </a:solidFill>
                <a:latin typeface="Calibri" pitchFamily="34" charset="0"/>
                <a:ea typeface="Calibri" pitchFamily="34" charset="-122"/>
                <a:cs typeface="Calibri" pitchFamily="34" charset="-120"/>
              </a:rPr>
              <a:t>Calusa described as powerful,</a:t>
            </a:r>
            <a:endParaRPr lang="en-US" sz="1000" dirty="0"/>
          </a:p>
          <a:p>
            <a:pPr indent="0" marL="0">
              <a:buNone/>
            </a:pPr>
            <a:r>
              <a:rPr lang="en-US" sz="1000" dirty="0">
                <a:solidFill>
                  <a:srgbClr val="0E1C42"/>
                </a:solidFill>
                <a:latin typeface="Calibri" pitchFamily="34" charset="0"/>
                <a:ea typeface="Calibri" pitchFamily="34" charset="-122"/>
                <a:cs typeface="Calibri" pitchFamily="34" charset="-120"/>
              </a:rPr>
              <a:t>controlled wide trade network</a:t>
            </a:r>
            <a:endParaRPr lang="en-US" sz="1000" dirty="0"/>
          </a:p>
          <a:p>
            <a:pPr indent="0" marL="0">
              <a:buNone/>
            </a:pPr>
            <a:endParaRPr lang="en-US" sz="1000" dirty="0"/>
          </a:p>
          <a:p>
            <a:pPr indent="0" marL="0">
              <a:buNone/>
            </a:pPr>
            <a:r>
              <a:rPr lang="en-US" sz="1000" dirty="0">
                <a:solidFill>
                  <a:srgbClr val="0E1C42"/>
                </a:solidFill>
                <a:latin typeface="Calibri" pitchFamily="34" charset="0"/>
                <a:ea typeface="Calibri" pitchFamily="34" charset="-122"/>
                <a:cs typeface="Calibri" pitchFamily="34" charset="-120"/>
              </a:rPr>
              <a:t>Shows: political power, reach</a:t>
            </a:r>
            <a:endParaRPr lang="en-US" sz="1000" dirty="0"/>
          </a:p>
          <a:p>
            <a:pPr indent="0" marL="0">
              <a:buNone/>
            </a:pPr>
            <a:r>
              <a:rPr lang="en-US" sz="1000" dirty="0">
                <a:solidFill>
                  <a:srgbClr val="0E1C42"/>
                </a:solidFill>
                <a:latin typeface="Calibri" pitchFamily="34" charset="0"/>
                <a:ea typeface="Calibri" pitchFamily="34" charset="-122"/>
                <a:cs typeface="Calibri" pitchFamily="34" charset="-120"/>
              </a:rPr>
              <a:t>Cannot show: daily life, art, spirit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182880"/>
            <a:ext cx="8412480" cy="274320"/>
          </a:xfrm>
          <a:prstGeom prst="rect">
            <a:avLst/>
          </a:prstGeom>
          <a:noFill/>
          <a:ln/>
        </p:spPr>
        <p:txBody>
          <a:bodyPr wrap="square"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EVALUATE THE SOURCES</a:t>
            </a:r>
            <a:endParaRPr lang="en-US" sz="1000" dirty="0"/>
          </a:p>
        </p:txBody>
      </p:sp>
      <p:sp>
        <p:nvSpPr>
          <p:cNvPr id="4" name="Text 2"/>
          <p:cNvSpPr/>
          <p:nvPr/>
        </p:nvSpPr>
        <p:spPr>
          <a:xfrm>
            <a:off x="365760" y="457200"/>
            <a:ext cx="8412480" cy="54864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What Can an Artifact Prove — and What Can't It?</a:t>
            </a:r>
            <a:endParaRPr lang="en-US" sz="2200" dirty="0"/>
          </a:p>
        </p:txBody>
      </p:sp>
      <p:sp>
        <p:nvSpPr>
          <p:cNvPr id="5" name="Shape 3"/>
          <p:cNvSpPr/>
          <p:nvPr/>
        </p:nvSpPr>
        <p:spPr>
          <a:xfrm>
            <a:off x="365760" y="1097280"/>
            <a:ext cx="5029200" cy="3566160"/>
          </a:xfrm>
          <a:prstGeom prst="roundRect">
            <a:avLst>
              <a:gd name="adj" fmla="val 3846"/>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548640" y="1188720"/>
            <a:ext cx="466344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EVALUATE THE SOURCE</a:t>
            </a:r>
            <a:endParaRPr lang="en-US" sz="900" dirty="0"/>
          </a:p>
        </p:txBody>
      </p:sp>
      <p:sp>
        <p:nvSpPr>
          <p:cNvPr id="7" name="Text 5"/>
          <p:cNvSpPr/>
          <p:nvPr/>
        </p:nvSpPr>
        <p:spPr>
          <a:xfrm>
            <a:off x="548640" y="1444752"/>
            <a:ext cx="4663440" cy="312724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The Key Marco Cat was carved by the Calusa — does that make it a more reliable source than the Spanish account? Why?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perspective is completely missing from the Spanish account that the artifact gives us?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A tool was found but we don't know who made it or when. Is it still evidence? How do historians use evidence they can't fully verify?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two historians look at the Key Marco Cat and reach completely different — but both valid — conclusions?</a:t>
            </a:r>
            <a:endParaRPr lang="en-US" sz="1100" dirty="0"/>
          </a:p>
        </p:txBody>
      </p:sp>
      <p:sp>
        <p:nvSpPr>
          <p:cNvPr id="8" name="Shape 6"/>
          <p:cNvSpPr/>
          <p:nvPr/>
        </p:nvSpPr>
        <p:spPr>
          <a:xfrm>
            <a:off x="5577840" y="1097280"/>
            <a:ext cx="3246120" cy="2286000"/>
          </a:xfrm>
          <a:prstGeom prst="roundRect">
            <a:avLst>
              <a:gd name="adj" fmla="val 4800"/>
            </a:avLst>
          </a:prstGeom>
          <a:solidFill>
            <a:srgbClr val="FFF3DC"/>
          </a:solidFill>
          <a:ln w="19050">
            <a:solidFill>
              <a:srgbClr val="F5E6C8"/>
            </a:solidFill>
            <a:prstDash val="solid"/>
          </a:ln>
        </p:spPr>
      </p:sp>
      <p:sp>
        <p:nvSpPr>
          <p:cNvPr id="9" name="Text 7"/>
          <p:cNvSpPr/>
          <p:nvPr/>
        </p:nvSpPr>
        <p:spPr>
          <a:xfrm>
            <a:off x="5715000" y="1152144"/>
            <a:ext cx="29718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5715000" y="1353312"/>
            <a:ext cx="2971800" cy="19659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"Source A and Source B agree that the Calusa... but disagree about..."</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"An artifact is especially useful because... but it can't tell us..."</a:t>
            </a:r>
            <a:endParaRPr lang="en-US" sz="1200" dirty="0"/>
          </a:p>
        </p:txBody>
      </p:sp>
      <p:sp>
        <p:nvSpPr>
          <p:cNvPr id="11" name="Shape 9"/>
          <p:cNvSpPr/>
          <p:nvPr/>
        </p:nvSpPr>
        <p:spPr>
          <a:xfrm>
            <a:off x="5577840" y="3520440"/>
            <a:ext cx="3246120" cy="1188720"/>
          </a:xfrm>
          <a:prstGeom prst="roundRect">
            <a:avLst>
              <a:gd name="adj" fmla="val 7692"/>
            </a:avLst>
          </a:prstGeom>
          <a:solidFill>
            <a:srgbClr val="FFFFFF"/>
          </a:solidFill>
          <a:ln w="12700">
            <a:solidFill>
              <a:srgbClr val="D4943A"/>
            </a:solidFill>
            <a:prstDash val="solid"/>
          </a:ln>
        </p:spPr>
      </p:sp>
      <p:sp>
        <p:nvSpPr>
          <p:cNvPr id="12" name="Text 10"/>
          <p:cNvSpPr/>
          <p:nvPr/>
        </p:nvSpPr>
        <p:spPr>
          <a:xfrm>
            <a:off x="5760720" y="3611880"/>
            <a:ext cx="2880360" cy="228600"/>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ASSIGNMENT PREVIEW</a:t>
            </a:r>
            <a:endParaRPr lang="en-US" sz="900" dirty="0"/>
          </a:p>
        </p:txBody>
      </p:sp>
      <p:sp>
        <p:nvSpPr>
          <p:cNvPr id="13" name="Text 11"/>
          <p:cNvSpPr/>
          <p:nvPr/>
        </p:nvSpPr>
        <p:spPr>
          <a:xfrm>
            <a:off x="5760720" y="3886200"/>
            <a:ext cx="2880360" cy="731520"/>
          </a:xfrm>
          <a:prstGeom prst="rect">
            <a:avLst/>
          </a:prstGeom>
          <a:noFill/>
          <a:ln/>
        </p:spPr>
        <p:txBody>
          <a:bodyPr wrap="square" rtlCol="0" anchor="t"/>
          <a:lstStyle/>
          <a:p>
            <a:pPr indent="0" marL="0">
              <a:buNone/>
            </a:pPr>
            <a:r>
              <a:rPr lang="en-US" sz="1000" i="1" dirty="0">
                <a:solidFill>
                  <a:srgbClr val="5A4A3A"/>
                </a:solidFill>
                <a:latin typeface="Calibri" pitchFamily="34" charset="0"/>
                <a:ea typeface="Calibri" pitchFamily="34" charset="-122"/>
                <a:cs typeface="Calibri" pitchFamily="34" charset="-120"/>
              </a:rPr>
              <a:t>Q3 later: Why are artifacts especially important for peoples who didn't leave written records?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w="12700">
            <a:solidFill>
              <a:srgbClr val="0E1C42"/>
            </a:solidFill>
            <a:prstDash val="solid"/>
          </a:ln>
        </p:spPr>
      </p:sp>
      <p:sp>
        <p:nvSpPr>
          <p:cNvPr id="3" name="Shape 1"/>
          <p:cNvSpPr/>
          <p:nvPr/>
        </p:nvSpPr>
        <p:spPr>
          <a:xfrm>
            <a:off x="0" y="0"/>
            <a:ext cx="9144000" cy="73152"/>
          </a:xfrm>
          <a:prstGeom prst="rect">
            <a:avLst/>
          </a:prstGeom>
          <a:solidFill>
            <a:srgbClr val="55C8E8"/>
          </a:solidFill>
          <a:ln w="12700">
            <a:solidFill>
              <a:srgbClr val="55C8E8"/>
            </a:solidFill>
            <a:prstDash val="solid"/>
          </a:ln>
        </p:spPr>
      </p:sp>
      <p:sp>
        <p:nvSpPr>
          <p:cNvPr id="4" name="Text 2"/>
          <p:cNvSpPr/>
          <p:nvPr/>
        </p:nvSpPr>
        <p:spPr>
          <a:xfrm>
            <a:off x="457200" y="182880"/>
            <a:ext cx="8229600" cy="292608"/>
          </a:xfrm>
          <a:prstGeom prst="rect">
            <a:avLst/>
          </a:prstGeom>
          <a:noFill/>
          <a:ln/>
        </p:spPr>
        <p:txBody>
          <a:bodyPr wrap="square" rtlCol="0" anchor="ctr"/>
          <a:lstStyle/>
          <a:p>
            <a:pPr algn="ctr" indent="0" marL="0">
              <a:buNone/>
            </a:pPr>
            <a:r>
              <a:rPr lang="en-US" sz="1100" b="1" spc="200" kern="0" dirty="0">
                <a:solidFill>
                  <a:srgbClr val="55C8E8"/>
                </a:solidFill>
                <a:latin typeface="Calibri" pitchFamily="34" charset="0"/>
                <a:ea typeface="Calibri" pitchFamily="34" charset="-122"/>
                <a:cs typeface="Calibri" pitchFamily="34" charset="-120"/>
              </a:rPr>
              <a:t>TRANSFERABLE PATTERN</a:t>
            </a:r>
            <a:endParaRPr lang="en-US" sz="1100" dirty="0"/>
          </a:p>
        </p:txBody>
      </p:sp>
      <p:sp>
        <p:nvSpPr>
          <p:cNvPr id="5" name="Text 3"/>
          <p:cNvSpPr/>
          <p:nvPr/>
        </p:nvSpPr>
        <p:spPr>
          <a:xfrm>
            <a:off x="457200" y="502920"/>
            <a:ext cx="8229600" cy="640080"/>
          </a:xfrm>
          <a:prstGeom prst="rect">
            <a:avLst/>
          </a:prstGeom>
          <a:noFill/>
          <a:ln/>
        </p:spPr>
        <p:txBody>
          <a:bodyPr wrap="square" rtlCol="0" anchor="ctr"/>
          <a:lstStyle/>
          <a:p>
            <a:pPr algn="ctr" indent="0" marL="0">
              <a:buNone/>
            </a:pPr>
            <a:r>
              <a:rPr lang="en-US" sz="2300" b="1" dirty="0">
                <a:solidFill>
                  <a:srgbClr val="FFFFFF"/>
                </a:solidFill>
                <a:latin typeface="Cambria" pitchFamily="34" charset="0"/>
                <a:ea typeface="Cambria" pitchFamily="34" charset="-122"/>
                <a:cs typeface="Cambria" pitchFamily="34" charset="-120"/>
              </a:rPr>
              <a:t>The Absence of Writing Is Not the Absence of Evidence</a:t>
            </a:r>
            <a:endParaRPr lang="en-US" sz="2300" dirty="0"/>
          </a:p>
        </p:txBody>
      </p:sp>
      <p:sp>
        <p:nvSpPr>
          <p:cNvPr id="6" name="Shape 4"/>
          <p:cNvSpPr/>
          <p:nvPr/>
        </p:nvSpPr>
        <p:spPr>
          <a:xfrm>
            <a:off x="457200" y="1280160"/>
            <a:ext cx="8229600" cy="1051560"/>
          </a:xfrm>
          <a:prstGeom prst="roundRect">
            <a:avLst>
              <a:gd name="adj" fmla="val 13043"/>
            </a:avLst>
          </a:prstGeom>
          <a:solidFill>
            <a:srgbClr val="1A2D5A"/>
          </a:solidFill>
          <a:ln w="19050">
            <a:solidFill>
              <a:srgbClr val="55C8E8"/>
            </a:solidFill>
            <a:prstDash val="solid"/>
          </a:ln>
        </p:spPr>
      </p:sp>
      <p:sp>
        <p:nvSpPr>
          <p:cNvPr id="7" name="Text 5"/>
          <p:cNvSpPr/>
          <p:nvPr/>
        </p:nvSpPr>
        <p:spPr>
          <a:xfrm>
            <a:off x="685800" y="1371600"/>
            <a:ext cx="7772400" cy="868680"/>
          </a:xfrm>
          <a:prstGeom prst="rect">
            <a:avLst/>
          </a:prstGeom>
          <a:noFill/>
          <a:ln/>
        </p:spPr>
        <p:txBody>
          <a:bodyPr wrap="square" rtlCol="0" anchor="ctr"/>
          <a:lstStyle/>
          <a:p>
            <a:pPr indent="0" marL="0">
              <a:buNone/>
            </a:pPr>
            <a:r>
              <a:rPr lang="en-US" sz="1400" i="1" dirty="0">
                <a:solidFill>
                  <a:srgbClr val="FFFFFF"/>
                </a:solidFill>
                <a:latin typeface="Cambria" pitchFamily="34" charset="0"/>
                <a:ea typeface="Cambria" pitchFamily="34" charset="-122"/>
                <a:cs typeface="Cambria" pitchFamily="34" charset="-120"/>
              </a:rPr>
              <a:t>Some people assume: if a group didn't write anything down, we can't know much about them. Artifacts prove otherwise. The Key Marco Cat is proof: one object, preserved in muck for centuries, tells us real things about the Calusa. One artifact can change what a whole community looks like in history.</a:t>
            </a:r>
            <a:endParaRPr lang="en-US" sz="1400" dirty="0"/>
          </a:p>
        </p:txBody>
      </p:sp>
      <p:sp>
        <p:nvSpPr>
          <p:cNvPr id="8" name="Text 6"/>
          <p:cNvSpPr/>
          <p:nvPr/>
        </p:nvSpPr>
        <p:spPr>
          <a:xfrm>
            <a:off x="457200" y="2468880"/>
            <a:ext cx="8229600" cy="292608"/>
          </a:xfrm>
          <a:prstGeom prst="rect">
            <a:avLst/>
          </a:prstGeom>
          <a:noFill/>
          <a:ln/>
        </p:spPr>
        <p:txBody>
          <a:bodyPr wrap="square" rtlCol="0" anchor="ctr"/>
          <a:lstStyle/>
          <a:p>
            <a:pPr indent="0" marL="0">
              <a:buNone/>
            </a:pPr>
            <a:r>
              <a:rPr lang="en-US" sz="1200" b="1" spc="100" kern="0" dirty="0">
                <a:solidFill>
                  <a:srgbClr val="D4943A"/>
                </a:solidFill>
                <a:latin typeface="Calibri" pitchFamily="34" charset="0"/>
                <a:ea typeface="Calibri" pitchFamily="34" charset="-122"/>
                <a:cs typeface="Calibri" pitchFamily="34" charset="-120"/>
              </a:rPr>
              <a:t>THE PATTERN APPLIES EVERYWHERE:</a:t>
            </a:r>
            <a:endParaRPr lang="en-US" sz="1200" dirty="0"/>
          </a:p>
        </p:txBody>
      </p:sp>
      <p:sp>
        <p:nvSpPr>
          <p:cNvPr id="9" name="Text 7"/>
          <p:cNvSpPr/>
          <p:nvPr/>
        </p:nvSpPr>
        <p:spPr>
          <a:xfrm>
            <a:off x="457200" y="2761488"/>
            <a:ext cx="8229600" cy="594360"/>
          </a:xfrm>
          <a:prstGeom prst="rect">
            <a:avLst/>
          </a:prstGeom>
          <a:noFill/>
          <a:ln/>
        </p:spPr>
        <p:txBody>
          <a:bodyPr wrap="square" rtlCol="0" anchor="ctr"/>
          <a:lstStyle/>
          <a:p>
            <a:pPr indent="0" marL="0">
              <a:buNone/>
            </a:pPr>
            <a:r>
              <a:rPr lang="en-US" sz="1400" i="1" dirty="0">
                <a:solidFill>
                  <a:srgbClr val="F0F2F8"/>
                </a:solidFill>
                <a:latin typeface="Cambria" pitchFamily="34" charset="0"/>
                <a:ea typeface="Cambria" pitchFamily="34" charset="-122"/>
                <a:cs typeface="Cambria" pitchFamily="34" charset="-120"/>
              </a:rPr>
              <a:t>Every culture without written records — ancient, medieval, or modern — is studied through artifacts. Archaeology gives voice to peoples that written history overlooked or excluded.</a:t>
            </a:r>
            <a:endParaRPr lang="en-US" sz="1400" dirty="0"/>
          </a:p>
        </p:txBody>
      </p:sp>
      <p:sp>
        <p:nvSpPr>
          <p:cNvPr id="10" name="Shape 8"/>
          <p:cNvSpPr/>
          <p:nvPr/>
        </p:nvSpPr>
        <p:spPr>
          <a:xfrm>
            <a:off x="457200" y="3474720"/>
            <a:ext cx="8229600" cy="1234440"/>
          </a:xfrm>
          <a:prstGeom prst="roundRect">
            <a:avLst>
              <a:gd name="adj" fmla="val 8889"/>
            </a:avLst>
          </a:prstGeom>
          <a:solidFill>
            <a:srgbClr val="0B1835"/>
          </a:solidFill>
          <a:ln w="12700">
            <a:solidFill>
              <a:srgbClr val="D4943A"/>
            </a:solidFill>
            <a:prstDash val="solid"/>
          </a:ln>
        </p:spPr>
      </p:sp>
      <p:sp>
        <p:nvSpPr>
          <p:cNvPr id="11" name="Text 9"/>
          <p:cNvSpPr/>
          <p:nvPr/>
        </p:nvSpPr>
        <p:spPr>
          <a:xfrm>
            <a:off x="685800" y="3584448"/>
            <a:ext cx="7772400" cy="256032"/>
          </a:xfrm>
          <a:prstGeom prst="rect">
            <a:avLst/>
          </a:prstGeom>
          <a:noFill/>
          <a:ln/>
        </p:spPr>
        <p:txBody>
          <a:bodyPr wrap="square" rtlCol="0" anchor="ctr"/>
          <a:lstStyle/>
          <a:p>
            <a:pPr indent="0" marL="0">
              <a:buNone/>
            </a:pPr>
            <a:r>
              <a:rPr lang="en-US" sz="1100" b="1" spc="100" kern="0" dirty="0">
                <a:solidFill>
                  <a:srgbClr val="D4943A"/>
                </a:solidFill>
                <a:latin typeface="Calibri" pitchFamily="34" charset="0"/>
                <a:ea typeface="Calibri" pitchFamily="34" charset="-122"/>
                <a:cs typeface="Calibri" pitchFamily="34" charset="-120"/>
              </a:rPr>
              <a:t>HONEST HISTORIAN RULE:</a:t>
            </a:r>
            <a:endParaRPr lang="en-US" sz="1100" dirty="0"/>
          </a:p>
        </p:txBody>
      </p:sp>
      <p:sp>
        <p:nvSpPr>
          <p:cNvPr id="12" name="Text 10"/>
          <p:cNvSpPr/>
          <p:nvPr/>
        </p:nvSpPr>
        <p:spPr>
          <a:xfrm>
            <a:off x="685800" y="3858768"/>
            <a:ext cx="7772400" cy="758952"/>
          </a:xfrm>
          <a:prstGeom prst="rect">
            <a:avLst/>
          </a:prstGeom>
          <a:noFill/>
          <a:ln/>
        </p:spPr>
        <p:txBody>
          <a:bodyPr wrap="square" rtlCol="0" anchor="t"/>
          <a:lstStyle/>
          <a:p>
            <a:pPr indent="0" marL="0">
              <a:buNone/>
            </a:pPr>
            <a:r>
              <a:rPr lang="en-US" sz="1200" i="1" dirty="0">
                <a:solidFill>
                  <a:srgbClr val="F0F2F8"/>
                </a:solidFill>
                <a:latin typeface="Calibri" pitchFamily="34" charset="0"/>
                <a:ea typeface="Calibri" pitchFamily="34" charset="-122"/>
                <a:cs typeface="Calibri" pitchFamily="34" charset="-120"/>
              </a:rPr>
              <a:t>Name what the artifact shows. Name what it doesn't show. Use 'I see' for observation. Use 'Maybe' for inference. Never claim more than the evidence supports. That's not weakness — that's the highest form of historical thinking.</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w="12700">
            <a:solidFill>
              <a:srgbClr val="0E1C42"/>
            </a:solidFill>
            <a:prstDash val="solid"/>
          </a:ln>
        </p:spPr>
      </p:sp>
      <p:sp>
        <p:nvSpPr>
          <p:cNvPr id="3" name="Shape 1"/>
          <p:cNvSpPr/>
          <p:nvPr/>
        </p:nvSpPr>
        <p:spPr>
          <a:xfrm>
            <a:off x="0" y="0"/>
            <a:ext cx="9144000" cy="73152"/>
          </a:xfrm>
          <a:prstGeom prst="rect">
            <a:avLst/>
          </a:prstGeom>
          <a:solidFill>
            <a:srgbClr val="D4943A"/>
          </a:solidFill>
          <a:ln w="12700">
            <a:solidFill>
              <a:srgbClr val="D4943A"/>
            </a:solidFill>
            <a:prstDash val="solid"/>
          </a:ln>
        </p:spPr>
      </p:sp>
      <p:sp>
        <p:nvSpPr>
          <p:cNvPr id="4" name="Text 2"/>
          <p:cNvSpPr/>
          <p:nvPr/>
        </p:nvSpPr>
        <p:spPr>
          <a:xfrm>
            <a:off x="457200" y="228600"/>
            <a:ext cx="8229600" cy="274320"/>
          </a:xfrm>
          <a:prstGeom prst="rect">
            <a:avLst/>
          </a:prstGeom>
          <a:noFill/>
          <a:ln/>
        </p:spPr>
        <p:txBody>
          <a:bodyPr wrap="square" rtlCol="0" anchor="ctr"/>
          <a:lstStyle/>
          <a:p>
            <a:pPr algn="ctr" indent="0" marL="0">
              <a:buNone/>
            </a:pPr>
            <a:r>
              <a:rPr lang="en-US" sz="1100" b="1" spc="200" kern="0" dirty="0">
                <a:solidFill>
                  <a:srgbClr val="D4943A"/>
                </a:solidFill>
                <a:latin typeface="Calibri" pitchFamily="34" charset="0"/>
                <a:ea typeface="Calibri" pitchFamily="34" charset="-122"/>
                <a:cs typeface="Calibri" pitchFamily="34" charset="-120"/>
              </a:rPr>
              <a:t>VIRTUE SPOTLIGHT</a:t>
            </a:r>
            <a:endParaRPr lang="en-US" sz="1100" dirty="0"/>
          </a:p>
        </p:txBody>
      </p:sp>
      <p:sp>
        <p:nvSpPr>
          <p:cNvPr id="5" name="Text 3"/>
          <p:cNvSpPr/>
          <p:nvPr/>
        </p:nvSpPr>
        <p:spPr>
          <a:xfrm>
            <a:off x="457200" y="548640"/>
            <a:ext cx="8229600" cy="822960"/>
          </a:xfrm>
          <a:prstGeom prst="rect">
            <a:avLst/>
          </a:prstGeom>
          <a:noFill/>
          <a:ln/>
        </p:spPr>
        <p:txBody>
          <a:bodyPr wrap="square"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Honesty</a:t>
            </a:r>
            <a:endParaRPr lang="en-US" sz="4800" dirty="0"/>
          </a:p>
        </p:txBody>
      </p:sp>
      <p:sp>
        <p:nvSpPr>
          <p:cNvPr id="6" name="Shape 4"/>
          <p:cNvSpPr/>
          <p:nvPr/>
        </p:nvSpPr>
        <p:spPr>
          <a:xfrm>
            <a:off x="731520" y="1463040"/>
            <a:ext cx="7680960" cy="1828800"/>
          </a:xfrm>
          <a:prstGeom prst="roundRect">
            <a:avLst>
              <a:gd name="adj" fmla="val 9000"/>
            </a:avLst>
          </a:prstGeom>
          <a:solidFill>
            <a:srgbClr val="1A2D5A"/>
          </a:solidFill>
          <a:ln w="19050">
            <a:solidFill>
              <a:srgbClr val="D4943A"/>
            </a:solidFill>
            <a:prstDash val="solid"/>
          </a:ln>
        </p:spPr>
      </p:sp>
      <p:sp>
        <p:nvSpPr>
          <p:cNvPr id="7" name="Text 5"/>
          <p:cNvSpPr/>
          <p:nvPr/>
        </p:nvSpPr>
        <p:spPr>
          <a:xfrm>
            <a:off x="960120" y="1581912"/>
            <a:ext cx="7223760" cy="685800"/>
          </a:xfrm>
          <a:prstGeom prst="rect">
            <a:avLst/>
          </a:prstGeom>
          <a:noFill/>
          <a:ln/>
        </p:spPr>
        <p:txBody>
          <a:bodyPr wrap="square" rtlCol="0" anchor="t"/>
          <a:lstStyle/>
          <a:p>
            <a:pPr indent="0" marL="0">
              <a:buNone/>
            </a:pPr>
            <a:r>
              <a:rPr lang="en-US" sz="1400" i="1" dirty="0">
                <a:solidFill>
                  <a:srgbClr val="FFFFFF"/>
                </a:solidFill>
                <a:latin typeface="Cambria" pitchFamily="34" charset="0"/>
                <a:ea typeface="Cambria" pitchFamily="34" charset="-122"/>
                <a:cs typeface="Cambria" pitchFamily="34" charset="-120"/>
              </a:rPr>
              <a:t>An honest historian-citizen knows the difference between two things: 'I see this' and 'I think this.' Today, every time you describe the artifact, ask yourself:</a:t>
            </a:r>
            <a:endParaRPr lang="en-US" sz="1400" dirty="0"/>
          </a:p>
        </p:txBody>
      </p:sp>
      <p:sp>
        <p:nvSpPr>
          <p:cNvPr id="8" name="Text 6"/>
          <p:cNvSpPr/>
          <p:nvPr/>
        </p:nvSpPr>
        <p:spPr>
          <a:xfrm>
            <a:off x="960120" y="2286000"/>
            <a:ext cx="7223760" cy="548640"/>
          </a:xfrm>
          <a:prstGeom prst="rect">
            <a:avLst/>
          </a:prstGeom>
          <a:noFill/>
          <a:ln/>
        </p:spPr>
        <p:txBody>
          <a:bodyPr wrap="square" rtlCol="0" anchor="t"/>
          <a:lstStyle/>
          <a:p>
            <a:pPr indent="0" marL="0">
              <a:buNone/>
            </a:pPr>
            <a:r>
              <a:rPr lang="en-US" sz="1500" b="1" dirty="0">
                <a:solidFill>
                  <a:srgbClr val="D4943A"/>
                </a:solidFill>
                <a:latin typeface="Cambria" pitchFamily="34" charset="0"/>
                <a:ea typeface="Cambria" pitchFamily="34" charset="-122"/>
                <a:cs typeface="Cambria" pitchFamily="34" charset="-120"/>
              </a:rPr>
              <a:t>Am I describing what's really there — or am I guessing? Both are okay. Just be honest about which one you're doing.</a:t>
            </a:r>
            <a:endParaRPr lang="en-US" sz="1500" dirty="0"/>
          </a:p>
        </p:txBody>
      </p:sp>
      <p:sp>
        <p:nvSpPr>
          <p:cNvPr id="9" name="Shape 7"/>
          <p:cNvSpPr/>
          <p:nvPr/>
        </p:nvSpPr>
        <p:spPr>
          <a:xfrm>
            <a:off x="731520" y="3383280"/>
            <a:ext cx="7680960" cy="1417320"/>
          </a:xfrm>
          <a:prstGeom prst="roundRect">
            <a:avLst>
              <a:gd name="adj" fmla="val 7742"/>
            </a:avLst>
          </a:prstGeom>
          <a:solidFill>
            <a:srgbClr val="0B1835"/>
          </a:solidFill>
          <a:ln w="12700">
            <a:solidFill>
              <a:srgbClr val="55C8E8"/>
            </a:solidFill>
            <a:prstDash val="solid"/>
          </a:ln>
        </p:spPr>
      </p:sp>
      <p:sp>
        <p:nvSpPr>
          <p:cNvPr id="10" name="Text 8"/>
          <p:cNvSpPr/>
          <p:nvPr/>
        </p:nvSpPr>
        <p:spPr>
          <a:xfrm>
            <a:off x="960120" y="3493008"/>
            <a:ext cx="7223760" cy="256032"/>
          </a:xfrm>
          <a:prstGeom prst="rect">
            <a:avLst/>
          </a:prstGeom>
          <a:noFill/>
          <a:ln/>
        </p:spPr>
        <p:txBody>
          <a:bodyPr wrap="square" rtlCol="0" anchor="ctr"/>
          <a:lstStyle/>
          <a:p>
            <a:pPr indent="0" marL="0">
              <a:buNone/>
            </a:pPr>
            <a:r>
              <a:rPr lang="en-US" sz="1100" b="1" dirty="0">
                <a:solidFill>
                  <a:srgbClr val="55C8E8"/>
                </a:solidFill>
                <a:latin typeface="Calibri" pitchFamily="34" charset="0"/>
                <a:ea typeface="Calibri" pitchFamily="34" charset="-122"/>
                <a:cs typeface="Calibri" pitchFamily="34" charset="-120"/>
              </a:rPr>
              <a:t>Honest language for your object label:</a:t>
            </a:r>
            <a:endParaRPr lang="en-US" sz="1100" dirty="0"/>
          </a:p>
        </p:txBody>
      </p:sp>
      <p:sp>
        <p:nvSpPr>
          <p:cNvPr id="11" name="Text 9"/>
          <p:cNvSpPr/>
          <p:nvPr/>
        </p:nvSpPr>
        <p:spPr>
          <a:xfrm>
            <a:off x="960120" y="3767328"/>
            <a:ext cx="7223760" cy="932688"/>
          </a:xfrm>
          <a:prstGeom prst="rect">
            <a:avLst/>
          </a:prstGeom>
          <a:noFill/>
          <a:ln/>
        </p:spPr>
        <p:txBody>
          <a:bodyPr wrap="square" rtlCol="0" anchor="t"/>
          <a:lstStyle/>
          <a:p>
            <a:pPr indent="0" marL="0">
              <a:buNone/>
            </a:pPr>
            <a:r>
              <a:rPr lang="en-US" sz="1100" i="1" dirty="0">
                <a:solidFill>
                  <a:srgbClr val="F0F2F8"/>
                </a:solidFill>
                <a:latin typeface="Calibri" pitchFamily="34" charset="0"/>
                <a:ea typeface="Calibri" pitchFamily="34" charset="-122"/>
                <a:cs typeface="Calibri" pitchFamily="34" charset="-120"/>
              </a:rPr>
              <a:t>WHAT I SEE: 'I see a small carved wooden figure with rounded ears and a kneeling posture.'</a:t>
            </a:r>
            <a:endParaRPr lang="en-US" sz="1100" dirty="0"/>
          </a:p>
          <a:p>
            <a:pPr indent="0" marL="0">
              <a:buNone/>
            </a:pPr>
            <a:r>
              <a:rPr lang="en-US" sz="1100" i="1" dirty="0">
                <a:solidFill>
                  <a:srgbClr val="F0F2F8"/>
                </a:solidFill>
                <a:latin typeface="Calibri" pitchFamily="34" charset="0"/>
                <a:ea typeface="Calibri" pitchFamily="34" charset="-122"/>
                <a:cs typeface="Calibri" pitchFamily="34" charset="-120"/>
              </a:rPr>
              <a:t>WHAT I THINK: 'Maybe this figure represents an animal spirit important to the Calusa.'</a:t>
            </a:r>
            <a:endParaRPr lang="en-US" sz="1100" dirty="0"/>
          </a:p>
          <a:p>
            <a:pPr indent="0" marL="0">
              <a:buNone/>
            </a:pPr>
            <a:r>
              <a:rPr lang="en-US" sz="1100" i="1" dirty="0">
                <a:solidFill>
                  <a:srgbClr val="F0F2F8"/>
                </a:solidFill>
                <a:latin typeface="Calibri" pitchFamily="34" charset="0"/>
                <a:ea typeface="Calibri" pitchFamily="34" charset="-122"/>
                <a:cs typeface="Calibri" pitchFamily="34" charset="-120"/>
              </a:rPr>
              <a:t>WHAT I CANNOT KNOW: 'I cannot know who made this, or what ceremony it was used in.'</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73152"/>
          </a:xfrm>
          <a:prstGeom prst="rect">
            <a:avLst/>
          </a:prstGeom>
          <a:solidFill>
            <a:srgbClr val="1A8A7D"/>
          </a:solidFill>
          <a:ln w="12700">
            <a:solidFill>
              <a:srgbClr val="1A8A7D"/>
            </a:solidFill>
            <a:prstDash val="solid"/>
          </a:ln>
        </p:spPr>
      </p:sp>
      <p:sp>
        <p:nvSpPr>
          <p:cNvPr id="4" name="Text 2"/>
          <p:cNvSpPr/>
          <p:nvPr/>
        </p:nvSpPr>
        <p:spPr>
          <a:xfrm>
            <a:off x="365760" y="182880"/>
            <a:ext cx="8412480" cy="274320"/>
          </a:xfrm>
          <a:prstGeom prst="rect">
            <a:avLst/>
          </a:prstGeom>
          <a:noFill/>
          <a:ln/>
        </p:spPr>
        <p:txBody>
          <a:bodyPr wrap="square"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GUIDED PRACTICE — TEACHER MODELS</a:t>
            </a:r>
            <a:endParaRPr lang="en-US" sz="1000" dirty="0"/>
          </a:p>
        </p:txBody>
      </p:sp>
      <p:sp>
        <p:nvSpPr>
          <p:cNvPr id="5" name="Text 3"/>
          <p:cNvSpPr/>
          <p:nvPr/>
        </p:nvSpPr>
        <p:spPr>
          <a:xfrm>
            <a:off x="365760" y="457200"/>
            <a:ext cx="8412480" cy="50292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Watch: Building the Museum Label</a:t>
            </a:r>
            <a:endParaRPr lang="en-US" sz="2200" dirty="0"/>
          </a:p>
        </p:txBody>
      </p:sp>
      <p:sp>
        <p:nvSpPr>
          <p:cNvPr id="6" name="Shape 4"/>
          <p:cNvSpPr/>
          <p:nvPr/>
        </p:nvSpPr>
        <p:spPr>
          <a:xfrm>
            <a:off x="365760" y="1051560"/>
            <a:ext cx="8412480" cy="457200"/>
          </a:xfrm>
          <a:prstGeom prst="roundRect">
            <a:avLst>
              <a:gd name="adj" fmla="val 24000"/>
            </a:avLst>
          </a:prstGeom>
          <a:solidFill>
            <a:srgbClr val="E2F4F0"/>
          </a:solidFill>
          <a:ln w="19050">
            <a:solidFill>
              <a:srgbClr val="1A8A7D"/>
            </a:solidFill>
            <a:prstDash val="solid"/>
          </a:ln>
        </p:spPr>
      </p:sp>
      <p:sp>
        <p:nvSpPr>
          <p:cNvPr id="7" name="Text 5"/>
          <p:cNvSpPr/>
          <p:nvPr/>
        </p:nvSpPr>
        <p:spPr>
          <a:xfrm>
            <a:off x="548640" y="1097280"/>
            <a:ext cx="8046720" cy="347472"/>
          </a:xfrm>
          <a:prstGeom prst="rect">
            <a:avLst/>
          </a:prstGeom>
          <a:noFill/>
          <a:ln/>
        </p:spPr>
        <p:txBody>
          <a:bodyPr wrap="square"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Unlock Challenge: Write an object label — WHAT I SEE + WHAT I THINK. Include 2 observations ('I see...'), 1 inference ('Maybe...'), 1 honest 'cannot know' sentence.</a:t>
            </a:r>
            <a:endParaRPr lang="en-US" sz="1100" dirty="0"/>
          </a:p>
        </p:txBody>
      </p:sp>
      <p:sp>
        <p:nvSpPr>
          <p:cNvPr id="8" name="Shape 6"/>
          <p:cNvSpPr/>
          <p:nvPr/>
        </p:nvSpPr>
        <p:spPr>
          <a:xfrm>
            <a:off x="365760" y="1600200"/>
            <a:ext cx="8412480" cy="2743200"/>
          </a:xfrm>
          <a:prstGeom prst="roundRect">
            <a:avLst>
              <a:gd name="adj" fmla="val 5000"/>
            </a:avLst>
          </a:prstGeom>
          <a:solidFill>
            <a:srgbClr val="FFFFFF"/>
          </a:solidFill>
          <a:ln w="12700">
            <a:solidFill>
              <a:srgbClr val="1A8A7D"/>
            </a:solidFill>
            <a:prstDash val="solid"/>
          </a:ln>
        </p:spPr>
      </p:sp>
      <p:sp>
        <p:nvSpPr>
          <p:cNvPr id="9" name="Text 7"/>
          <p:cNvSpPr/>
          <p:nvPr/>
        </p:nvSpPr>
        <p:spPr>
          <a:xfrm>
            <a:off x="594360" y="1719072"/>
            <a:ext cx="7955280" cy="256032"/>
          </a:xfrm>
          <a:prstGeom prst="rect">
            <a:avLst/>
          </a:prstGeom>
          <a:noFill/>
          <a:ln/>
        </p:spPr>
        <p:txBody>
          <a:bodyPr wrap="square" rtlCol="0" anchor="ctr"/>
          <a:lstStyle/>
          <a:p>
            <a:pPr indent="0" marL="0">
              <a:buNone/>
            </a:pPr>
            <a:r>
              <a:rPr lang="en-US" sz="1000" b="1" spc="100" kern="0" dirty="0">
                <a:solidFill>
                  <a:srgbClr val="1A8A7D"/>
                </a:solidFill>
                <a:latin typeface="Calibri" pitchFamily="34" charset="0"/>
                <a:ea typeface="Calibri" pitchFamily="34" charset="-122"/>
                <a:cs typeface="Calibri" pitchFamily="34" charset="-120"/>
              </a:rPr>
              <a:t>THINK-ALOUD (Teacher models the Key Marco Cat label):</a:t>
            </a:r>
            <a:endParaRPr lang="en-US" sz="1000" dirty="0"/>
          </a:p>
        </p:txBody>
      </p:sp>
      <p:sp>
        <p:nvSpPr>
          <p:cNvPr id="10" name="Text 8"/>
          <p:cNvSpPr/>
          <p:nvPr/>
        </p:nvSpPr>
        <p:spPr>
          <a:xfrm>
            <a:off x="594360" y="2011680"/>
            <a:ext cx="7955280" cy="2212848"/>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WHAT I SEE:</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'I see a small carved wooden figure, approximately the size of my hand. The surface is smooth and dark from age. I see rounded ears at the top of the head and what appears to be a kneeling position.'</a:t>
            </a:r>
            <a:endParaRPr lang="en-US" sz="1100" dirty="0"/>
          </a:p>
          <a:p>
            <a:pPr indent="0" marL="0">
              <a:buNone/>
            </a:pP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WHAT I THINK:</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'Maybe this figure represents an animal — possibly a panther or cat — that was important to the Calusa. I say maybe because I can see the ears, but I cannot confirm what animal was intended.'</a:t>
            </a:r>
            <a:endParaRPr lang="en-US" sz="1100" dirty="0"/>
          </a:p>
          <a:p>
            <a:pPr indent="0" marL="0">
              <a:buNone/>
            </a:pP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WHAT I CANNOT KNOW:</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'I cannot know who carved this figure, what name they gave it, or whether it was used in a ceremony — the object itself cannot tell me.'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182880"/>
            <a:ext cx="8412480" cy="274320"/>
          </a:xfrm>
          <a:prstGeom prst="rect">
            <a:avLst/>
          </a:prstGeom>
          <a:noFill/>
          <a:ln/>
        </p:spPr>
        <p:txBody>
          <a:bodyPr wrap="square"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GUIDED PRACTICE — INVESTIGATE</a:t>
            </a:r>
            <a:endParaRPr lang="en-US" sz="1000" dirty="0"/>
          </a:p>
        </p:txBody>
      </p:sp>
      <p:sp>
        <p:nvSpPr>
          <p:cNvPr id="4" name="Text 2"/>
          <p:cNvSpPr/>
          <p:nvPr/>
        </p:nvSpPr>
        <p:spPr>
          <a:xfrm>
            <a:off x="365760" y="457200"/>
            <a:ext cx="8412480" cy="50292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Your Turn: Observation and Inference</a:t>
            </a:r>
            <a:endParaRPr lang="en-US" sz="2200" dirty="0"/>
          </a:p>
        </p:txBody>
      </p:sp>
      <p:sp>
        <p:nvSpPr>
          <p:cNvPr id="5" name="Shape 3"/>
          <p:cNvSpPr/>
          <p:nvPr/>
        </p:nvSpPr>
        <p:spPr>
          <a:xfrm>
            <a:off x="365760" y="1051560"/>
            <a:ext cx="8412480" cy="475488"/>
          </a:xfrm>
          <a:prstGeom prst="roundRect">
            <a:avLst>
              <a:gd name="adj" fmla="val 23077"/>
            </a:avLst>
          </a:prstGeom>
          <a:solidFill>
            <a:srgbClr val="E8F4FF"/>
          </a:solidFill>
          <a:ln w="19050">
            <a:solidFill>
              <a:srgbClr val="55C8E8"/>
            </a:solidFill>
            <a:prstDash val="solid"/>
          </a:ln>
        </p:spPr>
      </p:sp>
      <p:sp>
        <p:nvSpPr>
          <p:cNvPr id="6" name="Text 4"/>
          <p:cNvSpPr/>
          <p:nvPr/>
        </p:nvSpPr>
        <p:spPr>
          <a:xfrm>
            <a:off x="548640" y="1097280"/>
            <a:ext cx="8046720" cy="347472"/>
          </a:xfrm>
          <a:prstGeom prst="rect">
            <a:avLst/>
          </a:prstGeom>
          <a:noFill/>
          <a:ln/>
        </p:spPr>
        <p:txBody>
          <a:bodyPr wrap="square"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Assignment Q1: Write one observation about the Key Marco Cat — start with 'I see...' and stick to what is really there.</a:t>
            </a:r>
            <a:endParaRPr lang="en-US" sz="1200" dirty="0"/>
          </a:p>
        </p:txBody>
      </p:sp>
      <p:sp>
        <p:nvSpPr>
          <p:cNvPr id="7" name="Shape 5"/>
          <p:cNvSpPr/>
          <p:nvPr/>
        </p:nvSpPr>
        <p:spPr>
          <a:xfrm>
            <a:off x="365760" y="1664208"/>
            <a:ext cx="5029200" cy="3200400"/>
          </a:xfrm>
          <a:prstGeom prst="roundRect">
            <a:avLst>
              <a:gd name="adj" fmla="val 4286"/>
            </a:avLst>
          </a:prstGeom>
          <a:solidFill>
            <a:srgbClr val="1A2D5A"/>
          </a:solidFill>
          <a:ln/>
          <a:effectLst>
            <a:outerShdw sx="100000" sy="100000" kx="0" ky="0" algn="bl" rotWithShape="0" blurRad="101600" dist="38100" dir="8100000">
              <a:srgbClr val="000000">
                <a:alpha val="20000"/>
              </a:srgbClr>
            </a:outerShdw>
          </a:effectLst>
        </p:spPr>
      </p:sp>
      <p:sp>
        <p:nvSpPr>
          <p:cNvPr id="8" name="Text 6"/>
          <p:cNvSpPr/>
          <p:nvPr/>
        </p:nvSpPr>
        <p:spPr>
          <a:xfrm>
            <a:off x="548640" y="1755648"/>
            <a:ext cx="46634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9" name="Text 7"/>
          <p:cNvSpPr/>
          <p:nvPr/>
        </p:nvSpPr>
        <p:spPr>
          <a:xfrm>
            <a:off x="548640" y="2011680"/>
            <a:ext cx="4663440" cy="27614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You wrote 'I see a cat figure.' Is 'cat' an observation or an inference — and what specifically do you see that leads to 'cat'?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make your observation stronger — more details, or different details?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Challenge: someone says 'I see a ceremonial object.' Is that observation or inference? What's wrong with it?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is the best observation you have heard so far — the most specific and most honest?</a:t>
            </a:r>
            <a:endParaRPr lang="en-US" sz="1100" dirty="0"/>
          </a:p>
        </p:txBody>
      </p:sp>
      <p:sp>
        <p:nvSpPr>
          <p:cNvPr id="10" name="Shape 8"/>
          <p:cNvSpPr/>
          <p:nvPr/>
        </p:nvSpPr>
        <p:spPr>
          <a:xfrm>
            <a:off x="5577840" y="1664208"/>
            <a:ext cx="3246120" cy="1828800"/>
          </a:xfrm>
          <a:prstGeom prst="roundRect">
            <a:avLst>
              <a:gd name="adj" fmla="val 6000"/>
            </a:avLst>
          </a:prstGeom>
          <a:solidFill>
            <a:srgbClr val="FFF3DC"/>
          </a:solidFill>
          <a:ln w="19050">
            <a:solidFill>
              <a:srgbClr val="F5E6C8"/>
            </a:solidFill>
            <a:prstDash val="solid"/>
          </a:ln>
        </p:spPr>
      </p:sp>
      <p:sp>
        <p:nvSpPr>
          <p:cNvPr id="11" name="Text 9"/>
          <p:cNvSpPr/>
          <p:nvPr/>
        </p:nvSpPr>
        <p:spPr>
          <a:xfrm>
            <a:off x="5715000" y="1719072"/>
            <a:ext cx="29718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5715000" y="1920240"/>
            <a:ext cx="2971800" cy="15087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see... [specific, literal description of what is visible]"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could strengthen this observation by adding..."</a:t>
            </a:r>
            <a:endParaRPr lang="en-US" sz="1200" dirty="0"/>
          </a:p>
        </p:txBody>
      </p:sp>
      <p:sp>
        <p:nvSpPr>
          <p:cNvPr id="13" name="Shape 11"/>
          <p:cNvSpPr/>
          <p:nvPr/>
        </p:nvSpPr>
        <p:spPr>
          <a:xfrm>
            <a:off x="5577840" y="3630168"/>
            <a:ext cx="3246120" cy="1188720"/>
          </a:xfrm>
          <a:prstGeom prst="roundRect">
            <a:avLst>
              <a:gd name="adj" fmla="val 7692"/>
            </a:avLst>
          </a:prstGeom>
          <a:solidFill>
            <a:srgbClr val="FFFFFF"/>
          </a:solidFill>
          <a:ln w="12700">
            <a:solidFill>
              <a:srgbClr val="1A8A7D"/>
            </a:solidFill>
            <a:prstDash val="solid"/>
          </a:ln>
        </p:spPr>
      </p:sp>
      <p:sp>
        <p:nvSpPr>
          <p:cNvPr id="14" name="Text 12"/>
          <p:cNvSpPr/>
          <p:nvPr/>
        </p:nvSpPr>
        <p:spPr>
          <a:xfrm>
            <a:off x="5760720" y="3721608"/>
            <a:ext cx="2880360" cy="256032"/>
          </a:xfrm>
          <a:prstGeom prst="rect">
            <a:avLst/>
          </a:prstGeom>
          <a:noFill/>
          <a:ln/>
        </p:spPr>
        <p:txBody>
          <a:bodyPr wrap="square" rtlCol="0" anchor="ctr"/>
          <a:lstStyle/>
          <a:p>
            <a:pPr indent="0" marL="0">
              <a:buNone/>
            </a:pPr>
            <a:r>
              <a:rPr lang="en-US" sz="900" b="1" spc="100" kern="0" dirty="0">
                <a:solidFill>
                  <a:srgbClr val="1A8A7D"/>
                </a:solidFill>
                <a:latin typeface="Calibri" pitchFamily="34" charset="0"/>
                <a:ea typeface="Calibri" pitchFamily="34" charset="-122"/>
                <a:cs typeface="Calibri" pitchFamily="34" charset="-120"/>
              </a:rPr>
              <a:t>GOOD OBSERVATION = </a:t>
            </a:r>
            <a:endParaRPr lang="en-US" sz="900" dirty="0"/>
          </a:p>
        </p:txBody>
      </p:sp>
      <p:sp>
        <p:nvSpPr>
          <p:cNvPr id="15" name="Text 13"/>
          <p:cNvSpPr/>
          <p:nvPr/>
        </p:nvSpPr>
        <p:spPr>
          <a:xfrm>
            <a:off x="5760720" y="4005072"/>
            <a:ext cx="2880360" cy="731520"/>
          </a:xfrm>
          <a:prstGeom prst="rect">
            <a:avLst/>
          </a:prstGeom>
          <a:noFill/>
          <a:ln/>
        </p:spPr>
        <p:txBody>
          <a:bodyPr wrap="square" rtlCol="0" anchor="t"/>
          <a:lstStyle/>
          <a:p>
            <a:pPr indent="0" marL="0">
              <a:buNone/>
            </a:pPr>
            <a:r>
              <a:rPr lang="en-US" sz="1000" i="1" dirty="0">
                <a:solidFill>
                  <a:srgbClr val="0E1C42"/>
                </a:solidFill>
                <a:latin typeface="Calibri" pitchFamily="34" charset="0"/>
                <a:ea typeface="Calibri" pitchFamily="34" charset="-122"/>
                <a:cs typeface="Calibri" pitchFamily="34" charset="-120"/>
              </a:rPr>
              <a:t>Specific detail a stranger could verify by looking at the same photograph without reading any label.</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182880"/>
            <a:ext cx="8412480" cy="274320"/>
          </a:xfrm>
          <a:prstGeom prst="rect">
            <a:avLst/>
          </a:prstGeom>
          <a:noFill/>
          <a:ln/>
        </p:spPr>
        <p:txBody>
          <a:bodyPr wrap="square"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GUIDED PRACTICE — CRITIQUE</a:t>
            </a:r>
            <a:endParaRPr lang="en-US" sz="1000" dirty="0"/>
          </a:p>
        </p:txBody>
      </p:sp>
      <p:sp>
        <p:nvSpPr>
          <p:cNvPr id="4" name="Text 2"/>
          <p:cNvSpPr/>
          <p:nvPr/>
        </p:nvSpPr>
        <p:spPr>
          <a:xfrm>
            <a:off x="365760" y="457200"/>
            <a:ext cx="8412480" cy="50292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Find Where Seeing Became Guessing</a:t>
            </a:r>
            <a:endParaRPr lang="en-US" sz="2200" dirty="0"/>
          </a:p>
        </p:txBody>
      </p:sp>
      <p:sp>
        <p:nvSpPr>
          <p:cNvPr id="5" name="Shape 3"/>
          <p:cNvSpPr/>
          <p:nvPr/>
        </p:nvSpPr>
        <p:spPr>
          <a:xfrm>
            <a:off x="365760" y="1051560"/>
            <a:ext cx="8412480" cy="1554480"/>
          </a:xfrm>
          <a:prstGeom prst="roundRect">
            <a:avLst>
              <a:gd name="adj" fmla="val 8824"/>
            </a:avLst>
          </a:prstGeom>
          <a:solidFill>
            <a:srgbClr val="FFFFFF"/>
          </a:solidFill>
          <a:ln w="25400">
            <a:solidFill>
              <a:srgbClr val="E8636B"/>
            </a:solidFill>
            <a:prstDash val="solid"/>
          </a:ln>
        </p:spPr>
      </p:sp>
      <p:sp>
        <p:nvSpPr>
          <p:cNvPr id="6" name="Text 4"/>
          <p:cNvSpPr/>
          <p:nvPr/>
        </p:nvSpPr>
        <p:spPr>
          <a:xfrm>
            <a:off x="594360" y="1161288"/>
            <a:ext cx="7955280" cy="256032"/>
          </a:xfrm>
          <a:prstGeom prst="rect">
            <a:avLst/>
          </a:prstGeom>
          <a:noFill/>
          <a:ln/>
        </p:spPr>
        <p:txBody>
          <a:bodyPr wrap="square" rtlCol="0" anchor="ctr"/>
          <a:lstStyle/>
          <a:p>
            <a:pPr indent="0" marL="0">
              <a:buNone/>
            </a:pPr>
            <a:r>
              <a:rPr lang="en-US" sz="1000" b="1" spc="100" kern="0" dirty="0">
                <a:solidFill>
                  <a:srgbClr val="E8636B"/>
                </a:solidFill>
                <a:latin typeface="Calibri" pitchFamily="34" charset="0"/>
                <a:ea typeface="Calibri" pitchFamily="34" charset="-122"/>
                <a:cs typeface="Calibri" pitchFamily="34" charset="-120"/>
              </a:rPr>
              <a:t>SAMPLE MUSEUM LABEL — find the problem:</a:t>
            </a:r>
            <a:endParaRPr lang="en-US" sz="1000" dirty="0"/>
          </a:p>
        </p:txBody>
      </p:sp>
      <p:sp>
        <p:nvSpPr>
          <p:cNvPr id="7" name="Text 5"/>
          <p:cNvSpPr/>
          <p:nvPr/>
        </p:nvSpPr>
        <p:spPr>
          <a:xfrm>
            <a:off x="594360" y="1444752"/>
            <a:ext cx="7955280" cy="1024128"/>
          </a:xfrm>
          <a:prstGeom prst="rect">
            <a:avLst/>
          </a:prstGeom>
          <a:noFill/>
          <a:ln/>
        </p:spPr>
        <p:txBody>
          <a:bodyPr wrap="square" rtlCol="0" anchor="t"/>
          <a:lstStyle/>
          <a:p>
            <a:pPr indent="0" marL="0">
              <a:buNone/>
            </a:pPr>
            <a:r>
              <a:rPr lang="en-US" sz="1300" i="1" dirty="0">
                <a:solidFill>
                  <a:srgbClr val="0E1C42"/>
                </a:solidFill>
                <a:latin typeface="Cambria" pitchFamily="34" charset="0"/>
                <a:ea typeface="Cambria" pitchFamily="34" charset="-122"/>
                <a:cs typeface="Cambria" pitchFamily="34" charset="-120"/>
              </a:rPr>
              <a:t>"This is a cat figurine carved by a Calusa shaman for use in healing ceremonies. It shows a panther spirit. The Calusa carved this object because panthers were sacred to them."</a:t>
            </a:r>
            <a:endParaRPr lang="en-US" sz="1300" dirty="0"/>
          </a:p>
        </p:txBody>
      </p:sp>
      <p:sp>
        <p:nvSpPr>
          <p:cNvPr id="8" name="Shape 6"/>
          <p:cNvSpPr/>
          <p:nvPr/>
        </p:nvSpPr>
        <p:spPr>
          <a:xfrm>
            <a:off x="365760" y="2743200"/>
            <a:ext cx="5029200" cy="2103120"/>
          </a:xfrm>
          <a:prstGeom prst="roundRect">
            <a:avLst>
              <a:gd name="adj" fmla="val 6522"/>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548640" y="2834640"/>
            <a:ext cx="46634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548640" y="3090672"/>
            <a:ext cx="4663440" cy="16642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This label says 'a Calusa shaman' and 'healing ceremonies.' Are those observations or inferences — marked correctly?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many claims in this label go beyond what the artifact can actually prove?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is the most honest version of this label?</a:t>
            </a:r>
            <a:endParaRPr lang="en-US" sz="1100" dirty="0"/>
          </a:p>
        </p:txBody>
      </p:sp>
      <p:sp>
        <p:nvSpPr>
          <p:cNvPr id="11" name="Shape 9"/>
          <p:cNvSpPr/>
          <p:nvPr/>
        </p:nvSpPr>
        <p:spPr>
          <a:xfrm>
            <a:off x="5577840" y="2743200"/>
            <a:ext cx="3246120" cy="1828800"/>
          </a:xfrm>
          <a:prstGeom prst="roundRect">
            <a:avLst>
              <a:gd name="adj" fmla="val 6000"/>
            </a:avLst>
          </a:prstGeom>
          <a:solidFill>
            <a:srgbClr val="FFF3DC"/>
          </a:solidFill>
          <a:ln w="19050">
            <a:solidFill>
              <a:srgbClr val="F5E6C8"/>
            </a:solidFill>
            <a:prstDash val="solid"/>
          </a:ln>
        </p:spPr>
      </p:sp>
      <p:sp>
        <p:nvSpPr>
          <p:cNvPr id="12" name="Text 10"/>
          <p:cNvSpPr/>
          <p:nvPr/>
        </p:nvSpPr>
        <p:spPr>
          <a:xfrm>
            <a:off x="5715000" y="2798064"/>
            <a:ext cx="29718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715000" y="2999232"/>
            <a:ext cx="2971800" cy="15087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label is dishonest because it presents... as fact when it's really..."</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more honest version would say... instead of..."</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182880"/>
            <a:ext cx="8412480" cy="274320"/>
          </a:xfrm>
          <a:prstGeom prst="rect">
            <a:avLst/>
          </a:prstGeom>
          <a:noFill/>
          <a:ln/>
        </p:spPr>
        <p:txBody>
          <a:bodyPr wrap="square"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GUIDED PRACTICE — THE TRICKY ONE</a:t>
            </a:r>
            <a:endParaRPr lang="en-US" sz="1000" dirty="0"/>
          </a:p>
        </p:txBody>
      </p:sp>
      <p:sp>
        <p:nvSpPr>
          <p:cNvPr id="4" name="Text 2"/>
          <p:cNvSpPr/>
          <p:nvPr/>
        </p:nvSpPr>
        <p:spPr>
          <a:xfrm>
            <a:off x="365760" y="457200"/>
            <a:ext cx="8412480" cy="50292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Partial Evidence — Still Evidence?</a:t>
            </a:r>
            <a:endParaRPr lang="en-US" sz="2200" dirty="0"/>
          </a:p>
        </p:txBody>
      </p:sp>
      <p:sp>
        <p:nvSpPr>
          <p:cNvPr id="5" name="Shape 3"/>
          <p:cNvSpPr/>
          <p:nvPr/>
        </p:nvSpPr>
        <p:spPr>
          <a:xfrm>
            <a:off x="365760" y="1051560"/>
            <a:ext cx="8412480" cy="1188720"/>
          </a:xfrm>
          <a:prstGeom prst="roundRect">
            <a:avLst>
              <a:gd name="adj" fmla="val 11538"/>
            </a:avLst>
          </a:prstGeom>
          <a:solidFill>
            <a:srgbClr val="1A2D5A"/>
          </a:solidFill>
          <a:ln w="25400">
            <a:solidFill>
              <a:srgbClr val="8B6FC0"/>
            </a:solidFill>
            <a:prstDash val="solid"/>
          </a:ln>
        </p:spPr>
      </p:sp>
      <p:sp>
        <p:nvSpPr>
          <p:cNvPr id="6" name="Text 4"/>
          <p:cNvSpPr/>
          <p:nvPr/>
        </p:nvSpPr>
        <p:spPr>
          <a:xfrm>
            <a:off x="594360" y="1161288"/>
            <a:ext cx="7955280" cy="256032"/>
          </a:xfrm>
          <a:prstGeom prst="rect">
            <a:avLst/>
          </a:prstGeom>
          <a:noFill/>
          <a:ln/>
        </p:spPr>
        <p:txBody>
          <a:bodyPr wrap="square" rtlCol="0" anchor="ctr"/>
          <a:lstStyle/>
          <a:p>
            <a:pPr indent="0" marL="0">
              <a:buNone/>
            </a:pPr>
            <a:r>
              <a:rPr lang="en-US" sz="1000" b="1" spc="100" kern="0" dirty="0">
                <a:solidFill>
                  <a:srgbClr val="8B6FC0"/>
                </a:solidFill>
                <a:latin typeface="Calibri" pitchFamily="34" charset="0"/>
                <a:ea typeface="Calibri" pitchFamily="34" charset="-122"/>
                <a:cs typeface="Calibri" pitchFamily="34" charset="-120"/>
              </a:rPr>
              <a:t>THE TRICKY ONE:</a:t>
            </a:r>
            <a:endParaRPr lang="en-US" sz="1000" dirty="0"/>
          </a:p>
        </p:txBody>
      </p:sp>
      <p:sp>
        <p:nvSpPr>
          <p:cNvPr id="7" name="Text 5"/>
          <p:cNvSpPr/>
          <p:nvPr/>
        </p:nvSpPr>
        <p:spPr>
          <a:xfrm>
            <a:off x="594360" y="1417320"/>
            <a:ext cx="7955280" cy="749808"/>
          </a:xfrm>
          <a:prstGeom prst="rect">
            <a:avLst/>
          </a:prstGeom>
          <a:noFill/>
          <a:ln/>
        </p:spPr>
        <p:txBody>
          <a:bodyPr wrap="square" rtlCol="0" anchor="ctr"/>
          <a:lstStyle/>
          <a:p>
            <a:pPr indent="0" marL="0">
              <a:buNone/>
            </a:pPr>
            <a:r>
              <a:rPr lang="en-US" sz="1300" i="1" dirty="0">
                <a:solidFill>
                  <a:srgbClr val="FFFFFF"/>
                </a:solidFill>
                <a:latin typeface="Cambria" pitchFamily="34" charset="0"/>
                <a:ea typeface="Cambria" pitchFamily="34" charset="-122"/>
                <a:cs typeface="Cambria" pitchFamily="34" charset="-120"/>
              </a:rPr>
              <a:t>"A tool was found but we don't know who made it, where it was found exactly, or when it was used. Is it still evidence? How do historians use evidence they can't fully verify?"</a:t>
            </a:r>
            <a:endParaRPr lang="en-US" sz="1300" dirty="0"/>
          </a:p>
        </p:txBody>
      </p:sp>
      <p:sp>
        <p:nvSpPr>
          <p:cNvPr id="8" name="Shape 6"/>
          <p:cNvSpPr/>
          <p:nvPr/>
        </p:nvSpPr>
        <p:spPr>
          <a:xfrm>
            <a:off x="365760" y="2377440"/>
            <a:ext cx="5029200" cy="2514600"/>
          </a:xfrm>
          <a:prstGeom prst="roundRect">
            <a:avLst>
              <a:gd name="adj" fmla="val 5455"/>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548640" y="2468880"/>
            <a:ext cx="46634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548640" y="2724912"/>
            <a:ext cx="4663440" cy="20756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this tool tell us even without knowing who made it or when?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Does partial evidence make a claim weaker — or does it just require more careful language?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two historians use this same partial evidence to reach opposite conclusions? Would both be valid?</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Where is the line between 'being careful with evidence' and 'ignoring evidence that is inconvenient'?</a:t>
            </a:r>
            <a:endParaRPr lang="en-US" sz="1100" dirty="0"/>
          </a:p>
        </p:txBody>
      </p:sp>
      <p:sp>
        <p:nvSpPr>
          <p:cNvPr id="11" name="Shape 9"/>
          <p:cNvSpPr/>
          <p:nvPr/>
        </p:nvSpPr>
        <p:spPr>
          <a:xfrm>
            <a:off x="5577840" y="2377440"/>
            <a:ext cx="3246120" cy="1920240"/>
          </a:xfrm>
          <a:prstGeom prst="roundRect">
            <a:avLst>
              <a:gd name="adj" fmla="val 5714"/>
            </a:avLst>
          </a:prstGeom>
          <a:solidFill>
            <a:srgbClr val="FFF3DC"/>
          </a:solidFill>
          <a:ln w="19050">
            <a:solidFill>
              <a:srgbClr val="F5E6C8"/>
            </a:solidFill>
            <a:prstDash val="solid"/>
          </a:ln>
        </p:spPr>
      </p:sp>
      <p:sp>
        <p:nvSpPr>
          <p:cNvPr id="12" name="Text 10"/>
          <p:cNvSpPr/>
          <p:nvPr/>
        </p:nvSpPr>
        <p:spPr>
          <a:xfrm>
            <a:off x="5715000" y="2432304"/>
            <a:ext cx="29718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715000" y="2633472"/>
            <a:ext cx="2971800" cy="16002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"Even without knowing who or when, this tool still proves...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"Reasonable historians could disagree here because the evidence..."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182880"/>
            <a:ext cx="8412480" cy="274320"/>
          </a:xfrm>
          <a:prstGeom prst="rect">
            <a:avLst/>
          </a:prstGeom>
          <a:noFill/>
          <a:ln/>
        </p:spPr>
        <p:txBody>
          <a:bodyPr wrap="square"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SELF-CHECK</a:t>
            </a:r>
            <a:endParaRPr lang="en-US" sz="1000" dirty="0"/>
          </a:p>
        </p:txBody>
      </p:sp>
      <p:sp>
        <p:nvSpPr>
          <p:cNvPr id="4" name="Text 2"/>
          <p:cNvSpPr/>
          <p:nvPr/>
        </p:nvSpPr>
        <p:spPr>
          <a:xfrm>
            <a:off x="365760" y="457200"/>
            <a:ext cx="8412480" cy="50292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Three Quick Questions — Cover Your Notes</a:t>
            </a:r>
            <a:endParaRPr lang="en-US" sz="2200" dirty="0"/>
          </a:p>
        </p:txBody>
      </p:sp>
      <p:sp>
        <p:nvSpPr>
          <p:cNvPr id="5" name="Shape 3"/>
          <p:cNvSpPr/>
          <p:nvPr/>
        </p:nvSpPr>
        <p:spPr>
          <a:xfrm>
            <a:off x="365760" y="1078992"/>
            <a:ext cx="8412480" cy="1115568"/>
          </a:xfrm>
          <a:prstGeom prst="roundRect">
            <a:avLst>
              <a:gd name="adj" fmla="val 9836"/>
            </a:avLst>
          </a:prstGeom>
          <a:solidFill>
            <a:srgbClr val="FFFFFF"/>
          </a:solidFill>
          <a:ln w="12700">
            <a:solidFill>
              <a:srgbClr val="B0B8CC"/>
            </a:solidFill>
            <a:prstDash val="solid"/>
          </a:ln>
        </p:spPr>
      </p:sp>
      <p:sp>
        <p:nvSpPr>
          <p:cNvPr id="6" name="Shape 4"/>
          <p:cNvSpPr/>
          <p:nvPr/>
        </p:nvSpPr>
        <p:spPr>
          <a:xfrm>
            <a:off x="502920" y="1170432"/>
            <a:ext cx="457200" cy="457200"/>
          </a:xfrm>
          <a:prstGeom prst="roundRect">
            <a:avLst>
              <a:gd name="adj" fmla="val 20000"/>
            </a:avLst>
          </a:prstGeom>
          <a:solidFill>
            <a:srgbClr val="0E1C42"/>
          </a:solidFill>
          <a:ln w="12700">
            <a:solidFill>
              <a:srgbClr val="0E1C42"/>
            </a:solidFill>
            <a:prstDash val="solid"/>
          </a:ln>
        </p:spPr>
      </p:sp>
      <p:sp>
        <p:nvSpPr>
          <p:cNvPr id="7" name="Text 5"/>
          <p:cNvSpPr/>
          <p:nvPr/>
        </p:nvSpPr>
        <p:spPr>
          <a:xfrm>
            <a:off x="502920" y="1216152"/>
            <a:ext cx="45720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097280" y="1152144"/>
            <a:ext cx="7406640" cy="347472"/>
          </a:xfrm>
          <a:prstGeom prst="rect">
            <a:avLst/>
          </a:prstGeom>
          <a:noFill/>
          <a:ln/>
        </p:spPr>
        <p:txBody>
          <a:bodyPr wrap="square"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What is an artifact?</a:t>
            </a:r>
            <a:endParaRPr lang="en-US" sz="1100" dirty="0"/>
          </a:p>
        </p:txBody>
      </p:sp>
      <p:sp>
        <p:nvSpPr>
          <p:cNvPr id="9" name="Text 7"/>
          <p:cNvSpPr/>
          <p:nvPr/>
        </p:nvSpPr>
        <p:spPr>
          <a:xfrm>
            <a:off x="1097280" y="1536192"/>
            <a:ext cx="7406640" cy="566928"/>
          </a:xfrm>
          <a:prstGeom prst="rect">
            <a:avLst/>
          </a:prstGeom>
          <a:noFill/>
          <a:ln/>
        </p:spPr>
        <p:txBody>
          <a:bodyPr wrap="square" rtlCol="0" anchor="ctr"/>
          <a:lstStyle/>
          <a:p>
            <a:pPr indent="0" marL="0">
              <a:buNone/>
            </a:pPr>
            <a:r>
              <a:rPr lang="en-US" sz="1050" i="1" dirty="0">
                <a:solidFill>
                  <a:srgbClr val="1A8A7D"/>
                </a:solidFill>
                <a:latin typeface="Calibri" pitchFamily="34" charset="0"/>
                <a:ea typeface="Calibri" pitchFamily="34" charset="-122"/>
                <a:cs typeface="Calibri" pitchFamily="34" charset="-120"/>
              </a:rPr>
              <a:t>Answer: An object made or used by people in the past. Tools, pots, carvings, baskets — all count.</a:t>
            </a:r>
            <a:endParaRPr lang="en-US" sz="1050" dirty="0"/>
          </a:p>
        </p:txBody>
      </p:sp>
      <p:sp>
        <p:nvSpPr>
          <p:cNvPr id="10" name="Shape 8"/>
          <p:cNvSpPr/>
          <p:nvPr/>
        </p:nvSpPr>
        <p:spPr>
          <a:xfrm>
            <a:off x="365760" y="2286000"/>
            <a:ext cx="8412480" cy="1115568"/>
          </a:xfrm>
          <a:prstGeom prst="roundRect">
            <a:avLst>
              <a:gd name="adj" fmla="val 9836"/>
            </a:avLst>
          </a:prstGeom>
          <a:solidFill>
            <a:srgbClr val="FFFFFF"/>
          </a:solidFill>
          <a:ln w="12700">
            <a:solidFill>
              <a:srgbClr val="B0B8CC"/>
            </a:solidFill>
            <a:prstDash val="solid"/>
          </a:ln>
        </p:spPr>
      </p:sp>
      <p:sp>
        <p:nvSpPr>
          <p:cNvPr id="11" name="Shape 9"/>
          <p:cNvSpPr/>
          <p:nvPr/>
        </p:nvSpPr>
        <p:spPr>
          <a:xfrm>
            <a:off x="502920" y="2377440"/>
            <a:ext cx="457200" cy="457200"/>
          </a:xfrm>
          <a:prstGeom prst="roundRect">
            <a:avLst>
              <a:gd name="adj" fmla="val 20000"/>
            </a:avLst>
          </a:prstGeom>
          <a:solidFill>
            <a:srgbClr val="0E1C42"/>
          </a:solidFill>
          <a:ln w="12700">
            <a:solidFill>
              <a:srgbClr val="0E1C42"/>
            </a:solidFill>
            <a:prstDash val="solid"/>
          </a:ln>
        </p:spPr>
      </p:sp>
      <p:sp>
        <p:nvSpPr>
          <p:cNvPr id="12" name="Text 10"/>
          <p:cNvSpPr/>
          <p:nvPr/>
        </p:nvSpPr>
        <p:spPr>
          <a:xfrm>
            <a:off x="502920" y="2423160"/>
            <a:ext cx="45720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1097280" y="2359152"/>
            <a:ext cx="7406640" cy="347472"/>
          </a:xfrm>
          <a:prstGeom prst="rect">
            <a:avLst/>
          </a:prstGeom>
          <a:noFill/>
          <a:ln/>
        </p:spPr>
        <p:txBody>
          <a:bodyPr wrap="square"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Which is observation and which is inference: 'It is a small wooden figure' vs. 'Maybe it was used in a ceremony'?</a:t>
            </a:r>
            <a:endParaRPr lang="en-US" sz="1100" dirty="0"/>
          </a:p>
        </p:txBody>
      </p:sp>
      <p:sp>
        <p:nvSpPr>
          <p:cNvPr id="14" name="Text 12"/>
          <p:cNvSpPr/>
          <p:nvPr/>
        </p:nvSpPr>
        <p:spPr>
          <a:xfrm>
            <a:off x="1097280" y="2743200"/>
            <a:ext cx="7406640" cy="566928"/>
          </a:xfrm>
          <a:prstGeom prst="rect">
            <a:avLst/>
          </a:prstGeom>
          <a:noFill/>
          <a:ln/>
        </p:spPr>
        <p:txBody>
          <a:bodyPr wrap="square" rtlCol="0" anchor="ctr"/>
          <a:lstStyle/>
          <a:p>
            <a:pPr indent="0" marL="0">
              <a:buNone/>
            </a:pPr>
            <a:r>
              <a:rPr lang="en-US" sz="1050" i="1" dirty="0">
                <a:solidFill>
                  <a:srgbClr val="1A8A7D"/>
                </a:solidFill>
                <a:latin typeface="Calibri" pitchFamily="34" charset="0"/>
                <a:ea typeface="Calibri" pitchFamily="34" charset="-122"/>
                <a:cs typeface="Calibri" pitchFamily="34" charset="-120"/>
              </a:rPr>
              <a:t>Answer: Observation: 'It is a small wooden figure' — describes what you see. Inference: 'Maybe it was used in a ceremony' — interprets meaning.</a:t>
            </a:r>
            <a:endParaRPr lang="en-US" sz="1050" dirty="0"/>
          </a:p>
        </p:txBody>
      </p:sp>
      <p:sp>
        <p:nvSpPr>
          <p:cNvPr id="15" name="Shape 13"/>
          <p:cNvSpPr/>
          <p:nvPr/>
        </p:nvSpPr>
        <p:spPr>
          <a:xfrm>
            <a:off x="365760" y="3493008"/>
            <a:ext cx="8412480" cy="1115568"/>
          </a:xfrm>
          <a:prstGeom prst="roundRect">
            <a:avLst>
              <a:gd name="adj" fmla="val 9836"/>
            </a:avLst>
          </a:prstGeom>
          <a:solidFill>
            <a:srgbClr val="FFFFFF"/>
          </a:solidFill>
          <a:ln w="12700">
            <a:solidFill>
              <a:srgbClr val="B0B8CC"/>
            </a:solidFill>
            <a:prstDash val="solid"/>
          </a:ln>
        </p:spPr>
      </p:sp>
      <p:sp>
        <p:nvSpPr>
          <p:cNvPr id="16" name="Shape 14"/>
          <p:cNvSpPr/>
          <p:nvPr/>
        </p:nvSpPr>
        <p:spPr>
          <a:xfrm>
            <a:off x="502920" y="3584448"/>
            <a:ext cx="457200" cy="457200"/>
          </a:xfrm>
          <a:prstGeom prst="roundRect">
            <a:avLst>
              <a:gd name="adj" fmla="val 20000"/>
            </a:avLst>
          </a:prstGeom>
          <a:solidFill>
            <a:srgbClr val="0E1C42"/>
          </a:solidFill>
          <a:ln w="12700">
            <a:solidFill>
              <a:srgbClr val="0E1C42"/>
            </a:solidFill>
            <a:prstDash val="solid"/>
          </a:ln>
        </p:spPr>
      </p:sp>
      <p:sp>
        <p:nvSpPr>
          <p:cNvPr id="17" name="Text 15"/>
          <p:cNvSpPr/>
          <p:nvPr/>
        </p:nvSpPr>
        <p:spPr>
          <a:xfrm>
            <a:off x="502920" y="3630168"/>
            <a:ext cx="45720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1097280" y="3566160"/>
            <a:ext cx="7406640" cy="347472"/>
          </a:xfrm>
          <a:prstGeom prst="rect">
            <a:avLst/>
          </a:prstGeom>
          <a:noFill/>
          <a:ln/>
        </p:spPr>
        <p:txBody>
          <a:bodyPr wrap="square"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If the Calusa didn't leave written records, can we know anything about them? Use evidence.</a:t>
            </a:r>
            <a:endParaRPr lang="en-US" sz="1100" dirty="0"/>
          </a:p>
        </p:txBody>
      </p:sp>
      <p:sp>
        <p:nvSpPr>
          <p:cNvPr id="19" name="Text 17"/>
          <p:cNvSpPr/>
          <p:nvPr/>
        </p:nvSpPr>
        <p:spPr>
          <a:xfrm>
            <a:off x="1097280" y="3950208"/>
            <a:ext cx="7406640" cy="566928"/>
          </a:xfrm>
          <a:prstGeom prst="rect">
            <a:avLst/>
          </a:prstGeom>
          <a:noFill/>
          <a:ln/>
        </p:spPr>
        <p:txBody>
          <a:bodyPr wrap="square" rtlCol="0" anchor="ctr"/>
          <a:lstStyle/>
          <a:p>
            <a:pPr indent="0" marL="0">
              <a:buNone/>
            </a:pPr>
            <a:r>
              <a:rPr lang="en-US" sz="1050" i="1" dirty="0">
                <a:solidFill>
                  <a:srgbClr val="1A8A7D"/>
                </a:solidFill>
                <a:latin typeface="Calibri" pitchFamily="34" charset="0"/>
                <a:ea typeface="Calibri" pitchFamily="34" charset="-122"/>
                <a:cs typeface="Calibri" pitchFamily="34" charset="-120"/>
              </a:rPr>
              <a:t>Answer: Yes — artifacts like the Key Marco Cat show the Calusa carved skillfully and had artistic traditions. No writing needed.</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73152"/>
          </a:xfrm>
          <a:prstGeom prst="rect">
            <a:avLst/>
          </a:prstGeom>
          <a:solidFill>
            <a:srgbClr val="D4943A"/>
          </a:solidFill>
          <a:ln w="12700">
            <a:solidFill>
              <a:srgbClr val="D4943A"/>
            </a:solidFill>
            <a:prstDash val="solid"/>
          </a:ln>
        </p:spPr>
      </p:sp>
      <p:sp>
        <p:nvSpPr>
          <p:cNvPr id="4" name="Text 2"/>
          <p:cNvSpPr/>
          <p:nvPr/>
        </p:nvSpPr>
        <p:spPr>
          <a:xfrm>
            <a:off x="365760" y="182880"/>
            <a:ext cx="8412480" cy="274320"/>
          </a:xfrm>
          <a:prstGeom prst="rect">
            <a:avLst/>
          </a:prstGeom>
          <a:noFill/>
          <a:ln/>
        </p:spPr>
        <p:txBody>
          <a:bodyPr wrap="square"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ASSIGNMENT</a:t>
            </a:r>
            <a:endParaRPr lang="en-US" sz="1000" dirty="0"/>
          </a:p>
        </p:txBody>
      </p:sp>
      <p:sp>
        <p:nvSpPr>
          <p:cNvPr id="5" name="Text 3"/>
          <p:cNvSpPr/>
          <p:nvPr/>
        </p:nvSpPr>
        <p:spPr>
          <a:xfrm>
            <a:off x="365760" y="457200"/>
            <a:ext cx="8412480" cy="502920"/>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Your Source Study Report — Reading an Artifact</a:t>
            </a:r>
            <a:endParaRPr lang="en-US" sz="2000" dirty="0"/>
          </a:p>
        </p:txBody>
      </p:sp>
      <p:sp>
        <p:nvSpPr>
          <p:cNvPr id="6" name="Shape 4"/>
          <p:cNvSpPr/>
          <p:nvPr/>
        </p:nvSpPr>
        <p:spPr>
          <a:xfrm>
            <a:off x="365760" y="1078992"/>
            <a:ext cx="8412480" cy="685800"/>
          </a:xfrm>
          <a:prstGeom prst="roundRect">
            <a:avLst>
              <a:gd name="adj" fmla="val 13333"/>
            </a:avLst>
          </a:prstGeom>
          <a:solidFill>
            <a:srgbClr val="FFFFFF"/>
          </a:solidFill>
          <a:ln w="19050">
            <a:solidFill>
              <a:srgbClr val="D4943A"/>
            </a:solidFill>
            <a:prstDash val="solid"/>
          </a:ln>
        </p:spPr>
      </p:sp>
      <p:sp>
        <p:nvSpPr>
          <p:cNvPr id="7" name="Text 5"/>
          <p:cNvSpPr/>
          <p:nvPr/>
        </p:nvSpPr>
        <p:spPr>
          <a:xfrm>
            <a:off x="594360" y="1152144"/>
            <a:ext cx="7955280" cy="530352"/>
          </a:xfrm>
          <a:prstGeom prst="rect">
            <a:avLst/>
          </a:prstGeom>
          <a:noFill/>
          <a:ln/>
        </p:spPr>
        <p:txBody>
          <a:bodyPr wrap="square" rtlCol="0" anchor="ctr"/>
          <a:lstStyle/>
          <a:p>
            <a:pPr indent="0" marL="0">
              <a:buNone/>
            </a:pPr>
            <a:r>
              <a:rPr lang="en-US" sz="1150" dirty="0">
                <a:solidFill>
                  <a:srgbClr val="0E1C42"/>
                </a:solidFill>
                <a:latin typeface="Calibri" pitchFamily="34" charset="0"/>
                <a:ea typeface="Calibri" pitchFamily="34" charset="-122"/>
                <a:cs typeface="Calibri" pitchFamily="34" charset="-120"/>
              </a:rPr>
              <a:t>1. Write one observation about the Key Marco Cat. Just describe what you can see. Start with the words "I see..." and stick to what's really there.</a:t>
            </a:r>
            <a:endParaRPr lang="en-US" sz="1150" dirty="0"/>
          </a:p>
        </p:txBody>
      </p:sp>
      <p:sp>
        <p:nvSpPr>
          <p:cNvPr id="8" name="Shape 6"/>
          <p:cNvSpPr/>
          <p:nvPr/>
        </p:nvSpPr>
        <p:spPr>
          <a:xfrm>
            <a:off x="365760" y="1828800"/>
            <a:ext cx="8412480" cy="685800"/>
          </a:xfrm>
          <a:prstGeom prst="roundRect">
            <a:avLst>
              <a:gd name="adj" fmla="val 13333"/>
            </a:avLst>
          </a:prstGeom>
          <a:solidFill>
            <a:srgbClr val="FFFFFF"/>
          </a:solidFill>
          <a:ln w="19050">
            <a:solidFill>
              <a:srgbClr val="D4943A"/>
            </a:solidFill>
            <a:prstDash val="solid"/>
          </a:ln>
        </p:spPr>
      </p:sp>
      <p:sp>
        <p:nvSpPr>
          <p:cNvPr id="9" name="Text 7"/>
          <p:cNvSpPr/>
          <p:nvPr/>
        </p:nvSpPr>
        <p:spPr>
          <a:xfrm>
            <a:off x="594360" y="1901952"/>
            <a:ext cx="7955280" cy="530352"/>
          </a:xfrm>
          <a:prstGeom prst="rect">
            <a:avLst/>
          </a:prstGeom>
          <a:noFill/>
          <a:ln/>
        </p:spPr>
        <p:txBody>
          <a:bodyPr wrap="square" rtlCol="0" anchor="ctr"/>
          <a:lstStyle/>
          <a:p>
            <a:pPr indent="0" marL="0">
              <a:buNone/>
            </a:pPr>
            <a:r>
              <a:rPr lang="en-US" sz="1150" dirty="0">
                <a:solidFill>
                  <a:srgbClr val="0E1C42"/>
                </a:solidFill>
                <a:latin typeface="Calibri" pitchFamily="34" charset="0"/>
                <a:ea typeface="Calibri" pitchFamily="34" charset="-122"/>
                <a:cs typeface="Calibri" pitchFamily="34" charset="-120"/>
              </a:rPr>
              <a:t>2. Now write one careful inference. What might that observation mean about the Calusa? Begin with "Maybe..." so it stays clearly a guess, not a fact.</a:t>
            </a:r>
            <a:endParaRPr lang="en-US" sz="1150" dirty="0"/>
          </a:p>
        </p:txBody>
      </p:sp>
      <p:sp>
        <p:nvSpPr>
          <p:cNvPr id="10" name="Shape 8"/>
          <p:cNvSpPr/>
          <p:nvPr/>
        </p:nvSpPr>
        <p:spPr>
          <a:xfrm>
            <a:off x="365760" y="2578608"/>
            <a:ext cx="8412480" cy="685800"/>
          </a:xfrm>
          <a:prstGeom prst="roundRect">
            <a:avLst>
              <a:gd name="adj" fmla="val 13333"/>
            </a:avLst>
          </a:prstGeom>
          <a:solidFill>
            <a:srgbClr val="FFFFFF"/>
          </a:solidFill>
          <a:ln w="19050">
            <a:solidFill>
              <a:srgbClr val="D4943A"/>
            </a:solidFill>
            <a:prstDash val="solid"/>
          </a:ln>
        </p:spPr>
      </p:sp>
      <p:sp>
        <p:nvSpPr>
          <p:cNvPr id="11" name="Text 9"/>
          <p:cNvSpPr/>
          <p:nvPr/>
        </p:nvSpPr>
        <p:spPr>
          <a:xfrm>
            <a:off x="594360" y="2651760"/>
            <a:ext cx="7955280" cy="530352"/>
          </a:xfrm>
          <a:prstGeom prst="rect">
            <a:avLst/>
          </a:prstGeom>
          <a:noFill/>
          <a:ln/>
        </p:spPr>
        <p:txBody>
          <a:bodyPr wrap="square" rtlCol="0" anchor="ctr"/>
          <a:lstStyle/>
          <a:p>
            <a:pPr indent="0" marL="0">
              <a:buNone/>
            </a:pPr>
            <a:r>
              <a:rPr lang="en-US" sz="1150" dirty="0">
                <a:solidFill>
                  <a:srgbClr val="0E1C42"/>
                </a:solidFill>
                <a:latin typeface="Calibri" pitchFamily="34" charset="0"/>
                <a:ea typeface="Calibri" pitchFamily="34" charset="-122"/>
                <a:cs typeface="Calibri" pitchFamily="34" charset="-120"/>
              </a:rPr>
              <a:t>3. Why are artifacts especially important for studying peoples — like the Calusa — who didn't leave written records?</a:t>
            </a:r>
            <a:endParaRPr lang="en-US" sz="1150" dirty="0"/>
          </a:p>
        </p:txBody>
      </p:sp>
      <p:sp>
        <p:nvSpPr>
          <p:cNvPr id="12" name="Shape 10"/>
          <p:cNvSpPr/>
          <p:nvPr/>
        </p:nvSpPr>
        <p:spPr>
          <a:xfrm>
            <a:off x="365760" y="3383280"/>
            <a:ext cx="8412480" cy="960120"/>
          </a:xfrm>
          <a:prstGeom prst="roundRect">
            <a:avLst>
              <a:gd name="adj" fmla="val 11429"/>
            </a:avLst>
          </a:prstGeom>
          <a:solidFill>
            <a:srgbClr val="FFF3DC"/>
          </a:solidFill>
          <a:ln w="19050">
            <a:solidFill>
              <a:srgbClr val="D4943A"/>
            </a:solidFill>
            <a:prstDash val="solid"/>
          </a:ln>
        </p:spPr>
      </p:sp>
      <p:sp>
        <p:nvSpPr>
          <p:cNvPr id="13" name="Text 11"/>
          <p:cNvSpPr/>
          <p:nvPr/>
        </p:nvSpPr>
        <p:spPr>
          <a:xfrm>
            <a:off x="594360" y="3474720"/>
            <a:ext cx="7955280" cy="256032"/>
          </a:xfrm>
          <a:prstGeom prst="rect">
            <a:avLst/>
          </a:prstGeom>
          <a:noFill/>
          <a:ln/>
        </p:spPr>
        <p:txBody>
          <a:bodyPr wrap="square" rtlCol="0" anchor="ctr"/>
          <a:lstStyle/>
          <a:p>
            <a:pPr indent="0" marL="0">
              <a:buNone/>
            </a:pPr>
            <a:r>
              <a:rPr lang="en-US" sz="1000" b="1" spc="100" kern="0" dirty="0">
                <a:solidFill>
                  <a:srgbClr val="D4943A"/>
                </a:solidFill>
                <a:latin typeface="Calibri" pitchFamily="34" charset="0"/>
                <a:ea typeface="Calibri" pitchFamily="34" charset="-122"/>
                <a:cs typeface="Calibri" pitchFamily="34" charset="-120"/>
              </a:rPr>
              <a:t>UNLOCK CHALLENGE — Object Label (WHAT I SEE / WHAT I THINK):</a:t>
            </a:r>
            <a:endParaRPr lang="en-US" sz="1000" dirty="0"/>
          </a:p>
        </p:txBody>
      </p:sp>
      <p:sp>
        <p:nvSpPr>
          <p:cNvPr id="14" name="Text 12"/>
          <p:cNvSpPr/>
          <p:nvPr/>
        </p:nvSpPr>
        <p:spPr>
          <a:xfrm>
            <a:off x="594360" y="3749040"/>
            <a:ext cx="7955280" cy="502920"/>
          </a:xfrm>
          <a:prstGeom prst="rect">
            <a:avLst/>
          </a:prstGeom>
          <a:noFill/>
          <a:ln/>
        </p:spPr>
        <p:txBody>
          <a:bodyPr wrap="square" rtlCol="0" anchor="t"/>
          <a:lstStyle/>
          <a:p>
            <a:pPr indent="0" marL="0">
              <a:buNone/>
            </a:pPr>
            <a:r>
              <a:rPr lang="en-US" sz="1100" dirty="0">
                <a:solidFill>
                  <a:srgbClr val="5A4A3A"/>
                </a:solidFill>
                <a:latin typeface="Calibri" pitchFamily="34" charset="0"/>
                <a:ea typeface="Calibri" pitchFamily="34" charset="-122"/>
                <a:cs typeface="Calibri" pitchFamily="34" charset="-120"/>
              </a:rPr>
              <a:t>4–5 sentences in two parts: (1) two observations beginning with 'I see,' (2) one inference beginning with 'Maybe,' (3) one honest sentence about something the artifact cannot tell us.</a:t>
            </a:r>
            <a:endParaRPr lang="en-US" sz="1100" dirty="0"/>
          </a:p>
        </p:txBody>
      </p:sp>
      <p:sp>
        <p:nvSpPr>
          <p:cNvPr id="15" name="Shape 13"/>
          <p:cNvSpPr/>
          <p:nvPr/>
        </p:nvSpPr>
        <p:spPr>
          <a:xfrm>
            <a:off x="365760" y="4434840"/>
            <a:ext cx="8412480" cy="411480"/>
          </a:xfrm>
          <a:prstGeom prst="roundRect">
            <a:avLst>
              <a:gd name="adj" fmla="val 22222"/>
            </a:avLst>
          </a:prstGeom>
          <a:solidFill>
            <a:srgbClr val="E2F4F0"/>
          </a:solidFill>
          <a:ln w="12700">
            <a:solidFill>
              <a:srgbClr val="1A8A7D"/>
            </a:solidFill>
            <a:prstDash val="solid"/>
          </a:ln>
        </p:spPr>
      </p:sp>
      <p:sp>
        <p:nvSpPr>
          <p:cNvPr id="16" name="Text 14"/>
          <p:cNvSpPr/>
          <p:nvPr/>
        </p:nvSpPr>
        <p:spPr>
          <a:xfrm>
            <a:off x="594360" y="4480560"/>
            <a:ext cx="7955280" cy="320040"/>
          </a:xfrm>
          <a:prstGeom prst="rect">
            <a:avLst/>
          </a:prstGeom>
          <a:noFill/>
          <a:ln/>
        </p:spPr>
        <p:txBody>
          <a:bodyPr wrap="square" rtlCol="0" anchor="ctr"/>
          <a:lstStyle/>
          <a:p>
            <a:pPr indent="0" marL="0">
              <a:buNone/>
            </a:pPr>
            <a:r>
              <a:rPr lang="en-US" sz="1100" i="1" dirty="0">
                <a:solidFill>
                  <a:srgbClr val="1A8A7D"/>
                </a:solidFill>
                <a:latin typeface="Calibri" pitchFamily="34" charset="0"/>
                <a:ea typeface="Calibri" pitchFamily="34" charset="-122"/>
                <a:cs typeface="Calibri" pitchFamily="34" charset="-120"/>
              </a:rPr>
              <a:t>Historian's Sentence: 'In this lesson, I learned that ______ because ______.'</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Text 2"/>
          <p:cNvSpPr/>
          <p:nvPr/>
        </p:nvSpPr>
        <p:spPr>
          <a:xfrm>
            <a:off x="457200" y="548640"/>
            <a:ext cx="8229600" cy="365760"/>
          </a:xfrm>
          <a:prstGeom prst="rect">
            <a:avLst/>
          </a:prstGeom>
          <a:noFill/>
          <a:ln/>
        </p:spPr>
        <p:txBody>
          <a:bodyPr wrap="square" rtlCol="0" anchor="ctr"/>
          <a:lstStyle/>
          <a:p>
            <a:pPr algn="ctr" indent="0" marL="0">
              <a:buNone/>
            </a:pPr>
            <a:r>
              <a:rPr lang="en-US" sz="1400" b="1" spc="300" kern="0" dirty="0">
                <a:solidFill>
                  <a:srgbClr val="D4943A"/>
                </a:solidFill>
                <a:latin typeface="Calibri" pitchFamily="34" charset="0"/>
                <a:ea typeface="Calibri" pitchFamily="34" charset="-122"/>
                <a:cs typeface="Calibri" pitchFamily="34" charset="-120"/>
              </a:rPr>
              <a:t>FILE UNLOCKED</a:t>
            </a:r>
            <a:endParaRPr lang="en-US" sz="1400" dirty="0"/>
          </a:p>
        </p:txBody>
      </p:sp>
      <p:sp>
        <p:nvSpPr>
          <p:cNvPr id="6" name="Text 3"/>
          <p:cNvSpPr/>
          <p:nvPr/>
        </p:nvSpPr>
        <p:spPr>
          <a:xfrm>
            <a:off x="457200" y="1005840"/>
            <a:ext cx="8229600" cy="1280160"/>
          </a:xfrm>
          <a:prstGeom prst="rect">
            <a:avLst/>
          </a:prstGeom>
          <a:noFill/>
          <a:ln/>
        </p:spPr>
        <p:txBody>
          <a:bodyPr wrap="square"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Great Work,</a:t>
            </a:r>
            <a:endParaRPr lang="en-US" sz="4000" dirty="0"/>
          </a:p>
          <a:p>
            <a:pPr algn="ctr" indent="0" marL="0">
              <a:buNone/>
            </a:pPr>
            <a:r>
              <a:rPr lang="en-US" sz="4000" b="1" dirty="0">
                <a:solidFill>
                  <a:srgbClr val="FFFFFF"/>
                </a:solidFill>
                <a:latin typeface="Cambria" pitchFamily="34" charset="0"/>
                <a:ea typeface="Cambria" pitchFamily="34" charset="-122"/>
                <a:cs typeface="Cambria" pitchFamily="34" charset="-120"/>
              </a:rPr>
              <a:t>Florida Historian.</a:t>
            </a:r>
            <a:endParaRPr lang="en-US" sz="4000" dirty="0"/>
          </a:p>
        </p:txBody>
      </p:sp>
      <p:sp>
        <p:nvSpPr>
          <p:cNvPr id="7" name="Shape 4"/>
          <p:cNvSpPr/>
          <p:nvPr/>
        </p:nvSpPr>
        <p:spPr>
          <a:xfrm>
            <a:off x="914400" y="2423160"/>
            <a:ext cx="7315200" cy="1325880"/>
          </a:xfrm>
          <a:prstGeom prst="roundRect">
            <a:avLst>
              <a:gd name="adj" fmla="val 12414"/>
            </a:avLst>
          </a:prstGeom>
          <a:solidFill>
            <a:srgbClr val="1A2D5A">
              <a:alpha val="85000"/>
            </a:srgbClr>
          </a:solidFill>
          <a:ln w="19050">
            <a:solidFill>
              <a:srgbClr val="55C8E8"/>
            </a:solidFill>
            <a:prstDash val="solid"/>
          </a:ln>
        </p:spPr>
      </p:sp>
      <p:sp>
        <p:nvSpPr>
          <p:cNvPr id="8" name="Text 5"/>
          <p:cNvSpPr/>
          <p:nvPr/>
        </p:nvSpPr>
        <p:spPr>
          <a:xfrm>
            <a:off x="1143000" y="2542032"/>
            <a:ext cx="6858000" cy="1097280"/>
          </a:xfrm>
          <a:prstGeom prst="rect">
            <a:avLst/>
          </a:prstGeom>
          <a:noFill/>
          <a:ln/>
        </p:spPr>
        <p:txBody>
          <a:bodyPr wrap="square" rtlCol="0" anchor="ctr"/>
          <a:lstStyle/>
          <a:p>
            <a:pPr indent="0" marL="0">
              <a:buNone/>
            </a:pPr>
            <a:r>
              <a:rPr lang="en-US" sz="1300" i="1" dirty="0">
                <a:solidFill>
                  <a:srgbClr val="FFFFFF"/>
                </a:solidFill>
                <a:latin typeface="Cambria" pitchFamily="34" charset="0"/>
                <a:ea typeface="Cambria" pitchFamily="34" charset="-122"/>
                <a:cs typeface="Cambria" pitchFamily="34" charset="-120"/>
              </a:rPr>
              <a:t>Artifacts are evidence. They help historians ask questions and learn about people's daily lives — even when no one wrote a single word down. The Key Marco Cat is proof: one object, preserved in muck for centuries, tells us real things about the Calusa. The absence of writing is not the absence of evidence.</a:t>
            </a:r>
            <a:endParaRPr lang="en-US" sz="1300" dirty="0"/>
          </a:p>
        </p:txBody>
      </p:sp>
      <p:sp>
        <p:nvSpPr>
          <p:cNvPr id="9" name="Text 6"/>
          <p:cNvSpPr/>
          <p:nvPr/>
        </p:nvSpPr>
        <p:spPr>
          <a:xfrm>
            <a:off x="914400" y="3867912"/>
            <a:ext cx="7315200" cy="256032"/>
          </a:xfrm>
          <a:prstGeom prst="rect">
            <a:avLst/>
          </a:prstGeom>
          <a:noFill/>
          <a:ln/>
        </p:spPr>
        <p:txBody>
          <a:bodyPr wrap="square" rtlCol="0" anchor="ctr"/>
          <a:lstStyle/>
          <a:p>
            <a:pPr algn="ctr" indent="0" marL="0">
              <a:buNone/>
            </a:pPr>
            <a:r>
              <a:rPr lang="en-US" sz="1100" b="1" spc="200" kern="0" dirty="0">
                <a:solidFill>
                  <a:srgbClr val="D4943A"/>
                </a:solidFill>
                <a:latin typeface="Calibri" pitchFamily="34" charset="0"/>
                <a:ea typeface="Calibri" pitchFamily="34" charset="-122"/>
                <a:cs typeface="Calibri" pitchFamily="34" charset="-120"/>
              </a:rPr>
              <a:t>COMING UP NEXT:</a:t>
            </a:r>
            <a:endParaRPr lang="en-US" sz="1100" dirty="0"/>
          </a:p>
        </p:txBody>
      </p:sp>
      <p:sp>
        <p:nvSpPr>
          <p:cNvPr id="10" name="Text 7"/>
          <p:cNvSpPr/>
          <p:nvPr/>
        </p:nvSpPr>
        <p:spPr>
          <a:xfrm>
            <a:off x="914400" y="4133088"/>
            <a:ext cx="7315200" cy="411480"/>
          </a:xfrm>
          <a:prstGeom prst="rect">
            <a:avLst/>
          </a:prstGeom>
          <a:noFill/>
          <a:ln/>
        </p:spPr>
        <p:txBody>
          <a:bodyPr wrap="square" rtlCol="0" anchor="ctr"/>
          <a:lstStyle/>
          <a:p>
            <a:pPr algn="ctr" indent="0" marL="0">
              <a:buNone/>
            </a:pPr>
            <a:r>
              <a:rPr lang="en-US" sz="1300" i="1" dirty="0">
                <a:solidFill>
                  <a:srgbClr val="F0F2F8"/>
                </a:solidFill>
                <a:latin typeface="Cambria" pitchFamily="34" charset="0"/>
                <a:ea typeface="Cambria" pitchFamily="34" charset="-122"/>
                <a:cs typeface="Cambria" pitchFamily="34" charset="-120"/>
              </a:rPr>
              <a:t>Lesson 4.03.05 — How did geography shape the daily lives of Florida's first peoples across a whole year?</a:t>
            </a:r>
            <a:endParaRPr lang="en-US" sz="1300" dirty="0"/>
          </a:p>
        </p:txBody>
      </p:sp>
      <p:sp>
        <p:nvSpPr>
          <p:cNvPr id="11" name="Text 8"/>
          <p:cNvSpPr/>
          <p:nvPr/>
        </p:nvSpPr>
        <p:spPr>
          <a:xfrm>
            <a:off x="914400" y="4599432"/>
            <a:ext cx="7315200" cy="292608"/>
          </a:xfrm>
          <a:prstGeom prst="rect">
            <a:avLst/>
          </a:prstGeom>
          <a:noFill/>
          <a:ln/>
        </p:spPr>
        <p:txBody>
          <a:bodyPr wrap="square" rtlCol="0" anchor="ctr"/>
          <a:lstStyle/>
          <a:p>
            <a:pPr algn="ctr" indent="0" marL="0">
              <a:buNone/>
            </a:pPr>
            <a:r>
              <a:rPr lang="en-US" sz="1200" b="1" dirty="0">
                <a:solidFill>
                  <a:srgbClr val="55C8E8"/>
                </a:solidFill>
                <a:latin typeface="Calibri" pitchFamily="34" charset="0"/>
                <a:ea typeface="Calibri" pitchFamily="34" charset="-122"/>
                <a:cs typeface="Calibri" pitchFamily="34" charset="-120"/>
              </a:rPr>
              <a:t>Copy or download your work and submit to Canvas!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2026-07-13T20:42:47Z</dcterms:created>
  <dcterms:modified xsi:type="dcterms:W3CDTF">2026-07-13T20:42:47Z</dcterms:modified>
</cp:coreProperties>
</file>