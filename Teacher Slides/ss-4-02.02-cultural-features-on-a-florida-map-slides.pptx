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Florida aerial or illustrated map showing cities, roads, and cultural features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Hook -- Florida Files mission briefing. Cultural features are locked; students must unlock them through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Today's Path: 4 steps -- Root Word, Cultural Map, Signal Check, Lock It In. Show students the road ahead.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CLUE BOX: Show minimally labeled Florida political/cultural map. Students observe and notice before formal instruction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1 -- Before the reveal, draw out student prior knowledge about cultural features vs natural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1 -- Define cultural features. Key: built by people vs formed by nature. Five main types on Florida's cultural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Multi-Source Compare -- Side by side: Florida cultural map and Florida physical map. Students explain what each shows and why historians need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2 -- Geography shapes human settlement. Push students to cite physical features from the physical map as evidence for city locations.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2 -- Geography shapes human settlement. Transferable pattern connects to Evidence Question 2 on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 -- Extend the transferable pattern beyond Florida. Personal geography discussion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Root -- Latin urb = city. Vocabulary: urban, suburb, suburban, metropolis. Copywork sentence reinforces big idea of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Virtue Spotlight -- Self-Governance. Link: choosing WHERE to build = choosing HOW to live together. Cultural features are evidence of community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1 -- Teacher models the cause-effect chain using Tampa. Shows the 3-part claim structure students will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2 -- Students build their own cause-effect chain. Socratic push: defend with map evidence, consider counterargument.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3 -- Students evaluate a weak sample response about Miami. Practice: name the specific physical feature, not just general climate.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4 -- The Tricky One: Tallahassee is NOT coastal. Push students to see that political choices also shape cultural features, not just geography.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-- 3 questions with answers. Q1: Tallahassee = capital. Q2: I-95 = cultural feature. Q3: Coastal cities grew because of harbors.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Evidence Questions -- exact wording for all 3. Q1: cultural vs physical. Q2: geography and settlement. Q3: multi-source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Map Quest Response -- Unlock Challenge exact wording, Historian's Sentence Frame, and Turn-In Checklist with 4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Florida map or skyline with cities, roads, and cultural features visible -- celebrating lesson completion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841248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Features on a Florida Map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365760" y="1965960"/>
            <a:ext cx="4389120" cy="54864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21031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23774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cities, roads, farms, and borders show the choices people have made on Florida's land?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6576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Social Studies  |  Optima Academy Online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FILES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Briefing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2606040"/>
          </a:xfrm>
          <a:prstGeom prst="roundRect">
            <a:avLst>
              <a:gd name="adj" fmla="val 4912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MESSAGE -- YOUR TEACHER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Canvas has hidden the human-made features on today's Florida map -- cities, roads, and landmarks are all locked behind a glitch.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mission: restore the cultural layer.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Your teacher, still inside Module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767328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34B76F">
              <a:alpha val="80000"/>
            </a:srgbClr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1304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ACTIVE: Unlock the cultural features -- cities, highways, capital, farms, and borders.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Path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1A8A7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Word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'urb' = city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96012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0E1C42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514600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Map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2423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Florida's human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96012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D4943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663440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Check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your learning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960120"/>
            <a:ext cx="2011680" cy="3291840"/>
          </a:xfrm>
          <a:prstGeom prst="roundRect">
            <a:avLst>
              <a:gd name="adj" fmla="val 8182"/>
            </a:avLst>
          </a:prstGeom>
          <a:solidFill>
            <a:srgbClr val="34B76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07899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812280" y="18470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 It 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242316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and closing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CLUE BOX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Notice on This Map?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166360" cy="3520440"/>
          </a:xfrm>
          <a:prstGeom prst="roundRect">
            <a:avLst>
              <a:gd name="adj" fmla="val 311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489204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political/cultural map -- cities marked, highways labeled, capital starred (minimally labeled for student observation)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23560" y="91440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9692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1170432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 the city of ___ is near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 human-made feature I can see is ___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 by People?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520440"/>
          </a:xfrm>
          <a:prstGeom prst="roundRect">
            <a:avLst>
              <a:gd name="adj" fmla="val 389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82296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see on this map that was built by people?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dot (city) appear near the coastline?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change if you removed all the roads?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5C8E8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REVEAL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Features: Discovered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8503920" cy="1554480"/>
          </a:xfrm>
          <a:prstGeom prst="roundRect">
            <a:avLst>
              <a:gd name="adj" fmla="val 8235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discovered: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Cities, highways, the state capital, farms, and borders are all CULTURAL features -- built by human choice, not formed by nature.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and towns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218688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18688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capital (Tallahassee)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694176"/>
            <a:ext cx="4160520" cy="402336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94176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Highways (I-95, I-75, Turnpike)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743200"/>
            <a:ext cx="4251960" cy="402336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7432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regions (central FL citrus)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3218688"/>
            <a:ext cx="4251960" cy="402336"/>
          </a:xfrm>
          <a:prstGeom prst="roundRect">
            <a:avLst>
              <a:gd name="adj" fmla="val 18182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186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borders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4434840"/>
            <a:ext cx="8503920" cy="420624"/>
          </a:xfrm>
          <a:prstGeom prst="roundRect">
            <a:avLst>
              <a:gd name="adj" fmla="val 17391"/>
            </a:avLst>
          </a:prstGeom>
          <a:solidFill>
            <a:srgbClr val="D4943A">
              <a:alpha val="7800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531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retrieval: Name one cultural feature and one physical feature. How are they different?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MULTI-SOURCE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Maps Tell the Full Story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840480" cy="2633472"/>
          </a:xfrm>
          <a:prstGeom prst="roundRect">
            <a:avLst>
              <a:gd name="adj" fmla="val 416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356616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Political/Cultural Map -- cities, highways, borders, capital labeled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51960" y="914400"/>
            <a:ext cx="3840480" cy="2633472"/>
          </a:xfrm>
          <a:prstGeom prst="roundRect">
            <a:avLst>
              <a:gd name="adj" fmla="val 4167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25196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0" y="1188720"/>
            <a:ext cx="3566160" cy="2267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Physical Map -- rivers, lakes, elevation, coastline labeled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51960" y="3584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Map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0" y="987552"/>
            <a:ext cx="73152" cy="2487168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95928" y="21762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913632"/>
            <a:ext cx="8321040" cy="868680"/>
          </a:xfrm>
          <a:prstGeom prst="roundRect">
            <a:avLst>
              <a:gd name="adj" fmla="val 12632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6849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1696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"Both maps show ___ but only the cultural map shows ___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historian would want both maps because..."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DISCUSSION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Cities Cluster on the Coast?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3520440"/>
          </a:xfrm>
          <a:prstGeom prst="roundRect">
            <a:avLst>
              <a:gd name="adj" fmla="val 3896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07592"/>
            <a:ext cx="8229600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Florida's biggest cities clustered on the coast?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physical feature made Tampa a likely city location?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disagree that geography was the main reason cities grew there?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4B76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REVEAL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Shapes Human Decisions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60704"/>
            <a:ext cx="8503920" cy="1755648"/>
          </a:xfrm>
          <a:prstGeom prst="roundRect">
            <a:avLst>
              <a:gd name="adj" fmla="val 7292"/>
            </a:avLst>
          </a:prstGeom>
          <a:solidFill>
            <a:srgbClr val="1A2D5A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33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geography shaped Florida's cities: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Miami grew near Biscayne Bay -- a natural harbor on the Atlantic coast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Tampa grew on Tampa Bay -- sheltered water made trade and fishing easy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Jacksonville grew near the St. Johns River -- the widest river in Florida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4505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Coastal harbors made trade, fishing, and transportation possible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907792"/>
            <a:ext cx="8503920" cy="694944"/>
          </a:xfrm>
          <a:prstGeom prst="roundRect">
            <a:avLst>
              <a:gd name="adj" fmla="val 13158"/>
            </a:avLst>
          </a:prstGeom>
          <a:solidFill>
            <a:srgbClr val="D4943A">
              <a:alpha val="8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626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TRANSFERABLE PATTERN: Geography shapes human decisions everywhere -- cities cluster where land, water, and access meet.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4462272"/>
            <a:ext cx="9144000" cy="329184"/>
          </a:xfrm>
          <a:prstGeom prst="rect">
            <a:avLst/>
          </a:prstGeom>
          <a:solidFill>
            <a:srgbClr val="1A2D5A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47141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Name one Florida city and the physical feature that helped people decide to build there.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WHY IT MATTERS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 Shapes Choices Everywhere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15568"/>
          </a:xfrm>
          <a:prstGeom prst="roundRect">
            <a:avLst>
              <a:gd name="adj" fmla="val 9836"/>
            </a:avLst>
          </a:prstGeom>
          <a:solidFill>
            <a:srgbClr val="E8F4F2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connection you just made -- that physical features shaped where Florida's cities grew -- is not just a Florida story.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repeats across history and geography: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York City -- grew at the mouth of the Hudson River (natural harbor + river trade route)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 Orleans -- grew where the Mississippi River meets the Gulf of Mexico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321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Chicago -- grew at the southern tip of Lake Michigan (Great Lakes trade route)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858768"/>
            <a:ext cx="8595360" cy="841248"/>
          </a:xfrm>
          <a:prstGeom prst="roundRect">
            <a:avLst>
              <a:gd name="adj" fmla="val 16304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950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way where YOU live shows that geography mattered. What physical feature is near your community?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WORD ROOT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Latin: urb = city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3291840"/>
          </a:xfrm>
          <a:prstGeom prst="roundRect">
            <a:avLst>
              <a:gd name="adj" fmla="val 6000"/>
            </a:avLst>
          </a:prstGeom>
          <a:solidFill>
            <a:srgbClr val="0E1C42"/>
          </a:solidFill>
          <a:ln/>
          <a:effectLst>
            <a:outerShdw sx="100000" sy="100000" kx="0" ky="0" algn="bl" rotWithShape="0" blurRad="127000" dist="508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4320" y="20848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37744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city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2377440" cy="36576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89504"/>
            <a:ext cx="2542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Copywork: A city is built where the land allows it and the people choose it.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5623560" cy="768096"/>
          </a:xfrm>
          <a:prstGeom prst="roundRect">
            <a:avLst>
              <a:gd name="adj" fmla="val 11905"/>
            </a:avLst>
          </a:prstGeom>
          <a:solidFill>
            <a:srgbClr val="1A8A7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0058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urban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37560" y="1380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 relating to a city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4768" y="10149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Miami is an urban center.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801368"/>
            <a:ext cx="5623560" cy="768096"/>
          </a:xfrm>
          <a:prstGeom prst="roundRect">
            <a:avLst>
              <a:gd name="adj" fmla="val 11905"/>
            </a:avLst>
          </a:prstGeom>
          <a:solidFill>
            <a:srgbClr val="0E1C4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184708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suburb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3756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residential district near a city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44768" y="18562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Pembroke Pines is a suburb of Miami.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2642616"/>
            <a:ext cx="5623560" cy="768096"/>
          </a:xfrm>
          <a:prstGeom prst="roundRect">
            <a:avLst>
              <a:gd name="adj" fmla="val 11905"/>
            </a:avLst>
          </a:prstGeom>
          <a:solidFill>
            <a:srgbClr val="D4943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37560" y="26883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suburban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33756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 suburb; residential area near a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44768" y="2697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Suburban Floridians often commute to nearby cities.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3483864"/>
            <a:ext cx="5623560" cy="768096"/>
          </a:xfrm>
          <a:prstGeom prst="roundRect">
            <a:avLst>
              <a:gd name="adj" fmla="val 11905"/>
            </a:avLst>
          </a:prstGeom>
          <a:solidFill>
            <a:srgbClr val="34B76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352958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metropolis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3337560" y="3904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important city -- often a regional hub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44768" y="353872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Tampa is a growing metropolis in Florida.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/>
          </a:solidFill>
          <a:ln w="12700">
            <a:solidFill>
              <a:srgbClr val="1A2D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8B6FC0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SPOTLIGHT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Self-Governance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8503920" cy="1234440"/>
          </a:xfrm>
          <a:prstGeom prst="roundRect">
            <a:avLst>
              <a:gd name="adj" fmla="val 10370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thoughtful choices about how to live, work, and build community -- governing yourself and your actions with wisdom and care.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2514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TODAY'S LESSON: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8503920" cy="1143000"/>
          </a:xfrm>
          <a:prstGeom prst="roundRect">
            <a:avLst>
              <a:gd name="adj" fmla="val 9600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889504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city on Florida's map sits where people CHOSE to build it. Self-governance means making careful choices about where and how to live together. Those choices left marks on the map that we can still read today.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GUIDED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Models: Cause and Effect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389888"/>
          </a:xfrm>
          <a:prstGeom prst="roundRect">
            <a:avLst>
              <a:gd name="adj" fmla="val 7895"/>
            </a:avLst>
          </a:prstGeom>
          <a:solidFill>
            <a:srgbClr val="E8F4F2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THINK-ALOUD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see Tampa on the cultural map. I look at the physical map -- Tampa sits on Tampa Bay. Cause: natural harbor. Effect: people built a port city there. My claim: Tampa grew because of its harbor, because the water made trade and settlement easy.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STRUCTURE: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1A8A7D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4048" y="27980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Place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219456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54680" y="27432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0E1C42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27980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Physical Feature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3236976"/>
            <a:ext cx="219456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Tampa Bay (natural harbor)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743200"/>
            <a:ext cx="2743200" cy="1508760"/>
          </a:xfrm>
          <a:prstGeom prst="roundRect">
            <a:avLst>
              <a:gd name="adj" fmla="val 7273"/>
            </a:avLst>
          </a:prstGeom>
          <a:solidFill>
            <a:srgbClr val="D4943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44768" y="279806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Cause-Effect Link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236976"/>
            <a:ext cx="219456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3291840"/>
            <a:ext cx="2523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Harbor made trade easy, so people built a port city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GUIDED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 and Defend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a Florida city from the cultural map. Build your own cause-effect chain using the 3-part structure.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Place: ___________________________________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359152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235915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Physical Feature: ___________________________________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980944"/>
            <a:ext cx="8595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57200" y="2980944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to Effect: ___________________________________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730752"/>
            <a:ext cx="8595360" cy="969264"/>
          </a:xfrm>
          <a:prstGeom prst="roundRect">
            <a:avLst>
              <a:gd name="adj" fmla="val 14151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078224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from the map supports your choice?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someone who disagrees say -- is there a better reason?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GUIDED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 This Claim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STUDENT RESPONSE: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Miami is near the coast because it's warm.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965960"/>
            <a:ext cx="8595360" cy="1828800"/>
          </a:xfrm>
          <a:prstGeom prst="roundRect">
            <a:avLst>
              <a:gd name="adj" fmla="val 7500"/>
            </a:avLst>
          </a:prstGeom>
          <a:solidFill>
            <a:srgbClr val="1A2D5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57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SOURCE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13432"/>
            <a:ext cx="82296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claim well-supported? Does it name a specific physical feature?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is missing from this response?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strengthen this claim? Rewrite it with one more piece of evidence.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886200"/>
            <a:ext cx="8595360" cy="713232"/>
          </a:xfrm>
          <a:prstGeom prst="roundRect">
            <a:avLst>
              <a:gd name="adj" fmla="val 12821"/>
            </a:avLst>
          </a:prstGeom>
          <a:solidFill>
            <a:srgbClr val="E8F4F2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41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historian looks for specific evidence -- climate alone is not enough. Name the harbor. Name the bay. Show the cause-effect connection.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GUIDED PRACTICE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Tricky One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444752"/>
          </a:xfrm>
          <a:prstGeom prst="roundRect">
            <a:avLst>
              <a:gd name="adj" fmla="val 7595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241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CHALLENGE: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Tallahassee is Florida's capital, but it is NOT on the coast. If geography shapes city location, why is the capital in the panhandle -- far from the big coastal cities? Defend your position.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4320" y="252374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 TO CONSIDER: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Tallahassee was chosen in 1824 as a midpoint between Pensacola and St. Augustine -- the two largest towns at the time.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7355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Political decisions (compromise between two groups) can shape geography, not just the other way around.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3075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capital city's purpose (government) is different from a port city's purpose (trade and shipping).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SIGNAL CHECK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city is Florida's state capital?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99616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E8F4F2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Tallahassee -- marked with a star on the political map.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04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Interstate 95 a cultural or physical feature?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798064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E8F4F2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-- I-95 was built by people. Roads are human-made, not natural.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0273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did Miami and Tampa grow larger than many inland cities?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" y="4096512"/>
            <a:ext cx="8595360" cy="676656"/>
          </a:xfrm>
          <a:prstGeom prst="roundRect">
            <a:avLst>
              <a:gd name="adj" fmla="val 10811"/>
            </a:avLst>
          </a:prstGeom>
          <a:solidFill>
            <a:srgbClr val="E8F4F2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1480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location near natural harbors made trade, fishing, and settlement easier.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ASSIGNMENT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Questions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1A8A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493776" cy="1207008"/>
          </a:xfrm>
          <a:prstGeom prst="roundRect">
            <a:avLst>
              <a:gd name="adj" fmla="val 22222"/>
            </a:avLst>
          </a:prstGeom>
          <a:solidFill>
            <a:srgbClr val="1A8A7D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87552"/>
            <a:ext cx="493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1078992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two cultural features you saw on the map today. How is each one different from a physical feature?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8595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0E1C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493776" cy="1207008"/>
          </a:xfrm>
          <a:prstGeom prst="roundRect">
            <a:avLst>
              <a:gd name="adj" fmla="val 22222"/>
            </a:avLst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493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59536" y="23774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Florida city. What physical feature near it helped people decide to build there?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584448"/>
            <a:ext cx="8595360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584448"/>
            <a:ext cx="493776" cy="1207008"/>
          </a:xfrm>
          <a:prstGeom prst="roundRect">
            <a:avLst>
              <a:gd name="adj" fmla="val 22222"/>
            </a:avLst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584448"/>
            <a:ext cx="49377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" y="367588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today's cultural map work together with yesterday's physical map? Explain why a historian would want to read both maps.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E1C42"/>
          </a:solidFill>
          <a:ln w="12700">
            <a:solidFill>
              <a:srgbClr val="0E1C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4.02.02 -- ASSIGNMENT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329184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Quest Response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2029968"/>
          </a:xfrm>
          <a:prstGeom prst="roundRect">
            <a:avLst>
              <a:gd name="adj" fmla="val 5405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CHALLENGE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one Florida city or one farm region from the cultural map. Write 3-4 sentences explaining the cause-and-effect link between a physical feature of the land and the choice people made to build there.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place. Name the physical feature near it. Explain the cause-and-effect: how the land shaped the choice.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8595360" cy="566928"/>
          </a:xfrm>
          <a:prstGeom prst="roundRect">
            <a:avLst>
              <a:gd name="adj" fmla="val 16129"/>
            </a:avLst>
          </a:prstGeom>
          <a:solidFill>
            <a:srgbClr val="FFF3DC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723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HISTORIAN'S SENTENCE FRAME: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 I learned that ______ because ______.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6758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TURN-IN CHECKLIST: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39502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Named a specific place (city or farm region)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3159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Named a specific physical feature near that place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45152" y="39502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Explained the cause-effect link in 3-4 sentences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431596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Used the Historian's Sentence Frame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4B76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389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2 UNLOCKED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804672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Cultural Features Show How People Shape Places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4114800" cy="54864"/>
          </a:xfrm>
          <a:prstGeom prst="rect">
            <a:avLst/>
          </a:prstGeom>
          <a:solidFill>
            <a:srgbClr val="D4943A"/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956816"/>
            <a:ext cx="8321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2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 communities, transportation, buildings, and landmarks -- cultural features are evidence of human choices written on the land.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2834640"/>
            <a:ext cx="5029200" cy="658368"/>
          </a:xfrm>
          <a:prstGeom prst="roundRect">
            <a:avLst>
              <a:gd name="adj" fmla="val 13889"/>
            </a:avLst>
          </a:prstGeom>
          <a:solidFill>
            <a:srgbClr val="8B6FC0">
              <a:alpha val="80000"/>
            </a:srgbClr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87121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Self-Governance: We build communities by making thoughtful choices about where and how to live together.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602736"/>
            <a:ext cx="5669280" cy="658368"/>
          </a:xfrm>
          <a:prstGeom prst="roundRect">
            <a:avLst>
              <a:gd name="adj" fmla="val 13889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63931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NEXT: Lesson 4.02.03 -- Reading Florida Maps Together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45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Social Studies  |  Optima Academy Online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2026-07-13T20:34:57Z</dcterms:created>
  <dcterms:modified xsi:type="dcterms:W3CDTF">2026-07-13T20:34:57Z</dcterms:modified>
</cp:coreProperties>
</file>