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Castillo de San Marcos from a dramatic low angle showing thick coquina stone walls with the Florida bay visible behind them. Warm afternoon golden light, ancient and enduring mood. TEACHER: Welcome to the Architecture Wing. Canvas saved a whole row of early-Florida buildings and objects but stripped every label off them. Today your job as Field Historians is to read shapes and objects as evidence. Let us find out what they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Files-style mission briefing screen: dim hallway with silhouetted outlines of a fort wall, a mission arch, a clay pot, and hand tools arranged in a row -- shapes only, no labels, slightly mysterious and dim. TEACHER: Read Ms. Rivera's message aloud with urgency. Your job is not to memorize facts but to look at each building and object and ask what does it REVEAL, what is the evidence, and what can it NOT tell us. Note the virtue for today: Honesty. A Field Historian is honest about both what evidence shows AND what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this slide and say NOTHING for 5 full seconds. Let students look. Then say: Type what you notice -- but no guessing what it IS yet. Just describe what you see. After chat fills: What words are you using? Rough? Bumpy? Old? Smooth? Do NOT reveal what this object is. The mystery drives the next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slide builds the conceptual foundation for all artifact work ahead. Push past first answers. When a student says it shows what people used, ask: How does a tool SHOW us that? What specifically about the object tells you? Key move: when two students disagree, ask Can you both be right? What would each of you need to prove your reading? Do not resolve -- let the tension build into the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Castillo de San Marcos -- dramatic angle showing full massive coquina walls with the bay behind them, warm golden late-afternoon light. Mood: ancient, massive, enduring. TEACHER: Reveal this after the Clue Box mystery. Say: That fragment you were looking at? This is what it came from. Let the connection land. Then walk through each fact and ask: Why would the Spanish choose a LOCAL stone? Key fact: coquina absorbs cannonball impact instead of shattering.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The key move is questions three and four. When students say it shows the Spanish wanted to protect Florida, push: From whose perspective is this a protective fort? Was it protective for everyone? Guide toward: many workers who built the Castillo were Native peoples, including the Timucua. The fort does not tell us their names or experiences. Naming what evidence cannot tell us is part of being an honest historian.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Ask students to look at both images before typing. Ask aloud: If you wanted to learn how people defended themselves, which source would you use? If you wanted to learn about daily life and religion -- which? Then: Could you use BOTH? What does using two sources let you do that one source alone cannot? Push toward: multiple sources give a more complete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Artifacts from everyday life are often more democratic evidence -- they show how ordinary people lived, not just what leaders built. Ask: Whose story do pottery and tools tell that the Castillo cannot? Push toward: these artifacts tell us about daily life for people who may not have left written records. Vocabulary moment: artifact -- an object made or used by people in the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silhouette: a figure evoking a Timucua worker in the foreground with the outline of a massive fort wall behind -- presence and absence together, memory and silence, evoking those whose names are not recorded. TEACHER: This is the virtue moment -- Honesty. Being honest about evidence does not mean we do not trust it. It means we are clear about what it CAN show and what it CANNOT. This connects directly to Assignment Question 2: What is one thing an artifact CANNOT tell us by itself? Make sure students hear this distinction clearly before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this model aloud with think-aloud narration. After each line, pause and say WHERE you got the information. I chose the Castillo -- I can see it in our image. I know the walls are thick from what we learned. I am making a CLAIM: defense was a top priority. Then I name my EVIDENCE: thick walls designed for cannonballs. Explicitly model the cannot tell us line -- naming what we do not know is what makes a historian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students 2-3 minutes to fill in their structure. Then call on 2-3 students to share. When a student shares, use the Defend frame: Can someone argue the other side? What would change this person's answer? Push for the third chat frame -- naming what the artifact CANNOT tell us. That honesty piece is central to today's lesson and to Assignment Question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both questions. For Question 1, remind students of the four-part structure: Name it, what it reveals, your evidence, what it cannot tell us. For Question 2, connect to the honesty principle: An honest historian names what is missing. The Unlock Challenge is optional extension -- 3 to 5 sentences of supported argument. Checklist: students should verify all four items before submitting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Files: a museum display case with properly labeled artifacts -- a coquina stone sample, a pottery shard, a small tool, and a mission floor plan sketch -- all neatly organized and labeled under warm professional museum lighting. Mood: accomplished, complete. TEACHER: Close with the honesty principle. Today you did not just learn about buildings and artifacts -- you learned HOW historians read them. And you practiced the most important historian skill: being honest about what evidence shows AND what it does not. Call out strong examples of student work. Tease the next lesson: one more file left in the 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548640" y="914400"/>
            <a:ext cx="64008" cy="1920240"/>
          </a:xfrm>
          <a:prstGeom prst="rect">
            <a:avLst/>
          </a:prstGeom>
          <a:solidFill>
            <a:srgbClr val="D4943A"/>
          </a:solidFill>
          <a:ln w="12700">
            <a:solidFill>
              <a:srgbClr val="D4943A"/>
            </a:solidFill>
            <a:prstDash val="solid"/>
          </a:ln>
        </p:spPr>
      </p:sp>
      <p:sp>
        <p:nvSpPr>
          <p:cNvPr id="6" name="Text 3"/>
          <p:cNvSpPr/>
          <p:nvPr/>
        </p:nvSpPr>
        <p:spPr>
          <a:xfrm>
            <a:off x="777240" y="502920"/>
            <a:ext cx="8046720" cy="29260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LESSON 4.06.07  |  FLORIDA FILES: ARCHITECTURE WING</a:t>
            </a:r>
            <a:endParaRPr lang="en-US" sz="1000" dirty="0"/>
          </a:p>
        </p:txBody>
      </p:sp>
      <p:sp>
        <p:nvSpPr>
          <p:cNvPr id="7" name="Text 4"/>
          <p:cNvSpPr/>
          <p:nvPr/>
        </p:nvSpPr>
        <p:spPr>
          <a:xfrm>
            <a:off x="777240" y="914400"/>
            <a:ext cx="7772400" cy="1645920"/>
          </a:xfrm>
          <a:prstGeom prst="rect">
            <a:avLst/>
          </a:prstGeom>
          <a:noFill/>
          <a:ln/>
        </p:spPr>
        <p:txBody>
          <a:bodyPr wrap="square" lIns="0" tIns="0" rIns="0" bIns="0" rtlCol="0" anchor="ctr"/>
          <a:lstStyle/>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Architecture and Artifacts</a:t>
            </a:r>
            <a:endParaRPr lang="en-US" sz="3800" dirty="0"/>
          </a:p>
          <a:p>
            <a:pPr indent="0" marL="0">
              <a:lnSpc>
                <a:spcPct val="110000"/>
              </a:lnSpc>
              <a:buNone/>
            </a:pPr>
            <a:r>
              <a:rPr lang="en-US" sz="3800" b="1" dirty="0">
                <a:solidFill>
                  <a:srgbClr val="FFFFFF"/>
                </a:solidFill>
                <a:latin typeface="Cambria" pitchFamily="34" charset="0"/>
                <a:ea typeface="Cambria" pitchFamily="34" charset="-122"/>
                <a:cs typeface="Cambria" pitchFamily="34" charset="-120"/>
              </a:rPr>
              <a:t>of Early Florida</a:t>
            </a:r>
            <a:endParaRPr lang="en-US" sz="3800" dirty="0"/>
          </a:p>
        </p:txBody>
      </p:sp>
      <p:sp>
        <p:nvSpPr>
          <p:cNvPr id="8" name="Text 5"/>
          <p:cNvSpPr/>
          <p:nvPr/>
        </p:nvSpPr>
        <p:spPr>
          <a:xfrm>
            <a:off x="777240" y="2697480"/>
            <a:ext cx="7772400" cy="594360"/>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What can early Florida's buildings and artifacts teach us about the past?</a:t>
            </a:r>
            <a:endParaRPr lang="en-US" sz="1800" dirty="0"/>
          </a:p>
        </p:txBody>
      </p:sp>
      <p:sp>
        <p:nvSpPr>
          <p:cNvPr id="9" name="Text 6"/>
          <p:cNvSpPr/>
          <p:nvPr/>
        </p:nvSpPr>
        <p:spPr>
          <a:xfrm>
            <a:off x="777240" y="4572000"/>
            <a:ext cx="7772400" cy="256032"/>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SS.4.A.3.2  |  SS.4.A.3.3  |  SS.4.A.3.4  |  SS.4.A.3.6  |  SS.4.A.9.1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457200"/>
            <a:ext cx="804672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FLORIDA FILES: MISSION BRIEF</a:t>
            </a:r>
            <a:endParaRPr lang="en-US" sz="1000" dirty="0"/>
          </a:p>
        </p:txBody>
      </p:sp>
      <p:sp>
        <p:nvSpPr>
          <p:cNvPr id="6" name="Shape 3"/>
          <p:cNvSpPr/>
          <p:nvPr/>
        </p:nvSpPr>
        <p:spPr>
          <a:xfrm>
            <a:off x="548640" y="868680"/>
            <a:ext cx="8046720" cy="2331720"/>
          </a:xfrm>
          <a:prstGeom prst="roundRect">
            <a:avLst>
              <a:gd name="adj" fmla="val 5882"/>
            </a:avLst>
          </a:prstGeom>
          <a:solidFill>
            <a:srgbClr val="1A2D5A"/>
          </a:solidFill>
          <a:ln/>
          <a:effectLst>
            <a:outerShdw sx="100000" sy="100000" kx="0" ky="0" algn="bl" rotWithShape="0" blurRad="127000" dist="50800" dir="8100000">
              <a:srgbClr val="000000">
                <a:alpha val="25000"/>
              </a:srgbClr>
            </a:outerShdw>
          </a:effectLst>
        </p:spPr>
      </p:sp>
      <p:sp>
        <p:nvSpPr>
          <p:cNvPr id="7" name="Text 4"/>
          <p:cNvSpPr/>
          <p:nvPr/>
        </p:nvSpPr>
        <p:spPr>
          <a:xfrm>
            <a:off x="777240" y="987552"/>
            <a:ext cx="7589520" cy="2084832"/>
          </a:xfrm>
          <a:prstGeom prst="rect">
            <a:avLst/>
          </a:prstGeom>
          <a:noFill/>
          <a:ln/>
        </p:spPr>
        <p:txBody>
          <a:bodyPr wrap="square" lIns="0" tIns="0" rIns="0" bIns="0" rtlCol="0" anchor="ctr"/>
          <a:lstStyle/>
          <a:p>
            <a:pPr indent="0" marL="0">
              <a:buNone/>
            </a:pPr>
            <a:r>
              <a:rPr lang="en-US" sz="1500" i="1" dirty="0">
                <a:solidFill>
                  <a:srgbClr val="FFFFFF"/>
                </a:solidFill>
                <a:latin typeface="Cambria" pitchFamily="34" charset="0"/>
                <a:ea typeface="Cambria" pitchFamily="34" charset="-122"/>
                <a:cs typeface="Cambria" pitchFamily="34" charset="-120"/>
              </a:rPr>
              <a:t>"Two files left in this wing. Canvas saved a whole row of early-Florida buildings and objects -- a fort wall, a mission, pottery, tools -- but stripped off every label. Right now they're just shapes and stuff. I need you to read them as evidence and tell me what they reveal."</a:t>
            </a:r>
            <a:endParaRPr lang="en-US" sz="1500" dirty="0"/>
          </a:p>
        </p:txBody>
      </p:sp>
      <p:sp>
        <p:nvSpPr>
          <p:cNvPr id="8" name="Text 5"/>
          <p:cNvSpPr/>
          <p:nvPr/>
        </p:nvSpPr>
        <p:spPr>
          <a:xfrm>
            <a:off x="5212080" y="3291840"/>
            <a:ext cx="3200400" cy="274320"/>
          </a:xfrm>
          <a:prstGeom prst="rect">
            <a:avLst/>
          </a:prstGeom>
          <a:noFill/>
          <a:ln/>
        </p:spPr>
        <p:txBody>
          <a:bodyPr wrap="square" lIns="0" tIns="0" rIns="0" bIns="0" rtlCol="0" anchor="ctr"/>
          <a:lstStyle/>
          <a:p>
            <a:pPr algn="r" indent="0" marL="0">
              <a:buNone/>
            </a:pPr>
            <a:r>
              <a:rPr lang="en-US" sz="1100" i="1" dirty="0">
                <a:solidFill>
                  <a:srgbClr val="D4943A"/>
                </a:solidFill>
                <a:latin typeface="Calibri" pitchFamily="34" charset="0"/>
                <a:ea typeface="Calibri" pitchFamily="34" charset="-122"/>
                <a:cs typeface="Calibri" pitchFamily="34" charset="-120"/>
              </a:rPr>
              <a:t>-- Ms. Rivera, Florida History Team</a:t>
            </a:r>
            <a:endParaRPr lang="en-US" sz="1100" dirty="0"/>
          </a:p>
        </p:txBody>
      </p:sp>
      <p:sp>
        <p:nvSpPr>
          <p:cNvPr id="9" name="Shape 6"/>
          <p:cNvSpPr/>
          <p:nvPr/>
        </p:nvSpPr>
        <p:spPr>
          <a:xfrm>
            <a:off x="548640" y="3703320"/>
            <a:ext cx="8046720" cy="621792"/>
          </a:xfrm>
          <a:prstGeom prst="roundRect">
            <a:avLst>
              <a:gd name="adj" fmla="val 14706"/>
            </a:avLst>
          </a:prstGeom>
          <a:solidFill>
            <a:srgbClr val="34B76F">
              <a:alpha val="25000"/>
            </a:srgbClr>
          </a:solidFill>
          <a:ln w="19050">
            <a:solidFill>
              <a:srgbClr val="34B76F"/>
            </a:solidFill>
            <a:prstDash val="solid"/>
          </a:ln>
        </p:spPr>
      </p:sp>
      <p:sp>
        <p:nvSpPr>
          <p:cNvPr id="10" name="Text 7"/>
          <p:cNvSpPr/>
          <p:nvPr/>
        </p:nvSpPr>
        <p:spPr>
          <a:xfrm>
            <a:off x="731520" y="3749040"/>
            <a:ext cx="7680960" cy="530352"/>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YOUR ROLE: Field Historian on the Florida History Team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09728"/>
            <a:ext cx="8412480" cy="292608"/>
          </a:xfrm>
          <a:prstGeom prst="rect">
            <a:avLst/>
          </a:prstGeom>
          <a:noFill/>
          <a:ln/>
        </p:spPr>
        <p:txBody>
          <a:bodyPr wrap="square" lIns="0" tIns="0" rIns="0" bIns="0" rtlCol="0" anchor="ctr"/>
          <a:lstStyle/>
          <a:p>
            <a:pPr indent="0" marL="0">
              <a:buNone/>
            </a:pPr>
            <a:r>
              <a:rPr lang="en-US" sz="1000" b="1" spc="150" kern="0" dirty="0">
                <a:solidFill>
                  <a:srgbClr val="0E1C42"/>
                </a:solidFill>
                <a:latin typeface="Calibri" pitchFamily="34" charset="0"/>
                <a:ea typeface="Calibri" pitchFamily="34" charset="-122"/>
                <a:cs typeface="Calibri" pitchFamily="34" charset="-120"/>
              </a:rPr>
              <a:t>FIELD LOG ENTRY 1: MYSTERY OBJECT</a:t>
            </a:r>
            <a:endParaRPr lang="en-US" sz="1000" dirty="0"/>
          </a:p>
        </p:txBody>
      </p:sp>
      <p:sp>
        <p:nvSpPr>
          <p:cNvPr id="4" name="Text 2"/>
          <p:cNvSpPr/>
          <p:nvPr/>
        </p:nvSpPr>
        <p:spPr>
          <a:xfrm>
            <a:off x="365760" y="438912"/>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Look carefully. No labels. No identifying yet -- only observing.</a:t>
            </a:r>
            <a:endParaRPr lang="en-US" sz="1200" dirty="0"/>
          </a:p>
        </p:txBody>
      </p:sp>
      <p:sp>
        <p:nvSpPr>
          <p:cNvPr id="5" name="Shape 3"/>
          <p:cNvSpPr/>
          <p:nvPr/>
        </p:nvSpPr>
        <p:spPr>
          <a:xfrm>
            <a:off x="365760" y="804672"/>
            <a:ext cx="4572000" cy="3337560"/>
          </a:xfrm>
          <a:prstGeom prst="roundRect">
            <a:avLst>
              <a:gd name="adj" fmla="val 3288"/>
            </a:avLst>
          </a:prstGeom>
          <a:solidFill>
            <a:srgbClr val="E2E8F4"/>
          </a:solidFill>
          <a:ln w="19050">
            <a:solidFill>
              <a:srgbClr val="B0B8CC"/>
            </a:solidFill>
            <a:prstDash val="dash"/>
          </a:ln>
        </p:spPr>
      </p:sp>
      <p:sp>
        <p:nvSpPr>
          <p:cNvPr id="6" name="Text 4"/>
          <p:cNvSpPr/>
          <p:nvPr/>
        </p:nvSpPr>
        <p:spPr>
          <a:xfrm>
            <a:off x="365760" y="804672"/>
            <a:ext cx="45720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78992"/>
            <a:ext cx="4297680" cy="2971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CLOSE-UP: coquina wall fragment OR unidentified pottery shard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(no labels, no context -- just the texture of the object or surface)</a:t>
            </a:r>
            <a:endParaRPr lang="en-US" sz="1100" dirty="0"/>
          </a:p>
        </p:txBody>
      </p:sp>
      <p:sp>
        <p:nvSpPr>
          <p:cNvPr id="8" name="Shape 6"/>
          <p:cNvSpPr/>
          <p:nvPr/>
        </p:nvSpPr>
        <p:spPr>
          <a:xfrm>
            <a:off x="5120640" y="804672"/>
            <a:ext cx="3657600" cy="2331720"/>
          </a:xfrm>
          <a:prstGeom prst="roundRect">
            <a:avLst>
              <a:gd name="adj" fmla="val 4706"/>
            </a:avLst>
          </a:prstGeom>
          <a:solidFill>
            <a:srgbClr val="FFF3DC"/>
          </a:solidFill>
          <a:ln w="19050">
            <a:solidFill>
              <a:srgbClr val="F5E6C8"/>
            </a:solidFill>
            <a:prstDash val="solid"/>
          </a:ln>
        </p:spPr>
      </p:sp>
      <p:sp>
        <p:nvSpPr>
          <p:cNvPr id="9" name="Text 7"/>
          <p:cNvSpPr/>
          <p:nvPr/>
        </p:nvSpPr>
        <p:spPr>
          <a:xfrm>
            <a:off x="5257800" y="859536"/>
            <a:ext cx="33832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257800" y="1060704"/>
            <a:ext cx="3383280" cy="2011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might be...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question I still have is... because..."</a:t>
            </a:r>
            <a:endParaRPr lang="en-US" sz="1200" dirty="0"/>
          </a:p>
        </p:txBody>
      </p:sp>
      <p:sp>
        <p:nvSpPr>
          <p:cNvPr id="11" name="Shape 9"/>
          <p:cNvSpPr/>
          <p:nvPr/>
        </p:nvSpPr>
        <p:spPr>
          <a:xfrm>
            <a:off x="5120640" y="3246120"/>
            <a:ext cx="3657600" cy="896112"/>
          </a:xfrm>
          <a:prstGeom prst="roundRect">
            <a:avLst>
              <a:gd name="adj" fmla="val 10204"/>
            </a:avLst>
          </a:prstGeom>
          <a:solidFill>
            <a:srgbClr val="E2E8F4"/>
          </a:solidFill>
          <a:ln w="12700">
            <a:solidFill>
              <a:srgbClr val="B0B8CC"/>
            </a:solidFill>
            <a:prstDash val="solid"/>
          </a:ln>
        </p:spPr>
      </p:sp>
      <p:sp>
        <p:nvSpPr>
          <p:cNvPr id="12" name="Text 10"/>
          <p:cNvSpPr/>
          <p:nvPr/>
        </p:nvSpPr>
        <p:spPr>
          <a:xfrm>
            <a:off x="5257800" y="3291840"/>
            <a:ext cx="3383280" cy="804672"/>
          </a:xfrm>
          <a:prstGeom prst="rect">
            <a:avLst/>
          </a:prstGeom>
          <a:noFill/>
          <a:ln/>
        </p:spPr>
        <p:txBody>
          <a:bodyPr wrap="square" lIns="0" tIns="0" rIns="0" bIns="0" rtlCol="0" anchor="ctr"/>
          <a:lstStyle/>
          <a:p>
            <a:pPr algn="ctr" indent="0" marL="0">
              <a:buNone/>
            </a:pPr>
            <a:r>
              <a:rPr lang="en-US" sz="1200" dirty="0">
                <a:solidFill>
                  <a:srgbClr val="0E1C42"/>
                </a:solidFill>
                <a:latin typeface="Calibri" pitchFamily="34" charset="0"/>
                <a:ea typeface="Calibri" pitchFamily="34" charset="-122"/>
                <a:cs typeface="Calibri" pitchFamily="34" charset="-120"/>
              </a:rPr>
              <a:t>Take 5 seconds of silence.</a:t>
            </a:r>
            <a:endParaRPr lang="en-US" sz="1200" dirty="0"/>
          </a:p>
          <a:p>
            <a:pPr algn="ctr" indent="0" marL="0">
              <a:buNone/>
            </a:pPr>
            <a:r>
              <a:rPr lang="en-US" sz="1200" dirty="0">
                <a:solidFill>
                  <a:srgbClr val="0E1C42"/>
                </a:solidFill>
                <a:latin typeface="Calibri" pitchFamily="34" charset="0"/>
                <a:ea typeface="Calibri" pitchFamily="34" charset="-122"/>
                <a:cs typeface="Calibri" pitchFamily="34" charset="-120"/>
              </a:rPr>
              <a:t>Then type what you observe in chat.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09728"/>
            <a:ext cx="8412480" cy="36576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INVESTIGATE: What Makes Something Evidence?</a:t>
            </a:r>
            <a:endParaRPr lang="en-US" sz="1400" dirty="0"/>
          </a:p>
        </p:txBody>
      </p:sp>
      <p:sp>
        <p:nvSpPr>
          <p:cNvPr id="4" name="Text 2"/>
          <p:cNvSpPr/>
          <p:nvPr/>
        </p:nvSpPr>
        <p:spPr>
          <a:xfrm>
            <a:off x="365760" y="521208"/>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Before we name the object -- let us think about how physical things work as evidence.</a:t>
            </a:r>
            <a:endParaRPr lang="en-US" sz="1200" dirty="0"/>
          </a:p>
        </p:txBody>
      </p:sp>
      <p:sp>
        <p:nvSpPr>
          <p:cNvPr id="5" name="Shape 3"/>
          <p:cNvSpPr/>
          <p:nvPr/>
        </p:nvSpPr>
        <p:spPr>
          <a:xfrm>
            <a:off x="365760" y="914400"/>
            <a:ext cx="448056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1005840"/>
            <a:ext cx="41148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7" name="Text 5"/>
          <p:cNvSpPr/>
          <p:nvPr/>
        </p:nvSpPr>
        <p:spPr>
          <a:xfrm>
            <a:off x="548640" y="1261872"/>
            <a:ext cx="411480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building count as evidence about the past?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an object show us that a written record cannot?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historians interpret this same object differently? Defend your answer.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you MORE confident in what an object reveals?</a:t>
            </a:r>
            <a:endParaRPr lang="en-US" sz="1100" dirty="0"/>
          </a:p>
        </p:txBody>
      </p:sp>
      <p:sp>
        <p:nvSpPr>
          <p:cNvPr id="8" name="Shape 6"/>
          <p:cNvSpPr/>
          <p:nvPr/>
        </p:nvSpPr>
        <p:spPr>
          <a:xfrm>
            <a:off x="5029200" y="914400"/>
            <a:ext cx="3749040" cy="3291840"/>
          </a:xfrm>
          <a:prstGeom prst="roundRect">
            <a:avLst>
              <a:gd name="adj" fmla="val 3333"/>
            </a:avLst>
          </a:prstGeom>
          <a:solidFill>
            <a:srgbClr val="FFF3DC"/>
          </a:solidFill>
          <a:ln w="19050">
            <a:solidFill>
              <a:srgbClr val="F5E6C8"/>
            </a:solidFill>
            <a:prstDash val="solid"/>
          </a:ln>
        </p:spPr>
      </p:sp>
      <p:sp>
        <p:nvSpPr>
          <p:cNvPr id="9" name="Text 7"/>
          <p:cNvSpPr/>
          <p:nvPr/>
        </p:nvSpPr>
        <p:spPr>
          <a:xfrm>
            <a:off x="5166360" y="969264"/>
            <a:ext cx="3474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5166360" y="1170432"/>
            <a:ext cx="3474720" cy="2971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building is evidence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"An object can show ___ that writing cannot,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"Two historians might disagree about this object because..."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384048"/>
            <a:ext cx="804672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FIELD LOG: OBJECT IDENTIFIED</a:t>
            </a:r>
            <a:endParaRPr lang="en-US" sz="1000" dirty="0"/>
          </a:p>
        </p:txBody>
      </p:sp>
      <p:sp>
        <p:nvSpPr>
          <p:cNvPr id="6" name="Text 3"/>
          <p:cNvSpPr/>
          <p:nvPr/>
        </p:nvSpPr>
        <p:spPr>
          <a:xfrm>
            <a:off x="548640" y="749808"/>
            <a:ext cx="8046720" cy="82296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Castillo de San Marcos</a:t>
            </a:r>
            <a:endParaRPr lang="en-US" sz="3600" dirty="0"/>
          </a:p>
        </p:txBody>
      </p:sp>
      <p:sp>
        <p:nvSpPr>
          <p:cNvPr id="7" name="Shape 4"/>
          <p:cNvSpPr/>
          <p:nvPr/>
        </p:nvSpPr>
        <p:spPr>
          <a:xfrm>
            <a:off x="548640" y="1645920"/>
            <a:ext cx="4754880" cy="45720"/>
          </a:xfrm>
          <a:prstGeom prst="rect">
            <a:avLst/>
          </a:prstGeom>
          <a:solidFill>
            <a:srgbClr val="D4943A"/>
          </a:solidFill>
          <a:ln w="12700">
            <a:solidFill>
              <a:srgbClr val="D4943A"/>
            </a:solidFill>
            <a:prstDash val="solid"/>
          </a:ln>
        </p:spPr>
      </p:sp>
      <p:sp>
        <p:nvSpPr>
          <p:cNvPr id="8" name="Text 5"/>
          <p:cNvSpPr/>
          <p:nvPr/>
        </p:nvSpPr>
        <p:spPr>
          <a:xfrm>
            <a:off x="548640" y="1783080"/>
            <a:ext cx="8046720" cy="41148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MATERIAL:  </a:t>
            </a:r>
            <a:pPr indent="0" marL="0">
              <a:buNone/>
            </a:pPr>
            <a:r>
              <a:rPr lang="en-US" sz="1300" dirty="0">
                <a:solidFill>
                  <a:srgbClr val="FFFFFF"/>
                </a:solidFill>
                <a:latin typeface="Calibri" pitchFamily="34" charset="0"/>
                <a:ea typeface="Calibri" pitchFamily="34" charset="-122"/>
                <a:cs typeface="Calibri" pitchFamily="34" charset="-120"/>
              </a:rPr>
              <a:t>Coquina -- soft shell-stone quarried from Florida's coast</a:t>
            </a:r>
            <a:endParaRPr lang="en-US" sz="1300" dirty="0"/>
          </a:p>
        </p:txBody>
      </p:sp>
      <p:sp>
        <p:nvSpPr>
          <p:cNvPr id="9" name="Text 6"/>
          <p:cNvSpPr/>
          <p:nvPr/>
        </p:nvSpPr>
        <p:spPr>
          <a:xfrm>
            <a:off x="548640" y="2240280"/>
            <a:ext cx="8046720" cy="41148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DESIGN:  </a:t>
            </a:r>
            <a:pPr indent="0" marL="0">
              <a:buNone/>
            </a:pPr>
            <a:r>
              <a:rPr lang="en-US" sz="1300" dirty="0">
                <a:solidFill>
                  <a:srgbClr val="FFFFFF"/>
                </a:solidFill>
                <a:latin typeface="Calibri" pitchFamily="34" charset="0"/>
                <a:ea typeface="Calibri" pitchFamily="34" charset="-122"/>
                <a:cs typeface="Calibri" pitchFamily="34" charset="-120"/>
              </a:rPr>
              <a:t>Thick walls built to absorb cannonballs, not shatter under impact</a:t>
            </a:r>
            <a:endParaRPr lang="en-US" sz="1300" dirty="0"/>
          </a:p>
        </p:txBody>
      </p:sp>
      <p:sp>
        <p:nvSpPr>
          <p:cNvPr id="10" name="Text 7"/>
          <p:cNvSpPr/>
          <p:nvPr/>
        </p:nvSpPr>
        <p:spPr>
          <a:xfrm>
            <a:off x="548640" y="2697480"/>
            <a:ext cx="8046720" cy="41148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REVEALS:  </a:t>
            </a:r>
            <a:pPr indent="0" marL="0">
              <a:buNone/>
            </a:pPr>
            <a:r>
              <a:rPr lang="en-US" sz="1300" dirty="0">
                <a:solidFill>
                  <a:srgbClr val="FFFFFF"/>
                </a:solidFill>
                <a:latin typeface="Calibri" pitchFamily="34" charset="0"/>
                <a:ea typeface="Calibri" pitchFamily="34" charset="-122"/>
                <a:cs typeface="Calibri" pitchFamily="34" charset="-120"/>
              </a:rPr>
              <a:t>Spanish use of local resources; defense was a top priority in Florida</a:t>
            </a:r>
            <a:endParaRPr lang="en-US" sz="1300" dirty="0"/>
          </a:p>
        </p:txBody>
      </p:sp>
      <p:sp>
        <p:nvSpPr>
          <p:cNvPr id="11" name="Text 8"/>
          <p:cNvSpPr/>
          <p:nvPr/>
        </p:nvSpPr>
        <p:spPr>
          <a:xfrm>
            <a:off x="548640" y="3154680"/>
            <a:ext cx="8046720" cy="411480"/>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LEGACY:  </a:t>
            </a:r>
            <a:pPr indent="0" marL="0">
              <a:buNone/>
            </a:pPr>
            <a:r>
              <a:rPr lang="en-US" sz="1300" dirty="0">
                <a:solidFill>
                  <a:srgbClr val="FFFFFF"/>
                </a:solidFill>
                <a:latin typeface="Calibri" pitchFamily="34" charset="0"/>
                <a:ea typeface="Calibri" pitchFamily="34" charset="-122"/>
                <a:cs typeface="Calibri" pitchFamily="34" charset="-120"/>
              </a:rPr>
              <a:t>Never fallen to an enemy attack -- coquina walls soaked up cannonballs</a:t>
            </a:r>
            <a:endParaRPr lang="en-US" sz="1300" dirty="0"/>
          </a:p>
        </p:txBody>
      </p:sp>
      <p:sp>
        <p:nvSpPr>
          <p:cNvPr id="12" name="Shape 9"/>
          <p:cNvSpPr/>
          <p:nvPr/>
        </p:nvSpPr>
        <p:spPr>
          <a:xfrm>
            <a:off x="548640" y="3767328"/>
            <a:ext cx="8046720" cy="594360"/>
          </a:xfrm>
          <a:prstGeom prst="roundRect">
            <a:avLst>
              <a:gd name="adj" fmla="val 15385"/>
            </a:avLst>
          </a:prstGeom>
          <a:solidFill>
            <a:srgbClr val="1A2D5A"/>
          </a:solidFill>
          <a:ln w="12700">
            <a:solidFill>
              <a:srgbClr val="55C8E8"/>
            </a:solidFill>
            <a:prstDash val="solid"/>
          </a:ln>
        </p:spPr>
      </p:sp>
      <p:sp>
        <p:nvSpPr>
          <p:cNvPr id="13" name="Text 10"/>
          <p:cNvSpPr/>
          <p:nvPr/>
        </p:nvSpPr>
        <p:spPr>
          <a:xfrm>
            <a:off x="731520" y="3813048"/>
            <a:ext cx="7680960" cy="502920"/>
          </a:xfrm>
          <a:prstGeom prst="rect">
            <a:avLst/>
          </a:prstGeom>
          <a:noFill/>
          <a:ln/>
        </p:spPr>
        <p:txBody>
          <a:bodyPr wrap="square" lIns="0" tIns="0" rIns="0" bIns="0" rtlCol="0" anchor="ctr"/>
          <a:lstStyle/>
          <a:p>
            <a:pPr indent="0" marL="0">
              <a:buNone/>
            </a:pPr>
            <a:r>
              <a:rPr lang="en-US" sz="1200" i="1" dirty="0">
                <a:solidFill>
                  <a:srgbClr val="55C8E8"/>
                </a:solidFill>
                <a:latin typeface="Calibri" pitchFamily="34" charset="0"/>
                <a:ea typeface="Calibri" pitchFamily="34" charset="-122"/>
                <a:cs typeface="Calibri" pitchFamily="34" charset="-120"/>
              </a:rPr>
              <a:t>Quick Check: What was coquina, and why did it matter for defense? Type your answer.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109728"/>
            <a:ext cx="8412480" cy="365760"/>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EVALUATE THE EVIDENCE: The Castillo</a:t>
            </a:r>
            <a:endParaRPr lang="en-US" sz="1400" dirty="0"/>
          </a:p>
        </p:txBody>
      </p:sp>
      <p:sp>
        <p:nvSpPr>
          <p:cNvPr id="4" name="Text 2"/>
          <p:cNvSpPr/>
          <p:nvPr/>
        </p:nvSpPr>
        <p:spPr>
          <a:xfrm>
            <a:off x="365760" y="521208"/>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A Field Historian does not just read evidence -- they evaluate it.</a:t>
            </a:r>
            <a:endParaRPr lang="en-US" sz="1200" dirty="0"/>
          </a:p>
        </p:txBody>
      </p:sp>
      <p:sp>
        <p:nvSpPr>
          <p:cNvPr id="5" name="Shape 3"/>
          <p:cNvSpPr/>
          <p:nvPr/>
        </p:nvSpPr>
        <p:spPr>
          <a:xfrm>
            <a:off x="365760" y="914400"/>
            <a:ext cx="3657600" cy="3291840"/>
          </a:xfrm>
          <a:prstGeom prst="roundRect">
            <a:avLst>
              <a:gd name="adj" fmla="val 3333"/>
            </a:avLst>
          </a:prstGeom>
          <a:solidFill>
            <a:srgbClr val="E2E8F4"/>
          </a:solidFill>
          <a:ln w="19050">
            <a:solidFill>
              <a:srgbClr val="B0B8CC"/>
            </a:solidFill>
            <a:prstDash val="dash"/>
          </a:ln>
        </p:spPr>
      </p:sp>
      <p:sp>
        <p:nvSpPr>
          <p:cNvPr id="6" name="Text 4"/>
          <p:cNvSpPr/>
          <p:nvPr/>
        </p:nvSpPr>
        <p:spPr>
          <a:xfrm>
            <a:off x="365760" y="9144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88720"/>
            <a:ext cx="3383280" cy="29260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Castillo de San Marcos -- wide shot showing full coquina walls and waterway beyond</a:t>
            </a:r>
            <a:endParaRPr lang="en-US" sz="1100" dirty="0"/>
          </a:p>
        </p:txBody>
      </p:sp>
      <p:sp>
        <p:nvSpPr>
          <p:cNvPr id="8" name="Shape 6"/>
          <p:cNvSpPr/>
          <p:nvPr/>
        </p:nvSpPr>
        <p:spPr>
          <a:xfrm>
            <a:off x="4206240" y="914400"/>
            <a:ext cx="4480560" cy="3291840"/>
          </a:xfrm>
          <a:prstGeom prst="roundRect">
            <a:avLst>
              <a:gd name="adj" fmla="val 416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4389120" y="1005840"/>
            <a:ext cx="41148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4389120" y="1261872"/>
            <a:ext cx="4114800" cy="28529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built this fort, and why? What does the 'why' reveal about Spanish intentions?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building prove about Spanish priorities in early Florida?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perspective is missing -- whose story does this fort NOT tell?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this fort NOT tell us? (Think: names of workers, how they felt)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34747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MULTI-SOURCE COMPARE: Fort vs. Mission</a:t>
            </a:r>
            <a:endParaRPr lang="en-US" sz="1400" dirty="0"/>
          </a:p>
        </p:txBody>
      </p:sp>
      <p:sp>
        <p:nvSpPr>
          <p:cNvPr id="4" name="Shape 2"/>
          <p:cNvSpPr/>
          <p:nvPr/>
        </p:nvSpPr>
        <p:spPr>
          <a:xfrm>
            <a:off x="365760" y="530352"/>
            <a:ext cx="3977640" cy="2468880"/>
          </a:xfrm>
          <a:prstGeom prst="roundRect">
            <a:avLst>
              <a:gd name="adj" fmla="val 4444"/>
            </a:avLst>
          </a:prstGeom>
          <a:solidFill>
            <a:srgbClr val="E2E8F4"/>
          </a:solidFill>
          <a:ln w="19050">
            <a:solidFill>
              <a:srgbClr val="B0B8CC"/>
            </a:solidFill>
            <a:prstDash val="dash"/>
          </a:ln>
        </p:spPr>
      </p:sp>
      <p:sp>
        <p:nvSpPr>
          <p:cNvPr id="5" name="Text 3"/>
          <p:cNvSpPr/>
          <p:nvPr/>
        </p:nvSpPr>
        <p:spPr>
          <a:xfrm>
            <a:off x="365760" y="530352"/>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502920" y="804672"/>
            <a:ext cx="370332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Castillo de San Marcos -- military fort architecture, thick coquina walls</a:t>
            </a:r>
            <a:endParaRPr lang="en-US" sz="1100" dirty="0"/>
          </a:p>
        </p:txBody>
      </p:sp>
      <p:sp>
        <p:nvSpPr>
          <p:cNvPr id="7" name="Shape 5"/>
          <p:cNvSpPr/>
          <p:nvPr/>
        </p:nvSpPr>
        <p:spPr>
          <a:xfrm>
            <a:off x="4572000" y="530352"/>
            <a:ext cx="3977640" cy="2468880"/>
          </a:xfrm>
          <a:prstGeom prst="roundRect">
            <a:avLst>
              <a:gd name="adj" fmla="val 4444"/>
            </a:avLst>
          </a:prstGeom>
          <a:solidFill>
            <a:srgbClr val="E2E8F4"/>
          </a:solidFill>
          <a:ln w="19050">
            <a:solidFill>
              <a:srgbClr val="B0B8CC"/>
            </a:solidFill>
            <a:prstDash val="dash"/>
          </a:ln>
        </p:spPr>
      </p:sp>
      <p:sp>
        <p:nvSpPr>
          <p:cNvPr id="8" name="Text 6"/>
          <p:cNvSpPr/>
          <p:nvPr/>
        </p:nvSpPr>
        <p:spPr>
          <a:xfrm>
            <a:off x="4572000" y="530352"/>
            <a:ext cx="3977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709160" y="804672"/>
            <a:ext cx="3703320" cy="21031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Spanish mission in early Florida -- church building with attached workshops and open fields visible</a:t>
            </a:r>
            <a:endParaRPr lang="en-US" sz="1100" dirty="0"/>
          </a:p>
        </p:txBody>
      </p:sp>
      <p:sp>
        <p:nvSpPr>
          <p:cNvPr id="10" name="Text 8"/>
          <p:cNvSpPr/>
          <p:nvPr/>
        </p:nvSpPr>
        <p:spPr>
          <a:xfrm>
            <a:off x="365760" y="3044952"/>
            <a:ext cx="3977640" cy="292608"/>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A: The Fort (Castillo de San Marcos)</a:t>
            </a:r>
            <a:endParaRPr lang="en-US" sz="1000" dirty="0"/>
          </a:p>
        </p:txBody>
      </p:sp>
      <p:sp>
        <p:nvSpPr>
          <p:cNvPr id="11" name="Text 9"/>
          <p:cNvSpPr/>
          <p:nvPr/>
        </p:nvSpPr>
        <p:spPr>
          <a:xfrm>
            <a:off x="4572000" y="3044952"/>
            <a:ext cx="3977640" cy="292608"/>
          </a:xfrm>
          <a:prstGeom prst="rect">
            <a:avLst/>
          </a:prstGeom>
          <a:noFill/>
          <a:ln/>
        </p:spPr>
        <p:txBody>
          <a:bodyPr wrap="square" lIns="0" tIns="0" rIns="0" bIns="0" rtlCol="0" anchor="ctr"/>
          <a:lstStyle/>
          <a:p>
            <a:pPr algn="ctr" indent="0" marL="0">
              <a:buNone/>
            </a:pPr>
            <a:r>
              <a:rPr lang="en-US" sz="1000" b="1" dirty="0">
                <a:solidFill>
                  <a:srgbClr val="0E1C42"/>
                </a:solidFill>
                <a:latin typeface="Calibri" pitchFamily="34" charset="0"/>
                <a:ea typeface="Calibri" pitchFamily="34" charset="-122"/>
                <a:cs typeface="Calibri" pitchFamily="34" charset="-120"/>
              </a:rPr>
              <a:t>SOURCE B: The Mission</a:t>
            </a:r>
            <a:endParaRPr lang="en-US" sz="1000" dirty="0"/>
          </a:p>
        </p:txBody>
      </p:sp>
      <p:sp>
        <p:nvSpPr>
          <p:cNvPr id="12" name="Shape 10"/>
          <p:cNvSpPr/>
          <p:nvPr/>
        </p:nvSpPr>
        <p:spPr>
          <a:xfrm>
            <a:off x="365760" y="3429000"/>
            <a:ext cx="8412480" cy="1261872"/>
          </a:xfrm>
          <a:prstGeom prst="roundRect">
            <a:avLst>
              <a:gd name="adj" fmla="val 8696"/>
            </a:avLst>
          </a:prstGeom>
          <a:solidFill>
            <a:srgbClr val="FFF3DC"/>
          </a:solidFill>
          <a:ln w="19050">
            <a:solidFill>
              <a:srgbClr val="F5E6C8"/>
            </a:solidFill>
            <a:prstDash val="solid"/>
          </a:ln>
        </p:spPr>
      </p:sp>
      <p:sp>
        <p:nvSpPr>
          <p:cNvPr id="13" name="Text 11"/>
          <p:cNvSpPr/>
          <p:nvPr/>
        </p:nvSpPr>
        <p:spPr>
          <a:xfrm>
            <a:off x="502920" y="34838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685032"/>
            <a:ext cx="8138160" cy="9418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fort and the mission both reveal... but they show different things about...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is stronger evidence for ___ because... Source B is stronger evidence for ___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34747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ARTIFACT EXPLORATION: Pottery and Tools</a:t>
            </a:r>
            <a:endParaRPr lang="en-US" sz="1400" dirty="0"/>
          </a:p>
        </p:txBody>
      </p:sp>
      <p:sp>
        <p:nvSpPr>
          <p:cNvPr id="4" name="Text 2"/>
          <p:cNvSpPr/>
          <p:nvPr/>
        </p:nvSpPr>
        <p:spPr>
          <a:xfrm>
            <a:off x="365760" y="484632"/>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Everyday objects are evidence too -- sometimes the most honest kind.</a:t>
            </a:r>
            <a:endParaRPr lang="en-US" sz="1200" dirty="0"/>
          </a:p>
        </p:txBody>
      </p:sp>
      <p:sp>
        <p:nvSpPr>
          <p:cNvPr id="5" name="Shape 3"/>
          <p:cNvSpPr/>
          <p:nvPr/>
        </p:nvSpPr>
        <p:spPr>
          <a:xfrm>
            <a:off x="365760" y="868680"/>
            <a:ext cx="3931920" cy="2423160"/>
          </a:xfrm>
          <a:prstGeom prst="roundRect">
            <a:avLst>
              <a:gd name="adj" fmla="val 4528"/>
            </a:avLst>
          </a:prstGeom>
          <a:solidFill>
            <a:srgbClr val="E2E8F4"/>
          </a:solidFill>
          <a:ln w="19050">
            <a:solidFill>
              <a:srgbClr val="B0B8CC"/>
            </a:solidFill>
            <a:prstDash val="dash"/>
          </a:ln>
        </p:spPr>
      </p:sp>
      <p:sp>
        <p:nvSpPr>
          <p:cNvPr id="6" name="Text 4"/>
          <p:cNvSpPr/>
          <p:nvPr/>
        </p:nvSpPr>
        <p:spPr>
          <a:xfrm>
            <a:off x="365760" y="868680"/>
            <a:ext cx="39319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143000"/>
            <a:ext cx="365760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Early Florida pottery -- clay pot or vessel used for cooking and water storage, simple handmade craftsmanship</a:t>
            </a:r>
            <a:endParaRPr lang="en-US" sz="1100" dirty="0"/>
          </a:p>
        </p:txBody>
      </p:sp>
      <p:sp>
        <p:nvSpPr>
          <p:cNvPr id="8" name="Shape 6"/>
          <p:cNvSpPr/>
          <p:nvPr/>
        </p:nvSpPr>
        <p:spPr>
          <a:xfrm>
            <a:off x="4434840" y="868680"/>
            <a:ext cx="4114800" cy="2423160"/>
          </a:xfrm>
          <a:prstGeom prst="roundRect">
            <a:avLst>
              <a:gd name="adj" fmla="val 4528"/>
            </a:avLst>
          </a:prstGeom>
          <a:solidFill>
            <a:srgbClr val="E2E8F4"/>
          </a:solidFill>
          <a:ln w="19050">
            <a:solidFill>
              <a:srgbClr val="B0B8CC"/>
            </a:solidFill>
            <a:prstDash val="dash"/>
          </a:ln>
        </p:spPr>
      </p:sp>
      <p:sp>
        <p:nvSpPr>
          <p:cNvPr id="9" name="Text 7"/>
          <p:cNvSpPr/>
          <p:nvPr/>
        </p:nvSpPr>
        <p:spPr>
          <a:xfrm>
            <a:off x="4434840" y="86868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572000" y="1143000"/>
            <a:ext cx="3840480" cy="20574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Early Florida hand tools -- stone, wood, or metal tools used for farming, building, or daily work</a:t>
            </a:r>
            <a:endParaRPr lang="en-US" sz="1100" dirty="0"/>
          </a:p>
        </p:txBody>
      </p:sp>
      <p:sp>
        <p:nvSpPr>
          <p:cNvPr id="11" name="Shape 9"/>
          <p:cNvSpPr/>
          <p:nvPr/>
        </p:nvSpPr>
        <p:spPr>
          <a:xfrm>
            <a:off x="365760" y="3383280"/>
            <a:ext cx="8412480" cy="1280160"/>
          </a:xfrm>
          <a:prstGeom prst="roundRect">
            <a:avLst>
              <a:gd name="adj" fmla="val 10714"/>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347472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730752"/>
            <a:ext cx="8046720" cy="8412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 clay pot reveal about the people who made and used it? Defend your reasoning.</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work do these tools suggest? What is your specific evidence?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Are pottery and tools stronger or weaker evidence than a building like the fort? Why?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384048"/>
            <a:ext cx="8046720" cy="27432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FIELD HISTORIAN PRINCIPLE: HONESTY WITH EVIDENCE</a:t>
            </a:r>
            <a:endParaRPr lang="en-US" sz="1000" dirty="0"/>
          </a:p>
        </p:txBody>
      </p:sp>
      <p:sp>
        <p:nvSpPr>
          <p:cNvPr id="6" name="Text 3"/>
          <p:cNvSpPr/>
          <p:nvPr/>
        </p:nvSpPr>
        <p:spPr>
          <a:xfrm>
            <a:off x="548640" y="777240"/>
            <a:ext cx="8046720" cy="1188720"/>
          </a:xfrm>
          <a:prstGeom prst="rect">
            <a:avLst/>
          </a:prstGeom>
          <a:noFill/>
          <a:ln/>
        </p:spPr>
        <p:txBody>
          <a:bodyPr wrap="square" lIns="0" tIns="0" rIns="0" bIns="0" rtlCol="0" anchor="ctr"/>
          <a:lstStyle/>
          <a:p>
            <a:pPr indent="0" marL="0">
              <a:lnSpc>
                <a:spcPct val="115000"/>
              </a:lnSpc>
              <a:buNone/>
            </a:pPr>
            <a:r>
              <a:rPr lang="en-US" sz="2800" b="1" dirty="0">
                <a:solidFill>
                  <a:srgbClr val="FFFFFF"/>
                </a:solidFill>
                <a:latin typeface="Cambria" pitchFamily="34" charset="0"/>
                <a:ea typeface="Cambria" pitchFamily="34" charset="-122"/>
                <a:cs typeface="Cambria" pitchFamily="34" charset="-120"/>
              </a:rPr>
              <a:t>An honest historian says what the evidence shows</a:t>
            </a:r>
            <a:endParaRPr lang="en-US" sz="2800" dirty="0"/>
          </a:p>
          <a:p>
            <a:pPr indent="0" marL="0">
              <a:lnSpc>
                <a:spcPct val="115000"/>
              </a:lnSpc>
              <a:buNone/>
            </a:pPr>
            <a:r>
              <a:rPr lang="en-US" sz="2800" b="1" dirty="0">
                <a:solidFill>
                  <a:srgbClr val="FFFFFF"/>
                </a:solidFill>
                <a:latin typeface="Cambria" pitchFamily="34" charset="0"/>
                <a:ea typeface="Cambria" pitchFamily="34" charset="-122"/>
                <a:cs typeface="Cambria" pitchFamily="34" charset="-120"/>
              </a:rPr>
              <a:t>AND names what is still unknown.</a:t>
            </a:r>
            <a:endParaRPr lang="en-US" sz="2800" dirty="0"/>
          </a:p>
        </p:txBody>
      </p:sp>
      <p:sp>
        <p:nvSpPr>
          <p:cNvPr id="7" name="Shape 4"/>
          <p:cNvSpPr/>
          <p:nvPr/>
        </p:nvSpPr>
        <p:spPr>
          <a:xfrm>
            <a:off x="548640" y="2057400"/>
            <a:ext cx="5029200" cy="45720"/>
          </a:xfrm>
          <a:prstGeom prst="rect">
            <a:avLst/>
          </a:prstGeom>
          <a:solidFill>
            <a:srgbClr val="D4943A"/>
          </a:solidFill>
          <a:ln w="12700">
            <a:solidFill>
              <a:srgbClr val="D4943A"/>
            </a:solidFill>
            <a:prstDash val="solid"/>
          </a:ln>
        </p:spPr>
      </p:sp>
      <p:sp>
        <p:nvSpPr>
          <p:cNvPr id="8" name="Text 5"/>
          <p:cNvSpPr/>
          <p:nvPr/>
        </p:nvSpPr>
        <p:spPr>
          <a:xfrm>
            <a:off x="548640" y="2194560"/>
            <a:ext cx="8046720" cy="411480"/>
          </a:xfrm>
          <a:prstGeom prst="rect">
            <a:avLst/>
          </a:prstGeom>
          <a:noFill/>
          <a:ln/>
        </p:spPr>
        <p:txBody>
          <a:bodyPr wrap="square" lIns="0" tIns="0" rIns="0" bIns="0" rtlCol="0" anchor="ctr"/>
          <a:lstStyle/>
          <a:p>
            <a:pPr indent="0" marL="0">
              <a:buNone/>
            </a:pPr>
            <a:r>
              <a:rPr lang="en-US" sz="1400" b="1" dirty="0">
                <a:solidFill>
                  <a:srgbClr val="55C8E8"/>
                </a:solidFill>
                <a:latin typeface="Calibri" pitchFamily="34" charset="0"/>
                <a:ea typeface="Calibri" pitchFamily="34" charset="-122"/>
                <a:cs typeface="Calibri" pitchFamily="34" charset="-120"/>
              </a:rPr>
              <a:t>A coquina wall tells us: </a:t>
            </a:r>
            <a:pPr indent="0" marL="0">
              <a:buNone/>
            </a:pPr>
            <a:r>
              <a:rPr lang="en-US" sz="1400" dirty="0">
                <a:solidFill>
                  <a:srgbClr val="FFFFFF"/>
                </a:solidFill>
                <a:latin typeface="Calibri" pitchFamily="34" charset="0"/>
                <a:ea typeface="Calibri" pitchFamily="34" charset="-122"/>
                <a:cs typeface="Calibri" pitchFamily="34" charset="-120"/>
              </a:rPr>
              <a:t>people built with local stone, creating strong defenses.</a:t>
            </a:r>
            <a:endParaRPr lang="en-US" sz="1400" dirty="0"/>
          </a:p>
        </p:txBody>
      </p:sp>
      <p:sp>
        <p:nvSpPr>
          <p:cNvPr id="9" name="Text 6"/>
          <p:cNvSpPr/>
          <p:nvPr/>
        </p:nvSpPr>
        <p:spPr>
          <a:xfrm>
            <a:off x="548640" y="2670048"/>
            <a:ext cx="8046720" cy="411480"/>
          </a:xfrm>
          <a:prstGeom prst="rect">
            <a:avLst/>
          </a:prstGeom>
          <a:noFill/>
          <a:ln/>
        </p:spPr>
        <p:txBody>
          <a:bodyPr wrap="square" lIns="0" tIns="0" rIns="0" bIns="0" rtlCol="0" anchor="ctr"/>
          <a:lstStyle/>
          <a:p>
            <a:pPr indent="0" marL="0">
              <a:buNone/>
            </a:pPr>
            <a:r>
              <a:rPr lang="en-US" sz="1400" b="1" dirty="0">
                <a:solidFill>
                  <a:srgbClr val="E8636B"/>
                </a:solidFill>
                <a:latin typeface="Calibri" pitchFamily="34" charset="0"/>
                <a:ea typeface="Calibri" pitchFamily="34" charset="-122"/>
                <a:cs typeface="Calibri" pitchFamily="34" charset="-120"/>
              </a:rPr>
              <a:t>A coquina wall cannot tell us: </a:t>
            </a:r>
            <a:pPr indent="0" marL="0">
              <a:buNone/>
            </a:pPr>
            <a:r>
              <a:rPr lang="en-US" sz="1400" dirty="0">
                <a:solidFill>
                  <a:srgbClr val="FFFFFF"/>
                </a:solidFill>
                <a:latin typeface="Calibri" pitchFamily="34" charset="0"/>
                <a:ea typeface="Calibri" pitchFamily="34" charset="-122"/>
                <a:cs typeface="Calibri" pitchFamily="34" charset="-120"/>
              </a:rPr>
              <a:t>the name of every worker, or how they felt.</a:t>
            </a:r>
            <a:endParaRPr lang="en-US" sz="1400" dirty="0"/>
          </a:p>
        </p:txBody>
      </p:sp>
      <p:sp>
        <p:nvSpPr>
          <p:cNvPr id="10" name="Shape 7"/>
          <p:cNvSpPr/>
          <p:nvPr/>
        </p:nvSpPr>
        <p:spPr>
          <a:xfrm>
            <a:off x="548640" y="3182112"/>
            <a:ext cx="8046720" cy="1143000"/>
          </a:xfrm>
          <a:prstGeom prst="roundRect">
            <a:avLst>
              <a:gd name="adj" fmla="val 9600"/>
            </a:avLst>
          </a:prstGeom>
          <a:solidFill>
            <a:srgbClr val="1A2D5A"/>
          </a:solidFill>
          <a:ln w="12700">
            <a:solidFill>
              <a:srgbClr val="55C8E8"/>
            </a:solidFill>
            <a:prstDash val="solid"/>
          </a:ln>
        </p:spPr>
      </p:sp>
      <p:sp>
        <p:nvSpPr>
          <p:cNvPr id="11" name="Text 8"/>
          <p:cNvSpPr/>
          <p:nvPr/>
        </p:nvSpPr>
        <p:spPr>
          <a:xfrm>
            <a:off x="731520" y="3246120"/>
            <a:ext cx="7680960" cy="100584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Many of the workers who built Spanish structures in early Florida were Native peoples, such as the Timucua. The buildings remain -- but their individual names and experiences are often unknown from the physical evidence alone. An honest historian names this gap.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34747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GUIDED PRACTICE: Watch Me Model It</a:t>
            </a:r>
            <a:endParaRPr lang="en-US" sz="1400" dirty="0"/>
          </a:p>
        </p:txBody>
      </p:sp>
      <p:sp>
        <p:nvSpPr>
          <p:cNvPr id="4" name="Text 2"/>
          <p:cNvSpPr/>
          <p:nvPr/>
        </p:nvSpPr>
        <p:spPr>
          <a:xfrm>
            <a:off x="365760" y="484632"/>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A Field Historian thinks out loud. Listen to how I structure my evidence.</a:t>
            </a:r>
            <a:endParaRPr lang="en-US" sz="1200" dirty="0"/>
          </a:p>
        </p:txBody>
      </p:sp>
      <p:sp>
        <p:nvSpPr>
          <p:cNvPr id="5" name="Shape 3"/>
          <p:cNvSpPr/>
          <p:nvPr/>
        </p:nvSpPr>
        <p:spPr>
          <a:xfrm>
            <a:off x="365760" y="868680"/>
            <a:ext cx="8412480" cy="3520440"/>
          </a:xfrm>
          <a:prstGeom prst="roundRect">
            <a:avLst>
              <a:gd name="adj" fmla="val 3896"/>
            </a:avLst>
          </a:prstGeom>
          <a:solidFill>
            <a:srgbClr val="1A2D5A"/>
          </a:solidFill>
          <a:ln/>
          <a:effectLst>
            <a:outerShdw sx="100000" sy="100000" kx="0" ky="0" algn="bl" rotWithShape="0" blurRad="101600" dist="38100" dir="8100000">
              <a:srgbClr val="000000">
                <a:alpha val="20000"/>
              </a:srgbClr>
            </a:outerShdw>
          </a:effectLst>
        </p:spPr>
      </p:sp>
      <p:sp>
        <p:nvSpPr>
          <p:cNvPr id="6" name="Text 4"/>
          <p:cNvSpPr/>
          <p:nvPr/>
        </p:nvSpPr>
        <p:spPr>
          <a:xfrm>
            <a:off x="548640" y="96012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TEACHER THINK-ALOUD MODEL</a:t>
            </a:r>
            <a:endParaRPr lang="en-US" sz="900" dirty="0"/>
          </a:p>
        </p:txBody>
      </p:sp>
      <p:sp>
        <p:nvSpPr>
          <p:cNvPr id="7" name="Text 5"/>
          <p:cNvSpPr/>
          <p:nvPr/>
        </p:nvSpPr>
        <p:spPr>
          <a:xfrm>
            <a:off x="548640" y="1298448"/>
            <a:ext cx="8046720" cy="594360"/>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ARTIFACT I CHOSE:  </a:t>
            </a:r>
            <a:pPr indent="0" marL="0">
              <a:buNone/>
            </a:pPr>
            <a:r>
              <a:rPr lang="en-US" sz="1200" dirty="0">
                <a:solidFill>
                  <a:srgbClr val="FFFFFF"/>
                </a:solidFill>
                <a:latin typeface="Calibri" pitchFamily="34" charset="0"/>
                <a:ea typeface="Calibri" pitchFamily="34" charset="-122"/>
                <a:cs typeface="Calibri" pitchFamily="34" charset="-120"/>
              </a:rPr>
              <a:t>The Castillo de San Marcos (the fort)</a:t>
            </a:r>
            <a:endParaRPr lang="en-US" sz="1200" dirty="0"/>
          </a:p>
        </p:txBody>
      </p:sp>
      <p:sp>
        <p:nvSpPr>
          <p:cNvPr id="8" name="Text 6"/>
          <p:cNvSpPr/>
          <p:nvPr/>
        </p:nvSpPr>
        <p:spPr>
          <a:xfrm>
            <a:off x="548640" y="1956816"/>
            <a:ext cx="8046720" cy="594360"/>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WHAT IT REVEALS:  </a:t>
            </a:r>
            <a:pPr indent="0" marL="0">
              <a:buNone/>
            </a:pPr>
            <a:r>
              <a:rPr lang="en-US" sz="1200" dirty="0">
                <a:solidFill>
                  <a:srgbClr val="FFFFFF"/>
                </a:solidFill>
                <a:latin typeface="Calibri" pitchFamily="34" charset="0"/>
                <a:ea typeface="Calibri" pitchFamily="34" charset="-122"/>
                <a:cs typeface="Calibri" pitchFamily="34" charset="-120"/>
              </a:rPr>
              <a:t>Spanish colonists built permanent, heavily defended structures -- defense was a top priority</a:t>
            </a:r>
            <a:endParaRPr lang="en-US" sz="1200" dirty="0"/>
          </a:p>
        </p:txBody>
      </p:sp>
      <p:sp>
        <p:nvSpPr>
          <p:cNvPr id="9" name="Text 7"/>
          <p:cNvSpPr/>
          <p:nvPr/>
        </p:nvSpPr>
        <p:spPr>
          <a:xfrm>
            <a:off x="548640" y="2615184"/>
            <a:ext cx="8046720" cy="594360"/>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MY EVIDENCE IS:  </a:t>
            </a:r>
            <a:pPr indent="0" marL="0">
              <a:buNone/>
            </a:pPr>
            <a:r>
              <a:rPr lang="en-US" sz="1200" dirty="0">
                <a:solidFill>
                  <a:srgbClr val="FFFFFF"/>
                </a:solidFill>
                <a:latin typeface="Calibri" pitchFamily="34" charset="0"/>
                <a:ea typeface="Calibri" pitchFamily="34" charset="-122"/>
                <a:cs typeface="Calibri" pitchFamily="34" charset="-120"/>
              </a:rPr>
              <a:t>The coquina walls are thick and designed to absorb cannonballs -- that is not a shelter, it is a permanent military fortress</a:t>
            </a:r>
            <a:endParaRPr lang="en-US" sz="1200" dirty="0"/>
          </a:p>
        </p:txBody>
      </p:sp>
      <p:sp>
        <p:nvSpPr>
          <p:cNvPr id="10" name="Text 8"/>
          <p:cNvSpPr/>
          <p:nvPr/>
        </p:nvSpPr>
        <p:spPr>
          <a:xfrm>
            <a:off x="548640" y="3273552"/>
            <a:ext cx="8046720" cy="594360"/>
          </a:xfrm>
          <a:prstGeom prst="rect">
            <a:avLst/>
          </a:prstGeom>
          <a:noFill/>
          <a:ln/>
        </p:spPr>
        <p:txBody>
          <a:bodyPr wrap="square" lIns="0" tIns="0" rIns="0" bIns="0" rtlCol="0" anchor="t"/>
          <a:lstStyle/>
          <a:p>
            <a:pPr indent="0" marL="0">
              <a:buNone/>
            </a:pPr>
            <a:r>
              <a:rPr lang="en-US" sz="1200" b="1" dirty="0">
                <a:solidFill>
                  <a:srgbClr val="D4943A"/>
                </a:solidFill>
                <a:latin typeface="Calibri" pitchFamily="34" charset="0"/>
                <a:ea typeface="Calibri" pitchFamily="34" charset="-122"/>
                <a:cs typeface="Calibri" pitchFamily="34" charset="-120"/>
              </a:rPr>
              <a:t>BUT IT CANNOT TELL US:  </a:t>
            </a:r>
            <a:pPr indent="0" marL="0">
              <a:buNone/>
            </a:pPr>
            <a:r>
              <a:rPr lang="en-US" sz="1200" dirty="0">
                <a:solidFill>
                  <a:srgbClr val="FFFFFF"/>
                </a:solidFill>
                <a:latin typeface="Calibri" pitchFamily="34" charset="0"/>
                <a:ea typeface="Calibri" pitchFamily="34" charset="-122"/>
                <a:cs typeface="Calibri" pitchFamily="34" charset="-120"/>
              </a:rPr>
              <a:t>The names or experiences of the Timucua workers who helped build it -- the building shows the outcome, not every person's story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34747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GUIDED PRACTICE: Your Turn to Defend</a:t>
            </a:r>
            <a:endParaRPr lang="en-US" sz="1400" dirty="0"/>
          </a:p>
        </p:txBody>
      </p:sp>
      <p:sp>
        <p:nvSpPr>
          <p:cNvPr id="4" name="Text 2"/>
          <p:cNvSpPr/>
          <p:nvPr/>
        </p:nvSpPr>
        <p:spPr>
          <a:xfrm>
            <a:off x="365760" y="484632"/>
            <a:ext cx="8412480" cy="27432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Choose one artifact or building. Use the same four-part structure. Then defend it.</a:t>
            </a:r>
            <a:endParaRPr lang="en-US" sz="1200" dirty="0"/>
          </a:p>
        </p:txBody>
      </p:sp>
      <p:sp>
        <p:nvSpPr>
          <p:cNvPr id="5" name="Shape 3"/>
          <p:cNvSpPr/>
          <p:nvPr/>
        </p:nvSpPr>
        <p:spPr>
          <a:xfrm>
            <a:off x="365760" y="868680"/>
            <a:ext cx="4206240" cy="3520440"/>
          </a:xfrm>
          <a:prstGeom prst="roundRect">
            <a:avLst>
              <a:gd name="adj" fmla="val 3117"/>
            </a:avLst>
          </a:prstGeom>
          <a:solidFill>
            <a:srgbClr val="E2E8F4"/>
          </a:solidFill>
          <a:ln w="19050">
            <a:solidFill>
              <a:srgbClr val="B0B8CC"/>
            </a:solidFill>
            <a:prstDash val="solid"/>
          </a:ln>
        </p:spPr>
      </p:sp>
      <p:sp>
        <p:nvSpPr>
          <p:cNvPr id="6" name="Text 4"/>
          <p:cNvSpPr/>
          <p:nvPr/>
        </p:nvSpPr>
        <p:spPr>
          <a:xfrm>
            <a:off x="548640" y="960120"/>
            <a:ext cx="384048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STRUCTURE</a:t>
            </a:r>
            <a:endParaRPr lang="en-US" sz="900" dirty="0"/>
          </a:p>
        </p:txBody>
      </p:sp>
      <p:sp>
        <p:nvSpPr>
          <p:cNvPr id="7" name="Text 5"/>
          <p:cNvSpPr/>
          <p:nvPr/>
        </p:nvSpPr>
        <p:spPr>
          <a:xfrm>
            <a:off x="548640" y="1298448"/>
            <a:ext cx="3840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Artifact or building I chose:</a:t>
            </a:r>
            <a:endParaRPr lang="en-US" sz="1200" dirty="0"/>
          </a:p>
        </p:txBody>
      </p:sp>
      <p:sp>
        <p:nvSpPr>
          <p:cNvPr id="8" name="Shape 6"/>
          <p:cNvSpPr/>
          <p:nvPr/>
        </p:nvSpPr>
        <p:spPr>
          <a:xfrm>
            <a:off x="548640" y="1618488"/>
            <a:ext cx="3749040" cy="27432"/>
          </a:xfrm>
          <a:prstGeom prst="rect">
            <a:avLst/>
          </a:prstGeom>
          <a:solidFill>
            <a:srgbClr val="B0B8CC"/>
          </a:solidFill>
          <a:ln w="12700">
            <a:solidFill>
              <a:srgbClr val="B0B8CC"/>
            </a:solidFill>
            <a:prstDash val="solid"/>
          </a:ln>
        </p:spPr>
      </p:sp>
      <p:sp>
        <p:nvSpPr>
          <p:cNvPr id="9" name="Text 7"/>
          <p:cNvSpPr/>
          <p:nvPr/>
        </p:nvSpPr>
        <p:spPr>
          <a:xfrm>
            <a:off x="548640" y="2011680"/>
            <a:ext cx="3840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it reveals:</a:t>
            </a:r>
            <a:endParaRPr lang="en-US" sz="1200" dirty="0"/>
          </a:p>
        </p:txBody>
      </p:sp>
      <p:sp>
        <p:nvSpPr>
          <p:cNvPr id="10" name="Shape 8"/>
          <p:cNvSpPr/>
          <p:nvPr/>
        </p:nvSpPr>
        <p:spPr>
          <a:xfrm>
            <a:off x="548640" y="2331720"/>
            <a:ext cx="3749040" cy="27432"/>
          </a:xfrm>
          <a:prstGeom prst="rect">
            <a:avLst/>
          </a:prstGeom>
          <a:solidFill>
            <a:srgbClr val="B0B8CC"/>
          </a:solidFill>
          <a:ln w="12700">
            <a:solidFill>
              <a:srgbClr val="B0B8CC"/>
            </a:solidFill>
            <a:prstDash val="solid"/>
          </a:ln>
        </p:spPr>
      </p:sp>
      <p:sp>
        <p:nvSpPr>
          <p:cNvPr id="11" name="Text 9"/>
          <p:cNvSpPr/>
          <p:nvPr/>
        </p:nvSpPr>
        <p:spPr>
          <a:xfrm>
            <a:off x="548640" y="2724912"/>
            <a:ext cx="3840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My evidence is:</a:t>
            </a:r>
            <a:endParaRPr lang="en-US" sz="1200" dirty="0"/>
          </a:p>
        </p:txBody>
      </p:sp>
      <p:sp>
        <p:nvSpPr>
          <p:cNvPr id="12" name="Shape 10"/>
          <p:cNvSpPr/>
          <p:nvPr/>
        </p:nvSpPr>
        <p:spPr>
          <a:xfrm>
            <a:off x="548640" y="3044952"/>
            <a:ext cx="3749040" cy="27432"/>
          </a:xfrm>
          <a:prstGeom prst="rect">
            <a:avLst/>
          </a:prstGeom>
          <a:solidFill>
            <a:srgbClr val="B0B8CC"/>
          </a:solidFill>
          <a:ln w="12700">
            <a:solidFill>
              <a:srgbClr val="B0B8CC"/>
            </a:solidFill>
            <a:prstDash val="solid"/>
          </a:ln>
        </p:spPr>
      </p:sp>
      <p:sp>
        <p:nvSpPr>
          <p:cNvPr id="13" name="Text 11"/>
          <p:cNvSpPr/>
          <p:nvPr/>
        </p:nvSpPr>
        <p:spPr>
          <a:xfrm>
            <a:off x="548640" y="3438144"/>
            <a:ext cx="3840480" cy="32004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But it cannot tell us:</a:t>
            </a:r>
            <a:endParaRPr lang="en-US" sz="1200" dirty="0"/>
          </a:p>
        </p:txBody>
      </p:sp>
      <p:sp>
        <p:nvSpPr>
          <p:cNvPr id="14" name="Shape 12"/>
          <p:cNvSpPr/>
          <p:nvPr/>
        </p:nvSpPr>
        <p:spPr>
          <a:xfrm>
            <a:off x="548640" y="3758184"/>
            <a:ext cx="3749040" cy="27432"/>
          </a:xfrm>
          <a:prstGeom prst="rect">
            <a:avLst/>
          </a:prstGeom>
          <a:solidFill>
            <a:srgbClr val="B0B8CC"/>
          </a:solidFill>
          <a:ln w="12700">
            <a:solidFill>
              <a:srgbClr val="B0B8CC"/>
            </a:solidFill>
            <a:prstDash val="solid"/>
          </a:ln>
        </p:spPr>
      </p:sp>
      <p:sp>
        <p:nvSpPr>
          <p:cNvPr id="15" name="Shape 13"/>
          <p:cNvSpPr/>
          <p:nvPr/>
        </p:nvSpPr>
        <p:spPr>
          <a:xfrm>
            <a:off x="4754880" y="868680"/>
            <a:ext cx="4023360" cy="3520440"/>
          </a:xfrm>
          <a:prstGeom prst="roundRect">
            <a:avLst>
              <a:gd name="adj" fmla="val 3117"/>
            </a:avLst>
          </a:prstGeom>
          <a:solidFill>
            <a:srgbClr val="FFF3DC"/>
          </a:solidFill>
          <a:ln w="19050">
            <a:solidFill>
              <a:srgbClr val="F5E6C8"/>
            </a:solidFill>
            <a:prstDash val="solid"/>
          </a:ln>
        </p:spPr>
      </p:sp>
      <p:sp>
        <p:nvSpPr>
          <p:cNvPr id="16" name="Text 14"/>
          <p:cNvSpPr/>
          <p:nvPr/>
        </p:nvSpPr>
        <p:spPr>
          <a:xfrm>
            <a:off x="4892040" y="923544"/>
            <a:ext cx="3749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892040" y="1124712"/>
            <a:ext cx="3749040" cy="3200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the ___ because it is the strongest evidence for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might disagree and say ___, but I would respond that...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artifact CANNOT tell us ___ -- and that matters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Text 1"/>
          <p:cNvSpPr/>
          <p:nvPr/>
        </p:nvSpPr>
        <p:spPr>
          <a:xfrm>
            <a:off x="365760" y="91440"/>
            <a:ext cx="8412480" cy="347472"/>
          </a:xfrm>
          <a:prstGeom prst="rect">
            <a:avLst/>
          </a:prstGeom>
          <a:noFill/>
          <a:ln/>
        </p:spPr>
        <p:txBody>
          <a:bodyPr wrap="square" lIns="0" tIns="0" rIns="0" bIns="0" rtlCol="0" anchor="ctr"/>
          <a:lstStyle/>
          <a:p>
            <a:pPr indent="0" marL="0">
              <a:buNone/>
            </a:pPr>
            <a:r>
              <a:rPr lang="en-US" sz="1400" b="1" dirty="0">
                <a:solidFill>
                  <a:srgbClr val="0E1C42"/>
                </a:solidFill>
                <a:latin typeface="Cambria" pitchFamily="34" charset="0"/>
                <a:ea typeface="Cambria" pitchFamily="34" charset="-122"/>
                <a:cs typeface="Cambria" pitchFamily="34" charset="-120"/>
              </a:rPr>
              <a:t>HISTORIAN'S NOTEBOOK: Your Assignment</a:t>
            </a:r>
            <a:endParaRPr lang="en-US" sz="1400" dirty="0"/>
          </a:p>
        </p:txBody>
      </p:sp>
      <p:sp>
        <p:nvSpPr>
          <p:cNvPr id="4" name="Shape 2"/>
          <p:cNvSpPr/>
          <p:nvPr/>
        </p:nvSpPr>
        <p:spPr>
          <a:xfrm>
            <a:off x="365760" y="530352"/>
            <a:ext cx="5349240" cy="3291840"/>
          </a:xfrm>
          <a:prstGeom prst="roundRect">
            <a:avLst>
              <a:gd name="adj" fmla="val 3333"/>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48640" y="621792"/>
            <a:ext cx="4983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EVIDENCE QUESTIONS</a:t>
            </a:r>
            <a:endParaRPr lang="en-US" sz="900" dirty="0"/>
          </a:p>
        </p:txBody>
      </p:sp>
      <p:sp>
        <p:nvSpPr>
          <p:cNvPr id="6" name="Text 4"/>
          <p:cNvSpPr/>
          <p:nvPr/>
        </p:nvSpPr>
        <p:spPr>
          <a:xfrm>
            <a:off x="548640" y="941832"/>
            <a:ext cx="498348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Choose one early-Florida building or artifact and explain what it reveals, with evidence.</a:t>
            </a:r>
            <a:endParaRPr lang="en-US" sz="1200" dirty="0"/>
          </a:p>
        </p:txBody>
      </p:sp>
      <p:sp>
        <p:nvSpPr>
          <p:cNvPr id="7" name="Text 5"/>
          <p:cNvSpPr/>
          <p:nvPr/>
        </p:nvSpPr>
        <p:spPr>
          <a:xfrm>
            <a:off x="548640" y="1481328"/>
            <a:ext cx="4983480" cy="365760"/>
          </a:xfrm>
          <a:prstGeom prst="rect">
            <a:avLst/>
          </a:prstGeom>
          <a:noFill/>
          <a:ln/>
        </p:spPr>
        <p:txBody>
          <a:bodyPr wrap="square" lIns="0" tIns="0" rIns="0" bIns="0" rtlCol="0" anchor="ctr"/>
          <a:lstStyle/>
          <a:p>
            <a:pPr indent="0" marL="0">
              <a:buNone/>
            </a:pPr>
            <a:r>
              <a:rPr lang="en-US" sz="1000" i="1" dirty="0">
                <a:solidFill>
                  <a:srgbClr val="55C8E8"/>
                </a:solidFill>
                <a:latin typeface="Calibri" pitchFamily="34" charset="0"/>
                <a:ea typeface="Calibri" pitchFamily="34" charset="-122"/>
                <a:cs typeface="Calibri" pitchFamily="34" charset="-120"/>
              </a:rPr>
              <a:t>(Name your building or artifact, what it reveals, then: "My evidence is...")</a:t>
            </a:r>
            <a:endParaRPr lang="en-US" sz="1000" dirty="0"/>
          </a:p>
        </p:txBody>
      </p:sp>
      <p:sp>
        <p:nvSpPr>
          <p:cNvPr id="8" name="Text 6"/>
          <p:cNvSpPr/>
          <p:nvPr/>
        </p:nvSpPr>
        <p:spPr>
          <a:xfrm>
            <a:off x="548640" y="1920240"/>
            <a:ext cx="49834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What is one thing an artifact CANNOT tell us by itself?</a:t>
            </a:r>
            <a:endParaRPr lang="en-US" sz="1200" dirty="0"/>
          </a:p>
        </p:txBody>
      </p:sp>
      <p:sp>
        <p:nvSpPr>
          <p:cNvPr id="9" name="Text 7"/>
          <p:cNvSpPr/>
          <p:nvPr/>
        </p:nvSpPr>
        <p:spPr>
          <a:xfrm>
            <a:off x="548640" y="2359152"/>
            <a:ext cx="4983480" cy="365760"/>
          </a:xfrm>
          <a:prstGeom prst="rect">
            <a:avLst/>
          </a:prstGeom>
          <a:noFill/>
          <a:ln/>
        </p:spPr>
        <p:txBody>
          <a:bodyPr wrap="square" lIns="0" tIns="0" rIns="0" bIns="0" rtlCol="0" anchor="ctr"/>
          <a:lstStyle/>
          <a:p>
            <a:pPr indent="0" marL="0">
              <a:buNone/>
            </a:pPr>
            <a:r>
              <a:rPr lang="en-US" sz="1000" i="1" dirty="0">
                <a:solidFill>
                  <a:srgbClr val="55C8E8"/>
                </a:solidFill>
                <a:latin typeface="Calibri" pitchFamily="34" charset="0"/>
                <a:ea typeface="Calibri" pitchFamily="34" charset="-122"/>
                <a:cs typeface="Calibri" pitchFamily="34" charset="-120"/>
              </a:rPr>
              <a:t>(Name something the object leaves unknown -- be honest about it.)</a:t>
            </a:r>
            <a:endParaRPr lang="en-US" sz="1000" dirty="0"/>
          </a:p>
        </p:txBody>
      </p:sp>
      <p:sp>
        <p:nvSpPr>
          <p:cNvPr id="10" name="Shape 8"/>
          <p:cNvSpPr/>
          <p:nvPr/>
        </p:nvSpPr>
        <p:spPr>
          <a:xfrm>
            <a:off x="548640" y="2807208"/>
            <a:ext cx="4983480" cy="868680"/>
          </a:xfrm>
          <a:prstGeom prst="roundRect">
            <a:avLst>
              <a:gd name="adj" fmla="val 8421"/>
            </a:avLst>
          </a:prstGeom>
          <a:solidFill>
            <a:srgbClr val="D4943A">
              <a:alpha val="18000"/>
            </a:srgbClr>
          </a:solidFill>
          <a:ln w="12700">
            <a:solidFill>
              <a:srgbClr val="D4943A"/>
            </a:solidFill>
            <a:prstDash val="solid"/>
          </a:ln>
        </p:spPr>
      </p:sp>
      <p:sp>
        <p:nvSpPr>
          <p:cNvPr id="11" name="Text 9"/>
          <p:cNvSpPr/>
          <p:nvPr/>
        </p:nvSpPr>
        <p:spPr>
          <a:xfrm>
            <a:off x="685800" y="2852928"/>
            <a:ext cx="4709160" cy="77724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UNLOCK: </a:t>
            </a:r>
            <a:pPr indent="0" marL="0">
              <a:buNone/>
            </a:pPr>
            <a:r>
              <a:rPr lang="en-US" sz="1000" dirty="0">
                <a:solidFill>
                  <a:srgbClr val="5A3010"/>
                </a:solidFill>
                <a:latin typeface="Calibri" pitchFamily="34" charset="0"/>
                <a:ea typeface="Calibri" pitchFamily="34" charset="-122"/>
                <a:cs typeface="Calibri" pitchFamily="34" charset="-120"/>
              </a:rPr>
              <a:t>Pick one building or artifact from early Florida. Write 3-5 sentences explaining what it reveals about how people lived, defended themselves, worshiped, or adapted -- supported by evidence.</a:t>
            </a:r>
            <a:endParaRPr lang="en-US" sz="1000" dirty="0"/>
          </a:p>
        </p:txBody>
      </p:sp>
      <p:sp>
        <p:nvSpPr>
          <p:cNvPr id="12" name="Shape 10"/>
          <p:cNvSpPr/>
          <p:nvPr/>
        </p:nvSpPr>
        <p:spPr>
          <a:xfrm>
            <a:off x="5897880" y="530352"/>
            <a:ext cx="2926080" cy="3291840"/>
          </a:xfrm>
          <a:prstGeom prst="roundRect">
            <a:avLst>
              <a:gd name="adj" fmla="val 3750"/>
            </a:avLst>
          </a:prstGeom>
          <a:solidFill>
            <a:srgbClr val="FFFFFF"/>
          </a:solidFill>
          <a:ln w="19050">
            <a:solidFill>
              <a:srgbClr val="B0B8CC"/>
            </a:solidFill>
            <a:prstDash val="solid"/>
          </a:ln>
        </p:spPr>
      </p:sp>
      <p:sp>
        <p:nvSpPr>
          <p:cNvPr id="13" name="Text 11"/>
          <p:cNvSpPr/>
          <p:nvPr/>
        </p:nvSpPr>
        <p:spPr>
          <a:xfrm>
            <a:off x="6080760" y="621792"/>
            <a:ext cx="256032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TURN-IN CHECKLIST</a:t>
            </a:r>
            <a:endParaRPr lang="en-US" sz="900" dirty="0"/>
          </a:p>
        </p:txBody>
      </p:sp>
      <p:sp>
        <p:nvSpPr>
          <p:cNvPr id="14" name="Shape 12"/>
          <p:cNvSpPr/>
          <p:nvPr/>
        </p:nvSpPr>
        <p:spPr>
          <a:xfrm>
            <a:off x="6080760" y="1005840"/>
            <a:ext cx="201168" cy="201168"/>
          </a:xfrm>
          <a:prstGeom prst="rect">
            <a:avLst/>
          </a:prstGeom>
          <a:solidFill>
            <a:srgbClr val="FFFFFF"/>
          </a:solidFill>
          <a:ln w="19050">
            <a:solidFill>
              <a:srgbClr val="0E1C42"/>
            </a:solidFill>
            <a:prstDash val="solid"/>
          </a:ln>
        </p:spPr>
      </p:sp>
      <p:sp>
        <p:nvSpPr>
          <p:cNvPr id="15" name="Text 13"/>
          <p:cNvSpPr/>
          <p:nvPr/>
        </p:nvSpPr>
        <p:spPr>
          <a:xfrm>
            <a:off x="6355080" y="978408"/>
            <a:ext cx="2331720" cy="475488"/>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Studied the coquina walls of the Castillo de San Marcos</a:t>
            </a:r>
            <a:endParaRPr lang="en-US" sz="1000" dirty="0"/>
          </a:p>
        </p:txBody>
      </p:sp>
      <p:sp>
        <p:nvSpPr>
          <p:cNvPr id="16" name="Shape 14"/>
          <p:cNvSpPr/>
          <p:nvPr/>
        </p:nvSpPr>
        <p:spPr>
          <a:xfrm>
            <a:off x="6080760" y="1572768"/>
            <a:ext cx="201168" cy="201168"/>
          </a:xfrm>
          <a:prstGeom prst="rect">
            <a:avLst/>
          </a:prstGeom>
          <a:solidFill>
            <a:srgbClr val="FFFFFF"/>
          </a:solidFill>
          <a:ln w="19050">
            <a:solidFill>
              <a:srgbClr val="0E1C42"/>
            </a:solidFill>
            <a:prstDash val="solid"/>
          </a:ln>
        </p:spPr>
      </p:sp>
      <p:sp>
        <p:nvSpPr>
          <p:cNvPr id="17" name="Text 15"/>
          <p:cNvSpPr/>
          <p:nvPr/>
        </p:nvSpPr>
        <p:spPr>
          <a:xfrm>
            <a:off x="6355080" y="1545336"/>
            <a:ext cx="2331720" cy="475488"/>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Answered both evidence questions with evidence</a:t>
            </a:r>
            <a:endParaRPr lang="en-US" sz="1000" dirty="0"/>
          </a:p>
        </p:txBody>
      </p:sp>
      <p:sp>
        <p:nvSpPr>
          <p:cNvPr id="18" name="Shape 16"/>
          <p:cNvSpPr/>
          <p:nvPr/>
        </p:nvSpPr>
        <p:spPr>
          <a:xfrm>
            <a:off x="6080760" y="2139696"/>
            <a:ext cx="201168" cy="201168"/>
          </a:xfrm>
          <a:prstGeom prst="rect">
            <a:avLst/>
          </a:prstGeom>
          <a:solidFill>
            <a:srgbClr val="FFFFFF"/>
          </a:solidFill>
          <a:ln w="19050">
            <a:solidFill>
              <a:srgbClr val="0E1C42"/>
            </a:solidFill>
            <a:prstDash val="solid"/>
          </a:ln>
        </p:spPr>
      </p:sp>
      <p:sp>
        <p:nvSpPr>
          <p:cNvPr id="19" name="Text 17"/>
          <p:cNvSpPr/>
          <p:nvPr/>
        </p:nvSpPr>
        <p:spPr>
          <a:xfrm>
            <a:off x="6355080" y="2112264"/>
            <a:ext cx="2331720" cy="475488"/>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Wrote Historian's Notebook entry on one building or artifact and what it reveals</a:t>
            </a:r>
            <a:endParaRPr lang="en-US" sz="1000" dirty="0"/>
          </a:p>
        </p:txBody>
      </p:sp>
      <p:sp>
        <p:nvSpPr>
          <p:cNvPr id="20" name="Shape 18"/>
          <p:cNvSpPr/>
          <p:nvPr/>
        </p:nvSpPr>
        <p:spPr>
          <a:xfrm>
            <a:off x="6080760" y="2706624"/>
            <a:ext cx="201168" cy="201168"/>
          </a:xfrm>
          <a:prstGeom prst="rect">
            <a:avLst/>
          </a:prstGeom>
          <a:solidFill>
            <a:srgbClr val="FFFFFF"/>
          </a:solidFill>
          <a:ln w="19050">
            <a:solidFill>
              <a:srgbClr val="0E1C42"/>
            </a:solidFill>
            <a:prstDash val="solid"/>
          </a:ln>
        </p:spPr>
      </p:sp>
      <p:sp>
        <p:nvSpPr>
          <p:cNvPr id="21" name="Text 19"/>
          <p:cNvSpPr/>
          <p:nvPr/>
        </p:nvSpPr>
        <p:spPr>
          <a:xfrm>
            <a:off x="6355080" y="2679192"/>
            <a:ext cx="2331720" cy="475488"/>
          </a:xfrm>
          <a:prstGeom prst="rect">
            <a:avLst/>
          </a:prstGeom>
          <a:noFill/>
          <a:ln/>
        </p:spPr>
        <p:txBody>
          <a:bodyPr wrap="square" lIns="0" tIns="0" rIns="0" bIns="0" rtlCol="0" anchor="t"/>
          <a:lstStyle/>
          <a:p>
            <a:pPr indent="0" marL="0">
              <a:buNone/>
            </a:pPr>
            <a:r>
              <a:rPr lang="en-US" sz="1000" dirty="0">
                <a:solidFill>
                  <a:srgbClr val="0E1C42"/>
                </a:solidFill>
                <a:latin typeface="Calibri" pitchFamily="34" charset="0"/>
                <a:ea typeface="Calibri" pitchFamily="34" charset="-122"/>
                <a:cs typeface="Calibri" pitchFamily="34" charset="-120"/>
              </a:rPr>
              <a:t>Copied or downloaded work and submitted to Canvas</a:t>
            </a:r>
            <a:endParaRPr lang="en-US" sz="1000" dirty="0"/>
          </a:p>
        </p:txBody>
      </p:sp>
      <p:sp>
        <p:nvSpPr>
          <p:cNvPr id="22" name="Text 20"/>
          <p:cNvSpPr/>
          <p:nvPr/>
        </p:nvSpPr>
        <p:spPr>
          <a:xfrm>
            <a:off x="365760" y="3913632"/>
            <a:ext cx="8412480" cy="32004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Complete your Historian's Notebook in Canvas. Use your notes from today.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548640" y="384048"/>
            <a:ext cx="804672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FLORIDA FILES: ARCHITECTURE WING</a:t>
            </a:r>
            <a:endParaRPr lang="en-US" sz="1000" dirty="0"/>
          </a:p>
        </p:txBody>
      </p:sp>
      <p:sp>
        <p:nvSpPr>
          <p:cNvPr id="6" name="Text 3"/>
          <p:cNvSpPr/>
          <p:nvPr/>
        </p:nvSpPr>
        <p:spPr>
          <a:xfrm>
            <a:off x="548640" y="795528"/>
            <a:ext cx="8046720" cy="141732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Architecture and artifacts</a:t>
            </a:r>
            <a:endParaRPr lang="en-US" sz="3400" dirty="0"/>
          </a:p>
          <a:p>
            <a:pPr indent="0" marL="0">
              <a:lnSpc>
                <a:spcPct val="115000"/>
              </a:lnSpc>
              <a:buNone/>
            </a:pPr>
            <a:r>
              <a:rPr lang="en-US" sz="3400" b="1" dirty="0">
                <a:solidFill>
                  <a:srgbClr val="FFFFFF"/>
                </a:solidFill>
                <a:latin typeface="Cambria" pitchFamily="34" charset="0"/>
                <a:ea typeface="Cambria" pitchFamily="34" charset="-122"/>
                <a:cs typeface="Cambria" pitchFamily="34" charset="-120"/>
              </a:rPr>
              <a:t>turned back into evidence.</a:t>
            </a:r>
            <a:endParaRPr lang="en-US" sz="3400" dirty="0"/>
          </a:p>
        </p:txBody>
      </p:sp>
      <p:sp>
        <p:nvSpPr>
          <p:cNvPr id="7" name="Shape 4"/>
          <p:cNvSpPr/>
          <p:nvPr/>
        </p:nvSpPr>
        <p:spPr>
          <a:xfrm>
            <a:off x="548640" y="2286000"/>
            <a:ext cx="3840480" cy="45720"/>
          </a:xfrm>
          <a:prstGeom prst="rect">
            <a:avLst/>
          </a:prstGeom>
          <a:solidFill>
            <a:srgbClr val="D4943A"/>
          </a:solidFill>
          <a:ln w="12700">
            <a:solidFill>
              <a:srgbClr val="D4943A"/>
            </a:solidFill>
            <a:prstDash val="solid"/>
          </a:ln>
        </p:spPr>
      </p:sp>
      <p:sp>
        <p:nvSpPr>
          <p:cNvPr id="8" name="Shape 5"/>
          <p:cNvSpPr/>
          <p:nvPr/>
        </p:nvSpPr>
        <p:spPr>
          <a:xfrm>
            <a:off x="548640" y="2423160"/>
            <a:ext cx="8046720" cy="914400"/>
          </a:xfrm>
          <a:prstGeom prst="roundRect">
            <a:avLst>
              <a:gd name="adj" fmla="val 12000"/>
            </a:avLst>
          </a:prstGeom>
          <a:solidFill>
            <a:srgbClr val="1A2D5A"/>
          </a:solidFill>
          <a:ln w="12700">
            <a:solidFill>
              <a:srgbClr val="D4943A"/>
            </a:solidFill>
            <a:prstDash val="solid"/>
          </a:ln>
        </p:spPr>
      </p:sp>
      <p:sp>
        <p:nvSpPr>
          <p:cNvPr id="9" name="Text 6"/>
          <p:cNvSpPr/>
          <p:nvPr/>
        </p:nvSpPr>
        <p:spPr>
          <a:xfrm>
            <a:off x="731520" y="2487168"/>
            <a:ext cx="7680960" cy="786384"/>
          </a:xfrm>
          <a:prstGeom prst="rect">
            <a:avLst/>
          </a:prstGeom>
          <a:noFill/>
          <a:ln/>
        </p:spPr>
        <p:txBody>
          <a:bodyPr wrap="square" lIns="0" tIns="0" rIns="0" bIns="0" rtlCol="0" anchor="ctr"/>
          <a:lstStyle/>
          <a:p>
            <a:pPr indent="0" marL="0">
              <a:buNone/>
            </a:pPr>
            <a:r>
              <a:rPr lang="en-US" sz="1400" b="1" dirty="0">
                <a:solidFill>
                  <a:srgbClr val="D4943A"/>
                </a:solidFill>
                <a:latin typeface="Calibri" pitchFamily="34" charset="0"/>
                <a:ea typeface="Calibri" pitchFamily="34" charset="-122"/>
                <a:cs typeface="Calibri" pitchFamily="34" charset="-120"/>
              </a:rPr>
              <a:t>Virtue: </a:t>
            </a:r>
            <a:pPr indent="0" marL="0">
              <a:buNone/>
            </a:pPr>
            <a:r>
              <a:rPr lang="en-US" sz="1400" dirty="0">
                <a:solidFill>
                  <a:srgbClr val="FFFFFF"/>
                </a:solidFill>
                <a:latin typeface="Calibri" pitchFamily="34" charset="0"/>
                <a:ea typeface="Calibri" pitchFamily="34" charset="-122"/>
                <a:cs typeface="Calibri" pitchFamily="34" charset="-120"/>
              </a:rPr>
              <a:t>Honesty  |  </a:t>
            </a:r>
            <a:pPr indent="0" marL="0">
              <a:buNone/>
            </a:pPr>
            <a:r>
              <a:rPr lang="en-US" sz="1400" i="1" dirty="0">
                <a:solidFill>
                  <a:srgbClr val="55C8E8"/>
                </a:solidFill>
                <a:latin typeface="Calibri" pitchFamily="34" charset="0"/>
                <a:ea typeface="Calibri" pitchFamily="34" charset="-122"/>
                <a:cs typeface="Calibri" pitchFamily="34" charset="-120"/>
              </a:rPr>
              <a:t>An honest historian tells what the evidence shows -- and names what it cannot.</a:t>
            </a:r>
            <a:endParaRPr lang="en-US" sz="1400" dirty="0"/>
          </a:p>
        </p:txBody>
      </p:sp>
      <p:sp>
        <p:nvSpPr>
          <p:cNvPr id="10" name="Shape 7"/>
          <p:cNvSpPr/>
          <p:nvPr/>
        </p:nvSpPr>
        <p:spPr>
          <a:xfrm>
            <a:off x="548640" y="3456432"/>
            <a:ext cx="8046720" cy="640080"/>
          </a:xfrm>
          <a:prstGeom prst="roundRect">
            <a:avLst>
              <a:gd name="adj" fmla="val 14286"/>
            </a:avLst>
          </a:prstGeom>
          <a:solidFill>
            <a:srgbClr val="34B76F">
              <a:alpha val="20000"/>
            </a:srgbClr>
          </a:solidFill>
          <a:ln w="19050">
            <a:solidFill>
              <a:srgbClr val="34B76F"/>
            </a:solidFill>
            <a:prstDash val="solid"/>
          </a:ln>
        </p:spPr>
      </p:sp>
      <p:sp>
        <p:nvSpPr>
          <p:cNvPr id="11" name="Text 8"/>
          <p:cNvSpPr/>
          <p:nvPr/>
        </p:nvSpPr>
        <p:spPr>
          <a:xfrm>
            <a:off x="731520" y="3502152"/>
            <a:ext cx="7680960" cy="54864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Coming Next: One file left in the wing.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2026-07-14T00:31:38Z</dcterms:created>
  <dcterms:modified xsi:type="dcterms:W3CDTF">2026-07-14T00:31:38Z</dcterms:modified>
</cp:coreProperties>
</file>