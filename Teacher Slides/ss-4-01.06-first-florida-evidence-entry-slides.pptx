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Early-1900s Florida citrus grove workers in the field — worn work clothes, heavy tools, golden light through orange trees. Cinematic documentary feel. Background image for lesson title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 frame: Canvas has locked the first module until students produce a complete Historian's Notebook entry. Celebrate Unit 1 progress while setting up the challenge. Teacher voice: slow down, let the locked-file visual land, then build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the structure without defining it yet. Ask: 'Which of these three do you think is the hardest?' Let them predict and revisit at the end. This is a roadmap, not a lecture.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SCAFFOLDS Q1: 'Name three specific things you can see.' Give 5 seconds of true silence. Then: 'What did you see? Don't tell me what you THINK happened — tell me what you can actually see.' Cold call 3-4 students and record their observations visibly.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SCAFFOLDS Q1 directly. Ask students to CLASSIFY responses and explain why. Goal: students can tell the difference between 'I see...' and 'I think they felt...' before they start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concept. Retrieval (say aloud): 'Before I move on — someone finish this in chat: A claim is different from a guess because...' Do not move on until 3+ students answer with a because-clause.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evaluation layer — Grade 4 reliability step beyond just classifying source type. Guide: 'You know this is a primary source. Now the harder question: can you trust it completely? What might be missing from the photographer's view?' Expect varied answers — that tension is the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SCAFFOLDS Q2 (claim + evidence). Push the 'because' clause — don't accept 'I see worn clothes' without 'because that tells me...' Goal: students naming specific details AND connecting them to a possible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concept. Retrieval: 'Type in chat: What is the difference between evidence and a feeling?' Hold for responses. Then preview: 'Now we're going to look at two complete notebook entries and figure out what makes one stronger.'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Multi-Source Compare slide — same photograph, two entries. Don't tell students which is stronger yet. Give 60 seconds for silent reading before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Grade 4 Defend step. Do NOT accept 'Entry B is better' without a because-clause. Push: 'Which SPECIFIC word makes it better?' If a student defends Entry A, honor it — ask 'Is there any way Entry A could be right?'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SCAFFOLDS Q3 directly. The key insight: a wondering doesn't weaken the entry — it strengthens it. Retrieval: 'Type one wondering YOU have about the photograph — a real question it can't answer.'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'Has anyone ever been afraid to say they don't know something? Why?' Connect: 'In history, pretending to know everything is dangerous — it can change how people understand the past.' This directly scaffolds Q3.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these think-aloud phrases OUT LOUD while pointing to each part of the entry. Then: 'Did you notice I rejected my first claim? Someone tell me — why did I throw it out and what did I do instead?' Scaffolds the full Unlock Challenge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Investigate + Defend. Students CHOOSE which evidence to use — not just react to given evidence. After chat posts, pick two students with DIFFERENT claims — ask them to debate: 'Can you both be right if you used the same photo?' Foreshadow the Tricky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Critique step — Grade 4 goes beyond right/wrong to evidence QUALITY. Don't confirm which parts are wrong right away — let students find them. Ask: 'Is there anything salvageable in this entry?' Push for specific revision suggestions.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TRICKY ONE. Both claims ARE defensible — genuine 'reasonable people can disagree' moment. Do NOT resolve it by picking a winner. Resolution: BOTH can be valid IF backed by specific evidence. Grade 4 transferable lesson about historical interpretation.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answers one at a time — ask students to answer BEFORE you show. True retrieval: cover the answer side and ask. If students struggle on Q3, return briefly to the Virtue Spotlight message before moving to the assignment.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EXACT assignment question wording shown. Q1 scaffolded on slides 4-5. Q2 scaffolded on slides 6-9. Q3 scaffolded on slides 12-13. Full entry scaffolded on slides 14-17. Reflection Log: 'In this mission, I learned that ______ because ______.' Standards: SS.4.A.1.1, SS.4.A.1.2, SS.4.A.9.1.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Sunrise over Florida landscape — St. Johns River or Everglades panorama, golden morning light through palm trees, wide and expansive. Celebratory, forward-looking mood for the Unit 1 closing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1920240"/>
            <a:ext cx="109728" cy="1371600"/>
          </a:xfrm>
          <a:prstGeom prst="rect">
            <a:avLst/>
          </a:prstGeom>
          <a:solidFill>
            <a:srgbClr val="D4943A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18288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FINALE  |  LESSON 4.01.06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20040" y="212140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You Write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320040" y="28803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3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Historian's Notebook — First Florida Evidence Entry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0" y="3931920"/>
            <a:ext cx="9144000" cy="822960"/>
          </a:xfrm>
          <a:prstGeom prst="rect">
            <a:avLst/>
          </a:prstGeom>
          <a:solidFill>
            <a:srgbClr val="D4943A">
              <a:alpha val="85000"/>
            </a:srgbClr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397764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that I have the historian's tools — what's my first honest claim about Florida history?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/>
          </a:solidFill>
          <a:ln w="12700">
            <a:solidFill>
              <a:srgbClr val="0E1C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943A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56032"/>
            <a:ext cx="2926080" cy="329184"/>
          </a:xfrm>
          <a:prstGeom prst="roundRect">
            <a:avLst>
              <a:gd name="adj" fmla="val 27778"/>
            </a:avLst>
          </a:prstGeom>
          <a:solidFill>
            <a:srgbClr val="1A2D5A"/>
          </a:solidFill>
          <a:ln w="12700">
            <a:solidFill>
              <a:srgbClr val="55C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5603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 HISTORY TEAM  |  HISTORIAN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0" y="457200"/>
            <a:ext cx="2926080" cy="1417320"/>
          </a:xfrm>
          <a:prstGeom prst="roundRect">
            <a:avLst>
              <a:gd name="adj" fmla="val 9677"/>
            </a:avLst>
          </a:prstGeom>
          <a:solidFill>
            <a:srgbClr val="1A2D5A"/>
          </a:solidFill>
          <a:ln w="19050">
            <a:solidFill>
              <a:srgbClr val="E8636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669280" y="548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8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CANVAS: Module 1 Locked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60720" y="886968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requires: one complete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Historian's Notebook entry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claim, evidence, and wondering.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77724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Canvas won't open the first module.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1207008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 each of you to open your Historian's Notebook, study today's Florida source, and write your first real entry. Not guesses — real observations backed by details you can actually see.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423160"/>
            <a:ext cx="5029200" cy="960120"/>
          </a:xfrm>
          <a:prstGeom prst="roundRect">
            <a:avLst>
              <a:gd name="adj" fmla="val 14286"/>
            </a:avLst>
          </a:prstGeom>
          <a:solidFill>
            <a:srgbClr val="1A8A7D">
              <a:alpha val="80000"/>
            </a:srgbClr>
          </a:solidFill>
          <a:ln w="19050">
            <a:solidFill>
              <a:srgbClr val="34B7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4963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made it to the end of Unit 1.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279806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learned historian's tools, sources, timelines, and vocabulary. Today you use ALL of it — for the first time, together.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D4943A">
              <a:alpha val="75000"/>
            </a:srgbClr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462272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 me do this right — and the first locked file opens.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943A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Path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Historian's Notebook entry has THREE parts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2606040" cy="3200400"/>
          </a:xfrm>
          <a:prstGeom prst="roundRect">
            <a:avLst>
              <a:gd name="adj" fmla="val 6316"/>
            </a:avLst>
          </a:prstGeom>
          <a:solidFill>
            <a:srgbClr val="D4F0EB"/>
          </a:solidFill>
          <a:ln w="25400">
            <a:solidFill>
              <a:srgbClr val="1A8A7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80160" y="1234440"/>
            <a:ext cx="777240" cy="777240"/>
          </a:xfrm>
          <a:prstGeom prst="ellipse">
            <a:avLst/>
          </a:prstGeom>
          <a:solidFill>
            <a:srgbClr val="1A8A7D"/>
          </a:solidFill>
          <a:ln w="12700">
            <a:solidFill>
              <a:srgbClr val="1A8A7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234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487168"/>
            <a:ext cx="233172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'I think...' sentence.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reaction. Not a guess.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you can back up.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0" y="1143000"/>
            <a:ext cx="2606040" cy="3200400"/>
          </a:xfrm>
          <a:prstGeom prst="roundRect">
            <a:avLst>
              <a:gd name="adj" fmla="val 6316"/>
            </a:avLst>
          </a:prstGeom>
          <a:solidFill>
            <a:srgbClr val="FFF3DC"/>
          </a:solidFill>
          <a:ln w="25400">
            <a:solidFill>
              <a:srgbClr val="D494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0" y="1234440"/>
            <a:ext cx="777240" cy="777240"/>
          </a:xfrm>
          <a:prstGeom prst="ellipse">
            <a:avLst/>
          </a:prstGeom>
          <a:solidFill>
            <a:srgbClr val="D4943A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1234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91840" y="2103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2487168"/>
            <a:ext cx="233172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2 specific details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source you can SEE: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name, place, object, word.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0" y="1143000"/>
            <a:ext cx="2606040" cy="3200400"/>
          </a:xfrm>
          <a:prstGeom prst="roundRect">
            <a:avLst>
              <a:gd name="adj" fmla="val 6316"/>
            </a:avLst>
          </a:prstGeom>
          <a:solidFill>
            <a:srgbClr val="EDE8F8"/>
          </a:solidFill>
          <a:ln w="25400">
            <a:solidFill>
              <a:srgbClr val="8B6FC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49440" y="1234440"/>
            <a:ext cx="777240" cy="777240"/>
          </a:xfrm>
          <a:prstGeom prst="ellipse">
            <a:avLst/>
          </a:prstGeom>
          <a:solidFill>
            <a:srgbClr val="8B6FC0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1234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26480" y="2103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WONDERING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72200" y="2487168"/>
            <a:ext cx="233172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question the source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answer alone. This makes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entry MORE trustworthy.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462272"/>
            <a:ext cx="9144000" cy="548640"/>
          </a:xfrm>
          <a:prstGeom prst="rect">
            <a:avLst/>
          </a:prstGeom>
          <a:solidFill>
            <a:srgbClr val="0E1C42">
              <a:alpha val="95000"/>
            </a:srgbClr>
          </a:solidFill>
          <a:ln w="12700">
            <a:solidFill>
              <a:srgbClr val="0E1C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46227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discover each part before you write your own.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8A7D"/>
          </a:solidFill>
          <a:ln w="12700">
            <a:solidFill>
              <a:srgbClr val="1A8A7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Clue Box: Florida Primary Source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spc="10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seconds of silence  —  just look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5303520" cy="3840480"/>
          </a:xfrm>
          <a:prstGeom prst="roundRect">
            <a:avLst>
              <a:gd name="adj" fmla="val 2857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18872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Early-1900s Florida citrus grove workers or Henry Flagler-era railroad workers — people whose work or community is clearly visible. Worn work clothes, heavy tools, outdoor Florida setting. Strong visual storytelling. This is the primary source photograph used throughout the entire lesson.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0" y="914400"/>
            <a:ext cx="2788920" cy="2331720"/>
          </a:xfrm>
          <a:prstGeom prst="roundRect">
            <a:avLst>
              <a:gd name="adj" fmla="val 4706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0760" y="96926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80760" y="1170432"/>
            <a:ext cx="2514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observe... because..."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can see... which tells me..."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"Something I notice is..."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0" y="3401568"/>
            <a:ext cx="2788920" cy="1170432"/>
          </a:xfrm>
          <a:prstGeom prst="roundRect">
            <a:avLst>
              <a:gd name="adj" fmla="val 7813"/>
            </a:avLst>
          </a:prstGeom>
          <a:solidFill>
            <a:srgbClr val="1A8A7D">
              <a:alpha val="80000"/>
            </a:srgbClr>
          </a:solidFill>
          <a:ln w="19050">
            <a:solidFill>
              <a:srgbClr val="1A8A7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34747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— don't guess yet.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35040" y="37490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what you actually see: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people, objects, clothing, setting.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8A7D"/>
          </a:solidFill>
          <a:ln w="12700">
            <a:solidFill>
              <a:srgbClr val="1A8A7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 or Guess?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035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historian reads a source for the first time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3931920" cy="2788920"/>
          </a:xfrm>
          <a:prstGeom prst="roundRect">
            <a:avLst>
              <a:gd name="adj" fmla="val 4918"/>
            </a:avLst>
          </a:prstGeom>
          <a:solidFill>
            <a:srgbClr val="D4F0EB"/>
          </a:solidFill>
          <a:ln w="19050">
            <a:solidFill>
              <a:srgbClr val="1A8A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789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389888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see three people in worn work clothes."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tools in their hands are large and heavy."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"There are orange trees in rows behind them."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61488"/>
            <a:ext cx="3749040" cy="822960"/>
          </a:xfrm>
          <a:prstGeom prst="roundRect">
            <a:avLst>
              <a:gd name="adj" fmla="val 11111"/>
            </a:avLst>
          </a:prstGeom>
          <a:solidFill>
            <a:srgbClr val="1A8A7D"/>
          </a:solidFill>
          <a:ln w="12700">
            <a:solidFill>
              <a:srgbClr val="1A8A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80720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Specific. From the source. You can point to it.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005840"/>
            <a:ext cx="3931920" cy="2788920"/>
          </a:xfrm>
          <a:prstGeom prst="roundRect">
            <a:avLst>
              <a:gd name="adj" fmla="val 4918"/>
            </a:avLst>
          </a:prstGeom>
          <a:solidFill>
            <a:srgbClr val="FCE8E9"/>
          </a:solidFill>
          <a:ln w="19050">
            <a:solidFill>
              <a:srgbClr val="E863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0789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E8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1389888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"They seem tired."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"They probably didn't want to be there."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looks like a sad place."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761488"/>
            <a:ext cx="3749040" cy="822960"/>
          </a:xfrm>
          <a:prstGeom prst="roundRect">
            <a:avLst>
              <a:gd name="adj" fmla="val 11111"/>
            </a:avLst>
          </a:prstGeom>
          <a:solidFill>
            <a:srgbClr val="E8636B"/>
          </a:solidFill>
          <a:ln w="12700">
            <a:solidFill>
              <a:srgbClr val="E863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80720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Feeling-based. Not in the source. Can't be pointed to.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913632"/>
            <a:ext cx="8503920" cy="1005840"/>
          </a:xfrm>
          <a:prstGeom prst="roundRect">
            <a:avLst>
              <a:gd name="adj" fmla="val 13636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400507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42611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back at the photograph. Which chat responses were observations? Which were guesses?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explain WHY one of the 'guess' examples is not an observation?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wanted to change a guess into an observation, what would you have to do differently?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/>
          </a:solidFill>
          <a:ln w="12700">
            <a:solidFill>
              <a:srgbClr val="0E1C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943A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01168"/>
            <a:ext cx="2743200" cy="329184"/>
          </a:xfrm>
          <a:prstGeom prst="roundRect">
            <a:avLst>
              <a:gd name="adj" fmla="val 27778"/>
            </a:avLst>
          </a:prstGeom>
          <a:solidFill>
            <a:srgbClr val="D4943A">
              <a:alpha val="80000"/>
            </a:srgbClr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011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DISCOVERED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Claim Is Different from a Guess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8412480" cy="868680"/>
          </a:xfrm>
          <a:prstGeom prst="roundRect">
            <a:avLst>
              <a:gd name="adj" fmla="val 15789"/>
            </a:avLst>
          </a:prstGeom>
          <a:solidFill>
            <a:srgbClr val="1A2D5A"/>
          </a:solidFill>
          <a:ln w="19050">
            <a:solidFill>
              <a:srgbClr val="55C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08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claim = an 'I think...' sentence that CAN be backed up with evidence from the source.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2606040" cy="2468880"/>
          </a:xfrm>
          <a:prstGeom prst="roundRect">
            <a:avLst>
              <a:gd name="adj" fmla="val 5556"/>
            </a:avLst>
          </a:prstGeom>
          <a:solidFill>
            <a:srgbClr val="1A2D5A"/>
          </a:solidFill>
          <a:ln w="19050">
            <a:solidFill>
              <a:srgbClr val="E863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9631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8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CLAIM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770632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"Wow, that's cool."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(reaction word — no evidence possible)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977640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Reaction. No evidence can back up a feeling word.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2423160"/>
            <a:ext cx="2606040" cy="2468880"/>
          </a:xfrm>
          <a:prstGeom prst="roundRect">
            <a:avLst>
              <a:gd name="adj" fmla="val 5556"/>
            </a:avLst>
          </a:prstGeom>
          <a:solidFill>
            <a:srgbClr val="1A2D5A"/>
          </a:solidFill>
          <a:ln w="19050">
            <a:solidFill>
              <a:srgbClr val="E863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49631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8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CLAIM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2770632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"No."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(refusal — historians write something)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3977640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Refusal. Historians commit to a tentative claim.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2423160"/>
            <a:ext cx="2606040" cy="2468880"/>
          </a:xfrm>
          <a:prstGeom prst="roundRect">
            <a:avLst>
              <a:gd name="adj" fmla="val 5556"/>
            </a:avLst>
          </a:prstGeom>
          <a:solidFill>
            <a:srgbClr val="1A2D5A"/>
          </a:solidFill>
          <a:ln w="19050">
            <a:solidFill>
              <a:srgbClr val="34B7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49631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CLAIM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26480" y="2770632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think the people in this photo worked hard at a difficult job."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(can point to evidence)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3977640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Specific. Backed by what you can see. Can be tested.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943A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Source — Now Evaluate It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make a claim, know what kind of source you have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4572000" cy="3886200"/>
          </a:xfrm>
          <a:prstGeom prst="roundRect">
            <a:avLst>
              <a:gd name="adj" fmla="val 2824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188720"/>
            <a:ext cx="429768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early-1900s Florida citrus grove or railroad workers photograph as slide 4. This is a PRIMARY SOURCE — created at the time, by someone present.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166360" y="914400"/>
            <a:ext cx="3611880" cy="3886200"/>
          </a:xfrm>
          <a:prstGeom prst="roundRect">
            <a:avLst>
              <a:gd name="adj" fmla="val 3797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349240" y="100584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SOURCE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49240" y="1261872"/>
            <a:ext cx="3246120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likely created this photograph, and why?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perspective is probably NOT shown in this source?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this source be trusted to tell the whole story? What makes you say that?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knowing it's a primary source change how you use it as evidence?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943A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Evidence Do You See?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is specific. Evidence is pointable. Evidence is FROM the source.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02920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9050">
            <a:solidFill>
              <a:srgbClr val="D4943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0789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Types in a Photograph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38988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Date / time period (if visible)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172821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Names or text in the image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206654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People — clothing, number, expression, position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240487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Objects — tools, buildings, vehicles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274320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Setting — location, landscape, weather clues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08152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Words printed on signs, labels, documents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577840" y="1005840"/>
            <a:ext cx="3200400" cy="2560320"/>
          </a:xfrm>
          <a:prstGeom prst="roundRect">
            <a:avLst>
              <a:gd name="adj" fmla="val 5357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60720" y="10972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760720" y="1353312"/>
            <a:ext cx="283464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photograph. Name ONE piece of evidence — a specific thing you can point to.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that detail evidence and not just a feeling?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piece of evidence is STRONGEST for backing up a claim? Why that one over others?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evidence in the photo that could support more than one different claim?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703320"/>
            <a:ext cx="8503920" cy="1188720"/>
          </a:xfrm>
          <a:prstGeom prst="roundRect">
            <a:avLst>
              <a:gd name="adj" fmla="val 9231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758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395935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strongest evidence I see is... because it shows..."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could use this detail to support the claim that..."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/>
          </a:solidFill>
          <a:ln w="12700">
            <a:solidFill>
              <a:srgbClr val="0E1C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943A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01168"/>
            <a:ext cx="2743200" cy="329184"/>
          </a:xfrm>
          <a:prstGeom prst="roundRect">
            <a:avLst>
              <a:gd name="adj" fmla="val 27778"/>
            </a:avLst>
          </a:prstGeom>
          <a:solidFill>
            <a:srgbClr val="D4943A">
              <a:alpha val="80000"/>
            </a:srgbClr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011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DISCOVERED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= Specific Details You Can SEE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3931920" cy="2377440"/>
          </a:xfrm>
          <a:prstGeom prst="roundRect">
            <a:avLst>
              <a:gd name="adj" fmla="val 5769"/>
            </a:avLst>
          </a:prstGeom>
          <a:solidFill>
            <a:srgbClr val="1A2D5A"/>
          </a:solidFill>
          <a:ln w="19050">
            <a:solidFill>
              <a:srgbClr val="E863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904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8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EVIDENCE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80136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"They look poor."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seems like a hard life."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"Maybe they were sad."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9443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Feelings and interpretations — nothing to point to in the source.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417320"/>
            <a:ext cx="3931920" cy="2377440"/>
          </a:xfrm>
          <a:prstGeom prst="roundRect">
            <a:avLst>
              <a:gd name="adj" fmla="val 5769"/>
            </a:avLst>
          </a:prstGeom>
          <a:solidFill>
            <a:srgbClr val="1A2D5A"/>
          </a:solidFill>
          <a:ln w="19050">
            <a:solidFill>
              <a:srgbClr val="34B7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4904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80136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"Their work clothes are well-worn."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tools they carry are heavy and large."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rows of trees stretch to the horizon."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09160" y="29443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Specific, visible, pointable. Someone else looking at the same photo would see the same thing.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913632"/>
            <a:ext cx="8412480" cy="886968"/>
          </a:xfrm>
          <a:prstGeom prst="roundRect">
            <a:avLst>
              <a:gd name="adj" fmla="val 12371"/>
            </a:avLst>
          </a:prstGeom>
          <a:solidFill>
            <a:srgbClr val="D4943A">
              <a:alpha val="80000"/>
            </a:srgbClr>
          </a:solidFill>
          <a:ln w="19050">
            <a:solidFill>
              <a:srgbClr val="D494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005072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Transferable pattern: Evidence is always something another person could verify — by looking at the SAME source.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6FC0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Photo. Two Notebook Entries.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— then explain what makes the difference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3931920" cy="3310128"/>
          </a:xfrm>
          <a:prstGeom prst="roundRect">
            <a:avLst>
              <a:gd name="adj" fmla="val 4144"/>
            </a:avLst>
          </a:prstGeom>
          <a:solidFill>
            <a:srgbClr val="FCE8E9"/>
          </a:solidFill>
          <a:ln w="25400">
            <a:solidFill>
              <a:srgbClr val="E8636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332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E8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A (Weak)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344168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3A2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think Florida history is interesting. This photo shows people working. I wonder if they were happy."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907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Claim: Vague — 'interesting' can't be backed up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182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'People working' — no specific detail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456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Wondering: Feeling-based — not a research question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7673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tell students yet — let them find the issues on the next slide.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960120"/>
            <a:ext cx="4206240" cy="3310128"/>
          </a:xfrm>
          <a:prstGeom prst="roundRect">
            <a:avLst>
              <a:gd name="adj" fmla="val 4144"/>
            </a:avLst>
          </a:prstGeom>
          <a:solidFill>
            <a:srgbClr val="D4F0EB"/>
          </a:solidFill>
          <a:ln w="25400">
            <a:solidFill>
              <a:srgbClr val="1A8A7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10332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B (Strong)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1344168"/>
            <a:ext cx="4069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A3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think the people in this Florida photograph worked hard at a difficult job. The evidence shows their work clothes are well-worn and the tools are heavy. I'm still wondering who they were and how they were paid for this work."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29077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Claim: 'worked hard at a difficult job' — testable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31821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'well-worn clothes' + 'heavy tools' — 2 specifics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63440" y="34564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Wondering: Real research question the photo can't answer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4370832"/>
            <a:ext cx="8503920" cy="640080"/>
          </a:xfrm>
          <a:prstGeom prst="roundRect">
            <a:avLst>
              <a:gd name="adj" fmla="val 17143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4256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462686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"Entry B is stronger because... specifically the part where..."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strongest part of Entry B is... because..."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6FC0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Entry B Stronger?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— then defend your reasoning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303520" cy="2468880"/>
          </a:xfrm>
          <a:prstGeom prst="roundRect">
            <a:avLst>
              <a:gd name="adj" fmla="val 5556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0972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353312"/>
            <a:ext cx="493776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specific word or phrase in Entry B makes it more trustworthy than Entry A?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someone disagree with Entry B's claim? What would they say?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piece of evidence in Entry B is strongest? Why that one over the other?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Entry A's author revised just ONE sentence, which should it be — and how would you rewrite it?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52160" y="1005840"/>
            <a:ext cx="2971800" cy="2468880"/>
          </a:xfrm>
          <a:prstGeom prst="roundRect">
            <a:avLst>
              <a:gd name="adj" fmla="val 5556"/>
            </a:avLst>
          </a:prstGeom>
          <a:solidFill>
            <a:srgbClr val="EDE8F8"/>
          </a:solidFill>
          <a:ln w="19050">
            <a:solidFill>
              <a:srgbClr val="8B6F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107899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YOUR ANSWER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35040" y="13898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just pick an entry.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35040" y="1874520"/>
            <a:ext cx="2606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Which part is stronger?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35040" y="2221992"/>
            <a:ext cx="2606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Why is it stronger?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35040" y="2569464"/>
            <a:ext cx="2606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evidence supports that?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2916936"/>
            <a:ext cx="2606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What would you change in the weaker one?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611880"/>
            <a:ext cx="8503920" cy="1280160"/>
          </a:xfrm>
          <a:prstGeom prst="roundRect">
            <a:avLst>
              <a:gd name="adj" fmla="val 8571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66674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3867912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"Entry B is stronger because... specifically the part where..."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would revise Entry A by... because that would make it..."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/>
          </a:solidFill>
          <a:ln w="12700">
            <a:solidFill>
              <a:srgbClr val="0E1C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6FC0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01168"/>
            <a:ext cx="2743200" cy="329184"/>
          </a:xfrm>
          <a:prstGeom prst="roundRect">
            <a:avLst>
              <a:gd name="adj" fmla="val 27778"/>
            </a:avLst>
          </a:prstGeom>
          <a:solidFill>
            <a:srgbClr val="8B6FC0">
              <a:alpha val="80000"/>
            </a:srgbClr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011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DISCOVERED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Wondering Makes the Entry MORE Trustworthy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3931920" cy="2176272"/>
          </a:xfrm>
          <a:prstGeom prst="roundRect">
            <a:avLst>
              <a:gd name="adj" fmla="val 6303"/>
            </a:avLst>
          </a:prstGeom>
          <a:solidFill>
            <a:srgbClr val="1A2D5A"/>
          </a:solidFill>
          <a:ln w="19050">
            <a:solidFill>
              <a:srgbClr val="8B6F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904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WONDERING IS...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801368"/>
            <a:ext cx="36576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question this source CANNOT answer alone.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names something that's missing — and that protects the reader from overconfidence.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"I'm still wondering who they were and how they were paid."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1417320"/>
            <a:ext cx="3931920" cy="2176272"/>
          </a:xfrm>
          <a:prstGeom prst="roundRect">
            <a:avLst>
              <a:gd name="adj" fmla="val 6303"/>
            </a:avLst>
          </a:prstGeom>
          <a:solidFill>
            <a:srgbClr val="1A2D5A"/>
          </a:solidFill>
          <a:ln w="19050">
            <a:solidFill>
              <a:srgbClr val="E863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4904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8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HONEST WONDERING...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1801368"/>
            <a:ext cx="36576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wonder if they were happy." (feeling guess)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wonder why it's old." (not a research question)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don't know anything." (giving up)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730752"/>
            <a:ext cx="8412480" cy="1170432"/>
          </a:xfrm>
          <a:prstGeom prst="roundRect">
            <a:avLst>
              <a:gd name="adj" fmla="val 9375"/>
            </a:avLst>
          </a:prstGeom>
          <a:solidFill>
            <a:srgbClr val="8B6FC0">
              <a:alpha val="80000"/>
            </a:srgbClr>
          </a:solidFill>
          <a:ln w="19050">
            <a:solidFill>
              <a:srgbClr val="8B6F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794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Transferable pattern: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059936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what you DON'T know protects the reader. Honest historians don't pretend to know the whole story — saying what's missing makes them more credible, not less.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943A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228600"/>
            <a:ext cx="2743200" cy="384048"/>
          </a:xfrm>
          <a:prstGeom prst="roundRect">
            <a:avLst>
              <a:gd name="adj" fmla="val 28571"/>
            </a:avLst>
          </a:prstGeom>
          <a:solidFill>
            <a:srgbClr val="D4943A">
              <a:alpha val="85000"/>
            </a:srgbClr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2286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VIRTUE SPOTLIGHT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Honesty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914400" y="1691640"/>
            <a:ext cx="7315200" cy="1170432"/>
          </a:xfrm>
          <a:prstGeom prst="roundRect">
            <a:avLst>
              <a:gd name="adj" fmla="val 11719"/>
            </a:avLst>
          </a:prstGeom>
          <a:solidFill>
            <a:srgbClr val="0E1C42"/>
          </a:solidFill>
          <a:ln w="19050">
            <a:solidFill>
              <a:srgbClr val="D49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69494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3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"Honest historians don't pretend to know the whole story — saying what's missing protects the reader."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2999232"/>
            <a:ext cx="7315200" cy="1444752"/>
          </a:xfrm>
          <a:prstGeom prst="roundRect">
            <a:avLst>
              <a:gd name="adj" fmla="val 9494"/>
            </a:avLst>
          </a:prstGeom>
          <a:solidFill>
            <a:srgbClr val="0E1C42">
              <a:alpha val="80000"/>
            </a:srgbClr>
          </a:solidFill>
          <a:ln w="12700">
            <a:solidFill>
              <a:srgbClr val="55C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07238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Honesty Shows Up in Your Notebook Entry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3364992"/>
            <a:ext cx="71323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honest wondering IS your honesty in action. When you write 'I'm still wondering...' you are telling your reader exactly what you DON'T know — and that protects them from believing more than the evidence supports. That's what honest historians do.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8A7D"/>
          </a:solidFill>
          <a:ln w="12700">
            <a:solidFill>
              <a:srgbClr val="1A8A7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01168"/>
            <a:ext cx="2560320" cy="329184"/>
          </a:xfrm>
          <a:prstGeom prst="roundRect">
            <a:avLst>
              <a:gd name="adj" fmla="val 27778"/>
            </a:avLst>
          </a:prstGeom>
          <a:solidFill>
            <a:srgbClr val="1A8A7D"/>
          </a:solidFill>
          <a:ln w="12700">
            <a:solidFill>
              <a:srgbClr val="1A8A7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0116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  1 of 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 Models a Complete Entry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— then tell me what decision I made as a historian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5577840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1A8A7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49047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ENTRY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1847088"/>
            <a:ext cx="960120" cy="320040"/>
          </a:xfrm>
          <a:prstGeom prst="roundRect">
            <a:avLst>
              <a:gd name="adj" fmla="val 22857"/>
            </a:avLst>
          </a:prstGeom>
          <a:solidFill>
            <a:srgbClr val="1A8A7D"/>
          </a:solidFill>
          <a:ln w="12700">
            <a:solidFill>
              <a:srgbClr val="1A8A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4708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54480" y="1847088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think the people in this Florida photograph worked hard at a difficult job."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807208"/>
            <a:ext cx="960120" cy="320040"/>
          </a:xfrm>
          <a:prstGeom prst="roundRect">
            <a:avLst>
              <a:gd name="adj" fmla="val 22857"/>
            </a:avLst>
          </a:prstGeom>
          <a:solidFill>
            <a:srgbClr val="D4943A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0720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554480" y="2807208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evidence shows their work clothes are well-worn and the tools they are carrying are heavy."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767328"/>
            <a:ext cx="960120" cy="320040"/>
          </a:xfrm>
          <a:prstGeom prst="roundRect">
            <a:avLst>
              <a:gd name="adj" fmla="val 22857"/>
            </a:avLst>
          </a:prstGeom>
          <a:solidFill>
            <a:srgbClr val="8B6FC0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76732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WONDERING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554480" y="3767328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"I'm still wondering who they were and how they were paid for this work."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1417320"/>
            <a:ext cx="2606040" cy="3429000"/>
          </a:xfrm>
          <a:prstGeom prst="roundRect">
            <a:avLst>
              <a:gd name="adj" fmla="val 5263"/>
            </a:avLst>
          </a:prstGeom>
          <a:solidFill>
            <a:srgbClr val="FFF3DC"/>
          </a:solidFill>
          <a:ln w="19050">
            <a:solidFill>
              <a:srgbClr val="D494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4904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THINK-ALOUD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63640" y="18288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can't say 'interesting' — I can't point to that."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257860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need TWO specific things I can see."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3328416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"My wondering has to be something the photo can't answer."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4078224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"Does this sound like a real historian's question?"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8A7D"/>
          </a:solidFill>
          <a:ln w="12700">
            <a:solidFill>
              <a:srgbClr val="1A8A7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01168"/>
            <a:ext cx="2560320" cy="329184"/>
          </a:xfrm>
          <a:prstGeom prst="roundRect">
            <a:avLst>
              <a:gd name="adj" fmla="val 27778"/>
            </a:avLst>
          </a:prstGeom>
          <a:solidFill>
            <a:srgbClr val="1A8A7D"/>
          </a:solidFill>
          <a:ln w="12700">
            <a:solidFill>
              <a:srgbClr val="1A8A7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0116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  2 of 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Investigate + Defend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choose the evidence — then defend your claim to the class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3474720" cy="3429000"/>
          </a:xfrm>
          <a:prstGeom prst="roundRect">
            <a:avLst>
              <a:gd name="adj" fmla="val 3200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36576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691640"/>
            <a:ext cx="320040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 primary source photograph — same image used throughout the lesson (citrus grove workers or railroad workers, early 1900s).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23360" y="1417320"/>
            <a:ext cx="4754880" cy="2176272"/>
          </a:xfrm>
          <a:prstGeom prst="roundRect">
            <a:avLst>
              <a:gd name="adj" fmla="val 6303"/>
            </a:avLst>
          </a:prstGeom>
          <a:solidFill>
            <a:srgbClr val="FFFFFF"/>
          </a:solidFill>
          <a:ln w="19050">
            <a:solidFill>
              <a:srgbClr val="1A8A7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60520" y="14904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60520" y="1810512"/>
            <a:ext cx="292608" cy="292608"/>
          </a:xfrm>
          <a:prstGeom prst="ellipse">
            <a:avLst/>
          </a:prstGeom>
          <a:solidFill>
            <a:srgbClr val="1A8A7D"/>
          </a:solidFill>
          <a:ln w="12700">
            <a:solidFill>
              <a:srgbClr val="1A8A7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60520" y="1810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26280" y="181051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photograph. Choose ONE claim you want to make.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60520" y="2404872"/>
            <a:ext cx="292608" cy="292608"/>
          </a:xfrm>
          <a:prstGeom prst="ellipse">
            <a:avLst/>
          </a:prstGeom>
          <a:solidFill>
            <a:srgbClr val="1A8A7D"/>
          </a:solidFill>
          <a:ln w="12700">
            <a:solidFill>
              <a:srgbClr val="1A8A7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60520" y="2404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26280" y="240487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TWO pieces of specific evidence from the photo that back it up.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60520" y="2999232"/>
            <a:ext cx="292608" cy="292608"/>
          </a:xfrm>
          <a:prstGeom prst="ellipse">
            <a:avLst/>
          </a:prstGeom>
          <a:solidFill>
            <a:srgbClr val="1A8A7D"/>
          </a:solidFill>
          <a:ln w="12700">
            <a:solidFill>
              <a:srgbClr val="1A8A7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2999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26280" y="299923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claim + evidence in chat — one sentence each.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023360" y="3730752"/>
            <a:ext cx="4754880" cy="1115568"/>
          </a:xfrm>
          <a:prstGeom prst="roundRect">
            <a:avLst>
              <a:gd name="adj" fmla="val 12295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206240" y="38221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206240" y="4078224"/>
            <a:ext cx="4389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claim did you choose, and why that one over others?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piece of evidence is stronger — and why is it stronger than the other?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someone who disagrees with your claim say? Is your evidence strong enough to answer them?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950208"/>
            <a:ext cx="3474720" cy="896112"/>
          </a:xfrm>
          <a:prstGeom prst="roundRect">
            <a:avLst>
              <a:gd name="adj" fmla="val 12245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0050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" y="4206240"/>
            <a:ext cx="3200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"My claim is... The evidence I chose is... because it shows..."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"Someone who disagrees might say... but my evidence answers that because..."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8A7D"/>
          </a:solidFill>
          <a:ln w="12700">
            <a:solidFill>
              <a:srgbClr val="1A8A7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01168"/>
            <a:ext cx="2560320" cy="329184"/>
          </a:xfrm>
          <a:prstGeom prst="roundRect">
            <a:avLst>
              <a:gd name="adj" fmla="val 27778"/>
            </a:avLst>
          </a:prstGeom>
          <a:solidFill>
            <a:srgbClr val="1A8A7D"/>
          </a:solidFill>
          <a:ln w="12700">
            <a:solidFill>
              <a:srgbClr val="1A8A7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0116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  3 of 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Critique a Sample Entry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what's weak — then suggest exactly how to strengthen it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5029200" cy="278892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25400">
            <a:solidFill>
              <a:srgbClr val="E8636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4904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SAMPLE ENTRY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801368"/>
            <a:ext cx="47548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3A2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think Florida is beautiful. The evidence is that there are orange trees and it looks sunny. I'm still wondering if they had fun."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2369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issue: 'Florida is beautiful' — can't be backed up with evidence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4930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issue: 'Orange trees and sunny' — not two distinct specific details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749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Wondering issue: 'If they had fun' — feeling-based, not a research question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77840" y="1417320"/>
            <a:ext cx="3200400" cy="2788920"/>
          </a:xfrm>
          <a:prstGeom prst="roundRect">
            <a:avLst>
              <a:gd name="adj" fmla="val 4918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60720" y="15087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760720" y="1764792"/>
            <a:ext cx="2834640" cy="2350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part of this entry has the weakest evidence? How do you know?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revise the claim to make it testable?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one real research question to replace the wondering?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your revisions, would this entry be strong enough? What's still missing?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160520"/>
            <a:ext cx="8503920" cy="804672"/>
          </a:xfrm>
          <a:prstGeom prst="roundRect">
            <a:avLst>
              <a:gd name="adj" fmla="val 13636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2153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4416552"/>
            <a:ext cx="8229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would revise the claim by... because that makes it testable"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stronger wondering would be... because it asks something the photo can't answer"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636B"/>
          </a:solidFill>
          <a:ln w="12700">
            <a:solidFill>
              <a:srgbClr val="E863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01168"/>
            <a:ext cx="2560320" cy="329184"/>
          </a:xfrm>
          <a:prstGeom prst="roundRect">
            <a:avLst>
              <a:gd name="adj" fmla="val 27778"/>
            </a:avLst>
          </a:prstGeom>
          <a:solidFill>
            <a:srgbClr val="E8636B"/>
          </a:solidFill>
          <a:ln w="12700">
            <a:solidFill>
              <a:srgbClr val="E863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0116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  4 of 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Tricky One: Same Photo, Different Conclusions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10789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6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students used the same photograph as evidence but reached different conclusions. Can they both be right?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536192"/>
            <a:ext cx="3749040" cy="1536192"/>
          </a:xfrm>
          <a:prstGeom prst="roundRect">
            <a:avLst>
              <a:gd name="adj" fmla="val 8929"/>
            </a:avLst>
          </a:prstGeom>
          <a:solidFill>
            <a:srgbClr val="D4F0EB"/>
          </a:solidFill>
          <a:ln w="19050">
            <a:solidFill>
              <a:srgbClr val="1A8A7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093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 says: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883664"/>
            <a:ext cx="34747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think these workers had strong community connections — the evidence shows they worked side by side in organized rows."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536192"/>
            <a:ext cx="3749040" cy="1536192"/>
          </a:xfrm>
          <a:prstGeom prst="roundRect">
            <a:avLst>
              <a:gd name="adj" fmla="val 8929"/>
            </a:avLst>
          </a:prstGeom>
          <a:solidFill>
            <a:srgbClr val="FFF3DC"/>
          </a:solidFill>
          <a:ln w="19050">
            <a:solidFill>
              <a:srgbClr val="D49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6093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B says: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0600" y="1883664"/>
            <a:ext cx="34747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think these workers faced hard physical conditions — the evidence shows their worn clothing and the weight of the tools."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218688"/>
            <a:ext cx="8503920" cy="1627632"/>
          </a:xfrm>
          <a:prstGeom prst="roundRect">
            <a:avLst>
              <a:gd name="adj" fmla="val 8427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31012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356616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Student A and Student B contradict each other — or can both claims be supported by the same evidence?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specific evidence in the photo supports EACH claim?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one claim more defensible than the other? What would make it so?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tell us about using photographs as historical evidence?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5C8E8"/>
          </a:solidFill>
          <a:ln w="12700">
            <a:solidFill>
              <a:srgbClr val="55C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Self-Check: Before You Write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760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— answer before I show the answer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8412480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9050">
            <a:solidFill>
              <a:srgbClr val="1A8A7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87552"/>
            <a:ext cx="475488" cy="1188720"/>
          </a:xfrm>
          <a:prstGeom prst="roundRect">
            <a:avLst>
              <a:gd name="adj" fmla="val 19231"/>
            </a:avLst>
          </a:prstGeom>
          <a:solidFill>
            <a:srgbClr val="1A8A7D"/>
          </a:solidFill>
          <a:ln w="12700">
            <a:solidFill>
              <a:srgbClr val="1A8A7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87552"/>
            <a:ext cx="4754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107899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THREE parts of a Historian's Notebook entry?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490472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Claim, Evidence (at least 2 specific details), and Honest Wondering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313432"/>
            <a:ext cx="8412480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9050">
            <a:solidFill>
              <a:srgbClr val="D4943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313432"/>
            <a:ext cx="475488" cy="1188720"/>
          </a:xfrm>
          <a:prstGeom prst="roundRect">
            <a:avLst>
              <a:gd name="adj" fmla="val 19231"/>
            </a:avLst>
          </a:prstGeom>
          <a:solidFill>
            <a:srgbClr val="D4943A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13432"/>
            <a:ext cx="4754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24048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difference between a claim and a guess?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816352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claim starts with 'I think...' and can be backed up with specific, visible evidence from the source.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639312"/>
            <a:ext cx="8412480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9050">
            <a:solidFill>
              <a:srgbClr val="8B6F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639312"/>
            <a:ext cx="475488" cy="1188720"/>
          </a:xfrm>
          <a:prstGeom prst="roundRect">
            <a:avLst>
              <a:gd name="adj" fmla="val 19231"/>
            </a:avLst>
          </a:prstGeom>
          <a:solidFill>
            <a:srgbClr val="8B6FC0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639312"/>
            <a:ext cx="4754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" y="373075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naming what you DON'T know make your entry MORE trustworthy?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4142232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shows honest historians don't pretend to know everything — naming what's missing protects the reader.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943A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Assignment: First Notebook Entry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SS.4.A.1.1  |  SS.4.A.1.2  |  SS.4.A.9.1  —  Use the Florida history photograph from Tab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932688"/>
          </a:xfrm>
          <a:prstGeom prst="roundRect">
            <a:avLst>
              <a:gd name="adj" fmla="val 12745"/>
            </a:avLst>
          </a:prstGeom>
          <a:solidFill>
            <a:srgbClr val="FFFFFF"/>
          </a:solidFill>
          <a:ln w="19050">
            <a:solidFill>
              <a:srgbClr val="1A8A7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621792" cy="932688"/>
          </a:xfrm>
          <a:prstGeom prst="roundRect">
            <a:avLst>
              <a:gd name="adj" fmla="val 14706"/>
            </a:avLst>
          </a:prstGeom>
          <a:solidFill>
            <a:srgbClr val="1A8A7D"/>
          </a:solidFill>
          <a:ln w="12700">
            <a:solidFill>
              <a:srgbClr val="1A8A7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60120"/>
            <a:ext cx="621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8992" y="1033272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Florida photograph in Tab 2. Name three specific things you can see in it — people, objects, clothing, setting. Just observe — don't guess yet. Write what's actually in the picture.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1984248"/>
            <a:ext cx="8412480" cy="932688"/>
          </a:xfrm>
          <a:prstGeom prst="roundRect">
            <a:avLst>
              <a:gd name="adj" fmla="val 12745"/>
            </a:avLst>
          </a:prstGeom>
          <a:solidFill>
            <a:srgbClr val="FFFFFF"/>
          </a:solidFill>
          <a:ln w="19050">
            <a:solidFill>
              <a:srgbClr val="D4943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984248"/>
            <a:ext cx="621792" cy="932688"/>
          </a:xfrm>
          <a:prstGeom prst="roundRect">
            <a:avLst>
              <a:gd name="adj" fmla="val 14706"/>
            </a:avLst>
          </a:prstGeom>
          <a:solidFill>
            <a:srgbClr val="D4943A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984248"/>
            <a:ext cx="621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78992" y="205740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what you observed, what's one claim you can make about Florida history from this source? Start with 'I think…' — one clear sentence.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008376"/>
            <a:ext cx="8412480" cy="932688"/>
          </a:xfrm>
          <a:prstGeom prst="roundRect">
            <a:avLst>
              <a:gd name="adj" fmla="val 12745"/>
            </a:avLst>
          </a:prstGeom>
          <a:solidFill>
            <a:srgbClr val="FFFFFF"/>
          </a:solidFill>
          <a:ln w="19050">
            <a:solidFill>
              <a:srgbClr val="8B6F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008376"/>
            <a:ext cx="621792" cy="932688"/>
          </a:xfrm>
          <a:prstGeom prst="roundRect">
            <a:avLst>
              <a:gd name="adj" fmla="val 14706"/>
            </a:avLst>
          </a:prstGeom>
          <a:solidFill>
            <a:srgbClr val="8B6FC0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008376"/>
            <a:ext cx="621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78992" y="3081528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honest thing you're still wondering about this source. What can the photo not tell you on its own? Honest historians don't pretend to know everything — they name what's missing.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4041648"/>
            <a:ext cx="8412480" cy="969264"/>
          </a:xfrm>
          <a:prstGeom prst="roundRect">
            <a:avLst>
              <a:gd name="adj" fmla="val 12264"/>
            </a:avLst>
          </a:prstGeom>
          <a:solidFill>
            <a:srgbClr val="0E1C42"/>
          </a:solidFill>
          <a:ln w="25400">
            <a:solidFill>
              <a:srgbClr val="D494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114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CHALLENGE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437083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3-5 sentences: One claim ('I think... The source helps me understand...') + at least two pieces of evidence ('The evidence shows... I can see...') + one honest wondering ('I'm still wondering...')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D4943A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834640" y="457200"/>
            <a:ext cx="3474720" cy="475488"/>
          </a:xfrm>
          <a:prstGeom prst="roundRect">
            <a:avLst>
              <a:gd name="adj" fmla="val 28846"/>
            </a:avLst>
          </a:prstGeom>
          <a:solidFill>
            <a:srgbClr val="34B76F">
              <a:alpha val="90000"/>
            </a:srgbClr>
          </a:solidFill>
          <a:ln w="19050">
            <a:solidFill>
              <a:srgbClr val="34B76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834640" y="45720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COMPLETE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1115568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Historian's Notebook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Now Open.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914400" y="2542032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built every skill in Unit 1 — tools, sources, timelines, vocabulary — and today you used them all in one honest entry.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371600" y="3337560"/>
            <a:ext cx="6400800" cy="1280160"/>
          </a:xfrm>
          <a:prstGeom prst="roundRect">
            <a:avLst>
              <a:gd name="adj" fmla="val 12857"/>
            </a:avLst>
          </a:prstGeom>
          <a:solidFill>
            <a:srgbClr val="0E1C42">
              <a:alpha val="75000"/>
            </a:srgbClr>
          </a:solidFill>
          <a:ln w="19050">
            <a:solidFill>
              <a:srgbClr val="55C8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54480" y="341071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in Unit 2...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554480" y="3703320"/>
            <a:ext cx="6035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Florida's First Peoples — the people who were here long before the photograph was taken. Your notebook is ready. So is the next locked file.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2026-07-13T20:15:22Z</dcterms:created>
  <dcterms:modified xsi:type="dcterms:W3CDTF">2026-07-13T20:15:22Z</dcterms:modified>
</cp:coreProperties>
</file>