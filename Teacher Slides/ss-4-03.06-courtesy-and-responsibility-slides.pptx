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historian's open notebook with careful handwritten notes — real names, specific details, crossed-out flat words. Gold pen visible. No faces.IMAGE TO INSERT: A historian's open notebook with careful handwritten notes — real names, specific details, crossed-out flat words. Gold pen visible. No faces.
Welcome students to the closing mission of Unit 3. Today they prove they know how to study cultures with courtesy, responsibility, and truthfulness — the hardest mission of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Digital archive screen showing a locked file folder with 'First Floridians' label and a key icon. Dark blue, glowing gold outlines.Set up the closing mission. Six files in Unit 3 — this is the last and most important. Not what we know, but how we tell it. That's the habit that makes a historian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10 seconds of silent reading. Then ask: which specific words or details are in the careful sentence but missing from the careless one? Push them to name specifics before generalizing.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move: 'simple' is not neutral. It carries an implicit judgment. Students should articulate this without being told. If they miss it, ask: 'Would you describe your own life as simple?'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evaluation for writing: the careless sentence is a source itself — it tells us about the writer's perspective and assumptions, not just about the Calusa. Ask: what does this sentence tell us about the person who wrote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Abstract image of a carefully written notebook entry with specific words circled in gold: 'Calusa,' 'shell islands,' 'dugout canoe.' Dark navy background.Concept reveal. Pause after the title. Then read the definition. The retrieval challenge: cover screens, name all four habits from memory. If students can't, that tells you what needs reinforcement.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Multi-source compare. Ask: which habits from the lesson are demonstrated in Source B? Go through each one: real name? Yes — Calusa. Specific group? Yes. Specific choice? Yes — built towns, canoe. Then ask: why does Source A fail by its own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Four index cards arranged on a dark desk, each with a different habit written in gold ink. Historian's tools — compass, quill, seal — visible nearby.Walk through each habit. For each, ask: where did we see this (or its absence) in the two sentences? Connect each habit to evidence from the lesson. The Seminole and Miccosukee habits often surprise students — spend extra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aloud each step explicitly. Name the move as you make it. Students should see the formula: Real name &gt; specific place &gt; specific choice &gt; remove flattening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share their revision. After each one, ask: which habit did you use? What's the specific word that proves it? Then plant a counterargument and ask students to respond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revision failed: 'Native Americans' is still lumping groups (Habit 2), 'lived in Florida and did things' has no specific place, choice, or detail. Students should identify at least 2 habits that are still broken.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can legitimately remember different things — the Calusa's sea-based life, the year-wheel, the four habits, the Seminole Tribe today. What makes an answer strong is specific evidence from the lesson. Celebrate different but evidence-based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Image of two open books side by side — one with careless generic text, one with careful specific text and real names visible. No faces. Gold and navy.Virtue spotlight. The 'still here today' section is important — many students will be surprised that Native nations exist as governments today. Give this a moment. Ask: does knowing that the descendants are still here change how you'd want to write about their ancestors?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Students practiced Q1 on slides 8-9, Q2 on slide 13, Q3 on slide 12. Walk through the Unlock Challenge: the original careless sentence from the Source Study. Walk through how to revise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before Canvas assignment. Read questions aloud, then reveal answers. For the last question — push students to think about how it connects to what a reader learns from what historians 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sealed archive folder with a gold lock icon and 'FIRST FLORIDIANS — UNIT COMPLETE' label. Blue digital glow, dark background, celebratory feel.Unit closing beat. Celebrate all six files locked. Name what students accomplished: they mapped Florida's first peoples, compared two nations, cataloged tools, read an artifact, followed a year, and now proved they know how to write about real people with courtesy. Tease Unit 4: wooden ships, iron tools, a language that didn't belong to this land.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0" y="3291840"/>
            <a:ext cx="9144000" cy="1188720"/>
          </a:xfrm>
          <a:prstGeom prst="rect">
            <a:avLst/>
          </a:prstGeom>
          <a:solidFill>
            <a:srgbClr val="D4943A">
              <a:alpha val="85000"/>
            </a:srgbClr>
          </a:solidFill>
          <a:ln/>
        </p:spPr>
      </p:sp>
      <p:sp>
        <p:nvSpPr>
          <p:cNvPr id="6" name="Text 3"/>
          <p:cNvSpPr/>
          <p:nvPr/>
        </p:nvSpPr>
        <p:spPr>
          <a:xfrm>
            <a:off x="457200" y="365760"/>
            <a:ext cx="8229600" cy="365760"/>
          </a:xfrm>
          <a:prstGeom prst="rect">
            <a:avLst/>
          </a:prstGeom>
          <a:noFill/>
          <a:ln/>
        </p:spPr>
        <p:txBody>
          <a:bodyPr wrap="square" rtlCol="0" anchor="ctr"/>
          <a:lstStyle/>
          <a:p>
            <a:pPr algn="ctr" indent="0" marL="0">
              <a:buNone/>
            </a:pPr>
            <a:r>
              <a:rPr lang="en-US" sz="1300" b="1" spc="200" kern="0" dirty="0">
                <a:solidFill>
                  <a:srgbClr val="55C8E8"/>
                </a:solidFill>
                <a:latin typeface="Calibri" pitchFamily="34" charset="0"/>
                <a:ea typeface="Calibri" pitchFamily="34" charset="-122"/>
                <a:cs typeface="Calibri" pitchFamily="34" charset="-120"/>
              </a:rPr>
              <a:t>FLORIDA FILES: ESCAPE FROM CANVAS</a:t>
            </a:r>
            <a:endParaRPr lang="en-US" sz="1300" dirty="0"/>
          </a:p>
        </p:txBody>
      </p:sp>
      <p:sp>
        <p:nvSpPr>
          <p:cNvPr id="7" name="Text 4"/>
          <p:cNvSpPr/>
          <p:nvPr/>
        </p:nvSpPr>
        <p:spPr>
          <a:xfrm>
            <a:off x="457200" y="749808"/>
            <a:ext cx="8229600" cy="274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File 4 of 13  ·  Unit 3: First Floridians  ·  Unit Closing Mission</a:t>
            </a:r>
            <a:endParaRPr lang="en-US" sz="1100" dirty="0"/>
          </a:p>
        </p:txBody>
      </p:sp>
      <p:sp>
        <p:nvSpPr>
          <p:cNvPr id="8" name="Text 5"/>
          <p:cNvSpPr/>
          <p:nvPr/>
        </p:nvSpPr>
        <p:spPr>
          <a:xfrm>
            <a:off x="457200" y="1188720"/>
            <a:ext cx="8229600" cy="91440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Courtesy and Responsibility</a:t>
            </a:r>
            <a:endParaRPr lang="en-US" sz="3400" dirty="0"/>
          </a:p>
          <a:p>
            <a:pPr algn="ctr" indent="0" marL="0">
              <a:buNone/>
            </a:pPr>
            <a:r>
              <a:rPr lang="en-US" sz="3400" b="1" dirty="0">
                <a:solidFill>
                  <a:srgbClr val="FFFFFF"/>
                </a:solidFill>
                <a:latin typeface="Cambria" pitchFamily="34" charset="0"/>
                <a:ea typeface="Cambria" pitchFamily="34" charset="-122"/>
                <a:cs typeface="Cambria" pitchFamily="34" charset="-120"/>
              </a:rPr>
              <a:t>in Studying Cultures</a:t>
            </a:r>
            <a:endParaRPr lang="en-US" sz="3400" dirty="0"/>
          </a:p>
        </p:txBody>
      </p:sp>
      <p:sp>
        <p:nvSpPr>
          <p:cNvPr id="9" name="Text 6"/>
          <p:cNvSpPr/>
          <p:nvPr/>
        </p:nvSpPr>
        <p:spPr>
          <a:xfrm>
            <a:off x="457200" y="2148840"/>
            <a:ext cx="8229600" cy="320040"/>
          </a:xfrm>
          <a:prstGeom prst="rect">
            <a:avLst/>
          </a:prstGeom>
          <a:noFill/>
          <a:ln/>
        </p:spPr>
        <p:txBody>
          <a:bodyPr wrap="square" rtlCol="0" anchor="ctr"/>
          <a:lstStyle/>
          <a:p>
            <a:pPr algn="ctr" indent="0" marL="0">
              <a:buNone/>
            </a:pPr>
            <a:r>
              <a:rPr lang="en-US" sz="1400" b="1" dirty="0">
                <a:solidFill>
                  <a:srgbClr val="D4943A"/>
                </a:solidFill>
                <a:latin typeface="Calibri" pitchFamily="34" charset="0"/>
                <a:ea typeface="Calibri" pitchFamily="34" charset="-122"/>
                <a:cs typeface="Calibri" pitchFamily="34" charset="-120"/>
              </a:rPr>
              <a:t>Lesson 4.03.06</a:t>
            </a:r>
            <a:endParaRPr lang="en-US" sz="1400" dirty="0"/>
          </a:p>
        </p:txBody>
      </p:sp>
      <p:sp>
        <p:nvSpPr>
          <p:cNvPr id="10" name="Text 7"/>
          <p:cNvSpPr/>
          <p:nvPr/>
        </p:nvSpPr>
        <p:spPr>
          <a:xfrm>
            <a:off x="914400" y="3337560"/>
            <a:ext cx="7315200" cy="502920"/>
          </a:xfrm>
          <a:prstGeom prst="rect">
            <a:avLst/>
          </a:prstGeom>
          <a:noFill/>
          <a:ln/>
        </p:spPr>
        <p:txBody>
          <a:bodyPr wrap="square" rtlCol="0" anchor="ctr"/>
          <a:lstStyle/>
          <a:p>
            <a:pPr algn="ctr" indent="0" marL="0">
              <a:buNone/>
            </a:pPr>
            <a:r>
              <a:rPr lang="en-US" sz="1400" i="1" dirty="0">
                <a:solidFill>
                  <a:srgbClr val="FFFFFF"/>
                </a:solidFill>
                <a:latin typeface="Cambria" pitchFamily="34" charset="0"/>
                <a:ea typeface="Cambria" pitchFamily="34" charset="-122"/>
                <a:cs typeface="Cambria" pitchFamily="34" charset="-120"/>
              </a:rPr>
              <a:t>How do we study and write about Florida's first peoples — and their descendants today — with courtesy and responsibility?</a:t>
            </a:r>
            <a:endParaRPr lang="en-US" sz="1400" dirty="0"/>
          </a:p>
        </p:txBody>
      </p:sp>
      <p:sp>
        <p:nvSpPr>
          <p:cNvPr id="11" name="Text 8"/>
          <p:cNvSpPr/>
          <p:nvPr/>
        </p:nvSpPr>
        <p:spPr>
          <a:xfrm>
            <a:off x="457200" y="4709160"/>
            <a:ext cx="8229600" cy="256032"/>
          </a:xfrm>
          <a:prstGeom prst="rect">
            <a:avLst/>
          </a:prstGeom>
          <a:noFill/>
          <a:ln/>
        </p:spPr>
        <p:txBody>
          <a:bodyPr wrap="square" rtlCol="0" anchor="ctr"/>
          <a:lstStyle/>
          <a:p>
            <a:pPr algn="ctr" indent="0" marL="0">
              <a:buNone/>
            </a:pPr>
            <a:r>
              <a:rPr lang="en-US" sz="900" dirty="0">
                <a:solidFill>
                  <a:srgbClr val="7A88A8"/>
                </a:solidFill>
                <a:latin typeface="Calibri" pitchFamily="34" charset="0"/>
                <a:ea typeface="Calibri" pitchFamily="34" charset="-122"/>
                <a:cs typeface="Calibri" pitchFamily="34" charset="-120"/>
              </a:rPr>
              <a:t>SS.4.A.2.1  ·  SS.4.A.1.1  ·  SS.4.G.1.1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320040"/>
            <a:ext cx="8229600" cy="457200"/>
          </a:xfrm>
          <a:prstGeom prst="roundRect">
            <a:avLst>
              <a:gd name="adj" fmla="val 20000"/>
            </a:avLst>
          </a:prstGeom>
          <a:solidFill>
            <a:srgbClr val="55C8E8">
              <a:alpha val="80000"/>
            </a:srgbClr>
          </a:solidFill>
          <a:ln/>
        </p:spPr>
      </p:sp>
      <p:sp>
        <p:nvSpPr>
          <p:cNvPr id="6" name="Text 3"/>
          <p:cNvSpPr/>
          <p:nvPr/>
        </p:nvSpPr>
        <p:spPr>
          <a:xfrm>
            <a:off x="457200" y="320040"/>
            <a:ext cx="8229600" cy="457200"/>
          </a:xfrm>
          <a:prstGeom prst="rect">
            <a:avLst/>
          </a:prstGeom>
          <a:noFill/>
          <a:ln/>
        </p:spPr>
        <p:txBody>
          <a:bodyPr wrap="square" rtlCol="0" anchor="ctr"/>
          <a:lstStyle/>
          <a:p>
            <a:pPr algn="ctr" indent="0" marL="0">
              <a:buNone/>
            </a:pPr>
            <a:r>
              <a:rPr lang="en-US" sz="1600" b="1" spc="200" kern="0" dirty="0">
                <a:solidFill>
                  <a:srgbClr val="FFFFFF"/>
                </a:solidFill>
                <a:latin typeface="Calibri" pitchFamily="34" charset="0"/>
                <a:ea typeface="Calibri" pitchFamily="34" charset="-122"/>
                <a:cs typeface="Calibri" pitchFamily="34" charset="-120"/>
              </a:rPr>
              <a:t>FINAL FILE — UNIT CLOSING MISSION</a:t>
            </a:r>
            <a:endParaRPr lang="en-US" sz="1600" dirty="0"/>
          </a:p>
        </p:txBody>
      </p:sp>
      <p:sp>
        <p:nvSpPr>
          <p:cNvPr id="7" name="Text 4"/>
          <p:cNvSpPr/>
          <p:nvPr/>
        </p:nvSpPr>
        <p:spPr>
          <a:xfrm>
            <a:off x="457200" y="932688"/>
            <a:ext cx="8229600" cy="256032"/>
          </a:xfrm>
          <a:prstGeom prst="rect">
            <a:avLst/>
          </a:prstGeom>
          <a:noFill/>
          <a:ln/>
        </p:spPr>
        <p:txBody>
          <a:bodyPr wrap="square"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MESSAGE FROM MS. RIVERA</a:t>
            </a:r>
            <a:endParaRPr lang="en-US" sz="1000" dirty="0"/>
          </a:p>
        </p:txBody>
      </p:sp>
      <p:sp>
        <p:nvSpPr>
          <p:cNvPr id="8" name="Text 5"/>
          <p:cNvSpPr/>
          <p:nvPr/>
        </p:nvSpPr>
        <p:spPr>
          <a:xfrm>
            <a:off x="731520" y="1234440"/>
            <a:ext cx="7680960" cy="1417320"/>
          </a:xfrm>
          <a:prstGeom prst="rect">
            <a:avLst/>
          </a:prstGeom>
          <a:noFill/>
          <a:ln/>
        </p:spPr>
        <p:txBody>
          <a:bodyPr wrap="square" rtlCol="0" anchor="t"/>
          <a:lstStyle/>
          <a:p>
            <a:pPr indent="0" marL="0">
              <a:buNone/>
            </a:pPr>
            <a:r>
              <a:rPr lang="en-US" sz="1300" i="1" dirty="0">
                <a:solidFill>
                  <a:srgbClr val="FFFFFF"/>
                </a:solidFill>
                <a:latin typeface="Cambria" pitchFamily="34" charset="0"/>
                <a:ea typeface="Cambria" pitchFamily="34" charset="-122"/>
                <a:cs typeface="Cambria" pitchFamily="34" charset="-120"/>
              </a:rPr>
              <a:t>"Canvas won't let me close this file until your team shows that you can study cultures with courtesy, responsibility, and truthfulness. Before the First Floridians file can be sealed, I need you to prove that a careful Florida historian uses respectful language — real names, specific groups, and honest evidence. Help me unlock this last piece so we can finish the unit together."</a:t>
            </a:r>
            <a:endParaRPr lang="en-US" sz="1300" dirty="0"/>
          </a:p>
        </p:txBody>
      </p:sp>
      <p:sp>
        <p:nvSpPr>
          <p:cNvPr id="9" name="Shape 6"/>
          <p:cNvSpPr/>
          <p:nvPr/>
        </p:nvSpPr>
        <p:spPr>
          <a:xfrm>
            <a:off x="457200" y="2761488"/>
            <a:ext cx="8229600" cy="27432"/>
          </a:xfrm>
          <a:prstGeom prst="rect">
            <a:avLst/>
          </a:prstGeom>
          <a:solidFill>
            <a:srgbClr val="D4943A"/>
          </a:solidFill>
          <a:ln/>
        </p:spPr>
      </p:sp>
      <p:sp>
        <p:nvSpPr>
          <p:cNvPr id="10" name="Text 7"/>
          <p:cNvSpPr/>
          <p:nvPr/>
        </p:nvSpPr>
        <p:spPr>
          <a:xfrm>
            <a:off x="457200" y="2852928"/>
            <a:ext cx="8229600" cy="256032"/>
          </a:xfrm>
          <a:prstGeom prst="rect">
            <a:avLst/>
          </a:prstGeom>
          <a:noFill/>
          <a:ln/>
        </p:spPr>
        <p:txBody>
          <a:bodyPr wrap="square" rtlCol="0" anchor="ctr"/>
          <a:lstStyle/>
          <a:p>
            <a:pPr algn="ctr" indent="0" marL="0">
              <a:buNone/>
            </a:pPr>
            <a:r>
              <a:rPr lang="en-US" sz="1000" b="1" spc="150" kern="0" dirty="0">
                <a:solidFill>
                  <a:srgbClr val="55C8E8"/>
                </a:solidFill>
                <a:latin typeface="Calibri" pitchFamily="34" charset="0"/>
                <a:ea typeface="Calibri" pitchFamily="34" charset="-122"/>
                <a:cs typeface="Calibri" pitchFamily="34" charset="-120"/>
              </a:rPr>
              <a:t>TODAY'S MISSION</a:t>
            </a:r>
            <a:endParaRPr lang="en-US" sz="1000" dirty="0"/>
          </a:p>
        </p:txBody>
      </p:sp>
      <p:sp>
        <p:nvSpPr>
          <p:cNvPr id="11" name="Text 8"/>
          <p:cNvSpPr/>
          <p:nvPr/>
        </p:nvSpPr>
        <p:spPr>
          <a:xfrm>
            <a:off x="731520" y="3182112"/>
            <a:ext cx="7680960" cy="822960"/>
          </a:xfrm>
          <a:prstGeom prst="rect">
            <a:avLst/>
          </a:prstGeom>
          <a:noFill/>
          <a:ln/>
        </p:spPr>
        <p:txBody>
          <a:bodyPr wrap="square" rtlCol="0" anchor="ctr"/>
          <a:lstStyle/>
          <a:p>
            <a:pPr algn="ctr" indent="0" marL="0">
              <a:buNone/>
            </a:pPr>
            <a:r>
              <a:rPr lang="en-US" sz="1400" dirty="0">
                <a:solidFill>
                  <a:srgbClr val="F0F2F8"/>
                </a:solidFill>
                <a:latin typeface="Calibri" pitchFamily="34" charset="0"/>
                <a:ea typeface="Calibri" pitchFamily="34" charset="-122"/>
                <a:cs typeface="Calibri" pitchFamily="34" charset="-120"/>
              </a:rPr>
              <a:t>Study two ways of telling the same story — then name the four habits of a courteous historian-citizen and prove you can use them to revise a careless sentence into a careful one.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09728"/>
            <a:ext cx="2743200" cy="2560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CLUE BOX</a:t>
            </a:r>
            <a:endParaRPr lang="en-US" sz="900" dirty="0"/>
          </a:p>
        </p:txBody>
      </p:sp>
      <p:sp>
        <p:nvSpPr>
          <p:cNvPr id="4" name="Text 2"/>
          <p:cNvSpPr/>
          <p:nvPr/>
        </p:nvSpPr>
        <p:spPr>
          <a:xfrm>
            <a:off x="365760" y="365760"/>
            <a:ext cx="822960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Two Sentences — Same People, Different Care</a:t>
            </a:r>
            <a:endParaRPr lang="en-US" sz="2200" dirty="0"/>
          </a:p>
        </p:txBody>
      </p:sp>
      <p:sp>
        <p:nvSpPr>
          <p:cNvPr id="5" name="Shape 3"/>
          <p:cNvSpPr/>
          <p:nvPr/>
        </p:nvSpPr>
        <p:spPr>
          <a:xfrm>
            <a:off x="365760" y="932688"/>
            <a:ext cx="8412480" cy="2194560"/>
          </a:xfrm>
          <a:prstGeom prst="roundRect">
            <a:avLst>
              <a:gd name="adj" fmla="val 5000"/>
            </a:avLst>
          </a:prstGeom>
          <a:solidFill>
            <a:srgbClr val="E2E8F4"/>
          </a:solidFill>
          <a:ln w="19050">
            <a:solidFill>
              <a:srgbClr val="B0B8CC"/>
            </a:solidFill>
            <a:prstDash val="dash"/>
          </a:ln>
        </p:spPr>
      </p:sp>
      <p:sp>
        <p:nvSpPr>
          <p:cNvPr id="6" name="Text 4"/>
          <p:cNvSpPr/>
          <p:nvPr/>
        </p:nvSpPr>
        <p:spPr>
          <a:xfrm>
            <a:off x="365760" y="932688"/>
            <a:ext cx="8412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207008"/>
            <a:ext cx="8138160" cy="18288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Side-by-side text comparison image: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LEFT (red border): 'Florida's Indians lived simple lives in the swamps.'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RIGHT (green border): 'The Calusa built towns on shell islands along Florida's southwest coast and traveled the mangroves by dugout canoe.'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Plain serif type, no decoration.</a:t>
            </a:r>
            <a:endParaRPr lang="en-US" sz="1100" dirty="0"/>
          </a:p>
        </p:txBody>
      </p:sp>
      <p:sp>
        <p:nvSpPr>
          <p:cNvPr id="8" name="Shape 6"/>
          <p:cNvSpPr/>
          <p:nvPr/>
        </p:nvSpPr>
        <p:spPr>
          <a:xfrm>
            <a:off x="365760" y="3246120"/>
            <a:ext cx="8412480" cy="658368"/>
          </a:xfrm>
          <a:prstGeom prst="roundRect">
            <a:avLst>
              <a:gd name="adj" fmla="val 13889"/>
            </a:avLst>
          </a:prstGeom>
          <a:solidFill>
            <a:srgbClr val="FFFFFF"/>
          </a:solidFill>
          <a:ln w="12700">
            <a:solidFill>
              <a:srgbClr val="B0B8CC"/>
            </a:solidFill>
            <a:prstDash val="solid"/>
          </a:ln>
        </p:spPr>
      </p:sp>
      <p:sp>
        <p:nvSpPr>
          <p:cNvPr id="9" name="Text 7"/>
          <p:cNvSpPr/>
          <p:nvPr/>
        </p:nvSpPr>
        <p:spPr>
          <a:xfrm>
            <a:off x="548640" y="3319272"/>
            <a:ext cx="8046720" cy="502920"/>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OBSERVE: Read both sentences. Underline — in your head — every word in the careful sentence that the careless sentence is missing. What specific things are different?</a:t>
            </a:r>
            <a:endParaRPr lang="en-US" sz="1200" dirty="0"/>
          </a:p>
        </p:txBody>
      </p:sp>
      <p:sp>
        <p:nvSpPr>
          <p:cNvPr id="10" name="Shape 8"/>
          <p:cNvSpPr/>
          <p:nvPr/>
        </p:nvSpPr>
        <p:spPr>
          <a:xfrm>
            <a:off x="365760" y="4005072"/>
            <a:ext cx="8412480" cy="914400"/>
          </a:xfrm>
          <a:prstGeom prst="roundRect">
            <a:avLst>
              <a:gd name="adj" fmla="val 12000"/>
            </a:avLst>
          </a:prstGeom>
          <a:solidFill>
            <a:srgbClr val="FFF3DC"/>
          </a:solidFill>
          <a:ln w="19050">
            <a:solidFill>
              <a:srgbClr val="F5E6C8"/>
            </a:solidFill>
            <a:prstDash val="solid"/>
          </a:ln>
        </p:spPr>
      </p:sp>
      <p:sp>
        <p:nvSpPr>
          <p:cNvPr id="11" name="Text 9"/>
          <p:cNvSpPr/>
          <p:nvPr/>
        </p:nvSpPr>
        <p:spPr>
          <a:xfrm>
            <a:off x="502920" y="4059936"/>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02920" y="4261104"/>
            <a:ext cx="813816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careful sentence has ___ that the careless one doesn't — specifically..."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biggest difference is ___ because it changes what a reader would picture..."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82880"/>
            <a:ext cx="8229600" cy="59436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does the careless sentence get WRONG — and why does it matter?</a:t>
            </a:r>
            <a:endParaRPr lang="en-US" sz="2400" dirty="0"/>
          </a:p>
        </p:txBody>
      </p:sp>
      <p:sp>
        <p:nvSpPr>
          <p:cNvPr id="4" name="Shape 2"/>
          <p:cNvSpPr/>
          <p:nvPr/>
        </p:nvSpPr>
        <p:spPr>
          <a:xfrm>
            <a:off x="365760" y="914400"/>
            <a:ext cx="5120640" cy="2377440"/>
          </a:xfrm>
          <a:prstGeom prst="roundRect">
            <a:avLst>
              <a:gd name="adj" fmla="val 5769"/>
            </a:avLst>
          </a:prstGeom>
          <a:solidFill>
            <a:srgbClr val="1A2D5A"/>
          </a:solidFill>
          <a:ln/>
          <a:effectLst>
            <a:outerShdw sx="100000" sy="100000" kx="0" ky="0" algn="bl" rotWithShape="0" blurRad="101600" dist="38100" dir="8100000">
              <a:srgbClr val="000000">
                <a:alpha val="20000"/>
              </a:srgbClr>
            </a:outerShdw>
          </a:effectLst>
        </p:spPr>
      </p:sp>
      <p:sp>
        <p:nvSpPr>
          <p:cNvPr id="5" name="Text 3"/>
          <p:cNvSpPr/>
          <p:nvPr/>
        </p:nvSpPr>
        <p:spPr>
          <a:xfrm>
            <a:off x="548640" y="1005840"/>
            <a:ext cx="47548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6" name="Text 4"/>
          <p:cNvSpPr/>
          <p:nvPr/>
        </p:nvSpPr>
        <p:spPr>
          <a:xfrm>
            <a:off x="548640" y="1261872"/>
            <a:ext cx="4754880" cy="19385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Both sentences describe the same people. Which leaves the more accurate picture in a reader's mind — and how do you know?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careless sentence uses the word 'simple.' Is that neutral or loaded? What does it imply about the Calusa?</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defend the careless sentence? Try — and then explain why the defense fails.</a:t>
            </a:r>
            <a:endParaRPr lang="en-US" sz="1100" dirty="0"/>
          </a:p>
        </p:txBody>
      </p:sp>
      <p:sp>
        <p:nvSpPr>
          <p:cNvPr id="7" name="Shape 5"/>
          <p:cNvSpPr/>
          <p:nvPr/>
        </p:nvSpPr>
        <p:spPr>
          <a:xfrm>
            <a:off x="5669280" y="914400"/>
            <a:ext cx="3200400" cy="2377440"/>
          </a:xfrm>
          <a:prstGeom prst="roundRect">
            <a:avLst>
              <a:gd name="adj" fmla="val 4615"/>
            </a:avLst>
          </a:prstGeom>
          <a:solidFill>
            <a:srgbClr val="FFF3DC"/>
          </a:solidFill>
          <a:ln w="19050">
            <a:solidFill>
              <a:srgbClr val="F5E6C8"/>
            </a:solidFill>
            <a:prstDash val="solid"/>
          </a:ln>
        </p:spPr>
      </p:sp>
      <p:sp>
        <p:nvSpPr>
          <p:cNvPr id="8" name="Text 6"/>
          <p:cNvSpPr/>
          <p:nvPr/>
        </p:nvSpPr>
        <p:spPr>
          <a:xfrm>
            <a:off x="5806440" y="969264"/>
            <a:ext cx="29260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9" name="Text 7"/>
          <p:cNvSpPr/>
          <p:nvPr/>
        </p:nvSpPr>
        <p:spPr>
          <a:xfrm>
            <a:off x="5806440" y="1170432"/>
            <a:ext cx="2926080" cy="2057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careless sentence is not just different — it's wrong because it implies ___, which is inaccurate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trust/not trust the careful sentence because the evidence it uses is..."</a:t>
            </a:r>
            <a:endParaRPr lang="en-US" sz="1200" dirty="0"/>
          </a:p>
        </p:txBody>
      </p:sp>
      <p:sp>
        <p:nvSpPr>
          <p:cNvPr id="10" name="Shape 8"/>
          <p:cNvSpPr/>
          <p:nvPr/>
        </p:nvSpPr>
        <p:spPr>
          <a:xfrm>
            <a:off x="365760" y="3429000"/>
            <a:ext cx="8412480" cy="1371600"/>
          </a:xfrm>
          <a:prstGeom prst="roundRect">
            <a:avLst>
              <a:gd name="adj" fmla="val 6667"/>
            </a:avLst>
          </a:prstGeom>
          <a:solidFill>
            <a:srgbClr val="FFFFFF"/>
          </a:solidFill>
          <a:ln w="12700">
            <a:solidFill>
              <a:srgbClr val="1A8A7D"/>
            </a:solidFill>
            <a:prstDash val="solid"/>
          </a:ln>
        </p:spPr>
      </p:sp>
      <p:sp>
        <p:nvSpPr>
          <p:cNvPr id="11" name="Text 9"/>
          <p:cNvSpPr/>
          <p:nvPr/>
        </p:nvSpPr>
        <p:spPr>
          <a:xfrm>
            <a:off x="548640" y="3502152"/>
            <a:ext cx="1828800" cy="201168"/>
          </a:xfrm>
          <a:prstGeom prst="rect">
            <a:avLst/>
          </a:prstGeom>
          <a:noFill/>
          <a:ln/>
        </p:spPr>
        <p:txBody>
          <a:bodyPr wrap="square" rtlCol="0" anchor="ctr"/>
          <a:lstStyle/>
          <a:p>
            <a:pPr indent="0" marL="0">
              <a:buNone/>
            </a:pPr>
            <a:r>
              <a:rPr lang="en-US" sz="800" b="1" spc="150" kern="0" dirty="0">
                <a:solidFill>
                  <a:srgbClr val="1A8A7D"/>
                </a:solidFill>
                <a:latin typeface="Calibri" pitchFamily="34" charset="0"/>
                <a:ea typeface="Calibri" pitchFamily="34" charset="-122"/>
                <a:cs typeface="Calibri" pitchFamily="34" charset="-120"/>
              </a:rPr>
              <a:t>TEACHER GUIDE</a:t>
            </a:r>
            <a:endParaRPr lang="en-US" sz="800" dirty="0"/>
          </a:p>
        </p:txBody>
      </p:sp>
      <p:sp>
        <p:nvSpPr>
          <p:cNvPr id="12" name="Text 10"/>
          <p:cNvSpPr/>
          <p:nvPr/>
        </p:nvSpPr>
        <p:spPr>
          <a:xfrm>
            <a:off x="548640" y="3730752"/>
            <a:ext cx="8046720" cy="960120"/>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The word 'simple' is the trap. Students who see it as neutral need a challenge: 'Does calling someone's life simple tell you about their life, or about the writer's assumptions?' That's the discussion you want. Don't resolve it — let them argue.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09728"/>
            <a:ext cx="2743200" cy="2560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SOURCE STUDY</a:t>
            </a:r>
            <a:endParaRPr lang="en-US" sz="900" dirty="0"/>
          </a:p>
        </p:txBody>
      </p:sp>
      <p:sp>
        <p:nvSpPr>
          <p:cNvPr id="4" name="Text 2"/>
          <p:cNvSpPr/>
          <p:nvPr/>
        </p:nvSpPr>
        <p:spPr>
          <a:xfrm>
            <a:off x="365760" y="365760"/>
            <a:ext cx="822960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Writing as a Historical Source</a:t>
            </a:r>
            <a:endParaRPr lang="en-US" sz="2400" dirty="0"/>
          </a:p>
        </p:txBody>
      </p:sp>
      <p:sp>
        <p:nvSpPr>
          <p:cNvPr id="5" name="Text 3"/>
          <p:cNvSpPr/>
          <p:nvPr/>
        </p:nvSpPr>
        <p:spPr>
          <a:xfrm>
            <a:off x="365760" y="822960"/>
            <a:ext cx="8229600" cy="256032"/>
          </a:xfrm>
          <a:prstGeom prst="rect">
            <a:avLst/>
          </a:prstGeom>
          <a:noFill/>
          <a:ln/>
        </p:spPr>
        <p:txBody>
          <a:bodyPr wrap="square" rtlCol="0" anchor="ctr"/>
          <a:lstStyle/>
          <a:p>
            <a:pPr indent="0" marL="0">
              <a:buNone/>
            </a:pPr>
            <a:r>
              <a:rPr lang="en-US" sz="1000" i="1" dirty="0">
                <a:solidFill>
                  <a:srgbClr val="7A88A8"/>
                </a:solidFill>
                <a:latin typeface="Calibri" pitchFamily="34" charset="0"/>
                <a:ea typeface="Calibri" pitchFamily="34" charset="-122"/>
                <a:cs typeface="Calibri" pitchFamily="34" charset="-120"/>
              </a:rPr>
              <a:t>Comparison Source — Two History-Textbook Sentences about Florida's First Peoples</a:t>
            </a:r>
            <a:endParaRPr lang="en-US" sz="1000" dirty="0"/>
          </a:p>
        </p:txBody>
      </p:sp>
      <p:sp>
        <p:nvSpPr>
          <p:cNvPr id="6" name="Shape 4"/>
          <p:cNvSpPr/>
          <p:nvPr/>
        </p:nvSpPr>
        <p:spPr>
          <a:xfrm>
            <a:off x="365760" y="1170432"/>
            <a:ext cx="4023360" cy="3200400"/>
          </a:xfrm>
          <a:prstGeom prst="roundRect">
            <a:avLst>
              <a:gd name="adj" fmla="val 3429"/>
            </a:avLst>
          </a:prstGeom>
          <a:solidFill>
            <a:srgbClr val="E2E8F4"/>
          </a:solidFill>
          <a:ln w="19050">
            <a:solidFill>
              <a:srgbClr val="B0B8CC"/>
            </a:solidFill>
            <a:prstDash val="dash"/>
          </a:ln>
        </p:spPr>
      </p:sp>
      <p:sp>
        <p:nvSpPr>
          <p:cNvPr id="7" name="Text 5"/>
          <p:cNvSpPr/>
          <p:nvPr/>
        </p:nvSpPr>
        <p:spPr>
          <a:xfrm>
            <a:off x="365760" y="1170432"/>
            <a:ext cx="40233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444752"/>
            <a:ext cx="3749040" cy="283464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Side-by-side comparison: LEFT sentence (careless): 'Florida's Indians lived simple lives in the swamps.' RIGHT sentence (careful): 'The Calusa built towns on shell islands along Florida's southwest coast and traveled the mangroves by dugout canoe.' Clean layout, plain serif type.</a:t>
            </a:r>
            <a:endParaRPr lang="en-US" sz="1100" dirty="0"/>
          </a:p>
        </p:txBody>
      </p:sp>
      <p:sp>
        <p:nvSpPr>
          <p:cNvPr id="9" name="Shape 7"/>
          <p:cNvSpPr/>
          <p:nvPr/>
        </p:nvSpPr>
        <p:spPr>
          <a:xfrm>
            <a:off x="4572000" y="1170432"/>
            <a:ext cx="4297680" cy="3200400"/>
          </a:xfrm>
          <a:prstGeom prst="roundRect">
            <a:avLst>
              <a:gd name="adj" fmla="val 4286"/>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4754880" y="1261872"/>
            <a:ext cx="393192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1" name="Text 9"/>
          <p:cNvSpPr/>
          <p:nvPr/>
        </p:nvSpPr>
        <p:spPr>
          <a:xfrm>
            <a:off x="4754880" y="1517904"/>
            <a:ext cx="3931920" cy="27614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might have written the careless sentence — what does their word choice reveal about their perspective?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missing from the careless sentence? Whose experience, name, or choice is left out?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Both sentences describe the same people. Can a written source be 'wrong' even if it's about real people? What makes writing reliable or unreliable?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11480"/>
          </a:xfrm>
          <a:prstGeom prst="roundRect">
            <a:avLst>
              <a:gd name="adj" fmla="val 22222"/>
            </a:avLst>
          </a:prstGeom>
          <a:solidFill>
            <a:srgbClr val="D4943A">
              <a:alpha val="80000"/>
            </a:srgbClr>
          </a:solidFill>
          <a:ln/>
        </p:spPr>
      </p:sp>
      <p:sp>
        <p:nvSpPr>
          <p:cNvPr id="6" name="Text 3"/>
          <p:cNvSpPr/>
          <p:nvPr/>
        </p:nvSpPr>
        <p:spPr>
          <a:xfrm>
            <a:off x="457200" y="274320"/>
            <a:ext cx="8229600" cy="411480"/>
          </a:xfrm>
          <a:prstGeom prst="rect">
            <a:avLst/>
          </a:prstGeom>
          <a:noFill/>
          <a:ln/>
        </p:spPr>
        <p:txBody>
          <a:bodyPr wrap="square"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YOU FOUND IT:</a:t>
            </a:r>
            <a:endParaRPr lang="en-US" sz="1400" dirty="0"/>
          </a:p>
        </p:txBody>
      </p:sp>
      <p:sp>
        <p:nvSpPr>
          <p:cNvPr id="7" name="Text 4"/>
          <p:cNvSpPr/>
          <p:nvPr/>
        </p:nvSpPr>
        <p:spPr>
          <a:xfrm>
            <a:off x="457200" y="822960"/>
            <a:ext cx="8229600" cy="731520"/>
          </a:xfrm>
          <a:prstGeom prst="rect">
            <a:avLst/>
          </a:prstGeom>
          <a:noFill/>
          <a:ln/>
        </p:spPr>
        <p:txBody>
          <a:bodyPr wrap="square" rtlCol="0" anchor="ctr"/>
          <a:lstStyle/>
          <a:p>
            <a:pPr algn="ctr" indent="0" marL="0">
              <a:buNone/>
            </a:pPr>
            <a:r>
              <a:rPr lang="en-US" sz="4000" b="1" dirty="0">
                <a:solidFill>
                  <a:srgbClr val="D4943A"/>
                </a:solidFill>
                <a:latin typeface="Cambria" pitchFamily="34" charset="0"/>
                <a:ea typeface="Cambria" pitchFamily="34" charset="-122"/>
                <a:cs typeface="Cambria" pitchFamily="34" charset="-120"/>
              </a:rPr>
              <a:t>Courtesy = Precision + Respect</a:t>
            </a:r>
            <a:endParaRPr lang="en-US" sz="4000" dirty="0"/>
          </a:p>
        </p:txBody>
      </p:sp>
      <p:sp>
        <p:nvSpPr>
          <p:cNvPr id="8" name="Shape 5"/>
          <p:cNvSpPr/>
          <p:nvPr/>
        </p:nvSpPr>
        <p:spPr>
          <a:xfrm>
            <a:off x="914400" y="1664208"/>
            <a:ext cx="7315200" cy="27432"/>
          </a:xfrm>
          <a:prstGeom prst="rect">
            <a:avLst/>
          </a:prstGeom>
          <a:solidFill>
            <a:srgbClr val="55C8E8"/>
          </a:solidFill>
          <a:ln/>
        </p:spPr>
      </p:sp>
      <p:sp>
        <p:nvSpPr>
          <p:cNvPr id="9" name="Text 6"/>
          <p:cNvSpPr/>
          <p:nvPr/>
        </p:nvSpPr>
        <p:spPr>
          <a:xfrm>
            <a:off x="640080" y="1755648"/>
            <a:ext cx="7863840" cy="1280160"/>
          </a:xfrm>
          <a:prstGeom prst="rect">
            <a:avLst/>
          </a:prstGeom>
          <a:noFill/>
          <a:ln/>
        </p:spPr>
        <p:txBody>
          <a:bodyPr wrap="square" rtlCol="0" anchor="ctr"/>
          <a:lstStyle/>
          <a:p>
            <a:pPr algn="ctr" indent="0" marL="0">
              <a:buNone/>
            </a:pPr>
            <a:r>
              <a:rPr lang="en-US" sz="1400" dirty="0">
                <a:solidFill>
                  <a:srgbClr val="F0F2F8"/>
                </a:solidFill>
                <a:latin typeface="Calibri" pitchFamily="34" charset="0"/>
                <a:ea typeface="Calibri" pitchFamily="34" charset="-122"/>
                <a:cs typeface="Calibri" pitchFamily="34" charset="-120"/>
              </a:rPr>
              <a:t>Courtesy in history is not the same as being polite. It's the working habit of using a people's real names, taking their choices seriously, not lumping different groups together, and remembering that the descendants of Florida's first peoples are still here today. How we tell the story is part of the story.</a:t>
            </a:r>
            <a:endParaRPr lang="en-US" sz="1400" dirty="0"/>
          </a:p>
        </p:txBody>
      </p:sp>
      <p:sp>
        <p:nvSpPr>
          <p:cNvPr id="10" name="Shape 7"/>
          <p:cNvSpPr/>
          <p:nvPr/>
        </p:nvSpPr>
        <p:spPr>
          <a:xfrm>
            <a:off x="1371600" y="3182112"/>
            <a:ext cx="6400800" cy="1188720"/>
          </a:xfrm>
          <a:prstGeom prst="roundRect">
            <a:avLst>
              <a:gd name="adj" fmla="val 7692"/>
            </a:avLst>
          </a:prstGeom>
          <a:solidFill>
            <a:srgbClr val="1A2D5A"/>
          </a:solidFill>
          <a:ln/>
        </p:spPr>
      </p:sp>
      <p:sp>
        <p:nvSpPr>
          <p:cNvPr id="11" name="Text 8"/>
          <p:cNvSpPr/>
          <p:nvPr/>
        </p:nvSpPr>
        <p:spPr>
          <a:xfrm>
            <a:off x="1554480" y="3255264"/>
            <a:ext cx="6035040" cy="228600"/>
          </a:xfrm>
          <a:prstGeom prst="rect">
            <a:avLst/>
          </a:prstGeom>
          <a:noFill/>
          <a:ln/>
        </p:spPr>
        <p:txBody>
          <a:bodyPr wrap="square"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RETRIEVAL CHALLENGE</a:t>
            </a:r>
            <a:endParaRPr lang="en-US" sz="900" dirty="0"/>
          </a:p>
        </p:txBody>
      </p:sp>
      <p:sp>
        <p:nvSpPr>
          <p:cNvPr id="12" name="Text 9"/>
          <p:cNvSpPr/>
          <p:nvPr/>
        </p:nvSpPr>
        <p:spPr>
          <a:xfrm>
            <a:off x="1554480" y="3520440"/>
            <a:ext cx="6035040" cy="713232"/>
          </a:xfrm>
          <a:prstGeom prst="rect">
            <a:avLst/>
          </a:prstGeom>
          <a:noFill/>
          <a:ln/>
        </p:spPr>
        <p:txBody>
          <a:bodyPr wrap="square" rtlCol="0" anchor="ctr"/>
          <a:lstStyle/>
          <a:p>
            <a:pPr algn="ctr" indent="0" marL="0">
              <a:buNone/>
            </a:pPr>
            <a:r>
              <a:rPr lang="en-US" sz="1300" i="1" dirty="0">
                <a:solidFill>
                  <a:srgbClr val="FFFFFF"/>
                </a:solidFill>
                <a:latin typeface="Calibri" pitchFamily="34" charset="0"/>
                <a:ea typeface="Calibri" pitchFamily="34" charset="-122"/>
                <a:cs typeface="Calibri" pitchFamily="34" charset="-120"/>
              </a:rPr>
              <a:t>Cover your screen. Name the four habits of a courteous historian-citizen from memory.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91440"/>
            <a:ext cx="8229600" cy="2560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MULTI-SOURCE COMPARE</a:t>
            </a:r>
            <a:endParaRPr lang="en-US" sz="900" dirty="0"/>
          </a:p>
        </p:txBody>
      </p:sp>
      <p:sp>
        <p:nvSpPr>
          <p:cNvPr id="4" name="Text 2"/>
          <p:cNvSpPr/>
          <p:nvPr/>
        </p:nvSpPr>
        <p:spPr>
          <a:xfrm>
            <a:off x="365760" y="347472"/>
            <a:ext cx="8229600" cy="457200"/>
          </a:xfrm>
          <a:prstGeom prst="rect">
            <a:avLst/>
          </a:prstGeom>
          <a:noFill/>
          <a:ln/>
        </p:spPr>
        <p:txBody>
          <a:bodyPr wrap="square"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Careless vs. Careful — Same History, Different Habits</a:t>
            </a:r>
            <a:endParaRPr lang="en-US" sz="2200" dirty="0"/>
          </a:p>
        </p:txBody>
      </p:sp>
      <p:sp>
        <p:nvSpPr>
          <p:cNvPr id="5" name="Shape 3"/>
          <p:cNvSpPr/>
          <p:nvPr/>
        </p:nvSpPr>
        <p:spPr>
          <a:xfrm>
            <a:off x="274320" y="914400"/>
            <a:ext cx="4023360" cy="2286000"/>
          </a:xfrm>
          <a:prstGeom prst="roundRect">
            <a:avLst>
              <a:gd name="adj" fmla="val 4000"/>
            </a:avLst>
          </a:prstGeom>
          <a:solidFill>
            <a:srgbClr val="FFFFFF"/>
          </a:solidFill>
          <a:ln w="25400">
            <a:solidFill>
              <a:srgbClr val="E8636B"/>
            </a:solidFill>
            <a:prstDash val="solid"/>
          </a:ln>
        </p:spPr>
      </p:sp>
      <p:sp>
        <p:nvSpPr>
          <p:cNvPr id="6" name="Text 4"/>
          <p:cNvSpPr/>
          <p:nvPr/>
        </p:nvSpPr>
        <p:spPr>
          <a:xfrm>
            <a:off x="457200" y="987552"/>
            <a:ext cx="3657600" cy="256032"/>
          </a:xfrm>
          <a:prstGeom prst="rect">
            <a:avLst/>
          </a:prstGeom>
          <a:noFill/>
          <a:ln/>
        </p:spPr>
        <p:txBody>
          <a:bodyPr wrap="square" rtlCol="0" anchor="ctr"/>
          <a:lstStyle/>
          <a:p>
            <a:pPr indent="0" marL="0">
              <a:buNone/>
            </a:pPr>
            <a:r>
              <a:rPr lang="en-US" sz="900" b="1" spc="100" kern="0" dirty="0">
                <a:solidFill>
                  <a:srgbClr val="E8636B"/>
                </a:solidFill>
                <a:latin typeface="Calibri" pitchFamily="34" charset="0"/>
                <a:ea typeface="Calibri" pitchFamily="34" charset="-122"/>
                <a:cs typeface="Calibri" pitchFamily="34" charset="-120"/>
              </a:rPr>
              <a:t>SOURCE A: CARELESS SENTENCE</a:t>
            </a:r>
            <a:endParaRPr lang="en-US" sz="900" dirty="0"/>
          </a:p>
        </p:txBody>
      </p:sp>
      <p:sp>
        <p:nvSpPr>
          <p:cNvPr id="7" name="Text 5"/>
          <p:cNvSpPr/>
          <p:nvPr/>
        </p:nvSpPr>
        <p:spPr>
          <a:xfrm>
            <a:off x="457200" y="1298448"/>
            <a:ext cx="3657600" cy="914400"/>
          </a:xfrm>
          <a:prstGeom prst="rect">
            <a:avLst/>
          </a:prstGeom>
          <a:noFill/>
          <a:ln/>
        </p:spPr>
        <p:txBody>
          <a:bodyPr wrap="square"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"Florida's Indians lived simple lives in the swamps until Europeans showed up."</a:t>
            </a:r>
            <a:endParaRPr lang="en-US" sz="1300" dirty="0"/>
          </a:p>
        </p:txBody>
      </p:sp>
      <p:sp>
        <p:nvSpPr>
          <p:cNvPr id="8" name="Text 6"/>
          <p:cNvSpPr/>
          <p:nvPr/>
        </p:nvSpPr>
        <p:spPr>
          <a:xfrm>
            <a:off x="457200" y="2267712"/>
            <a:ext cx="3657600" cy="685800"/>
          </a:xfrm>
          <a:prstGeom prst="rect">
            <a:avLst/>
          </a:prstGeom>
          <a:noFill/>
          <a:ln/>
        </p:spPr>
        <p:txBody>
          <a:bodyPr wrap="square" rtlCol="0" anchor="t"/>
          <a:lstStyle/>
          <a:p>
            <a:pPr indent="0" marL="0">
              <a:buNone/>
            </a:pPr>
            <a:r>
              <a:rPr lang="en-US" sz="1000" dirty="0">
                <a:solidFill>
                  <a:srgbClr val="E8636B"/>
                </a:solidFill>
                <a:latin typeface="Calibri" pitchFamily="34" charset="0"/>
                <a:ea typeface="Calibri" pitchFamily="34" charset="-122"/>
                <a:cs typeface="Calibri" pitchFamily="34" charset="-120"/>
              </a:rPr>
              <a:t>Habits broken: no real name, lumps groups together, calls their life 'simple', erases their agency</a:t>
            </a:r>
            <a:endParaRPr lang="en-US" sz="1000" dirty="0"/>
          </a:p>
        </p:txBody>
      </p:sp>
      <p:sp>
        <p:nvSpPr>
          <p:cNvPr id="9" name="Shape 7"/>
          <p:cNvSpPr/>
          <p:nvPr/>
        </p:nvSpPr>
        <p:spPr>
          <a:xfrm>
            <a:off x="4663440" y="914400"/>
            <a:ext cx="4023360" cy="2286000"/>
          </a:xfrm>
          <a:prstGeom prst="roundRect">
            <a:avLst>
              <a:gd name="adj" fmla="val 4000"/>
            </a:avLst>
          </a:prstGeom>
          <a:solidFill>
            <a:srgbClr val="FFFFFF"/>
          </a:solidFill>
          <a:ln w="25400">
            <a:solidFill>
              <a:srgbClr val="34B76F"/>
            </a:solidFill>
            <a:prstDash val="solid"/>
          </a:ln>
        </p:spPr>
      </p:sp>
      <p:sp>
        <p:nvSpPr>
          <p:cNvPr id="10" name="Text 8"/>
          <p:cNvSpPr/>
          <p:nvPr/>
        </p:nvSpPr>
        <p:spPr>
          <a:xfrm>
            <a:off x="4846320" y="987552"/>
            <a:ext cx="3657600" cy="256032"/>
          </a:xfrm>
          <a:prstGeom prst="rect">
            <a:avLst/>
          </a:prstGeom>
          <a:noFill/>
          <a:ln/>
        </p:spPr>
        <p:txBody>
          <a:bodyPr wrap="square" rtlCol="0" anchor="ctr"/>
          <a:lstStyle/>
          <a:p>
            <a:pPr indent="0" marL="0">
              <a:buNone/>
            </a:pPr>
            <a:r>
              <a:rPr lang="en-US" sz="900" b="1" spc="100" kern="0" dirty="0">
                <a:solidFill>
                  <a:srgbClr val="34B76F"/>
                </a:solidFill>
                <a:latin typeface="Calibri" pitchFamily="34" charset="0"/>
                <a:ea typeface="Calibri" pitchFamily="34" charset="-122"/>
                <a:cs typeface="Calibri" pitchFamily="34" charset="-120"/>
              </a:rPr>
              <a:t>SOURCE B: CAREFUL SENTENCE</a:t>
            </a:r>
            <a:endParaRPr lang="en-US" sz="900" dirty="0"/>
          </a:p>
        </p:txBody>
      </p:sp>
      <p:sp>
        <p:nvSpPr>
          <p:cNvPr id="11" name="Text 9"/>
          <p:cNvSpPr/>
          <p:nvPr/>
        </p:nvSpPr>
        <p:spPr>
          <a:xfrm>
            <a:off x="4846320" y="1298448"/>
            <a:ext cx="3657600" cy="914400"/>
          </a:xfrm>
          <a:prstGeom prst="rect">
            <a:avLst/>
          </a:prstGeom>
          <a:noFill/>
          <a:ln/>
        </p:spPr>
        <p:txBody>
          <a:bodyPr wrap="square"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"The Calusa built towns on shell islands along Florida's southwest coast and traveled the mangroves by dugout canoe."</a:t>
            </a:r>
            <a:endParaRPr lang="en-US" sz="1300" dirty="0"/>
          </a:p>
        </p:txBody>
      </p:sp>
      <p:sp>
        <p:nvSpPr>
          <p:cNvPr id="12" name="Text 10"/>
          <p:cNvSpPr/>
          <p:nvPr/>
        </p:nvSpPr>
        <p:spPr>
          <a:xfrm>
            <a:off x="4846320" y="2267712"/>
            <a:ext cx="3657600" cy="685800"/>
          </a:xfrm>
          <a:prstGeom prst="rect">
            <a:avLst/>
          </a:prstGeom>
          <a:noFill/>
          <a:ln/>
        </p:spPr>
        <p:txBody>
          <a:bodyPr wrap="square" rtlCol="0" anchor="t"/>
          <a:lstStyle/>
          <a:p>
            <a:pPr indent="0" marL="0">
              <a:buNone/>
            </a:pPr>
            <a:r>
              <a:rPr lang="en-US" sz="1000" dirty="0">
                <a:solidFill>
                  <a:srgbClr val="34B76F"/>
                </a:solidFill>
                <a:latin typeface="Calibri" pitchFamily="34" charset="0"/>
                <a:ea typeface="Calibri" pitchFamily="34" charset="-122"/>
                <a:cs typeface="Calibri" pitchFamily="34" charset="-120"/>
              </a:rPr>
              <a:t>Habits used: real name (Calusa), specific place, specific choice (built towns, traveled by canoe)</a:t>
            </a:r>
            <a:endParaRPr lang="en-US" sz="1000" dirty="0"/>
          </a:p>
        </p:txBody>
      </p:sp>
      <p:sp>
        <p:nvSpPr>
          <p:cNvPr id="13" name="Shape 11"/>
          <p:cNvSpPr/>
          <p:nvPr/>
        </p:nvSpPr>
        <p:spPr>
          <a:xfrm>
            <a:off x="274320" y="3310128"/>
            <a:ext cx="8595360" cy="1207008"/>
          </a:xfrm>
          <a:prstGeom prst="roundRect">
            <a:avLst>
              <a:gd name="adj" fmla="val 9091"/>
            </a:avLst>
          </a:prstGeom>
          <a:solidFill>
            <a:srgbClr val="FFF3DC"/>
          </a:solidFill>
          <a:ln w="19050">
            <a:solidFill>
              <a:srgbClr val="F5E6C8"/>
            </a:solidFill>
            <a:prstDash val="solid"/>
          </a:ln>
        </p:spPr>
      </p:sp>
      <p:sp>
        <p:nvSpPr>
          <p:cNvPr id="14" name="Text 12"/>
          <p:cNvSpPr/>
          <p:nvPr/>
        </p:nvSpPr>
        <p:spPr>
          <a:xfrm>
            <a:off x="411480" y="3364992"/>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411480" y="3566160"/>
            <a:ext cx="8321040" cy="8869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"Source A and Source B describe the same people but Source B is more reliable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habit from the lesson that Source B uses best is ___ because you can see it in the specific word..."</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182880"/>
            <a:ext cx="8229600" cy="457200"/>
          </a:xfrm>
          <a:prstGeom prst="rect">
            <a:avLst/>
          </a:prstGeom>
          <a:noFill/>
          <a:ln/>
        </p:spPr>
        <p:txBody>
          <a:bodyPr wrap="square" rtlCol="0" anchor="ctr"/>
          <a:lstStyle/>
          <a:p>
            <a:pPr algn="ctr" indent="0" marL="0">
              <a:buNone/>
            </a:pPr>
            <a:r>
              <a:rPr lang="en-US" sz="2800" b="1" dirty="0">
                <a:solidFill>
                  <a:srgbClr val="D4943A"/>
                </a:solidFill>
                <a:latin typeface="Cambria" pitchFamily="34" charset="0"/>
                <a:ea typeface="Cambria" pitchFamily="34" charset="-122"/>
                <a:cs typeface="Cambria" pitchFamily="34" charset="-120"/>
              </a:rPr>
              <a:t>The Four Habits of a Courteous Historian</a:t>
            </a:r>
            <a:endParaRPr lang="en-US" sz="2800" dirty="0"/>
          </a:p>
        </p:txBody>
      </p:sp>
      <p:sp>
        <p:nvSpPr>
          <p:cNvPr id="6" name="Shape 3"/>
          <p:cNvSpPr/>
          <p:nvPr/>
        </p:nvSpPr>
        <p:spPr>
          <a:xfrm>
            <a:off x="274320" y="804672"/>
            <a:ext cx="8595360" cy="896112"/>
          </a:xfrm>
          <a:prstGeom prst="roundRect">
            <a:avLst>
              <a:gd name="adj" fmla="val 10204"/>
            </a:avLst>
          </a:prstGeom>
          <a:solidFill>
            <a:srgbClr val="1A2D5A"/>
          </a:solidFill>
          <a:ln/>
        </p:spPr>
      </p:sp>
      <p:sp>
        <p:nvSpPr>
          <p:cNvPr id="7" name="Shape 4"/>
          <p:cNvSpPr/>
          <p:nvPr/>
        </p:nvSpPr>
        <p:spPr>
          <a:xfrm>
            <a:off x="274320" y="804672"/>
            <a:ext cx="457200" cy="896112"/>
          </a:xfrm>
          <a:prstGeom prst="roundRect">
            <a:avLst>
              <a:gd name="adj" fmla="val 20000"/>
            </a:avLst>
          </a:prstGeom>
          <a:solidFill>
            <a:srgbClr val="D4943A"/>
          </a:solidFill>
          <a:ln/>
        </p:spPr>
      </p:sp>
      <p:sp>
        <p:nvSpPr>
          <p:cNvPr id="8" name="Text 5"/>
          <p:cNvSpPr/>
          <p:nvPr/>
        </p:nvSpPr>
        <p:spPr>
          <a:xfrm>
            <a:off x="274320" y="804672"/>
            <a:ext cx="457200" cy="896112"/>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9" name="Text 6"/>
          <p:cNvSpPr/>
          <p:nvPr/>
        </p:nvSpPr>
        <p:spPr>
          <a:xfrm>
            <a:off x="822960" y="859536"/>
            <a:ext cx="2926080" cy="320040"/>
          </a:xfrm>
          <a:prstGeom prst="rect">
            <a:avLst/>
          </a:prstGeom>
          <a:noFill/>
          <a:ln/>
        </p:spPr>
        <p:txBody>
          <a:bodyPr wrap="square"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Use Real Names</a:t>
            </a:r>
            <a:endParaRPr lang="en-US" sz="1300" dirty="0"/>
          </a:p>
        </p:txBody>
      </p:sp>
      <p:sp>
        <p:nvSpPr>
          <p:cNvPr id="10" name="Text 7"/>
          <p:cNvSpPr/>
          <p:nvPr/>
        </p:nvSpPr>
        <p:spPr>
          <a:xfrm>
            <a:off x="822960" y="1170432"/>
            <a:ext cx="7863840" cy="438912"/>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Apalachee. Timucua. Calusa. Tequesta. A community's real name shows they are real.</a:t>
            </a:r>
            <a:endParaRPr lang="en-US" sz="1100" dirty="0"/>
          </a:p>
        </p:txBody>
      </p:sp>
      <p:sp>
        <p:nvSpPr>
          <p:cNvPr id="11" name="Shape 8"/>
          <p:cNvSpPr/>
          <p:nvPr/>
        </p:nvSpPr>
        <p:spPr>
          <a:xfrm>
            <a:off x="274320" y="1810512"/>
            <a:ext cx="8595360" cy="896112"/>
          </a:xfrm>
          <a:prstGeom prst="roundRect">
            <a:avLst>
              <a:gd name="adj" fmla="val 10204"/>
            </a:avLst>
          </a:prstGeom>
          <a:solidFill>
            <a:srgbClr val="1A2D5A"/>
          </a:solidFill>
          <a:ln/>
        </p:spPr>
      </p:sp>
      <p:sp>
        <p:nvSpPr>
          <p:cNvPr id="12" name="Shape 9"/>
          <p:cNvSpPr/>
          <p:nvPr/>
        </p:nvSpPr>
        <p:spPr>
          <a:xfrm>
            <a:off x="274320" y="1810512"/>
            <a:ext cx="457200" cy="896112"/>
          </a:xfrm>
          <a:prstGeom prst="roundRect">
            <a:avLst>
              <a:gd name="adj" fmla="val 20000"/>
            </a:avLst>
          </a:prstGeom>
          <a:solidFill>
            <a:srgbClr val="D4943A"/>
          </a:solidFill>
          <a:ln/>
        </p:spPr>
      </p:sp>
      <p:sp>
        <p:nvSpPr>
          <p:cNvPr id="13" name="Text 10"/>
          <p:cNvSpPr/>
          <p:nvPr/>
        </p:nvSpPr>
        <p:spPr>
          <a:xfrm>
            <a:off x="274320" y="1810512"/>
            <a:ext cx="457200" cy="896112"/>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Text 11"/>
          <p:cNvSpPr/>
          <p:nvPr/>
        </p:nvSpPr>
        <p:spPr>
          <a:xfrm>
            <a:off x="822960" y="1865376"/>
            <a:ext cx="2926080" cy="320040"/>
          </a:xfrm>
          <a:prstGeom prst="rect">
            <a:avLst/>
          </a:prstGeom>
          <a:noFill/>
          <a:ln/>
        </p:spPr>
        <p:txBody>
          <a:bodyPr wrap="square"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Don't Lump Groups Together</a:t>
            </a:r>
            <a:endParaRPr lang="en-US" sz="1300" dirty="0"/>
          </a:p>
        </p:txBody>
      </p:sp>
      <p:sp>
        <p:nvSpPr>
          <p:cNvPr id="15" name="Text 12"/>
          <p:cNvSpPr/>
          <p:nvPr/>
        </p:nvSpPr>
        <p:spPr>
          <a:xfrm>
            <a:off x="822960" y="2176272"/>
            <a:ext cx="7863840" cy="438912"/>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The Calusa and Apalachee were as different as two countries. Specific is the historian's working word.</a:t>
            </a:r>
            <a:endParaRPr lang="en-US" sz="1100" dirty="0"/>
          </a:p>
        </p:txBody>
      </p:sp>
      <p:sp>
        <p:nvSpPr>
          <p:cNvPr id="16" name="Shape 13"/>
          <p:cNvSpPr/>
          <p:nvPr/>
        </p:nvSpPr>
        <p:spPr>
          <a:xfrm>
            <a:off x="274320" y="2816352"/>
            <a:ext cx="8595360" cy="896112"/>
          </a:xfrm>
          <a:prstGeom prst="roundRect">
            <a:avLst>
              <a:gd name="adj" fmla="val 10204"/>
            </a:avLst>
          </a:prstGeom>
          <a:solidFill>
            <a:srgbClr val="1A2D5A"/>
          </a:solidFill>
          <a:ln/>
        </p:spPr>
      </p:sp>
      <p:sp>
        <p:nvSpPr>
          <p:cNvPr id="17" name="Shape 14"/>
          <p:cNvSpPr/>
          <p:nvPr/>
        </p:nvSpPr>
        <p:spPr>
          <a:xfrm>
            <a:off x="274320" y="2816352"/>
            <a:ext cx="457200" cy="896112"/>
          </a:xfrm>
          <a:prstGeom prst="roundRect">
            <a:avLst>
              <a:gd name="adj" fmla="val 20000"/>
            </a:avLst>
          </a:prstGeom>
          <a:solidFill>
            <a:srgbClr val="D4943A"/>
          </a:solidFill>
          <a:ln/>
        </p:spPr>
      </p:sp>
      <p:sp>
        <p:nvSpPr>
          <p:cNvPr id="18" name="Text 15"/>
          <p:cNvSpPr/>
          <p:nvPr/>
        </p:nvSpPr>
        <p:spPr>
          <a:xfrm>
            <a:off x="274320" y="2816352"/>
            <a:ext cx="457200" cy="896112"/>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6"/>
          <p:cNvSpPr/>
          <p:nvPr/>
        </p:nvSpPr>
        <p:spPr>
          <a:xfrm>
            <a:off x="822960" y="2871216"/>
            <a:ext cx="2926080" cy="320040"/>
          </a:xfrm>
          <a:prstGeom prst="rect">
            <a:avLst/>
          </a:prstGeom>
          <a:noFill/>
          <a:ln/>
        </p:spPr>
        <p:txBody>
          <a:bodyPr wrap="square"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Take Their Choices Seriously</a:t>
            </a:r>
            <a:endParaRPr lang="en-US" sz="1300" dirty="0"/>
          </a:p>
        </p:txBody>
      </p:sp>
      <p:sp>
        <p:nvSpPr>
          <p:cNvPr id="20" name="Text 17"/>
          <p:cNvSpPr/>
          <p:nvPr/>
        </p:nvSpPr>
        <p:spPr>
          <a:xfrm>
            <a:off x="822960" y="3182112"/>
            <a:ext cx="7863840" cy="438912"/>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The Calusa chose not to farm — that was smart, deliberate, and based on what their land could give. Explain why.</a:t>
            </a:r>
            <a:endParaRPr lang="en-US" sz="1100" dirty="0"/>
          </a:p>
        </p:txBody>
      </p:sp>
      <p:sp>
        <p:nvSpPr>
          <p:cNvPr id="21" name="Shape 18"/>
          <p:cNvSpPr/>
          <p:nvPr/>
        </p:nvSpPr>
        <p:spPr>
          <a:xfrm>
            <a:off x="274320" y="3822192"/>
            <a:ext cx="8595360" cy="896112"/>
          </a:xfrm>
          <a:prstGeom prst="roundRect">
            <a:avLst>
              <a:gd name="adj" fmla="val 10204"/>
            </a:avLst>
          </a:prstGeom>
          <a:solidFill>
            <a:srgbClr val="1A2D5A"/>
          </a:solidFill>
          <a:ln/>
        </p:spPr>
      </p:sp>
      <p:sp>
        <p:nvSpPr>
          <p:cNvPr id="22" name="Shape 19"/>
          <p:cNvSpPr/>
          <p:nvPr/>
        </p:nvSpPr>
        <p:spPr>
          <a:xfrm>
            <a:off x="274320" y="3822192"/>
            <a:ext cx="457200" cy="896112"/>
          </a:xfrm>
          <a:prstGeom prst="roundRect">
            <a:avLst>
              <a:gd name="adj" fmla="val 20000"/>
            </a:avLst>
          </a:prstGeom>
          <a:solidFill>
            <a:srgbClr val="D4943A"/>
          </a:solidFill>
          <a:ln/>
        </p:spPr>
      </p:sp>
      <p:sp>
        <p:nvSpPr>
          <p:cNvPr id="23" name="Text 20"/>
          <p:cNvSpPr/>
          <p:nvPr/>
        </p:nvSpPr>
        <p:spPr>
          <a:xfrm>
            <a:off x="274320" y="3822192"/>
            <a:ext cx="457200" cy="896112"/>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1"/>
          <p:cNvSpPr/>
          <p:nvPr/>
        </p:nvSpPr>
        <p:spPr>
          <a:xfrm>
            <a:off x="822960" y="3877056"/>
            <a:ext cx="2926080" cy="320040"/>
          </a:xfrm>
          <a:prstGeom prst="rect">
            <a:avLst/>
          </a:prstGeom>
          <a:noFill/>
          <a:ln/>
        </p:spPr>
        <p:txBody>
          <a:bodyPr wrap="square" rtlCol="0" anchor="ctr"/>
          <a:lstStyle/>
          <a:p>
            <a:pPr indent="0" marL="0">
              <a:buNone/>
            </a:pPr>
            <a:r>
              <a:rPr lang="en-US" sz="1300" b="1" dirty="0">
                <a:solidFill>
                  <a:srgbClr val="D4943A"/>
                </a:solidFill>
                <a:latin typeface="Calibri" pitchFamily="34" charset="0"/>
                <a:ea typeface="Calibri" pitchFamily="34" charset="-122"/>
                <a:cs typeface="Calibri" pitchFamily="34" charset="-120"/>
              </a:rPr>
              <a:t>Remember the Descendants</a:t>
            </a:r>
            <a:endParaRPr lang="en-US" sz="1300" dirty="0"/>
          </a:p>
        </p:txBody>
      </p:sp>
      <p:sp>
        <p:nvSpPr>
          <p:cNvPr id="25" name="Text 22"/>
          <p:cNvSpPr/>
          <p:nvPr/>
        </p:nvSpPr>
        <p:spPr>
          <a:xfrm>
            <a:off x="822960" y="4187952"/>
            <a:ext cx="7863840" cy="438912"/>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The Seminole Tribe of Florida and Miccosukee Tribe of Indians of Florida are sovereign nations today.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0E1C42"/>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GUIDED PRACTICE   |   STEP 1: TEACHER MODELS</a:t>
            </a:r>
            <a:endParaRPr lang="en-US" sz="1100" dirty="0"/>
          </a:p>
        </p:txBody>
      </p:sp>
      <p:sp>
        <p:nvSpPr>
          <p:cNvPr id="5" name="Text 3"/>
          <p:cNvSpPr/>
          <p:nvPr/>
        </p:nvSpPr>
        <p:spPr>
          <a:xfrm>
            <a:off x="365760" y="713232"/>
            <a:ext cx="822960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Watch how I revise a careless sentence...</a:t>
            </a:r>
            <a:endParaRPr lang="en-US" sz="2000" dirty="0"/>
          </a:p>
        </p:txBody>
      </p:sp>
      <p:sp>
        <p:nvSpPr>
          <p:cNvPr id="6" name="Shape 4"/>
          <p:cNvSpPr/>
          <p:nvPr/>
        </p:nvSpPr>
        <p:spPr>
          <a:xfrm>
            <a:off x="365760" y="1207008"/>
            <a:ext cx="8412480" cy="914400"/>
          </a:xfrm>
          <a:prstGeom prst="roundRect">
            <a:avLst>
              <a:gd name="adj" fmla="val 10000"/>
            </a:avLst>
          </a:prstGeom>
          <a:solidFill>
            <a:srgbClr val="FFFFFF"/>
          </a:solidFill>
          <a:ln w="19050">
            <a:solidFill>
              <a:srgbClr val="E8636B"/>
            </a:solidFill>
            <a:prstDash val="solid"/>
          </a:ln>
        </p:spPr>
      </p:sp>
      <p:sp>
        <p:nvSpPr>
          <p:cNvPr id="7" name="Text 5"/>
          <p:cNvSpPr/>
          <p:nvPr/>
        </p:nvSpPr>
        <p:spPr>
          <a:xfrm>
            <a:off x="548640" y="1280160"/>
            <a:ext cx="3200400" cy="201168"/>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ORIGINAL (CARELESS):</a:t>
            </a:r>
            <a:endParaRPr lang="en-US" sz="900" dirty="0"/>
          </a:p>
        </p:txBody>
      </p:sp>
      <p:sp>
        <p:nvSpPr>
          <p:cNvPr id="8" name="Text 6"/>
          <p:cNvSpPr/>
          <p:nvPr/>
        </p:nvSpPr>
        <p:spPr>
          <a:xfrm>
            <a:off x="548640" y="1508760"/>
            <a:ext cx="8046720" cy="502920"/>
          </a:xfrm>
          <a:prstGeom prst="rect">
            <a:avLst/>
          </a:prstGeom>
          <a:noFill/>
          <a:ln/>
        </p:spPr>
        <p:txBody>
          <a:bodyPr wrap="square"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"Florida's Indians lived simple lives in the swamps until Europeans showed up."</a:t>
            </a:r>
            <a:endParaRPr lang="en-US" sz="1300" dirty="0"/>
          </a:p>
        </p:txBody>
      </p:sp>
      <p:sp>
        <p:nvSpPr>
          <p:cNvPr id="9" name="Shape 7"/>
          <p:cNvSpPr/>
          <p:nvPr/>
        </p:nvSpPr>
        <p:spPr>
          <a:xfrm>
            <a:off x="365760" y="2212848"/>
            <a:ext cx="8412480" cy="1417320"/>
          </a:xfrm>
          <a:prstGeom prst="roundRect">
            <a:avLst>
              <a:gd name="adj" fmla="val 6452"/>
            </a:avLst>
          </a:prstGeom>
          <a:solidFill>
            <a:srgbClr val="FFFFFF"/>
          </a:solidFill>
          <a:ln w="19050">
            <a:solidFill>
              <a:srgbClr val="1A8A7D"/>
            </a:solidFill>
            <a:prstDash val="solid"/>
          </a:ln>
        </p:spPr>
      </p:sp>
      <p:sp>
        <p:nvSpPr>
          <p:cNvPr id="10" name="Text 8"/>
          <p:cNvSpPr/>
          <p:nvPr/>
        </p:nvSpPr>
        <p:spPr>
          <a:xfrm>
            <a:off x="548640" y="2286000"/>
            <a:ext cx="4572000" cy="201168"/>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MY REVISION PROCESS (THINK ALOUD):</a:t>
            </a:r>
            <a:endParaRPr lang="en-US" sz="900" dirty="0"/>
          </a:p>
        </p:txBody>
      </p:sp>
      <p:sp>
        <p:nvSpPr>
          <p:cNvPr id="11" name="Text 9"/>
          <p:cNvSpPr/>
          <p:nvPr/>
        </p:nvSpPr>
        <p:spPr>
          <a:xfrm>
            <a:off x="548640" y="2514600"/>
            <a:ext cx="8046720" cy="1024128"/>
          </a:xfrm>
          <a:prstGeom prst="rect">
            <a:avLst/>
          </a:prstGeom>
          <a:noFill/>
          <a:ln/>
        </p:spPr>
        <p:txBody>
          <a:bodyPr wrap="square" rtlCol="0" anchor="t"/>
          <a:lstStyle/>
          <a:p>
            <a:pPr indent="0" marL="0">
              <a:buNone/>
            </a:pPr>
            <a:r>
              <a:rPr lang="en-US" sz="1100" dirty="0">
                <a:solidFill>
                  <a:srgbClr val="0E1C42"/>
                </a:solidFill>
                <a:latin typeface="Calibri" pitchFamily="34" charset="0"/>
                <a:ea typeface="Calibri" pitchFamily="34" charset="-122"/>
                <a:cs typeface="Calibri" pitchFamily="34" charset="-120"/>
              </a:rPr>
              <a:t>Step 1 — Real name: 'Florida's Indians' → pick a real people: Timucua.</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Step 2 — Specific place: 'swamps' → what's specific for the Timucua? Northern Florida forests and rivers.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Step 3 — Specific choice: what did they do there? Hunted deer, built villages near rivers.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Step 4 — Remove 'simple': replaced with actual description.</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Result: 'The Timucua built villages near rivers in northern Florida, where they hunted deer and traded goods with neighboring communities.'</a:t>
            </a:r>
            <a:endParaRPr lang="en-US" sz="1100" dirty="0"/>
          </a:p>
        </p:txBody>
      </p:sp>
      <p:sp>
        <p:nvSpPr>
          <p:cNvPr id="12" name="Shape 10"/>
          <p:cNvSpPr/>
          <p:nvPr/>
        </p:nvSpPr>
        <p:spPr>
          <a:xfrm>
            <a:off x="365760" y="3749040"/>
            <a:ext cx="8412480" cy="685800"/>
          </a:xfrm>
          <a:prstGeom prst="roundRect">
            <a:avLst>
              <a:gd name="adj" fmla="val 13333"/>
            </a:avLst>
          </a:prstGeom>
          <a:solidFill>
            <a:srgbClr val="FFF3DC"/>
          </a:solidFill>
          <a:ln w="12700">
            <a:solidFill>
              <a:srgbClr val="F5E6C8"/>
            </a:solidFill>
            <a:prstDash val="solid"/>
          </a:ln>
        </p:spPr>
      </p:sp>
      <p:sp>
        <p:nvSpPr>
          <p:cNvPr id="13" name="Text 11"/>
          <p:cNvSpPr/>
          <p:nvPr/>
        </p:nvSpPr>
        <p:spPr>
          <a:xfrm>
            <a:off x="548640" y="3858768"/>
            <a:ext cx="8046720" cy="457200"/>
          </a:xfrm>
          <a:prstGeom prst="rect">
            <a:avLst/>
          </a:prstGeom>
          <a:noFill/>
          <a:ln/>
        </p:spPr>
        <p:txBody>
          <a:bodyPr wrap="square" rtlCol="0" anchor="ctr"/>
          <a:lstStyle/>
          <a:p>
            <a:pPr indent="0" marL="0">
              <a:buNone/>
            </a:pPr>
            <a:r>
              <a:rPr lang="en-US" sz="1200" i="1" dirty="0">
                <a:solidFill>
                  <a:srgbClr val="5A4A3A"/>
                </a:solidFill>
                <a:latin typeface="Calibri" pitchFamily="34" charset="0"/>
                <a:ea typeface="Calibri" pitchFamily="34" charset="-122"/>
                <a:cs typeface="Calibri" pitchFamily="34" charset="-120"/>
              </a:rPr>
              <a:t>THE PATTERN: Real name + specific place + specific choice + no flattening words. That's the revision formula.</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0E1C42"/>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GUIDED PRACTICE   |   STEP 2: DEFEND YOUR REVISION</a:t>
            </a:r>
            <a:endParaRPr lang="en-US" sz="1100" dirty="0"/>
          </a:p>
        </p:txBody>
      </p:sp>
      <p:sp>
        <p:nvSpPr>
          <p:cNvPr id="5" name="Text 3"/>
          <p:cNvSpPr/>
          <p:nvPr/>
        </p:nvSpPr>
        <p:spPr>
          <a:xfrm>
            <a:off x="365760" y="713232"/>
            <a:ext cx="822960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Now you try — and defend your choices</a:t>
            </a:r>
            <a:endParaRPr lang="en-US" sz="2000" dirty="0"/>
          </a:p>
        </p:txBody>
      </p:sp>
      <p:sp>
        <p:nvSpPr>
          <p:cNvPr id="6" name="Shape 4"/>
          <p:cNvSpPr/>
          <p:nvPr/>
        </p:nvSpPr>
        <p:spPr>
          <a:xfrm>
            <a:off x="365760" y="1207008"/>
            <a:ext cx="8412480" cy="749808"/>
          </a:xfrm>
          <a:prstGeom prst="roundRect">
            <a:avLst>
              <a:gd name="adj" fmla="val 12195"/>
            </a:avLst>
          </a:prstGeom>
          <a:solidFill>
            <a:srgbClr val="FFFFFF"/>
          </a:solidFill>
          <a:ln w="19050">
            <a:solidFill>
              <a:srgbClr val="E8636B"/>
            </a:solidFill>
            <a:prstDash val="solid"/>
          </a:ln>
        </p:spPr>
      </p:sp>
      <p:sp>
        <p:nvSpPr>
          <p:cNvPr id="7" name="Text 5"/>
          <p:cNvSpPr/>
          <p:nvPr/>
        </p:nvSpPr>
        <p:spPr>
          <a:xfrm>
            <a:off x="548640" y="1280160"/>
            <a:ext cx="2286000" cy="201168"/>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REVISE THIS:</a:t>
            </a:r>
            <a:endParaRPr lang="en-US" sz="900" dirty="0"/>
          </a:p>
        </p:txBody>
      </p:sp>
      <p:sp>
        <p:nvSpPr>
          <p:cNvPr id="8" name="Text 6"/>
          <p:cNvSpPr/>
          <p:nvPr/>
        </p:nvSpPr>
        <p:spPr>
          <a:xfrm>
            <a:off x="548640" y="1499616"/>
            <a:ext cx="8046720" cy="347472"/>
          </a:xfrm>
          <a:prstGeom prst="rect">
            <a:avLst/>
          </a:prstGeom>
          <a:noFill/>
          <a:ln/>
        </p:spPr>
        <p:txBody>
          <a:bodyPr wrap="square"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"The Apalachee Indians farmed like any other tribe."</a:t>
            </a:r>
            <a:endParaRPr lang="en-US" sz="1300" dirty="0"/>
          </a:p>
        </p:txBody>
      </p:sp>
      <p:sp>
        <p:nvSpPr>
          <p:cNvPr id="9" name="Shape 7"/>
          <p:cNvSpPr/>
          <p:nvPr/>
        </p:nvSpPr>
        <p:spPr>
          <a:xfrm>
            <a:off x="365760" y="2084832"/>
            <a:ext cx="4297680" cy="1828800"/>
          </a:xfrm>
          <a:prstGeom prst="roundRect">
            <a:avLst>
              <a:gd name="adj" fmla="val 6000"/>
            </a:avLst>
          </a:prstGeom>
          <a:solidFill>
            <a:srgbClr val="FFFFFF"/>
          </a:solidFill>
          <a:ln w="12700">
            <a:solidFill>
              <a:srgbClr val="B0B8CC"/>
            </a:solidFill>
            <a:prstDash val="solid"/>
          </a:ln>
        </p:spPr>
      </p:sp>
      <p:sp>
        <p:nvSpPr>
          <p:cNvPr id="10" name="Text 8"/>
          <p:cNvSpPr/>
          <p:nvPr/>
        </p:nvSpPr>
        <p:spPr>
          <a:xfrm>
            <a:off x="548640" y="2157984"/>
            <a:ext cx="2286000" cy="201168"/>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YOUR REVISION</a:t>
            </a:r>
            <a:endParaRPr lang="en-US" sz="900" dirty="0"/>
          </a:p>
        </p:txBody>
      </p:sp>
      <p:sp>
        <p:nvSpPr>
          <p:cNvPr id="11" name="Text 9"/>
          <p:cNvSpPr/>
          <p:nvPr/>
        </p:nvSpPr>
        <p:spPr>
          <a:xfrm>
            <a:off x="548640" y="2395728"/>
            <a:ext cx="3931920" cy="137160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Which habit did you use?</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specific word(s) did you change?</a:t>
            </a:r>
            <a:endParaRPr lang="en-US" sz="1200" dirty="0"/>
          </a:p>
          <a:p>
            <a:pPr indent="0" marL="0">
              <a:buNone/>
            </a:pPr>
            <a:r>
              <a:rPr lang="en-US" sz="1200" dirty="0">
                <a:solidFill>
                  <a:srgbClr val="0E1C42"/>
                </a:solidFill>
                <a:latin typeface="Calibri" pitchFamily="34" charset="0"/>
                <a:ea typeface="Calibri" pitchFamily="34" charset="-122"/>
                <a:cs typeface="Calibri" pitchFamily="34" charset="-120"/>
              </a:rPr>
              <a:t>What does your version tell a reader that the original didn't?</a:t>
            </a:r>
            <a:endParaRPr lang="en-US" sz="1200" dirty="0"/>
          </a:p>
        </p:txBody>
      </p:sp>
      <p:sp>
        <p:nvSpPr>
          <p:cNvPr id="12" name="Shape 10"/>
          <p:cNvSpPr/>
          <p:nvPr/>
        </p:nvSpPr>
        <p:spPr>
          <a:xfrm>
            <a:off x="4828032" y="2084832"/>
            <a:ext cx="3950208" cy="1828800"/>
          </a:xfrm>
          <a:prstGeom prst="roundRect">
            <a:avLst>
              <a:gd name="adj" fmla="val 7500"/>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5010912" y="2176272"/>
            <a:ext cx="3584448"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010912" y="2432304"/>
            <a:ext cx="3584448" cy="13898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specific word in the original sentence is the problem — 'Indians,' 'farmed,' or 'like any other tribe'?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someone pushed back and said 'all tribes did farm similarly,' how would you respond?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evidence from the lesson makes your revision more accurate than the original?</a:t>
            </a:r>
            <a:endParaRPr lang="en-US" sz="1100" dirty="0"/>
          </a:p>
        </p:txBody>
      </p:sp>
      <p:sp>
        <p:nvSpPr>
          <p:cNvPr id="15" name="Shape 13"/>
          <p:cNvSpPr/>
          <p:nvPr/>
        </p:nvSpPr>
        <p:spPr>
          <a:xfrm>
            <a:off x="365760" y="4005072"/>
            <a:ext cx="8412480" cy="914400"/>
          </a:xfrm>
          <a:prstGeom prst="roundRect">
            <a:avLst>
              <a:gd name="adj" fmla="val 12000"/>
            </a:avLst>
          </a:prstGeom>
          <a:solidFill>
            <a:srgbClr val="FFF3DC"/>
          </a:solidFill>
          <a:ln w="19050">
            <a:solidFill>
              <a:srgbClr val="F5E6C8"/>
            </a:solidFill>
            <a:prstDash val="solid"/>
          </a:ln>
        </p:spPr>
      </p:sp>
      <p:sp>
        <p:nvSpPr>
          <p:cNvPr id="16" name="Text 14"/>
          <p:cNvSpPr/>
          <p:nvPr/>
        </p:nvSpPr>
        <p:spPr>
          <a:xfrm>
            <a:off x="502920" y="4059936"/>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02920" y="4261104"/>
            <a:ext cx="813816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revision changes ___ to ___ because the original sentence breaks the habit of..."</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can defend this revision because the evidence from the lesson shows..."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0E1C42"/>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55C8E8"/>
                </a:solidFill>
                <a:latin typeface="Calibri" pitchFamily="34" charset="0"/>
                <a:ea typeface="Calibri" pitchFamily="34" charset="-122"/>
                <a:cs typeface="Calibri" pitchFamily="34" charset="-120"/>
              </a:rPr>
              <a:t>GUIDED PRACTICE   |   STEP 3: CRITIQUE THE REVISION</a:t>
            </a:r>
            <a:endParaRPr lang="en-US" sz="1100" dirty="0"/>
          </a:p>
        </p:txBody>
      </p:sp>
      <p:sp>
        <p:nvSpPr>
          <p:cNvPr id="5" name="Text 3"/>
          <p:cNvSpPr/>
          <p:nvPr/>
        </p:nvSpPr>
        <p:spPr>
          <a:xfrm>
            <a:off x="365760" y="713232"/>
            <a:ext cx="8229600" cy="411480"/>
          </a:xfrm>
          <a:prstGeom prst="rect">
            <a:avLst/>
          </a:prstGeom>
          <a:noFill/>
          <a:ln/>
        </p:spPr>
        <p:txBody>
          <a:bodyPr wrap="square"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This student tried to revise — but is it strong enough?</a:t>
            </a:r>
            <a:endParaRPr lang="en-US" sz="2000" dirty="0"/>
          </a:p>
        </p:txBody>
      </p:sp>
      <p:sp>
        <p:nvSpPr>
          <p:cNvPr id="6" name="Shape 4"/>
          <p:cNvSpPr/>
          <p:nvPr/>
        </p:nvSpPr>
        <p:spPr>
          <a:xfrm>
            <a:off x="365760" y="1234440"/>
            <a:ext cx="8412480" cy="1234440"/>
          </a:xfrm>
          <a:prstGeom prst="roundRect">
            <a:avLst>
              <a:gd name="adj" fmla="val 8889"/>
            </a:avLst>
          </a:prstGeom>
          <a:solidFill>
            <a:srgbClr val="FFFFFF"/>
          </a:solidFill>
          <a:ln w="25400">
            <a:solidFill>
              <a:srgbClr val="E8636B"/>
            </a:solidFill>
            <a:prstDash val="solid"/>
          </a:ln>
        </p:spPr>
      </p:sp>
      <p:sp>
        <p:nvSpPr>
          <p:cNvPr id="7" name="Text 5"/>
          <p:cNvSpPr/>
          <p:nvPr/>
        </p:nvSpPr>
        <p:spPr>
          <a:xfrm>
            <a:off x="548640" y="1307592"/>
            <a:ext cx="4114800" cy="228600"/>
          </a:xfrm>
          <a:prstGeom prst="rect">
            <a:avLst/>
          </a:prstGeom>
          <a:noFill/>
          <a:ln/>
        </p:spPr>
        <p:txBody>
          <a:bodyPr wrap="square" rtlCol="0" anchor="ctr"/>
          <a:lstStyle/>
          <a:p>
            <a:pPr indent="0" marL="0">
              <a:buNone/>
            </a:pPr>
            <a:r>
              <a:rPr lang="en-US" sz="900" b="1" spc="150" kern="0" dirty="0">
                <a:solidFill>
                  <a:srgbClr val="E8636B"/>
                </a:solidFill>
                <a:latin typeface="Calibri" pitchFamily="34" charset="0"/>
                <a:ea typeface="Calibri" pitchFamily="34" charset="-122"/>
                <a:cs typeface="Calibri" pitchFamily="34" charset="-120"/>
              </a:rPr>
              <a:t>SAMPLE REVISION TO EVALUATE</a:t>
            </a:r>
            <a:endParaRPr lang="en-US" sz="900" dirty="0"/>
          </a:p>
        </p:txBody>
      </p:sp>
      <p:sp>
        <p:nvSpPr>
          <p:cNvPr id="8" name="Text 6"/>
          <p:cNvSpPr/>
          <p:nvPr/>
        </p:nvSpPr>
        <p:spPr>
          <a:xfrm>
            <a:off x="548640" y="1572768"/>
            <a:ext cx="8046720" cy="777240"/>
          </a:xfrm>
          <a:prstGeom prst="rect">
            <a:avLst/>
          </a:prstGeom>
          <a:noFill/>
          <a:ln/>
        </p:spPr>
        <p:txBody>
          <a:bodyPr wrap="square" rtlCol="0" anchor="ctr"/>
          <a:lstStyle/>
          <a:p>
            <a:pPr indent="0" marL="0">
              <a:buNone/>
            </a:pPr>
            <a:r>
              <a:rPr lang="en-US" sz="1300" i="1" dirty="0">
                <a:solidFill>
                  <a:srgbClr val="0E1C42"/>
                </a:solidFill>
                <a:latin typeface="Cambria" pitchFamily="34" charset="0"/>
                <a:ea typeface="Cambria" pitchFamily="34" charset="-122"/>
                <a:cs typeface="Cambria" pitchFamily="34" charset="-120"/>
              </a:rPr>
              <a:t>Original: "Florida's Indians lived simple lives in the swamps."</a:t>
            </a:r>
            <a:endParaRPr lang="en-US" sz="1300" dirty="0"/>
          </a:p>
          <a:p>
            <a:pPr indent="0" marL="0">
              <a:buNone/>
            </a:pPr>
            <a:r>
              <a:rPr lang="en-US" sz="1300" i="1" dirty="0">
                <a:solidFill>
                  <a:srgbClr val="0E1C42"/>
                </a:solidFill>
                <a:latin typeface="Cambria" pitchFamily="34" charset="0"/>
                <a:ea typeface="Cambria" pitchFamily="34" charset="-122"/>
                <a:cs typeface="Cambria" pitchFamily="34" charset="-120"/>
              </a:rPr>
              <a:t>Revision: "The Native Americans of Florida lived in Florida and did things there."</a:t>
            </a:r>
            <a:endParaRPr lang="en-US" sz="1300" dirty="0"/>
          </a:p>
        </p:txBody>
      </p:sp>
      <p:sp>
        <p:nvSpPr>
          <p:cNvPr id="9" name="Shape 7"/>
          <p:cNvSpPr/>
          <p:nvPr/>
        </p:nvSpPr>
        <p:spPr>
          <a:xfrm>
            <a:off x="365760" y="2578608"/>
            <a:ext cx="8412480" cy="1005840"/>
          </a:xfrm>
          <a:prstGeom prst="roundRect">
            <a:avLst>
              <a:gd name="adj" fmla="val 10909"/>
            </a:avLst>
          </a:prstGeom>
          <a:solidFill>
            <a:srgbClr val="FFFFFF"/>
          </a:solidFill>
          <a:ln w="12700">
            <a:solidFill>
              <a:srgbClr val="B0B8CC"/>
            </a:solidFill>
            <a:prstDash val="solid"/>
          </a:ln>
        </p:spPr>
      </p:sp>
      <p:sp>
        <p:nvSpPr>
          <p:cNvPr id="10" name="Text 8"/>
          <p:cNvSpPr/>
          <p:nvPr/>
        </p:nvSpPr>
        <p:spPr>
          <a:xfrm>
            <a:off x="548640" y="2651760"/>
            <a:ext cx="5486400" cy="228600"/>
          </a:xfrm>
          <a:prstGeom prst="rect">
            <a:avLst/>
          </a:prstGeom>
          <a:noFill/>
          <a:ln/>
        </p:spPr>
        <p:txBody>
          <a:bodyPr wrap="square"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EVALUATE: WHICH HABITS DOES THIS STILL BREAK?</a:t>
            </a:r>
            <a:endParaRPr lang="en-US" sz="900" dirty="0"/>
          </a:p>
        </p:txBody>
      </p:sp>
      <p:sp>
        <p:nvSpPr>
          <p:cNvPr id="11" name="Text 9"/>
          <p:cNvSpPr/>
          <p:nvPr/>
        </p:nvSpPr>
        <p:spPr>
          <a:xfrm>
            <a:off x="548640" y="2907792"/>
            <a:ext cx="8046720" cy="594360"/>
          </a:xfrm>
          <a:prstGeom prst="rect">
            <a:avLst/>
          </a:prstGeom>
          <a:noFill/>
          <a:ln/>
        </p:spPr>
        <p:txBody>
          <a:bodyPr wrap="square" rtlCol="0" anchor="t"/>
          <a:lstStyle/>
          <a:p>
            <a:pPr indent="0" marL="0">
              <a:buNone/>
            </a:pPr>
            <a:r>
              <a:rPr lang="en-US" sz="1200" dirty="0">
                <a:solidFill>
                  <a:srgbClr val="0E1C42"/>
                </a:solidFill>
                <a:latin typeface="Calibri" pitchFamily="34" charset="0"/>
                <a:ea typeface="Calibri" pitchFamily="34" charset="-122"/>
                <a:cs typeface="Calibri" pitchFamily="34" charset="-120"/>
              </a:rPr>
              <a:t>This revision removed 'simple' — but did it get better? Which of the four habits is it still failing? What would you tell this student to fix, and why?</a:t>
            </a:r>
            <a:endParaRPr lang="en-US" sz="1200" dirty="0"/>
          </a:p>
        </p:txBody>
      </p:sp>
      <p:sp>
        <p:nvSpPr>
          <p:cNvPr id="12" name="Shape 10"/>
          <p:cNvSpPr/>
          <p:nvPr/>
        </p:nvSpPr>
        <p:spPr>
          <a:xfrm>
            <a:off x="365760" y="3675888"/>
            <a:ext cx="8412480" cy="1207008"/>
          </a:xfrm>
          <a:prstGeom prst="roundRect">
            <a:avLst>
              <a:gd name="adj" fmla="val 9091"/>
            </a:avLst>
          </a:prstGeom>
          <a:solidFill>
            <a:srgbClr val="FFF3DC"/>
          </a:solidFill>
          <a:ln w="19050">
            <a:solidFill>
              <a:srgbClr val="F5E6C8"/>
            </a:solidFill>
            <a:prstDash val="solid"/>
          </a:ln>
        </p:spPr>
      </p:sp>
      <p:sp>
        <p:nvSpPr>
          <p:cNvPr id="13" name="Text 11"/>
          <p:cNvSpPr/>
          <p:nvPr/>
        </p:nvSpPr>
        <p:spPr>
          <a:xfrm>
            <a:off x="502920" y="373075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02920" y="3931920"/>
            <a:ext cx="8138160" cy="8869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revision is weak because it still breaks the habit of ___ — specifically, it doesn't include..."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stronger version would say ___ because that uses the habit of..."</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8B6FC0"/>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GUIDED PRACTICE   |   STEP 4: THE TRICKY ONE</a:t>
            </a:r>
            <a:endParaRPr lang="en-US" sz="1100" dirty="0"/>
          </a:p>
        </p:txBody>
      </p:sp>
      <p:sp>
        <p:nvSpPr>
          <p:cNvPr id="5" name="Text 3"/>
          <p:cNvSpPr/>
          <p:nvPr/>
        </p:nvSpPr>
        <p:spPr>
          <a:xfrm>
            <a:off x="365760" y="713232"/>
            <a:ext cx="8229600" cy="411480"/>
          </a:xfrm>
          <a:prstGeom prst="rect">
            <a:avLst/>
          </a:prstGeom>
          <a:noFill/>
          <a:ln/>
        </p:spPr>
        <p:txBody>
          <a:bodyPr wrap="square" rtlCol="0" anchor="ctr"/>
          <a:lstStyle/>
          <a:p>
            <a:pPr indent="0" marL="0">
              <a:buNone/>
            </a:pPr>
            <a:r>
              <a:rPr lang="en-US" sz="1800" b="1" dirty="0">
                <a:solidFill>
                  <a:srgbClr val="0E1C42"/>
                </a:solidFill>
                <a:latin typeface="Cambria" pitchFamily="34" charset="0"/>
                <a:ea typeface="Cambria" pitchFamily="34" charset="-122"/>
                <a:cs typeface="Cambria" pitchFamily="34" charset="-120"/>
              </a:rPr>
              <a:t>Assignment Question 3 — where reasonable historians can disagree</a:t>
            </a:r>
            <a:endParaRPr lang="en-US" sz="1800" dirty="0"/>
          </a:p>
        </p:txBody>
      </p:sp>
      <p:sp>
        <p:nvSpPr>
          <p:cNvPr id="6" name="Shape 4"/>
          <p:cNvSpPr/>
          <p:nvPr/>
        </p:nvSpPr>
        <p:spPr>
          <a:xfrm>
            <a:off x="365760" y="1207008"/>
            <a:ext cx="8412480" cy="1005840"/>
          </a:xfrm>
          <a:prstGeom prst="roundRect">
            <a:avLst>
              <a:gd name="adj" fmla="val 10909"/>
            </a:avLst>
          </a:prstGeom>
          <a:solidFill>
            <a:srgbClr val="FFFFFF"/>
          </a:solidFill>
          <a:ln w="25400">
            <a:solidFill>
              <a:srgbClr val="8B6FC0"/>
            </a:solidFill>
            <a:prstDash val="solid"/>
          </a:ln>
        </p:spPr>
      </p:sp>
      <p:sp>
        <p:nvSpPr>
          <p:cNvPr id="7" name="Text 5"/>
          <p:cNvSpPr/>
          <p:nvPr/>
        </p:nvSpPr>
        <p:spPr>
          <a:xfrm>
            <a:off x="548640" y="1280160"/>
            <a:ext cx="2743200" cy="228600"/>
          </a:xfrm>
          <a:prstGeom prst="rect">
            <a:avLst/>
          </a:prstGeom>
          <a:noFill/>
          <a:ln/>
        </p:spPr>
        <p:txBody>
          <a:bodyPr wrap="square"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THE QUESTION</a:t>
            </a:r>
            <a:endParaRPr lang="en-US" sz="900" dirty="0"/>
          </a:p>
        </p:txBody>
      </p:sp>
      <p:sp>
        <p:nvSpPr>
          <p:cNvPr id="8" name="Text 6"/>
          <p:cNvSpPr/>
          <p:nvPr/>
        </p:nvSpPr>
        <p:spPr>
          <a:xfrm>
            <a:off x="548640" y="1536192"/>
            <a:ext cx="8046720" cy="594360"/>
          </a:xfrm>
          <a:prstGeom prst="rect">
            <a:avLst/>
          </a:prstGeom>
          <a:noFill/>
          <a:ln/>
        </p:spPr>
        <p:txBody>
          <a:bodyPr wrap="square" rtlCol="0" anchor="t"/>
          <a:lstStyle/>
          <a:p>
            <a:pPr indent="0" marL="0">
              <a:buNone/>
            </a:pPr>
            <a:r>
              <a:rPr lang="en-US" sz="1200" i="1" dirty="0">
                <a:solidFill>
                  <a:srgbClr val="0E1C42"/>
                </a:solidFill>
                <a:latin typeface="Cambria" pitchFamily="34" charset="0"/>
                <a:ea typeface="Cambria" pitchFamily="34" charset="-122"/>
                <a:cs typeface="Cambria" pitchFamily="34" charset="-120"/>
              </a:rPr>
              <a:t>"Looking back across this whole unit — the map, the comparison, the tools, the artifact, the year-wheel, and the habits — what is ONE thing you want to remember about Florida's first peoples? There's no wrong answer — just an honest one."</a:t>
            </a:r>
            <a:endParaRPr lang="en-US" sz="1200" dirty="0"/>
          </a:p>
        </p:txBody>
      </p:sp>
      <p:sp>
        <p:nvSpPr>
          <p:cNvPr id="9" name="Shape 7"/>
          <p:cNvSpPr/>
          <p:nvPr/>
        </p:nvSpPr>
        <p:spPr>
          <a:xfrm>
            <a:off x="365760" y="2359152"/>
            <a:ext cx="4937760" cy="1691640"/>
          </a:xfrm>
          <a:prstGeom prst="roundRect">
            <a:avLst>
              <a:gd name="adj" fmla="val 8108"/>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548640" y="2450592"/>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548640" y="2706624"/>
            <a:ext cx="4572000" cy="12527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the question say 'no wrong answer' — does that mean any answer is equally good?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makes an honest answer here different from just saying something nice?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two students remember completely different things and both be right? What would make each one strong?</a:t>
            </a:r>
            <a:endParaRPr lang="en-US" sz="1100" dirty="0"/>
          </a:p>
        </p:txBody>
      </p:sp>
      <p:sp>
        <p:nvSpPr>
          <p:cNvPr id="12" name="Shape 10"/>
          <p:cNvSpPr/>
          <p:nvPr/>
        </p:nvSpPr>
        <p:spPr>
          <a:xfrm>
            <a:off x="5486400" y="2359152"/>
            <a:ext cx="3291840" cy="1691640"/>
          </a:xfrm>
          <a:prstGeom prst="roundRect">
            <a:avLst>
              <a:gd name="adj" fmla="val 6486"/>
            </a:avLst>
          </a:prstGeom>
          <a:solidFill>
            <a:srgbClr val="FFF3DC"/>
          </a:solidFill>
          <a:ln w="19050">
            <a:solidFill>
              <a:srgbClr val="F5E6C8"/>
            </a:solidFill>
            <a:prstDash val="solid"/>
          </a:ln>
        </p:spPr>
      </p:sp>
      <p:sp>
        <p:nvSpPr>
          <p:cNvPr id="13" name="Text 11"/>
          <p:cNvSpPr/>
          <p:nvPr/>
        </p:nvSpPr>
        <p:spPr>
          <a:xfrm>
            <a:off x="5577840" y="2432304"/>
            <a:ext cx="3108960" cy="228600"/>
          </a:xfrm>
          <a:prstGeom prst="rect">
            <a:avLst/>
          </a:prstGeom>
          <a:noFill/>
          <a:ln/>
        </p:spPr>
        <p:txBody>
          <a:bodyPr wrap="square"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TRANSFERABLE PATTERN</a:t>
            </a:r>
            <a:endParaRPr lang="en-US" sz="900" dirty="0"/>
          </a:p>
        </p:txBody>
      </p:sp>
      <p:sp>
        <p:nvSpPr>
          <p:cNvPr id="14" name="Text 12"/>
          <p:cNvSpPr/>
          <p:nvPr/>
        </p:nvSpPr>
        <p:spPr>
          <a:xfrm>
            <a:off x="5577840" y="2697480"/>
            <a:ext cx="3108960" cy="1234440"/>
          </a:xfrm>
          <a:prstGeom prst="rect">
            <a:avLst/>
          </a:prstGeom>
          <a:noFill/>
          <a:ln/>
        </p:spPr>
        <p:txBody>
          <a:bodyPr wrap="square" rtlCol="0" anchor="t"/>
          <a:lstStyle/>
          <a:p>
            <a:pPr indent="0" marL="0">
              <a:buNone/>
            </a:pPr>
            <a:r>
              <a:rPr lang="en-US" sz="1100" dirty="0">
                <a:solidFill>
                  <a:srgbClr val="5A4A3A"/>
                </a:solidFill>
                <a:latin typeface="Calibri" pitchFamily="34" charset="0"/>
                <a:ea typeface="Calibri" pitchFamily="34" charset="-122"/>
                <a:cs typeface="Calibri" pitchFamily="34" charset="-120"/>
              </a:rPr>
              <a:t>An honest answer connects to specific evidence. 'No wrong answer' doesn't mean vague or generic — it means the evidence can point in more than one honest direction.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11480"/>
          </a:xfrm>
          <a:prstGeom prst="roundRect">
            <a:avLst>
              <a:gd name="adj" fmla="val 22222"/>
            </a:avLst>
          </a:prstGeom>
          <a:solidFill>
            <a:srgbClr val="D4943A">
              <a:alpha val="80000"/>
            </a:srgbClr>
          </a:solidFill>
          <a:ln/>
        </p:spPr>
      </p:sp>
      <p:sp>
        <p:nvSpPr>
          <p:cNvPr id="6" name="Text 3"/>
          <p:cNvSpPr/>
          <p:nvPr/>
        </p:nvSpPr>
        <p:spPr>
          <a:xfrm>
            <a:off x="457200" y="274320"/>
            <a:ext cx="8229600" cy="411480"/>
          </a:xfrm>
          <a:prstGeom prst="rect">
            <a:avLst/>
          </a:prstGeom>
          <a:noFill/>
          <a:ln/>
        </p:spPr>
        <p:txBody>
          <a:bodyPr wrap="square" rtlCol="0" anchor="ctr"/>
          <a:lstStyle/>
          <a:p>
            <a:pPr algn="ctr" indent="0" marL="0">
              <a:buNone/>
            </a:pPr>
            <a:r>
              <a:rPr lang="en-US" sz="1400" b="1" spc="300" kern="0" dirty="0">
                <a:solidFill>
                  <a:srgbClr val="FFFFFF"/>
                </a:solidFill>
                <a:latin typeface="Calibri" pitchFamily="34" charset="0"/>
                <a:ea typeface="Calibri" pitchFamily="34" charset="-122"/>
                <a:cs typeface="Calibri" pitchFamily="34" charset="-120"/>
              </a:rPr>
              <a:t>VIRTUE SPOTLIGHT</a:t>
            </a:r>
            <a:endParaRPr lang="en-US" sz="1400" dirty="0"/>
          </a:p>
        </p:txBody>
      </p:sp>
      <p:sp>
        <p:nvSpPr>
          <p:cNvPr id="7" name="Text 4"/>
          <p:cNvSpPr/>
          <p:nvPr/>
        </p:nvSpPr>
        <p:spPr>
          <a:xfrm>
            <a:off x="457200" y="868680"/>
            <a:ext cx="8229600" cy="731520"/>
          </a:xfrm>
          <a:prstGeom prst="rect">
            <a:avLst/>
          </a:prstGeom>
          <a:noFill/>
          <a:ln/>
        </p:spPr>
        <p:txBody>
          <a:bodyPr wrap="square" rtlCol="0" anchor="ctr"/>
          <a:lstStyle/>
          <a:p>
            <a:pPr algn="ctr" indent="0" marL="0">
              <a:buNone/>
            </a:pPr>
            <a:r>
              <a:rPr lang="en-US" sz="5200" b="1" dirty="0">
                <a:solidFill>
                  <a:srgbClr val="D4943A"/>
                </a:solidFill>
                <a:latin typeface="Cambria" pitchFamily="34" charset="0"/>
                <a:ea typeface="Cambria" pitchFamily="34" charset="-122"/>
                <a:cs typeface="Cambria" pitchFamily="34" charset="-120"/>
              </a:rPr>
              <a:t>Courtesy</a:t>
            </a:r>
            <a:endParaRPr lang="en-US" sz="5200" dirty="0"/>
          </a:p>
        </p:txBody>
      </p:sp>
      <p:sp>
        <p:nvSpPr>
          <p:cNvPr id="8" name="Shape 5"/>
          <p:cNvSpPr/>
          <p:nvPr/>
        </p:nvSpPr>
        <p:spPr>
          <a:xfrm>
            <a:off x="1828800" y="1709928"/>
            <a:ext cx="5486400" cy="36576"/>
          </a:xfrm>
          <a:prstGeom prst="rect">
            <a:avLst/>
          </a:prstGeom>
          <a:solidFill>
            <a:srgbClr val="55C8E8"/>
          </a:solidFill>
          <a:ln/>
        </p:spPr>
      </p:sp>
      <p:sp>
        <p:nvSpPr>
          <p:cNvPr id="9" name="Text 6"/>
          <p:cNvSpPr/>
          <p:nvPr/>
        </p:nvSpPr>
        <p:spPr>
          <a:xfrm>
            <a:off x="731520" y="1828800"/>
            <a:ext cx="7680960" cy="1234440"/>
          </a:xfrm>
          <a:prstGeom prst="rect">
            <a:avLst/>
          </a:prstGeom>
          <a:noFill/>
          <a:ln/>
        </p:spPr>
        <p:txBody>
          <a:bodyPr wrap="square" rtlCol="0" anchor="ctr"/>
          <a:lstStyle/>
          <a:p>
            <a:pPr algn="ctr" indent="0" marL="0">
              <a:buNone/>
            </a:pPr>
            <a:r>
              <a:rPr lang="en-US" sz="1400" dirty="0">
                <a:solidFill>
                  <a:srgbClr val="F0F2F8"/>
                </a:solidFill>
                <a:latin typeface="Calibri" pitchFamily="34" charset="0"/>
                <a:ea typeface="Calibri" pitchFamily="34" charset="-122"/>
                <a:cs typeface="Calibri" pitchFamily="34" charset="-120"/>
              </a:rPr>
              <a:t>Courtesy in history is not the same as being polite. It's the working habit of using a people's real names, taking their choices seriously, not lumping different groups together, and remembering that the descendants of Florida's first peoples are still here today. Courtesy is responsibility, in plain English.</a:t>
            </a:r>
            <a:endParaRPr lang="en-US" sz="1400" dirty="0"/>
          </a:p>
        </p:txBody>
      </p:sp>
      <p:sp>
        <p:nvSpPr>
          <p:cNvPr id="10" name="Shape 7"/>
          <p:cNvSpPr/>
          <p:nvPr/>
        </p:nvSpPr>
        <p:spPr>
          <a:xfrm>
            <a:off x="457200" y="3182112"/>
            <a:ext cx="8229600" cy="1554480"/>
          </a:xfrm>
          <a:prstGeom prst="roundRect">
            <a:avLst>
              <a:gd name="adj" fmla="val 7059"/>
            </a:avLst>
          </a:prstGeom>
          <a:solidFill>
            <a:srgbClr val="1A2D5A"/>
          </a:solidFill>
          <a:ln/>
        </p:spPr>
      </p:sp>
      <p:sp>
        <p:nvSpPr>
          <p:cNvPr id="11" name="Text 8"/>
          <p:cNvSpPr/>
          <p:nvPr/>
        </p:nvSpPr>
        <p:spPr>
          <a:xfrm>
            <a:off x="640080" y="3255264"/>
            <a:ext cx="7863840" cy="228600"/>
          </a:xfrm>
          <a:prstGeom prst="rect">
            <a:avLst/>
          </a:prstGeom>
          <a:noFill/>
          <a:ln/>
        </p:spPr>
        <p:txBody>
          <a:bodyPr wrap="square"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STILL HERE TODAY</a:t>
            </a:r>
            <a:endParaRPr lang="en-US" sz="900" dirty="0"/>
          </a:p>
        </p:txBody>
      </p:sp>
      <p:sp>
        <p:nvSpPr>
          <p:cNvPr id="12" name="Text 9"/>
          <p:cNvSpPr/>
          <p:nvPr/>
        </p:nvSpPr>
        <p:spPr>
          <a:xfrm>
            <a:off x="640080" y="3520440"/>
            <a:ext cx="7863840" cy="1097280"/>
          </a:xfrm>
          <a:prstGeom prst="rect">
            <a:avLst/>
          </a:prstGeom>
          <a:noFill/>
          <a:ln/>
        </p:spPr>
        <p:txBody>
          <a:bodyPr wrap="square" rtlCol="0" anchor="t"/>
          <a:lstStyle/>
          <a:p>
            <a:pPr algn="ctr" indent="0" marL="0">
              <a:buNone/>
            </a:pPr>
            <a:r>
              <a:rPr lang="en-US" sz="1200" dirty="0">
                <a:solidFill>
                  <a:srgbClr val="F0F2F8"/>
                </a:solidFill>
                <a:latin typeface="Calibri" pitchFamily="34" charset="0"/>
                <a:ea typeface="Calibri" pitchFamily="34" charset="-122"/>
                <a:cs typeface="Calibri" pitchFamily="34" charset="-120"/>
              </a:rPr>
              <a:t>The Seminole Tribe of Florida and the Miccosukee Tribe of Indians of Florida are sovereign tribal nations with their own governments, schools, businesses, and websites. Florida's Native story isn't over — it's ongoing. When we write about Florida's past, we are also writing about people's living families.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0" y="0"/>
            <a:ext cx="9144000" cy="594360"/>
          </a:xfrm>
          <a:prstGeom prst="roundRect">
            <a:avLst/>
          </a:prstGeom>
          <a:solidFill>
            <a:srgbClr val="D4943A"/>
          </a:solidFill>
          <a:ln/>
        </p:spPr>
      </p:sp>
      <p:sp>
        <p:nvSpPr>
          <p:cNvPr id="4" name="Text 2"/>
          <p:cNvSpPr/>
          <p:nvPr/>
        </p:nvSpPr>
        <p:spPr>
          <a:xfrm>
            <a:off x="365760" y="164592"/>
            <a:ext cx="8229600" cy="27432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CANVAS ASSIGNMENT   |   Your Source Study — Rewriting With Care</a:t>
            </a:r>
            <a:endParaRPr lang="en-US" sz="1100" dirty="0"/>
          </a:p>
        </p:txBody>
      </p:sp>
      <p:sp>
        <p:nvSpPr>
          <p:cNvPr id="5" name="Shape 3"/>
          <p:cNvSpPr/>
          <p:nvPr/>
        </p:nvSpPr>
        <p:spPr>
          <a:xfrm>
            <a:off x="274320" y="685800"/>
            <a:ext cx="8595360" cy="987552"/>
          </a:xfrm>
          <a:prstGeom prst="roundRect">
            <a:avLst>
              <a:gd name="adj" fmla="val 9259"/>
            </a:avLst>
          </a:prstGeom>
          <a:solidFill>
            <a:srgbClr val="FFFFFF"/>
          </a:solidFill>
          <a:ln w="12700">
            <a:solidFill>
              <a:srgbClr val="D4943A"/>
            </a:solidFill>
            <a:prstDash val="solid"/>
          </a:ln>
        </p:spPr>
      </p:sp>
      <p:sp>
        <p:nvSpPr>
          <p:cNvPr id="6" name="Text 4"/>
          <p:cNvSpPr/>
          <p:nvPr/>
        </p:nvSpPr>
        <p:spPr>
          <a:xfrm>
            <a:off x="457200" y="758952"/>
            <a:ext cx="411480" cy="411480"/>
          </a:xfrm>
          <a:prstGeom prst="rect">
            <a:avLst/>
          </a:prstGeom>
          <a:noFill/>
          <a:ln/>
        </p:spPr>
        <p:txBody>
          <a:bodyPr wrap="square" rtlCol="0" anchor="ctr"/>
          <a:lstStyle/>
          <a:p>
            <a:pPr algn="ctr" indent="0" marL="0">
              <a:buNone/>
            </a:pPr>
            <a:r>
              <a:rPr lang="en-US" sz="1600" b="1" dirty="0">
                <a:solidFill>
                  <a:srgbClr val="D4943A"/>
                </a:solidFill>
                <a:latin typeface="Calibri" pitchFamily="34" charset="0"/>
                <a:ea typeface="Calibri" pitchFamily="34" charset="-122"/>
                <a:cs typeface="Calibri" pitchFamily="34" charset="-120"/>
              </a:rPr>
              <a:t>Q1</a:t>
            </a:r>
            <a:endParaRPr lang="en-US" sz="1600" dirty="0"/>
          </a:p>
        </p:txBody>
      </p:sp>
      <p:sp>
        <p:nvSpPr>
          <p:cNvPr id="7" name="Text 5"/>
          <p:cNvSpPr/>
          <p:nvPr/>
        </p:nvSpPr>
        <p:spPr>
          <a:xfrm>
            <a:off x="914400" y="758952"/>
            <a:ext cx="7772400" cy="74980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Name two habits of a courteous historian-citizen from today's lesson. Use today's lesson — not your own guesses.</a:t>
            </a:r>
            <a:endParaRPr lang="en-US" sz="1200" dirty="0"/>
          </a:p>
        </p:txBody>
      </p:sp>
      <p:sp>
        <p:nvSpPr>
          <p:cNvPr id="8" name="Shape 6"/>
          <p:cNvSpPr/>
          <p:nvPr/>
        </p:nvSpPr>
        <p:spPr>
          <a:xfrm>
            <a:off x="274320" y="1783080"/>
            <a:ext cx="8595360" cy="987552"/>
          </a:xfrm>
          <a:prstGeom prst="roundRect">
            <a:avLst>
              <a:gd name="adj" fmla="val 9259"/>
            </a:avLst>
          </a:prstGeom>
          <a:solidFill>
            <a:srgbClr val="FFFFFF"/>
          </a:solidFill>
          <a:ln w="12700">
            <a:solidFill>
              <a:srgbClr val="D4943A"/>
            </a:solidFill>
            <a:prstDash val="solid"/>
          </a:ln>
        </p:spPr>
      </p:sp>
      <p:sp>
        <p:nvSpPr>
          <p:cNvPr id="9" name="Text 7"/>
          <p:cNvSpPr/>
          <p:nvPr/>
        </p:nvSpPr>
        <p:spPr>
          <a:xfrm>
            <a:off x="457200" y="1856232"/>
            <a:ext cx="411480" cy="411480"/>
          </a:xfrm>
          <a:prstGeom prst="rect">
            <a:avLst/>
          </a:prstGeom>
          <a:noFill/>
          <a:ln/>
        </p:spPr>
        <p:txBody>
          <a:bodyPr wrap="square" rtlCol="0" anchor="ctr"/>
          <a:lstStyle/>
          <a:p>
            <a:pPr algn="ctr" indent="0" marL="0">
              <a:buNone/>
            </a:pPr>
            <a:r>
              <a:rPr lang="en-US" sz="1600" b="1" dirty="0">
                <a:solidFill>
                  <a:srgbClr val="D4943A"/>
                </a:solidFill>
                <a:latin typeface="Calibri" pitchFamily="34" charset="0"/>
                <a:ea typeface="Calibri" pitchFamily="34" charset="-122"/>
                <a:cs typeface="Calibri" pitchFamily="34" charset="-120"/>
              </a:rPr>
              <a:t>Q2</a:t>
            </a:r>
            <a:endParaRPr lang="en-US" sz="1600" dirty="0"/>
          </a:p>
        </p:txBody>
      </p:sp>
      <p:sp>
        <p:nvSpPr>
          <p:cNvPr id="10" name="Text 8"/>
          <p:cNvSpPr/>
          <p:nvPr/>
        </p:nvSpPr>
        <p:spPr>
          <a:xfrm>
            <a:off x="914400" y="1856232"/>
            <a:ext cx="7772400" cy="74980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Why is it important to remember that the descendants of Florida's first peoples — including the Seminole Tribe of Florida and the Miccosukee Tribe — are still here today? Connect your answer to one of the four historian's habits from the lesson.</a:t>
            </a:r>
            <a:endParaRPr lang="en-US" sz="1200" dirty="0"/>
          </a:p>
        </p:txBody>
      </p:sp>
      <p:sp>
        <p:nvSpPr>
          <p:cNvPr id="11" name="Shape 9"/>
          <p:cNvSpPr/>
          <p:nvPr/>
        </p:nvSpPr>
        <p:spPr>
          <a:xfrm>
            <a:off x="274320" y="2880360"/>
            <a:ext cx="8595360" cy="987552"/>
          </a:xfrm>
          <a:prstGeom prst="roundRect">
            <a:avLst>
              <a:gd name="adj" fmla="val 9259"/>
            </a:avLst>
          </a:prstGeom>
          <a:solidFill>
            <a:srgbClr val="FFFFFF"/>
          </a:solidFill>
          <a:ln w="12700">
            <a:solidFill>
              <a:srgbClr val="D4943A"/>
            </a:solidFill>
            <a:prstDash val="solid"/>
          </a:ln>
        </p:spPr>
      </p:sp>
      <p:sp>
        <p:nvSpPr>
          <p:cNvPr id="12" name="Text 10"/>
          <p:cNvSpPr/>
          <p:nvPr/>
        </p:nvSpPr>
        <p:spPr>
          <a:xfrm>
            <a:off x="457200" y="2953512"/>
            <a:ext cx="411480" cy="411480"/>
          </a:xfrm>
          <a:prstGeom prst="rect">
            <a:avLst/>
          </a:prstGeom>
          <a:noFill/>
          <a:ln/>
        </p:spPr>
        <p:txBody>
          <a:bodyPr wrap="square" rtlCol="0" anchor="ctr"/>
          <a:lstStyle/>
          <a:p>
            <a:pPr algn="ctr" indent="0" marL="0">
              <a:buNone/>
            </a:pPr>
            <a:r>
              <a:rPr lang="en-US" sz="1600" b="1" dirty="0">
                <a:solidFill>
                  <a:srgbClr val="D4943A"/>
                </a:solidFill>
                <a:latin typeface="Calibri" pitchFamily="34" charset="0"/>
                <a:ea typeface="Calibri" pitchFamily="34" charset="-122"/>
                <a:cs typeface="Calibri" pitchFamily="34" charset="-120"/>
              </a:rPr>
              <a:t>Q3</a:t>
            </a:r>
            <a:endParaRPr lang="en-US" sz="1600" dirty="0"/>
          </a:p>
        </p:txBody>
      </p:sp>
      <p:sp>
        <p:nvSpPr>
          <p:cNvPr id="13" name="Text 11"/>
          <p:cNvSpPr/>
          <p:nvPr/>
        </p:nvSpPr>
        <p:spPr>
          <a:xfrm>
            <a:off x="914400" y="2953512"/>
            <a:ext cx="7772400" cy="749808"/>
          </a:xfrm>
          <a:prstGeom prst="rect">
            <a:avLst/>
          </a:prstGeom>
          <a:noFill/>
          <a:ln/>
        </p:spPr>
        <p:txBody>
          <a:bodyPr wrap="square" rtlCol="0" anchor="ctr"/>
          <a:lstStyle/>
          <a:p>
            <a:pPr indent="0" marL="0">
              <a:buNone/>
            </a:pPr>
            <a:r>
              <a:rPr lang="en-US" sz="1200" dirty="0">
                <a:solidFill>
                  <a:srgbClr val="0E1C42"/>
                </a:solidFill>
                <a:latin typeface="Calibri" pitchFamily="34" charset="0"/>
                <a:ea typeface="Calibri" pitchFamily="34" charset="-122"/>
                <a:cs typeface="Calibri" pitchFamily="34" charset="-120"/>
              </a:rPr>
              <a:t>Looking back across this whole unit — what is one thing you want to remember about Florida's first peoples? There's no wrong answer — just an honest one. Write what stuck with you.</a:t>
            </a:r>
            <a:endParaRPr lang="en-US" sz="1200" dirty="0"/>
          </a:p>
        </p:txBody>
      </p:sp>
      <p:sp>
        <p:nvSpPr>
          <p:cNvPr id="14" name="Shape 12"/>
          <p:cNvSpPr/>
          <p:nvPr/>
        </p:nvSpPr>
        <p:spPr>
          <a:xfrm>
            <a:off x="274320" y="3474720"/>
            <a:ext cx="8595360" cy="1389888"/>
          </a:xfrm>
          <a:prstGeom prst="roundRect">
            <a:avLst>
              <a:gd name="adj" fmla="val 6579"/>
            </a:avLst>
          </a:prstGeom>
          <a:solidFill>
            <a:srgbClr val="1A2D5A"/>
          </a:solidFill>
          <a:ln/>
        </p:spPr>
      </p:sp>
      <p:sp>
        <p:nvSpPr>
          <p:cNvPr id="15" name="Text 13"/>
          <p:cNvSpPr/>
          <p:nvPr/>
        </p:nvSpPr>
        <p:spPr>
          <a:xfrm>
            <a:off x="457200" y="3547872"/>
            <a:ext cx="8229600" cy="256032"/>
          </a:xfrm>
          <a:prstGeom prst="rect">
            <a:avLst/>
          </a:prstGeom>
          <a:noFill/>
          <a:ln/>
        </p:spPr>
        <p:txBody>
          <a:bodyPr wrap="square" rtlCol="0" anchor="ctr"/>
          <a:lstStyle/>
          <a:p>
            <a:pPr indent="0" marL="0">
              <a:buNone/>
            </a:pPr>
            <a:r>
              <a:rPr lang="en-US" sz="1000" b="1" spc="100" kern="0" dirty="0">
                <a:solidFill>
                  <a:srgbClr val="D4943A"/>
                </a:solidFill>
                <a:latin typeface="Calibri" pitchFamily="34" charset="0"/>
                <a:ea typeface="Calibri" pitchFamily="34" charset="-122"/>
                <a:cs typeface="Calibri" pitchFamily="34" charset="-120"/>
              </a:rPr>
              <a:t>UNLOCK CHALLENGE: Source Study Report — Rewriting With Care</a:t>
            </a:r>
            <a:endParaRPr lang="en-US" sz="1000" dirty="0"/>
          </a:p>
        </p:txBody>
      </p:sp>
      <p:sp>
        <p:nvSpPr>
          <p:cNvPr id="16" name="Text 14"/>
          <p:cNvSpPr/>
          <p:nvPr/>
        </p:nvSpPr>
        <p:spPr>
          <a:xfrm>
            <a:off x="457200" y="3822192"/>
            <a:ext cx="8229600" cy="932688"/>
          </a:xfrm>
          <a:prstGeom prst="rect">
            <a:avLst/>
          </a:prstGeom>
          <a:noFill/>
          <a:ln/>
        </p:spPr>
        <p:txBody>
          <a:bodyPr wrap="square" rtlCol="0" anchor="t"/>
          <a:lstStyle/>
          <a:p>
            <a:pPr indent="0" marL="0">
              <a:buNone/>
            </a:pPr>
            <a:r>
              <a:rPr lang="en-US" sz="1100" dirty="0">
                <a:solidFill>
                  <a:srgbClr val="F0F2F8"/>
                </a:solidFill>
                <a:latin typeface="Calibri" pitchFamily="34" charset="0"/>
                <a:ea typeface="Calibri" pitchFamily="34" charset="-122"/>
                <a:cs typeface="Calibri" pitchFamily="34" charset="-120"/>
              </a:rPr>
              <a:t>Revise: 'Florida's Indians lived simple lives in the swamps until Europeans showed up.' Your rewrite must: (1) use at least one real people's name, (2) name a specific place or environment, (3) name a specific way they lived, (4) avoid flattening words like 'simple.'</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09728"/>
            <a:ext cx="2743200" cy="256032"/>
          </a:xfrm>
          <a:prstGeom prst="rect">
            <a:avLst/>
          </a:prstGeom>
          <a:noFill/>
          <a:ln/>
        </p:spPr>
        <p:txBody>
          <a:bodyPr wrap="square"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SELF-CHECK</a:t>
            </a:r>
            <a:endParaRPr lang="en-US" sz="900" dirty="0"/>
          </a:p>
        </p:txBody>
      </p:sp>
      <p:sp>
        <p:nvSpPr>
          <p:cNvPr id="4" name="Text 2"/>
          <p:cNvSpPr/>
          <p:nvPr/>
        </p:nvSpPr>
        <p:spPr>
          <a:xfrm>
            <a:off x="365760" y="365760"/>
            <a:ext cx="8229600" cy="457200"/>
          </a:xfrm>
          <a:prstGeom prst="rect">
            <a:avLst/>
          </a:prstGeom>
          <a:noFill/>
          <a:ln/>
        </p:spPr>
        <p:txBody>
          <a:bodyPr wrap="square"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Quick check — then go to Canvas</a:t>
            </a:r>
            <a:endParaRPr lang="en-US" sz="2400" dirty="0"/>
          </a:p>
        </p:txBody>
      </p:sp>
      <p:sp>
        <p:nvSpPr>
          <p:cNvPr id="5" name="Shape 3"/>
          <p:cNvSpPr/>
          <p:nvPr/>
        </p:nvSpPr>
        <p:spPr>
          <a:xfrm>
            <a:off x="274320" y="932688"/>
            <a:ext cx="8595360" cy="1188720"/>
          </a:xfrm>
          <a:prstGeom prst="roundRect">
            <a:avLst>
              <a:gd name="adj" fmla="val 7692"/>
            </a:avLst>
          </a:prstGeom>
          <a:solidFill>
            <a:srgbClr val="FFFFFF"/>
          </a:solidFill>
          <a:ln w="12700">
            <a:solidFill>
              <a:srgbClr val="B0B8CC"/>
            </a:solidFill>
            <a:prstDash val="solid"/>
          </a:ln>
        </p:spPr>
      </p:sp>
      <p:sp>
        <p:nvSpPr>
          <p:cNvPr id="6" name="Text 4"/>
          <p:cNvSpPr/>
          <p:nvPr/>
        </p:nvSpPr>
        <p:spPr>
          <a:xfrm>
            <a:off x="457200" y="1005840"/>
            <a:ext cx="8229600" cy="41148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1. Which sentence shows the habits of a courteous historian-citizen?</a:t>
            </a:r>
            <a:endParaRPr lang="en-US" sz="1200" dirty="0"/>
          </a:p>
        </p:txBody>
      </p:sp>
      <p:sp>
        <p:nvSpPr>
          <p:cNvPr id="7" name="Shape 5"/>
          <p:cNvSpPr/>
          <p:nvPr/>
        </p:nvSpPr>
        <p:spPr>
          <a:xfrm>
            <a:off x="457200" y="1399032"/>
            <a:ext cx="36576" cy="640080"/>
          </a:xfrm>
          <a:prstGeom prst="rect">
            <a:avLst/>
          </a:prstGeom>
          <a:solidFill>
            <a:srgbClr val="34B76F"/>
          </a:solidFill>
          <a:ln/>
        </p:spPr>
      </p:sp>
      <p:sp>
        <p:nvSpPr>
          <p:cNvPr id="8" name="Text 6"/>
          <p:cNvSpPr/>
          <p:nvPr/>
        </p:nvSpPr>
        <p:spPr>
          <a:xfrm>
            <a:off x="594360" y="1417320"/>
            <a:ext cx="8138160" cy="594360"/>
          </a:xfrm>
          <a:prstGeom prst="rect">
            <a:avLst/>
          </a:prstGeom>
          <a:noFill/>
          <a:ln/>
        </p:spPr>
        <p:txBody>
          <a:bodyPr wrap="square" rtlCol="0" anchor="t"/>
          <a:lstStyle/>
          <a:p>
            <a:pPr indent="0" marL="0">
              <a:buNone/>
            </a:pPr>
            <a:r>
              <a:rPr lang="en-US" sz="1100" i="1" dirty="0">
                <a:solidFill>
                  <a:srgbClr val="1A8A7D"/>
                </a:solidFill>
                <a:latin typeface="Calibri" pitchFamily="34" charset="0"/>
                <a:ea typeface="Calibri" pitchFamily="34" charset="-122"/>
                <a:cs typeface="Calibri" pitchFamily="34" charset="-120"/>
              </a:rPr>
              <a:t>'The Calusa built towns on shell islands along Florida's southwest coast and traveled the mangroves by dugout canoe.' — real name, specific place, specific choice.</a:t>
            </a:r>
            <a:endParaRPr lang="en-US" sz="1100" dirty="0"/>
          </a:p>
        </p:txBody>
      </p:sp>
      <p:sp>
        <p:nvSpPr>
          <p:cNvPr id="9" name="Shape 7"/>
          <p:cNvSpPr/>
          <p:nvPr/>
        </p:nvSpPr>
        <p:spPr>
          <a:xfrm>
            <a:off x="274320" y="2258568"/>
            <a:ext cx="8595360" cy="1188720"/>
          </a:xfrm>
          <a:prstGeom prst="roundRect">
            <a:avLst>
              <a:gd name="adj" fmla="val 7692"/>
            </a:avLst>
          </a:prstGeom>
          <a:solidFill>
            <a:srgbClr val="FFFFFF"/>
          </a:solidFill>
          <a:ln w="12700">
            <a:solidFill>
              <a:srgbClr val="B0B8CC"/>
            </a:solidFill>
            <a:prstDash val="solid"/>
          </a:ln>
        </p:spPr>
      </p:sp>
      <p:sp>
        <p:nvSpPr>
          <p:cNvPr id="10" name="Text 8"/>
          <p:cNvSpPr/>
          <p:nvPr/>
        </p:nvSpPr>
        <p:spPr>
          <a:xfrm>
            <a:off x="457200" y="2331720"/>
            <a:ext cx="8229600" cy="41148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2. Which statement about Florida's Native peoples today is accurate?</a:t>
            </a:r>
            <a:endParaRPr lang="en-US" sz="1200" dirty="0"/>
          </a:p>
        </p:txBody>
      </p:sp>
      <p:sp>
        <p:nvSpPr>
          <p:cNvPr id="11" name="Shape 9"/>
          <p:cNvSpPr/>
          <p:nvPr/>
        </p:nvSpPr>
        <p:spPr>
          <a:xfrm>
            <a:off x="457200" y="2724912"/>
            <a:ext cx="36576" cy="640080"/>
          </a:xfrm>
          <a:prstGeom prst="rect">
            <a:avLst/>
          </a:prstGeom>
          <a:solidFill>
            <a:srgbClr val="34B76F"/>
          </a:solidFill>
          <a:ln/>
        </p:spPr>
      </p:sp>
      <p:sp>
        <p:nvSpPr>
          <p:cNvPr id="12" name="Text 10"/>
          <p:cNvSpPr/>
          <p:nvPr/>
        </p:nvSpPr>
        <p:spPr>
          <a:xfrm>
            <a:off x="594360" y="2743200"/>
            <a:ext cx="8138160" cy="594360"/>
          </a:xfrm>
          <a:prstGeom prst="rect">
            <a:avLst/>
          </a:prstGeom>
          <a:noFill/>
          <a:ln/>
        </p:spPr>
        <p:txBody>
          <a:bodyPr wrap="square" rtlCol="0" anchor="t"/>
          <a:lstStyle/>
          <a:p>
            <a:pPr indent="0" marL="0">
              <a:buNone/>
            </a:pPr>
            <a:r>
              <a:rPr lang="en-US" sz="1100" i="1" dirty="0">
                <a:solidFill>
                  <a:srgbClr val="1A8A7D"/>
                </a:solidFill>
                <a:latin typeface="Calibri" pitchFamily="34" charset="0"/>
                <a:ea typeface="Calibri" pitchFamily="34" charset="-122"/>
                <a:cs typeface="Calibri" pitchFamily="34" charset="-120"/>
              </a:rPr>
              <a:t>The Seminole Tribe of Florida and the Miccosukee Tribe of Indians of Florida are sovereign tribal nations that live in Florida today.</a:t>
            </a:r>
            <a:endParaRPr lang="en-US" sz="1100" dirty="0"/>
          </a:p>
        </p:txBody>
      </p:sp>
      <p:sp>
        <p:nvSpPr>
          <p:cNvPr id="13" name="Shape 11"/>
          <p:cNvSpPr/>
          <p:nvPr/>
        </p:nvSpPr>
        <p:spPr>
          <a:xfrm>
            <a:off x="274320" y="3584448"/>
            <a:ext cx="8595360" cy="1188720"/>
          </a:xfrm>
          <a:prstGeom prst="roundRect">
            <a:avLst>
              <a:gd name="adj" fmla="val 7692"/>
            </a:avLst>
          </a:prstGeom>
          <a:solidFill>
            <a:srgbClr val="FFFFFF"/>
          </a:solidFill>
          <a:ln w="12700">
            <a:solidFill>
              <a:srgbClr val="B0B8CC"/>
            </a:solidFill>
            <a:prstDash val="solid"/>
          </a:ln>
        </p:spPr>
      </p:sp>
      <p:sp>
        <p:nvSpPr>
          <p:cNvPr id="14" name="Text 12"/>
          <p:cNvSpPr/>
          <p:nvPr/>
        </p:nvSpPr>
        <p:spPr>
          <a:xfrm>
            <a:off x="457200" y="3657600"/>
            <a:ext cx="8229600" cy="411480"/>
          </a:xfrm>
          <a:prstGeom prst="rect">
            <a:avLst/>
          </a:prstGeom>
          <a:noFill/>
          <a:ln/>
        </p:spPr>
        <p:txBody>
          <a:bodyPr wrap="square"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3. 'Courtesy is just being polite — it doesn't change the history.' Strongest pushback:</a:t>
            </a:r>
            <a:endParaRPr lang="en-US" sz="1200" dirty="0"/>
          </a:p>
        </p:txBody>
      </p:sp>
      <p:sp>
        <p:nvSpPr>
          <p:cNvPr id="15" name="Shape 13"/>
          <p:cNvSpPr/>
          <p:nvPr/>
        </p:nvSpPr>
        <p:spPr>
          <a:xfrm>
            <a:off x="457200" y="4050792"/>
            <a:ext cx="36576" cy="640080"/>
          </a:xfrm>
          <a:prstGeom prst="rect">
            <a:avLst/>
          </a:prstGeom>
          <a:solidFill>
            <a:srgbClr val="34B76F"/>
          </a:solidFill>
          <a:ln/>
        </p:spPr>
      </p:sp>
      <p:sp>
        <p:nvSpPr>
          <p:cNvPr id="16" name="Text 14"/>
          <p:cNvSpPr/>
          <p:nvPr/>
        </p:nvSpPr>
        <p:spPr>
          <a:xfrm>
            <a:off x="594360" y="4069080"/>
            <a:ext cx="8138160" cy="594360"/>
          </a:xfrm>
          <a:prstGeom prst="rect">
            <a:avLst/>
          </a:prstGeom>
          <a:noFill/>
          <a:ln/>
        </p:spPr>
        <p:txBody>
          <a:bodyPr wrap="square" rtlCol="0" anchor="t"/>
          <a:lstStyle/>
          <a:p>
            <a:pPr indent="0" marL="0">
              <a:buNone/>
            </a:pPr>
            <a:r>
              <a:rPr lang="en-US" sz="1100" i="1" dirty="0">
                <a:solidFill>
                  <a:srgbClr val="1A8A7D"/>
                </a:solidFill>
                <a:latin typeface="Calibri" pitchFamily="34" charset="0"/>
                <a:ea typeface="Calibri" pitchFamily="34" charset="-122"/>
                <a:cs typeface="Calibri" pitchFamily="34" charset="-120"/>
              </a:rPr>
              <a:t>The careless and careful sentences describe the same people but leave very different ideas in a reader's mind. How we write IS part of the history.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457200" y="274320"/>
            <a:ext cx="8229600" cy="457200"/>
          </a:xfrm>
          <a:prstGeom prst="roundRect">
            <a:avLst>
              <a:gd name="adj" fmla="val 20000"/>
            </a:avLst>
          </a:prstGeom>
          <a:solidFill>
            <a:srgbClr val="34B76F">
              <a:alpha val="85000"/>
            </a:srgbClr>
          </a:solidFill>
          <a:ln/>
        </p:spPr>
      </p:sp>
      <p:sp>
        <p:nvSpPr>
          <p:cNvPr id="6" name="Text 3"/>
          <p:cNvSpPr/>
          <p:nvPr/>
        </p:nvSpPr>
        <p:spPr>
          <a:xfrm>
            <a:off x="457200" y="274320"/>
            <a:ext cx="8229600" cy="457200"/>
          </a:xfrm>
          <a:prstGeom prst="rect">
            <a:avLst/>
          </a:prstGeom>
          <a:noFill/>
          <a:ln/>
        </p:spPr>
        <p:txBody>
          <a:bodyPr wrap="square" rtlCol="0" anchor="ctr"/>
          <a:lstStyle/>
          <a:p>
            <a:pPr algn="ctr" indent="0" marL="0">
              <a:buNone/>
            </a:pPr>
            <a:r>
              <a:rPr lang="en-US" sz="1500" b="1" spc="200" kern="0" dirty="0">
                <a:solidFill>
                  <a:srgbClr val="FFFFFF"/>
                </a:solidFill>
                <a:latin typeface="Calibri" pitchFamily="34" charset="0"/>
                <a:ea typeface="Calibri" pitchFamily="34" charset="-122"/>
                <a:cs typeface="Calibri" pitchFamily="34" charset="-120"/>
              </a:rPr>
              <a:t>UNIT COMPLETE — FIRST FLORIDIANS FILE SEALED</a:t>
            </a:r>
            <a:endParaRPr lang="en-US" sz="1500" dirty="0"/>
          </a:p>
        </p:txBody>
      </p:sp>
      <p:sp>
        <p:nvSpPr>
          <p:cNvPr id="7" name="Text 4"/>
          <p:cNvSpPr/>
          <p:nvPr/>
        </p:nvSpPr>
        <p:spPr>
          <a:xfrm>
            <a:off x="457200" y="896112"/>
            <a:ext cx="8229600" cy="548640"/>
          </a:xfrm>
          <a:prstGeom prst="rect">
            <a:avLst/>
          </a:prstGeom>
          <a:noFill/>
          <a:ln/>
        </p:spPr>
        <p:txBody>
          <a:bodyPr wrap="square" rtlCol="0" anchor="ctr"/>
          <a:lstStyle/>
          <a:p>
            <a:pPr algn="ctr" indent="0" marL="0">
              <a:buNone/>
            </a:pPr>
            <a:r>
              <a:rPr lang="en-US" sz="1600" b="1" dirty="0">
                <a:solidFill>
                  <a:srgbClr val="D4943A"/>
                </a:solidFill>
                <a:latin typeface="Cambria" pitchFamily="34" charset="0"/>
                <a:ea typeface="Cambria" pitchFamily="34" charset="-122"/>
                <a:cs typeface="Cambria" pitchFamily="34" charset="-120"/>
              </a:rPr>
              <a:t>Responsible historians use respectful language and evidence when studying real people and cultures.</a:t>
            </a:r>
            <a:endParaRPr lang="en-US" sz="1600" dirty="0"/>
          </a:p>
        </p:txBody>
      </p:sp>
      <p:sp>
        <p:nvSpPr>
          <p:cNvPr id="8" name="Shape 5"/>
          <p:cNvSpPr/>
          <p:nvPr/>
        </p:nvSpPr>
        <p:spPr>
          <a:xfrm>
            <a:off x="1371600" y="1536192"/>
            <a:ext cx="6400800" cy="36576"/>
          </a:xfrm>
          <a:prstGeom prst="rect">
            <a:avLst/>
          </a:prstGeom>
          <a:solidFill>
            <a:srgbClr val="55C8E8"/>
          </a:solidFill>
          <a:ln/>
        </p:spPr>
      </p:sp>
      <p:sp>
        <p:nvSpPr>
          <p:cNvPr id="9" name="Text 6"/>
          <p:cNvSpPr/>
          <p:nvPr/>
        </p:nvSpPr>
        <p:spPr>
          <a:xfrm>
            <a:off x="457200" y="1664208"/>
            <a:ext cx="8229600" cy="256032"/>
          </a:xfrm>
          <a:prstGeom prst="rect">
            <a:avLst/>
          </a:prstGeom>
          <a:noFill/>
          <a:ln/>
        </p:spPr>
        <p:txBody>
          <a:bodyPr wrap="square" rtlCol="0" anchor="ctr"/>
          <a:lstStyle/>
          <a:p>
            <a:pPr algn="ctr" indent="0" marL="0">
              <a:buNone/>
            </a:pPr>
            <a:r>
              <a:rPr lang="en-US" sz="1000" b="1" spc="150" kern="0" dirty="0">
                <a:solidFill>
                  <a:srgbClr val="55C8E8"/>
                </a:solidFill>
                <a:latin typeface="Calibri" pitchFamily="34" charset="0"/>
                <a:ea typeface="Calibri" pitchFamily="34" charset="-122"/>
                <a:cs typeface="Calibri" pitchFamily="34" charset="-120"/>
              </a:rPr>
              <a:t>SIX FILES LOCKED IN UNIT 3:</a:t>
            </a:r>
            <a:endParaRPr lang="en-US" sz="1000" dirty="0"/>
          </a:p>
        </p:txBody>
      </p:sp>
      <p:sp>
        <p:nvSpPr>
          <p:cNvPr id="10" name="Text 7"/>
          <p:cNvSpPr/>
          <p:nvPr/>
        </p:nvSpPr>
        <p:spPr>
          <a:xfrm>
            <a:off x="2286000" y="1993392"/>
            <a:ext cx="4572000" cy="274320"/>
          </a:xfrm>
          <a:prstGeom prst="rect">
            <a:avLst/>
          </a:prstGeom>
          <a:noFill/>
          <a:ln/>
        </p:spPr>
        <p:txBody>
          <a:bodyPr wrap="square" rtlCol="0" anchor="ctr"/>
          <a:lstStyle/>
          <a:p>
            <a:pPr algn="ctr" indent="0" marL="0">
              <a:buNone/>
            </a:pPr>
            <a:r>
              <a:rPr lang="en-US" sz="1100" dirty="0">
                <a:solidFill>
                  <a:srgbClr val="F0F2F8"/>
                </a:solidFill>
                <a:latin typeface="Calibri" pitchFamily="34" charset="0"/>
                <a:ea typeface="Calibri" pitchFamily="34" charset="-122"/>
                <a:cs typeface="Calibri" pitchFamily="34" charset="-120"/>
              </a:rPr>
              <a:t>+ 3.01 — First Peoples &amp; Environments</a:t>
            </a:r>
            <a:endParaRPr lang="en-US" sz="1100" dirty="0"/>
          </a:p>
        </p:txBody>
      </p:sp>
      <p:sp>
        <p:nvSpPr>
          <p:cNvPr id="11" name="Text 8"/>
          <p:cNvSpPr/>
          <p:nvPr/>
        </p:nvSpPr>
        <p:spPr>
          <a:xfrm>
            <a:off x="2286000" y="2313432"/>
            <a:ext cx="4572000" cy="274320"/>
          </a:xfrm>
          <a:prstGeom prst="rect">
            <a:avLst/>
          </a:prstGeom>
          <a:noFill/>
          <a:ln/>
        </p:spPr>
        <p:txBody>
          <a:bodyPr wrap="square" rtlCol="0" anchor="ctr"/>
          <a:lstStyle/>
          <a:p>
            <a:pPr algn="ctr" indent="0" marL="0">
              <a:buNone/>
            </a:pPr>
            <a:r>
              <a:rPr lang="en-US" sz="1100" dirty="0">
                <a:solidFill>
                  <a:srgbClr val="F0F2F8"/>
                </a:solidFill>
                <a:latin typeface="Calibri" pitchFamily="34" charset="0"/>
                <a:ea typeface="Calibri" pitchFamily="34" charset="-122"/>
                <a:cs typeface="Calibri" pitchFamily="34" charset="-120"/>
              </a:rPr>
              <a:t>+ 3.02 — Comparing Two Nations</a:t>
            </a:r>
            <a:endParaRPr lang="en-US" sz="1100" dirty="0"/>
          </a:p>
        </p:txBody>
      </p:sp>
      <p:sp>
        <p:nvSpPr>
          <p:cNvPr id="12" name="Text 9"/>
          <p:cNvSpPr/>
          <p:nvPr/>
        </p:nvSpPr>
        <p:spPr>
          <a:xfrm>
            <a:off x="2286000" y="2633472"/>
            <a:ext cx="4572000" cy="274320"/>
          </a:xfrm>
          <a:prstGeom prst="rect">
            <a:avLst/>
          </a:prstGeom>
          <a:noFill/>
          <a:ln/>
        </p:spPr>
        <p:txBody>
          <a:bodyPr wrap="square" rtlCol="0" anchor="ctr"/>
          <a:lstStyle/>
          <a:p>
            <a:pPr algn="ctr" indent="0" marL="0">
              <a:buNone/>
            </a:pPr>
            <a:r>
              <a:rPr lang="en-US" sz="1100" dirty="0">
                <a:solidFill>
                  <a:srgbClr val="F0F2F8"/>
                </a:solidFill>
                <a:latin typeface="Calibri" pitchFamily="34" charset="0"/>
                <a:ea typeface="Calibri" pitchFamily="34" charset="-122"/>
                <a:cs typeface="Calibri" pitchFamily="34" charset="-120"/>
              </a:rPr>
              <a:t>+ 3.03 — Food, Shelter, Tools &amp; Resources</a:t>
            </a:r>
            <a:endParaRPr lang="en-US" sz="1100" dirty="0"/>
          </a:p>
        </p:txBody>
      </p:sp>
      <p:sp>
        <p:nvSpPr>
          <p:cNvPr id="13" name="Text 10"/>
          <p:cNvSpPr/>
          <p:nvPr/>
        </p:nvSpPr>
        <p:spPr>
          <a:xfrm>
            <a:off x="2286000" y="2953512"/>
            <a:ext cx="4572000" cy="274320"/>
          </a:xfrm>
          <a:prstGeom prst="rect">
            <a:avLst/>
          </a:prstGeom>
          <a:noFill/>
          <a:ln/>
        </p:spPr>
        <p:txBody>
          <a:bodyPr wrap="square" rtlCol="0" anchor="ctr"/>
          <a:lstStyle/>
          <a:p>
            <a:pPr algn="ctr" indent="0" marL="0">
              <a:buNone/>
            </a:pPr>
            <a:r>
              <a:rPr lang="en-US" sz="1100" dirty="0">
                <a:solidFill>
                  <a:srgbClr val="F0F2F8"/>
                </a:solidFill>
                <a:latin typeface="Calibri" pitchFamily="34" charset="0"/>
                <a:ea typeface="Calibri" pitchFamily="34" charset="-122"/>
                <a:cs typeface="Calibri" pitchFamily="34" charset="-120"/>
              </a:rPr>
              <a:t>+ 3.04 — Artifacts as Evidence</a:t>
            </a:r>
            <a:endParaRPr lang="en-US" sz="1100" dirty="0"/>
          </a:p>
        </p:txBody>
      </p:sp>
      <p:sp>
        <p:nvSpPr>
          <p:cNvPr id="14" name="Text 11"/>
          <p:cNvSpPr/>
          <p:nvPr/>
        </p:nvSpPr>
        <p:spPr>
          <a:xfrm>
            <a:off x="2286000" y="3273552"/>
            <a:ext cx="4572000" cy="274320"/>
          </a:xfrm>
          <a:prstGeom prst="rect">
            <a:avLst/>
          </a:prstGeom>
          <a:noFill/>
          <a:ln/>
        </p:spPr>
        <p:txBody>
          <a:bodyPr wrap="square" rtlCol="0" anchor="ctr"/>
          <a:lstStyle/>
          <a:p>
            <a:pPr algn="ctr" indent="0" marL="0">
              <a:buNone/>
            </a:pPr>
            <a:r>
              <a:rPr lang="en-US" sz="1100" dirty="0">
                <a:solidFill>
                  <a:srgbClr val="F0F2F8"/>
                </a:solidFill>
                <a:latin typeface="Calibri" pitchFamily="34" charset="0"/>
                <a:ea typeface="Calibri" pitchFamily="34" charset="-122"/>
                <a:cs typeface="Calibri" pitchFamily="34" charset="-120"/>
              </a:rPr>
              <a:t>+ 3.05 — Geography and Daily Life</a:t>
            </a:r>
            <a:endParaRPr lang="en-US" sz="1100" dirty="0"/>
          </a:p>
        </p:txBody>
      </p:sp>
      <p:sp>
        <p:nvSpPr>
          <p:cNvPr id="15" name="Text 12"/>
          <p:cNvSpPr/>
          <p:nvPr/>
        </p:nvSpPr>
        <p:spPr>
          <a:xfrm>
            <a:off x="2286000" y="3593592"/>
            <a:ext cx="4572000" cy="274320"/>
          </a:xfrm>
          <a:prstGeom prst="rect">
            <a:avLst/>
          </a:prstGeom>
          <a:noFill/>
          <a:ln/>
        </p:spPr>
        <p:txBody>
          <a:bodyPr wrap="square" rtlCol="0" anchor="ctr"/>
          <a:lstStyle/>
          <a:p>
            <a:pPr algn="ctr" indent="0" marL="0">
              <a:buNone/>
            </a:pPr>
            <a:r>
              <a:rPr lang="en-US" sz="1100" dirty="0">
                <a:solidFill>
                  <a:srgbClr val="F0F2F8"/>
                </a:solidFill>
                <a:latin typeface="Calibri" pitchFamily="34" charset="0"/>
                <a:ea typeface="Calibri" pitchFamily="34" charset="-122"/>
                <a:cs typeface="Calibri" pitchFamily="34" charset="-120"/>
              </a:rPr>
              <a:t>+ 3.06 — Courtesy and Responsibility</a:t>
            </a:r>
            <a:endParaRPr lang="en-US" sz="1100" dirty="0"/>
          </a:p>
        </p:txBody>
      </p:sp>
      <p:sp>
        <p:nvSpPr>
          <p:cNvPr id="16" name="Shape 13"/>
          <p:cNvSpPr/>
          <p:nvPr/>
        </p:nvSpPr>
        <p:spPr>
          <a:xfrm>
            <a:off x="1371600" y="4041648"/>
            <a:ext cx="6400800" cy="749808"/>
          </a:xfrm>
          <a:prstGeom prst="roundRect">
            <a:avLst>
              <a:gd name="adj" fmla="val 12195"/>
            </a:avLst>
          </a:prstGeom>
          <a:solidFill>
            <a:srgbClr val="1A2D5A"/>
          </a:solidFill>
          <a:ln/>
        </p:spPr>
      </p:sp>
      <p:sp>
        <p:nvSpPr>
          <p:cNvPr id="17" name="Text 14"/>
          <p:cNvSpPr/>
          <p:nvPr/>
        </p:nvSpPr>
        <p:spPr>
          <a:xfrm>
            <a:off x="1554480" y="4114800"/>
            <a:ext cx="6035040" cy="566928"/>
          </a:xfrm>
          <a:prstGeom prst="rect">
            <a:avLst/>
          </a:prstGeom>
          <a:noFill/>
          <a:ln/>
        </p:spPr>
        <p:txBody>
          <a:bodyPr wrap="square" rtlCol="0" anchor="ctr"/>
          <a:lstStyle/>
          <a:p>
            <a:pPr algn="ctr" indent="0" marL="0">
              <a:buNone/>
            </a:pPr>
            <a:r>
              <a:rPr lang="en-US" sz="1200" i="1" dirty="0">
                <a:solidFill>
                  <a:srgbClr val="D4943A"/>
                </a:solidFill>
                <a:latin typeface="Calibri" pitchFamily="34" charset="0"/>
                <a:ea typeface="Calibri" pitchFamily="34" charset="-122"/>
                <a:cs typeface="Calibri" pitchFamily="34" charset="-120"/>
              </a:rPr>
              <a:t>COMING NEXT: Unit 4 — New Spain and Exploration  |  Lesson 4.04.01: Explorers Who Came to Florida</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2026-07-14T00:25:07Z</dcterms:created>
  <dcterms:modified xsi:type="dcterms:W3CDTF">2026-07-14T00:25:07Z</dcterms:modified>
</cp:coreProperties>
</file>