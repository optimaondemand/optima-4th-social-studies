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dark blue texture or old manuscript/archive paper background suggesting the weight of historical recordsWelcome, historians! Today we unlock five powerful Florida history vocabulary words - and discover that their Greek and Latin roots make them far easier to understand and remember. The big question frames our whole lesson. Pause here to let students read it silently, then ask: 'Has anyone seen any of these words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teacher's desk with a locked file folder - the lock is brass, the folder is labeled VOCABULARY: CLASSIFIED. Soft lamplight. Papers visible around it.Read the transmission aloud with drama - you are the teacher stuck at HQ. Tell students: the five vocabulary words are the combination. We will learn them word by word, root by root. Ask: 'Have you seen any of these words before?' Take 2-3 quick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lesson path so students can see the whole arc before we begin. Point to each step and describe what we will do. Emphasize Step 2 - the root pattern will help them remember words in this class AND other subjects. Give students 30 seconds to read the path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CYCLE - Step 1. Do NOT reveal the meaning yet! Show the four words and let students notice the shared root. Wait 30-45 seconds for chat responses. If students are stuck, say: 'Look at the first four letters in every word. They are identical.' The goal: students DERIVE the pattern before the reveal. Discovery activates memory better than a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before the reveal. Push students to articulate the MEANING pattern, not just the spelling. Call on 3-4 students. If they say 'old' - exactly right. If they say 'first' or 'original' - also right. The goal: students arrive at the meaning THEMSELVES before you confirm. The reveal lands with a 'YES!' instead of passive 'oh.'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Deep purple/indigo background with the arch- root illuminated like a stone inscription coming to light. Ancient Greek letters faintly visible.Reveal with energy! Say: 'arch- means OLD, FIRST, ORIGINAL.' Show the three word breakdowns. Then the quick retrieval: students should say 'An archivist is someone who guards the original records' by applying the root themselves. This scaffolds Assignment Q2. Take 2-3 chat responses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two word roots side by side. Students just learned arch-. Now introduce chron- through the same discovery method - do NOT reveal its meaning yet. Show the chron- words and ask the chat frame question. Point out: 'chronology' is one of our five vocabulary words, so cracking this root cracks that word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bridge slide. Push students to articulate the TRANSFERABLE PATTERN: roots work as codes. The EvaluateSource panel challenges them to use root knowledge to distinguish archaeology vs. history. Target 3-4 chat responses. The goal: students say 'because chron- means time' not just 'it feels like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Dark background with three glowing root badges - arch- in purple, chron- in teal, prim- in gold - arranged like keys on a ring. Ancient map texture faintly visible.BIG PAYOFF MOMENT. Reveal all three roots at once and let students see the pattern. Emphasize: 'You now have three master keys. Any time you see these roots in any subject, you know the core meaning.' The prim- example with 'prime number' and 'primordial soup' shows the transferable pattern explicitly. Take a quick poll: who has seen any of these roots in another class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compare slide bridges root knowledge to vocabulary. Highlight the KEY INSIGHT - students often have an aha moment when they see that 'primary source' literally has 'prim-' in it. Ask: 'So what does primary in primary source tell you about what kind of account it is?' Then transition: 'Now let's go deep on all five vocabulary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and Q2 of the assignment. Give students 60-90 seconds to read all five vocabulary cards. Then ask: 'Without looking at the cards, can anyone define primary source?' Take responses. Emphasize the ASSIGNMENT PREP note - they will pick three of these five words to define. The root tags are memory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courageous atmosphere - a young student at a podium or a hand raised in a classroom, lit with golden light. Suggests confidence, not fear.SCAFFOLDS Q3 of the assignment. Read the NOT COURAGE examples first - let students notice how vague they are. Then read the COURAGE IN ACTION versions. Ask: 'What changed? The ideas are similar, but one set sounds like a historian and one does not. Why does that matter?' Push toward the Courage Challenge question. The goal: students articulate that precise vocabulary COMMUNICATES CLEARLY and shows respect for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(define 3 words) and Q2 (arch- root analysis). Do this think-aloud live, narrating each step out loud. Point to each numbered step and say: 'Watch what I do BEFORE I look at any definition.' The goal: students see that the root gives them a first draft of the meaning. After modeling, give 60 seconds for students to try 'archaeology' in chat using the same four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INVESTIGATE and DEFEND: students apply the vocabulary to a real scenario. Give 2-3 minutes. Target the DEFEND prompt especially - it requires using the root as evidence, which directly scaffolds Q2. When discussing, push students to say the FULL definition: 'The letters are primary sources because they were FIRST-hand accounts CREATED AT THE TIME.' Build that precision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CRITIQUE scaffolds Assignment Q3 (courage reflection). After reviewing corrections, ask: 'Why does it matter that we say secondary source instead of primary source? What goes WRONG if a historian mislabels evidence?' This connects Courage to precision - vague or wrong vocabulary is not just imprecise, it is historically inaccurate. Precision is professional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TRICKY ONE: designed to push high achievers and create genuine discussion. Many students will initially say 'secondary' - which is correct for the Seminole Wars themselves. The twist: the same document becomes a primary source when scholars study 1890s historical thinking. The answer guidance is for teacher use only. Ask: 'Does the label change depending on the QUESTION the historian is asking?' This is authentic historical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self-assess. Ask them to rate in chat: 'How many boxes would you check YES right now? Put the number in chat.' This is a quick pulse check before the assignment. If many students say 2-3, do a rapid vocabulary review. If most say 5-6, proceed. The assignment-prep tags show students exactly which questions each skill connects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before students begin. Remind them: Q1 - pick ANY three of the five words. Q2 - must choose a word that uses arch- (archive, archaeology, or archivist). Q3 - requires a vocabulary word AND the virtue reflection. Tell them the Unlock Challenge in Canvas asks them to use three vocabulary words in a short Historian's Notebook entry. Open Canvas after completing these three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Unlock Challenge is in Canvas - this slide shows students what they are working toward. Read the challenge aloud and point to the three requirements: (1) three vocabulary words, (2) underline or bold them, (3) use historian language. The model start shows how to open the entry. Remind students: 'You are a Florida historian. Write like one. Be brave with the long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closing image - a key unlocking a brass lock on a file folder, warm golden light, or a historian's desk with an open notebook. Suggests accomplishment and unlocking knowledge.CLOSING. Celebrate the work! Say: 'You just learned five vocabulary words that historians use every day - AND you cracked the codes that make them easy to remember. Those roots will show up again and again.' Reference the virtue: 'Every time you chose to say the REAL word instead of a vague one, you showed courage.' Remind students about the Unlock Challenge. End with the sentence frame: 'Today I learned that _______ because _______.' Ask 2-3 students to complete it before logging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73152"/>
          </a:xfrm>
          <a:prstGeom prst="rect">
            <a:avLst/>
          </a:prstGeom>
          <a:solidFill>
            <a:srgbClr val="D4943A"/>
          </a:solidFill>
          <a:ln w="12700">
            <a:solidFill>
              <a:srgbClr val="D4943A"/>
            </a:solidFill>
            <a:prstDash val="solid"/>
          </a:ln>
        </p:spPr>
      </p:sp>
      <p:sp>
        <p:nvSpPr>
          <p:cNvPr id="6" name="Text 3"/>
          <p:cNvSpPr/>
          <p:nvPr/>
        </p:nvSpPr>
        <p:spPr>
          <a:xfrm>
            <a:off x="548640" y="201168"/>
            <a:ext cx="8046720" cy="2743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OPTIMA ACADEMY ONLINE  |  GRADE 4 SOCIAL STUDIES</a:t>
            </a:r>
            <a:endParaRPr lang="en-US" sz="1000" dirty="0"/>
          </a:p>
        </p:txBody>
      </p:sp>
      <p:sp>
        <p:nvSpPr>
          <p:cNvPr id="7" name="Shape 4"/>
          <p:cNvSpPr/>
          <p:nvPr/>
        </p:nvSpPr>
        <p:spPr>
          <a:xfrm>
            <a:off x="3749040" y="548640"/>
            <a:ext cx="1645920" cy="329184"/>
          </a:xfrm>
          <a:prstGeom prst="roundRect">
            <a:avLst>
              <a:gd name="adj" fmla="val 50000"/>
            </a:avLst>
          </a:prstGeom>
          <a:solidFill>
            <a:srgbClr val="D4943A"/>
          </a:solidFill>
          <a:ln w="12700">
            <a:solidFill>
              <a:srgbClr val="D4943A"/>
            </a:solidFill>
            <a:prstDash val="solid"/>
          </a:ln>
        </p:spPr>
      </p:sp>
      <p:sp>
        <p:nvSpPr>
          <p:cNvPr id="8" name="Text 5"/>
          <p:cNvSpPr/>
          <p:nvPr/>
        </p:nvSpPr>
        <p:spPr>
          <a:xfrm>
            <a:off x="3749040" y="548640"/>
            <a:ext cx="1645920" cy="32918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LESSON 4.01.05</a:t>
            </a:r>
            <a:endParaRPr lang="en-US" sz="1000" dirty="0"/>
          </a:p>
        </p:txBody>
      </p:sp>
      <p:sp>
        <p:nvSpPr>
          <p:cNvPr id="9" name="Text 6"/>
          <p:cNvSpPr/>
          <p:nvPr/>
        </p:nvSpPr>
        <p:spPr>
          <a:xfrm>
            <a:off x="548640" y="1005840"/>
            <a:ext cx="8046720" cy="658368"/>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Florida History</a:t>
            </a:r>
            <a:endParaRPr lang="en-US" sz="4800" dirty="0"/>
          </a:p>
        </p:txBody>
      </p:sp>
      <p:sp>
        <p:nvSpPr>
          <p:cNvPr id="10" name="Text 7"/>
          <p:cNvSpPr/>
          <p:nvPr/>
        </p:nvSpPr>
        <p:spPr>
          <a:xfrm>
            <a:off x="548640" y="1627632"/>
            <a:ext cx="8046720" cy="603504"/>
          </a:xfrm>
          <a:prstGeom prst="rect">
            <a:avLst/>
          </a:prstGeom>
          <a:noFill/>
          <a:ln/>
        </p:spPr>
        <p:txBody>
          <a:bodyPr wrap="square" rtlCol="0" anchor="ctr"/>
          <a:lstStyle/>
          <a:p>
            <a:pPr algn="ctr" indent="0" marL="0">
              <a:buNone/>
            </a:pPr>
            <a:r>
              <a:rPr lang="en-US" sz="4000" dirty="0">
                <a:solidFill>
                  <a:srgbClr val="D4943A"/>
                </a:solidFill>
                <a:latin typeface="Cambria" pitchFamily="34" charset="0"/>
                <a:ea typeface="Cambria" pitchFamily="34" charset="-122"/>
                <a:cs typeface="Cambria" pitchFamily="34" charset="-120"/>
              </a:rPr>
              <a:t>Vocabulary and Word Roots</a:t>
            </a:r>
            <a:endParaRPr lang="en-US" sz="4000" dirty="0"/>
          </a:p>
        </p:txBody>
      </p:sp>
      <p:sp>
        <p:nvSpPr>
          <p:cNvPr id="11" name="Shape 8"/>
          <p:cNvSpPr/>
          <p:nvPr/>
        </p:nvSpPr>
        <p:spPr>
          <a:xfrm>
            <a:off x="2286000" y="2331720"/>
            <a:ext cx="4572000" cy="36576"/>
          </a:xfrm>
          <a:prstGeom prst="rect">
            <a:avLst/>
          </a:prstGeom>
          <a:solidFill>
            <a:srgbClr val="55C8E8"/>
          </a:solidFill>
          <a:ln w="12700">
            <a:solidFill>
              <a:srgbClr val="55C8E8"/>
            </a:solidFill>
            <a:prstDash val="solid"/>
          </a:ln>
        </p:spPr>
      </p:sp>
      <p:sp>
        <p:nvSpPr>
          <p:cNvPr id="12" name="Text 9"/>
          <p:cNvSpPr/>
          <p:nvPr/>
        </p:nvSpPr>
        <p:spPr>
          <a:xfrm>
            <a:off x="731520" y="2450592"/>
            <a:ext cx="7680960" cy="804672"/>
          </a:xfrm>
          <a:prstGeom prst="rect">
            <a:avLst/>
          </a:prstGeom>
          <a:noFill/>
          <a:ln/>
        </p:spPr>
        <p:txBody>
          <a:bodyPr wrap="square" rtlCol="0" anchor="ctr"/>
          <a:lstStyle/>
          <a:p>
            <a:pPr algn="ctr" indent="0" marL="0">
              <a:buNone/>
            </a:pPr>
            <a:r>
              <a:rPr lang="en-US" sz="1400" i="1" dirty="0">
                <a:solidFill>
                  <a:srgbClr val="F0F2F8"/>
                </a:solidFill>
                <a:latin typeface="Cambria" pitchFamily="34" charset="0"/>
                <a:ea typeface="Cambria" pitchFamily="34" charset="-122"/>
                <a:cs typeface="Cambria" pitchFamily="34" charset="-120"/>
              </a:rPr>
              <a:t>"Why do Florida historians keep using big words - and how do the Greek and Latin roots inside them actually make the words easier to understand?"</a:t>
            </a:r>
            <a:endParaRPr lang="en-US" sz="1400" dirty="0"/>
          </a:p>
        </p:txBody>
      </p:sp>
      <p:sp>
        <p:nvSpPr>
          <p:cNvPr id="13" name="Text 10"/>
          <p:cNvSpPr/>
          <p:nvPr/>
        </p:nvSpPr>
        <p:spPr>
          <a:xfrm>
            <a:off x="548640" y="3383280"/>
            <a:ext cx="8046720" cy="27432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Standards: SS.4.A.1.1  |  SS.4.A.1.2  |  SS.4.A.9.1</a:t>
            </a:r>
            <a:endParaRPr lang="en-US" sz="1000" dirty="0"/>
          </a:p>
        </p:txBody>
      </p:sp>
      <p:sp>
        <p:nvSpPr>
          <p:cNvPr id="14" name="Shape 11"/>
          <p:cNvSpPr/>
          <p:nvPr/>
        </p:nvSpPr>
        <p:spPr>
          <a:xfrm>
            <a:off x="3291840" y="3785616"/>
            <a:ext cx="2560320" cy="384048"/>
          </a:xfrm>
          <a:prstGeom prst="roundRect">
            <a:avLst>
              <a:gd name="adj" fmla="val 47619"/>
            </a:avLst>
          </a:prstGeom>
          <a:solidFill>
            <a:srgbClr val="1A2D5A"/>
          </a:solidFill>
          <a:ln w="19050">
            <a:solidFill>
              <a:srgbClr val="8B6FC0"/>
            </a:solidFill>
            <a:prstDash val="solid"/>
          </a:ln>
        </p:spPr>
      </p:sp>
      <p:sp>
        <p:nvSpPr>
          <p:cNvPr id="15" name="Text 12"/>
          <p:cNvSpPr/>
          <p:nvPr/>
        </p:nvSpPr>
        <p:spPr>
          <a:xfrm>
            <a:off x="3291840" y="3785616"/>
            <a:ext cx="2560320" cy="384048"/>
          </a:xfrm>
          <a:prstGeom prst="rect">
            <a:avLst/>
          </a:prstGeom>
          <a:noFill/>
          <a:ln/>
        </p:spPr>
        <p:txBody>
          <a:bodyPr wrap="square" rtlCol="0" anchor="ctr"/>
          <a:lstStyle/>
          <a:p>
            <a:pPr algn="ctr" indent="0" marL="0">
              <a:buNone/>
            </a:pPr>
            <a:r>
              <a:rPr lang="en-US" sz="1200" b="1" spc="100" kern="0" dirty="0">
                <a:solidFill>
                  <a:srgbClr val="8B6FC0"/>
                </a:solidFill>
                <a:latin typeface="Calibri" pitchFamily="34" charset="0"/>
                <a:ea typeface="Calibri" pitchFamily="34" charset="-122"/>
                <a:cs typeface="Calibri" pitchFamily="34" charset="-120"/>
              </a:rPr>
              <a:t>VIRTUE: COURAGE</a:t>
            </a:r>
            <a:endParaRPr lang="en-US" sz="1200" dirty="0"/>
          </a:p>
        </p:txBody>
      </p:sp>
      <p:sp>
        <p:nvSpPr>
          <p:cNvPr id="16" name="Shape 13"/>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73152"/>
          </a:xfrm>
          <a:prstGeom prst="rect">
            <a:avLst/>
          </a:prstGeom>
          <a:solidFill>
            <a:srgbClr val="D4943A"/>
          </a:solidFill>
          <a:ln w="12700">
            <a:solidFill>
              <a:srgbClr val="D4943A"/>
            </a:solidFill>
            <a:prstDash val="solid"/>
          </a:ln>
        </p:spPr>
      </p:sp>
      <p:sp>
        <p:nvSpPr>
          <p:cNvPr id="6" name="Shape 3"/>
          <p:cNvSpPr/>
          <p:nvPr/>
        </p:nvSpPr>
        <p:spPr>
          <a:xfrm>
            <a:off x="457200" y="256032"/>
            <a:ext cx="8229600" cy="420624"/>
          </a:xfrm>
          <a:prstGeom prst="roundRect">
            <a:avLst>
              <a:gd name="adj" fmla="val 47826"/>
            </a:avLst>
          </a:prstGeom>
          <a:solidFill>
            <a:srgbClr val="1A2D5A"/>
          </a:solidFill>
          <a:ln w="19050">
            <a:solidFill>
              <a:srgbClr val="55C8E8"/>
            </a:solidFill>
            <a:prstDash val="solid"/>
          </a:ln>
        </p:spPr>
      </p:sp>
      <p:sp>
        <p:nvSpPr>
          <p:cNvPr id="7" name="Text 4"/>
          <p:cNvSpPr/>
          <p:nvPr/>
        </p:nvSpPr>
        <p:spPr>
          <a:xfrm>
            <a:off x="457200" y="256032"/>
            <a:ext cx="8229600" cy="420624"/>
          </a:xfrm>
          <a:prstGeom prst="rect">
            <a:avLst/>
          </a:prstGeom>
          <a:noFill/>
          <a:ln/>
        </p:spPr>
        <p:txBody>
          <a:bodyPr wrap="square"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INCOMING TRANSMISSION - FLORIDA FILES HEADQUARTERS</a:t>
            </a:r>
            <a:endParaRPr lang="en-US" sz="1100" dirty="0"/>
          </a:p>
        </p:txBody>
      </p:sp>
      <p:sp>
        <p:nvSpPr>
          <p:cNvPr id="8" name="Shape 5"/>
          <p:cNvSpPr/>
          <p:nvPr/>
        </p:nvSpPr>
        <p:spPr>
          <a:xfrm>
            <a:off x="457200" y="804672"/>
            <a:ext cx="8229600" cy="2395728"/>
          </a:xfrm>
          <a:prstGeom prst="roundRect">
            <a:avLst>
              <a:gd name="adj" fmla="val 5725"/>
            </a:avLst>
          </a:prstGeom>
          <a:solidFill>
            <a:srgbClr val="0E1C42">
              <a:alpha val="75000"/>
            </a:srgbClr>
          </a:solidFill>
          <a:ln w="12700">
            <a:solidFill>
              <a:srgbClr val="3A5080"/>
            </a:solidFill>
            <a:prstDash val="solid"/>
          </a:ln>
        </p:spPr>
      </p:sp>
      <p:sp>
        <p:nvSpPr>
          <p:cNvPr id="9" name="Text 6"/>
          <p:cNvSpPr/>
          <p:nvPr/>
        </p:nvSpPr>
        <p:spPr>
          <a:xfrm>
            <a:off x="640080" y="896112"/>
            <a:ext cx="7863840" cy="2176272"/>
          </a:xfrm>
          <a:prstGeom prst="rect">
            <a:avLst/>
          </a:prstGeom>
          <a:noFill/>
          <a:ln/>
        </p:spPr>
        <p:txBody>
          <a:bodyPr wrap="square" rtlCol="0" anchor="t"/>
          <a:lstStyle/>
          <a:p>
            <a:pPr indent="0" marL="0">
              <a:buNone/>
            </a:pPr>
            <a:r>
              <a:rPr lang="en-US" sz="1700" i="1" dirty="0">
                <a:solidFill>
                  <a:srgbClr val="FFFFFF"/>
                </a:solidFill>
                <a:latin typeface="Cambria" pitchFamily="34" charset="0"/>
                <a:ea typeface="Cambria" pitchFamily="34" charset="-122"/>
                <a:cs typeface="Cambria" pitchFamily="34" charset="-120"/>
              </a:rPr>
              <a:t>Canvas has a vocabulary file locked on my desk.</a:t>
            </a:r>
            <a:endParaRPr lang="en-US" sz="1700" dirty="0"/>
          </a:p>
          <a:p>
            <a:pPr indent="0" marL="0">
              <a:buNone/>
            </a:pPr>
            <a:endParaRPr lang="en-US" sz="1700" dirty="0"/>
          </a:p>
          <a:p>
            <a:pPr indent="0" marL="0">
              <a:buNone/>
            </a:pPr>
            <a:r>
              <a:rPr lang="en-US" sz="1700" i="1" dirty="0">
                <a:solidFill>
                  <a:srgbClr val="FFFFFF"/>
                </a:solidFill>
                <a:latin typeface="Cambria" pitchFamily="34" charset="0"/>
                <a:ea typeface="Cambria" pitchFamily="34" charset="-122"/>
                <a:cs typeface="Cambria" pitchFamily="34" charset="-120"/>
              </a:rPr>
              <a:t>The word lock is real - the file will not open until students can name what historians use, and use those words with courage.</a:t>
            </a:r>
            <a:endParaRPr lang="en-US" sz="1700" dirty="0"/>
          </a:p>
          <a:p>
            <a:pPr indent="0" marL="0">
              <a:buNone/>
            </a:pPr>
            <a:endParaRPr lang="en-US" sz="1700" dirty="0"/>
          </a:p>
          <a:p>
            <a:pPr indent="0" marL="0">
              <a:buNone/>
            </a:pPr>
            <a:r>
              <a:rPr lang="en-US" sz="1700" i="1" dirty="0">
                <a:solidFill>
                  <a:srgbClr val="FFFFFF"/>
                </a:solidFill>
                <a:latin typeface="Cambria" pitchFamily="34" charset="0"/>
                <a:ea typeface="Cambria" pitchFamily="34" charset="-122"/>
                <a:cs typeface="Cambria" pitchFamily="34" charset="-120"/>
              </a:rPr>
              <a:t>Your mission: help me build the key.</a:t>
            </a:r>
            <a:endParaRPr lang="en-US" sz="1700" dirty="0"/>
          </a:p>
        </p:txBody>
      </p:sp>
      <p:sp>
        <p:nvSpPr>
          <p:cNvPr id="10" name="Shape 7"/>
          <p:cNvSpPr/>
          <p:nvPr/>
        </p:nvSpPr>
        <p:spPr>
          <a:xfrm>
            <a:off x="457200" y="3310128"/>
            <a:ext cx="3840480" cy="54864"/>
          </a:xfrm>
          <a:prstGeom prst="rect">
            <a:avLst/>
          </a:prstGeom>
          <a:solidFill>
            <a:srgbClr val="D4943A"/>
          </a:solidFill>
          <a:ln w="12700">
            <a:solidFill>
              <a:srgbClr val="D4943A"/>
            </a:solidFill>
            <a:prstDash val="solid"/>
          </a:ln>
        </p:spPr>
      </p:sp>
      <p:sp>
        <p:nvSpPr>
          <p:cNvPr id="11" name="Text 8"/>
          <p:cNvSpPr/>
          <p:nvPr/>
        </p:nvSpPr>
        <p:spPr>
          <a:xfrm>
            <a:off x="457200" y="3401568"/>
            <a:ext cx="3840480" cy="23774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YOUR ROLE</a:t>
            </a:r>
            <a:endParaRPr lang="en-US" sz="1000" dirty="0"/>
          </a:p>
        </p:txBody>
      </p:sp>
      <p:sp>
        <p:nvSpPr>
          <p:cNvPr id="12" name="Text 9"/>
          <p:cNvSpPr/>
          <p:nvPr/>
        </p:nvSpPr>
        <p:spPr>
          <a:xfrm>
            <a:off x="457200" y="3639312"/>
            <a:ext cx="3840480" cy="274320"/>
          </a:xfrm>
          <a:prstGeom prst="rect">
            <a:avLst/>
          </a:prstGeom>
          <a:noFill/>
          <a:ln/>
        </p:spPr>
        <p:txBody>
          <a:bodyPr wrap="square" rtlCol="0" anchor="ctr"/>
          <a:lstStyle/>
          <a:p>
            <a:pPr indent="0" marL="0">
              <a:buNone/>
            </a:pPr>
            <a:r>
              <a:rPr lang="en-US" sz="1400" dirty="0">
                <a:solidFill>
                  <a:srgbClr val="FFFFFF"/>
                </a:solidFill>
                <a:latin typeface="Cambria" pitchFamily="34" charset="0"/>
                <a:ea typeface="Cambria" pitchFamily="34" charset="-122"/>
                <a:cs typeface="Cambria" pitchFamily="34" charset="-120"/>
              </a:rPr>
              <a:t>Florida Historian - Florida History Team</a:t>
            </a:r>
            <a:endParaRPr lang="en-US" sz="1400" dirty="0"/>
          </a:p>
        </p:txBody>
      </p:sp>
      <p:sp>
        <p:nvSpPr>
          <p:cNvPr id="13" name="Shape 10"/>
          <p:cNvSpPr/>
          <p:nvPr/>
        </p:nvSpPr>
        <p:spPr>
          <a:xfrm>
            <a:off x="4846320" y="3310128"/>
            <a:ext cx="3840480" cy="54864"/>
          </a:xfrm>
          <a:prstGeom prst="rect">
            <a:avLst/>
          </a:prstGeom>
          <a:solidFill>
            <a:srgbClr val="8B6FC0"/>
          </a:solidFill>
          <a:ln w="12700">
            <a:solidFill>
              <a:srgbClr val="8B6FC0"/>
            </a:solidFill>
            <a:prstDash val="solid"/>
          </a:ln>
        </p:spPr>
      </p:sp>
      <p:sp>
        <p:nvSpPr>
          <p:cNvPr id="14" name="Text 11"/>
          <p:cNvSpPr/>
          <p:nvPr/>
        </p:nvSpPr>
        <p:spPr>
          <a:xfrm>
            <a:off x="4846320" y="3401568"/>
            <a:ext cx="3840480" cy="237744"/>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THE KEY HAS FIVE WORDS</a:t>
            </a:r>
            <a:endParaRPr lang="en-US" sz="1000" dirty="0"/>
          </a:p>
        </p:txBody>
      </p:sp>
      <p:sp>
        <p:nvSpPr>
          <p:cNvPr id="15" name="Text 12"/>
          <p:cNvSpPr/>
          <p:nvPr/>
        </p:nvSpPr>
        <p:spPr>
          <a:xfrm>
            <a:off x="4846320" y="3639312"/>
            <a:ext cx="3840480" cy="548640"/>
          </a:xfrm>
          <a:prstGeom prst="rect">
            <a:avLst/>
          </a:prstGeom>
          <a:noFill/>
          <a:ln/>
        </p:spPr>
        <p:txBody>
          <a:bodyPr wrap="square" rtlCol="0" anchor="ctr"/>
          <a:lstStyle/>
          <a:p>
            <a:pPr indent="0" marL="0">
              <a:buNone/>
            </a:pPr>
            <a:r>
              <a:rPr lang="en-US" sz="1300" dirty="0">
                <a:solidFill>
                  <a:srgbClr val="FFFFFF"/>
                </a:solidFill>
                <a:latin typeface="Cambria" pitchFamily="34" charset="0"/>
                <a:ea typeface="Cambria" pitchFamily="34" charset="-122"/>
                <a:cs typeface="Cambria" pitchFamily="34" charset="-120"/>
              </a:rPr>
              <a:t>Primary Source  -  Secondary Source</a:t>
            </a:r>
            <a:endParaRPr lang="en-US" sz="1300" dirty="0"/>
          </a:p>
          <a:p>
            <a:pPr indent="0" marL="0">
              <a:buNone/>
            </a:pPr>
            <a:r>
              <a:rPr lang="en-US" sz="1300" dirty="0">
                <a:solidFill>
                  <a:srgbClr val="FFFFFF"/>
                </a:solidFill>
                <a:latin typeface="Cambria" pitchFamily="34" charset="0"/>
                <a:ea typeface="Cambria" pitchFamily="34" charset="-122"/>
                <a:cs typeface="Cambria" pitchFamily="34" charset="-120"/>
              </a:rPr>
              <a:t>Chronology  -  Archive  -  Archaeology</a:t>
            </a:r>
            <a:endParaRPr lang="en-US" sz="1300" dirty="0"/>
          </a:p>
        </p:txBody>
      </p:sp>
      <p:sp>
        <p:nvSpPr>
          <p:cNvPr id="16" name="Shape 13"/>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943A"/>
          </a:solidFill>
          <a:ln w="12700">
            <a:solidFill>
              <a:srgbClr val="D4943A"/>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TODAY'S PATH</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Where We Are Going Today</a:t>
            </a:r>
            <a:endParaRPr lang="en-US" sz="2800" dirty="0"/>
          </a:p>
        </p:txBody>
      </p:sp>
      <p:sp>
        <p:nvSpPr>
          <p:cNvPr id="5" name="Shape 3"/>
          <p:cNvSpPr/>
          <p:nvPr/>
        </p:nvSpPr>
        <p:spPr>
          <a:xfrm>
            <a:off x="457200" y="841248"/>
            <a:ext cx="2743200" cy="36576"/>
          </a:xfrm>
          <a:prstGeom prst="rect">
            <a:avLst/>
          </a:prstGeom>
          <a:solidFill>
            <a:srgbClr val="D4943A"/>
          </a:solidFill>
          <a:ln w="12700">
            <a:solidFill>
              <a:srgbClr val="D4943A"/>
            </a:solidFill>
            <a:prstDash val="solid"/>
          </a:ln>
        </p:spPr>
      </p:sp>
      <p:sp>
        <p:nvSpPr>
          <p:cNvPr id="6" name="Shape 4"/>
          <p:cNvSpPr/>
          <p:nvPr/>
        </p:nvSpPr>
        <p:spPr>
          <a:xfrm>
            <a:off x="365760" y="1005840"/>
            <a:ext cx="4206240" cy="1051560"/>
          </a:xfrm>
          <a:prstGeom prst="roundRect">
            <a:avLst>
              <a:gd name="adj" fmla="val 10435"/>
            </a:avLst>
          </a:prstGeom>
          <a:solidFill>
            <a:srgbClr val="FFFFFF"/>
          </a:solidFill>
          <a:ln w="25400">
            <a:solidFill>
              <a:srgbClr val="8B6FC0"/>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475488" y="1280160"/>
            <a:ext cx="420624" cy="420624"/>
          </a:xfrm>
          <a:prstGeom prst="ellipse">
            <a:avLst/>
          </a:prstGeom>
          <a:solidFill>
            <a:srgbClr val="8B6FC0"/>
          </a:solidFill>
          <a:ln w="12700">
            <a:solidFill>
              <a:srgbClr val="8B6FC0"/>
            </a:solidFill>
            <a:prstDash val="solid"/>
          </a:ln>
        </p:spPr>
      </p:sp>
      <p:sp>
        <p:nvSpPr>
          <p:cNvPr id="8" name="Text 6"/>
          <p:cNvSpPr/>
          <p:nvPr/>
        </p:nvSpPr>
        <p:spPr>
          <a:xfrm>
            <a:off x="475488" y="1280160"/>
            <a:ext cx="420624" cy="42062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005840" y="1115568"/>
            <a:ext cx="3456432" cy="32918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Discover the arch- root</a:t>
            </a:r>
            <a:endParaRPr lang="en-US" sz="1300" dirty="0"/>
          </a:p>
        </p:txBody>
      </p:sp>
      <p:sp>
        <p:nvSpPr>
          <p:cNvPr id="10" name="Text 8"/>
          <p:cNvSpPr/>
          <p:nvPr/>
        </p:nvSpPr>
        <p:spPr>
          <a:xfrm>
            <a:off x="1005840" y="1463040"/>
            <a:ext cx="3456432" cy="493776"/>
          </a:xfrm>
          <a:prstGeom prst="rect">
            <a:avLst/>
          </a:prstGeom>
          <a:noFill/>
          <a:ln/>
        </p:spPr>
        <p:txBody>
          <a:bodyPr wrap="square" rtlCol="0" anchor="t"/>
          <a:lstStyle/>
          <a:p>
            <a:pPr indent="0" marL="0">
              <a:buNone/>
            </a:pPr>
            <a:r>
              <a:rPr lang="en-US" sz="1050" dirty="0">
                <a:solidFill>
                  <a:srgbClr val="7A88A8"/>
                </a:solidFill>
                <a:latin typeface="Calibri" pitchFamily="34" charset="0"/>
                <a:ea typeface="Calibri" pitchFamily="34" charset="-122"/>
                <a:cs typeface="Calibri" pitchFamily="34" charset="-120"/>
              </a:rPr>
              <a:t>What does it mean? What words does it unlock?</a:t>
            </a:r>
            <a:endParaRPr lang="en-US" sz="1050" dirty="0"/>
          </a:p>
        </p:txBody>
      </p:sp>
      <p:sp>
        <p:nvSpPr>
          <p:cNvPr id="11" name="Shape 9"/>
          <p:cNvSpPr/>
          <p:nvPr/>
        </p:nvSpPr>
        <p:spPr>
          <a:xfrm>
            <a:off x="4800600" y="1005840"/>
            <a:ext cx="4206240" cy="1051560"/>
          </a:xfrm>
          <a:prstGeom prst="roundRect">
            <a:avLst>
              <a:gd name="adj" fmla="val 10435"/>
            </a:avLst>
          </a:prstGeom>
          <a:solidFill>
            <a:srgbClr val="FFFFFF"/>
          </a:solidFill>
          <a:ln w="25400">
            <a:solidFill>
              <a:srgbClr val="8B6FC0"/>
            </a:solidFill>
            <a:prstDash val="solid"/>
          </a:ln>
          <a:effectLst>
            <a:outerShdw sx="100000" sy="100000" kx="0" ky="0" algn="bl" rotWithShape="0" blurRad="63500" dist="25400" dir="8100000">
              <a:srgbClr val="000000">
                <a:alpha val="10000"/>
              </a:srgbClr>
            </a:outerShdw>
          </a:effectLst>
        </p:spPr>
      </p:sp>
      <p:sp>
        <p:nvSpPr>
          <p:cNvPr id="12" name="Shape 10"/>
          <p:cNvSpPr/>
          <p:nvPr/>
        </p:nvSpPr>
        <p:spPr>
          <a:xfrm>
            <a:off x="4910328" y="1280160"/>
            <a:ext cx="420624" cy="420624"/>
          </a:xfrm>
          <a:prstGeom prst="ellipse">
            <a:avLst/>
          </a:prstGeom>
          <a:solidFill>
            <a:srgbClr val="8B6FC0"/>
          </a:solidFill>
          <a:ln w="12700">
            <a:solidFill>
              <a:srgbClr val="8B6FC0"/>
            </a:solidFill>
            <a:prstDash val="solid"/>
          </a:ln>
        </p:spPr>
      </p:sp>
      <p:sp>
        <p:nvSpPr>
          <p:cNvPr id="13" name="Text 11"/>
          <p:cNvSpPr/>
          <p:nvPr/>
        </p:nvSpPr>
        <p:spPr>
          <a:xfrm>
            <a:off x="4910328" y="1280160"/>
            <a:ext cx="420624" cy="42062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5440680" y="1115568"/>
            <a:ext cx="3456432" cy="32918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Compare roots: arch-, chron-, prim-</a:t>
            </a:r>
            <a:endParaRPr lang="en-US" sz="1300" dirty="0"/>
          </a:p>
        </p:txBody>
      </p:sp>
      <p:sp>
        <p:nvSpPr>
          <p:cNvPr id="15" name="Text 13"/>
          <p:cNvSpPr/>
          <p:nvPr/>
        </p:nvSpPr>
        <p:spPr>
          <a:xfrm>
            <a:off x="5440680" y="1463040"/>
            <a:ext cx="3456432" cy="493776"/>
          </a:xfrm>
          <a:prstGeom prst="rect">
            <a:avLst/>
          </a:prstGeom>
          <a:noFill/>
          <a:ln/>
        </p:spPr>
        <p:txBody>
          <a:bodyPr wrap="square" rtlCol="0" anchor="t"/>
          <a:lstStyle/>
          <a:p>
            <a:pPr indent="0" marL="0">
              <a:buNone/>
            </a:pPr>
            <a:r>
              <a:rPr lang="en-US" sz="1050" dirty="0">
                <a:solidFill>
                  <a:srgbClr val="7A88A8"/>
                </a:solidFill>
                <a:latin typeface="Calibri" pitchFamily="34" charset="0"/>
                <a:ea typeface="Calibri" pitchFamily="34" charset="-122"/>
                <a:cs typeface="Calibri" pitchFamily="34" charset="-120"/>
              </a:rPr>
              <a:t>How word roots work as a pattern across language</a:t>
            </a:r>
            <a:endParaRPr lang="en-US" sz="1050" dirty="0"/>
          </a:p>
        </p:txBody>
      </p:sp>
      <p:sp>
        <p:nvSpPr>
          <p:cNvPr id="16" name="Shape 14"/>
          <p:cNvSpPr/>
          <p:nvPr/>
        </p:nvSpPr>
        <p:spPr>
          <a:xfrm>
            <a:off x="365760" y="2194560"/>
            <a:ext cx="4206240" cy="1051560"/>
          </a:xfrm>
          <a:prstGeom prst="roundRect">
            <a:avLst>
              <a:gd name="adj" fmla="val 10435"/>
            </a:avLst>
          </a:prstGeom>
          <a:solidFill>
            <a:srgbClr val="FFFFFF"/>
          </a:solidFill>
          <a:ln w="25400">
            <a:solidFill>
              <a:srgbClr val="1A8A7D"/>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475488" y="2468880"/>
            <a:ext cx="420624" cy="420624"/>
          </a:xfrm>
          <a:prstGeom prst="ellipse">
            <a:avLst/>
          </a:prstGeom>
          <a:solidFill>
            <a:srgbClr val="1A8A7D"/>
          </a:solidFill>
          <a:ln w="12700">
            <a:solidFill>
              <a:srgbClr val="1A8A7D"/>
            </a:solidFill>
            <a:prstDash val="solid"/>
          </a:ln>
        </p:spPr>
      </p:sp>
      <p:sp>
        <p:nvSpPr>
          <p:cNvPr id="18" name="Text 16"/>
          <p:cNvSpPr/>
          <p:nvPr/>
        </p:nvSpPr>
        <p:spPr>
          <a:xfrm>
            <a:off x="475488" y="2468880"/>
            <a:ext cx="420624" cy="42062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005840" y="2304288"/>
            <a:ext cx="3456432" cy="32918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Deep Dive: Five vocabulary words</a:t>
            </a:r>
            <a:endParaRPr lang="en-US" sz="1300" dirty="0"/>
          </a:p>
        </p:txBody>
      </p:sp>
      <p:sp>
        <p:nvSpPr>
          <p:cNvPr id="20" name="Text 18"/>
          <p:cNvSpPr/>
          <p:nvPr/>
        </p:nvSpPr>
        <p:spPr>
          <a:xfrm>
            <a:off x="1005840" y="2651760"/>
            <a:ext cx="3456432" cy="493776"/>
          </a:xfrm>
          <a:prstGeom prst="rect">
            <a:avLst/>
          </a:prstGeom>
          <a:noFill/>
          <a:ln/>
        </p:spPr>
        <p:txBody>
          <a:bodyPr wrap="square" rtlCol="0" anchor="t"/>
          <a:lstStyle/>
          <a:p>
            <a:pPr indent="0" marL="0">
              <a:buNone/>
            </a:pPr>
            <a:r>
              <a:rPr lang="en-US" sz="1050" dirty="0">
                <a:solidFill>
                  <a:srgbClr val="7A88A8"/>
                </a:solidFill>
                <a:latin typeface="Calibri" pitchFamily="34" charset="0"/>
                <a:ea typeface="Calibri" pitchFamily="34" charset="-122"/>
                <a:cs typeface="Calibri" pitchFamily="34" charset="-120"/>
              </a:rPr>
              <a:t>primary source, secondary source, chronology, archive, archaeology</a:t>
            </a:r>
            <a:endParaRPr lang="en-US" sz="1050" dirty="0"/>
          </a:p>
        </p:txBody>
      </p:sp>
      <p:sp>
        <p:nvSpPr>
          <p:cNvPr id="21" name="Shape 19"/>
          <p:cNvSpPr/>
          <p:nvPr/>
        </p:nvSpPr>
        <p:spPr>
          <a:xfrm>
            <a:off x="4800600" y="2194560"/>
            <a:ext cx="4206240" cy="1051560"/>
          </a:xfrm>
          <a:prstGeom prst="roundRect">
            <a:avLst>
              <a:gd name="adj" fmla="val 10435"/>
            </a:avLst>
          </a:prstGeom>
          <a:solidFill>
            <a:srgbClr val="FFFFFF"/>
          </a:solidFill>
          <a:ln w="25400">
            <a:solidFill>
              <a:srgbClr val="D4943A"/>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4910328" y="2468880"/>
            <a:ext cx="420624" cy="420624"/>
          </a:xfrm>
          <a:prstGeom prst="ellipse">
            <a:avLst/>
          </a:prstGeom>
          <a:solidFill>
            <a:srgbClr val="D4943A"/>
          </a:solidFill>
          <a:ln w="12700">
            <a:solidFill>
              <a:srgbClr val="D4943A"/>
            </a:solidFill>
            <a:prstDash val="solid"/>
          </a:ln>
        </p:spPr>
      </p:sp>
      <p:sp>
        <p:nvSpPr>
          <p:cNvPr id="23" name="Text 21"/>
          <p:cNvSpPr/>
          <p:nvPr/>
        </p:nvSpPr>
        <p:spPr>
          <a:xfrm>
            <a:off x="4910328" y="2468880"/>
            <a:ext cx="420624" cy="42062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5440680" y="2304288"/>
            <a:ext cx="3456432" cy="32918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Virtue Spotlight: Courage</a:t>
            </a:r>
            <a:endParaRPr lang="en-US" sz="1300" dirty="0"/>
          </a:p>
        </p:txBody>
      </p:sp>
      <p:sp>
        <p:nvSpPr>
          <p:cNvPr id="25" name="Text 23"/>
          <p:cNvSpPr/>
          <p:nvPr/>
        </p:nvSpPr>
        <p:spPr>
          <a:xfrm>
            <a:off x="5440680" y="2651760"/>
            <a:ext cx="3456432" cy="493776"/>
          </a:xfrm>
          <a:prstGeom prst="rect">
            <a:avLst/>
          </a:prstGeom>
          <a:noFill/>
          <a:ln/>
        </p:spPr>
        <p:txBody>
          <a:bodyPr wrap="square" rtlCol="0" anchor="t"/>
          <a:lstStyle/>
          <a:p>
            <a:pPr indent="0" marL="0">
              <a:buNone/>
            </a:pPr>
            <a:r>
              <a:rPr lang="en-US" sz="1050" dirty="0">
                <a:solidFill>
                  <a:srgbClr val="7A88A8"/>
                </a:solidFill>
                <a:latin typeface="Calibri" pitchFamily="34" charset="0"/>
                <a:ea typeface="Calibri" pitchFamily="34" charset="-122"/>
                <a:cs typeface="Calibri" pitchFamily="34" charset="-120"/>
              </a:rPr>
              <a:t>Why brave historians use precise words</a:t>
            </a:r>
            <a:endParaRPr lang="en-US" sz="1050" dirty="0"/>
          </a:p>
        </p:txBody>
      </p:sp>
      <p:sp>
        <p:nvSpPr>
          <p:cNvPr id="26" name="Shape 24"/>
          <p:cNvSpPr/>
          <p:nvPr/>
        </p:nvSpPr>
        <p:spPr>
          <a:xfrm>
            <a:off x="365760" y="3383280"/>
            <a:ext cx="4206240" cy="1051560"/>
          </a:xfrm>
          <a:prstGeom prst="roundRect">
            <a:avLst>
              <a:gd name="adj" fmla="val 10435"/>
            </a:avLst>
          </a:prstGeom>
          <a:solidFill>
            <a:srgbClr val="FFFFFF"/>
          </a:solidFill>
          <a:ln w="25400">
            <a:solidFill>
              <a:srgbClr val="0E1C42"/>
            </a:solidFill>
            <a:prstDash val="solid"/>
          </a:ln>
          <a:effectLst>
            <a:outerShdw sx="100000" sy="100000" kx="0" ky="0" algn="bl" rotWithShape="0" blurRad="63500" dist="25400" dir="8100000">
              <a:srgbClr val="000000">
                <a:alpha val="10000"/>
              </a:srgbClr>
            </a:outerShdw>
          </a:effectLst>
        </p:spPr>
      </p:sp>
      <p:sp>
        <p:nvSpPr>
          <p:cNvPr id="27" name="Shape 25"/>
          <p:cNvSpPr/>
          <p:nvPr/>
        </p:nvSpPr>
        <p:spPr>
          <a:xfrm>
            <a:off x="475488" y="3657600"/>
            <a:ext cx="420624" cy="420624"/>
          </a:xfrm>
          <a:prstGeom prst="ellipse">
            <a:avLst/>
          </a:prstGeom>
          <a:solidFill>
            <a:srgbClr val="0E1C42"/>
          </a:solidFill>
          <a:ln w="12700">
            <a:solidFill>
              <a:srgbClr val="0E1C42"/>
            </a:solidFill>
            <a:prstDash val="solid"/>
          </a:ln>
        </p:spPr>
      </p:sp>
      <p:sp>
        <p:nvSpPr>
          <p:cNvPr id="28" name="Text 26"/>
          <p:cNvSpPr/>
          <p:nvPr/>
        </p:nvSpPr>
        <p:spPr>
          <a:xfrm>
            <a:off x="475488" y="3657600"/>
            <a:ext cx="420624" cy="42062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005840" y="3493008"/>
            <a:ext cx="3456432" cy="32918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Guided Practice</a:t>
            </a:r>
            <a:endParaRPr lang="en-US" sz="1300" dirty="0"/>
          </a:p>
        </p:txBody>
      </p:sp>
      <p:sp>
        <p:nvSpPr>
          <p:cNvPr id="30" name="Text 28"/>
          <p:cNvSpPr/>
          <p:nvPr/>
        </p:nvSpPr>
        <p:spPr>
          <a:xfrm>
            <a:off x="1005840" y="3840480"/>
            <a:ext cx="3456432" cy="493776"/>
          </a:xfrm>
          <a:prstGeom prst="rect">
            <a:avLst/>
          </a:prstGeom>
          <a:noFill/>
          <a:ln/>
        </p:spPr>
        <p:txBody>
          <a:bodyPr wrap="square" rtlCol="0" anchor="t"/>
          <a:lstStyle/>
          <a:p>
            <a:pPr indent="0" marL="0">
              <a:buNone/>
            </a:pPr>
            <a:r>
              <a:rPr lang="en-US" sz="1050" dirty="0">
                <a:solidFill>
                  <a:srgbClr val="7A88A8"/>
                </a:solidFill>
                <a:latin typeface="Calibri" pitchFamily="34" charset="0"/>
                <a:ea typeface="Calibri" pitchFamily="34" charset="-122"/>
                <a:cs typeface="Calibri" pitchFamily="34" charset="-120"/>
              </a:rPr>
              <a:t>Model - Defend - Critique - Tricky One</a:t>
            </a:r>
            <a:endParaRPr lang="en-US" sz="1050" dirty="0"/>
          </a:p>
        </p:txBody>
      </p:sp>
      <p:sp>
        <p:nvSpPr>
          <p:cNvPr id="31" name="Shape 29"/>
          <p:cNvSpPr/>
          <p:nvPr/>
        </p:nvSpPr>
        <p:spPr>
          <a:xfrm>
            <a:off x="4800600" y="3383280"/>
            <a:ext cx="4206240" cy="1051560"/>
          </a:xfrm>
          <a:prstGeom prst="roundRect">
            <a:avLst>
              <a:gd name="adj" fmla="val 10435"/>
            </a:avLst>
          </a:prstGeom>
          <a:solidFill>
            <a:srgbClr val="FFFFFF"/>
          </a:solidFill>
          <a:ln w="25400">
            <a:solidFill>
              <a:srgbClr val="34B76F"/>
            </a:solidFill>
            <a:prstDash val="solid"/>
          </a:ln>
          <a:effectLst>
            <a:outerShdw sx="100000" sy="100000" kx="0" ky="0" algn="bl" rotWithShape="0" blurRad="63500" dist="25400" dir="8100000">
              <a:srgbClr val="000000">
                <a:alpha val="10000"/>
              </a:srgbClr>
            </a:outerShdw>
          </a:effectLst>
        </p:spPr>
      </p:sp>
      <p:sp>
        <p:nvSpPr>
          <p:cNvPr id="32" name="Shape 30"/>
          <p:cNvSpPr/>
          <p:nvPr/>
        </p:nvSpPr>
        <p:spPr>
          <a:xfrm>
            <a:off x="4910328" y="3657600"/>
            <a:ext cx="420624" cy="420624"/>
          </a:xfrm>
          <a:prstGeom prst="ellipse">
            <a:avLst/>
          </a:prstGeom>
          <a:solidFill>
            <a:srgbClr val="34B76F"/>
          </a:solidFill>
          <a:ln w="12700">
            <a:solidFill>
              <a:srgbClr val="34B76F"/>
            </a:solidFill>
            <a:prstDash val="solid"/>
          </a:ln>
        </p:spPr>
      </p:sp>
      <p:sp>
        <p:nvSpPr>
          <p:cNvPr id="33" name="Text 31"/>
          <p:cNvSpPr/>
          <p:nvPr/>
        </p:nvSpPr>
        <p:spPr>
          <a:xfrm>
            <a:off x="4910328" y="3657600"/>
            <a:ext cx="420624" cy="42062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5440680" y="3493008"/>
            <a:ext cx="3456432" cy="32918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Assignment Unlock</a:t>
            </a:r>
            <a:endParaRPr lang="en-US" sz="1300" dirty="0"/>
          </a:p>
        </p:txBody>
      </p:sp>
      <p:sp>
        <p:nvSpPr>
          <p:cNvPr id="35" name="Text 33"/>
          <p:cNvSpPr/>
          <p:nvPr/>
        </p:nvSpPr>
        <p:spPr>
          <a:xfrm>
            <a:off x="5440680" y="3840480"/>
            <a:ext cx="3456432" cy="493776"/>
          </a:xfrm>
          <a:prstGeom prst="rect">
            <a:avLst/>
          </a:prstGeom>
          <a:noFill/>
          <a:ln/>
        </p:spPr>
        <p:txBody>
          <a:bodyPr wrap="square" rtlCol="0" anchor="t"/>
          <a:lstStyle/>
          <a:p>
            <a:pPr indent="0" marL="0">
              <a:buNone/>
            </a:pPr>
            <a:r>
              <a:rPr lang="en-US" sz="1050" dirty="0">
                <a:solidFill>
                  <a:srgbClr val="7A88A8"/>
                </a:solidFill>
                <a:latin typeface="Calibri" pitchFamily="34" charset="0"/>
                <a:ea typeface="Calibri" pitchFamily="34" charset="-122"/>
                <a:cs typeface="Calibri" pitchFamily="34" charset="-120"/>
              </a:rPr>
              <a:t>Build the key: three vocab definitions + root analysis + courage reflection</a:t>
            </a:r>
            <a:endParaRPr lang="en-US" sz="1050" dirty="0"/>
          </a:p>
        </p:txBody>
      </p:sp>
      <p:sp>
        <p:nvSpPr>
          <p:cNvPr id="36" name="Shape 34"/>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ROOT DISCOVERY</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Clue Box 1 - The arch- Root</a:t>
            </a:r>
            <a:endParaRPr lang="en-US" sz="2800" dirty="0"/>
          </a:p>
        </p:txBody>
      </p:sp>
      <p:sp>
        <p:nvSpPr>
          <p:cNvPr id="5" name="Shape 3"/>
          <p:cNvSpPr/>
          <p:nvPr/>
        </p:nvSpPr>
        <p:spPr>
          <a:xfrm>
            <a:off x="457200" y="841248"/>
            <a:ext cx="3200400" cy="36576"/>
          </a:xfrm>
          <a:prstGeom prst="rect">
            <a:avLst/>
          </a:prstGeom>
          <a:solidFill>
            <a:srgbClr val="8B6FC0"/>
          </a:solidFill>
          <a:ln w="12700">
            <a:solidFill>
              <a:srgbClr val="8B6FC0"/>
            </a:solidFill>
            <a:prstDash val="solid"/>
          </a:ln>
        </p:spPr>
      </p:sp>
      <p:sp>
        <p:nvSpPr>
          <p:cNvPr id="6" name="Shape 4"/>
          <p:cNvSpPr/>
          <p:nvPr/>
        </p:nvSpPr>
        <p:spPr>
          <a:xfrm>
            <a:off x="365760" y="987552"/>
            <a:ext cx="3931920" cy="27432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365760" y="987552"/>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261872"/>
            <a:ext cx="365760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Root word tree or ancient scroll showing arch- highlighted. Greek letters visible in the background.</a:t>
            </a:r>
            <a:endParaRPr lang="en-US" sz="1100" dirty="0"/>
          </a:p>
        </p:txBody>
      </p:sp>
      <p:sp>
        <p:nvSpPr>
          <p:cNvPr id="9" name="Shape 7"/>
          <p:cNvSpPr/>
          <p:nvPr/>
        </p:nvSpPr>
        <p:spPr>
          <a:xfrm>
            <a:off x="4572000" y="987552"/>
            <a:ext cx="4206240" cy="1371600"/>
          </a:xfrm>
          <a:prstGeom prst="roundRect">
            <a:avLst>
              <a:gd name="adj" fmla="val 8000"/>
            </a:avLst>
          </a:prstGeom>
          <a:solidFill>
            <a:srgbClr val="FFFFFF"/>
          </a:solidFill>
          <a:ln w="25400">
            <a:solidFill>
              <a:srgbClr val="8B6FC0"/>
            </a:solidFill>
            <a:prstDash val="solid"/>
          </a:ln>
        </p:spPr>
      </p:sp>
      <p:sp>
        <p:nvSpPr>
          <p:cNvPr id="10" name="Text 8"/>
          <p:cNvSpPr/>
          <p:nvPr/>
        </p:nvSpPr>
        <p:spPr>
          <a:xfrm>
            <a:off x="4754880" y="1042416"/>
            <a:ext cx="3840480" cy="237744"/>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CLUE</a:t>
            </a:r>
            <a:endParaRPr lang="en-US" sz="900" dirty="0"/>
          </a:p>
        </p:txBody>
      </p:sp>
      <p:sp>
        <p:nvSpPr>
          <p:cNvPr id="11" name="Text 9"/>
          <p:cNvSpPr/>
          <p:nvPr/>
        </p:nvSpPr>
        <p:spPr>
          <a:xfrm>
            <a:off x="4754880" y="1280160"/>
            <a:ext cx="3840480" cy="914400"/>
          </a:xfrm>
          <a:prstGeom prst="rect">
            <a:avLst/>
          </a:prstGeom>
          <a:noFill/>
          <a:ln/>
        </p:spPr>
        <p:txBody>
          <a:bodyPr wrap="square" rtlCol="0" anchor="ctr"/>
          <a:lstStyle/>
          <a:p>
            <a:pPr indent="0" marL="0">
              <a:buNone/>
            </a:pPr>
            <a:r>
              <a:rPr lang="en-US" sz="1400" dirty="0">
                <a:solidFill>
                  <a:srgbClr val="0E1C42"/>
                </a:solidFill>
                <a:latin typeface="Cambria" pitchFamily="34" charset="0"/>
                <a:ea typeface="Cambria" pitchFamily="34" charset="-122"/>
                <a:cs typeface="Cambria" pitchFamily="34" charset="-120"/>
              </a:rPr>
              <a:t>Look at these four words:</a:t>
            </a:r>
            <a:endParaRPr lang="en-US" sz="1400" dirty="0"/>
          </a:p>
          <a:p>
            <a:pPr indent="0" marL="0">
              <a:buNone/>
            </a:pPr>
            <a:r>
              <a:rPr lang="en-US" sz="1400" dirty="0">
                <a:solidFill>
                  <a:srgbClr val="0E1C42"/>
                </a:solidFill>
                <a:latin typeface="Cambria" pitchFamily="34" charset="0"/>
                <a:ea typeface="Cambria" pitchFamily="34" charset="-122"/>
                <a:cs typeface="Cambria" pitchFamily="34" charset="-120"/>
              </a:rPr>
              <a:t>archive    archaeology</a:t>
            </a:r>
            <a:endParaRPr lang="en-US" sz="1400" dirty="0"/>
          </a:p>
          <a:p>
            <a:pPr indent="0" marL="0">
              <a:buNone/>
            </a:pPr>
            <a:r>
              <a:rPr lang="en-US" sz="1400" dirty="0">
                <a:solidFill>
                  <a:srgbClr val="0E1C42"/>
                </a:solidFill>
                <a:latin typeface="Cambria" pitchFamily="34" charset="0"/>
                <a:ea typeface="Cambria" pitchFamily="34" charset="-122"/>
                <a:cs typeface="Cambria" pitchFamily="34" charset="-120"/>
              </a:rPr>
              <a:t>architect    archaic</a:t>
            </a:r>
            <a:endParaRPr lang="en-US" sz="1400" dirty="0"/>
          </a:p>
        </p:txBody>
      </p:sp>
      <p:sp>
        <p:nvSpPr>
          <p:cNvPr id="12" name="Shape 10"/>
          <p:cNvSpPr/>
          <p:nvPr/>
        </p:nvSpPr>
        <p:spPr>
          <a:xfrm>
            <a:off x="4572000" y="2468880"/>
            <a:ext cx="4206240" cy="786384"/>
          </a:xfrm>
          <a:prstGeom prst="roundRect">
            <a:avLst>
              <a:gd name="adj" fmla="val 13953"/>
            </a:avLst>
          </a:prstGeom>
          <a:solidFill>
            <a:srgbClr val="F5F0FF"/>
          </a:solidFill>
          <a:ln w="19050">
            <a:solidFill>
              <a:srgbClr val="8B6FC0"/>
            </a:solidFill>
            <a:prstDash val="solid"/>
          </a:ln>
        </p:spPr>
      </p:sp>
      <p:sp>
        <p:nvSpPr>
          <p:cNvPr id="13" name="Text 11"/>
          <p:cNvSpPr/>
          <p:nvPr/>
        </p:nvSpPr>
        <p:spPr>
          <a:xfrm>
            <a:off x="4754880" y="2523744"/>
            <a:ext cx="3840480" cy="219456"/>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DETECTIVE QUESTION</a:t>
            </a:r>
            <a:endParaRPr lang="en-US" sz="900" dirty="0"/>
          </a:p>
        </p:txBody>
      </p:sp>
      <p:sp>
        <p:nvSpPr>
          <p:cNvPr id="14" name="Text 12"/>
          <p:cNvSpPr/>
          <p:nvPr/>
        </p:nvSpPr>
        <p:spPr>
          <a:xfrm>
            <a:off x="4754880" y="2743200"/>
            <a:ext cx="3840480" cy="45720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What part do ALL four words share? Circle it!</a:t>
            </a:r>
            <a:endParaRPr lang="en-US" sz="1300" dirty="0"/>
          </a:p>
        </p:txBody>
      </p:sp>
      <p:sp>
        <p:nvSpPr>
          <p:cNvPr id="15" name="Shape 13"/>
          <p:cNvSpPr/>
          <p:nvPr/>
        </p:nvSpPr>
        <p:spPr>
          <a:xfrm>
            <a:off x="4572000" y="3364992"/>
            <a:ext cx="4206240" cy="1371600"/>
          </a:xfrm>
          <a:prstGeom prst="roundRect">
            <a:avLst>
              <a:gd name="adj" fmla="val 8000"/>
            </a:avLst>
          </a:prstGeom>
          <a:solidFill>
            <a:srgbClr val="FFF3DC"/>
          </a:solidFill>
          <a:ln w="19050">
            <a:solidFill>
              <a:srgbClr val="F5E6C8"/>
            </a:solidFill>
            <a:prstDash val="solid"/>
          </a:ln>
        </p:spPr>
      </p:sp>
      <p:sp>
        <p:nvSpPr>
          <p:cNvPr id="16" name="Text 14"/>
          <p:cNvSpPr/>
          <p:nvPr/>
        </p:nvSpPr>
        <p:spPr>
          <a:xfrm>
            <a:off x="4709160" y="3419856"/>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709160" y="3621024"/>
            <a:ext cx="3931920" cy="1051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shared part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all four words have arch- at the start, so maybe arch- means..."</a:t>
            </a:r>
            <a:endParaRPr lang="en-US" sz="1200" dirty="0"/>
          </a:p>
        </p:txBody>
      </p:sp>
      <p:sp>
        <p:nvSpPr>
          <p:cNvPr id="18" name="Shape 16"/>
          <p:cNvSpPr/>
          <p:nvPr/>
        </p:nvSpPr>
        <p:spPr>
          <a:xfrm>
            <a:off x="0" y="5070348"/>
            <a:ext cx="9144000" cy="73152"/>
          </a:xfrm>
          <a:prstGeom prst="rect">
            <a:avLst/>
          </a:prstGeom>
          <a:solidFill>
            <a:srgbClr val="8B6FC0"/>
          </a:solidFill>
          <a:ln w="12700">
            <a:solidFill>
              <a:srgbClr val="8B6FC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CLASS DISCUSSION</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Could arch- Mean?</a:t>
            </a:r>
            <a:endParaRPr lang="en-US" sz="2800" dirty="0"/>
          </a:p>
        </p:txBody>
      </p:sp>
      <p:sp>
        <p:nvSpPr>
          <p:cNvPr id="5" name="Shape 3"/>
          <p:cNvSpPr/>
          <p:nvPr/>
        </p:nvSpPr>
        <p:spPr>
          <a:xfrm>
            <a:off x="457200" y="841248"/>
            <a:ext cx="3200400" cy="36576"/>
          </a:xfrm>
          <a:prstGeom prst="rect">
            <a:avLst/>
          </a:prstGeom>
          <a:solidFill>
            <a:srgbClr val="8B6FC0"/>
          </a:solidFill>
          <a:ln w="12700">
            <a:solidFill>
              <a:srgbClr val="8B6FC0"/>
            </a:solidFill>
            <a:prstDash val="solid"/>
          </a:ln>
        </p:spPr>
      </p:sp>
      <p:sp>
        <p:nvSpPr>
          <p:cNvPr id="6" name="Shape 4"/>
          <p:cNvSpPr/>
          <p:nvPr/>
        </p:nvSpPr>
        <p:spPr>
          <a:xfrm>
            <a:off x="365760" y="987552"/>
            <a:ext cx="4114800" cy="1975104"/>
          </a:xfrm>
          <a:prstGeom prst="roundRect">
            <a:avLst>
              <a:gd name="adj" fmla="val 5556"/>
            </a:avLst>
          </a:prstGeom>
          <a:solidFill>
            <a:srgbClr val="FFFFFF"/>
          </a:solidFill>
          <a:ln w="19050">
            <a:solidFill>
              <a:srgbClr val="8B6FC0"/>
            </a:solidFill>
            <a:prstDash val="solid"/>
          </a:ln>
        </p:spPr>
      </p:sp>
      <p:sp>
        <p:nvSpPr>
          <p:cNvPr id="7" name="Text 5"/>
          <p:cNvSpPr/>
          <p:nvPr/>
        </p:nvSpPr>
        <p:spPr>
          <a:xfrm>
            <a:off x="548640" y="1042416"/>
            <a:ext cx="3749040" cy="237744"/>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USE YOUR CLUES</a:t>
            </a:r>
            <a:endParaRPr lang="en-US" sz="900" dirty="0"/>
          </a:p>
        </p:txBody>
      </p:sp>
      <p:sp>
        <p:nvSpPr>
          <p:cNvPr id="8" name="Text 6"/>
          <p:cNvSpPr/>
          <p:nvPr/>
        </p:nvSpPr>
        <p:spPr>
          <a:xfrm>
            <a:off x="548640" y="1316736"/>
            <a:ext cx="1371600" cy="310896"/>
          </a:xfrm>
          <a:prstGeom prst="rect">
            <a:avLst/>
          </a:prstGeom>
          <a:noFill/>
          <a:ln/>
        </p:spPr>
        <p:txBody>
          <a:bodyPr wrap="square"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archive</a:t>
            </a:r>
            <a:endParaRPr lang="en-US" sz="1300" dirty="0"/>
          </a:p>
        </p:txBody>
      </p:sp>
      <p:sp>
        <p:nvSpPr>
          <p:cNvPr id="9" name="Text 7"/>
          <p:cNvSpPr/>
          <p:nvPr/>
        </p:nvSpPr>
        <p:spPr>
          <a:xfrm>
            <a:off x="1920240" y="1316736"/>
            <a:ext cx="2468880" cy="310896"/>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 a place that stores old records</a:t>
            </a:r>
            <a:endParaRPr lang="en-US" sz="1100" dirty="0"/>
          </a:p>
        </p:txBody>
      </p:sp>
      <p:sp>
        <p:nvSpPr>
          <p:cNvPr id="10" name="Text 8"/>
          <p:cNvSpPr/>
          <p:nvPr/>
        </p:nvSpPr>
        <p:spPr>
          <a:xfrm>
            <a:off x="548640" y="1700784"/>
            <a:ext cx="1371600" cy="310896"/>
          </a:xfrm>
          <a:prstGeom prst="rect">
            <a:avLst/>
          </a:prstGeom>
          <a:noFill/>
          <a:ln/>
        </p:spPr>
        <p:txBody>
          <a:bodyPr wrap="square"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archaeology</a:t>
            </a:r>
            <a:endParaRPr lang="en-US" sz="1300" dirty="0"/>
          </a:p>
        </p:txBody>
      </p:sp>
      <p:sp>
        <p:nvSpPr>
          <p:cNvPr id="11" name="Text 9"/>
          <p:cNvSpPr/>
          <p:nvPr/>
        </p:nvSpPr>
        <p:spPr>
          <a:xfrm>
            <a:off x="1920240" y="1700784"/>
            <a:ext cx="2468880" cy="310896"/>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 the study of ancient human remains</a:t>
            </a:r>
            <a:endParaRPr lang="en-US" sz="1100" dirty="0"/>
          </a:p>
        </p:txBody>
      </p:sp>
      <p:sp>
        <p:nvSpPr>
          <p:cNvPr id="12" name="Text 10"/>
          <p:cNvSpPr/>
          <p:nvPr/>
        </p:nvSpPr>
        <p:spPr>
          <a:xfrm>
            <a:off x="548640" y="2084832"/>
            <a:ext cx="1371600" cy="310896"/>
          </a:xfrm>
          <a:prstGeom prst="rect">
            <a:avLst/>
          </a:prstGeom>
          <a:noFill/>
          <a:ln/>
        </p:spPr>
        <p:txBody>
          <a:bodyPr wrap="square"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architect</a:t>
            </a:r>
            <a:endParaRPr lang="en-US" sz="1300" dirty="0"/>
          </a:p>
        </p:txBody>
      </p:sp>
      <p:sp>
        <p:nvSpPr>
          <p:cNvPr id="13" name="Text 11"/>
          <p:cNvSpPr/>
          <p:nvPr/>
        </p:nvSpPr>
        <p:spPr>
          <a:xfrm>
            <a:off x="1920240" y="2084832"/>
            <a:ext cx="2468880" cy="310896"/>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 one who designs the original structure</a:t>
            </a:r>
            <a:endParaRPr lang="en-US" sz="1100" dirty="0"/>
          </a:p>
        </p:txBody>
      </p:sp>
      <p:sp>
        <p:nvSpPr>
          <p:cNvPr id="14" name="Text 12"/>
          <p:cNvSpPr/>
          <p:nvPr/>
        </p:nvSpPr>
        <p:spPr>
          <a:xfrm>
            <a:off x="548640" y="2468880"/>
            <a:ext cx="1371600" cy="310896"/>
          </a:xfrm>
          <a:prstGeom prst="rect">
            <a:avLst/>
          </a:prstGeom>
          <a:noFill/>
          <a:ln/>
        </p:spPr>
        <p:txBody>
          <a:bodyPr wrap="square"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archaic</a:t>
            </a:r>
            <a:endParaRPr lang="en-US" sz="1300" dirty="0"/>
          </a:p>
        </p:txBody>
      </p:sp>
      <p:sp>
        <p:nvSpPr>
          <p:cNvPr id="15" name="Text 13"/>
          <p:cNvSpPr/>
          <p:nvPr/>
        </p:nvSpPr>
        <p:spPr>
          <a:xfrm>
            <a:off x="1920240" y="2468880"/>
            <a:ext cx="2468880" cy="310896"/>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 belonging to an earlier, very old time</a:t>
            </a:r>
            <a:endParaRPr lang="en-US" sz="1100" dirty="0"/>
          </a:p>
        </p:txBody>
      </p:sp>
      <p:sp>
        <p:nvSpPr>
          <p:cNvPr id="16" name="Shape 14"/>
          <p:cNvSpPr/>
          <p:nvPr/>
        </p:nvSpPr>
        <p:spPr>
          <a:xfrm>
            <a:off x="365760" y="3054096"/>
            <a:ext cx="4114800" cy="1682496"/>
          </a:xfrm>
          <a:prstGeom prst="roundRect">
            <a:avLst>
              <a:gd name="adj" fmla="val 6522"/>
            </a:avLst>
          </a:prstGeom>
          <a:solidFill>
            <a:srgbClr val="F5F0FF"/>
          </a:solidFill>
          <a:ln w="19050">
            <a:solidFill>
              <a:srgbClr val="8B6FC0"/>
            </a:solidFill>
            <a:prstDash val="solid"/>
          </a:ln>
        </p:spPr>
      </p:sp>
      <p:sp>
        <p:nvSpPr>
          <p:cNvPr id="17" name="Text 15"/>
          <p:cNvSpPr/>
          <p:nvPr/>
        </p:nvSpPr>
        <p:spPr>
          <a:xfrm>
            <a:off x="548640" y="3108960"/>
            <a:ext cx="3749040" cy="237744"/>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THINK ALOUD</a:t>
            </a:r>
            <a:endParaRPr lang="en-US" sz="900" dirty="0"/>
          </a:p>
        </p:txBody>
      </p:sp>
      <p:sp>
        <p:nvSpPr>
          <p:cNvPr id="18" name="Text 16"/>
          <p:cNvSpPr/>
          <p:nvPr/>
        </p:nvSpPr>
        <p:spPr>
          <a:xfrm>
            <a:off x="548640" y="3364992"/>
            <a:ext cx="3749040" cy="1280160"/>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If archive means 'old records' and archaic means 'very old'... what is arch- doing to these words? What idea is it adding?</a:t>
            </a:r>
            <a:endParaRPr lang="en-US" sz="1300" dirty="0"/>
          </a:p>
        </p:txBody>
      </p:sp>
      <p:sp>
        <p:nvSpPr>
          <p:cNvPr id="19" name="Shape 17"/>
          <p:cNvSpPr/>
          <p:nvPr/>
        </p:nvSpPr>
        <p:spPr>
          <a:xfrm>
            <a:off x="4663440" y="987552"/>
            <a:ext cx="4114800" cy="237744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4846320" y="1078992"/>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1" name="Text 19"/>
          <p:cNvSpPr/>
          <p:nvPr/>
        </p:nvSpPr>
        <p:spPr>
          <a:xfrm>
            <a:off x="4846320" y="1335024"/>
            <a:ext cx="3749040" cy="1938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the four words have in MEANING - not just spelling?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arch- appears at the beginning of words about old things, original things, or firsts - what might it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An 'architect' designed the original structure. An 'archive' holds original records. What does that tell us about arch-?</a:t>
            </a:r>
            <a:endParaRPr lang="en-US" sz="1100" dirty="0"/>
          </a:p>
        </p:txBody>
      </p:sp>
      <p:sp>
        <p:nvSpPr>
          <p:cNvPr id="22" name="Shape 20"/>
          <p:cNvSpPr/>
          <p:nvPr/>
        </p:nvSpPr>
        <p:spPr>
          <a:xfrm>
            <a:off x="4663440" y="3456432"/>
            <a:ext cx="4114800" cy="1280160"/>
          </a:xfrm>
          <a:prstGeom prst="roundRect">
            <a:avLst>
              <a:gd name="adj" fmla="val 8571"/>
            </a:avLst>
          </a:prstGeom>
          <a:solidFill>
            <a:srgbClr val="FFF3DC"/>
          </a:solidFill>
          <a:ln w="19050">
            <a:solidFill>
              <a:srgbClr val="F5E6C8"/>
            </a:solidFill>
            <a:prstDash val="solid"/>
          </a:ln>
        </p:spPr>
      </p:sp>
      <p:sp>
        <p:nvSpPr>
          <p:cNvPr id="23" name="Text 21"/>
          <p:cNvSpPr/>
          <p:nvPr/>
        </p:nvSpPr>
        <p:spPr>
          <a:xfrm>
            <a:off x="4800600" y="3511296"/>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4" name="Text 22"/>
          <p:cNvSpPr/>
          <p:nvPr/>
        </p:nvSpPr>
        <p:spPr>
          <a:xfrm>
            <a:off x="4800600" y="3712464"/>
            <a:ext cx="3840480" cy="960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arch- means... because all the words share the idea of..."</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best guess: arch- = '____' because..."</a:t>
            </a:r>
            <a:endParaRPr lang="en-US" sz="1200" dirty="0"/>
          </a:p>
        </p:txBody>
      </p:sp>
      <p:sp>
        <p:nvSpPr>
          <p:cNvPr id="25" name="Shape 23"/>
          <p:cNvSpPr/>
          <p:nvPr/>
        </p:nvSpPr>
        <p:spPr>
          <a:xfrm>
            <a:off x="0" y="5070348"/>
            <a:ext cx="9144000" cy="73152"/>
          </a:xfrm>
          <a:prstGeom prst="rect">
            <a:avLst/>
          </a:prstGeom>
          <a:solidFill>
            <a:srgbClr val="8B6FC0"/>
          </a:solidFill>
          <a:ln w="12700">
            <a:solidFill>
              <a:srgbClr val="8B6FC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73152"/>
          </a:xfrm>
          <a:prstGeom prst="rect">
            <a:avLst/>
          </a:prstGeom>
          <a:solidFill>
            <a:srgbClr val="8B6FC0"/>
          </a:solidFill>
          <a:ln w="12700">
            <a:solidFill>
              <a:srgbClr val="8B6FC0"/>
            </a:solidFill>
            <a:prstDash val="solid"/>
          </a:ln>
        </p:spPr>
      </p:sp>
      <p:sp>
        <p:nvSpPr>
          <p:cNvPr id="6" name="Text 3"/>
          <p:cNvSpPr/>
          <p:nvPr/>
        </p:nvSpPr>
        <p:spPr>
          <a:xfrm>
            <a:off x="457200" y="164592"/>
            <a:ext cx="8229600" cy="274320"/>
          </a:xfrm>
          <a:prstGeom prst="rect">
            <a:avLst/>
          </a:prstGeom>
          <a:noFill/>
          <a:ln/>
        </p:spPr>
        <p:txBody>
          <a:bodyPr wrap="square" rtlCol="0" anchor="ctr"/>
          <a:lstStyle/>
          <a:p>
            <a:pPr algn="ctr" indent="0" marL="0">
              <a:buNone/>
            </a:pPr>
            <a:r>
              <a:rPr lang="en-US" sz="1000" b="1" spc="200" kern="0" dirty="0">
                <a:solidFill>
                  <a:srgbClr val="8B6FC0"/>
                </a:solidFill>
                <a:latin typeface="Calibri" pitchFamily="34" charset="0"/>
                <a:ea typeface="Calibri" pitchFamily="34" charset="-122"/>
                <a:cs typeface="Calibri" pitchFamily="34" charset="-120"/>
              </a:rPr>
              <a:t>THE REVEAL</a:t>
            </a:r>
            <a:endParaRPr lang="en-US" sz="1000" dirty="0"/>
          </a:p>
        </p:txBody>
      </p:sp>
      <p:sp>
        <p:nvSpPr>
          <p:cNvPr id="7" name="Shape 4"/>
          <p:cNvSpPr/>
          <p:nvPr/>
        </p:nvSpPr>
        <p:spPr>
          <a:xfrm>
            <a:off x="2011680" y="512064"/>
            <a:ext cx="5120640" cy="1463040"/>
          </a:xfrm>
          <a:prstGeom prst="roundRect">
            <a:avLst>
              <a:gd name="adj" fmla="val 12500"/>
            </a:avLst>
          </a:prstGeom>
          <a:solidFill>
            <a:srgbClr val="8B6FC0"/>
          </a:solidFill>
          <a:ln w="25400">
            <a:solidFill>
              <a:srgbClr val="FFFFFF"/>
            </a:solidFill>
            <a:prstDash val="solid"/>
          </a:ln>
        </p:spPr>
      </p:sp>
      <p:sp>
        <p:nvSpPr>
          <p:cNvPr id="8" name="Text 5"/>
          <p:cNvSpPr/>
          <p:nvPr/>
        </p:nvSpPr>
        <p:spPr>
          <a:xfrm>
            <a:off x="2011680" y="566928"/>
            <a:ext cx="5120640" cy="713232"/>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arch-</a:t>
            </a:r>
            <a:endParaRPr lang="en-US" sz="5200" dirty="0"/>
          </a:p>
        </p:txBody>
      </p:sp>
      <p:sp>
        <p:nvSpPr>
          <p:cNvPr id="9" name="Text 6"/>
          <p:cNvSpPr/>
          <p:nvPr/>
        </p:nvSpPr>
        <p:spPr>
          <a:xfrm>
            <a:off x="2011680" y="1261872"/>
            <a:ext cx="5120640" cy="530352"/>
          </a:xfrm>
          <a:prstGeom prst="rect">
            <a:avLst/>
          </a:prstGeom>
          <a:noFill/>
          <a:ln/>
        </p:spPr>
        <p:txBody>
          <a:bodyPr wrap="square" rtlCol="0" anchor="ctr"/>
          <a:lstStyle/>
          <a:p>
            <a:pPr algn="ctr" indent="0" marL="0">
              <a:buNone/>
            </a:pPr>
            <a:r>
              <a:rPr lang="en-US" sz="2000" i="1" dirty="0">
                <a:solidFill>
                  <a:srgbClr val="FFF3DC"/>
                </a:solidFill>
                <a:latin typeface="Cambria" pitchFamily="34" charset="0"/>
                <a:ea typeface="Cambria" pitchFamily="34" charset="-122"/>
                <a:cs typeface="Cambria" pitchFamily="34" charset="-120"/>
              </a:rPr>
              <a:t>"old, first, original"</a:t>
            </a:r>
            <a:endParaRPr lang="en-US" sz="2000" dirty="0"/>
          </a:p>
        </p:txBody>
      </p:sp>
      <p:sp>
        <p:nvSpPr>
          <p:cNvPr id="10" name="Text 7"/>
          <p:cNvSpPr/>
          <p:nvPr/>
        </p:nvSpPr>
        <p:spPr>
          <a:xfrm>
            <a:off x="457200" y="2084832"/>
            <a:ext cx="8229600" cy="310896"/>
          </a:xfrm>
          <a:prstGeom prst="rect">
            <a:avLst/>
          </a:prstGeom>
          <a:noFill/>
          <a:ln/>
        </p:spPr>
        <p:txBody>
          <a:bodyPr wrap="square" rtlCol="0" anchor="ctr"/>
          <a:lstStyle/>
          <a:p>
            <a:pPr algn="ctr" indent="0" marL="0">
              <a:buNone/>
            </a:pPr>
            <a:r>
              <a:rPr lang="en-US" sz="1300" i="1" dirty="0">
                <a:solidFill>
                  <a:srgbClr val="FFFFFF"/>
                </a:solidFill>
                <a:latin typeface="Cambria" pitchFamily="34" charset="0"/>
                <a:ea typeface="Cambria" pitchFamily="34" charset="-122"/>
                <a:cs typeface="Cambria" pitchFamily="34" charset="-120"/>
              </a:rPr>
              <a:t>Now the words make sense:</a:t>
            </a:r>
            <a:endParaRPr lang="en-US" sz="1300" dirty="0"/>
          </a:p>
        </p:txBody>
      </p:sp>
      <p:sp>
        <p:nvSpPr>
          <p:cNvPr id="11" name="Shape 8"/>
          <p:cNvSpPr/>
          <p:nvPr/>
        </p:nvSpPr>
        <p:spPr>
          <a:xfrm>
            <a:off x="365760" y="2450592"/>
            <a:ext cx="2788920" cy="1517904"/>
          </a:xfrm>
          <a:prstGeom prst="roundRect">
            <a:avLst>
              <a:gd name="adj" fmla="val 7229"/>
            </a:avLst>
          </a:prstGeom>
          <a:solidFill>
            <a:srgbClr val="1A2D5A"/>
          </a:solidFill>
          <a:ln w="19050">
            <a:solidFill>
              <a:srgbClr val="8B6FC0"/>
            </a:solidFill>
            <a:prstDash val="solid"/>
          </a:ln>
        </p:spPr>
      </p:sp>
      <p:sp>
        <p:nvSpPr>
          <p:cNvPr id="12" name="Text 9"/>
          <p:cNvSpPr/>
          <p:nvPr/>
        </p:nvSpPr>
        <p:spPr>
          <a:xfrm>
            <a:off x="475488" y="2505456"/>
            <a:ext cx="2569464" cy="347472"/>
          </a:xfrm>
          <a:prstGeom prst="rect">
            <a:avLst/>
          </a:prstGeom>
          <a:noFill/>
          <a:ln/>
        </p:spPr>
        <p:txBody>
          <a:bodyPr wrap="square" rtlCol="0" anchor="ctr"/>
          <a:lstStyle/>
          <a:p>
            <a:pPr algn="ctr" indent="0" marL="0">
              <a:buNone/>
            </a:pPr>
            <a:r>
              <a:rPr lang="en-US" sz="1700" b="1" dirty="0">
                <a:solidFill>
                  <a:srgbClr val="D4943A"/>
                </a:solidFill>
                <a:latin typeface="Cambria" pitchFamily="34" charset="0"/>
                <a:ea typeface="Cambria" pitchFamily="34" charset="-122"/>
                <a:cs typeface="Cambria" pitchFamily="34" charset="-120"/>
              </a:rPr>
              <a:t>archive</a:t>
            </a:r>
            <a:endParaRPr lang="en-US" sz="1700" dirty="0"/>
          </a:p>
        </p:txBody>
      </p:sp>
      <p:sp>
        <p:nvSpPr>
          <p:cNvPr id="13" name="Text 10"/>
          <p:cNvSpPr/>
          <p:nvPr/>
        </p:nvSpPr>
        <p:spPr>
          <a:xfrm>
            <a:off x="475488" y="2852928"/>
            <a:ext cx="2569464" cy="1024128"/>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arch- (original) + ive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 place that guards the original records"</a:t>
            </a:r>
            <a:endParaRPr lang="en-US" sz="1050" dirty="0"/>
          </a:p>
        </p:txBody>
      </p:sp>
      <p:sp>
        <p:nvSpPr>
          <p:cNvPr id="14" name="Shape 11"/>
          <p:cNvSpPr/>
          <p:nvPr/>
        </p:nvSpPr>
        <p:spPr>
          <a:xfrm>
            <a:off x="3246120" y="2450592"/>
            <a:ext cx="2788920" cy="1517904"/>
          </a:xfrm>
          <a:prstGeom prst="roundRect">
            <a:avLst>
              <a:gd name="adj" fmla="val 7229"/>
            </a:avLst>
          </a:prstGeom>
          <a:solidFill>
            <a:srgbClr val="1A2D5A"/>
          </a:solidFill>
          <a:ln w="19050">
            <a:solidFill>
              <a:srgbClr val="8B6FC0"/>
            </a:solidFill>
            <a:prstDash val="solid"/>
          </a:ln>
        </p:spPr>
      </p:sp>
      <p:sp>
        <p:nvSpPr>
          <p:cNvPr id="15" name="Text 12"/>
          <p:cNvSpPr/>
          <p:nvPr/>
        </p:nvSpPr>
        <p:spPr>
          <a:xfrm>
            <a:off x="3355848" y="2505456"/>
            <a:ext cx="2569464" cy="347472"/>
          </a:xfrm>
          <a:prstGeom prst="rect">
            <a:avLst/>
          </a:prstGeom>
          <a:noFill/>
          <a:ln/>
        </p:spPr>
        <p:txBody>
          <a:bodyPr wrap="square" rtlCol="0" anchor="ctr"/>
          <a:lstStyle/>
          <a:p>
            <a:pPr algn="ctr" indent="0" marL="0">
              <a:buNone/>
            </a:pPr>
            <a:r>
              <a:rPr lang="en-US" sz="1700" b="1" dirty="0">
                <a:solidFill>
                  <a:srgbClr val="D4943A"/>
                </a:solidFill>
                <a:latin typeface="Cambria" pitchFamily="34" charset="0"/>
                <a:ea typeface="Cambria" pitchFamily="34" charset="-122"/>
                <a:cs typeface="Cambria" pitchFamily="34" charset="-120"/>
              </a:rPr>
              <a:t>archaeology</a:t>
            </a:r>
            <a:endParaRPr lang="en-US" sz="1700" dirty="0"/>
          </a:p>
        </p:txBody>
      </p:sp>
      <p:sp>
        <p:nvSpPr>
          <p:cNvPr id="16" name="Text 13"/>
          <p:cNvSpPr/>
          <p:nvPr/>
        </p:nvSpPr>
        <p:spPr>
          <a:xfrm>
            <a:off x="3355848" y="2852928"/>
            <a:ext cx="2569464" cy="1024128"/>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arch- (old) + ology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"the study of ancient/old things"</a:t>
            </a:r>
            <a:endParaRPr lang="en-US" sz="1050" dirty="0"/>
          </a:p>
        </p:txBody>
      </p:sp>
      <p:sp>
        <p:nvSpPr>
          <p:cNvPr id="17" name="Shape 14"/>
          <p:cNvSpPr/>
          <p:nvPr/>
        </p:nvSpPr>
        <p:spPr>
          <a:xfrm>
            <a:off x="6126480" y="2450592"/>
            <a:ext cx="2788920" cy="1517904"/>
          </a:xfrm>
          <a:prstGeom prst="roundRect">
            <a:avLst>
              <a:gd name="adj" fmla="val 7229"/>
            </a:avLst>
          </a:prstGeom>
          <a:solidFill>
            <a:srgbClr val="1A2D5A"/>
          </a:solidFill>
          <a:ln w="19050">
            <a:solidFill>
              <a:srgbClr val="8B6FC0"/>
            </a:solidFill>
            <a:prstDash val="solid"/>
          </a:ln>
        </p:spPr>
      </p:sp>
      <p:sp>
        <p:nvSpPr>
          <p:cNvPr id="18" name="Text 15"/>
          <p:cNvSpPr/>
          <p:nvPr/>
        </p:nvSpPr>
        <p:spPr>
          <a:xfrm>
            <a:off x="6236208" y="2505456"/>
            <a:ext cx="2569464" cy="347472"/>
          </a:xfrm>
          <a:prstGeom prst="rect">
            <a:avLst/>
          </a:prstGeom>
          <a:noFill/>
          <a:ln/>
        </p:spPr>
        <p:txBody>
          <a:bodyPr wrap="square" rtlCol="0" anchor="ctr"/>
          <a:lstStyle/>
          <a:p>
            <a:pPr algn="ctr" indent="0" marL="0">
              <a:buNone/>
            </a:pPr>
            <a:r>
              <a:rPr lang="en-US" sz="1700" b="1" dirty="0">
                <a:solidFill>
                  <a:srgbClr val="D4943A"/>
                </a:solidFill>
                <a:latin typeface="Cambria" pitchFamily="34" charset="0"/>
                <a:ea typeface="Cambria" pitchFamily="34" charset="-122"/>
                <a:cs typeface="Cambria" pitchFamily="34" charset="-120"/>
              </a:rPr>
              <a:t>architect</a:t>
            </a:r>
            <a:endParaRPr lang="en-US" sz="1700" dirty="0"/>
          </a:p>
        </p:txBody>
      </p:sp>
      <p:sp>
        <p:nvSpPr>
          <p:cNvPr id="19" name="Text 16"/>
          <p:cNvSpPr/>
          <p:nvPr/>
        </p:nvSpPr>
        <p:spPr>
          <a:xfrm>
            <a:off x="6236208" y="2852928"/>
            <a:ext cx="2569464" cy="1024128"/>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arch- (first) + tect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"one who designs the original structure"</a:t>
            </a:r>
            <a:endParaRPr lang="en-US" sz="1050" dirty="0"/>
          </a:p>
        </p:txBody>
      </p:sp>
      <p:sp>
        <p:nvSpPr>
          <p:cNvPr id="20" name="Shape 17"/>
          <p:cNvSpPr/>
          <p:nvPr/>
        </p:nvSpPr>
        <p:spPr>
          <a:xfrm>
            <a:off x="365760" y="4059936"/>
            <a:ext cx="8412480" cy="841248"/>
          </a:xfrm>
          <a:prstGeom prst="roundRect">
            <a:avLst>
              <a:gd name="adj" fmla="val 13043"/>
            </a:avLst>
          </a:prstGeom>
          <a:solidFill>
            <a:srgbClr val="1A2D5A"/>
          </a:solidFill>
          <a:ln w="19050">
            <a:solidFill>
              <a:srgbClr val="55C8E8"/>
            </a:solidFill>
            <a:prstDash val="solid"/>
          </a:ln>
        </p:spPr>
      </p:sp>
      <p:sp>
        <p:nvSpPr>
          <p:cNvPr id="21" name="Text 18"/>
          <p:cNvSpPr/>
          <p:nvPr/>
        </p:nvSpPr>
        <p:spPr>
          <a:xfrm>
            <a:off x="548640" y="4114800"/>
            <a:ext cx="8046720" cy="219456"/>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QUICK RETRIEVAL</a:t>
            </a:r>
            <a:endParaRPr lang="en-US" sz="900" dirty="0"/>
          </a:p>
        </p:txBody>
      </p:sp>
      <p:sp>
        <p:nvSpPr>
          <p:cNvPr id="22" name="Text 19"/>
          <p:cNvSpPr/>
          <p:nvPr/>
        </p:nvSpPr>
        <p:spPr>
          <a:xfrm>
            <a:off x="548640" y="4334256"/>
            <a:ext cx="8046720" cy="493776"/>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Use arch- to define archivist in your own words. Start with: 'An archivist is someone who...'</a:t>
            </a:r>
            <a:endParaRPr lang="en-US" sz="1300" dirty="0"/>
          </a:p>
        </p:txBody>
      </p:sp>
      <p:sp>
        <p:nvSpPr>
          <p:cNvPr id="23" name="Shape 20"/>
          <p:cNvSpPr/>
          <p:nvPr/>
        </p:nvSpPr>
        <p:spPr>
          <a:xfrm>
            <a:off x="0" y="5070348"/>
            <a:ext cx="9144000" cy="73152"/>
          </a:xfrm>
          <a:prstGeom prst="rect">
            <a:avLst/>
          </a:prstGeom>
          <a:solidFill>
            <a:srgbClr val="8B6FC0"/>
          </a:solidFill>
          <a:ln w="12700">
            <a:solidFill>
              <a:srgbClr val="8B6FC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ROOT COMPARISON</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Clue Box 2 - Two Roots Side by Side</a:t>
            </a:r>
            <a:endParaRPr lang="en-US" sz="2800" dirty="0"/>
          </a:p>
        </p:txBody>
      </p:sp>
      <p:sp>
        <p:nvSpPr>
          <p:cNvPr id="5" name="Shape 3"/>
          <p:cNvSpPr/>
          <p:nvPr/>
        </p:nvSpPr>
        <p:spPr>
          <a:xfrm>
            <a:off x="457200" y="841248"/>
            <a:ext cx="3657600" cy="36576"/>
          </a:xfrm>
          <a:prstGeom prst="rect">
            <a:avLst/>
          </a:prstGeom>
          <a:solidFill>
            <a:srgbClr val="8B6FC0"/>
          </a:solidFill>
          <a:ln w="12700">
            <a:solidFill>
              <a:srgbClr val="8B6FC0"/>
            </a:solidFill>
            <a:prstDash val="solid"/>
          </a:ln>
        </p:spPr>
      </p:sp>
      <p:sp>
        <p:nvSpPr>
          <p:cNvPr id="6" name="Shape 4"/>
          <p:cNvSpPr/>
          <p:nvPr/>
        </p:nvSpPr>
        <p:spPr>
          <a:xfrm>
            <a:off x="365760" y="987552"/>
            <a:ext cx="3931920" cy="2743200"/>
          </a:xfrm>
          <a:prstGeom prst="roundRect">
            <a:avLst>
              <a:gd name="adj" fmla="val 5000"/>
            </a:avLst>
          </a:prstGeom>
          <a:solidFill>
            <a:srgbClr val="8B6FC0"/>
          </a:solidFill>
          <a:ln w="19050">
            <a:solidFill>
              <a:srgbClr val="FFFFFF"/>
            </a:solidFill>
            <a:prstDash val="solid"/>
          </a:ln>
        </p:spPr>
      </p:sp>
      <p:sp>
        <p:nvSpPr>
          <p:cNvPr id="7" name="Text 5"/>
          <p:cNvSpPr/>
          <p:nvPr/>
        </p:nvSpPr>
        <p:spPr>
          <a:xfrm>
            <a:off x="548640" y="1042416"/>
            <a:ext cx="3566160" cy="237744"/>
          </a:xfrm>
          <a:prstGeom prst="rect">
            <a:avLst/>
          </a:prstGeom>
          <a:noFill/>
          <a:ln/>
        </p:spPr>
        <p:txBody>
          <a:bodyPr wrap="square" rtlCol="0" anchor="ctr"/>
          <a:lstStyle/>
          <a:p>
            <a:pPr indent="0" marL="0">
              <a:buNone/>
            </a:pPr>
            <a:r>
              <a:rPr lang="en-US" sz="900" b="1" spc="150" kern="0" dirty="0">
                <a:solidFill>
                  <a:srgbClr val="FFFFFF">
                    <a:alpha val="65000"/>
                  </a:srgbClr>
                </a:solidFill>
                <a:latin typeface="Calibri" pitchFamily="34" charset="0"/>
                <a:ea typeface="Calibri" pitchFamily="34" charset="-122"/>
                <a:cs typeface="Calibri" pitchFamily="34" charset="-120"/>
              </a:rPr>
              <a:t>ROOT 1</a:t>
            </a:r>
            <a:endParaRPr lang="en-US" sz="900" dirty="0"/>
          </a:p>
        </p:txBody>
      </p:sp>
      <p:sp>
        <p:nvSpPr>
          <p:cNvPr id="8" name="Text 6"/>
          <p:cNvSpPr/>
          <p:nvPr/>
        </p:nvSpPr>
        <p:spPr>
          <a:xfrm>
            <a:off x="548640" y="1261872"/>
            <a:ext cx="3566160" cy="530352"/>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arch-</a:t>
            </a:r>
            <a:endParaRPr lang="en-US" sz="3800" dirty="0"/>
          </a:p>
        </p:txBody>
      </p:sp>
      <p:sp>
        <p:nvSpPr>
          <p:cNvPr id="9" name="Text 7"/>
          <p:cNvSpPr/>
          <p:nvPr/>
        </p:nvSpPr>
        <p:spPr>
          <a:xfrm>
            <a:off x="548640" y="1755648"/>
            <a:ext cx="3566160" cy="274320"/>
          </a:xfrm>
          <a:prstGeom prst="rect">
            <a:avLst/>
          </a:prstGeom>
          <a:noFill/>
          <a:ln/>
        </p:spPr>
        <p:txBody>
          <a:bodyPr wrap="square"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"old, first, original"</a:t>
            </a:r>
            <a:endParaRPr lang="en-US" sz="1400" dirty="0"/>
          </a:p>
        </p:txBody>
      </p:sp>
      <p:sp>
        <p:nvSpPr>
          <p:cNvPr id="10" name="Shape 8"/>
          <p:cNvSpPr/>
          <p:nvPr/>
        </p:nvSpPr>
        <p:spPr>
          <a:xfrm>
            <a:off x="640080" y="2048256"/>
            <a:ext cx="3383280" cy="18288"/>
          </a:xfrm>
          <a:prstGeom prst="rect">
            <a:avLst/>
          </a:prstGeom>
          <a:solidFill>
            <a:srgbClr val="FFFFFF">
              <a:alpha val="40000"/>
            </a:srgbClr>
          </a:solidFill>
          <a:ln w="12700">
            <a:solidFill>
              <a:srgbClr val="FFFFFF">
                <a:alpha val="40000"/>
              </a:srgbClr>
            </a:solidFill>
            <a:prstDash val="solid"/>
          </a:ln>
        </p:spPr>
      </p:sp>
      <p:sp>
        <p:nvSpPr>
          <p:cNvPr id="11" name="Text 9"/>
          <p:cNvSpPr/>
          <p:nvPr/>
        </p:nvSpPr>
        <p:spPr>
          <a:xfrm>
            <a:off x="640080" y="2103120"/>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archive</a:t>
            </a:r>
            <a:endParaRPr lang="en-US" sz="1300" dirty="0"/>
          </a:p>
        </p:txBody>
      </p:sp>
      <p:sp>
        <p:nvSpPr>
          <p:cNvPr id="12" name="Text 10"/>
          <p:cNvSpPr/>
          <p:nvPr/>
        </p:nvSpPr>
        <p:spPr>
          <a:xfrm>
            <a:off x="640080" y="2487168"/>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archaeology</a:t>
            </a:r>
            <a:endParaRPr lang="en-US" sz="1300" dirty="0"/>
          </a:p>
        </p:txBody>
      </p:sp>
      <p:sp>
        <p:nvSpPr>
          <p:cNvPr id="13" name="Text 11"/>
          <p:cNvSpPr/>
          <p:nvPr/>
        </p:nvSpPr>
        <p:spPr>
          <a:xfrm>
            <a:off x="640080" y="2871216"/>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architect</a:t>
            </a:r>
            <a:endParaRPr lang="en-US" sz="1300" dirty="0"/>
          </a:p>
        </p:txBody>
      </p:sp>
      <p:sp>
        <p:nvSpPr>
          <p:cNvPr id="14" name="Text 12"/>
          <p:cNvSpPr/>
          <p:nvPr/>
        </p:nvSpPr>
        <p:spPr>
          <a:xfrm>
            <a:off x="640080" y="3255264"/>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archaic</a:t>
            </a:r>
            <a:endParaRPr lang="en-US" sz="1300" dirty="0"/>
          </a:p>
        </p:txBody>
      </p:sp>
      <p:sp>
        <p:nvSpPr>
          <p:cNvPr id="15" name="Shape 13"/>
          <p:cNvSpPr/>
          <p:nvPr/>
        </p:nvSpPr>
        <p:spPr>
          <a:xfrm>
            <a:off x="4846320" y="987552"/>
            <a:ext cx="3931920" cy="2743200"/>
          </a:xfrm>
          <a:prstGeom prst="roundRect">
            <a:avLst>
              <a:gd name="adj" fmla="val 5000"/>
            </a:avLst>
          </a:prstGeom>
          <a:solidFill>
            <a:srgbClr val="1A8A7D"/>
          </a:solidFill>
          <a:ln w="19050">
            <a:solidFill>
              <a:srgbClr val="FFFFFF"/>
            </a:solidFill>
            <a:prstDash val="solid"/>
          </a:ln>
        </p:spPr>
      </p:sp>
      <p:sp>
        <p:nvSpPr>
          <p:cNvPr id="16" name="Text 14"/>
          <p:cNvSpPr/>
          <p:nvPr/>
        </p:nvSpPr>
        <p:spPr>
          <a:xfrm>
            <a:off x="5029200" y="1042416"/>
            <a:ext cx="3566160" cy="237744"/>
          </a:xfrm>
          <a:prstGeom prst="rect">
            <a:avLst/>
          </a:prstGeom>
          <a:noFill/>
          <a:ln/>
        </p:spPr>
        <p:txBody>
          <a:bodyPr wrap="square" rtlCol="0" anchor="ctr"/>
          <a:lstStyle/>
          <a:p>
            <a:pPr indent="0" marL="0">
              <a:buNone/>
            </a:pPr>
            <a:r>
              <a:rPr lang="en-US" sz="900" b="1" spc="150" kern="0" dirty="0">
                <a:solidFill>
                  <a:srgbClr val="FFFFFF">
                    <a:alpha val="65000"/>
                  </a:srgbClr>
                </a:solidFill>
                <a:latin typeface="Calibri" pitchFamily="34" charset="0"/>
                <a:ea typeface="Calibri" pitchFamily="34" charset="-122"/>
                <a:cs typeface="Calibri" pitchFamily="34" charset="-120"/>
              </a:rPr>
              <a:t>ROOT 2</a:t>
            </a:r>
            <a:endParaRPr lang="en-US" sz="900" dirty="0"/>
          </a:p>
        </p:txBody>
      </p:sp>
      <p:sp>
        <p:nvSpPr>
          <p:cNvPr id="17" name="Text 15"/>
          <p:cNvSpPr/>
          <p:nvPr/>
        </p:nvSpPr>
        <p:spPr>
          <a:xfrm>
            <a:off x="5029200" y="1261872"/>
            <a:ext cx="3566160" cy="530352"/>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chron-</a:t>
            </a:r>
            <a:endParaRPr lang="en-US" sz="3800" dirty="0"/>
          </a:p>
        </p:txBody>
      </p:sp>
      <p:sp>
        <p:nvSpPr>
          <p:cNvPr id="18" name="Text 16"/>
          <p:cNvSpPr/>
          <p:nvPr/>
        </p:nvSpPr>
        <p:spPr>
          <a:xfrm>
            <a:off x="5029200" y="1755648"/>
            <a:ext cx="3566160" cy="274320"/>
          </a:xfrm>
          <a:prstGeom prst="rect">
            <a:avLst/>
          </a:prstGeom>
          <a:noFill/>
          <a:ln/>
        </p:spPr>
        <p:txBody>
          <a:bodyPr wrap="square"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"time"</a:t>
            </a:r>
            <a:endParaRPr lang="en-US" sz="1400" dirty="0"/>
          </a:p>
        </p:txBody>
      </p:sp>
      <p:sp>
        <p:nvSpPr>
          <p:cNvPr id="19" name="Shape 17"/>
          <p:cNvSpPr/>
          <p:nvPr/>
        </p:nvSpPr>
        <p:spPr>
          <a:xfrm>
            <a:off x="5029200" y="2048256"/>
            <a:ext cx="3383280" cy="18288"/>
          </a:xfrm>
          <a:prstGeom prst="rect">
            <a:avLst/>
          </a:prstGeom>
          <a:solidFill>
            <a:srgbClr val="FFFFFF">
              <a:alpha val="40000"/>
            </a:srgbClr>
          </a:solidFill>
          <a:ln w="12700">
            <a:solidFill>
              <a:srgbClr val="FFFFFF">
                <a:alpha val="40000"/>
              </a:srgbClr>
            </a:solidFill>
            <a:prstDash val="solid"/>
          </a:ln>
        </p:spPr>
      </p:sp>
      <p:sp>
        <p:nvSpPr>
          <p:cNvPr id="20" name="Text 18"/>
          <p:cNvSpPr/>
          <p:nvPr/>
        </p:nvSpPr>
        <p:spPr>
          <a:xfrm>
            <a:off x="5029200" y="2103120"/>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chronology</a:t>
            </a:r>
            <a:endParaRPr lang="en-US" sz="1300" dirty="0"/>
          </a:p>
        </p:txBody>
      </p:sp>
      <p:sp>
        <p:nvSpPr>
          <p:cNvPr id="21" name="Text 19"/>
          <p:cNvSpPr/>
          <p:nvPr/>
        </p:nvSpPr>
        <p:spPr>
          <a:xfrm>
            <a:off x="5029200" y="2487168"/>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chronicle</a:t>
            </a:r>
            <a:endParaRPr lang="en-US" sz="1300" dirty="0"/>
          </a:p>
        </p:txBody>
      </p:sp>
      <p:sp>
        <p:nvSpPr>
          <p:cNvPr id="22" name="Text 20"/>
          <p:cNvSpPr/>
          <p:nvPr/>
        </p:nvSpPr>
        <p:spPr>
          <a:xfrm>
            <a:off x="5029200" y="2871216"/>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chronological</a:t>
            </a:r>
            <a:endParaRPr lang="en-US" sz="1300" dirty="0"/>
          </a:p>
        </p:txBody>
      </p:sp>
      <p:sp>
        <p:nvSpPr>
          <p:cNvPr id="23" name="Text 21"/>
          <p:cNvSpPr/>
          <p:nvPr/>
        </p:nvSpPr>
        <p:spPr>
          <a:xfrm>
            <a:off x="5029200" y="3255264"/>
            <a:ext cx="338328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synchronize</a:t>
            </a:r>
            <a:endParaRPr lang="en-US" sz="1300" dirty="0"/>
          </a:p>
        </p:txBody>
      </p:sp>
      <p:sp>
        <p:nvSpPr>
          <p:cNvPr id="24" name="Shape 22"/>
          <p:cNvSpPr/>
          <p:nvPr/>
        </p:nvSpPr>
        <p:spPr>
          <a:xfrm>
            <a:off x="4160520" y="2084832"/>
            <a:ext cx="822960" cy="822960"/>
          </a:xfrm>
          <a:prstGeom prst="ellipse">
            <a:avLst/>
          </a:prstGeom>
          <a:solidFill>
            <a:srgbClr val="D4943A"/>
          </a:solidFill>
          <a:ln w="25400">
            <a:solidFill>
              <a:srgbClr val="FFFFFF"/>
            </a:solidFill>
            <a:prstDash val="solid"/>
          </a:ln>
        </p:spPr>
      </p:sp>
      <p:sp>
        <p:nvSpPr>
          <p:cNvPr id="25" name="Text 23"/>
          <p:cNvSpPr/>
          <p:nvPr/>
        </p:nvSpPr>
        <p:spPr>
          <a:xfrm>
            <a:off x="4160520" y="2084832"/>
            <a:ext cx="822960" cy="8229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VS</a:t>
            </a:r>
            <a:endParaRPr lang="en-US" sz="1600" dirty="0"/>
          </a:p>
        </p:txBody>
      </p:sp>
      <p:sp>
        <p:nvSpPr>
          <p:cNvPr id="26" name="Shape 24"/>
          <p:cNvSpPr/>
          <p:nvPr/>
        </p:nvSpPr>
        <p:spPr>
          <a:xfrm>
            <a:off x="365760" y="3840480"/>
            <a:ext cx="8412480" cy="1078992"/>
          </a:xfrm>
          <a:prstGeom prst="roundRect">
            <a:avLst>
              <a:gd name="adj" fmla="val 10169"/>
            </a:avLst>
          </a:prstGeom>
          <a:solidFill>
            <a:srgbClr val="FFF3DC"/>
          </a:solidFill>
          <a:ln w="19050">
            <a:solidFill>
              <a:srgbClr val="F5E6C8"/>
            </a:solidFill>
            <a:prstDash val="solid"/>
          </a:ln>
        </p:spPr>
      </p:sp>
      <p:sp>
        <p:nvSpPr>
          <p:cNvPr id="27" name="Text 25"/>
          <p:cNvSpPr/>
          <p:nvPr/>
        </p:nvSpPr>
        <p:spPr>
          <a:xfrm>
            <a:off x="502920" y="389534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8" name="Text 26"/>
          <p:cNvSpPr/>
          <p:nvPr/>
        </p:nvSpPr>
        <p:spPr>
          <a:xfrm>
            <a:off x="502920" y="4096512"/>
            <a:ext cx="8138160" cy="7589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chron- means '___' because all the chron- words have to do with..."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difference between arch- and chron- is..."</a:t>
            </a:r>
            <a:endParaRPr lang="en-US" sz="1200" dirty="0"/>
          </a:p>
        </p:txBody>
      </p:sp>
      <p:sp>
        <p:nvSpPr>
          <p:cNvPr id="29" name="Shape 27"/>
          <p:cNvSpPr/>
          <p:nvPr/>
        </p:nvSpPr>
        <p:spPr>
          <a:xfrm>
            <a:off x="0" y="5070348"/>
            <a:ext cx="9144000" cy="73152"/>
          </a:xfrm>
          <a:prstGeom prst="rect">
            <a:avLst/>
          </a:prstGeom>
          <a:solidFill>
            <a:srgbClr val="8B6FC0"/>
          </a:solidFill>
          <a:ln w="12700">
            <a:solidFill>
              <a:srgbClr val="8B6FC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8A7D"/>
          </a:solidFill>
          <a:ln w="12700">
            <a:solidFill>
              <a:srgbClr val="1A8A7D"/>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CLASS DISCUSSION</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Comparing Word Roots Across Word Families</a:t>
            </a:r>
            <a:endParaRPr lang="en-US" sz="2600" dirty="0"/>
          </a:p>
        </p:txBody>
      </p:sp>
      <p:sp>
        <p:nvSpPr>
          <p:cNvPr id="5" name="Shape 3"/>
          <p:cNvSpPr/>
          <p:nvPr/>
        </p:nvSpPr>
        <p:spPr>
          <a:xfrm>
            <a:off x="457200" y="841248"/>
            <a:ext cx="4572000" cy="36576"/>
          </a:xfrm>
          <a:prstGeom prst="rect">
            <a:avLst/>
          </a:prstGeom>
          <a:solidFill>
            <a:srgbClr val="1A8A7D"/>
          </a:solidFill>
          <a:ln w="12700">
            <a:solidFill>
              <a:srgbClr val="1A8A7D"/>
            </a:solidFill>
            <a:prstDash val="solid"/>
          </a:ln>
        </p:spPr>
      </p:sp>
      <p:sp>
        <p:nvSpPr>
          <p:cNvPr id="6" name="Shape 4"/>
          <p:cNvSpPr/>
          <p:nvPr/>
        </p:nvSpPr>
        <p:spPr>
          <a:xfrm>
            <a:off x="365760" y="987552"/>
            <a:ext cx="8412480" cy="731520"/>
          </a:xfrm>
          <a:prstGeom prst="roundRect">
            <a:avLst>
              <a:gd name="adj" fmla="val 15000"/>
            </a:avLst>
          </a:prstGeom>
          <a:solidFill>
            <a:srgbClr val="1A2D5A"/>
          </a:solidFill>
          <a:ln w="19050">
            <a:solidFill>
              <a:srgbClr val="55C8E8"/>
            </a:solidFill>
            <a:prstDash val="solid"/>
          </a:ln>
        </p:spPr>
      </p:sp>
      <p:sp>
        <p:nvSpPr>
          <p:cNvPr id="7" name="Text 5"/>
          <p:cNvSpPr/>
          <p:nvPr/>
        </p:nvSpPr>
        <p:spPr>
          <a:xfrm>
            <a:off x="548640" y="1042416"/>
            <a:ext cx="8046720" cy="219456"/>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PATTERN</a:t>
            </a:r>
            <a:endParaRPr lang="en-US" sz="900" dirty="0"/>
          </a:p>
        </p:txBody>
      </p:sp>
      <p:sp>
        <p:nvSpPr>
          <p:cNvPr id="8" name="Text 6"/>
          <p:cNvSpPr/>
          <p:nvPr/>
        </p:nvSpPr>
        <p:spPr>
          <a:xfrm>
            <a:off x="548640" y="1261872"/>
            <a:ext cx="8046720" cy="36576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Word roots act like codes - crack the root once, unlock an entire word family. The same root appears in words across many subjects.</a:t>
            </a:r>
            <a:endParaRPr lang="en-US" sz="1300" dirty="0"/>
          </a:p>
        </p:txBody>
      </p:sp>
      <p:sp>
        <p:nvSpPr>
          <p:cNvPr id="9" name="Shape 7"/>
          <p:cNvSpPr/>
          <p:nvPr/>
        </p:nvSpPr>
        <p:spPr>
          <a:xfrm>
            <a:off x="365760" y="1828800"/>
            <a:ext cx="4846320" cy="1993392"/>
          </a:xfrm>
          <a:prstGeom prst="roundRect">
            <a:avLst>
              <a:gd name="adj" fmla="val 6881"/>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48640" y="1920240"/>
            <a:ext cx="44805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176272"/>
            <a:ext cx="4480560" cy="155448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Chronicle means 'a record of events in time order.' Chronology also relates to time order. What does chron- contribute to BOTH words?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know arch- = 'old/original' and you see the word 'archetype,' what might archetype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knowing ONE root like having a master key to a whole word family?</a:t>
            </a:r>
            <a:endParaRPr lang="en-US" sz="1100" dirty="0"/>
          </a:p>
        </p:txBody>
      </p:sp>
      <p:sp>
        <p:nvSpPr>
          <p:cNvPr id="12" name="Shape 10"/>
          <p:cNvSpPr/>
          <p:nvPr/>
        </p:nvSpPr>
        <p:spPr>
          <a:xfrm>
            <a:off x="5394960" y="1828800"/>
            <a:ext cx="3383280" cy="1993392"/>
          </a:xfrm>
          <a:prstGeom prst="roundRect">
            <a:avLst>
              <a:gd name="adj" fmla="val 6881"/>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577840" y="1920240"/>
            <a:ext cx="30175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4" name="Text 12"/>
          <p:cNvSpPr/>
          <p:nvPr/>
        </p:nvSpPr>
        <p:spPr>
          <a:xfrm>
            <a:off x="5577840" y="2176272"/>
            <a:ext cx="3017520" cy="155448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history textbook lists events in 'chronological order.' Does that mean: (A) order of importance, or (B) order in time? How do you know from the root?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An archaeologist and a historian both study the past. Based on the roots arch- and -ology, which one digs up physical objects? Which reads documents?</a:t>
            </a:r>
            <a:endParaRPr lang="en-US" sz="1100" dirty="0"/>
          </a:p>
        </p:txBody>
      </p:sp>
      <p:sp>
        <p:nvSpPr>
          <p:cNvPr id="15" name="Shape 13"/>
          <p:cNvSpPr/>
          <p:nvPr/>
        </p:nvSpPr>
        <p:spPr>
          <a:xfrm>
            <a:off x="365760" y="3913632"/>
            <a:ext cx="8412480" cy="987552"/>
          </a:xfrm>
          <a:prstGeom prst="roundRect">
            <a:avLst>
              <a:gd name="adj" fmla="val 11111"/>
            </a:avLst>
          </a:prstGeom>
          <a:solidFill>
            <a:srgbClr val="FFF3DC"/>
          </a:solidFill>
          <a:ln w="19050">
            <a:solidFill>
              <a:srgbClr val="F5E6C8"/>
            </a:solidFill>
            <a:prstDash val="solid"/>
          </a:ln>
        </p:spPr>
      </p:sp>
      <p:sp>
        <p:nvSpPr>
          <p:cNvPr id="16" name="Text 14"/>
          <p:cNvSpPr/>
          <p:nvPr/>
        </p:nvSpPr>
        <p:spPr>
          <a:xfrm>
            <a:off x="502920" y="396849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169664"/>
            <a:ext cx="8138160" cy="66751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"Chron- means '___' because all the chron- words deal with..."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"Knowing the root arch- helped me understand... because..."</a:t>
            </a:r>
            <a:endParaRPr lang="en-US" sz="1200" dirty="0"/>
          </a:p>
        </p:txBody>
      </p:sp>
      <p:sp>
        <p:nvSpPr>
          <p:cNvPr id="18" name="Shape 16"/>
          <p:cNvSpPr/>
          <p:nvPr/>
        </p:nvSpPr>
        <p:spPr>
          <a:xfrm>
            <a:off x="0" y="5070348"/>
            <a:ext cx="9144000" cy="73152"/>
          </a:xfrm>
          <a:prstGeom prst="rect">
            <a:avLst/>
          </a:prstGeom>
          <a:solidFill>
            <a:srgbClr val="1A8A7D"/>
          </a:solidFill>
          <a:ln w="12700">
            <a:solidFill>
              <a:srgbClr val="1A8A7D"/>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73152"/>
          </a:xfrm>
          <a:prstGeom prst="rect">
            <a:avLst/>
          </a:prstGeom>
          <a:solidFill>
            <a:srgbClr val="1A8A7D"/>
          </a:solidFill>
          <a:ln w="12700">
            <a:solidFill>
              <a:srgbClr val="1A8A7D"/>
            </a:solidFill>
            <a:prstDash val="solid"/>
          </a:ln>
        </p:spPr>
      </p:sp>
      <p:sp>
        <p:nvSpPr>
          <p:cNvPr id="6" name="Text 3"/>
          <p:cNvSpPr/>
          <p:nvPr/>
        </p:nvSpPr>
        <p:spPr>
          <a:xfrm>
            <a:off x="457200" y="164592"/>
            <a:ext cx="8229600" cy="274320"/>
          </a:xfrm>
          <a:prstGeom prst="rect">
            <a:avLst/>
          </a:prstGeom>
          <a:noFill/>
          <a:ln/>
        </p:spPr>
        <p:txBody>
          <a:bodyPr wrap="square" rtlCol="0" anchor="ctr"/>
          <a:lstStyle/>
          <a:p>
            <a:pPr algn="ctr" indent="0" marL="0">
              <a:buNone/>
            </a:pPr>
            <a:r>
              <a:rPr lang="en-US" sz="1000" b="1" spc="200" kern="0" dirty="0">
                <a:solidFill>
                  <a:srgbClr val="1A8A7D"/>
                </a:solidFill>
                <a:latin typeface="Calibri" pitchFamily="34" charset="0"/>
                <a:ea typeface="Calibri" pitchFamily="34" charset="-122"/>
                <a:cs typeface="Calibri" pitchFamily="34" charset="-120"/>
              </a:rPr>
              <a:t>ROOTS REVEALED</a:t>
            </a:r>
            <a:endParaRPr lang="en-US" sz="1000" dirty="0"/>
          </a:p>
        </p:txBody>
      </p:sp>
      <p:sp>
        <p:nvSpPr>
          <p:cNvPr id="7" name="Text 4"/>
          <p:cNvSpPr/>
          <p:nvPr/>
        </p:nvSpPr>
        <p:spPr>
          <a:xfrm>
            <a:off x="457200" y="402336"/>
            <a:ext cx="8229600" cy="4572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Three Root Keys</a:t>
            </a:r>
            <a:endParaRPr lang="en-US" sz="3000" dirty="0"/>
          </a:p>
        </p:txBody>
      </p:sp>
      <p:sp>
        <p:nvSpPr>
          <p:cNvPr id="8" name="Shape 5"/>
          <p:cNvSpPr/>
          <p:nvPr/>
        </p:nvSpPr>
        <p:spPr>
          <a:xfrm>
            <a:off x="274320" y="987552"/>
            <a:ext cx="2743200" cy="2103120"/>
          </a:xfrm>
          <a:prstGeom prst="roundRect">
            <a:avLst>
              <a:gd name="adj" fmla="val 6522"/>
            </a:avLst>
          </a:prstGeom>
          <a:solidFill>
            <a:srgbClr val="8B6FC0"/>
          </a:solidFill>
          <a:ln w="19050">
            <a:solidFill>
              <a:srgbClr val="FFFFFF"/>
            </a:solidFill>
            <a:prstDash val="solid"/>
          </a:ln>
        </p:spPr>
      </p:sp>
      <p:sp>
        <p:nvSpPr>
          <p:cNvPr id="9" name="Text 6"/>
          <p:cNvSpPr/>
          <p:nvPr/>
        </p:nvSpPr>
        <p:spPr>
          <a:xfrm>
            <a:off x="384048" y="1042416"/>
            <a:ext cx="2523744" cy="566928"/>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arch-</a:t>
            </a:r>
            <a:endParaRPr lang="en-US" sz="3200" dirty="0"/>
          </a:p>
        </p:txBody>
      </p:sp>
      <p:sp>
        <p:nvSpPr>
          <p:cNvPr id="10" name="Text 7"/>
          <p:cNvSpPr/>
          <p:nvPr/>
        </p:nvSpPr>
        <p:spPr>
          <a:xfrm>
            <a:off x="384048" y="1572768"/>
            <a:ext cx="2523744" cy="292608"/>
          </a:xfrm>
          <a:prstGeom prst="rect">
            <a:avLst/>
          </a:prstGeom>
          <a:noFill/>
          <a:ln/>
        </p:spPr>
        <p:txBody>
          <a:bodyPr wrap="square"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"old, first, original"</a:t>
            </a:r>
            <a:endParaRPr lang="en-US" sz="1300" dirty="0"/>
          </a:p>
        </p:txBody>
      </p:sp>
      <p:sp>
        <p:nvSpPr>
          <p:cNvPr id="11" name="Shape 8"/>
          <p:cNvSpPr/>
          <p:nvPr/>
        </p:nvSpPr>
        <p:spPr>
          <a:xfrm>
            <a:off x="457200" y="1901952"/>
            <a:ext cx="2377440" cy="18288"/>
          </a:xfrm>
          <a:prstGeom prst="rect">
            <a:avLst/>
          </a:prstGeom>
          <a:solidFill>
            <a:srgbClr val="FFFFFF">
              <a:alpha val="45000"/>
            </a:srgbClr>
          </a:solidFill>
          <a:ln w="12700">
            <a:solidFill>
              <a:srgbClr val="FFFFFF">
                <a:alpha val="45000"/>
              </a:srgbClr>
            </a:solidFill>
            <a:prstDash val="solid"/>
          </a:ln>
        </p:spPr>
      </p:sp>
      <p:sp>
        <p:nvSpPr>
          <p:cNvPr id="12" name="Text 9"/>
          <p:cNvSpPr/>
          <p:nvPr/>
        </p:nvSpPr>
        <p:spPr>
          <a:xfrm>
            <a:off x="411480" y="1956816"/>
            <a:ext cx="2468880" cy="98755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archive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archaeology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architect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archaic</a:t>
            </a:r>
            <a:endParaRPr lang="en-US" sz="1100" dirty="0"/>
          </a:p>
        </p:txBody>
      </p:sp>
      <p:sp>
        <p:nvSpPr>
          <p:cNvPr id="13" name="Shape 10"/>
          <p:cNvSpPr/>
          <p:nvPr/>
        </p:nvSpPr>
        <p:spPr>
          <a:xfrm>
            <a:off x="3246120" y="987552"/>
            <a:ext cx="2743200" cy="2103120"/>
          </a:xfrm>
          <a:prstGeom prst="roundRect">
            <a:avLst>
              <a:gd name="adj" fmla="val 6522"/>
            </a:avLst>
          </a:prstGeom>
          <a:solidFill>
            <a:srgbClr val="1A8A7D"/>
          </a:solidFill>
          <a:ln w="19050">
            <a:solidFill>
              <a:srgbClr val="FFFFFF"/>
            </a:solidFill>
            <a:prstDash val="solid"/>
          </a:ln>
        </p:spPr>
      </p:sp>
      <p:sp>
        <p:nvSpPr>
          <p:cNvPr id="14" name="Text 11"/>
          <p:cNvSpPr/>
          <p:nvPr/>
        </p:nvSpPr>
        <p:spPr>
          <a:xfrm>
            <a:off x="3355848" y="1042416"/>
            <a:ext cx="2523744" cy="566928"/>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chron-</a:t>
            </a:r>
            <a:endParaRPr lang="en-US" sz="3200" dirty="0"/>
          </a:p>
        </p:txBody>
      </p:sp>
      <p:sp>
        <p:nvSpPr>
          <p:cNvPr id="15" name="Text 12"/>
          <p:cNvSpPr/>
          <p:nvPr/>
        </p:nvSpPr>
        <p:spPr>
          <a:xfrm>
            <a:off x="3355848" y="1572768"/>
            <a:ext cx="2523744" cy="292608"/>
          </a:xfrm>
          <a:prstGeom prst="rect">
            <a:avLst/>
          </a:prstGeom>
          <a:noFill/>
          <a:ln/>
        </p:spPr>
        <p:txBody>
          <a:bodyPr wrap="square"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"time"</a:t>
            </a:r>
            <a:endParaRPr lang="en-US" sz="1300" dirty="0"/>
          </a:p>
        </p:txBody>
      </p:sp>
      <p:sp>
        <p:nvSpPr>
          <p:cNvPr id="16" name="Shape 13"/>
          <p:cNvSpPr/>
          <p:nvPr/>
        </p:nvSpPr>
        <p:spPr>
          <a:xfrm>
            <a:off x="3429000" y="1901952"/>
            <a:ext cx="2377440" cy="18288"/>
          </a:xfrm>
          <a:prstGeom prst="rect">
            <a:avLst/>
          </a:prstGeom>
          <a:solidFill>
            <a:srgbClr val="FFFFFF">
              <a:alpha val="45000"/>
            </a:srgbClr>
          </a:solidFill>
          <a:ln w="12700">
            <a:solidFill>
              <a:srgbClr val="FFFFFF">
                <a:alpha val="45000"/>
              </a:srgbClr>
            </a:solidFill>
            <a:prstDash val="solid"/>
          </a:ln>
        </p:spPr>
      </p:sp>
      <p:sp>
        <p:nvSpPr>
          <p:cNvPr id="17" name="Text 14"/>
          <p:cNvSpPr/>
          <p:nvPr/>
        </p:nvSpPr>
        <p:spPr>
          <a:xfrm>
            <a:off x="3383280" y="1956816"/>
            <a:ext cx="2468880" cy="98755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chronology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chronicle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chronological</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synchronize</a:t>
            </a:r>
            <a:endParaRPr lang="en-US" sz="1100" dirty="0"/>
          </a:p>
        </p:txBody>
      </p:sp>
      <p:sp>
        <p:nvSpPr>
          <p:cNvPr id="18" name="Shape 15"/>
          <p:cNvSpPr/>
          <p:nvPr/>
        </p:nvSpPr>
        <p:spPr>
          <a:xfrm>
            <a:off x="6217920" y="987552"/>
            <a:ext cx="2743200" cy="2103120"/>
          </a:xfrm>
          <a:prstGeom prst="roundRect">
            <a:avLst>
              <a:gd name="adj" fmla="val 6522"/>
            </a:avLst>
          </a:prstGeom>
          <a:solidFill>
            <a:srgbClr val="D4943A"/>
          </a:solidFill>
          <a:ln w="19050">
            <a:solidFill>
              <a:srgbClr val="FFFFFF"/>
            </a:solidFill>
            <a:prstDash val="solid"/>
          </a:ln>
        </p:spPr>
      </p:sp>
      <p:sp>
        <p:nvSpPr>
          <p:cNvPr id="19" name="Text 16"/>
          <p:cNvSpPr/>
          <p:nvPr/>
        </p:nvSpPr>
        <p:spPr>
          <a:xfrm>
            <a:off x="6327648" y="1042416"/>
            <a:ext cx="2523744" cy="566928"/>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prim-</a:t>
            </a:r>
            <a:endParaRPr lang="en-US" sz="3200" dirty="0"/>
          </a:p>
        </p:txBody>
      </p:sp>
      <p:sp>
        <p:nvSpPr>
          <p:cNvPr id="20" name="Text 17"/>
          <p:cNvSpPr/>
          <p:nvPr/>
        </p:nvSpPr>
        <p:spPr>
          <a:xfrm>
            <a:off x="6327648" y="1572768"/>
            <a:ext cx="2523744" cy="292608"/>
          </a:xfrm>
          <a:prstGeom prst="rect">
            <a:avLst/>
          </a:prstGeom>
          <a:noFill/>
          <a:ln/>
        </p:spPr>
        <p:txBody>
          <a:bodyPr wrap="square"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"first"</a:t>
            </a:r>
            <a:endParaRPr lang="en-US" sz="1300" dirty="0"/>
          </a:p>
        </p:txBody>
      </p:sp>
      <p:sp>
        <p:nvSpPr>
          <p:cNvPr id="21" name="Shape 18"/>
          <p:cNvSpPr/>
          <p:nvPr/>
        </p:nvSpPr>
        <p:spPr>
          <a:xfrm>
            <a:off x="6400800" y="1901952"/>
            <a:ext cx="2377440" cy="18288"/>
          </a:xfrm>
          <a:prstGeom prst="rect">
            <a:avLst/>
          </a:prstGeom>
          <a:solidFill>
            <a:srgbClr val="FFFFFF">
              <a:alpha val="45000"/>
            </a:srgbClr>
          </a:solidFill>
          <a:ln w="12700">
            <a:solidFill>
              <a:srgbClr val="FFFFFF">
                <a:alpha val="45000"/>
              </a:srgbClr>
            </a:solidFill>
            <a:prstDash val="solid"/>
          </a:ln>
        </p:spPr>
      </p:sp>
      <p:sp>
        <p:nvSpPr>
          <p:cNvPr id="22" name="Text 19"/>
          <p:cNvSpPr/>
          <p:nvPr/>
        </p:nvSpPr>
        <p:spPr>
          <a:xfrm>
            <a:off x="6355080" y="1956816"/>
            <a:ext cx="2468880" cy="98755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primary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primer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prime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primitive</a:t>
            </a:r>
            <a:endParaRPr lang="en-US" sz="1100" dirty="0"/>
          </a:p>
        </p:txBody>
      </p:sp>
      <p:sp>
        <p:nvSpPr>
          <p:cNvPr id="23" name="Shape 20"/>
          <p:cNvSpPr/>
          <p:nvPr/>
        </p:nvSpPr>
        <p:spPr>
          <a:xfrm>
            <a:off x="274320" y="3200400"/>
            <a:ext cx="8595360" cy="694944"/>
          </a:xfrm>
          <a:prstGeom prst="roundRect">
            <a:avLst>
              <a:gd name="adj" fmla="val 15789"/>
            </a:avLst>
          </a:prstGeom>
          <a:solidFill>
            <a:srgbClr val="1A2D5A"/>
          </a:solidFill>
          <a:ln w="19050">
            <a:solidFill>
              <a:srgbClr val="55C8E8"/>
            </a:solidFill>
            <a:prstDash val="solid"/>
          </a:ln>
        </p:spPr>
      </p:sp>
      <p:sp>
        <p:nvSpPr>
          <p:cNvPr id="24" name="Text 21"/>
          <p:cNvSpPr/>
          <p:nvPr/>
        </p:nvSpPr>
        <p:spPr>
          <a:xfrm>
            <a:off x="457200" y="3255264"/>
            <a:ext cx="8229600" cy="219456"/>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TRANSFERABLE PATTERN</a:t>
            </a:r>
            <a:endParaRPr lang="en-US" sz="900" dirty="0"/>
          </a:p>
        </p:txBody>
      </p:sp>
      <p:sp>
        <p:nvSpPr>
          <p:cNvPr id="25" name="Text 22"/>
          <p:cNvSpPr/>
          <p:nvPr/>
        </p:nvSpPr>
        <p:spPr>
          <a:xfrm>
            <a:off x="457200" y="3474720"/>
            <a:ext cx="8229600" cy="347472"/>
          </a:xfrm>
          <a:prstGeom prst="rect">
            <a:avLst/>
          </a:prstGeom>
          <a:noFill/>
          <a:ln/>
        </p:spPr>
        <p:txBody>
          <a:bodyPr wrap="square" rtlCol="0" anchor="ctr"/>
          <a:lstStyle/>
          <a:p>
            <a:pPr indent="0" marL="0">
              <a:buNone/>
            </a:pPr>
            <a:r>
              <a:rPr lang="en-US" sz="1250" i="1" dirty="0">
                <a:solidFill>
                  <a:srgbClr val="FFFFFF"/>
                </a:solidFill>
                <a:latin typeface="Cambria" pitchFamily="34" charset="0"/>
                <a:ea typeface="Cambria" pitchFamily="34" charset="-122"/>
                <a:cs typeface="Cambria" pitchFamily="34" charset="-120"/>
              </a:rPr>
              <a:t>Word roots work across subjects - history, science, math, English. When you see arch-, chron-, or prim- in ANY word, you already have a clue to its meaning.</a:t>
            </a:r>
            <a:endParaRPr lang="en-US" sz="1250" dirty="0"/>
          </a:p>
        </p:txBody>
      </p:sp>
      <p:sp>
        <p:nvSpPr>
          <p:cNvPr id="26" name="Shape 23"/>
          <p:cNvSpPr/>
          <p:nvPr/>
        </p:nvSpPr>
        <p:spPr>
          <a:xfrm>
            <a:off x="274320" y="3986784"/>
            <a:ext cx="8595360" cy="859536"/>
          </a:xfrm>
          <a:prstGeom prst="roundRect">
            <a:avLst>
              <a:gd name="adj" fmla="val 12766"/>
            </a:avLst>
          </a:prstGeom>
          <a:solidFill>
            <a:srgbClr val="1A2D5A"/>
          </a:solidFill>
          <a:ln w="19050">
            <a:solidFill>
              <a:srgbClr val="D4943A"/>
            </a:solidFill>
            <a:prstDash val="solid"/>
          </a:ln>
        </p:spPr>
      </p:sp>
      <p:sp>
        <p:nvSpPr>
          <p:cNvPr id="27" name="Text 24"/>
          <p:cNvSpPr/>
          <p:nvPr/>
        </p:nvSpPr>
        <p:spPr>
          <a:xfrm>
            <a:off x="457200" y="4041648"/>
            <a:ext cx="822960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QUICK QUIZ</a:t>
            </a:r>
            <a:endParaRPr lang="en-US" sz="900" dirty="0"/>
          </a:p>
        </p:txBody>
      </p:sp>
      <p:sp>
        <p:nvSpPr>
          <p:cNvPr id="28" name="Text 25"/>
          <p:cNvSpPr/>
          <p:nvPr/>
        </p:nvSpPr>
        <p:spPr>
          <a:xfrm>
            <a:off x="457200" y="4261104"/>
            <a:ext cx="8229600" cy="512064"/>
          </a:xfrm>
          <a:prstGeom prst="rect">
            <a:avLst/>
          </a:prstGeom>
          <a:noFill/>
          <a:ln/>
        </p:spPr>
        <p:txBody>
          <a:bodyPr wrap="square" rtlCol="0" anchor="ctr"/>
          <a:lstStyle/>
          <a:p>
            <a:pPr indent="0" marL="0">
              <a:buNone/>
            </a:pPr>
            <a:r>
              <a:rPr lang="en-US" sz="1250" i="1" dirty="0">
                <a:solidFill>
                  <a:srgbClr val="FFFFFF"/>
                </a:solidFill>
                <a:latin typeface="Cambria" pitchFamily="34" charset="0"/>
                <a:ea typeface="Cambria" pitchFamily="34" charset="-122"/>
                <a:cs typeface="Cambria" pitchFamily="34" charset="-120"/>
              </a:rPr>
              <a:t>In science: 'primordial soup.' In math: 'prime number.' What do both share? Answer: prim- = first. So a prime number is a 'first-order' number - divisible only by itself and one.</a:t>
            </a:r>
            <a:endParaRPr lang="en-US" sz="1250" dirty="0"/>
          </a:p>
        </p:txBody>
      </p:sp>
      <p:sp>
        <p:nvSpPr>
          <p:cNvPr id="29" name="Shape 26"/>
          <p:cNvSpPr/>
          <p:nvPr/>
        </p:nvSpPr>
        <p:spPr>
          <a:xfrm>
            <a:off x="0" y="5070348"/>
            <a:ext cx="9144000" cy="73152"/>
          </a:xfrm>
          <a:prstGeom prst="rect">
            <a:avLst/>
          </a:prstGeom>
          <a:solidFill>
            <a:srgbClr val="1A8A7D"/>
          </a:solidFill>
          <a:ln w="12700">
            <a:solidFill>
              <a:srgbClr val="1A8A7D"/>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COMPARE AND CONNECT</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500" b="1" dirty="0">
                <a:solidFill>
                  <a:srgbClr val="0E1C42"/>
                </a:solidFill>
                <a:latin typeface="Cambria" pitchFamily="34" charset="0"/>
                <a:ea typeface="Cambria" pitchFamily="34" charset="-122"/>
                <a:cs typeface="Cambria" pitchFamily="34" charset="-120"/>
              </a:rPr>
              <a:t>How Roots Connect to Our Five Vocabulary Words</a:t>
            </a:r>
            <a:endParaRPr lang="en-US" sz="2500" dirty="0"/>
          </a:p>
        </p:txBody>
      </p:sp>
      <p:sp>
        <p:nvSpPr>
          <p:cNvPr id="5" name="Shape 3"/>
          <p:cNvSpPr/>
          <p:nvPr/>
        </p:nvSpPr>
        <p:spPr>
          <a:xfrm>
            <a:off x="457200" y="841248"/>
            <a:ext cx="5029200" cy="36576"/>
          </a:xfrm>
          <a:prstGeom prst="rect">
            <a:avLst/>
          </a:prstGeom>
          <a:solidFill>
            <a:srgbClr val="8B6FC0"/>
          </a:solidFill>
          <a:ln w="12700">
            <a:solidFill>
              <a:srgbClr val="8B6FC0"/>
            </a:solidFill>
            <a:prstDash val="solid"/>
          </a:ln>
        </p:spPr>
      </p:sp>
      <p:sp>
        <p:nvSpPr>
          <p:cNvPr id="6" name="Shape 4"/>
          <p:cNvSpPr/>
          <p:nvPr/>
        </p:nvSpPr>
        <p:spPr>
          <a:xfrm>
            <a:off x="365760" y="987552"/>
            <a:ext cx="3931920" cy="3090672"/>
          </a:xfrm>
          <a:prstGeom prst="roundRect">
            <a:avLst>
              <a:gd name="adj" fmla="val 4438"/>
            </a:avLst>
          </a:prstGeom>
          <a:solidFill>
            <a:srgbClr val="FFFFFF"/>
          </a:solidFill>
          <a:ln w="25400">
            <a:solidFill>
              <a:srgbClr val="8B6FC0"/>
            </a:solidFill>
            <a:prstDash val="solid"/>
          </a:ln>
          <a:effectLst>
            <a:outerShdw sx="100000" sy="100000" kx="0" ky="0" algn="bl" rotWithShape="0" blurRad="76200" dist="25400" dir="8100000">
              <a:srgbClr val="000000">
                <a:alpha val="10000"/>
              </a:srgbClr>
            </a:outerShdw>
          </a:effectLst>
        </p:spPr>
      </p:sp>
      <p:sp>
        <p:nvSpPr>
          <p:cNvPr id="7" name="Shape 5"/>
          <p:cNvSpPr/>
          <p:nvPr/>
        </p:nvSpPr>
        <p:spPr>
          <a:xfrm>
            <a:off x="365760" y="987552"/>
            <a:ext cx="3931920" cy="457200"/>
          </a:xfrm>
          <a:prstGeom prst="roundRect">
            <a:avLst>
              <a:gd name="adj" fmla="val 30000"/>
            </a:avLst>
          </a:prstGeom>
          <a:solidFill>
            <a:srgbClr val="8B6FC0"/>
          </a:solidFill>
          <a:ln w="12700">
            <a:solidFill>
              <a:srgbClr val="8B6FC0"/>
            </a:solidFill>
            <a:prstDash val="solid"/>
          </a:ln>
        </p:spPr>
      </p:sp>
      <p:sp>
        <p:nvSpPr>
          <p:cNvPr id="8" name="Text 6"/>
          <p:cNvSpPr/>
          <p:nvPr/>
        </p:nvSpPr>
        <p:spPr>
          <a:xfrm>
            <a:off x="548640" y="1005840"/>
            <a:ext cx="3566160" cy="420624"/>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arch- Words in This Lesson</a:t>
            </a:r>
            <a:endParaRPr lang="en-US" sz="1300" dirty="0"/>
          </a:p>
        </p:txBody>
      </p:sp>
      <p:sp>
        <p:nvSpPr>
          <p:cNvPr id="9" name="Text 7"/>
          <p:cNvSpPr/>
          <p:nvPr/>
        </p:nvSpPr>
        <p:spPr>
          <a:xfrm>
            <a:off x="548640" y="1536192"/>
            <a:ext cx="3566160" cy="292608"/>
          </a:xfrm>
          <a:prstGeom prst="rect">
            <a:avLst/>
          </a:prstGeom>
          <a:noFill/>
          <a:ln/>
        </p:spPr>
        <p:txBody>
          <a:bodyPr wrap="square" rtlCol="0" anchor="ctr"/>
          <a:lstStyle/>
          <a:p>
            <a:pPr indent="0" marL="0">
              <a:buNone/>
            </a:pPr>
            <a:r>
              <a:rPr lang="en-US" sz="1400" b="1" dirty="0">
                <a:solidFill>
                  <a:srgbClr val="8B6FC0"/>
                </a:solidFill>
                <a:latin typeface="Cambria" pitchFamily="34" charset="0"/>
                <a:ea typeface="Cambria" pitchFamily="34" charset="-122"/>
                <a:cs typeface="Cambria" pitchFamily="34" charset="-120"/>
              </a:rPr>
              <a:t>archive</a:t>
            </a:r>
            <a:endParaRPr lang="en-US" sz="1400" dirty="0"/>
          </a:p>
        </p:txBody>
      </p:sp>
      <p:sp>
        <p:nvSpPr>
          <p:cNvPr id="10" name="Text 8"/>
          <p:cNvSpPr/>
          <p:nvPr/>
        </p:nvSpPr>
        <p:spPr>
          <a:xfrm>
            <a:off x="548640" y="1810512"/>
            <a:ext cx="3566160" cy="219456"/>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arch- (original) + ive</a:t>
            </a:r>
            <a:endParaRPr lang="en-US" sz="1000" dirty="0"/>
          </a:p>
        </p:txBody>
      </p:sp>
      <p:sp>
        <p:nvSpPr>
          <p:cNvPr id="11" name="Text 9"/>
          <p:cNvSpPr/>
          <p:nvPr/>
        </p:nvSpPr>
        <p:spPr>
          <a:xfrm>
            <a:off x="548640" y="2029968"/>
            <a:ext cx="3566160" cy="237744"/>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place that holds original records</a:t>
            </a:r>
            <a:endParaRPr lang="en-US" sz="1100" dirty="0"/>
          </a:p>
        </p:txBody>
      </p:sp>
      <p:sp>
        <p:nvSpPr>
          <p:cNvPr id="12" name="Shape 10"/>
          <p:cNvSpPr/>
          <p:nvPr/>
        </p:nvSpPr>
        <p:spPr>
          <a:xfrm>
            <a:off x="548640" y="2286000"/>
            <a:ext cx="3566160" cy="9144"/>
          </a:xfrm>
          <a:prstGeom prst="rect">
            <a:avLst/>
          </a:prstGeom>
          <a:solidFill>
            <a:srgbClr val="E2E8F4"/>
          </a:solidFill>
          <a:ln w="12700">
            <a:solidFill>
              <a:srgbClr val="E2E8F4"/>
            </a:solidFill>
            <a:prstDash val="solid"/>
          </a:ln>
        </p:spPr>
      </p:sp>
      <p:sp>
        <p:nvSpPr>
          <p:cNvPr id="13" name="Text 11"/>
          <p:cNvSpPr/>
          <p:nvPr/>
        </p:nvSpPr>
        <p:spPr>
          <a:xfrm>
            <a:off x="548640" y="2340864"/>
            <a:ext cx="3566160" cy="292608"/>
          </a:xfrm>
          <a:prstGeom prst="rect">
            <a:avLst/>
          </a:prstGeom>
          <a:noFill/>
          <a:ln/>
        </p:spPr>
        <p:txBody>
          <a:bodyPr wrap="square" rtlCol="0" anchor="ctr"/>
          <a:lstStyle/>
          <a:p>
            <a:pPr indent="0" marL="0">
              <a:buNone/>
            </a:pPr>
            <a:r>
              <a:rPr lang="en-US" sz="1400" b="1" dirty="0">
                <a:solidFill>
                  <a:srgbClr val="8B6FC0"/>
                </a:solidFill>
                <a:latin typeface="Cambria" pitchFamily="34" charset="0"/>
                <a:ea typeface="Cambria" pitchFamily="34" charset="-122"/>
                <a:cs typeface="Cambria" pitchFamily="34" charset="-120"/>
              </a:rPr>
              <a:t>archaeology</a:t>
            </a:r>
            <a:endParaRPr lang="en-US" sz="1400" dirty="0"/>
          </a:p>
        </p:txBody>
      </p:sp>
      <p:sp>
        <p:nvSpPr>
          <p:cNvPr id="14" name="Text 12"/>
          <p:cNvSpPr/>
          <p:nvPr/>
        </p:nvSpPr>
        <p:spPr>
          <a:xfrm>
            <a:off x="548640" y="2615184"/>
            <a:ext cx="3566160" cy="219456"/>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arch- (old) + ology</a:t>
            </a:r>
            <a:endParaRPr lang="en-US" sz="1000" dirty="0"/>
          </a:p>
        </p:txBody>
      </p:sp>
      <p:sp>
        <p:nvSpPr>
          <p:cNvPr id="15" name="Text 13"/>
          <p:cNvSpPr/>
          <p:nvPr/>
        </p:nvSpPr>
        <p:spPr>
          <a:xfrm>
            <a:off x="548640" y="2834640"/>
            <a:ext cx="3566160" cy="237744"/>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study of ancient human life</a:t>
            </a:r>
            <a:endParaRPr lang="en-US" sz="1100" dirty="0"/>
          </a:p>
        </p:txBody>
      </p:sp>
      <p:sp>
        <p:nvSpPr>
          <p:cNvPr id="16" name="Shape 14"/>
          <p:cNvSpPr/>
          <p:nvPr/>
        </p:nvSpPr>
        <p:spPr>
          <a:xfrm>
            <a:off x="548640" y="3090672"/>
            <a:ext cx="3566160" cy="9144"/>
          </a:xfrm>
          <a:prstGeom prst="rect">
            <a:avLst/>
          </a:prstGeom>
          <a:solidFill>
            <a:srgbClr val="E2E8F4"/>
          </a:solidFill>
          <a:ln w="12700">
            <a:solidFill>
              <a:srgbClr val="E2E8F4"/>
            </a:solidFill>
            <a:prstDash val="solid"/>
          </a:ln>
        </p:spPr>
      </p:sp>
      <p:sp>
        <p:nvSpPr>
          <p:cNvPr id="17" name="Text 15"/>
          <p:cNvSpPr/>
          <p:nvPr/>
        </p:nvSpPr>
        <p:spPr>
          <a:xfrm>
            <a:off x="548640" y="3145536"/>
            <a:ext cx="3566160" cy="292608"/>
          </a:xfrm>
          <a:prstGeom prst="rect">
            <a:avLst/>
          </a:prstGeom>
          <a:noFill/>
          <a:ln/>
        </p:spPr>
        <p:txBody>
          <a:bodyPr wrap="square" rtlCol="0" anchor="ctr"/>
          <a:lstStyle/>
          <a:p>
            <a:pPr indent="0" marL="0">
              <a:buNone/>
            </a:pPr>
            <a:r>
              <a:rPr lang="en-US" sz="1400" b="1" dirty="0">
                <a:solidFill>
                  <a:srgbClr val="8B6FC0"/>
                </a:solidFill>
                <a:latin typeface="Cambria" pitchFamily="34" charset="0"/>
                <a:ea typeface="Cambria" pitchFamily="34" charset="-122"/>
                <a:cs typeface="Cambria" pitchFamily="34" charset="-120"/>
              </a:rPr>
              <a:t>archivist</a:t>
            </a:r>
            <a:endParaRPr lang="en-US" sz="1400" dirty="0"/>
          </a:p>
        </p:txBody>
      </p:sp>
      <p:sp>
        <p:nvSpPr>
          <p:cNvPr id="18" name="Text 16"/>
          <p:cNvSpPr/>
          <p:nvPr/>
        </p:nvSpPr>
        <p:spPr>
          <a:xfrm>
            <a:off x="548640" y="3419856"/>
            <a:ext cx="3566160" cy="219456"/>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arch- (original) + ist</a:t>
            </a:r>
            <a:endParaRPr lang="en-US" sz="1000" dirty="0"/>
          </a:p>
        </p:txBody>
      </p:sp>
      <p:sp>
        <p:nvSpPr>
          <p:cNvPr id="19" name="Text 17"/>
          <p:cNvSpPr/>
          <p:nvPr/>
        </p:nvSpPr>
        <p:spPr>
          <a:xfrm>
            <a:off x="548640" y="3639312"/>
            <a:ext cx="3566160" cy="237744"/>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one who guards original records</a:t>
            </a:r>
            <a:endParaRPr lang="en-US" sz="1100" dirty="0"/>
          </a:p>
        </p:txBody>
      </p:sp>
      <p:sp>
        <p:nvSpPr>
          <p:cNvPr id="20" name="Shape 18"/>
          <p:cNvSpPr/>
          <p:nvPr/>
        </p:nvSpPr>
        <p:spPr>
          <a:xfrm>
            <a:off x="4846320" y="987552"/>
            <a:ext cx="3931920" cy="3090672"/>
          </a:xfrm>
          <a:prstGeom prst="roundRect">
            <a:avLst>
              <a:gd name="adj" fmla="val 4438"/>
            </a:avLst>
          </a:prstGeom>
          <a:solidFill>
            <a:srgbClr val="FFFFFF"/>
          </a:solidFill>
          <a:ln w="25400">
            <a:solidFill>
              <a:srgbClr val="1A8A7D"/>
            </a:solidFill>
            <a:prstDash val="solid"/>
          </a:ln>
          <a:effectLst>
            <a:outerShdw sx="100000" sy="100000" kx="0" ky="0" algn="bl" rotWithShape="0" blurRad="76200" dist="25400" dir="8100000">
              <a:srgbClr val="000000">
                <a:alpha val="10000"/>
              </a:srgbClr>
            </a:outerShdw>
          </a:effectLst>
        </p:spPr>
      </p:sp>
      <p:sp>
        <p:nvSpPr>
          <p:cNvPr id="21" name="Shape 19"/>
          <p:cNvSpPr/>
          <p:nvPr/>
        </p:nvSpPr>
        <p:spPr>
          <a:xfrm>
            <a:off x="4846320" y="987552"/>
            <a:ext cx="3931920" cy="457200"/>
          </a:xfrm>
          <a:prstGeom prst="roundRect">
            <a:avLst>
              <a:gd name="adj" fmla="val 30000"/>
            </a:avLst>
          </a:prstGeom>
          <a:solidFill>
            <a:srgbClr val="1A8A7D"/>
          </a:solidFill>
          <a:ln w="12700">
            <a:solidFill>
              <a:srgbClr val="1A8A7D"/>
            </a:solidFill>
            <a:prstDash val="solid"/>
          </a:ln>
        </p:spPr>
      </p:sp>
      <p:sp>
        <p:nvSpPr>
          <p:cNvPr id="22" name="Text 20"/>
          <p:cNvSpPr/>
          <p:nvPr/>
        </p:nvSpPr>
        <p:spPr>
          <a:xfrm>
            <a:off x="5029200" y="1005840"/>
            <a:ext cx="3566160" cy="420624"/>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chron- and prim- Words in This Lesson</a:t>
            </a:r>
            <a:endParaRPr lang="en-US" sz="1300" dirty="0"/>
          </a:p>
        </p:txBody>
      </p:sp>
      <p:sp>
        <p:nvSpPr>
          <p:cNvPr id="23" name="Text 21"/>
          <p:cNvSpPr/>
          <p:nvPr/>
        </p:nvSpPr>
        <p:spPr>
          <a:xfrm>
            <a:off x="5029200" y="1536192"/>
            <a:ext cx="3566160" cy="292608"/>
          </a:xfrm>
          <a:prstGeom prst="rect">
            <a:avLst/>
          </a:prstGeom>
          <a:noFill/>
          <a:ln/>
        </p:spPr>
        <p:txBody>
          <a:bodyPr wrap="square" rtlCol="0" anchor="ctr"/>
          <a:lstStyle/>
          <a:p>
            <a:pPr indent="0" marL="0">
              <a:buNone/>
            </a:pPr>
            <a:r>
              <a:rPr lang="en-US" sz="1400" b="1" dirty="0">
                <a:solidFill>
                  <a:srgbClr val="1A8A7D"/>
                </a:solidFill>
                <a:latin typeface="Cambria" pitchFamily="34" charset="0"/>
                <a:ea typeface="Cambria" pitchFamily="34" charset="-122"/>
                <a:cs typeface="Cambria" pitchFamily="34" charset="-120"/>
              </a:rPr>
              <a:t>chronology</a:t>
            </a:r>
            <a:endParaRPr lang="en-US" sz="1400" dirty="0"/>
          </a:p>
        </p:txBody>
      </p:sp>
      <p:sp>
        <p:nvSpPr>
          <p:cNvPr id="24" name="Text 22"/>
          <p:cNvSpPr/>
          <p:nvPr/>
        </p:nvSpPr>
        <p:spPr>
          <a:xfrm>
            <a:off x="5029200" y="1810512"/>
            <a:ext cx="3566160" cy="219456"/>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chron- (time) + ology</a:t>
            </a:r>
            <a:endParaRPr lang="en-US" sz="1000" dirty="0"/>
          </a:p>
        </p:txBody>
      </p:sp>
      <p:sp>
        <p:nvSpPr>
          <p:cNvPr id="25" name="Text 23"/>
          <p:cNvSpPr/>
          <p:nvPr/>
        </p:nvSpPr>
        <p:spPr>
          <a:xfrm>
            <a:off x="5029200" y="2029968"/>
            <a:ext cx="3566160" cy="237744"/>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events arranged in time order</a:t>
            </a:r>
            <a:endParaRPr lang="en-US" sz="1100" dirty="0"/>
          </a:p>
        </p:txBody>
      </p:sp>
      <p:sp>
        <p:nvSpPr>
          <p:cNvPr id="26" name="Shape 24"/>
          <p:cNvSpPr/>
          <p:nvPr/>
        </p:nvSpPr>
        <p:spPr>
          <a:xfrm>
            <a:off x="5029200" y="2286000"/>
            <a:ext cx="3566160" cy="9144"/>
          </a:xfrm>
          <a:prstGeom prst="rect">
            <a:avLst/>
          </a:prstGeom>
          <a:solidFill>
            <a:srgbClr val="E2E8F4"/>
          </a:solidFill>
          <a:ln w="12700">
            <a:solidFill>
              <a:srgbClr val="E2E8F4"/>
            </a:solidFill>
            <a:prstDash val="solid"/>
          </a:ln>
        </p:spPr>
      </p:sp>
      <p:sp>
        <p:nvSpPr>
          <p:cNvPr id="27" name="Text 25"/>
          <p:cNvSpPr/>
          <p:nvPr/>
        </p:nvSpPr>
        <p:spPr>
          <a:xfrm>
            <a:off x="5029200" y="2340864"/>
            <a:ext cx="3566160" cy="292608"/>
          </a:xfrm>
          <a:prstGeom prst="rect">
            <a:avLst/>
          </a:prstGeom>
          <a:noFill/>
          <a:ln/>
        </p:spPr>
        <p:txBody>
          <a:bodyPr wrap="square" rtlCol="0" anchor="ctr"/>
          <a:lstStyle/>
          <a:p>
            <a:pPr indent="0" marL="0">
              <a:buNone/>
            </a:pPr>
            <a:r>
              <a:rPr lang="en-US" sz="1400" b="1" dirty="0">
                <a:solidFill>
                  <a:srgbClr val="1A8A7D"/>
                </a:solidFill>
                <a:latin typeface="Cambria" pitchFamily="34" charset="0"/>
                <a:ea typeface="Cambria" pitchFamily="34" charset="-122"/>
                <a:cs typeface="Cambria" pitchFamily="34" charset="-120"/>
              </a:rPr>
              <a:t>primary source</a:t>
            </a:r>
            <a:endParaRPr lang="en-US" sz="1400" dirty="0"/>
          </a:p>
        </p:txBody>
      </p:sp>
      <p:sp>
        <p:nvSpPr>
          <p:cNvPr id="28" name="Text 26"/>
          <p:cNvSpPr/>
          <p:nvPr/>
        </p:nvSpPr>
        <p:spPr>
          <a:xfrm>
            <a:off x="5029200" y="2615184"/>
            <a:ext cx="3566160" cy="219456"/>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prim- (first) + ary</a:t>
            </a:r>
            <a:endParaRPr lang="en-US" sz="1000" dirty="0"/>
          </a:p>
        </p:txBody>
      </p:sp>
      <p:sp>
        <p:nvSpPr>
          <p:cNvPr id="29" name="Text 27"/>
          <p:cNvSpPr/>
          <p:nvPr/>
        </p:nvSpPr>
        <p:spPr>
          <a:xfrm>
            <a:off x="5029200" y="2834640"/>
            <a:ext cx="3566160" cy="237744"/>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FIRST-hand account created at the time</a:t>
            </a:r>
            <a:endParaRPr lang="en-US" sz="1100" dirty="0"/>
          </a:p>
        </p:txBody>
      </p:sp>
      <p:sp>
        <p:nvSpPr>
          <p:cNvPr id="30" name="Shape 28"/>
          <p:cNvSpPr/>
          <p:nvPr/>
        </p:nvSpPr>
        <p:spPr>
          <a:xfrm>
            <a:off x="5029200" y="3090672"/>
            <a:ext cx="3566160" cy="9144"/>
          </a:xfrm>
          <a:prstGeom prst="rect">
            <a:avLst/>
          </a:prstGeom>
          <a:solidFill>
            <a:srgbClr val="E2E8F4"/>
          </a:solidFill>
          <a:ln w="12700">
            <a:solidFill>
              <a:srgbClr val="E2E8F4"/>
            </a:solidFill>
            <a:prstDash val="solid"/>
          </a:ln>
        </p:spPr>
      </p:sp>
      <p:sp>
        <p:nvSpPr>
          <p:cNvPr id="31" name="Text 29"/>
          <p:cNvSpPr/>
          <p:nvPr/>
        </p:nvSpPr>
        <p:spPr>
          <a:xfrm>
            <a:off x="5029200" y="3145536"/>
            <a:ext cx="3566160" cy="292608"/>
          </a:xfrm>
          <a:prstGeom prst="rect">
            <a:avLst/>
          </a:prstGeom>
          <a:noFill/>
          <a:ln/>
        </p:spPr>
        <p:txBody>
          <a:bodyPr wrap="square" rtlCol="0" anchor="ctr"/>
          <a:lstStyle/>
          <a:p>
            <a:pPr indent="0" marL="0">
              <a:buNone/>
            </a:pPr>
            <a:r>
              <a:rPr lang="en-US" sz="1400" b="1" dirty="0">
                <a:solidFill>
                  <a:srgbClr val="1A8A7D"/>
                </a:solidFill>
                <a:latin typeface="Cambria" pitchFamily="34" charset="0"/>
                <a:ea typeface="Cambria" pitchFamily="34" charset="-122"/>
                <a:cs typeface="Cambria" pitchFamily="34" charset="-120"/>
              </a:rPr>
              <a:t>secondary source</a:t>
            </a:r>
            <a:endParaRPr lang="en-US" sz="1400" dirty="0"/>
          </a:p>
        </p:txBody>
      </p:sp>
      <p:sp>
        <p:nvSpPr>
          <p:cNvPr id="32" name="Text 30"/>
          <p:cNvSpPr/>
          <p:nvPr/>
        </p:nvSpPr>
        <p:spPr>
          <a:xfrm>
            <a:off x="5029200" y="3419856"/>
            <a:ext cx="3566160" cy="219456"/>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second- (after)</a:t>
            </a:r>
            <a:endParaRPr lang="en-US" sz="1000" dirty="0"/>
          </a:p>
        </p:txBody>
      </p:sp>
      <p:sp>
        <p:nvSpPr>
          <p:cNvPr id="33" name="Text 31"/>
          <p:cNvSpPr/>
          <p:nvPr/>
        </p:nvSpPr>
        <p:spPr>
          <a:xfrm>
            <a:off x="5029200" y="3639312"/>
            <a:ext cx="3566160" cy="237744"/>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SECOND-hand account created later</a:t>
            </a:r>
            <a:endParaRPr lang="en-US" sz="1100" dirty="0"/>
          </a:p>
        </p:txBody>
      </p:sp>
      <p:sp>
        <p:nvSpPr>
          <p:cNvPr id="34" name="Shape 32"/>
          <p:cNvSpPr/>
          <p:nvPr/>
        </p:nvSpPr>
        <p:spPr>
          <a:xfrm>
            <a:off x="365760" y="4169664"/>
            <a:ext cx="8412480" cy="694944"/>
          </a:xfrm>
          <a:prstGeom prst="roundRect">
            <a:avLst>
              <a:gd name="adj" fmla="val 15789"/>
            </a:avLst>
          </a:prstGeom>
          <a:solidFill>
            <a:srgbClr val="F5F0FF"/>
          </a:solidFill>
          <a:ln w="19050">
            <a:solidFill>
              <a:srgbClr val="8B6FC0"/>
            </a:solidFill>
            <a:prstDash val="solid"/>
          </a:ln>
        </p:spPr>
      </p:sp>
      <p:sp>
        <p:nvSpPr>
          <p:cNvPr id="35" name="Text 33"/>
          <p:cNvSpPr/>
          <p:nvPr/>
        </p:nvSpPr>
        <p:spPr>
          <a:xfrm>
            <a:off x="548640" y="4224528"/>
            <a:ext cx="8046720" cy="201168"/>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KEY INSIGHT</a:t>
            </a:r>
            <a:endParaRPr lang="en-US" sz="900" dirty="0"/>
          </a:p>
        </p:txBody>
      </p:sp>
      <p:sp>
        <p:nvSpPr>
          <p:cNvPr id="36" name="Text 34"/>
          <p:cNvSpPr/>
          <p:nvPr/>
        </p:nvSpPr>
        <p:spPr>
          <a:xfrm>
            <a:off x="548640" y="4425696"/>
            <a:ext cx="8046720" cy="365760"/>
          </a:xfrm>
          <a:prstGeom prst="rect">
            <a:avLst/>
          </a:prstGeom>
          <a:noFill/>
          <a:ln/>
        </p:spPr>
        <p:txBody>
          <a:bodyPr wrap="square" rtlCol="0" anchor="ctr"/>
          <a:lstStyle/>
          <a:p>
            <a:pPr indent="0" marL="0">
              <a:buNone/>
            </a:pPr>
            <a:r>
              <a:rPr lang="en-US" sz="1150" i="1" dirty="0">
                <a:solidFill>
                  <a:srgbClr val="0E1C42"/>
                </a:solidFill>
                <a:latin typeface="Cambria" pitchFamily="34" charset="0"/>
                <a:ea typeface="Cambria" pitchFamily="34" charset="-122"/>
                <a:cs typeface="Cambria" pitchFamily="34" charset="-120"/>
              </a:rPr>
              <a:t>Primary source uses prim- (first) because it is a FIRST-hand account. Archive uses arch- (original) because it holds ORIGINAL records. The roots reinforce the definitions!</a:t>
            </a:r>
            <a:endParaRPr lang="en-US" sz="1150" dirty="0"/>
          </a:p>
        </p:txBody>
      </p:sp>
      <p:sp>
        <p:nvSpPr>
          <p:cNvPr id="37" name="Shape 35"/>
          <p:cNvSpPr/>
          <p:nvPr/>
        </p:nvSpPr>
        <p:spPr>
          <a:xfrm>
            <a:off x="0" y="5070348"/>
            <a:ext cx="9144000" cy="73152"/>
          </a:xfrm>
          <a:prstGeom prst="rect">
            <a:avLst/>
          </a:prstGeom>
          <a:solidFill>
            <a:srgbClr val="8B6FC0"/>
          </a:solidFill>
          <a:ln w="12700">
            <a:solidFill>
              <a:srgbClr val="8B6FC0"/>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8A7D"/>
          </a:solidFill>
          <a:ln w="12700">
            <a:solidFill>
              <a:srgbClr val="1A8A7D"/>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VOCABULARY DEEP DIVE</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500" b="1" dirty="0">
                <a:solidFill>
                  <a:srgbClr val="0E1C42"/>
                </a:solidFill>
                <a:latin typeface="Cambria" pitchFamily="34" charset="0"/>
                <a:ea typeface="Cambria" pitchFamily="34" charset="-122"/>
                <a:cs typeface="Cambria" pitchFamily="34" charset="-120"/>
              </a:rPr>
              <a:t>Five Words Every Florida Historian Knows</a:t>
            </a:r>
            <a:endParaRPr lang="en-US" sz="2500" dirty="0"/>
          </a:p>
        </p:txBody>
      </p:sp>
      <p:sp>
        <p:nvSpPr>
          <p:cNvPr id="5" name="Shape 3"/>
          <p:cNvSpPr/>
          <p:nvPr/>
        </p:nvSpPr>
        <p:spPr>
          <a:xfrm>
            <a:off x="457200" y="841248"/>
            <a:ext cx="4114800" cy="36576"/>
          </a:xfrm>
          <a:prstGeom prst="rect">
            <a:avLst/>
          </a:prstGeom>
          <a:solidFill>
            <a:srgbClr val="1A8A7D"/>
          </a:solidFill>
          <a:ln w="12700">
            <a:solidFill>
              <a:srgbClr val="1A8A7D"/>
            </a:solidFill>
            <a:prstDash val="solid"/>
          </a:ln>
        </p:spPr>
      </p:sp>
      <p:sp>
        <p:nvSpPr>
          <p:cNvPr id="6" name="Shape 4"/>
          <p:cNvSpPr/>
          <p:nvPr/>
        </p:nvSpPr>
        <p:spPr>
          <a:xfrm>
            <a:off x="274320" y="987552"/>
            <a:ext cx="4160520" cy="1353312"/>
          </a:xfrm>
          <a:prstGeom prst="roundRect">
            <a:avLst>
              <a:gd name="adj" fmla="val 8108"/>
            </a:avLst>
          </a:prstGeom>
          <a:solidFill>
            <a:srgbClr val="FFFFFF"/>
          </a:solidFill>
          <a:ln w="25400">
            <a:solidFill>
              <a:srgbClr val="1A8A7D"/>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411480" y="1042416"/>
            <a:ext cx="3886200" cy="329184"/>
          </a:xfrm>
          <a:prstGeom prst="rect">
            <a:avLst/>
          </a:prstGeom>
          <a:noFill/>
          <a:ln/>
        </p:spPr>
        <p:txBody>
          <a:bodyPr wrap="square" rtlCol="0" anchor="ctr"/>
          <a:lstStyle/>
          <a:p>
            <a:pPr indent="0" marL="0">
              <a:buNone/>
            </a:pPr>
            <a:r>
              <a:rPr lang="en-US" sz="1600" b="1" dirty="0">
                <a:solidFill>
                  <a:srgbClr val="1A8A7D"/>
                </a:solidFill>
                <a:latin typeface="Cambria" pitchFamily="34" charset="0"/>
                <a:ea typeface="Cambria" pitchFamily="34" charset="-122"/>
                <a:cs typeface="Cambria" pitchFamily="34" charset="-120"/>
              </a:rPr>
              <a:t>primary source</a:t>
            </a:r>
            <a:endParaRPr lang="en-US" sz="1600" dirty="0"/>
          </a:p>
        </p:txBody>
      </p:sp>
      <p:sp>
        <p:nvSpPr>
          <p:cNvPr id="8" name="Shape 6"/>
          <p:cNvSpPr/>
          <p:nvPr/>
        </p:nvSpPr>
        <p:spPr>
          <a:xfrm>
            <a:off x="411480" y="1353312"/>
            <a:ext cx="1280160" cy="219456"/>
          </a:xfrm>
          <a:prstGeom prst="roundRect">
            <a:avLst>
              <a:gd name="adj" fmla="val 50000"/>
            </a:avLst>
          </a:prstGeom>
          <a:solidFill>
            <a:srgbClr val="1A8A7D"/>
          </a:solidFill>
          <a:ln w="12700">
            <a:solidFill>
              <a:srgbClr val="1A8A7D"/>
            </a:solidFill>
            <a:prstDash val="solid"/>
          </a:ln>
        </p:spPr>
      </p:sp>
      <p:sp>
        <p:nvSpPr>
          <p:cNvPr id="9" name="Text 7"/>
          <p:cNvSpPr/>
          <p:nvPr/>
        </p:nvSpPr>
        <p:spPr>
          <a:xfrm>
            <a:off x="411480" y="1353312"/>
            <a:ext cx="128016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prim- (first)</a:t>
            </a:r>
            <a:endParaRPr lang="en-US" sz="900" dirty="0"/>
          </a:p>
        </p:txBody>
      </p:sp>
      <p:sp>
        <p:nvSpPr>
          <p:cNvPr id="10" name="Text 8"/>
          <p:cNvSpPr/>
          <p:nvPr/>
        </p:nvSpPr>
        <p:spPr>
          <a:xfrm>
            <a:off x="411480" y="1591056"/>
            <a:ext cx="3886200" cy="676656"/>
          </a:xfrm>
          <a:prstGeom prst="rect">
            <a:avLst/>
          </a:prstGeom>
          <a:noFill/>
          <a:ln/>
        </p:spPr>
        <p:txBody>
          <a:bodyPr wrap="square" rtlCol="0" anchor="t"/>
          <a:lstStyle/>
          <a:p>
            <a:pPr indent="0" marL="0">
              <a:buNone/>
            </a:pPr>
            <a:r>
              <a:rPr lang="en-US" sz="1150" dirty="0">
                <a:solidFill>
                  <a:srgbClr val="0E1C42"/>
                </a:solidFill>
                <a:latin typeface="Calibri" pitchFamily="34" charset="0"/>
                <a:ea typeface="Calibri" pitchFamily="34" charset="-122"/>
                <a:cs typeface="Calibri" pitchFamily="34" charset="-120"/>
              </a:rPr>
              <a:t>A first-hand account or artifact created at the time of the event - a diary, photo, or original document.</a:t>
            </a:r>
            <a:endParaRPr lang="en-US" sz="1150" dirty="0"/>
          </a:p>
        </p:txBody>
      </p:sp>
      <p:sp>
        <p:nvSpPr>
          <p:cNvPr id="11" name="Shape 9"/>
          <p:cNvSpPr/>
          <p:nvPr/>
        </p:nvSpPr>
        <p:spPr>
          <a:xfrm>
            <a:off x="4709160" y="987552"/>
            <a:ext cx="4160520" cy="1353312"/>
          </a:xfrm>
          <a:prstGeom prst="roundRect">
            <a:avLst>
              <a:gd name="adj" fmla="val 8108"/>
            </a:avLst>
          </a:prstGeom>
          <a:solidFill>
            <a:srgbClr val="FFFFFF"/>
          </a:solidFill>
          <a:ln w="25400">
            <a:solidFill>
              <a:srgbClr val="55C8E8"/>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4846320" y="1042416"/>
            <a:ext cx="3886200" cy="329184"/>
          </a:xfrm>
          <a:prstGeom prst="rect">
            <a:avLst/>
          </a:prstGeom>
          <a:noFill/>
          <a:ln/>
        </p:spPr>
        <p:txBody>
          <a:bodyPr wrap="square" rtlCol="0" anchor="ctr"/>
          <a:lstStyle/>
          <a:p>
            <a:pPr indent="0" marL="0">
              <a:buNone/>
            </a:pPr>
            <a:r>
              <a:rPr lang="en-US" sz="1600" b="1" dirty="0">
                <a:solidFill>
                  <a:srgbClr val="55C8E8"/>
                </a:solidFill>
                <a:latin typeface="Cambria" pitchFamily="34" charset="0"/>
                <a:ea typeface="Cambria" pitchFamily="34" charset="-122"/>
                <a:cs typeface="Cambria" pitchFamily="34" charset="-120"/>
              </a:rPr>
              <a:t>secondary source</a:t>
            </a:r>
            <a:endParaRPr lang="en-US" sz="1600" dirty="0"/>
          </a:p>
        </p:txBody>
      </p:sp>
      <p:sp>
        <p:nvSpPr>
          <p:cNvPr id="13" name="Shape 11"/>
          <p:cNvSpPr/>
          <p:nvPr/>
        </p:nvSpPr>
        <p:spPr>
          <a:xfrm>
            <a:off x="4846320" y="1353312"/>
            <a:ext cx="1280160" cy="219456"/>
          </a:xfrm>
          <a:prstGeom prst="roundRect">
            <a:avLst>
              <a:gd name="adj" fmla="val 50000"/>
            </a:avLst>
          </a:prstGeom>
          <a:solidFill>
            <a:srgbClr val="55C8E8"/>
          </a:solidFill>
          <a:ln w="12700">
            <a:solidFill>
              <a:srgbClr val="55C8E8"/>
            </a:solidFill>
            <a:prstDash val="solid"/>
          </a:ln>
        </p:spPr>
      </p:sp>
      <p:sp>
        <p:nvSpPr>
          <p:cNvPr id="14" name="Text 12"/>
          <p:cNvSpPr/>
          <p:nvPr/>
        </p:nvSpPr>
        <p:spPr>
          <a:xfrm>
            <a:off x="4846320" y="1353312"/>
            <a:ext cx="1280160" cy="21945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second- (after)</a:t>
            </a:r>
            <a:endParaRPr lang="en-US" sz="900" dirty="0"/>
          </a:p>
        </p:txBody>
      </p:sp>
      <p:sp>
        <p:nvSpPr>
          <p:cNvPr id="15" name="Text 13"/>
          <p:cNvSpPr/>
          <p:nvPr/>
        </p:nvSpPr>
        <p:spPr>
          <a:xfrm>
            <a:off x="4846320" y="1591056"/>
            <a:ext cx="3886200" cy="676656"/>
          </a:xfrm>
          <a:prstGeom prst="rect">
            <a:avLst/>
          </a:prstGeom>
          <a:noFill/>
          <a:ln/>
        </p:spPr>
        <p:txBody>
          <a:bodyPr wrap="square" rtlCol="0" anchor="t"/>
          <a:lstStyle/>
          <a:p>
            <a:pPr indent="0" marL="0">
              <a:buNone/>
            </a:pPr>
            <a:r>
              <a:rPr lang="en-US" sz="1150" dirty="0">
                <a:solidFill>
                  <a:srgbClr val="0E1C42"/>
                </a:solidFill>
                <a:latin typeface="Calibri" pitchFamily="34" charset="0"/>
                <a:ea typeface="Calibri" pitchFamily="34" charset="-122"/>
                <a:cs typeface="Calibri" pitchFamily="34" charset="-120"/>
              </a:rPr>
              <a:t>An account created after the event by someone who was not there - a textbook, biography, or documentary.</a:t>
            </a:r>
            <a:endParaRPr lang="en-US" sz="1150" dirty="0"/>
          </a:p>
        </p:txBody>
      </p:sp>
      <p:sp>
        <p:nvSpPr>
          <p:cNvPr id="16" name="Shape 14"/>
          <p:cNvSpPr/>
          <p:nvPr/>
        </p:nvSpPr>
        <p:spPr>
          <a:xfrm>
            <a:off x="274320" y="2487168"/>
            <a:ext cx="2743200" cy="1426464"/>
          </a:xfrm>
          <a:prstGeom prst="roundRect">
            <a:avLst>
              <a:gd name="adj" fmla="val 7692"/>
            </a:avLst>
          </a:prstGeom>
          <a:solidFill>
            <a:srgbClr val="FFFFFF"/>
          </a:solidFill>
          <a:ln w="25400">
            <a:solidFill>
              <a:srgbClr val="D4943A"/>
            </a:solidFill>
            <a:prstDash val="solid"/>
          </a:ln>
          <a:effectLst>
            <a:outerShdw sx="100000" sy="100000" kx="0" ky="0" algn="bl" rotWithShape="0" blurRad="63500" dist="25400" dir="8100000">
              <a:srgbClr val="000000">
                <a:alpha val="10000"/>
              </a:srgbClr>
            </a:outerShdw>
          </a:effectLst>
        </p:spPr>
      </p:sp>
      <p:sp>
        <p:nvSpPr>
          <p:cNvPr id="17" name="Text 15"/>
          <p:cNvSpPr/>
          <p:nvPr/>
        </p:nvSpPr>
        <p:spPr>
          <a:xfrm>
            <a:off x="384048" y="2542032"/>
            <a:ext cx="2523744" cy="310896"/>
          </a:xfrm>
          <a:prstGeom prst="rect">
            <a:avLst/>
          </a:prstGeom>
          <a:noFill/>
          <a:ln/>
        </p:spPr>
        <p:txBody>
          <a:bodyPr wrap="square" rtlCol="0" anchor="ctr"/>
          <a:lstStyle/>
          <a:p>
            <a:pPr indent="0" marL="0">
              <a:buNone/>
            </a:pPr>
            <a:r>
              <a:rPr lang="en-US" sz="1400" b="1" dirty="0">
                <a:solidFill>
                  <a:srgbClr val="D4943A"/>
                </a:solidFill>
                <a:latin typeface="Cambria" pitchFamily="34" charset="0"/>
                <a:ea typeface="Cambria" pitchFamily="34" charset="-122"/>
                <a:cs typeface="Cambria" pitchFamily="34" charset="-120"/>
              </a:rPr>
              <a:t>chronology</a:t>
            </a:r>
            <a:endParaRPr lang="en-US" sz="1400" dirty="0"/>
          </a:p>
        </p:txBody>
      </p:sp>
      <p:sp>
        <p:nvSpPr>
          <p:cNvPr id="18" name="Shape 16"/>
          <p:cNvSpPr/>
          <p:nvPr/>
        </p:nvSpPr>
        <p:spPr>
          <a:xfrm>
            <a:off x="384048" y="2834640"/>
            <a:ext cx="1243584" cy="201168"/>
          </a:xfrm>
          <a:prstGeom prst="roundRect">
            <a:avLst>
              <a:gd name="adj" fmla="val 50000"/>
            </a:avLst>
          </a:prstGeom>
          <a:solidFill>
            <a:srgbClr val="D4943A"/>
          </a:solidFill>
          <a:ln w="12700">
            <a:solidFill>
              <a:srgbClr val="D4943A"/>
            </a:solidFill>
            <a:prstDash val="solid"/>
          </a:ln>
        </p:spPr>
      </p:sp>
      <p:sp>
        <p:nvSpPr>
          <p:cNvPr id="19" name="Text 17"/>
          <p:cNvSpPr/>
          <p:nvPr/>
        </p:nvSpPr>
        <p:spPr>
          <a:xfrm>
            <a:off x="384048" y="2834640"/>
            <a:ext cx="1243584"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chron- (time)</a:t>
            </a:r>
            <a:endParaRPr lang="en-US" sz="850" dirty="0"/>
          </a:p>
        </p:txBody>
      </p:sp>
      <p:sp>
        <p:nvSpPr>
          <p:cNvPr id="20" name="Text 18"/>
          <p:cNvSpPr/>
          <p:nvPr/>
        </p:nvSpPr>
        <p:spPr>
          <a:xfrm>
            <a:off x="384048" y="3054096"/>
            <a:ext cx="2523744" cy="786384"/>
          </a:xfrm>
          <a:prstGeom prst="rect">
            <a:avLst/>
          </a:prstGeom>
          <a:noFill/>
          <a:ln/>
        </p:spPr>
        <p:txBody>
          <a:bodyPr wrap="square" rtlCol="0" anchor="t"/>
          <a:lstStyle/>
          <a:p>
            <a:pPr indent="0" marL="0">
              <a:buNone/>
            </a:pPr>
            <a:r>
              <a:rPr lang="en-US" sz="1050" dirty="0">
                <a:solidFill>
                  <a:srgbClr val="0E1C42"/>
                </a:solidFill>
                <a:latin typeface="Calibri" pitchFamily="34" charset="0"/>
                <a:ea typeface="Calibri" pitchFamily="34" charset="-122"/>
                <a:cs typeface="Calibri" pitchFamily="34" charset="-120"/>
              </a:rPr>
              <a:t>Events arranged in the order they happened in time - a timeline is a visual chronology.</a:t>
            </a:r>
            <a:endParaRPr lang="en-US" sz="1050" dirty="0"/>
          </a:p>
        </p:txBody>
      </p:sp>
      <p:sp>
        <p:nvSpPr>
          <p:cNvPr id="21" name="Shape 19"/>
          <p:cNvSpPr/>
          <p:nvPr/>
        </p:nvSpPr>
        <p:spPr>
          <a:xfrm>
            <a:off x="3246120" y="2487168"/>
            <a:ext cx="2743200" cy="1426464"/>
          </a:xfrm>
          <a:prstGeom prst="roundRect">
            <a:avLst>
              <a:gd name="adj" fmla="val 7692"/>
            </a:avLst>
          </a:prstGeom>
          <a:solidFill>
            <a:srgbClr val="FFFFFF"/>
          </a:solidFill>
          <a:ln w="25400">
            <a:solidFill>
              <a:srgbClr val="8B6FC0"/>
            </a:solidFill>
            <a:prstDash val="solid"/>
          </a:ln>
          <a:effectLst>
            <a:outerShdw sx="100000" sy="100000" kx="0" ky="0" algn="bl" rotWithShape="0" blurRad="63500" dist="25400" dir="8100000">
              <a:srgbClr val="000000">
                <a:alpha val="10000"/>
              </a:srgbClr>
            </a:outerShdw>
          </a:effectLst>
        </p:spPr>
      </p:sp>
      <p:sp>
        <p:nvSpPr>
          <p:cNvPr id="22" name="Text 20"/>
          <p:cNvSpPr/>
          <p:nvPr/>
        </p:nvSpPr>
        <p:spPr>
          <a:xfrm>
            <a:off x="3355848" y="2542032"/>
            <a:ext cx="2523744" cy="310896"/>
          </a:xfrm>
          <a:prstGeom prst="rect">
            <a:avLst/>
          </a:prstGeom>
          <a:noFill/>
          <a:ln/>
        </p:spPr>
        <p:txBody>
          <a:bodyPr wrap="square" rtlCol="0" anchor="ctr"/>
          <a:lstStyle/>
          <a:p>
            <a:pPr indent="0" marL="0">
              <a:buNone/>
            </a:pPr>
            <a:r>
              <a:rPr lang="en-US" sz="1400" b="1" dirty="0">
                <a:solidFill>
                  <a:srgbClr val="8B6FC0"/>
                </a:solidFill>
                <a:latin typeface="Cambria" pitchFamily="34" charset="0"/>
                <a:ea typeface="Cambria" pitchFamily="34" charset="-122"/>
                <a:cs typeface="Cambria" pitchFamily="34" charset="-120"/>
              </a:rPr>
              <a:t>archive</a:t>
            </a:r>
            <a:endParaRPr lang="en-US" sz="1400" dirty="0"/>
          </a:p>
        </p:txBody>
      </p:sp>
      <p:sp>
        <p:nvSpPr>
          <p:cNvPr id="23" name="Shape 21"/>
          <p:cNvSpPr/>
          <p:nvPr/>
        </p:nvSpPr>
        <p:spPr>
          <a:xfrm>
            <a:off x="3355848" y="2834640"/>
            <a:ext cx="1243584" cy="201168"/>
          </a:xfrm>
          <a:prstGeom prst="roundRect">
            <a:avLst>
              <a:gd name="adj" fmla="val 50000"/>
            </a:avLst>
          </a:prstGeom>
          <a:solidFill>
            <a:srgbClr val="8B6FC0"/>
          </a:solidFill>
          <a:ln w="12700">
            <a:solidFill>
              <a:srgbClr val="8B6FC0"/>
            </a:solidFill>
            <a:prstDash val="solid"/>
          </a:ln>
        </p:spPr>
      </p:sp>
      <p:sp>
        <p:nvSpPr>
          <p:cNvPr id="24" name="Text 22"/>
          <p:cNvSpPr/>
          <p:nvPr/>
        </p:nvSpPr>
        <p:spPr>
          <a:xfrm>
            <a:off x="3355848" y="2834640"/>
            <a:ext cx="1243584"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arch- (original)</a:t>
            </a:r>
            <a:endParaRPr lang="en-US" sz="850" dirty="0"/>
          </a:p>
        </p:txBody>
      </p:sp>
      <p:sp>
        <p:nvSpPr>
          <p:cNvPr id="25" name="Text 23"/>
          <p:cNvSpPr/>
          <p:nvPr/>
        </p:nvSpPr>
        <p:spPr>
          <a:xfrm>
            <a:off x="3355848" y="3054096"/>
            <a:ext cx="2523744" cy="786384"/>
          </a:xfrm>
          <a:prstGeom prst="rect">
            <a:avLst/>
          </a:prstGeom>
          <a:noFill/>
          <a:ln/>
        </p:spPr>
        <p:txBody>
          <a:bodyPr wrap="square" rtlCol="0" anchor="t"/>
          <a:lstStyle/>
          <a:p>
            <a:pPr indent="0" marL="0">
              <a:buNone/>
            </a:pPr>
            <a:r>
              <a:rPr lang="en-US" sz="1050" dirty="0">
                <a:solidFill>
                  <a:srgbClr val="0E1C42"/>
                </a:solidFill>
                <a:latin typeface="Calibri" pitchFamily="34" charset="0"/>
                <a:ea typeface="Calibri" pitchFamily="34" charset="-122"/>
                <a:cs typeface="Calibri" pitchFamily="34" charset="-120"/>
              </a:rPr>
              <a:t>A collection where original historical records and artifacts are stored and protected.</a:t>
            </a:r>
            <a:endParaRPr lang="en-US" sz="1050" dirty="0"/>
          </a:p>
        </p:txBody>
      </p:sp>
      <p:sp>
        <p:nvSpPr>
          <p:cNvPr id="26" name="Shape 24"/>
          <p:cNvSpPr/>
          <p:nvPr/>
        </p:nvSpPr>
        <p:spPr>
          <a:xfrm>
            <a:off x="6217920" y="2487168"/>
            <a:ext cx="2743200" cy="1426464"/>
          </a:xfrm>
          <a:prstGeom prst="roundRect">
            <a:avLst>
              <a:gd name="adj" fmla="val 7692"/>
            </a:avLst>
          </a:prstGeom>
          <a:solidFill>
            <a:srgbClr val="FFFFFF"/>
          </a:solidFill>
          <a:ln w="25400">
            <a:solidFill>
              <a:srgbClr val="E8636B"/>
            </a:solidFill>
            <a:prstDash val="solid"/>
          </a:ln>
          <a:effectLst>
            <a:outerShdw sx="100000" sy="100000" kx="0" ky="0" algn="bl" rotWithShape="0" blurRad="63500" dist="25400" dir="8100000">
              <a:srgbClr val="000000">
                <a:alpha val="10000"/>
              </a:srgbClr>
            </a:outerShdw>
          </a:effectLst>
        </p:spPr>
      </p:sp>
      <p:sp>
        <p:nvSpPr>
          <p:cNvPr id="27" name="Text 25"/>
          <p:cNvSpPr/>
          <p:nvPr/>
        </p:nvSpPr>
        <p:spPr>
          <a:xfrm>
            <a:off x="6327648" y="2542032"/>
            <a:ext cx="2523744" cy="310896"/>
          </a:xfrm>
          <a:prstGeom prst="rect">
            <a:avLst/>
          </a:prstGeom>
          <a:noFill/>
          <a:ln/>
        </p:spPr>
        <p:txBody>
          <a:bodyPr wrap="square" rtlCol="0" anchor="ctr"/>
          <a:lstStyle/>
          <a:p>
            <a:pPr indent="0" marL="0">
              <a:buNone/>
            </a:pPr>
            <a:r>
              <a:rPr lang="en-US" sz="1400" b="1" dirty="0">
                <a:solidFill>
                  <a:srgbClr val="E8636B"/>
                </a:solidFill>
                <a:latin typeface="Cambria" pitchFamily="34" charset="0"/>
                <a:ea typeface="Cambria" pitchFamily="34" charset="-122"/>
                <a:cs typeface="Cambria" pitchFamily="34" charset="-120"/>
              </a:rPr>
              <a:t>archaeology</a:t>
            </a:r>
            <a:endParaRPr lang="en-US" sz="1400" dirty="0"/>
          </a:p>
        </p:txBody>
      </p:sp>
      <p:sp>
        <p:nvSpPr>
          <p:cNvPr id="28" name="Shape 26"/>
          <p:cNvSpPr/>
          <p:nvPr/>
        </p:nvSpPr>
        <p:spPr>
          <a:xfrm>
            <a:off x="6327648" y="2834640"/>
            <a:ext cx="1243584" cy="201168"/>
          </a:xfrm>
          <a:prstGeom prst="roundRect">
            <a:avLst>
              <a:gd name="adj" fmla="val 50000"/>
            </a:avLst>
          </a:prstGeom>
          <a:solidFill>
            <a:srgbClr val="E8636B"/>
          </a:solidFill>
          <a:ln w="12700">
            <a:solidFill>
              <a:srgbClr val="E8636B"/>
            </a:solidFill>
            <a:prstDash val="solid"/>
          </a:ln>
        </p:spPr>
      </p:sp>
      <p:sp>
        <p:nvSpPr>
          <p:cNvPr id="29" name="Text 27"/>
          <p:cNvSpPr/>
          <p:nvPr/>
        </p:nvSpPr>
        <p:spPr>
          <a:xfrm>
            <a:off x="6327648" y="2834640"/>
            <a:ext cx="1243584"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arch- (old) + ology</a:t>
            </a:r>
            <a:endParaRPr lang="en-US" sz="850" dirty="0"/>
          </a:p>
        </p:txBody>
      </p:sp>
      <p:sp>
        <p:nvSpPr>
          <p:cNvPr id="30" name="Text 28"/>
          <p:cNvSpPr/>
          <p:nvPr/>
        </p:nvSpPr>
        <p:spPr>
          <a:xfrm>
            <a:off x="6327648" y="3054096"/>
            <a:ext cx="2523744" cy="786384"/>
          </a:xfrm>
          <a:prstGeom prst="rect">
            <a:avLst/>
          </a:prstGeom>
          <a:noFill/>
          <a:ln/>
        </p:spPr>
        <p:txBody>
          <a:bodyPr wrap="square" rtlCol="0" anchor="t"/>
          <a:lstStyle/>
          <a:p>
            <a:pPr indent="0" marL="0">
              <a:buNone/>
            </a:pPr>
            <a:r>
              <a:rPr lang="en-US" sz="1050" dirty="0">
                <a:solidFill>
                  <a:srgbClr val="0E1C42"/>
                </a:solidFill>
                <a:latin typeface="Calibri" pitchFamily="34" charset="0"/>
                <a:ea typeface="Calibri" pitchFamily="34" charset="-122"/>
                <a:cs typeface="Calibri" pitchFamily="34" charset="-120"/>
              </a:rPr>
              <a:t>The study of ancient human life through physical remains - tools, pottery, ruins.</a:t>
            </a:r>
            <a:endParaRPr lang="en-US" sz="1050" dirty="0"/>
          </a:p>
        </p:txBody>
      </p:sp>
      <p:sp>
        <p:nvSpPr>
          <p:cNvPr id="31" name="Shape 29"/>
          <p:cNvSpPr/>
          <p:nvPr/>
        </p:nvSpPr>
        <p:spPr>
          <a:xfrm>
            <a:off x="274320" y="4005072"/>
            <a:ext cx="8595360" cy="877824"/>
          </a:xfrm>
          <a:prstGeom prst="roundRect">
            <a:avLst>
              <a:gd name="adj" fmla="val 12500"/>
            </a:avLst>
          </a:prstGeom>
          <a:solidFill>
            <a:srgbClr val="F5F0FF"/>
          </a:solidFill>
          <a:ln w="19050">
            <a:solidFill>
              <a:srgbClr val="8B6FC0"/>
            </a:solidFill>
            <a:prstDash val="solid"/>
          </a:ln>
        </p:spPr>
      </p:sp>
      <p:sp>
        <p:nvSpPr>
          <p:cNvPr id="32" name="Text 30"/>
          <p:cNvSpPr/>
          <p:nvPr/>
        </p:nvSpPr>
        <p:spPr>
          <a:xfrm>
            <a:off x="457200" y="4059936"/>
            <a:ext cx="8229600" cy="219456"/>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ASSIGNMENT PREP (Q1)</a:t>
            </a:r>
            <a:endParaRPr lang="en-US" sz="900" dirty="0"/>
          </a:p>
        </p:txBody>
      </p:sp>
      <p:sp>
        <p:nvSpPr>
          <p:cNvPr id="33" name="Text 31"/>
          <p:cNvSpPr/>
          <p:nvPr/>
        </p:nvSpPr>
        <p:spPr>
          <a:xfrm>
            <a:off x="457200" y="4279392"/>
            <a:ext cx="8229600" cy="530352"/>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Your assignment asks you to write definitions for THREE of these five words. Read every card carefully - you choose which three. Use the root tag as your memory hook.</a:t>
            </a:r>
            <a:endParaRPr lang="en-US" sz="1200" dirty="0"/>
          </a:p>
        </p:txBody>
      </p:sp>
      <p:sp>
        <p:nvSpPr>
          <p:cNvPr id="34" name="Shape 32"/>
          <p:cNvSpPr/>
          <p:nvPr/>
        </p:nvSpPr>
        <p:spPr>
          <a:xfrm>
            <a:off x="0" y="5070348"/>
            <a:ext cx="9144000" cy="73152"/>
          </a:xfrm>
          <a:prstGeom prst="rect">
            <a:avLst/>
          </a:prstGeom>
          <a:solidFill>
            <a:srgbClr val="1A8A7D"/>
          </a:solidFill>
          <a:ln w="12700">
            <a:solidFill>
              <a:srgbClr val="1A8A7D"/>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73152"/>
          </a:xfrm>
          <a:prstGeom prst="rect">
            <a:avLst/>
          </a:prstGeom>
          <a:solidFill>
            <a:srgbClr val="D4943A"/>
          </a:solidFill>
          <a:ln w="12700">
            <a:solidFill>
              <a:srgbClr val="D4943A"/>
            </a:solidFill>
            <a:prstDash val="solid"/>
          </a:ln>
        </p:spPr>
      </p:sp>
      <p:sp>
        <p:nvSpPr>
          <p:cNvPr id="6" name="Text 3"/>
          <p:cNvSpPr/>
          <p:nvPr/>
        </p:nvSpPr>
        <p:spPr>
          <a:xfrm>
            <a:off x="457200" y="164592"/>
            <a:ext cx="8229600" cy="274320"/>
          </a:xfrm>
          <a:prstGeom prst="rect">
            <a:avLst/>
          </a:prstGeom>
          <a:noFill/>
          <a:ln/>
        </p:spPr>
        <p:txBody>
          <a:bodyPr wrap="square"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7" name="Shape 4"/>
          <p:cNvSpPr/>
          <p:nvPr/>
        </p:nvSpPr>
        <p:spPr>
          <a:xfrm>
            <a:off x="2560320" y="512064"/>
            <a:ext cx="4023360" cy="804672"/>
          </a:xfrm>
          <a:prstGeom prst="roundRect">
            <a:avLst>
              <a:gd name="adj" fmla="val 50000"/>
            </a:avLst>
          </a:prstGeom>
          <a:solidFill>
            <a:srgbClr val="D4943A"/>
          </a:solidFill>
          <a:ln w="25400">
            <a:solidFill>
              <a:srgbClr val="FFFFFF"/>
            </a:solidFill>
            <a:prstDash val="solid"/>
          </a:ln>
        </p:spPr>
      </p:sp>
      <p:sp>
        <p:nvSpPr>
          <p:cNvPr id="8" name="Text 5"/>
          <p:cNvSpPr/>
          <p:nvPr/>
        </p:nvSpPr>
        <p:spPr>
          <a:xfrm>
            <a:off x="2560320" y="512064"/>
            <a:ext cx="4023360" cy="804672"/>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COURAGE</a:t>
            </a:r>
            <a:endParaRPr lang="en-US" sz="3600" dirty="0"/>
          </a:p>
        </p:txBody>
      </p:sp>
      <p:sp>
        <p:nvSpPr>
          <p:cNvPr id="9" name="Shape 6"/>
          <p:cNvSpPr/>
          <p:nvPr/>
        </p:nvSpPr>
        <p:spPr>
          <a:xfrm>
            <a:off x="365760" y="1426464"/>
            <a:ext cx="8412480" cy="914400"/>
          </a:xfrm>
          <a:prstGeom prst="roundRect">
            <a:avLst>
              <a:gd name="adj" fmla="val 12000"/>
            </a:avLst>
          </a:prstGeom>
          <a:solidFill>
            <a:srgbClr val="1A2D5A"/>
          </a:solidFill>
          <a:ln w="19050">
            <a:solidFill>
              <a:srgbClr val="D4943A"/>
            </a:solidFill>
            <a:prstDash val="solid"/>
          </a:ln>
        </p:spPr>
      </p:sp>
      <p:sp>
        <p:nvSpPr>
          <p:cNvPr id="10" name="Text 7"/>
          <p:cNvSpPr/>
          <p:nvPr/>
        </p:nvSpPr>
        <p:spPr>
          <a:xfrm>
            <a:off x="548640" y="1481328"/>
            <a:ext cx="8046720" cy="2560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What Courage Looks Like for Historians</a:t>
            </a:r>
            <a:endParaRPr lang="en-US" sz="900" dirty="0"/>
          </a:p>
        </p:txBody>
      </p:sp>
      <p:sp>
        <p:nvSpPr>
          <p:cNvPr id="11" name="Text 8"/>
          <p:cNvSpPr/>
          <p:nvPr/>
        </p:nvSpPr>
        <p:spPr>
          <a:xfrm>
            <a:off x="548640" y="1737360"/>
            <a:ext cx="8046720" cy="530352"/>
          </a:xfrm>
          <a:prstGeom prst="rect">
            <a:avLst/>
          </a:prstGeom>
          <a:noFill/>
          <a:ln/>
        </p:spPr>
        <p:txBody>
          <a:bodyPr wrap="square"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Saying a word out loud. Asking what it means if you are not sure. Using it again the next time - even when it feels long and complicated.</a:t>
            </a:r>
            <a:endParaRPr lang="en-US" sz="1400" dirty="0"/>
          </a:p>
        </p:txBody>
      </p:sp>
      <p:sp>
        <p:nvSpPr>
          <p:cNvPr id="12" name="Shape 9"/>
          <p:cNvSpPr/>
          <p:nvPr/>
        </p:nvSpPr>
        <p:spPr>
          <a:xfrm>
            <a:off x="365760" y="2450592"/>
            <a:ext cx="3977640" cy="1335024"/>
          </a:xfrm>
          <a:prstGeom prst="roundRect">
            <a:avLst>
              <a:gd name="adj" fmla="val 8219"/>
            </a:avLst>
          </a:prstGeom>
          <a:solidFill>
            <a:srgbClr val="1A2D5A"/>
          </a:solidFill>
          <a:ln w="19050">
            <a:solidFill>
              <a:srgbClr val="E8636B"/>
            </a:solidFill>
            <a:prstDash val="solid"/>
          </a:ln>
        </p:spPr>
      </p:sp>
      <p:sp>
        <p:nvSpPr>
          <p:cNvPr id="13" name="Text 10"/>
          <p:cNvSpPr/>
          <p:nvPr/>
        </p:nvSpPr>
        <p:spPr>
          <a:xfrm>
            <a:off x="548640" y="2505456"/>
            <a:ext cx="3566160" cy="237744"/>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NOT COURAGE</a:t>
            </a:r>
            <a:endParaRPr lang="en-US" sz="900" dirty="0"/>
          </a:p>
        </p:txBody>
      </p:sp>
      <p:sp>
        <p:nvSpPr>
          <p:cNvPr id="14" name="Text 11"/>
          <p:cNvSpPr/>
          <p:nvPr/>
        </p:nvSpPr>
        <p:spPr>
          <a:xfrm>
            <a:off x="548640" y="2761488"/>
            <a:ext cx="3566160" cy="950976"/>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explorer looked at the old stuff."</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"They dug up ancient things."</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"She wrote about what happened."</a:t>
            </a:r>
            <a:endParaRPr lang="en-US" sz="1200" dirty="0"/>
          </a:p>
        </p:txBody>
      </p:sp>
      <p:sp>
        <p:nvSpPr>
          <p:cNvPr id="15" name="Shape 12"/>
          <p:cNvSpPr/>
          <p:nvPr/>
        </p:nvSpPr>
        <p:spPr>
          <a:xfrm>
            <a:off x="4800600" y="2450592"/>
            <a:ext cx="3977640" cy="1335024"/>
          </a:xfrm>
          <a:prstGeom prst="roundRect">
            <a:avLst>
              <a:gd name="adj" fmla="val 8219"/>
            </a:avLst>
          </a:prstGeom>
          <a:solidFill>
            <a:srgbClr val="1A2D5A"/>
          </a:solidFill>
          <a:ln w="19050">
            <a:solidFill>
              <a:srgbClr val="34B76F"/>
            </a:solidFill>
            <a:prstDash val="solid"/>
          </a:ln>
        </p:spPr>
      </p:sp>
      <p:sp>
        <p:nvSpPr>
          <p:cNvPr id="16" name="Text 13"/>
          <p:cNvSpPr/>
          <p:nvPr/>
        </p:nvSpPr>
        <p:spPr>
          <a:xfrm>
            <a:off x="4983480" y="2505456"/>
            <a:ext cx="3566160" cy="237744"/>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COURAGE IN ACTION</a:t>
            </a:r>
            <a:endParaRPr lang="en-US" sz="900" dirty="0"/>
          </a:p>
        </p:txBody>
      </p:sp>
      <p:sp>
        <p:nvSpPr>
          <p:cNvPr id="17" name="Text 14"/>
          <p:cNvSpPr/>
          <p:nvPr/>
        </p:nvSpPr>
        <p:spPr>
          <a:xfrm>
            <a:off x="4983480" y="2761488"/>
            <a:ext cx="3566160" cy="950976"/>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archaeologist studied ancient remains."</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"She stored findings in the archive."</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"They arranged events in chronological order."</a:t>
            </a:r>
            <a:endParaRPr lang="en-US" sz="1200" dirty="0"/>
          </a:p>
        </p:txBody>
      </p:sp>
      <p:sp>
        <p:nvSpPr>
          <p:cNvPr id="18" name="Shape 15"/>
          <p:cNvSpPr/>
          <p:nvPr/>
        </p:nvSpPr>
        <p:spPr>
          <a:xfrm>
            <a:off x="365760" y="3877056"/>
            <a:ext cx="8412480" cy="987552"/>
          </a:xfrm>
          <a:prstGeom prst="roundRect">
            <a:avLst>
              <a:gd name="adj" fmla="val 11111"/>
            </a:avLst>
          </a:prstGeom>
          <a:solidFill>
            <a:srgbClr val="D4943A">
              <a:alpha val="20000"/>
            </a:srgbClr>
          </a:solidFill>
          <a:ln w="19050">
            <a:solidFill>
              <a:srgbClr val="D4943A"/>
            </a:solidFill>
            <a:prstDash val="solid"/>
          </a:ln>
        </p:spPr>
      </p:sp>
      <p:sp>
        <p:nvSpPr>
          <p:cNvPr id="19" name="Text 16"/>
          <p:cNvSpPr/>
          <p:nvPr/>
        </p:nvSpPr>
        <p:spPr>
          <a:xfrm>
            <a:off x="548640" y="3931920"/>
            <a:ext cx="804672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COURAGE CHALLENGE</a:t>
            </a:r>
            <a:endParaRPr lang="en-US" sz="900" dirty="0"/>
          </a:p>
        </p:txBody>
      </p:sp>
      <p:sp>
        <p:nvSpPr>
          <p:cNvPr id="20" name="Text 17"/>
          <p:cNvSpPr/>
          <p:nvPr/>
        </p:nvSpPr>
        <p:spPr>
          <a:xfrm>
            <a:off x="548640" y="4151376"/>
            <a:ext cx="8046720" cy="640080"/>
          </a:xfrm>
          <a:prstGeom prst="rect">
            <a:avLst/>
          </a:prstGeom>
          <a:noFill/>
          <a:ln/>
        </p:spPr>
        <p:txBody>
          <a:bodyPr wrap="square" rtlCol="0" anchor="ctr"/>
          <a:lstStyle/>
          <a:p>
            <a:pPr indent="0" marL="0">
              <a:buNone/>
            </a:pPr>
            <a:r>
              <a:rPr lang="en-US" sz="1150" i="1" dirty="0">
                <a:solidFill>
                  <a:srgbClr val="FFFFFF"/>
                </a:solidFill>
                <a:latin typeface="Cambria" pitchFamily="34" charset="0"/>
                <a:ea typeface="Cambria" pitchFamily="34" charset="-122"/>
                <a:cs typeface="Cambria" pitchFamily="34" charset="-120"/>
              </a:rPr>
              <a:t>Why does it take courage to say 'the archaeologist used primary sources and organized them in chronological order' instead of 'she looked at old stuff'? What does precision give you that vague words do not?</a:t>
            </a:r>
            <a:endParaRPr lang="en-US" sz="1150" dirty="0"/>
          </a:p>
        </p:txBody>
      </p:sp>
      <p:sp>
        <p:nvSpPr>
          <p:cNvPr id="21" name="Shape 18"/>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4B76F"/>
          </a:solidFill>
          <a:ln w="12700">
            <a:solidFill>
              <a:srgbClr val="34B76F"/>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1</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300" b="1" dirty="0">
                <a:solidFill>
                  <a:srgbClr val="0E1C42"/>
                </a:solidFill>
                <a:latin typeface="Cambria" pitchFamily="34" charset="0"/>
                <a:ea typeface="Cambria" pitchFamily="34" charset="-122"/>
                <a:cs typeface="Cambria" pitchFamily="34" charset="-120"/>
              </a:rPr>
              <a:t>Teacher Models: Thinking Through a Vocabulary Word</a:t>
            </a:r>
            <a:endParaRPr lang="en-US" sz="2300" dirty="0"/>
          </a:p>
        </p:txBody>
      </p:sp>
      <p:sp>
        <p:nvSpPr>
          <p:cNvPr id="5" name="Shape 3"/>
          <p:cNvSpPr/>
          <p:nvPr/>
        </p:nvSpPr>
        <p:spPr>
          <a:xfrm>
            <a:off x="457200" y="841248"/>
            <a:ext cx="5029200" cy="36576"/>
          </a:xfrm>
          <a:prstGeom prst="rect">
            <a:avLst/>
          </a:prstGeom>
          <a:solidFill>
            <a:srgbClr val="34B76F"/>
          </a:solidFill>
          <a:ln w="12700">
            <a:solidFill>
              <a:srgbClr val="34B76F"/>
            </a:solidFill>
            <a:prstDash val="solid"/>
          </a:ln>
        </p:spPr>
      </p:sp>
      <p:sp>
        <p:nvSpPr>
          <p:cNvPr id="6" name="Shape 4"/>
          <p:cNvSpPr/>
          <p:nvPr/>
        </p:nvSpPr>
        <p:spPr>
          <a:xfrm>
            <a:off x="365760" y="969264"/>
            <a:ext cx="8412480" cy="475488"/>
          </a:xfrm>
          <a:prstGeom prst="roundRect">
            <a:avLst>
              <a:gd name="adj" fmla="val 23077"/>
            </a:avLst>
          </a:prstGeom>
          <a:solidFill>
            <a:srgbClr val="34B76F">
              <a:alpha val="15000"/>
            </a:srgbClr>
          </a:solidFill>
          <a:ln w="19050">
            <a:solidFill>
              <a:srgbClr val="34B76F"/>
            </a:solidFill>
            <a:prstDash val="solid"/>
          </a:ln>
        </p:spPr>
      </p:sp>
      <p:sp>
        <p:nvSpPr>
          <p:cNvPr id="7" name="Text 5"/>
          <p:cNvSpPr/>
          <p:nvPr/>
        </p:nvSpPr>
        <p:spPr>
          <a:xfrm>
            <a:off x="548640" y="1024128"/>
            <a:ext cx="8046720" cy="347472"/>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TEACHER THINK-ALOUD - Watch how I work through a vocabulary word using the root:</a:t>
            </a:r>
            <a:endParaRPr lang="en-US" sz="1200" dirty="0"/>
          </a:p>
        </p:txBody>
      </p:sp>
      <p:sp>
        <p:nvSpPr>
          <p:cNvPr id="8" name="Shape 6"/>
          <p:cNvSpPr/>
          <p:nvPr/>
        </p:nvSpPr>
        <p:spPr>
          <a:xfrm>
            <a:off x="365760" y="1536192"/>
            <a:ext cx="8412480" cy="2359152"/>
          </a:xfrm>
          <a:prstGeom prst="roundRect">
            <a:avLst>
              <a:gd name="adj" fmla="val 4651"/>
            </a:avLst>
          </a:prstGeom>
          <a:solidFill>
            <a:srgbClr val="FFFFFF"/>
          </a:solidFill>
          <a:ln w="25400">
            <a:solidFill>
              <a:srgbClr val="34B76F"/>
            </a:solidFill>
            <a:prstDash val="solid"/>
          </a:ln>
        </p:spPr>
      </p:sp>
      <p:sp>
        <p:nvSpPr>
          <p:cNvPr id="9" name="Text 7"/>
          <p:cNvSpPr/>
          <p:nvPr/>
        </p:nvSpPr>
        <p:spPr>
          <a:xfrm>
            <a:off x="548640" y="1591056"/>
            <a:ext cx="8046720" cy="329184"/>
          </a:xfrm>
          <a:prstGeom prst="rect">
            <a:avLst/>
          </a:prstGeom>
          <a:noFill/>
          <a:ln/>
        </p:spPr>
        <p:txBody>
          <a:bodyPr wrap="square" rtlCol="0" anchor="ctr"/>
          <a:lstStyle/>
          <a:p>
            <a:pPr indent="0" marL="0">
              <a:buNone/>
            </a:pPr>
            <a:r>
              <a:rPr lang="en-US" sz="1600" b="1" dirty="0">
                <a:solidFill>
                  <a:srgbClr val="34B76F"/>
                </a:solidFill>
                <a:latin typeface="Cambria" pitchFamily="34" charset="0"/>
                <a:ea typeface="Cambria" pitchFamily="34" charset="-122"/>
                <a:cs typeface="Cambria" pitchFamily="34" charset="-120"/>
              </a:rPr>
              <a:t>WORD: archive</a:t>
            </a:r>
            <a:endParaRPr lang="en-US" sz="1600" dirty="0"/>
          </a:p>
        </p:txBody>
      </p:sp>
      <p:sp>
        <p:nvSpPr>
          <p:cNvPr id="10" name="Text 8"/>
          <p:cNvSpPr/>
          <p:nvPr/>
        </p:nvSpPr>
        <p:spPr>
          <a:xfrm>
            <a:off x="548640" y="1938528"/>
            <a:ext cx="2743200" cy="256032"/>
          </a:xfrm>
          <a:prstGeom prst="rect">
            <a:avLst/>
          </a:prstGeom>
          <a:noFill/>
          <a:ln/>
        </p:spPr>
        <p:txBody>
          <a:bodyPr wrap="square"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Step 1 - Root check:</a:t>
            </a:r>
            <a:endParaRPr lang="en-US" sz="1000" dirty="0"/>
          </a:p>
        </p:txBody>
      </p:sp>
      <p:sp>
        <p:nvSpPr>
          <p:cNvPr id="11" name="Text 9"/>
          <p:cNvSpPr/>
          <p:nvPr/>
        </p:nvSpPr>
        <p:spPr>
          <a:xfrm>
            <a:off x="3291840" y="1938528"/>
            <a:ext cx="5303520" cy="256032"/>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see arch- at the start. I know arch- means old, first, original."</a:t>
            </a:r>
            <a:endParaRPr lang="en-US" sz="1200" dirty="0"/>
          </a:p>
        </p:txBody>
      </p:sp>
      <p:sp>
        <p:nvSpPr>
          <p:cNvPr id="12" name="Text 10"/>
          <p:cNvSpPr/>
          <p:nvPr/>
        </p:nvSpPr>
        <p:spPr>
          <a:xfrm>
            <a:off x="548640" y="2395728"/>
            <a:ext cx="2743200" cy="256032"/>
          </a:xfrm>
          <a:prstGeom prst="rect">
            <a:avLst/>
          </a:prstGeom>
          <a:noFill/>
          <a:ln/>
        </p:spPr>
        <p:txBody>
          <a:bodyPr wrap="square"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Step 2 - Define from root:</a:t>
            </a:r>
            <a:endParaRPr lang="en-US" sz="1000" dirty="0"/>
          </a:p>
        </p:txBody>
      </p:sp>
      <p:sp>
        <p:nvSpPr>
          <p:cNvPr id="13" name="Text 11"/>
          <p:cNvSpPr/>
          <p:nvPr/>
        </p:nvSpPr>
        <p:spPr>
          <a:xfrm>
            <a:off x="3291840" y="2395728"/>
            <a:ext cx="5303520" cy="256032"/>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"So an archive must be something to do with original things - maybe a place that holds them."</a:t>
            </a:r>
            <a:endParaRPr lang="en-US" sz="1200" dirty="0"/>
          </a:p>
        </p:txBody>
      </p:sp>
      <p:sp>
        <p:nvSpPr>
          <p:cNvPr id="14" name="Text 12"/>
          <p:cNvSpPr/>
          <p:nvPr/>
        </p:nvSpPr>
        <p:spPr>
          <a:xfrm>
            <a:off x="548640" y="2852928"/>
            <a:ext cx="2743200" cy="256032"/>
          </a:xfrm>
          <a:prstGeom prst="rect">
            <a:avLst/>
          </a:prstGeom>
          <a:noFill/>
          <a:ln/>
        </p:spPr>
        <p:txBody>
          <a:bodyPr wrap="square"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Step 3 - Check and refine:</a:t>
            </a:r>
            <a:endParaRPr lang="en-US" sz="1000" dirty="0"/>
          </a:p>
        </p:txBody>
      </p:sp>
      <p:sp>
        <p:nvSpPr>
          <p:cNvPr id="15" name="Text 13"/>
          <p:cNvSpPr/>
          <p:nvPr/>
        </p:nvSpPr>
        <p:spPr>
          <a:xfrm>
            <a:off x="3291840" y="2852928"/>
            <a:ext cx="5303520" cy="256032"/>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"The definition confirms: an archive is a collection of original historical records. My root gave me the right direction!"</a:t>
            </a:r>
            <a:endParaRPr lang="en-US" sz="1200" dirty="0"/>
          </a:p>
        </p:txBody>
      </p:sp>
      <p:sp>
        <p:nvSpPr>
          <p:cNvPr id="16" name="Text 14"/>
          <p:cNvSpPr/>
          <p:nvPr/>
        </p:nvSpPr>
        <p:spPr>
          <a:xfrm>
            <a:off x="548640" y="3310128"/>
            <a:ext cx="2743200" cy="256032"/>
          </a:xfrm>
          <a:prstGeom prst="rect">
            <a:avLst/>
          </a:prstGeom>
          <a:noFill/>
          <a:ln/>
        </p:spPr>
        <p:txBody>
          <a:bodyPr wrap="square" rtlCol="0" anchor="ctr"/>
          <a:lstStyle/>
          <a:p>
            <a:pPr indent="0" marL="0">
              <a:buNone/>
            </a:pPr>
            <a:r>
              <a:rPr lang="en-US" sz="1000" b="1" dirty="0">
                <a:solidFill>
                  <a:srgbClr val="7A88A8"/>
                </a:solidFill>
                <a:latin typeface="Calibri" pitchFamily="34" charset="0"/>
                <a:ea typeface="Calibri" pitchFamily="34" charset="-122"/>
                <a:cs typeface="Calibri" pitchFamily="34" charset="-120"/>
              </a:rPr>
              <a:t>Step 4 - Write in my own words:</a:t>
            </a:r>
            <a:endParaRPr lang="en-US" sz="1000" dirty="0"/>
          </a:p>
        </p:txBody>
      </p:sp>
      <p:sp>
        <p:nvSpPr>
          <p:cNvPr id="17" name="Text 15"/>
          <p:cNvSpPr/>
          <p:nvPr/>
        </p:nvSpPr>
        <p:spPr>
          <a:xfrm>
            <a:off x="3291840" y="3310128"/>
            <a:ext cx="5303520" cy="256032"/>
          </a:xfrm>
          <a:prstGeom prst="rect">
            <a:avLst/>
          </a:prstGeom>
          <a:noFill/>
          <a:ln/>
        </p:spPr>
        <p:txBody>
          <a:bodyPr wrap="square" rtlCol="0" anchor="ctr"/>
          <a:lstStyle/>
          <a:p>
            <a:pPr indent="0" marL="0">
              <a:buNone/>
            </a:pPr>
            <a:r>
              <a:rPr lang="en-US" sz="1200" b="1" i="1" dirty="0">
                <a:solidFill>
                  <a:srgbClr val="8B6FC0"/>
                </a:solidFill>
                <a:latin typeface="Cambria" pitchFamily="34" charset="0"/>
                <a:ea typeface="Cambria" pitchFamily="34" charset="-122"/>
                <a:cs typeface="Cambria" pitchFamily="34" charset="-120"/>
              </a:rPr>
              <a:t>"An archive is a place that stores and protects original documents and records from history."</a:t>
            </a:r>
            <a:endParaRPr lang="en-US" sz="1200" dirty="0"/>
          </a:p>
        </p:txBody>
      </p:sp>
      <p:sp>
        <p:nvSpPr>
          <p:cNvPr id="18" name="Shape 16"/>
          <p:cNvSpPr/>
          <p:nvPr/>
        </p:nvSpPr>
        <p:spPr>
          <a:xfrm>
            <a:off x="365760" y="4005072"/>
            <a:ext cx="8412480" cy="877824"/>
          </a:xfrm>
          <a:prstGeom prst="roundRect">
            <a:avLst>
              <a:gd name="adj" fmla="val 12500"/>
            </a:avLst>
          </a:prstGeom>
          <a:solidFill>
            <a:srgbClr val="F5F0FF"/>
          </a:solidFill>
          <a:ln w="19050">
            <a:solidFill>
              <a:srgbClr val="8B6FC0"/>
            </a:solidFill>
            <a:prstDash val="solid"/>
          </a:ln>
        </p:spPr>
      </p:sp>
      <p:sp>
        <p:nvSpPr>
          <p:cNvPr id="19" name="Text 17"/>
          <p:cNvSpPr/>
          <p:nvPr/>
        </p:nvSpPr>
        <p:spPr>
          <a:xfrm>
            <a:off x="548640" y="4059936"/>
            <a:ext cx="8046720" cy="219456"/>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NOW YOUR TURN</a:t>
            </a:r>
            <a:endParaRPr lang="en-US" sz="900" dirty="0"/>
          </a:p>
        </p:txBody>
      </p:sp>
      <p:sp>
        <p:nvSpPr>
          <p:cNvPr id="20" name="Text 18"/>
          <p:cNvSpPr/>
          <p:nvPr/>
        </p:nvSpPr>
        <p:spPr>
          <a:xfrm>
            <a:off x="548640" y="4279392"/>
            <a:ext cx="8046720" cy="530352"/>
          </a:xfrm>
          <a:prstGeom prst="rect">
            <a:avLst/>
          </a:prstGeom>
          <a:noFill/>
          <a:ln/>
        </p:spPr>
        <p:txBody>
          <a:bodyPr wrap="square" rtlCol="0" anchor="ctr"/>
          <a:lstStyle/>
          <a:p>
            <a:pPr indent="0" marL="0">
              <a:buNone/>
            </a:pPr>
            <a:r>
              <a:rPr lang="en-US" sz="1250" i="1" dirty="0">
                <a:solidFill>
                  <a:srgbClr val="0E1C42"/>
                </a:solidFill>
                <a:latin typeface="Cambria" pitchFamily="34" charset="0"/>
                <a:ea typeface="Cambria" pitchFamily="34" charset="-122"/>
                <a:cs typeface="Cambria" pitchFamily="34" charset="-120"/>
              </a:rPr>
              <a:t>Try the same four steps with the word archaeology. Start with the root. What does arch- + ology suggest? Write your definition in chat.</a:t>
            </a:r>
            <a:endParaRPr lang="en-US" sz="1250" dirty="0"/>
          </a:p>
        </p:txBody>
      </p:sp>
      <p:sp>
        <p:nvSpPr>
          <p:cNvPr id="21" name="Shape 19"/>
          <p:cNvSpPr/>
          <p:nvPr/>
        </p:nvSpPr>
        <p:spPr>
          <a:xfrm>
            <a:off x="0" y="5070348"/>
            <a:ext cx="9144000" cy="73152"/>
          </a:xfrm>
          <a:prstGeom prst="rect">
            <a:avLst/>
          </a:prstGeom>
          <a:solidFill>
            <a:srgbClr val="34B76F"/>
          </a:solidFill>
          <a:ln w="12700">
            <a:solidFill>
              <a:srgbClr val="34B76F"/>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4B76F"/>
          </a:solidFill>
          <a:ln w="12700">
            <a:solidFill>
              <a:srgbClr val="34B76F"/>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2</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300" b="1" dirty="0">
                <a:solidFill>
                  <a:srgbClr val="0E1C42"/>
                </a:solidFill>
                <a:latin typeface="Cambria" pitchFamily="34" charset="0"/>
                <a:ea typeface="Cambria" pitchFamily="34" charset="-122"/>
                <a:cs typeface="Cambria" pitchFamily="34" charset="-120"/>
              </a:rPr>
              <a:t>Investigate and Defend: Using Vocabulary Precisely</a:t>
            </a:r>
            <a:endParaRPr lang="en-US" sz="2300" dirty="0"/>
          </a:p>
        </p:txBody>
      </p:sp>
      <p:sp>
        <p:nvSpPr>
          <p:cNvPr id="5" name="Shape 3"/>
          <p:cNvSpPr/>
          <p:nvPr/>
        </p:nvSpPr>
        <p:spPr>
          <a:xfrm>
            <a:off x="457200" y="841248"/>
            <a:ext cx="5029200" cy="36576"/>
          </a:xfrm>
          <a:prstGeom prst="rect">
            <a:avLst/>
          </a:prstGeom>
          <a:solidFill>
            <a:srgbClr val="34B76F"/>
          </a:solidFill>
          <a:ln w="12700">
            <a:solidFill>
              <a:srgbClr val="34B76F"/>
            </a:solidFill>
            <a:prstDash val="solid"/>
          </a:ln>
        </p:spPr>
      </p:sp>
      <p:sp>
        <p:nvSpPr>
          <p:cNvPr id="6" name="Shape 4"/>
          <p:cNvSpPr/>
          <p:nvPr/>
        </p:nvSpPr>
        <p:spPr>
          <a:xfrm>
            <a:off x="365760" y="969264"/>
            <a:ext cx="8412480" cy="877824"/>
          </a:xfrm>
          <a:prstGeom prst="roundRect">
            <a:avLst>
              <a:gd name="adj" fmla="val 12500"/>
            </a:avLst>
          </a:prstGeom>
          <a:solidFill>
            <a:srgbClr val="1A2D5A"/>
          </a:solidFill>
          <a:ln w="19050">
            <a:solidFill>
              <a:srgbClr val="55C8E8"/>
            </a:solidFill>
            <a:prstDash val="solid"/>
          </a:ln>
        </p:spPr>
      </p:sp>
      <p:sp>
        <p:nvSpPr>
          <p:cNvPr id="7" name="Text 5"/>
          <p:cNvSpPr/>
          <p:nvPr/>
        </p:nvSpPr>
        <p:spPr>
          <a:xfrm>
            <a:off x="548640" y="1024128"/>
            <a:ext cx="8046720" cy="219456"/>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SCENARIO</a:t>
            </a:r>
            <a:endParaRPr lang="en-US" sz="900" dirty="0"/>
          </a:p>
        </p:txBody>
      </p:sp>
      <p:sp>
        <p:nvSpPr>
          <p:cNvPr id="8" name="Text 6"/>
          <p:cNvSpPr/>
          <p:nvPr/>
        </p:nvSpPr>
        <p:spPr>
          <a:xfrm>
            <a:off x="548640" y="1243584"/>
            <a:ext cx="8046720" cy="530352"/>
          </a:xfrm>
          <a:prstGeom prst="rect">
            <a:avLst/>
          </a:prstGeom>
          <a:noFill/>
          <a:ln/>
        </p:spPr>
        <p:txBody>
          <a:bodyPr wrap="square" rtlCol="0" anchor="ctr"/>
          <a:lstStyle/>
          <a:p>
            <a:pPr indent="0" marL="0">
              <a:buNone/>
            </a:pPr>
            <a:r>
              <a:rPr lang="en-US" sz="1250" i="1" dirty="0">
                <a:solidFill>
                  <a:srgbClr val="FFFFFF"/>
                </a:solidFill>
                <a:latin typeface="Cambria" pitchFamily="34" charset="0"/>
                <a:ea typeface="Cambria" pitchFamily="34" charset="-122"/>
                <a:cs typeface="Cambria" pitchFamily="34" charset="-120"/>
              </a:rPr>
              <a:t>A Florida historian studies the Seminole Wars. She visits a museum with letters written by soldiers during the war, old maps from the 1840s, and a modern textbook about the conflict. She then digs at a former fort site and finds broken pottery.</a:t>
            </a:r>
            <a:endParaRPr lang="en-US" sz="1250" dirty="0"/>
          </a:p>
        </p:txBody>
      </p:sp>
      <p:sp>
        <p:nvSpPr>
          <p:cNvPr id="9" name="Shape 7"/>
          <p:cNvSpPr/>
          <p:nvPr/>
        </p:nvSpPr>
        <p:spPr>
          <a:xfrm>
            <a:off x="365760" y="1938528"/>
            <a:ext cx="4114800" cy="1901952"/>
          </a:xfrm>
          <a:prstGeom prst="roundRect">
            <a:avLst>
              <a:gd name="adj" fmla="val 5769"/>
            </a:avLst>
          </a:prstGeom>
          <a:solidFill>
            <a:srgbClr val="FFFFFF"/>
          </a:solidFill>
          <a:ln w="19050">
            <a:solidFill>
              <a:srgbClr val="1A8A7D"/>
            </a:solidFill>
            <a:prstDash val="solid"/>
          </a:ln>
        </p:spPr>
      </p:sp>
      <p:sp>
        <p:nvSpPr>
          <p:cNvPr id="10" name="Text 8"/>
          <p:cNvSpPr/>
          <p:nvPr/>
        </p:nvSpPr>
        <p:spPr>
          <a:xfrm>
            <a:off x="548640" y="1993392"/>
            <a:ext cx="3749040" cy="237744"/>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INVESTIGATE</a:t>
            </a:r>
            <a:endParaRPr lang="en-US" sz="900" dirty="0"/>
          </a:p>
        </p:txBody>
      </p:sp>
      <p:sp>
        <p:nvSpPr>
          <p:cNvPr id="11" name="Text 9"/>
          <p:cNvSpPr/>
          <p:nvPr/>
        </p:nvSpPr>
        <p:spPr>
          <a:xfrm>
            <a:off x="548640" y="2267712"/>
            <a:ext cx="3749040" cy="640080"/>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1. Which items in the museum are primary sources? Which is the secondary source? Name them specifically.</a:t>
            </a:r>
            <a:endParaRPr lang="en-US" sz="1200" dirty="0"/>
          </a:p>
        </p:txBody>
      </p:sp>
      <p:sp>
        <p:nvSpPr>
          <p:cNvPr id="12" name="Text 10"/>
          <p:cNvSpPr/>
          <p:nvPr/>
        </p:nvSpPr>
        <p:spPr>
          <a:xfrm>
            <a:off x="548640" y="2944368"/>
            <a:ext cx="3749040" cy="804672"/>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2. The historian uses the word chronology in her report. What information from the scenario would go into a chronology?</a:t>
            </a:r>
            <a:endParaRPr lang="en-US" sz="1200" dirty="0"/>
          </a:p>
        </p:txBody>
      </p:sp>
      <p:sp>
        <p:nvSpPr>
          <p:cNvPr id="13" name="Shape 11"/>
          <p:cNvSpPr/>
          <p:nvPr/>
        </p:nvSpPr>
        <p:spPr>
          <a:xfrm>
            <a:off x="4663440" y="1938528"/>
            <a:ext cx="4114800" cy="1901952"/>
          </a:xfrm>
          <a:prstGeom prst="roundRect">
            <a:avLst>
              <a:gd name="adj" fmla="val 5769"/>
            </a:avLst>
          </a:prstGeom>
          <a:solidFill>
            <a:srgbClr val="FFFFFF"/>
          </a:solidFill>
          <a:ln w="19050">
            <a:solidFill>
              <a:srgbClr val="8B6FC0"/>
            </a:solidFill>
            <a:prstDash val="solid"/>
          </a:ln>
        </p:spPr>
      </p:sp>
      <p:sp>
        <p:nvSpPr>
          <p:cNvPr id="14" name="Text 12"/>
          <p:cNvSpPr/>
          <p:nvPr/>
        </p:nvSpPr>
        <p:spPr>
          <a:xfrm>
            <a:off x="4846320" y="1993392"/>
            <a:ext cx="3749040" cy="237744"/>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DEFEND YOUR THINKING</a:t>
            </a:r>
            <a:endParaRPr lang="en-US" sz="900" dirty="0"/>
          </a:p>
        </p:txBody>
      </p:sp>
      <p:sp>
        <p:nvSpPr>
          <p:cNvPr id="15" name="Text 13"/>
          <p:cNvSpPr/>
          <p:nvPr/>
        </p:nvSpPr>
        <p:spPr>
          <a:xfrm>
            <a:off x="4846320" y="2267712"/>
            <a:ext cx="3749040" cy="768096"/>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Why is the digging at the fort site called archaeology and NOT just 'history'? Use the root arch- to defend your answer.</a:t>
            </a:r>
            <a:endParaRPr lang="en-US" sz="1200" dirty="0"/>
          </a:p>
        </p:txBody>
      </p:sp>
      <p:sp>
        <p:nvSpPr>
          <p:cNvPr id="16" name="Text 14"/>
          <p:cNvSpPr/>
          <p:nvPr/>
        </p:nvSpPr>
        <p:spPr>
          <a:xfrm>
            <a:off x="4846320" y="3072384"/>
            <a:ext cx="3749040" cy="731520"/>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Could an archive and an archaeology site both contain primary sources? Explain with evidence from the scenario.</a:t>
            </a:r>
            <a:endParaRPr lang="en-US" sz="1200" dirty="0"/>
          </a:p>
        </p:txBody>
      </p:sp>
      <p:sp>
        <p:nvSpPr>
          <p:cNvPr id="17" name="Shape 15"/>
          <p:cNvSpPr/>
          <p:nvPr/>
        </p:nvSpPr>
        <p:spPr>
          <a:xfrm>
            <a:off x="365760" y="3931920"/>
            <a:ext cx="8412480" cy="969264"/>
          </a:xfrm>
          <a:prstGeom prst="roundRect">
            <a:avLst>
              <a:gd name="adj" fmla="val 11321"/>
            </a:avLst>
          </a:prstGeom>
          <a:solidFill>
            <a:srgbClr val="FFF3DC"/>
          </a:solidFill>
          <a:ln w="19050">
            <a:solidFill>
              <a:srgbClr val="F5E6C8"/>
            </a:solidFill>
            <a:prstDash val="solid"/>
          </a:ln>
        </p:spPr>
      </p:sp>
      <p:sp>
        <p:nvSpPr>
          <p:cNvPr id="18" name="Text 16"/>
          <p:cNvSpPr/>
          <p:nvPr/>
        </p:nvSpPr>
        <p:spPr>
          <a:xfrm>
            <a:off x="502920" y="39867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02920" y="4187952"/>
            <a:ext cx="8138160" cy="649224"/>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letters and maps are primary sources because they were created at the time of the event. The textbook is a secondary source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root arch- means 'old/original,' so archaeology means the study of original/old physical remains - not just reading records."</a:t>
            </a:r>
            <a:endParaRPr lang="en-US" sz="1200" dirty="0"/>
          </a:p>
        </p:txBody>
      </p:sp>
      <p:sp>
        <p:nvSpPr>
          <p:cNvPr id="20" name="Shape 18"/>
          <p:cNvSpPr/>
          <p:nvPr/>
        </p:nvSpPr>
        <p:spPr>
          <a:xfrm>
            <a:off x="0" y="5070348"/>
            <a:ext cx="9144000" cy="73152"/>
          </a:xfrm>
          <a:prstGeom prst="rect">
            <a:avLst/>
          </a:prstGeom>
          <a:solidFill>
            <a:srgbClr val="34B76F"/>
          </a:solidFill>
          <a:ln w="12700">
            <a:solidFill>
              <a:srgbClr val="34B76F"/>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636B"/>
          </a:solidFill>
          <a:ln w="12700">
            <a:solidFill>
              <a:srgbClr val="E8636B"/>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3</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Critique: Spot the Historian Errors</a:t>
            </a:r>
            <a:endParaRPr lang="en-US" sz="2400" dirty="0"/>
          </a:p>
        </p:txBody>
      </p:sp>
      <p:sp>
        <p:nvSpPr>
          <p:cNvPr id="5" name="Shape 3"/>
          <p:cNvSpPr/>
          <p:nvPr/>
        </p:nvSpPr>
        <p:spPr>
          <a:xfrm>
            <a:off x="457200" y="841248"/>
            <a:ext cx="3657600" cy="36576"/>
          </a:xfrm>
          <a:prstGeom prst="rect">
            <a:avLst/>
          </a:prstGeom>
          <a:solidFill>
            <a:srgbClr val="E8636B"/>
          </a:solidFill>
          <a:ln w="12700">
            <a:solidFill>
              <a:srgbClr val="E8636B"/>
            </a:solidFill>
            <a:prstDash val="solid"/>
          </a:ln>
        </p:spPr>
      </p:sp>
      <p:sp>
        <p:nvSpPr>
          <p:cNvPr id="6" name="Shape 4"/>
          <p:cNvSpPr/>
          <p:nvPr/>
        </p:nvSpPr>
        <p:spPr>
          <a:xfrm>
            <a:off x="365760" y="969264"/>
            <a:ext cx="8412480" cy="457200"/>
          </a:xfrm>
          <a:prstGeom prst="roundRect">
            <a:avLst>
              <a:gd name="adj" fmla="val 24000"/>
            </a:avLst>
          </a:prstGeom>
          <a:solidFill>
            <a:srgbClr val="F5F0FF"/>
          </a:solidFill>
          <a:ln w="19050">
            <a:solidFill>
              <a:srgbClr val="8B6FC0"/>
            </a:solidFill>
            <a:prstDash val="solid"/>
          </a:ln>
        </p:spPr>
      </p:sp>
      <p:sp>
        <p:nvSpPr>
          <p:cNvPr id="7" name="Text 5"/>
          <p:cNvSpPr/>
          <p:nvPr/>
        </p:nvSpPr>
        <p:spPr>
          <a:xfrm>
            <a:off x="548640" y="1024128"/>
            <a:ext cx="8046720" cy="329184"/>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These student sentences use vocabulary words - but incorrectly. Find the error and rewrite it with precise historian language. Then explain WHY it matters.</a:t>
            </a:r>
            <a:endParaRPr lang="en-US" sz="1200" dirty="0"/>
          </a:p>
        </p:txBody>
      </p:sp>
      <p:sp>
        <p:nvSpPr>
          <p:cNvPr id="8" name="Shape 6"/>
          <p:cNvSpPr/>
          <p:nvPr/>
        </p:nvSpPr>
        <p:spPr>
          <a:xfrm>
            <a:off x="365760" y="1517904"/>
            <a:ext cx="8412480" cy="987552"/>
          </a:xfrm>
          <a:prstGeom prst="roundRect">
            <a:avLst>
              <a:gd name="adj" fmla="val 11111"/>
            </a:avLst>
          </a:prstGeom>
          <a:solidFill>
            <a:srgbClr val="FFFFFF"/>
          </a:solidFill>
          <a:ln w="19050">
            <a:solidFill>
              <a:srgbClr val="E8636B"/>
            </a:solidFill>
            <a:prstDash val="solid"/>
          </a:ln>
        </p:spPr>
      </p:sp>
      <p:sp>
        <p:nvSpPr>
          <p:cNvPr id="9" name="Text 7"/>
          <p:cNvSpPr/>
          <p:nvPr/>
        </p:nvSpPr>
        <p:spPr>
          <a:xfrm>
            <a:off x="548640" y="1572768"/>
            <a:ext cx="1097280" cy="219456"/>
          </a:xfrm>
          <a:prstGeom prst="rect">
            <a:avLst/>
          </a:prstGeom>
          <a:noFill/>
          <a:ln/>
        </p:spPr>
        <p:txBody>
          <a:bodyPr wrap="square"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ERROR 1</a:t>
            </a:r>
            <a:endParaRPr lang="en-US" sz="900" dirty="0"/>
          </a:p>
        </p:txBody>
      </p:sp>
      <p:sp>
        <p:nvSpPr>
          <p:cNvPr id="10" name="Text 8"/>
          <p:cNvSpPr/>
          <p:nvPr/>
        </p:nvSpPr>
        <p:spPr>
          <a:xfrm>
            <a:off x="548640" y="1792224"/>
            <a:ext cx="5303520" cy="310896"/>
          </a:xfrm>
          <a:prstGeom prst="rect">
            <a:avLst/>
          </a:prstGeom>
          <a:noFill/>
          <a:ln/>
        </p:spPr>
        <p:txBody>
          <a:bodyPr wrap="square"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"Our class watched a documentary about the Seminole Wars. That documentary is a primary source."</a:t>
            </a:r>
            <a:endParaRPr lang="en-US" sz="1150" dirty="0"/>
          </a:p>
        </p:txBody>
      </p:sp>
      <p:sp>
        <p:nvSpPr>
          <p:cNvPr id="11" name="Shape 9"/>
          <p:cNvSpPr/>
          <p:nvPr/>
        </p:nvSpPr>
        <p:spPr>
          <a:xfrm>
            <a:off x="6035040" y="1591056"/>
            <a:ext cx="2560320" cy="804672"/>
          </a:xfrm>
          <a:prstGeom prst="roundRect">
            <a:avLst>
              <a:gd name="adj" fmla="val 11364"/>
            </a:avLst>
          </a:prstGeom>
          <a:solidFill>
            <a:srgbClr val="FFF3DC"/>
          </a:solidFill>
          <a:ln w="12700">
            <a:solidFill>
              <a:srgbClr val="D4943A"/>
            </a:solidFill>
            <a:prstDash val="solid"/>
          </a:ln>
        </p:spPr>
      </p:sp>
      <p:sp>
        <p:nvSpPr>
          <p:cNvPr id="12" name="Text 10"/>
          <p:cNvSpPr/>
          <p:nvPr/>
        </p:nvSpPr>
        <p:spPr>
          <a:xfrm>
            <a:off x="6144768" y="1609344"/>
            <a:ext cx="2340864" cy="182880"/>
          </a:xfrm>
          <a:prstGeom prst="rect">
            <a:avLst/>
          </a:prstGeom>
          <a:noFill/>
          <a:ln/>
        </p:spPr>
        <p:txBody>
          <a:bodyPr wrap="square" rtlCol="0" anchor="ctr"/>
          <a:lstStyle/>
          <a:p>
            <a:pPr indent="0" marL="0">
              <a:buNone/>
            </a:pPr>
            <a:r>
              <a:rPr lang="en-US" sz="800" b="1" spc="100" kern="0" dirty="0">
                <a:solidFill>
                  <a:srgbClr val="D4943A"/>
                </a:solidFill>
                <a:latin typeface="Calibri" pitchFamily="34" charset="0"/>
                <a:ea typeface="Calibri" pitchFamily="34" charset="-122"/>
                <a:cs typeface="Calibri" pitchFamily="34" charset="-120"/>
              </a:rPr>
              <a:t>HINT</a:t>
            </a:r>
            <a:endParaRPr lang="en-US" sz="800" dirty="0"/>
          </a:p>
        </p:txBody>
      </p:sp>
      <p:sp>
        <p:nvSpPr>
          <p:cNvPr id="13" name="Text 11"/>
          <p:cNvSpPr/>
          <p:nvPr/>
        </p:nvSpPr>
        <p:spPr>
          <a:xfrm>
            <a:off x="6144768" y="1792224"/>
            <a:ext cx="2340864" cy="548640"/>
          </a:xfrm>
          <a:prstGeom prst="rect">
            <a:avLst/>
          </a:prstGeom>
          <a:noFill/>
          <a:ln/>
        </p:spPr>
        <p:txBody>
          <a:bodyPr wrap="square" rtlCol="0" anchor="t"/>
          <a:lstStyle/>
          <a:p>
            <a:pPr indent="0" marL="0">
              <a:buNone/>
            </a:pPr>
            <a:r>
              <a:rPr lang="en-US" sz="950" i="1" dirty="0">
                <a:solidFill>
                  <a:srgbClr val="5A4A3A"/>
                </a:solidFill>
                <a:latin typeface="Calibri" pitchFamily="34" charset="0"/>
                <a:ea typeface="Calibri" pitchFamily="34" charset="-122"/>
                <a:cs typeface="Calibri" pitchFamily="34" charset="-120"/>
              </a:rPr>
              <a:t>Think about when a documentary is created. Who made it? Were they there?</a:t>
            </a:r>
            <a:endParaRPr lang="en-US" sz="950" dirty="0"/>
          </a:p>
        </p:txBody>
      </p:sp>
      <p:sp>
        <p:nvSpPr>
          <p:cNvPr id="14" name="Text 12"/>
          <p:cNvSpPr/>
          <p:nvPr/>
        </p:nvSpPr>
        <p:spPr>
          <a:xfrm>
            <a:off x="548640" y="2157984"/>
            <a:ext cx="5303520" cy="274320"/>
          </a:xfrm>
          <a:prstGeom prst="rect">
            <a:avLst/>
          </a:prstGeom>
          <a:noFill/>
          <a:ln/>
        </p:spPr>
        <p:txBody>
          <a:bodyPr wrap="square" rtlCol="0" anchor="ctr"/>
          <a:lstStyle/>
          <a:p>
            <a:pPr indent="0" marL="0">
              <a:buNone/>
            </a:pPr>
            <a:r>
              <a:rPr lang="en-US" sz="1050" dirty="0">
                <a:solidFill>
                  <a:srgbClr val="34B76F"/>
                </a:solidFill>
                <a:latin typeface="Cambria" pitchFamily="34" charset="0"/>
                <a:ea typeface="Cambria" pitchFamily="34" charset="-122"/>
                <a:cs typeface="Cambria" pitchFamily="34" charset="-120"/>
              </a:rPr>
              <a:t>Fix: A documentary created after the events by people who were not there is a SECONDARY source, not a primary source.</a:t>
            </a:r>
            <a:endParaRPr lang="en-US" sz="1050" dirty="0"/>
          </a:p>
        </p:txBody>
      </p:sp>
      <p:sp>
        <p:nvSpPr>
          <p:cNvPr id="15" name="Shape 13"/>
          <p:cNvSpPr/>
          <p:nvPr/>
        </p:nvSpPr>
        <p:spPr>
          <a:xfrm>
            <a:off x="365760" y="2596896"/>
            <a:ext cx="8412480" cy="987552"/>
          </a:xfrm>
          <a:prstGeom prst="roundRect">
            <a:avLst>
              <a:gd name="adj" fmla="val 11111"/>
            </a:avLst>
          </a:prstGeom>
          <a:solidFill>
            <a:srgbClr val="FFFFFF"/>
          </a:solidFill>
          <a:ln w="19050">
            <a:solidFill>
              <a:srgbClr val="E8636B"/>
            </a:solidFill>
            <a:prstDash val="solid"/>
          </a:ln>
        </p:spPr>
      </p:sp>
      <p:sp>
        <p:nvSpPr>
          <p:cNvPr id="16" name="Text 14"/>
          <p:cNvSpPr/>
          <p:nvPr/>
        </p:nvSpPr>
        <p:spPr>
          <a:xfrm>
            <a:off x="548640" y="2651760"/>
            <a:ext cx="1097280" cy="219456"/>
          </a:xfrm>
          <a:prstGeom prst="rect">
            <a:avLst/>
          </a:prstGeom>
          <a:noFill/>
          <a:ln/>
        </p:spPr>
        <p:txBody>
          <a:bodyPr wrap="square"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ERROR 2</a:t>
            </a:r>
            <a:endParaRPr lang="en-US" sz="900" dirty="0"/>
          </a:p>
        </p:txBody>
      </p:sp>
      <p:sp>
        <p:nvSpPr>
          <p:cNvPr id="17" name="Text 15"/>
          <p:cNvSpPr/>
          <p:nvPr/>
        </p:nvSpPr>
        <p:spPr>
          <a:xfrm>
            <a:off x="548640" y="2871216"/>
            <a:ext cx="5303520" cy="310896"/>
          </a:xfrm>
          <a:prstGeom prst="rect">
            <a:avLst/>
          </a:prstGeom>
          <a:noFill/>
          <a:ln/>
        </p:spPr>
        <p:txBody>
          <a:bodyPr wrap="square"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"The historian organized her notes in alphabetical order to make a chronology."</a:t>
            </a:r>
            <a:endParaRPr lang="en-US" sz="1150" dirty="0"/>
          </a:p>
        </p:txBody>
      </p:sp>
      <p:sp>
        <p:nvSpPr>
          <p:cNvPr id="18" name="Shape 16"/>
          <p:cNvSpPr/>
          <p:nvPr/>
        </p:nvSpPr>
        <p:spPr>
          <a:xfrm>
            <a:off x="6035040" y="2670048"/>
            <a:ext cx="2560320" cy="804672"/>
          </a:xfrm>
          <a:prstGeom prst="roundRect">
            <a:avLst>
              <a:gd name="adj" fmla="val 11364"/>
            </a:avLst>
          </a:prstGeom>
          <a:solidFill>
            <a:srgbClr val="FFF3DC"/>
          </a:solidFill>
          <a:ln w="12700">
            <a:solidFill>
              <a:srgbClr val="D4943A"/>
            </a:solidFill>
            <a:prstDash val="solid"/>
          </a:ln>
        </p:spPr>
      </p:sp>
      <p:sp>
        <p:nvSpPr>
          <p:cNvPr id="19" name="Text 17"/>
          <p:cNvSpPr/>
          <p:nvPr/>
        </p:nvSpPr>
        <p:spPr>
          <a:xfrm>
            <a:off x="6144768" y="2688336"/>
            <a:ext cx="2340864" cy="182880"/>
          </a:xfrm>
          <a:prstGeom prst="rect">
            <a:avLst/>
          </a:prstGeom>
          <a:noFill/>
          <a:ln/>
        </p:spPr>
        <p:txBody>
          <a:bodyPr wrap="square" rtlCol="0" anchor="ctr"/>
          <a:lstStyle/>
          <a:p>
            <a:pPr indent="0" marL="0">
              <a:buNone/>
            </a:pPr>
            <a:r>
              <a:rPr lang="en-US" sz="800" b="1" spc="100" kern="0" dirty="0">
                <a:solidFill>
                  <a:srgbClr val="D4943A"/>
                </a:solidFill>
                <a:latin typeface="Calibri" pitchFamily="34" charset="0"/>
                <a:ea typeface="Calibri" pitchFamily="34" charset="-122"/>
                <a:cs typeface="Calibri" pitchFamily="34" charset="-120"/>
              </a:rPr>
              <a:t>HINT</a:t>
            </a:r>
            <a:endParaRPr lang="en-US" sz="800" dirty="0"/>
          </a:p>
        </p:txBody>
      </p:sp>
      <p:sp>
        <p:nvSpPr>
          <p:cNvPr id="20" name="Text 18"/>
          <p:cNvSpPr/>
          <p:nvPr/>
        </p:nvSpPr>
        <p:spPr>
          <a:xfrm>
            <a:off x="6144768" y="2871216"/>
            <a:ext cx="2340864" cy="548640"/>
          </a:xfrm>
          <a:prstGeom prst="rect">
            <a:avLst/>
          </a:prstGeom>
          <a:noFill/>
          <a:ln/>
        </p:spPr>
        <p:txBody>
          <a:bodyPr wrap="square" rtlCol="0" anchor="t"/>
          <a:lstStyle/>
          <a:p>
            <a:pPr indent="0" marL="0">
              <a:buNone/>
            </a:pPr>
            <a:r>
              <a:rPr lang="en-US" sz="950" i="1" dirty="0">
                <a:solidFill>
                  <a:srgbClr val="5A4A3A"/>
                </a:solidFill>
                <a:latin typeface="Calibri" pitchFamily="34" charset="0"/>
                <a:ea typeface="Calibri" pitchFamily="34" charset="-122"/>
                <a:cs typeface="Calibri" pitchFamily="34" charset="-120"/>
              </a:rPr>
              <a:t>What does chron- mean? Is alphabetical order the same as time order?</a:t>
            </a:r>
            <a:endParaRPr lang="en-US" sz="950" dirty="0"/>
          </a:p>
        </p:txBody>
      </p:sp>
      <p:sp>
        <p:nvSpPr>
          <p:cNvPr id="21" name="Text 19"/>
          <p:cNvSpPr/>
          <p:nvPr/>
        </p:nvSpPr>
        <p:spPr>
          <a:xfrm>
            <a:off x="548640" y="3236976"/>
            <a:ext cx="5303520" cy="274320"/>
          </a:xfrm>
          <a:prstGeom prst="rect">
            <a:avLst/>
          </a:prstGeom>
          <a:noFill/>
          <a:ln/>
        </p:spPr>
        <p:txBody>
          <a:bodyPr wrap="square" rtlCol="0" anchor="ctr"/>
          <a:lstStyle/>
          <a:p>
            <a:pPr indent="0" marL="0">
              <a:buNone/>
            </a:pPr>
            <a:r>
              <a:rPr lang="en-US" sz="1050" dirty="0">
                <a:solidFill>
                  <a:srgbClr val="34B76F"/>
                </a:solidFill>
                <a:latin typeface="Cambria" pitchFamily="34" charset="0"/>
                <a:ea typeface="Cambria" pitchFamily="34" charset="-122"/>
                <a:cs typeface="Cambria" pitchFamily="34" charset="-120"/>
              </a:rPr>
              <a:t>Fix: Chronology means arranging events in TIME order (chron- = time), not alphabetical order.</a:t>
            </a:r>
            <a:endParaRPr lang="en-US" sz="1050" dirty="0"/>
          </a:p>
        </p:txBody>
      </p:sp>
      <p:sp>
        <p:nvSpPr>
          <p:cNvPr id="22" name="Shape 20"/>
          <p:cNvSpPr/>
          <p:nvPr/>
        </p:nvSpPr>
        <p:spPr>
          <a:xfrm>
            <a:off x="365760" y="3675888"/>
            <a:ext cx="8412480" cy="987552"/>
          </a:xfrm>
          <a:prstGeom prst="roundRect">
            <a:avLst>
              <a:gd name="adj" fmla="val 11111"/>
            </a:avLst>
          </a:prstGeom>
          <a:solidFill>
            <a:srgbClr val="FFFFFF"/>
          </a:solidFill>
          <a:ln w="19050">
            <a:solidFill>
              <a:srgbClr val="E8636B"/>
            </a:solidFill>
            <a:prstDash val="solid"/>
          </a:ln>
        </p:spPr>
      </p:sp>
      <p:sp>
        <p:nvSpPr>
          <p:cNvPr id="23" name="Text 21"/>
          <p:cNvSpPr/>
          <p:nvPr/>
        </p:nvSpPr>
        <p:spPr>
          <a:xfrm>
            <a:off x="548640" y="3730752"/>
            <a:ext cx="1097280" cy="219456"/>
          </a:xfrm>
          <a:prstGeom prst="rect">
            <a:avLst/>
          </a:prstGeom>
          <a:noFill/>
          <a:ln/>
        </p:spPr>
        <p:txBody>
          <a:bodyPr wrap="square"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ERROR 3</a:t>
            </a:r>
            <a:endParaRPr lang="en-US" sz="900" dirty="0"/>
          </a:p>
        </p:txBody>
      </p:sp>
      <p:sp>
        <p:nvSpPr>
          <p:cNvPr id="24" name="Text 22"/>
          <p:cNvSpPr/>
          <p:nvPr/>
        </p:nvSpPr>
        <p:spPr>
          <a:xfrm>
            <a:off x="548640" y="3950208"/>
            <a:ext cx="5303520" cy="310896"/>
          </a:xfrm>
          <a:prstGeom prst="rect">
            <a:avLst/>
          </a:prstGeom>
          <a:noFill/>
          <a:ln/>
        </p:spPr>
        <p:txBody>
          <a:bodyPr wrap="square"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"The archaeologist read newspaper archives from 1865 to study ancient life."</a:t>
            </a:r>
            <a:endParaRPr lang="en-US" sz="1150" dirty="0"/>
          </a:p>
        </p:txBody>
      </p:sp>
      <p:sp>
        <p:nvSpPr>
          <p:cNvPr id="25" name="Shape 23"/>
          <p:cNvSpPr/>
          <p:nvPr/>
        </p:nvSpPr>
        <p:spPr>
          <a:xfrm>
            <a:off x="6035040" y="3749040"/>
            <a:ext cx="2560320" cy="804672"/>
          </a:xfrm>
          <a:prstGeom prst="roundRect">
            <a:avLst>
              <a:gd name="adj" fmla="val 11364"/>
            </a:avLst>
          </a:prstGeom>
          <a:solidFill>
            <a:srgbClr val="FFF3DC"/>
          </a:solidFill>
          <a:ln w="12700">
            <a:solidFill>
              <a:srgbClr val="D4943A"/>
            </a:solidFill>
            <a:prstDash val="solid"/>
          </a:ln>
        </p:spPr>
      </p:sp>
      <p:sp>
        <p:nvSpPr>
          <p:cNvPr id="26" name="Text 24"/>
          <p:cNvSpPr/>
          <p:nvPr/>
        </p:nvSpPr>
        <p:spPr>
          <a:xfrm>
            <a:off x="6144768" y="3767328"/>
            <a:ext cx="2340864" cy="182880"/>
          </a:xfrm>
          <a:prstGeom prst="rect">
            <a:avLst/>
          </a:prstGeom>
          <a:noFill/>
          <a:ln/>
        </p:spPr>
        <p:txBody>
          <a:bodyPr wrap="square" rtlCol="0" anchor="ctr"/>
          <a:lstStyle/>
          <a:p>
            <a:pPr indent="0" marL="0">
              <a:buNone/>
            </a:pPr>
            <a:r>
              <a:rPr lang="en-US" sz="800" b="1" spc="100" kern="0" dirty="0">
                <a:solidFill>
                  <a:srgbClr val="D4943A"/>
                </a:solidFill>
                <a:latin typeface="Calibri" pitchFamily="34" charset="0"/>
                <a:ea typeface="Calibri" pitchFamily="34" charset="-122"/>
                <a:cs typeface="Calibri" pitchFamily="34" charset="-120"/>
              </a:rPr>
              <a:t>HINT</a:t>
            </a:r>
            <a:endParaRPr lang="en-US" sz="800" dirty="0"/>
          </a:p>
        </p:txBody>
      </p:sp>
      <p:sp>
        <p:nvSpPr>
          <p:cNvPr id="27" name="Text 25"/>
          <p:cNvSpPr/>
          <p:nvPr/>
        </p:nvSpPr>
        <p:spPr>
          <a:xfrm>
            <a:off x="6144768" y="3950208"/>
            <a:ext cx="2340864" cy="548640"/>
          </a:xfrm>
          <a:prstGeom prst="rect">
            <a:avLst/>
          </a:prstGeom>
          <a:noFill/>
          <a:ln/>
        </p:spPr>
        <p:txBody>
          <a:bodyPr wrap="square" rtlCol="0" anchor="t"/>
          <a:lstStyle/>
          <a:p>
            <a:pPr indent="0" marL="0">
              <a:buNone/>
            </a:pPr>
            <a:r>
              <a:rPr lang="en-US" sz="950" i="1" dirty="0">
                <a:solidFill>
                  <a:srgbClr val="5A4A3A"/>
                </a:solidFill>
                <a:latin typeface="Calibri" pitchFamily="34" charset="0"/>
                <a:ea typeface="Calibri" pitchFamily="34" charset="-122"/>
                <a:cs typeface="Calibri" pitchFamily="34" charset="-120"/>
              </a:rPr>
              <a:t>Is 1865 'ancient'? And do archaeologists study by reading newspapers - or by digging?</a:t>
            </a:r>
            <a:endParaRPr lang="en-US" sz="950" dirty="0"/>
          </a:p>
        </p:txBody>
      </p:sp>
      <p:sp>
        <p:nvSpPr>
          <p:cNvPr id="28" name="Text 26"/>
          <p:cNvSpPr/>
          <p:nvPr/>
        </p:nvSpPr>
        <p:spPr>
          <a:xfrm>
            <a:off x="548640" y="4315968"/>
            <a:ext cx="5303520" cy="274320"/>
          </a:xfrm>
          <a:prstGeom prst="rect">
            <a:avLst/>
          </a:prstGeom>
          <a:noFill/>
          <a:ln/>
        </p:spPr>
        <p:txBody>
          <a:bodyPr wrap="square" rtlCol="0" anchor="ctr"/>
          <a:lstStyle/>
          <a:p>
            <a:pPr indent="0" marL="0">
              <a:buNone/>
            </a:pPr>
            <a:r>
              <a:rPr lang="en-US" sz="1050" dirty="0">
                <a:solidFill>
                  <a:srgbClr val="34B76F"/>
                </a:solidFill>
                <a:latin typeface="Cambria" pitchFamily="34" charset="0"/>
                <a:ea typeface="Cambria" pitchFamily="34" charset="-122"/>
                <a:cs typeface="Cambria" pitchFamily="34" charset="-120"/>
              </a:rPr>
              <a:t>Fix: Archaeology is the study of ancient life through physical remains dug from the earth, not through reading newspaper archives.</a:t>
            </a:r>
            <a:endParaRPr lang="en-US" sz="1050" dirty="0"/>
          </a:p>
        </p:txBody>
      </p:sp>
      <p:sp>
        <p:nvSpPr>
          <p:cNvPr id="29" name="Shape 27"/>
          <p:cNvSpPr/>
          <p:nvPr/>
        </p:nvSpPr>
        <p:spPr>
          <a:xfrm>
            <a:off x="0" y="5070348"/>
            <a:ext cx="9144000" cy="73152"/>
          </a:xfrm>
          <a:prstGeom prst="rect">
            <a:avLst/>
          </a:prstGeom>
          <a:solidFill>
            <a:srgbClr val="E8636B"/>
          </a:solidFill>
          <a:ln w="12700">
            <a:solidFill>
              <a:srgbClr val="E8636B"/>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943A"/>
          </a:solidFill>
          <a:ln w="12700">
            <a:solidFill>
              <a:srgbClr val="D4943A"/>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GUIDED PRACTICE - TRICKY ONE</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Hard Question: Can One Thing Be Both?</a:t>
            </a:r>
            <a:endParaRPr lang="en-US" sz="2400" dirty="0"/>
          </a:p>
        </p:txBody>
      </p:sp>
      <p:sp>
        <p:nvSpPr>
          <p:cNvPr id="5" name="Shape 3"/>
          <p:cNvSpPr/>
          <p:nvPr/>
        </p:nvSpPr>
        <p:spPr>
          <a:xfrm>
            <a:off x="457200" y="841248"/>
            <a:ext cx="4114800" cy="36576"/>
          </a:xfrm>
          <a:prstGeom prst="rect">
            <a:avLst/>
          </a:prstGeom>
          <a:solidFill>
            <a:srgbClr val="D4943A"/>
          </a:solidFill>
          <a:ln w="12700">
            <a:solidFill>
              <a:srgbClr val="D4943A"/>
            </a:solidFill>
            <a:prstDash val="solid"/>
          </a:ln>
        </p:spPr>
      </p:sp>
      <p:sp>
        <p:nvSpPr>
          <p:cNvPr id="6" name="Shape 4"/>
          <p:cNvSpPr/>
          <p:nvPr/>
        </p:nvSpPr>
        <p:spPr>
          <a:xfrm>
            <a:off x="365760" y="969264"/>
            <a:ext cx="8412480" cy="950976"/>
          </a:xfrm>
          <a:prstGeom prst="roundRect">
            <a:avLst>
              <a:gd name="adj" fmla="val 11538"/>
            </a:avLst>
          </a:prstGeom>
          <a:solidFill>
            <a:srgbClr val="1A2D5A"/>
          </a:solidFill>
          <a:ln w="19050">
            <a:solidFill>
              <a:srgbClr val="D4943A"/>
            </a:solidFill>
            <a:prstDash val="solid"/>
          </a:ln>
        </p:spPr>
      </p:sp>
      <p:sp>
        <p:nvSpPr>
          <p:cNvPr id="7" name="Text 5"/>
          <p:cNvSpPr/>
          <p:nvPr/>
        </p:nvSpPr>
        <p:spPr>
          <a:xfrm>
            <a:off x="548640" y="1024128"/>
            <a:ext cx="804672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TRICKY SCENARIO</a:t>
            </a:r>
            <a:endParaRPr lang="en-US" sz="900" dirty="0"/>
          </a:p>
        </p:txBody>
      </p:sp>
      <p:sp>
        <p:nvSpPr>
          <p:cNvPr id="8" name="Text 6"/>
          <p:cNvSpPr/>
          <p:nvPr/>
        </p:nvSpPr>
        <p:spPr>
          <a:xfrm>
            <a:off x="548640" y="1243584"/>
            <a:ext cx="8046720" cy="603504"/>
          </a:xfrm>
          <a:prstGeom prst="rect">
            <a:avLst/>
          </a:prstGeom>
          <a:noFill/>
          <a:ln/>
        </p:spPr>
        <p:txBody>
          <a:bodyPr wrap="square" rtlCol="0" anchor="ctr"/>
          <a:lstStyle/>
          <a:p>
            <a:pPr indent="0" marL="0">
              <a:buNone/>
            </a:pPr>
            <a:r>
              <a:rPr lang="en-US" sz="1250" i="1" dirty="0">
                <a:solidFill>
                  <a:srgbClr val="FFFFFF"/>
                </a:solidFill>
                <a:latin typeface="Cambria" pitchFamily="34" charset="0"/>
                <a:ea typeface="Cambria" pitchFamily="34" charset="-122"/>
                <a:cs typeface="Cambria" pitchFamily="34" charset="-120"/>
              </a:rPr>
              <a:t>In 1890, a historian named Henry wrote a book about the Seminole Wars based on his interviews with people who were there. Today, scholars study Henry's 1890 book to understand how people thought about Florida history in the 1800s.</a:t>
            </a:r>
            <a:endParaRPr lang="en-US" sz="1250" dirty="0"/>
          </a:p>
        </p:txBody>
      </p:sp>
      <p:sp>
        <p:nvSpPr>
          <p:cNvPr id="9" name="Shape 7"/>
          <p:cNvSpPr/>
          <p:nvPr/>
        </p:nvSpPr>
        <p:spPr>
          <a:xfrm>
            <a:off x="365760" y="2011680"/>
            <a:ext cx="4023360" cy="2340864"/>
          </a:xfrm>
          <a:prstGeom prst="roundRect">
            <a:avLst>
              <a:gd name="adj" fmla="val 4688"/>
            </a:avLst>
          </a:prstGeom>
          <a:solidFill>
            <a:srgbClr val="FFFFFF"/>
          </a:solidFill>
          <a:ln w="25400">
            <a:solidFill>
              <a:srgbClr val="D4943A"/>
            </a:solidFill>
            <a:prstDash val="solid"/>
          </a:ln>
        </p:spPr>
      </p:sp>
      <p:sp>
        <p:nvSpPr>
          <p:cNvPr id="10" name="Text 8"/>
          <p:cNvSpPr/>
          <p:nvPr/>
        </p:nvSpPr>
        <p:spPr>
          <a:xfrm>
            <a:off x="548640" y="2066544"/>
            <a:ext cx="3657600" cy="237744"/>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CHALLENGE</a:t>
            </a:r>
            <a:endParaRPr lang="en-US" sz="900" dirty="0"/>
          </a:p>
        </p:txBody>
      </p:sp>
      <p:sp>
        <p:nvSpPr>
          <p:cNvPr id="11" name="Text 9"/>
          <p:cNvSpPr/>
          <p:nvPr/>
        </p:nvSpPr>
        <p:spPr>
          <a:xfrm>
            <a:off x="548640" y="2340864"/>
            <a:ext cx="3657600" cy="1920240"/>
          </a:xfrm>
          <a:prstGeom prst="rect">
            <a:avLst/>
          </a:prstGeom>
          <a:noFill/>
          <a:ln/>
        </p:spPr>
        <p:txBody>
          <a:bodyPr wrap="square" rtlCol="0" anchor="t"/>
          <a:lstStyle/>
          <a:p>
            <a:pPr indent="0" marL="0">
              <a:buNone/>
            </a:pPr>
            <a:r>
              <a:rPr lang="en-US" sz="1150" dirty="0">
                <a:solidFill>
                  <a:srgbClr val="0E1C42"/>
                </a:solidFill>
                <a:latin typeface="Cambria" pitchFamily="34" charset="0"/>
                <a:ea typeface="Cambria" pitchFamily="34" charset="-122"/>
                <a:cs typeface="Cambria" pitchFamily="34" charset="-120"/>
              </a:rPr>
              <a:t>Is Henry's 1890 book a primary source, a secondary source, or BOTH?</a:t>
            </a:r>
            <a:endParaRPr lang="en-US" sz="1150" dirty="0"/>
          </a:p>
          <a:p>
            <a:pPr indent="0" marL="0">
              <a:buNone/>
            </a:pPr>
            <a:endParaRPr lang="en-US" sz="1150" dirty="0"/>
          </a:p>
          <a:p>
            <a:pPr indent="0" marL="0">
              <a:buNone/>
            </a:pPr>
            <a:r>
              <a:rPr lang="en-US" sz="1150" dirty="0">
                <a:solidFill>
                  <a:srgbClr val="0E1C42"/>
                </a:solidFill>
                <a:latin typeface="Cambria" pitchFamily="34" charset="0"/>
                <a:ea typeface="Cambria" pitchFamily="34" charset="-122"/>
                <a:cs typeface="Cambria" pitchFamily="34" charset="-120"/>
              </a:rPr>
              <a:t>Explain using these ideas:</a:t>
            </a:r>
            <a:endParaRPr lang="en-US" sz="1150" dirty="0"/>
          </a:p>
          <a:p>
            <a:pPr indent="0" marL="0">
              <a:buNone/>
            </a:pPr>
            <a:r>
              <a:rPr lang="en-US" sz="1150" dirty="0">
                <a:solidFill>
                  <a:srgbClr val="0E1C42"/>
                </a:solidFill>
                <a:latin typeface="Cambria" pitchFamily="34" charset="0"/>
                <a:ea typeface="Cambria" pitchFamily="34" charset="-122"/>
                <a:cs typeface="Cambria" pitchFamily="34" charset="-120"/>
              </a:rPr>
              <a:t>- When was it written vs. when were the events?</a:t>
            </a:r>
            <a:endParaRPr lang="en-US" sz="1150" dirty="0"/>
          </a:p>
          <a:p>
            <a:pPr indent="0" marL="0">
              <a:buNone/>
            </a:pPr>
            <a:r>
              <a:rPr lang="en-US" sz="1150" dirty="0">
                <a:solidFill>
                  <a:srgbClr val="0E1C42"/>
                </a:solidFill>
                <a:latin typeface="Cambria" pitchFamily="34" charset="0"/>
                <a:ea typeface="Cambria" pitchFamily="34" charset="-122"/>
                <a:cs typeface="Cambria" pitchFamily="34" charset="-120"/>
              </a:rPr>
              <a:t>- Who is using it and why?</a:t>
            </a:r>
            <a:endParaRPr lang="en-US" sz="1150" dirty="0"/>
          </a:p>
          <a:p>
            <a:pPr indent="0" marL="0">
              <a:buNone/>
            </a:pPr>
            <a:r>
              <a:rPr lang="en-US" sz="1150" dirty="0">
                <a:solidFill>
                  <a:srgbClr val="0E1C42"/>
                </a:solidFill>
                <a:latin typeface="Cambria" pitchFamily="34" charset="0"/>
                <a:ea typeface="Cambria" pitchFamily="34" charset="-122"/>
                <a:cs typeface="Cambria" pitchFamily="34" charset="-120"/>
              </a:rPr>
              <a:t>- What is the 'primary' perspective?</a:t>
            </a:r>
            <a:endParaRPr lang="en-US" sz="1150" dirty="0"/>
          </a:p>
        </p:txBody>
      </p:sp>
      <p:sp>
        <p:nvSpPr>
          <p:cNvPr id="12" name="Shape 10"/>
          <p:cNvSpPr/>
          <p:nvPr/>
        </p:nvSpPr>
        <p:spPr>
          <a:xfrm>
            <a:off x="4663440" y="2011680"/>
            <a:ext cx="4114800" cy="1261872"/>
          </a:xfrm>
          <a:prstGeom prst="roundRect">
            <a:avLst>
              <a:gd name="adj" fmla="val 8696"/>
            </a:avLst>
          </a:prstGeom>
          <a:solidFill>
            <a:srgbClr val="F5F0FF"/>
          </a:solidFill>
          <a:ln w="19050">
            <a:solidFill>
              <a:srgbClr val="8B6FC0"/>
            </a:solidFill>
            <a:prstDash val="solid"/>
          </a:ln>
        </p:spPr>
      </p:sp>
      <p:sp>
        <p:nvSpPr>
          <p:cNvPr id="13" name="Text 11"/>
          <p:cNvSpPr/>
          <p:nvPr/>
        </p:nvSpPr>
        <p:spPr>
          <a:xfrm>
            <a:off x="4846320" y="2066544"/>
            <a:ext cx="3749040" cy="237744"/>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USE THE ROOT</a:t>
            </a:r>
            <a:endParaRPr lang="en-US" sz="900" dirty="0"/>
          </a:p>
        </p:txBody>
      </p:sp>
      <p:sp>
        <p:nvSpPr>
          <p:cNvPr id="14" name="Text 12"/>
          <p:cNvSpPr/>
          <p:nvPr/>
        </p:nvSpPr>
        <p:spPr>
          <a:xfrm>
            <a:off x="4846320" y="2322576"/>
            <a:ext cx="3749040" cy="877824"/>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Prim- means 'first.' A primary source is a FIRST-hand account. Ask: is Henry giving a first-hand account of the Seminole Wars, or of how the 1890s thought about them?</a:t>
            </a:r>
            <a:endParaRPr lang="en-US" sz="1200" dirty="0"/>
          </a:p>
        </p:txBody>
      </p:sp>
      <p:sp>
        <p:nvSpPr>
          <p:cNvPr id="15" name="Shape 13"/>
          <p:cNvSpPr/>
          <p:nvPr/>
        </p:nvSpPr>
        <p:spPr>
          <a:xfrm>
            <a:off x="4663440" y="3364992"/>
            <a:ext cx="4114800" cy="987552"/>
          </a:xfrm>
          <a:prstGeom prst="roundRect">
            <a:avLst>
              <a:gd name="adj" fmla="val 11111"/>
            </a:avLst>
          </a:prstGeom>
          <a:solidFill>
            <a:srgbClr val="FFF3DC"/>
          </a:solidFill>
          <a:ln w="19050">
            <a:solidFill>
              <a:srgbClr val="D4943A"/>
            </a:solidFill>
            <a:prstDash val="solid"/>
          </a:ln>
        </p:spPr>
      </p:sp>
      <p:sp>
        <p:nvSpPr>
          <p:cNvPr id="16" name="Text 14"/>
          <p:cNvSpPr/>
          <p:nvPr/>
        </p:nvSpPr>
        <p:spPr>
          <a:xfrm>
            <a:off x="4846320" y="3419856"/>
            <a:ext cx="374904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SENTENCE FRAME</a:t>
            </a:r>
            <a:endParaRPr lang="en-US" sz="900" dirty="0"/>
          </a:p>
        </p:txBody>
      </p:sp>
      <p:sp>
        <p:nvSpPr>
          <p:cNvPr id="17" name="Text 15"/>
          <p:cNvSpPr/>
          <p:nvPr/>
        </p:nvSpPr>
        <p:spPr>
          <a:xfrm>
            <a:off x="4846320" y="3657600"/>
            <a:ext cx="3749040" cy="603504"/>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"Today I learned that _______ because _______."</a:t>
            </a:r>
            <a:endParaRPr lang="en-US" sz="1200" dirty="0"/>
          </a:p>
        </p:txBody>
      </p:sp>
      <p:sp>
        <p:nvSpPr>
          <p:cNvPr id="18" name="Shape 16"/>
          <p:cNvSpPr/>
          <p:nvPr/>
        </p:nvSpPr>
        <p:spPr>
          <a:xfrm>
            <a:off x="365760" y="4443984"/>
            <a:ext cx="8412480" cy="475488"/>
          </a:xfrm>
          <a:prstGeom prst="roundRect">
            <a:avLst>
              <a:gd name="adj" fmla="val 23077"/>
            </a:avLst>
          </a:prstGeom>
          <a:solidFill>
            <a:srgbClr val="34B76F">
              <a:alpha val="15000"/>
            </a:srgbClr>
          </a:solidFill>
          <a:ln w="12700">
            <a:solidFill>
              <a:srgbClr val="34B76F"/>
            </a:solidFill>
            <a:prstDash val="solid"/>
          </a:ln>
        </p:spPr>
      </p:sp>
      <p:sp>
        <p:nvSpPr>
          <p:cNvPr id="19" name="Text 17"/>
          <p:cNvSpPr/>
          <p:nvPr/>
        </p:nvSpPr>
        <p:spPr>
          <a:xfrm>
            <a:off x="548640" y="4498848"/>
            <a:ext cx="8046720" cy="365760"/>
          </a:xfrm>
          <a:prstGeom prst="rect">
            <a:avLst/>
          </a:prstGeom>
          <a:noFill/>
          <a:ln/>
        </p:spPr>
        <p:txBody>
          <a:bodyPr wrap="square"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ANSWER GUIDANCE: Henry's book is a SECONDARY source for the Seminole Wars (he was not there) but a PRIMARY source for understanding 1890s historical thinking. Context determines the label.</a:t>
            </a:r>
            <a:endParaRPr lang="en-US" sz="1050" dirty="0"/>
          </a:p>
        </p:txBody>
      </p:sp>
      <p:sp>
        <p:nvSpPr>
          <p:cNvPr id="20" name="Shape 18"/>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5C8E8"/>
          </a:solidFill>
          <a:ln w="12700">
            <a:solidFill>
              <a:srgbClr val="55C8E8"/>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How Well Do I Know This?</a:t>
            </a:r>
            <a:endParaRPr lang="en-US" sz="2800" dirty="0"/>
          </a:p>
        </p:txBody>
      </p:sp>
      <p:sp>
        <p:nvSpPr>
          <p:cNvPr id="5" name="Shape 3"/>
          <p:cNvSpPr/>
          <p:nvPr/>
        </p:nvSpPr>
        <p:spPr>
          <a:xfrm>
            <a:off x="457200" y="841248"/>
            <a:ext cx="2743200" cy="36576"/>
          </a:xfrm>
          <a:prstGeom prst="rect">
            <a:avLst/>
          </a:prstGeom>
          <a:solidFill>
            <a:srgbClr val="55C8E8"/>
          </a:solidFill>
          <a:ln w="12700">
            <a:solidFill>
              <a:srgbClr val="55C8E8"/>
            </a:solidFill>
            <a:prstDash val="solid"/>
          </a:ln>
        </p:spPr>
      </p:sp>
      <p:sp>
        <p:nvSpPr>
          <p:cNvPr id="6" name="Shape 4"/>
          <p:cNvSpPr/>
          <p:nvPr/>
        </p:nvSpPr>
        <p:spPr>
          <a:xfrm>
            <a:off x="274320" y="987552"/>
            <a:ext cx="4251960" cy="1005840"/>
          </a:xfrm>
          <a:prstGeom prst="roundRect">
            <a:avLst>
              <a:gd name="adj" fmla="val 9091"/>
            </a:avLst>
          </a:prstGeom>
          <a:solidFill>
            <a:srgbClr val="FFFFFF"/>
          </a:solidFill>
          <a:ln w="19050">
            <a:solidFill>
              <a:srgbClr val="55C8E8"/>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384048" y="1298448"/>
            <a:ext cx="310896" cy="310896"/>
          </a:xfrm>
          <a:prstGeom prst="roundRect">
            <a:avLst>
              <a:gd name="adj" fmla="val 17647"/>
            </a:avLst>
          </a:prstGeom>
          <a:solidFill>
            <a:srgbClr val="F0F2F8"/>
          </a:solidFill>
          <a:ln w="19050">
            <a:solidFill>
              <a:srgbClr val="55C8E8"/>
            </a:solidFill>
            <a:prstDash val="solid"/>
          </a:ln>
        </p:spPr>
      </p:sp>
      <p:sp>
        <p:nvSpPr>
          <p:cNvPr id="8" name="Text 6"/>
          <p:cNvSpPr/>
          <p:nvPr/>
        </p:nvSpPr>
        <p:spPr>
          <a:xfrm>
            <a:off x="786384" y="1097280"/>
            <a:ext cx="3566160" cy="658368"/>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I can name all five Florida history vocabulary words without looking.</a:t>
            </a:r>
            <a:endParaRPr lang="en-US" sz="1150" dirty="0"/>
          </a:p>
        </p:txBody>
      </p:sp>
      <p:sp>
        <p:nvSpPr>
          <p:cNvPr id="9" name="Shape 7"/>
          <p:cNvSpPr/>
          <p:nvPr/>
        </p:nvSpPr>
        <p:spPr>
          <a:xfrm>
            <a:off x="3749040" y="1060704"/>
            <a:ext cx="658368" cy="201168"/>
          </a:xfrm>
          <a:prstGeom prst="roundRect">
            <a:avLst>
              <a:gd name="adj" fmla="val 50000"/>
            </a:avLst>
          </a:prstGeom>
          <a:solidFill>
            <a:srgbClr val="F5F0FF"/>
          </a:solidFill>
          <a:ln w="12700">
            <a:solidFill>
              <a:srgbClr val="8B6FC0"/>
            </a:solidFill>
            <a:prstDash val="solid"/>
          </a:ln>
        </p:spPr>
      </p:sp>
      <p:sp>
        <p:nvSpPr>
          <p:cNvPr id="10" name="Text 8"/>
          <p:cNvSpPr/>
          <p:nvPr/>
        </p:nvSpPr>
        <p:spPr>
          <a:xfrm>
            <a:off x="3749040" y="1060704"/>
            <a:ext cx="658368" cy="201168"/>
          </a:xfrm>
          <a:prstGeom prst="rect">
            <a:avLst/>
          </a:prstGeom>
          <a:noFill/>
          <a:ln/>
        </p:spPr>
        <p:txBody>
          <a:bodyPr wrap="square" rtlCol="0" anchor="ctr"/>
          <a:lstStyle/>
          <a:p>
            <a:pPr algn="ctr" indent="0" marL="0">
              <a:buNone/>
            </a:pPr>
            <a:r>
              <a:rPr lang="en-US" sz="750" b="1" dirty="0">
                <a:solidFill>
                  <a:srgbClr val="8B6FC0"/>
                </a:solidFill>
                <a:latin typeface="Calibri" pitchFamily="34" charset="0"/>
                <a:ea typeface="Calibri" pitchFamily="34" charset="-122"/>
                <a:cs typeface="Calibri" pitchFamily="34" charset="-120"/>
              </a:rPr>
              <a:t>Q1 prep</a:t>
            </a:r>
            <a:endParaRPr lang="en-US" sz="750" dirty="0"/>
          </a:p>
        </p:txBody>
      </p:sp>
      <p:sp>
        <p:nvSpPr>
          <p:cNvPr id="11" name="Shape 9"/>
          <p:cNvSpPr/>
          <p:nvPr/>
        </p:nvSpPr>
        <p:spPr>
          <a:xfrm>
            <a:off x="4754880" y="987552"/>
            <a:ext cx="4251960" cy="1005840"/>
          </a:xfrm>
          <a:prstGeom prst="roundRect">
            <a:avLst>
              <a:gd name="adj" fmla="val 9091"/>
            </a:avLst>
          </a:prstGeom>
          <a:solidFill>
            <a:srgbClr val="FFFFFF"/>
          </a:solidFill>
          <a:ln w="19050">
            <a:solidFill>
              <a:srgbClr val="55C8E8"/>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864608" y="1298448"/>
            <a:ext cx="310896" cy="310896"/>
          </a:xfrm>
          <a:prstGeom prst="roundRect">
            <a:avLst>
              <a:gd name="adj" fmla="val 17647"/>
            </a:avLst>
          </a:prstGeom>
          <a:solidFill>
            <a:srgbClr val="F0F2F8"/>
          </a:solidFill>
          <a:ln w="19050">
            <a:solidFill>
              <a:srgbClr val="55C8E8"/>
            </a:solidFill>
            <a:prstDash val="solid"/>
          </a:ln>
        </p:spPr>
      </p:sp>
      <p:sp>
        <p:nvSpPr>
          <p:cNvPr id="13" name="Text 11"/>
          <p:cNvSpPr/>
          <p:nvPr/>
        </p:nvSpPr>
        <p:spPr>
          <a:xfrm>
            <a:off x="5266944" y="1097280"/>
            <a:ext cx="3566160" cy="658368"/>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I can explain what the root arch- means and give an example.</a:t>
            </a:r>
            <a:endParaRPr lang="en-US" sz="1150" dirty="0"/>
          </a:p>
        </p:txBody>
      </p:sp>
      <p:sp>
        <p:nvSpPr>
          <p:cNvPr id="14" name="Shape 12"/>
          <p:cNvSpPr/>
          <p:nvPr/>
        </p:nvSpPr>
        <p:spPr>
          <a:xfrm>
            <a:off x="8229600" y="1060704"/>
            <a:ext cx="658368" cy="201168"/>
          </a:xfrm>
          <a:prstGeom prst="roundRect">
            <a:avLst>
              <a:gd name="adj" fmla="val 50000"/>
            </a:avLst>
          </a:prstGeom>
          <a:solidFill>
            <a:srgbClr val="F5F0FF"/>
          </a:solidFill>
          <a:ln w="12700">
            <a:solidFill>
              <a:srgbClr val="8B6FC0"/>
            </a:solidFill>
            <a:prstDash val="solid"/>
          </a:ln>
        </p:spPr>
      </p:sp>
      <p:sp>
        <p:nvSpPr>
          <p:cNvPr id="15" name="Text 13"/>
          <p:cNvSpPr/>
          <p:nvPr/>
        </p:nvSpPr>
        <p:spPr>
          <a:xfrm>
            <a:off x="8229600" y="1060704"/>
            <a:ext cx="658368" cy="201168"/>
          </a:xfrm>
          <a:prstGeom prst="rect">
            <a:avLst/>
          </a:prstGeom>
          <a:noFill/>
          <a:ln/>
        </p:spPr>
        <p:txBody>
          <a:bodyPr wrap="square" rtlCol="0" anchor="ctr"/>
          <a:lstStyle/>
          <a:p>
            <a:pPr algn="ctr" indent="0" marL="0">
              <a:buNone/>
            </a:pPr>
            <a:r>
              <a:rPr lang="en-US" sz="750" b="1" dirty="0">
                <a:solidFill>
                  <a:srgbClr val="8B6FC0"/>
                </a:solidFill>
                <a:latin typeface="Calibri" pitchFamily="34" charset="0"/>
                <a:ea typeface="Calibri" pitchFamily="34" charset="-122"/>
                <a:cs typeface="Calibri" pitchFamily="34" charset="-120"/>
              </a:rPr>
              <a:t>Q2 prep</a:t>
            </a:r>
            <a:endParaRPr lang="en-US" sz="750" dirty="0"/>
          </a:p>
        </p:txBody>
      </p:sp>
      <p:sp>
        <p:nvSpPr>
          <p:cNvPr id="16" name="Shape 14"/>
          <p:cNvSpPr/>
          <p:nvPr/>
        </p:nvSpPr>
        <p:spPr>
          <a:xfrm>
            <a:off x="274320" y="2103120"/>
            <a:ext cx="4251960" cy="1005840"/>
          </a:xfrm>
          <a:prstGeom prst="roundRect">
            <a:avLst>
              <a:gd name="adj" fmla="val 9091"/>
            </a:avLst>
          </a:prstGeom>
          <a:solidFill>
            <a:srgbClr val="FFFFFF"/>
          </a:solidFill>
          <a:ln w="19050">
            <a:solidFill>
              <a:srgbClr val="55C8E8"/>
            </a:solidFill>
            <a:prstDash val="solid"/>
          </a:ln>
          <a:effectLst>
            <a:outerShdw sx="100000" sy="100000" kx="0" ky="0" algn="bl" rotWithShape="0" blurRad="50800" dist="25400" dir="8100000">
              <a:srgbClr val="000000">
                <a:alpha val="8000"/>
              </a:srgbClr>
            </a:outerShdw>
          </a:effectLst>
        </p:spPr>
      </p:sp>
      <p:sp>
        <p:nvSpPr>
          <p:cNvPr id="17" name="Shape 15"/>
          <p:cNvSpPr/>
          <p:nvPr/>
        </p:nvSpPr>
        <p:spPr>
          <a:xfrm>
            <a:off x="384048" y="2414016"/>
            <a:ext cx="310896" cy="310896"/>
          </a:xfrm>
          <a:prstGeom prst="roundRect">
            <a:avLst>
              <a:gd name="adj" fmla="val 17647"/>
            </a:avLst>
          </a:prstGeom>
          <a:solidFill>
            <a:srgbClr val="F0F2F8"/>
          </a:solidFill>
          <a:ln w="19050">
            <a:solidFill>
              <a:srgbClr val="55C8E8"/>
            </a:solidFill>
            <a:prstDash val="solid"/>
          </a:ln>
        </p:spPr>
      </p:sp>
      <p:sp>
        <p:nvSpPr>
          <p:cNvPr id="18" name="Text 16"/>
          <p:cNvSpPr/>
          <p:nvPr/>
        </p:nvSpPr>
        <p:spPr>
          <a:xfrm>
            <a:off x="786384" y="2212848"/>
            <a:ext cx="3566160" cy="658368"/>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I can explain the difference between a primary source and a secondary source.</a:t>
            </a:r>
            <a:endParaRPr lang="en-US" sz="1150" dirty="0"/>
          </a:p>
        </p:txBody>
      </p:sp>
      <p:sp>
        <p:nvSpPr>
          <p:cNvPr id="19" name="Shape 17"/>
          <p:cNvSpPr/>
          <p:nvPr/>
        </p:nvSpPr>
        <p:spPr>
          <a:xfrm>
            <a:off x="3749040" y="2176272"/>
            <a:ext cx="658368" cy="201168"/>
          </a:xfrm>
          <a:prstGeom prst="roundRect">
            <a:avLst>
              <a:gd name="adj" fmla="val 50000"/>
            </a:avLst>
          </a:prstGeom>
          <a:solidFill>
            <a:srgbClr val="F5F0FF"/>
          </a:solidFill>
          <a:ln w="12700">
            <a:solidFill>
              <a:srgbClr val="8B6FC0"/>
            </a:solidFill>
            <a:prstDash val="solid"/>
          </a:ln>
        </p:spPr>
      </p:sp>
      <p:sp>
        <p:nvSpPr>
          <p:cNvPr id="20" name="Text 18"/>
          <p:cNvSpPr/>
          <p:nvPr/>
        </p:nvSpPr>
        <p:spPr>
          <a:xfrm>
            <a:off x="3749040" y="2176272"/>
            <a:ext cx="658368" cy="201168"/>
          </a:xfrm>
          <a:prstGeom prst="rect">
            <a:avLst/>
          </a:prstGeom>
          <a:noFill/>
          <a:ln/>
        </p:spPr>
        <p:txBody>
          <a:bodyPr wrap="square" rtlCol="0" anchor="ctr"/>
          <a:lstStyle/>
          <a:p>
            <a:pPr algn="ctr" indent="0" marL="0">
              <a:buNone/>
            </a:pPr>
            <a:r>
              <a:rPr lang="en-US" sz="750" b="1" dirty="0">
                <a:solidFill>
                  <a:srgbClr val="8B6FC0"/>
                </a:solidFill>
                <a:latin typeface="Calibri" pitchFamily="34" charset="0"/>
                <a:ea typeface="Calibri" pitchFamily="34" charset="-122"/>
                <a:cs typeface="Calibri" pitchFamily="34" charset="-120"/>
              </a:rPr>
              <a:t>Q1 prep</a:t>
            </a:r>
            <a:endParaRPr lang="en-US" sz="750" dirty="0"/>
          </a:p>
        </p:txBody>
      </p:sp>
      <p:sp>
        <p:nvSpPr>
          <p:cNvPr id="21" name="Shape 19"/>
          <p:cNvSpPr/>
          <p:nvPr/>
        </p:nvSpPr>
        <p:spPr>
          <a:xfrm>
            <a:off x="4754880" y="2103120"/>
            <a:ext cx="4251960" cy="1005840"/>
          </a:xfrm>
          <a:prstGeom prst="roundRect">
            <a:avLst>
              <a:gd name="adj" fmla="val 9091"/>
            </a:avLst>
          </a:prstGeom>
          <a:solidFill>
            <a:srgbClr val="FFFFFF"/>
          </a:solidFill>
          <a:ln w="19050">
            <a:solidFill>
              <a:srgbClr val="55C8E8"/>
            </a:solidFill>
            <a:prstDash val="solid"/>
          </a:ln>
          <a:effectLst>
            <a:outerShdw sx="100000" sy="100000" kx="0" ky="0" algn="bl" rotWithShape="0" blurRad="50800" dist="25400" dir="8100000">
              <a:srgbClr val="000000">
                <a:alpha val="8000"/>
              </a:srgbClr>
            </a:outerShdw>
          </a:effectLst>
        </p:spPr>
      </p:sp>
      <p:sp>
        <p:nvSpPr>
          <p:cNvPr id="22" name="Shape 20"/>
          <p:cNvSpPr/>
          <p:nvPr/>
        </p:nvSpPr>
        <p:spPr>
          <a:xfrm>
            <a:off x="4864608" y="2414016"/>
            <a:ext cx="310896" cy="310896"/>
          </a:xfrm>
          <a:prstGeom prst="roundRect">
            <a:avLst>
              <a:gd name="adj" fmla="val 17647"/>
            </a:avLst>
          </a:prstGeom>
          <a:solidFill>
            <a:srgbClr val="F0F2F8"/>
          </a:solidFill>
          <a:ln w="19050">
            <a:solidFill>
              <a:srgbClr val="55C8E8"/>
            </a:solidFill>
            <a:prstDash val="solid"/>
          </a:ln>
        </p:spPr>
      </p:sp>
      <p:sp>
        <p:nvSpPr>
          <p:cNvPr id="23" name="Text 21"/>
          <p:cNvSpPr/>
          <p:nvPr/>
        </p:nvSpPr>
        <p:spPr>
          <a:xfrm>
            <a:off x="5266944" y="2212848"/>
            <a:ext cx="3566160" cy="658368"/>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I can explain what chronology means using the root chron-.</a:t>
            </a:r>
            <a:endParaRPr lang="en-US" sz="1150" dirty="0"/>
          </a:p>
        </p:txBody>
      </p:sp>
      <p:sp>
        <p:nvSpPr>
          <p:cNvPr id="24" name="Shape 22"/>
          <p:cNvSpPr/>
          <p:nvPr/>
        </p:nvSpPr>
        <p:spPr>
          <a:xfrm>
            <a:off x="8229600" y="2176272"/>
            <a:ext cx="658368" cy="201168"/>
          </a:xfrm>
          <a:prstGeom prst="roundRect">
            <a:avLst>
              <a:gd name="adj" fmla="val 50000"/>
            </a:avLst>
          </a:prstGeom>
          <a:solidFill>
            <a:srgbClr val="F5F0FF"/>
          </a:solidFill>
          <a:ln w="12700">
            <a:solidFill>
              <a:srgbClr val="8B6FC0"/>
            </a:solidFill>
            <a:prstDash val="solid"/>
          </a:ln>
        </p:spPr>
      </p:sp>
      <p:sp>
        <p:nvSpPr>
          <p:cNvPr id="25" name="Text 23"/>
          <p:cNvSpPr/>
          <p:nvPr/>
        </p:nvSpPr>
        <p:spPr>
          <a:xfrm>
            <a:off x="8229600" y="2176272"/>
            <a:ext cx="658368" cy="201168"/>
          </a:xfrm>
          <a:prstGeom prst="rect">
            <a:avLst/>
          </a:prstGeom>
          <a:noFill/>
          <a:ln/>
        </p:spPr>
        <p:txBody>
          <a:bodyPr wrap="square" rtlCol="0" anchor="ctr"/>
          <a:lstStyle/>
          <a:p>
            <a:pPr algn="ctr" indent="0" marL="0">
              <a:buNone/>
            </a:pPr>
            <a:r>
              <a:rPr lang="en-US" sz="750" b="1" dirty="0">
                <a:solidFill>
                  <a:srgbClr val="8B6FC0"/>
                </a:solidFill>
                <a:latin typeface="Calibri" pitchFamily="34" charset="0"/>
                <a:ea typeface="Calibri" pitchFamily="34" charset="-122"/>
                <a:cs typeface="Calibri" pitchFamily="34" charset="-120"/>
              </a:rPr>
              <a:t>Q1 prep</a:t>
            </a:r>
            <a:endParaRPr lang="en-US" sz="750" dirty="0"/>
          </a:p>
        </p:txBody>
      </p:sp>
      <p:sp>
        <p:nvSpPr>
          <p:cNvPr id="26" name="Shape 24"/>
          <p:cNvSpPr/>
          <p:nvPr/>
        </p:nvSpPr>
        <p:spPr>
          <a:xfrm>
            <a:off x="274320" y="3218688"/>
            <a:ext cx="4251960" cy="1005840"/>
          </a:xfrm>
          <a:prstGeom prst="roundRect">
            <a:avLst>
              <a:gd name="adj" fmla="val 9091"/>
            </a:avLst>
          </a:prstGeom>
          <a:solidFill>
            <a:srgbClr val="FFFFFF"/>
          </a:solidFill>
          <a:ln w="19050">
            <a:solidFill>
              <a:srgbClr val="55C8E8"/>
            </a:solidFill>
            <a:prstDash val="solid"/>
          </a:ln>
          <a:effectLst>
            <a:outerShdw sx="100000" sy="100000" kx="0" ky="0" algn="bl" rotWithShape="0" blurRad="50800" dist="25400" dir="8100000">
              <a:srgbClr val="000000">
                <a:alpha val="8000"/>
              </a:srgbClr>
            </a:outerShdw>
          </a:effectLst>
        </p:spPr>
      </p:sp>
      <p:sp>
        <p:nvSpPr>
          <p:cNvPr id="27" name="Shape 25"/>
          <p:cNvSpPr/>
          <p:nvPr/>
        </p:nvSpPr>
        <p:spPr>
          <a:xfrm>
            <a:off x="384048" y="3529584"/>
            <a:ext cx="310896" cy="310896"/>
          </a:xfrm>
          <a:prstGeom prst="roundRect">
            <a:avLst>
              <a:gd name="adj" fmla="val 17647"/>
            </a:avLst>
          </a:prstGeom>
          <a:solidFill>
            <a:srgbClr val="F0F2F8"/>
          </a:solidFill>
          <a:ln w="19050">
            <a:solidFill>
              <a:srgbClr val="55C8E8"/>
            </a:solidFill>
            <a:prstDash val="solid"/>
          </a:ln>
        </p:spPr>
      </p:sp>
      <p:sp>
        <p:nvSpPr>
          <p:cNvPr id="28" name="Text 26"/>
          <p:cNvSpPr/>
          <p:nvPr/>
        </p:nvSpPr>
        <p:spPr>
          <a:xfrm>
            <a:off x="786384" y="3328416"/>
            <a:ext cx="3566160" cy="658368"/>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I can explain why using precise vocabulary takes courage - with an example.</a:t>
            </a:r>
            <a:endParaRPr lang="en-US" sz="1150" dirty="0"/>
          </a:p>
        </p:txBody>
      </p:sp>
      <p:sp>
        <p:nvSpPr>
          <p:cNvPr id="29" name="Shape 27"/>
          <p:cNvSpPr/>
          <p:nvPr/>
        </p:nvSpPr>
        <p:spPr>
          <a:xfrm>
            <a:off x="3749040" y="3291840"/>
            <a:ext cx="658368" cy="201168"/>
          </a:xfrm>
          <a:prstGeom prst="roundRect">
            <a:avLst>
              <a:gd name="adj" fmla="val 50000"/>
            </a:avLst>
          </a:prstGeom>
          <a:solidFill>
            <a:srgbClr val="F5F0FF"/>
          </a:solidFill>
          <a:ln w="12700">
            <a:solidFill>
              <a:srgbClr val="8B6FC0"/>
            </a:solidFill>
            <a:prstDash val="solid"/>
          </a:ln>
        </p:spPr>
      </p:sp>
      <p:sp>
        <p:nvSpPr>
          <p:cNvPr id="30" name="Text 28"/>
          <p:cNvSpPr/>
          <p:nvPr/>
        </p:nvSpPr>
        <p:spPr>
          <a:xfrm>
            <a:off x="3749040" y="3291840"/>
            <a:ext cx="658368" cy="201168"/>
          </a:xfrm>
          <a:prstGeom prst="rect">
            <a:avLst/>
          </a:prstGeom>
          <a:noFill/>
          <a:ln/>
        </p:spPr>
        <p:txBody>
          <a:bodyPr wrap="square" rtlCol="0" anchor="ctr"/>
          <a:lstStyle/>
          <a:p>
            <a:pPr algn="ctr" indent="0" marL="0">
              <a:buNone/>
            </a:pPr>
            <a:r>
              <a:rPr lang="en-US" sz="750" b="1" dirty="0">
                <a:solidFill>
                  <a:srgbClr val="8B6FC0"/>
                </a:solidFill>
                <a:latin typeface="Calibri" pitchFamily="34" charset="0"/>
                <a:ea typeface="Calibri" pitchFamily="34" charset="-122"/>
                <a:cs typeface="Calibri" pitchFamily="34" charset="-120"/>
              </a:rPr>
              <a:t>Q3 prep</a:t>
            </a:r>
            <a:endParaRPr lang="en-US" sz="750" dirty="0"/>
          </a:p>
        </p:txBody>
      </p:sp>
      <p:sp>
        <p:nvSpPr>
          <p:cNvPr id="31" name="Shape 29"/>
          <p:cNvSpPr/>
          <p:nvPr/>
        </p:nvSpPr>
        <p:spPr>
          <a:xfrm>
            <a:off x="4754880" y="3218688"/>
            <a:ext cx="4251960" cy="1005840"/>
          </a:xfrm>
          <a:prstGeom prst="roundRect">
            <a:avLst>
              <a:gd name="adj" fmla="val 9091"/>
            </a:avLst>
          </a:prstGeom>
          <a:solidFill>
            <a:srgbClr val="FFFFFF"/>
          </a:solidFill>
          <a:ln w="19050">
            <a:solidFill>
              <a:srgbClr val="55C8E8"/>
            </a:solidFill>
            <a:prstDash val="solid"/>
          </a:ln>
          <a:effectLst>
            <a:outerShdw sx="100000" sy="100000" kx="0" ky="0" algn="bl" rotWithShape="0" blurRad="50800" dist="25400" dir="8100000">
              <a:srgbClr val="000000">
                <a:alpha val="8000"/>
              </a:srgbClr>
            </a:outerShdw>
          </a:effectLst>
        </p:spPr>
      </p:sp>
      <p:sp>
        <p:nvSpPr>
          <p:cNvPr id="32" name="Shape 30"/>
          <p:cNvSpPr/>
          <p:nvPr/>
        </p:nvSpPr>
        <p:spPr>
          <a:xfrm>
            <a:off x="4864608" y="3529584"/>
            <a:ext cx="310896" cy="310896"/>
          </a:xfrm>
          <a:prstGeom prst="roundRect">
            <a:avLst>
              <a:gd name="adj" fmla="val 17647"/>
            </a:avLst>
          </a:prstGeom>
          <a:solidFill>
            <a:srgbClr val="F0F2F8"/>
          </a:solidFill>
          <a:ln w="19050">
            <a:solidFill>
              <a:srgbClr val="55C8E8"/>
            </a:solidFill>
            <a:prstDash val="solid"/>
          </a:ln>
        </p:spPr>
      </p:sp>
      <p:sp>
        <p:nvSpPr>
          <p:cNvPr id="33" name="Text 31"/>
          <p:cNvSpPr/>
          <p:nvPr/>
        </p:nvSpPr>
        <p:spPr>
          <a:xfrm>
            <a:off x="5266944" y="3328416"/>
            <a:ext cx="3566160" cy="658368"/>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I am ready to write a Historian's Notebook entry using at least 3 vocabulary words.</a:t>
            </a:r>
            <a:endParaRPr lang="en-US" sz="1150" dirty="0"/>
          </a:p>
        </p:txBody>
      </p:sp>
      <p:sp>
        <p:nvSpPr>
          <p:cNvPr id="34" name="Shape 32"/>
          <p:cNvSpPr/>
          <p:nvPr/>
        </p:nvSpPr>
        <p:spPr>
          <a:xfrm>
            <a:off x="8229600" y="3291840"/>
            <a:ext cx="658368" cy="201168"/>
          </a:xfrm>
          <a:prstGeom prst="roundRect">
            <a:avLst>
              <a:gd name="adj" fmla="val 50000"/>
            </a:avLst>
          </a:prstGeom>
          <a:solidFill>
            <a:srgbClr val="F5F0FF"/>
          </a:solidFill>
          <a:ln w="12700">
            <a:solidFill>
              <a:srgbClr val="8B6FC0"/>
            </a:solidFill>
            <a:prstDash val="solid"/>
          </a:ln>
        </p:spPr>
      </p:sp>
      <p:sp>
        <p:nvSpPr>
          <p:cNvPr id="35" name="Text 33"/>
          <p:cNvSpPr/>
          <p:nvPr/>
        </p:nvSpPr>
        <p:spPr>
          <a:xfrm>
            <a:off x="8229600" y="3291840"/>
            <a:ext cx="658368" cy="201168"/>
          </a:xfrm>
          <a:prstGeom prst="rect">
            <a:avLst/>
          </a:prstGeom>
          <a:noFill/>
          <a:ln/>
        </p:spPr>
        <p:txBody>
          <a:bodyPr wrap="square" rtlCol="0" anchor="ctr"/>
          <a:lstStyle/>
          <a:p>
            <a:pPr algn="ctr" indent="0" marL="0">
              <a:buNone/>
            </a:pPr>
            <a:r>
              <a:rPr lang="en-US" sz="750" b="1" dirty="0">
                <a:solidFill>
                  <a:srgbClr val="8B6FC0"/>
                </a:solidFill>
                <a:latin typeface="Calibri" pitchFamily="34" charset="0"/>
                <a:ea typeface="Calibri" pitchFamily="34" charset="-122"/>
                <a:cs typeface="Calibri" pitchFamily="34" charset="-120"/>
              </a:rPr>
              <a:t>Unlock</a:t>
            </a:r>
            <a:endParaRPr lang="en-US" sz="750" dirty="0"/>
          </a:p>
        </p:txBody>
      </p:sp>
      <p:sp>
        <p:nvSpPr>
          <p:cNvPr id="36" name="Shape 34"/>
          <p:cNvSpPr/>
          <p:nvPr/>
        </p:nvSpPr>
        <p:spPr>
          <a:xfrm>
            <a:off x="274320" y="4334256"/>
            <a:ext cx="8595360" cy="585216"/>
          </a:xfrm>
          <a:prstGeom prst="roundRect">
            <a:avLst>
              <a:gd name="adj" fmla="val 18750"/>
            </a:avLst>
          </a:prstGeom>
          <a:solidFill>
            <a:srgbClr val="1A2D5A"/>
          </a:solidFill>
          <a:ln w="19050">
            <a:solidFill>
              <a:srgbClr val="55C8E8"/>
            </a:solidFill>
            <a:prstDash val="solid"/>
          </a:ln>
        </p:spPr>
      </p:sp>
      <p:sp>
        <p:nvSpPr>
          <p:cNvPr id="37" name="Text 35"/>
          <p:cNvSpPr/>
          <p:nvPr/>
        </p:nvSpPr>
        <p:spPr>
          <a:xfrm>
            <a:off x="457200" y="4389120"/>
            <a:ext cx="8229600" cy="457200"/>
          </a:xfrm>
          <a:prstGeom prst="rect">
            <a:avLst/>
          </a:prstGeom>
          <a:noFill/>
          <a:ln/>
        </p:spPr>
        <p:txBody>
          <a:bodyPr wrap="square" rtlCol="0" anchor="ctr"/>
          <a:lstStyle/>
          <a:p>
            <a:pPr indent="0" marL="0">
              <a:buNone/>
            </a:pPr>
            <a:r>
              <a:rPr lang="en-US" sz="1200" i="1" dirty="0">
                <a:solidFill>
                  <a:srgbClr val="FFFFFF"/>
                </a:solidFill>
                <a:latin typeface="Cambria" pitchFamily="34" charset="0"/>
                <a:ea typeface="Cambria" pitchFamily="34" charset="-122"/>
                <a:cs typeface="Cambria" pitchFamily="34" charset="-120"/>
              </a:rPr>
              <a:t>If you can check YES on the first five boxes, you are ready to unlock the file. If any box is a 'not yet,' look back at the vocabulary cards before you start writing.</a:t>
            </a:r>
            <a:endParaRPr lang="en-US" sz="1200" dirty="0"/>
          </a:p>
        </p:txBody>
      </p:sp>
      <p:sp>
        <p:nvSpPr>
          <p:cNvPr id="38" name="Shape 36"/>
          <p:cNvSpPr/>
          <p:nvPr/>
        </p:nvSpPr>
        <p:spPr>
          <a:xfrm>
            <a:off x="0" y="5070348"/>
            <a:ext cx="9144000" cy="73152"/>
          </a:xfrm>
          <a:prstGeom prst="rect">
            <a:avLst/>
          </a:prstGeom>
          <a:solidFill>
            <a:srgbClr val="55C8E8"/>
          </a:solidFill>
          <a:ln w="12700">
            <a:solidFill>
              <a:srgbClr val="55C8E8"/>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943A"/>
          </a:solidFill>
          <a:ln w="12700">
            <a:solidFill>
              <a:srgbClr val="D4943A"/>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ASSIGNMENT</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Building the Key: Three Questions</a:t>
            </a:r>
            <a:endParaRPr lang="en-US" sz="2700" dirty="0"/>
          </a:p>
        </p:txBody>
      </p:sp>
      <p:sp>
        <p:nvSpPr>
          <p:cNvPr id="5" name="Shape 3"/>
          <p:cNvSpPr/>
          <p:nvPr/>
        </p:nvSpPr>
        <p:spPr>
          <a:xfrm>
            <a:off x="457200" y="841248"/>
            <a:ext cx="2743200" cy="36576"/>
          </a:xfrm>
          <a:prstGeom prst="rect">
            <a:avLst/>
          </a:prstGeom>
          <a:solidFill>
            <a:srgbClr val="D4943A"/>
          </a:solidFill>
          <a:ln w="12700">
            <a:solidFill>
              <a:srgbClr val="D4943A"/>
            </a:solidFill>
            <a:prstDash val="solid"/>
          </a:ln>
        </p:spPr>
      </p:sp>
      <p:sp>
        <p:nvSpPr>
          <p:cNvPr id="6" name="Shape 4"/>
          <p:cNvSpPr/>
          <p:nvPr/>
        </p:nvSpPr>
        <p:spPr>
          <a:xfrm>
            <a:off x="274320" y="987552"/>
            <a:ext cx="8595360" cy="1225296"/>
          </a:xfrm>
          <a:prstGeom prst="roundRect">
            <a:avLst>
              <a:gd name="adj" fmla="val 8955"/>
            </a:avLst>
          </a:prstGeom>
          <a:solidFill>
            <a:srgbClr val="FFFFFF"/>
          </a:solidFill>
          <a:ln w="25400">
            <a:solidFill>
              <a:srgbClr val="1A8A7D"/>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74320" y="1280160"/>
            <a:ext cx="548640" cy="548640"/>
          </a:xfrm>
          <a:prstGeom prst="ellipse">
            <a:avLst/>
          </a:prstGeom>
          <a:solidFill>
            <a:srgbClr val="1A8A7D"/>
          </a:solidFill>
          <a:ln w="12700">
            <a:solidFill>
              <a:srgbClr val="1A8A7D"/>
            </a:solidFill>
            <a:prstDash val="solid"/>
          </a:ln>
        </p:spPr>
      </p:sp>
      <p:sp>
        <p:nvSpPr>
          <p:cNvPr id="8" name="Text 6"/>
          <p:cNvSpPr/>
          <p:nvPr/>
        </p:nvSpPr>
        <p:spPr>
          <a:xfrm>
            <a:off x="274320" y="128016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9" name="Text 7"/>
          <p:cNvSpPr/>
          <p:nvPr/>
        </p:nvSpPr>
        <p:spPr>
          <a:xfrm>
            <a:off x="969264" y="1078992"/>
            <a:ext cx="7315200" cy="292608"/>
          </a:xfrm>
          <a:prstGeom prst="rect">
            <a:avLst/>
          </a:prstGeom>
          <a:noFill/>
          <a:ln/>
        </p:spPr>
        <p:txBody>
          <a:bodyPr wrap="square"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Vocabulary Definitions</a:t>
            </a:r>
            <a:endParaRPr lang="en-US" sz="1200" dirty="0"/>
          </a:p>
        </p:txBody>
      </p:sp>
      <p:sp>
        <p:nvSpPr>
          <p:cNvPr id="10" name="Text 8"/>
          <p:cNvSpPr/>
          <p:nvPr/>
        </p:nvSpPr>
        <p:spPr>
          <a:xfrm>
            <a:off x="969264" y="1371600"/>
            <a:ext cx="7315200" cy="457200"/>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Pick three Florida history vocabulary words from today's lesson. Write each one and give a one-sentence definition in your own words.</a:t>
            </a:r>
            <a:endParaRPr lang="en-US" sz="1200" dirty="0"/>
          </a:p>
        </p:txBody>
      </p:sp>
      <p:sp>
        <p:nvSpPr>
          <p:cNvPr id="11" name="Text 9"/>
          <p:cNvSpPr/>
          <p:nvPr/>
        </p:nvSpPr>
        <p:spPr>
          <a:xfrm>
            <a:off x="969264" y="1847088"/>
            <a:ext cx="7315200" cy="2743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Choose from: primary source, secondary source, chronology, archive, archaeology.</a:t>
            </a:r>
            <a:endParaRPr lang="en-US" sz="1000" dirty="0"/>
          </a:p>
        </p:txBody>
      </p:sp>
      <p:sp>
        <p:nvSpPr>
          <p:cNvPr id="12" name="Shape 10"/>
          <p:cNvSpPr/>
          <p:nvPr/>
        </p:nvSpPr>
        <p:spPr>
          <a:xfrm>
            <a:off x="274320" y="2286000"/>
            <a:ext cx="8595360" cy="1225296"/>
          </a:xfrm>
          <a:prstGeom prst="roundRect">
            <a:avLst>
              <a:gd name="adj" fmla="val 8955"/>
            </a:avLst>
          </a:prstGeom>
          <a:solidFill>
            <a:srgbClr val="FFFFFF"/>
          </a:solidFill>
          <a:ln w="25400">
            <a:solidFill>
              <a:srgbClr val="8B6FC0"/>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274320" y="2578608"/>
            <a:ext cx="548640" cy="548640"/>
          </a:xfrm>
          <a:prstGeom prst="ellipse">
            <a:avLst/>
          </a:prstGeom>
          <a:solidFill>
            <a:srgbClr val="8B6FC0"/>
          </a:solidFill>
          <a:ln w="12700">
            <a:solidFill>
              <a:srgbClr val="8B6FC0"/>
            </a:solidFill>
            <a:prstDash val="solid"/>
          </a:ln>
        </p:spPr>
      </p:sp>
      <p:sp>
        <p:nvSpPr>
          <p:cNvPr id="14" name="Text 12"/>
          <p:cNvSpPr/>
          <p:nvPr/>
        </p:nvSpPr>
        <p:spPr>
          <a:xfrm>
            <a:off x="274320" y="257860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5" name="Text 13"/>
          <p:cNvSpPr/>
          <p:nvPr/>
        </p:nvSpPr>
        <p:spPr>
          <a:xfrm>
            <a:off x="969264" y="2377440"/>
            <a:ext cx="7315200" cy="292608"/>
          </a:xfrm>
          <a:prstGeom prst="rect">
            <a:avLst/>
          </a:prstGeom>
          <a:noFill/>
          <a:ln/>
        </p:spPr>
        <p:txBody>
          <a:bodyPr wrap="square" rtlCol="0" anchor="ctr"/>
          <a:lstStyle/>
          <a:p>
            <a:pPr indent="0" marL="0">
              <a:buNone/>
            </a:pPr>
            <a:r>
              <a:rPr lang="en-US" sz="1200" b="1" dirty="0">
                <a:solidFill>
                  <a:srgbClr val="8B6FC0"/>
                </a:solidFill>
                <a:latin typeface="Calibri" pitchFamily="34" charset="0"/>
                <a:ea typeface="Calibri" pitchFamily="34" charset="-122"/>
                <a:cs typeface="Calibri" pitchFamily="34" charset="-120"/>
              </a:rPr>
              <a:t>Root Analysis</a:t>
            </a:r>
            <a:endParaRPr lang="en-US" sz="1200" dirty="0"/>
          </a:p>
        </p:txBody>
      </p:sp>
      <p:sp>
        <p:nvSpPr>
          <p:cNvPr id="16" name="Text 14"/>
          <p:cNvSpPr/>
          <p:nvPr/>
        </p:nvSpPr>
        <p:spPr>
          <a:xfrm>
            <a:off x="969264" y="2670048"/>
            <a:ext cx="7315200" cy="457200"/>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Pick one word that uses the root arch-. Use the root to explain what the whole word means. Frame: "The root arch- means 'old, first, original.' So [word] means..."</a:t>
            </a:r>
            <a:endParaRPr lang="en-US" sz="1200" dirty="0"/>
          </a:p>
        </p:txBody>
      </p:sp>
      <p:sp>
        <p:nvSpPr>
          <p:cNvPr id="17" name="Text 15"/>
          <p:cNvSpPr/>
          <p:nvPr/>
        </p:nvSpPr>
        <p:spPr>
          <a:xfrm>
            <a:off x="969264" y="3145536"/>
            <a:ext cx="7315200" cy="2743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Words with arch-: archive, archaeology, archivist</a:t>
            </a:r>
            <a:endParaRPr lang="en-US" sz="1000" dirty="0"/>
          </a:p>
        </p:txBody>
      </p:sp>
      <p:sp>
        <p:nvSpPr>
          <p:cNvPr id="18" name="Shape 16"/>
          <p:cNvSpPr/>
          <p:nvPr/>
        </p:nvSpPr>
        <p:spPr>
          <a:xfrm>
            <a:off x="274320" y="3584448"/>
            <a:ext cx="8595360" cy="1225296"/>
          </a:xfrm>
          <a:prstGeom prst="roundRect">
            <a:avLst>
              <a:gd name="adj" fmla="val 8955"/>
            </a:avLst>
          </a:prstGeom>
          <a:solidFill>
            <a:srgbClr val="FFFFFF"/>
          </a:solidFill>
          <a:ln w="25400">
            <a:solidFill>
              <a:srgbClr val="D4943A"/>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274320" y="3877056"/>
            <a:ext cx="548640" cy="548640"/>
          </a:xfrm>
          <a:prstGeom prst="ellipse">
            <a:avLst/>
          </a:prstGeom>
          <a:solidFill>
            <a:srgbClr val="D4943A"/>
          </a:solidFill>
          <a:ln w="12700">
            <a:solidFill>
              <a:srgbClr val="D4943A"/>
            </a:solidFill>
            <a:prstDash val="solid"/>
          </a:ln>
        </p:spPr>
      </p:sp>
      <p:sp>
        <p:nvSpPr>
          <p:cNvPr id="20" name="Text 18"/>
          <p:cNvSpPr/>
          <p:nvPr/>
        </p:nvSpPr>
        <p:spPr>
          <a:xfrm>
            <a:off x="274320" y="3877056"/>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21" name="Text 19"/>
          <p:cNvSpPr/>
          <p:nvPr/>
        </p:nvSpPr>
        <p:spPr>
          <a:xfrm>
            <a:off x="969264" y="3675888"/>
            <a:ext cx="7315200" cy="292608"/>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Courage Reflection</a:t>
            </a:r>
            <a:endParaRPr lang="en-US" sz="1200" dirty="0"/>
          </a:p>
        </p:txBody>
      </p:sp>
      <p:sp>
        <p:nvSpPr>
          <p:cNvPr id="22" name="Text 20"/>
          <p:cNvSpPr/>
          <p:nvPr/>
        </p:nvSpPr>
        <p:spPr>
          <a:xfrm>
            <a:off x="969264" y="3968496"/>
            <a:ext cx="7315200" cy="457200"/>
          </a:xfrm>
          <a:prstGeom prst="rect">
            <a:avLst/>
          </a:prstGeom>
          <a:noFill/>
          <a:ln/>
        </p:spPr>
        <p:txBody>
          <a:bodyPr wrap="square" rtlCol="0" anchor="ctr"/>
          <a:lstStyle/>
          <a:p>
            <a:pPr indent="0" marL="0">
              <a:buNone/>
            </a:pPr>
            <a:r>
              <a:rPr lang="en-US" sz="1200" dirty="0">
                <a:solidFill>
                  <a:srgbClr val="0E1C42"/>
                </a:solidFill>
                <a:latin typeface="Cambria" pitchFamily="34" charset="0"/>
                <a:ea typeface="Cambria" pitchFamily="34" charset="-122"/>
                <a:cs typeface="Cambria" pitchFamily="34" charset="-120"/>
              </a:rPr>
              <a:t>Today's virtue is courage. Why does it take courage to use precise historian words instead of vague ones like 'the old stuff'? Use a specific vocabulary word from today as an example.</a:t>
            </a:r>
            <a:endParaRPr lang="en-US" sz="1200" dirty="0"/>
          </a:p>
        </p:txBody>
      </p:sp>
      <p:sp>
        <p:nvSpPr>
          <p:cNvPr id="23" name="Shape 21"/>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rtlCol="0" anchor="ctr"/>
          <a:lstStyle/>
          <a:p>
            <a:pPr indent="0" marL="0">
              <a:buNone/>
            </a:pPr>
            <a:r>
              <a:rPr lang="en-US" sz="1000" b="1" spc="200" kern="0" dirty="0">
                <a:solidFill>
                  <a:srgbClr val="7A88A8"/>
                </a:solidFill>
                <a:latin typeface="Calibri" pitchFamily="34" charset="0"/>
                <a:ea typeface="Calibri" pitchFamily="34" charset="-122"/>
                <a:cs typeface="Calibri" pitchFamily="34" charset="-120"/>
              </a:rPr>
              <a:t>UNLOCK CHALLENGE</a:t>
            </a:r>
            <a:endParaRPr lang="en-US" sz="1000" dirty="0"/>
          </a:p>
        </p:txBody>
      </p:sp>
      <p:sp>
        <p:nvSpPr>
          <p:cNvPr id="4" name="Text 2"/>
          <p:cNvSpPr/>
          <p:nvPr/>
        </p:nvSpPr>
        <p:spPr>
          <a:xfrm>
            <a:off x="457200" y="402336"/>
            <a:ext cx="822960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Historian's Notebook Entry</a:t>
            </a:r>
            <a:endParaRPr lang="en-US" sz="2800" dirty="0"/>
          </a:p>
        </p:txBody>
      </p:sp>
      <p:sp>
        <p:nvSpPr>
          <p:cNvPr id="5" name="Shape 3"/>
          <p:cNvSpPr/>
          <p:nvPr/>
        </p:nvSpPr>
        <p:spPr>
          <a:xfrm>
            <a:off x="457200" y="841248"/>
            <a:ext cx="3200400" cy="36576"/>
          </a:xfrm>
          <a:prstGeom prst="rect">
            <a:avLst/>
          </a:prstGeom>
          <a:solidFill>
            <a:srgbClr val="8B6FC0"/>
          </a:solidFill>
          <a:ln w="12700">
            <a:solidFill>
              <a:srgbClr val="8B6FC0"/>
            </a:solidFill>
            <a:prstDash val="solid"/>
          </a:ln>
        </p:spPr>
      </p:sp>
      <p:sp>
        <p:nvSpPr>
          <p:cNvPr id="6" name="Shape 4"/>
          <p:cNvSpPr/>
          <p:nvPr/>
        </p:nvSpPr>
        <p:spPr>
          <a:xfrm>
            <a:off x="274320" y="987552"/>
            <a:ext cx="8595360" cy="1920240"/>
          </a:xfrm>
          <a:prstGeom prst="roundRect">
            <a:avLst>
              <a:gd name="adj" fmla="val 7143"/>
            </a:avLst>
          </a:prstGeom>
          <a:solidFill>
            <a:srgbClr val="1A2D5A"/>
          </a:solidFill>
          <a:ln w="25400">
            <a:solidFill>
              <a:srgbClr val="8B6FC0"/>
            </a:solidFill>
            <a:prstDash val="solid"/>
          </a:ln>
        </p:spPr>
      </p:sp>
      <p:sp>
        <p:nvSpPr>
          <p:cNvPr id="7" name="Text 5"/>
          <p:cNvSpPr/>
          <p:nvPr/>
        </p:nvSpPr>
        <p:spPr>
          <a:xfrm>
            <a:off x="457200" y="1042416"/>
            <a:ext cx="8229600" cy="237744"/>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CHALLENGE</a:t>
            </a:r>
            <a:endParaRPr lang="en-US" sz="900" dirty="0"/>
          </a:p>
        </p:txBody>
      </p:sp>
      <p:sp>
        <p:nvSpPr>
          <p:cNvPr id="8" name="Text 6"/>
          <p:cNvSpPr/>
          <p:nvPr/>
        </p:nvSpPr>
        <p:spPr>
          <a:xfrm>
            <a:off x="457200" y="1316736"/>
            <a:ext cx="8229600" cy="1499616"/>
          </a:xfrm>
          <a:prstGeom prst="rect">
            <a:avLst/>
          </a:prstGeom>
          <a:noFill/>
          <a:ln/>
        </p:spPr>
        <p:txBody>
          <a:bodyPr wrap="square"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Write a short Historian's Notebook entry about how Florida historians study the past. Your entry has one rule: you must use at least three of today's vocabulary words - primary source, secondary source, chronology, archive, archaeology - correctly. Underline or bold each one when you use it. 3-5 sentences. Use historian language. Be brave with the long words.</a:t>
            </a:r>
            <a:endParaRPr lang="en-US" sz="1400" dirty="0"/>
          </a:p>
        </p:txBody>
      </p:sp>
      <p:sp>
        <p:nvSpPr>
          <p:cNvPr id="9" name="Shape 7"/>
          <p:cNvSpPr/>
          <p:nvPr/>
        </p:nvSpPr>
        <p:spPr>
          <a:xfrm>
            <a:off x="274320" y="2980944"/>
            <a:ext cx="8595360" cy="658368"/>
          </a:xfrm>
          <a:prstGeom prst="roundRect">
            <a:avLst>
              <a:gd name="adj" fmla="val 16667"/>
            </a:avLst>
          </a:prstGeom>
          <a:solidFill>
            <a:srgbClr val="F5F0FF"/>
          </a:solidFill>
          <a:ln w="19050">
            <a:solidFill>
              <a:srgbClr val="8B6FC0"/>
            </a:solidFill>
            <a:prstDash val="solid"/>
          </a:ln>
        </p:spPr>
      </p:sp>
      <p:sp>
        <p:nvSpPr>
          <p:cNvPr id="10" name="Text 8"/>
          <p:cNvSpPr/>
          <p:nvPr/>
        </p:nvSpPr>
        <p:spPr>
          <a:xfrm>
            <a:off x="457200" y="3035808"/>
            <a:ext cx="8229600" cy="219456"/>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WORD BANK - Choose at least 3:</a:t>
            </a:r>
            <a:endParaRPr lang="en-US" sz="900" dirty="0"/>
          </a:p>
        </p:txBody>
      </p:sp>
      <p:sp>
        <p:nvSpPr>
          <p:cNvPr id="11" name="Shape 9"/>
          <p:cNvSpPr/>
          <p:nvPr/>
        </p:nvSpPr>
        <p:spPr>
          <a:xfrm>
            <a:off x="365760" y="3273552"/>
            <a:ext cx="1554480" cy="274320"/>
          </a:xfrm>
          <a:prstGeom prst="roundRect">
            <a:avLst>
              <a:gd name="adj" fmla="val 50000"/>
            </a:avLst>
          </a:prstGeom>
          <a:solidFill>
            <a:srgbClr val="8B6FC0"/>
          </a:solidFill>
          <a:ln w="12700">
            <a:solidFill>
              <a:srgbClr val="8B6FC0"/>
            </a:solidFill>
            <a:prstDash val="solid"/>
          </a:ln>
        </p:spPr>
      </p:sp>
      <p:sp>
        <p:nvSpPr>
          <p:cNvPr id="12" name="Text 10"/>
          <p:cNvSpPr/>
          <p:nvPr/>
        </p:nvSpPr>
        <p:spPr>
          <a:xfrm>
            <a:off x="365760" y="3273552"/>
            <a:ext cx="15544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primary source</a:t>
            </a:r>
            <a:endParaRPr lang="en-US" sz="1000" dirty="0"/>
          </a:p>
        </p:txBody>
      </p:sp>
      <p:sp>
        <p:nvSpPr>
          <p:cNvPr id="13" name="Shape 11"/>
          <p:cNvSpPr/>
          <p:nvPr/>
        </p:nvSpPr>
        <p:spPr>
          <a:xfrm>
            <a:off x="2057400" y="3273552"/>
            <a:ext cx="1554480" cy="274320"/>
          </a:xfrm>
          <a:prstGeom prst="roundRect">
            <a:avLst>
              <a:gd name="adj" fmla="val 50000"/>
            </a:avLst>
          </a:prstGeom>
          <a:solidFill>
            <a:srgbClr val="8B6FC0"/>
          </a:solidFill>
          <a:ln w="12700">
            <a:solidFill>
              <a:srgbClr val="8B6FC0"/>
            </a:solidFill>
            <a:prstDash val="solid"/>
          </a:ln>
        </p:spPr>
      </p:sp>
      <p:sp>
        <p:nvSpPr>
          <p:cNvPr id="14" name="Text 12"/>
          <p:cNvSpPr/>
          <p:nvPr/>
        </p:nvSpPr>
        <p:spPr>
          <a:xfrm>
            <a:off x="2057400" y="3273552"/>
            <a:ext cx="15544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secondary source</a:t>
            </a:r>
            <a:endParaRPr lang="en-US" sz="1000" dirty="0"/>
          </a:p>
        </p:txBody>
      </p:sp>
      <p:sp>
        <p:nvSpPr>
          <p:cNvPr id="15" name="Shape 13"/>
          <p:cNvSpPr/>
          <p:nvPr/>
        </p:nvSpPr>
        <p:spPr>
          <a:xfrm>
            <a:off x="3749040" y="3273552"/>
            <a:ext cx="1554480" cy="274320"/>
          </a:xfrm>
          <a:prstGeom prst="roundRect">
            <a:avLst>
              <a:gd name="adj" fmla="val 50000"/>
            </a:avLst>
          </a:prstGeom>
          <a:solidFill>
            <a:srgbClr val="8B6FC0"/>
          </a:solidFill>
          <a:ln w="12700">
            <a:solidFill>
              <a:srgbClr val="8B6FC0"/>
            </a:solidFill>
            <a:prstDash val="solid"/>
          </a:ln>
        </p:spPr>
      </p:sp>
      <p:sp>
        <p:nvSpPr>
          <p:cNvPr id="16" name="Text 14"/>
          <p:cNvSpPr/>
          <p:nvPr/>
        </p:nvSpPr>
        <p:spPr>
          <a:xfrm>
            <a:off x="3749040" y="3273552"/>
            <a:ext cx="15544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chronology</a:t>
            </a:r>
            <a:endParaRPr lang="en-US" sz="1000" dirty="0"/>
          </a:p>
        </p:txBody>
      </p:sp>
      <p:sp>
        <p:nvSpPr>
          <p:cNvPr id="17" name="Shape 15"/>
          <p:cNvSpPr/>
          <p:nvPr/>
        </p:nvSpPr>
        <p:spPr>
          <a:xfrm>
            <a:off x="5440680" y="3273552"/>
            <a:ext cx="1554480" cy="274320"/>
          </a:xfrm>
          <a:prstGeom prst="roundRect">
            <a:avLst>
              <a:gd name="adj" fmla="val 50000"/>
            </a:avLst>
          </a:prstGeom>
          <a:solidFill>
            <a:srgbClr val="8B6FC0"/>
          </a:solidFill>
          <a:ln w="12700">
            <a:solidFill>
              <a:srgbClr val="8B6FC0"/>
            </a:solidFill>
            <a:prstDash val="solid"/>
          </a:ln>
        </p:spPr>
      </p:sp>
      <p:sp>
        <p:nvSpPr>
          <p:cNvPr id="18" name="Text 16"/>
          <p:cNvSpPr/>
          <p:nvPr/>
        </p:nvSpPr>
        <p:spPr>
          <a:xfrm>
            <a:off x="5440680" y="3273552"/>
            <a:ext cx="15544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archive</a:t>
            </a:r>
            <a:endParaRPr lang="en-US" sz="1000" dirty="0"/>
          </a:p>
        </p:txBody>
      </p:sp>
      <p:sp>
        <p:nvSpPr>
          <p:cNvPr id="19" name="Shape 17"/>
          <p:cNvSpPr/>
          <p:nvPr/>
        </p:nvSpPr>
        <p:spPr>
          <a:xfrm>
            <a:off x="7132320" y="3273552"/>
            <a:ext cx="1554480" cy="274320"/>
          </a:xfrm>
          <a:prstGeom prst="roundRect">
            <a:avLst>
              <a:gd name="adj" fmla="val 50000"/>
            </a:avLst>
          </a:prstGeom>
          <a:solidFill>
            <a:srgbClr val="8B6FC0"/>
          </a:solidFill>
          <a:ln w="12700">
            <a:solidFill>
              <a:srgbClr val="8B6FC0"/>
            </a:solidFill>
            <a:prstDash val="solid"/>
          </a:ln>
        </p:spPr>
      </p:sp>
      <p:sp>
        <p:nvSpPr>
          <p:cNvPr id="20" name="Text 18"/>
          <p:cNvSpPr/>
          <p:nvPr/>
        </p:nvSpPr>
        <p:spPr>
          <a:xfrm>
            <a:off x="7132320" y="3273552"/>
            <a:ext cx="15544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archaeology</a:t>
            </a:r>
            <a:endParaRPr lang="en-US" sz="1000" dirty="0"/>
          </a:p>
        </p:txBody>
      </p:sp>
      <p:sp>
        <p:nvSpPr>
          <p:cNvPr id="21" name="Shape 19"/>
          <p:cNvSpPr/>
          <p:nvPr/>
        </p:nvSpPr>
        <p:spPr>
          <a:xfrm>
            <a:off x="274320" y="3657600"/>
            <a:ext cx="8595360" cy="877824"/>
          </a:xfrm>
          <a:prstGeom prst="roundRect">
            <a:avLst>
              <a:gd name="adj" fmla="val 12500"/>
            </a:avLst>
          </a:prstGeom>
          <a:solidFill>
            <a:srgbClr val="FFF3DC"/>
          </a:solidFill>
          <a:ln w="19050">
            <a:solidFill>
              <a:srgbClr val="D4943A"/>
            </a:solidFill>
            <a:prstDash val="solid"/>
          </a:ln>
        </p:spPr>
      </p:sp>
      <p:sp>
        <p:nvSpPr>
          <p:cNvPr id="22" name="Text 20"/>
          <p:cNvSpPr/>
          <p:nvPr/>
        </p:nvSpPr>
        <p:spPr>
          <a:xfrm>
            <a:off x="457200" y="3712464"/>
            <a:ext cx="822960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MODEL START</a:t>
            </a:r>
            <a:endParaRPr lang="en-US" sz="900" dirty="0"/>
          </a:p>
        </p:txBody>
      </p:sp>
      <p:sp>
        <p:nvSpPr>
          <p:cNvPr id="23" name="Text 21"/>
          <p:cNvSpPr/>
          <p:nvPr/>
        </p:nvSpPr>
        <p:spPr>
          <a:xfrm>
            <a:off x="457200" y="3931920"/>
            <a:ext cx="8229600" cy="548640"/>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"Florida historians study the past using primary sources stored in archives. They arrange their findings in chronological order to build a clear picture of what happened and when..."</a:t>
            </a:r>
            <a:endParaRPr lang="en-US" sz="1200" dirty="0"/>
          </a:p>
        </p:txBody>
      </p:sp>
      <p:sp>
        <p:nvSpPr>
          <p:cNvPr id="24" name="Shape 22"/>
          <p:cNvSpPr/>
          <p:nvPr/>
        </p:nvSpPr>
        <p:spPr>
          <a:xfrm>
            <a:off x="0" y="5070348"/>
            <a:ext cx="9144000" cy="73152"/>
          </a:xfrm>
          <a:prstGeom prst="rect">
            <a:avLst/>
          </a:prstGeom>
          <a:solidFill>
            <a:srgbClr val="8B6FC0"/>
          </a:solidFill>
          <a:ln w="12700">
            <a:solidFill>
              <a:srgbClr val="8B6FC0"/>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73152"/>
          </a:xfrm>
          <a:prstGeom prst="rect">
            <a:avLst/>
          </a:prstGeom>
          <a:solidFill>
            <a:srgbClr val="D4943A"/>
          </a:solidFill>
          <a:ln w="12700">
            <a:solidFill>
              <a:srgbClr val="D4943A"/>
            </a:solidFill>
            <a:prstDash val="solid"/>
          </a:ln>
        </p:spPr>
      </p:sp>
      <p:sp>
        <p:nvSpPr>
          <p:cNvPr id="6" name="Shape 3"/>
          <p:cNvSpPr/>
          <p:nvPr/>
        </p:nvSpPr>
        <p:spPr>
          <a:xfrm>
            <a:off x="3291840" y="274320"/>
            <a:ext cx="2560320" cy="438912"/>
          </a:xfrm>
          <a:prstGeom prst="roundRect">
            <a:avLst>
              <a:gd name="adj" fmla="val 50000"/>
            </a:avLst>
          </a:prstGeom>
          <a:solidFill>
            <a:srgbClr val="34B76F"/>
          </a:solidFill>
          <a:ln w="19050">
            <a:solidFill>
              <a:srgbClr val="FFFFFF"/>
            </a:solidFill>
            <a:prstDash val="solid"/>
          </a:ln>
        </p:spPr>
      </p:sp>
      <p:sp>
        <p:nvSpPr>
          <p:cNvPr id="7" name="Text 4"/>
          <p:cNvSpPr/>
          <p:nvPr/>
        </p:nvSpPr>
        <p:spPr>
          <a:xfrm>
            <a:off x="3291840" y="274320"/>
            <a:ext cx="2560320" cy="438912"/>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FILE UNLOCKED</a:t>
            </a:r>
            <a:endParaRPr lang="en-US" sz="1400" dirty="0"/>
          </a:p>
        </p:txBody>
      </p:sp>
      <p:sp>
        <p:nvSpPr>
          <p:cNvPr id="8" name="Text 5"/>
          <p:cNvSpPr/>
          <p:nvPr/>
        </p:nvSpPr>
        <p:spPr>
          <a:xfrm>
            <a:off x="457200" y="841248"/>
            <a:ext cx="8229600" cy="621792"/>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You Built the Key.</a:t>
            </a:r>
            <a:endParaRPr lang="en-US" sz="4000" dirty="0"/>
          </a:p>
        </p:txBody>
      </p:sp>
      <p:sp>
        <p:nvSpPr>
          <p:cNvPr id="9" name="Text 6"/>
          <p:cNvSpPr/>
          <p:nvPr/>
        </p:nvSpPr>
        <p:spPr>
          <a:xfrm>
            <a:off x="457200" y="1426464"/>
            <a:ext cx="8229600" cy="457200"/>
          </a:xfrm>
          <a:prstGeom prst="rect">
            <a:avLst/>
          </a:prstGeom>
          <a:noFill/>
          <a:ln/>
        </p:spPr>
        <p:txBody>
          <a:bodyPr wrap="square" rtlCol="0" anchor="ctr"/>
          <a:lstStyle/>
          <a:p>
            <a:pPr algn="ctr" indent="0" marL="0">
              <a:buNone/>
            </a:pPr>
            <a:r>
              <a:rPr lang="en-US" sz="3000" i="1" dirty="0">
                <a:solidFill>
                  <a:srgbClr val="D4943A"/>
                </a:solidFill>
                <a:latin typeface="Cambria" pitchFamily="34" charset="0"/>
                <a:ea typeface="Cambria" pitchFamily="34" charset="-122"/>
                <a:cs typeface="Cambria" pitchFamily="34" charset="-120"/>
              </a:rPr>
              <a:t>Canvas is open.</a:t>
            </a:r>
            <a:endParaRPr lang="en-US" sz="3000" dirty="0"/>
          </a:p>
        </p:txBody>
      </p:sp>
      <p:sp>
        <p:nvSpPr>
          <p:cNvPr id="10" name="Shape 7"/>
          <p:cNvSpPr/>
          <p:nvPr/>
        </p:nvSpPr>
        <p:spPr>
          <a:xfrm>
            <a:off x="457200" y="1956816"/>
            <a:ext cx="8229600" cy="1371600"/>
          </a:xfrm>
          <a:prstGeom prst="roundRect">
            <a:avLst>
              <a:gd name="adj" fmla="val 10000"/>
            </a:avLst>
          </a:prstGeom>
          <a:solidFill>
            <a:srgbClr val="1A2D5A"/>
          </a:solidFill>
          <a:ln w="19050">
            <a:solidFill>
              <a:srgbClr val="55C8E8"/>
            </a:solidFill>
            <a:prstDash val="solid"/>
          </a:ln>
        </p:spPr>
      </p:sp>
      <p:sp>
        <p:nvSpPr>
          <p:cNvPr id="11" name="Text 8"/>
          <p:cNvSpPr/>
          <p:nvPr/>
        </p:nvSpPr>
        <p:spPr>
          <a:xfrm>
            <a:off x="640080" y="2011680"/>
            <a:ext cx="7863840" cy="237744"/>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TODAY'S KEYS</a:t>
            </a:r>
            <a:endParaRPr lang="en-US" sz="900" dirty="0"/>
          </a:p>
        </p:txBody>
      </p:sp>
      <p:sp>
        <p:nvSpPr>
          <p:cNvPr id="12" name="Text 9"/>
          <p:cNvSpPr/>
          <p:nvPr/>
        </p:nvSpPr>
        <p:spPr>
          <a:xfrm>
            <a:off x="640080" y="2249424"/>
            <a:ext cx="7863840" cy="329184"/>
          </a:xfrm>
          <a:prstGeom prst="rect">
            <a:avLst/>
          </a:prstGeom>
          <a:noFill/>
          <a:ln/>
        </p:spPr>
        <p:txBody>
          <a:bodyPr wrap="square" rtlCol="0" anchor="ctr"/>
          <a:lstStyle/>
          <a:p>
            <a:pPr algn="ctr" indent="0" marL="0">
              <a:buNone/>
            </a:pPr>
            <a:r>
              <a:rPr lang="en-US" sz="1400" dirty="0">
                <a:solidFill>
                  <a:srgbClr val="FFFFFF"/>
                </a:solidFill>
                <a:latin typeface="Cambria" pitchFamily="34" charset="0"/>
                <a:ea typeface="Cambria" pitchFamily="34" charset="-122"/>
                <a:cs typeface="Cambria" pitchFamily="34" charset="-120"/>
              </a:rPr>
              <a:t>arch- = old, first, original   |   chron- = time   |   prim- = first</a:t>
            </a:r>
            <a:endParaRPr lang="en-US" sz="1400" dirty="0"/>
          </a:p>
        </p:txBody>
      </p:sp>
      <p:sp>
        <p:nvSpPr>
          <p:cNvPr id="13" name="Shape 10"/>
          <p:cNvSpPr/>
          <p:nvPr/>
        </p:nvSpPr>
        <p:spPr>
          <a:xfrm>
            <a:off x="1371600" y="2615184"/>
            <a:ext cx="6400800" cy="18288"/>
          </a:xfrm>
          <a:prstGeom prst="rect">
            <a:avLst/>
          </a:prstGeom>
          <a:solidFill>
            <a:srgbClr val="FFFFFF">
              <a:alpha val="40000"/>
            </a:srgbClr>
          </a:solidFill>
          <a:ln w="12700">
            <a:solidFill>
              <a:srgbClr val="FFFFFF">
                <a:alpha val="40000"/>
              </a:srgbClr>
            </a:solidFill>
            <a:prstDash val="solid"/>
          </a:ln>
        </p:spPr>
      </p:sp>
      <p:sp>
        <p:nvSpPr>
          <p:cNvPr id="14" name="Text 11"/>
          <p:cNvSpPr/>
          <p:nvPr/>
        </p:nvSpPr>
        <p:spPr>
          <a:xfrm>
            <a:off x="640080" y="2670048"/>
            <a:ext cx="7863840" cy="566928"/>
          </a:xfrm>
          <a:prstGeom prst="rect">
            <a:avLst/>
          </a:prstGeom>
          <a:noFill/>
          <a:ln/>
        </p:spPr>
        <p:txBody>
          <a:bodyPr wrap="square" rtlCol="0" anchor="ctr"/>
          <a:lstStyle/>
          <a:p>
            <a:pPr algn="ctr" indent="0" marL="0">
              <a:buNone/>
            </a:pPr>
            <a:r>
              <a:rPr lang="en-US" sz="1300" dirty="0">
                <a:solidFill>
                  <a:srgbClr val="FFFFFF"/>
                </a:solidFill>
                <a:latin typeface="Cambria" pitchFamily="34" charset="0"/>
                <a:ea typeface="Cambria" pitchFamily="34" charset="-122"/>
                <a:cs typeface="Cambria" pitchFamily="34" charset="-120"/>
              </a:rPr>
              <a:t>primary source   -   secondary source   -   chronology   -   archive   -   archaeology</a:t>
            </a:r>
            <a:endParaRPr lang="en-US" sz="1300" dirty="0"/>
          </a:p>
        </p:txBody>
      </p:sp>
      <p:sp>
        <p:nvSpPr>
          <p:cNvPr id="15" name="Shape 12"/>
          <p:cNvSpPr/>
          <p:nvPr/>
        </p:nvSpPr>
        <p:spPr>
          <a:xfrm>
            <a:off x="457200" y="3419856"/>
            <a:ext cx="8229600" cy="731520"/>
          </a:xfrm>
          <a:prstGeom prst="roundRect">
            <a:avLst>
              <a:gd name="adj" fmla="val 15000"/>
            </a:avLst>
          </a:prstGeom>
          <a:solidFill>
            <a:srgbClr val="D4943A">
              <a:alpha val="20000"/>
            </a:srgbClr>
          </a:solidFill>
          <a:ln w="19050">
            <a:solidFill>
              <a:srgbClr val="D4943A"/>
            </a:solidFill>
            <a:prstDash val="solid"/>
          </a:ln>
        </p:spPr>
      </p:sp>
      <p:sp>
        <p:nvSpPr>
          <p:cNvPr id="16" name="Text 13"/>
          <p:cNvSpPr/>
          <p:nvPr/>
        </p:nvSpPr>
        <p:spPr>
          <a:xfrm>
            <a:off x="640080" y="3474720"/>
            <a:ext cx="786384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VIRTUE TAKEAWAY - COURAGE:</a:t>
            </a:r>
            <a:endParaRPr lang="en-US" sz="900" dirty="0"/>
          </a:p>
        </p:txBody>
      </p:sp>
      <p:sp>
        <p:nvSpPr>
          <p:cNvPr id="17" name="Text 14"/>
          <p:cNvSpPr/>
          <p:nvPr/>
        </p:nvSpPr>
        <p:spPr>
          <a:xfrm>
            <a:off x="640080" y="3694176"/>
            <a:ext cx="7863840" cy="384048"/>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"Saying a word out loud. Asking what it means if you are not sure. Using it again next time."</a:t>
            </a:r>
            <a:endParaRPr lang="en-US" sz="1300" dirty="0"/>
          </a:p>
        </p:txBody>
      </p:sp>
      <p:sp>
        <p:nvSpPr>
          <p:cNvPr id="18" name="Text 15"/>
          <p:cNvSpPr/>
          <p:nvPr/>
        </p:nvSpPr>
        <p:spPr>
          <a:xfrm>
            <a:off x="457200" y="4315968"/>
            <a:ext cx="8229600" cy="310896"/>
          </a:xfrm>
          <a:prstGeom prst="rect">
            <a:avLst/>
          </a:prstGeom>
          <a:noFill/>
          <a:ln/>
        </p:spPr>
        <p:txBody>
          <a:bodyPr wrap="square"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Complete the Unlock Challenge in Canvas before our next live session.</a:t>
            </a:r>
            <a:endParaRPr lang="en-US" sz="1200" dirty="0"/>
          </a:p>
        </p:txBody>
      </p:sp>
      <p:sp>
        <p:nvSpPr>
          <p:cNvPr id="19" name="Shape 16"/>
          <p:cNvSpPr/>
          <p:nvPr/>
        </p:nvSpPr>
        <p:spPr>
          <a:xfrm>
            <a:off x="0" y="5070348"/>
            <a:ext cx="9144000" cy="73152"/>
          </a:xfrm>
          <a:prstGeom prst="rect">
            <a:avLst/>
          </a:prstGeom>
          <a:solidFill>
            <a:srgbClr val="D4943A"/>
          </a:solidFill>
          <a:ln w="12700">
            <a:solidFill>
              <a:srgbClr val="D4943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2026-07-13T20:18:23Z</dcterms:created>
  <dcterms:modified xsi:type="dcterms:W3CDTF">2026-07-13T20:18:23Z</dcterms:modified>
</cp:coreProperties>
</file>