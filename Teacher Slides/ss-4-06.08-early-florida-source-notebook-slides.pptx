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St. Augustine, Florida with Castillo de San Marcos fort visible at the waterfront, golden-hour light, dramatic milestone feeling.
Open by letting the title breathe. This is the last lesson of the unit. Tell students: 'We have one job today — organize everything we learned into one clear, honest source notebook. Then the door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Ms. Rivera's quote with genuine stakes. Pause after 'Let's finish it.' Ask: 'What does it mean to organize evidence honestly? What happens to history if we get it wrong?' Do not rush — this is the final lesson of the unit and students should feel that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step as you introduce it. Ask: 'Which of these three do you think is hardest to write — and why?' Take 2-3 responses. The EXPLANATION is hardest because it requires you to say what the detail MEANS, not just what it says. Keep this slide up briefly — students should internalize the three-part structure before you go to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of silent observation before any questions. Then: 'What can the MAP tell you that the fort cannot? What can the FORT tell you that the map cannot?' Target insight: different source types yield different kinds of evidence. A map shows territory and Spanish naming. A fort shows military intent and permanence. Both are needed for a complete picture of Spanish colonization.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students past 'it's old so it's reliable.' Ask specifically: 'Who WROTE the Spanish mission records — and who DIDN'T have a voice in writing them?' Key insight: sources created by colonizers record what colonizers chose to document — not what the Timucua, Apalachee, or Calusa experienced. The 'whose voice is missing?' question will reappear explicitly on Slide 7. Plant it here so students are primed.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card at a time. For each EXPLANATION, ask: 'Does this just repeat the detail — or does it tell us what the detail MEANS?' Critical distinction: 'Built in 1672 from coquina stone' is a detail. 'Spain intended long-term control' is what it means. Also flag the mission records card — it has a built-in source reliability problem. Use it to preview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SLIDE. Spanish records were written BY Spaniards FOR Spanish officials — they document what colonizers chose to record. Archaeological evidence is created by the people themselves through their tools and daily life. Ask: 'If we only had the Spanish records, what story would we be missing?' This directly previews the Tricky One on Slide 13 about source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event in sequence. Ask: 'What CAUSED the next event?' Target the key idea: colonization is a process that unfolds over time. The effects on Native peoples built across decades of Spanish presence. Vocabulary review: chronology = order of events in time. Ask: 'What's the difference between chronology and cause-and-effect?' Both matter for a source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transferable pattern is the point — not just a summary of content. Ask: 'Where else in history could you apply this pattern?' Students who can transfer it have truly understood it. Coach: do NOT confirm one answer as most important. Let students argue their evidence. The disagreement IS the learning. Also connects to the virtue Honesty: organizing evidence honestly means being willing to say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aloud: 'Watch my thinking — I am going to build one full entry and narrate every decision.' Read each row, then pause long on the EXPLANATION. 'Notice I did not just repeat the detail. I asked: what does this MEAN? What does the 1672 date tell us about Spanish INTENT?' Then: 'Your turn. Choose one source from the unit and defend your choice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minutes for students to type in chat. Read 3-4 responses aloud. For each, ask: 'Is this explanation specific enough? Or does it describe what happened without telling us what it MEANS?' If a student picks Spanish mission records, plant the question: 'Are you relying on a source that has a built-in perspective problem?' Save the explicit critique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explanation here restates the detail ('missionaries were in Florida') instead of explaining what it MEANS ('the mission system was a colonial tool that reshaped Apalachee spiritual life'). Also name the source problem: this record was written by Spaniards, not Apalachee — only one side is recorded. A stronger explanation names BOTH the meaning AND the missing voice. Students should rewrite this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positions are defensible. A historian can use Spanish records as long as they read them critically AND supplement with other sources. The danger is relying ONLY on those records. Teacher: do NOT resolve this for students. Ask: 'Which position is closer to your thinking — and what evidence supports you?' Let them argue. The resolution banner validates both while naming the shared responsibility: ask whose voice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already know how to answer BOTH questions — Q1 was modeled and practiced on Slides 10-12, and Q2 connects to Honesty and source organization discussed on Slides 5, 7, and 9. Do NOT introduce either question here for the first time. Point to the checklist, read it aloud, give 30 seconds for clarifying questions before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Interior of Castillo de San Marcos at golden hour — a large historic wooden door swinging open with warm golden light streaming through, triumphant and milestone-like.
Let this slide breathe. This is the final lesson of Unit 6. Virtue callback: 'You did not just collect facts today — you organized evidence the way an honest historian does: source, detail, explanation.' Celebrate genuinely before moving to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genuine excitement. Remind students: 'The source notebook method — Source, Detail, Explanation — is a tool you will use in every social studies unit from here. The skills stay. Only the story changes.' If time allows: 'In one sentence, what was the most important thing you learned in Unit 6?' Save for a warm-up starter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91440"/>
          </a:xfrm>
          <a:prstGeom prst="rect">
            <a:avLst/>
          </a:prstGeom>
          <a:solidFill>
            <a:srgbClr val="D4943A"/>
          </a:solidFill>
          <a:ln w="12700">
            <a:solidFill>
              <a:srgbClr val="D4943A"/>
            </a:solidFill>
            <a:prstDash val="solid"/>
          </a:ln>
        </p:spPr>
      </p:sp>
      <p:sp>
        <p:nvSpPr>
          <p:cNvPr id="5" name="Text 3"/>
          <p:cNvSpPr/>
          <p:nvPr/>
        </p:nvSpPr>
        <p:spPr>
          <a:xfrm>
            <a:off x="457200" y="182880"/>
            <a:ext cx="8229600" cy="292608"/>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FLORIDA FILES  |  LESSON 4.06.08  |  UNIT REVIEW &amp; SYNTHESIS</a:t>
            </a:r>
            <a:endParaRPr lang="en-US" sz="1000" dirty="0"/>
          </a:p>
        </p:txBody>
      </p:sp>
      <p:sp>
        <p:nvSpPr>
          <p:cNvPr id="6" name="Text 4"/>
          <p:cNvSpPr/>
          <p:nvPr/>
        </p:nvSpPr>
        <p:spPr>
          <a:xfrm>
            <a:off x="457200" y="566928"/>
            <a:ext cx="8229600" cy="1463040"/>
          </a:xfrm>
          <a:prstGeom prst="rect">
            <a:avLst/>
          </a:prstGeom>
          <a:noFill/>
          <a:ln/>
        </p:spPr>
        <p:txBody>
          <a:bodyPr wrap="square" rtlCol="0" anchor="ctr"/>
          <a:lstStyle/>
          <a:p>
            <a:pPr algn="ctr" indent="0" marL="0">
              <a:lnSpc>
                <a:spcPct val="110000"/>
              </a:lnSpc>
              <a:buNone/>
            </a:pPr>
            <a:r>
              <a:rPr lang="en-US" sz="4400" b="1" dirty="0">
                <a:solidFill>
                  <a:srgbClr val="FFFFFF"/>
                </a:solidFill>
                <a:latin typeface="Cambria" pitchFamily="34" charset="0"/>
                <a:ea typeface="Cambria" pitchFamily="34" charset="-122"/>
                <a:cs typeface="Cambria" pitchFamily="34" charset="-120"/>
              </a:rPr>
              <a:t>Early Florida</a:t>
            </a:r>
            <a:endParaRPr lang="en-US" sz="4400" dirty="0"/>
          </a:p>
          <a:p>
            <a:pPr algn="ctr" indent="0" marL="0">
              <a:lnSpc>
                <a:spcPct val="110000"/>
              </a:lnSpc>
              <a:buNone/>
            </a:pPr>
            <a:r>
              <a:rPr lang="en-US" sz="4400" b="1" dirty="0">
                <a:solidFill>
                  <a:srgbClr val="FFFFFF"/>
                </a:solidFill>
                <a:latin typeface="Cambria" pitchFamily="34" charset="0"/>
                <a:ea typeface="Cambria" pitchFamily="34" charset="-122"/>
                <a:cs typeface="Cambria" pitchFamily="34" charset="-120"/>
              </a:rPr>
              <a:t>Source Notebook</a:t>
            </a:r>
            <a:endParaRPr lang="en-US" sz="4400" dirty="0"/>
          </a:p>
        </p:txBody>
      </p:sp>
      <p:sp>
        <p:nvSpPr>
          <p:cNvPr id="7" name="Shape 5"/>
          <p:cNvSpPr/>
          <p:nvPr/>
        </p:nvSpPr>
        <p:spPr>
          <a:xfrm>
            <a:off x="3200400" y="2176272"/>
            <a:ext cx="2743200" cy="54864"/>
          </a:xfrm>
          <a:prstGeom prst="rect">
            <a:avLst/>
          </a:prstGeom>
          <a:solidFill>
            <a:srgbClr val="D4943A"/>
          </a:solidFill>
          <a:ln w="12700">
            <a:solidFill>
              <a:srgbClr val="D4943A"/>
            </a:solidFill>
            <a:prstDash val="solid"/>
          </a:ln>
        </p:spPr>
      </p:sp>
      <p:sp>
        <p:nvSpPr>
          <p:cNvPr id="8" name="Text 6"/>
          <p:cNvSpPr/>
          <p:nvPr/>
        </p:nvSpPr>
        <p:spPr>
          <a:xfrm>
            <a:off x="640080" y="2304288"/>
            <a:ext cx="7863840" cy="502920"/>
          </a:xfrm>
          <a:prstGeom prst="rect">
            <a:avLst/>
          </a:prstGeom>
          <a:noFill/>
          <a:ln/>
        </p:spPr>
        <p:txBody>
          <a:bodyPr wrap="square" rtlCol="0" anchor="ctr"/>
          <a:lstStyle/>
          <a:p>
            <a:pPr algn="ctr" indent="0" marL="0">
              <a:buNone/>
            </a:pPr>
            <a:r>
              <a:rPr lang="en-US" sz="1600" i="1" dirty="0">
                <a:solidFill>
                  <a:srgbClr val="F0F2F8"/>
                </a:solidFill>
                <a:latin typeface="Calibri" pitchFamily="34" charset="0"/>
                <a:ea typeface="Calibri" pitchFamily="34" charset="-122"/>
                <a:cs typeface="Calibri" pitchFamily="34" charset="-120"/>
              </a:rPr>
              <a:t>How do historians organize evidence to explain early Florida?</a:t>
            </a:r>
            <a:endParaRPr lang="en-US" sz="1600" dirty="0"/>
          </a:p>
        </p:txBody>
      </p:sp>
      <p:sp>
        <p:nvSpPr>
          <p:cNvPr id="9" name="Shape 7"/>
          <p:cNvSpPr/>
          <p:nvPr/>
        </p:nvSpPr>
        <p:spPr>
          <a:xfrm>
            <a:off x="3017520" y="2926080"/>
            <a:ext cx="3108960" cy="475488"/>
          </a:xfrm>
          <a:prstGeom prst="roundRect">
            <a:avLst>
              <a:gd name="adj" fmla="val 23077"/>
            </a:avLst>
          </a:prstGeom>
          <a:solidFill>
            <a:srgbClr val="D4943A"/>
          </a:solidFill>
          <a:ln w="12700">
            <a:solidFill>
              <a:srgbClr val="D4943A"/>
            </a:solidFill>
            <a:prstDash val="solid"/>
          </a:ln>
        </p:spPr>
      </p:sp>
      <p:sp>
        <p:nvSpPr>
          <p:cNvPr id="10" name="Text 8"/>
          <p:cNvSpPr/>
          <p:nvPr/>
        </p:nvSpPr>
        <p:spPr>
          <a:xfrm>
            <a:off x="3017520" y="2926080"/>
            <a:ext cx="3108960" cy="475488"/>
          </a:xfrm>
          <a:prstGeom prst="rect">
            <a:avLst/>
          </a:prstGeom>
          <a:noFill/>
          <a:ln/>
        </p:spPr>
        <p:txBody>
          <a:bodyPr wrap="square" rtlCol="0" anchor="ctr"/>
          <a:lstStyle/>
          <a:p>
            <a:pPr algn="ctr" indent="0" marL="0">
              <a:buNone/>
            </a:pPr>
            <a:r>
              <a:rPr lang="en-US" sz="1100" b="1" spc="120" kern="0" dirty="0">
                <a:solidFill>
                  <a:srgbClr val="0E1C42"/>
                </a:solidFill>
                <a:latin typeface="Calibri" pitchFamily="34" charset="0"/>
                <a:ea typeface="Calibri" pitchFamily="34" charset="-122"/>
                <a:cs typeface="Calibri" pitchFamily="34" charset="-120"/>
              </a:rPr>
              <a:t>UNIT 6 COMPLETE — FINAL LESSON</a:t>
            </a:r>
            <a:endParaRPr lang="en-US" sz="1100" dirty="0"/>
          </a:p>
        </p:txBody>
      </p:sp>
      <p:sp>
        <p:nvSpPr>
          <p:cNvPr id="11" name="Text 9"/>
          <p:cNvSpPr/>
          <p:nvPr/>
        </p:nvSpPr>
        <p:spPr>
          <a:xfrm>
            <a:off x="457200" y="3547872"/>
            <a:ext cx="8229600" cy="274320"/>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SS.4.A.3.2  |  SS.4.A.3.3  |  SS.4.A.3.4  |  SS.4.A.3.6  |  SS.4.A.9.1</a:t>
            </a:r>
            <a:endParaRPr lang="en-US" sz="900" dirty="0"/>
          </a:p>
        </p:txBody>
      </p:sp>
      <p:sp>
        <p:nvSpPr>
          <p:cNvPr id="12" name="Text 10"/>
          <p:cNvSpPr/>
          <p:nvPr/>
        </p:nvSpPr>
        <p:spPr>
          <a:xfrm>
            <a:off x="457200" y="3858768"/>
            <a:ext cx="8229600" cy="274320"/>
          </a:xfrm>
          <a:prstGeom prst="rect">
            <a:avLst/>
          </a:prstGeom>
          <a:noFill/>
          <a:ln/>
        </p:spPr>
        <p:txBody>
          <a:bodyPr wrap="square" rtlCol="0" anchor="ctr"/>
          <a:lstStyle/>
          <a:p>
            <a:pPr algn="ctr" indent="0" marL="0">
              <a:buNone/>
            </a:pPr>
            <a:r>
              <a:rPr lang="en-US" sz="1100" i="1" dirty="0">
                <a:solidFill>
                  <a:srgbClr val="55C8E8"/>
                </a:solidFill>
                <a:latin typeface="Calibri" pitchFamily="34" charset="0"/>
                <a:ea typeface="Calibri" pitchFamily="34" charset="-122"/>
                <a:cs typeface="Calibri" pitchFamily="34" charset="-120"/>
              </a:rPr>
              <a:t>Virtue: Honesty</a:t>
            </a:r>
            <a:endParaRPr lang="en-US" sz="1100" dirty="0"/>
          </a:p>
        </p:txBody>
      </p:sp>
      <p:sp>
        <p:nvSpPr>
          <p:cNvPr id="13" name="Shape 11"/>
          <p:cNvSpPr/>
          <p:nvPr/>
        </p:nvSpPr>
        <p:spPr>
          <a:xfrm>
            <a:off x="0" y="4846320"/>
            <a:ext cx="9144000" cy="73152"/>
          </a:xfrm>
          <a:prstGeom prst="rect">
            <a:avLst/>
          </a:prstGeom>
          <a:solidFill>
            <a:srgbClr val="D4943A"/>
          </a:solidFill>
          <a:ln w="12700">
            <a:solidFill>
              <a:srgbClr val="D4943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91440"/>
          </a:xfrm>
          <a:prstGeom prst="rect">
            <a:avLst/>
          </a:prstGeom>
          <a:solidFill>
            <a:srgbClr val="D4943A"/>
          </a:solidFill>
          <a:ln w="12700">
            <a:solidFill>
              <a:srgbClr val="D4943A"/>
            </a:solidFill>
            <a:prstDash val="solid"/>
          </a:ln>
        </p:spPr>
      </p:sp>
      <p:sp>
        <p:nvSpPr>
          <p:cNvPr id="5" name="Text 3"/>
          <p:cNvSpPr/>
          <p:nvPr/>
        </p:nvSpPr>
        <p:spPr>
          <a:xfrm>
            <a:off x="457200" y="164592"/>
            <a:ext cx="8229600" cy="292608"/>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FLORIDA FILES — FINAL FILE IN THE WING</a:t>
            </a:r>
            <a:endParaRPr lang="en-US" sz="1100" dirty="0"/>
          </a:p>
        </p:txBody>
      </p:sp>
      <p:sp>
        <p:nvSpPr>
          <p:cNvPr id="6" name="Shape 4"/>
          <p:cNvSpPr/>
          <p:nvPr/>
        </p:nvSpPr>
        <p:spPr>
          <a:xfrm>
            <a:off x="365760" y="566928"/>
            <a:ext cx="8412480" cy="1965960"/>
          </a:xfrm>
          <a:prstGeom prst="roundRect">
            <a:avLst>
              <a:gd name="adj" fmla="val 8372"/>
            </a:avLst>
          </a:prstGeom>
          <a:solidFill>
            <a:srgbClr val="1A2D5A"/>
          </a:solidFill>
          <a:ln w="19050">
            <a:solidFill>
              <a:srgbClr val="3A5080"/>
            </a:solidFill>
            <a:prstDash val="solid"/>
          </a:ln>
        </p:spPr>
      </p:sp>
      <p:sp>
        <p:nvSpPr>
          <p:cNvPr id="7" name="Text 5"/>
          <p:cNvSpPr/>
          <p:nvPr/>
        </p:nvSpPr>
        <p:spPr>
          <a:xfrm>
            <a:off x="594360" y="658368"/>
            <a:ext cx="7955280" cy="274320"/>
          </a:xfrm>
          <a:prstGeom prst="rect">
            <a:avLst/>
          </a:prstGeom>
          <a:noFill/>
          <a:ln/>
        </p:spPr>
        <p:txBody>
          <a:bodyPr wrap="square" rtlCol="0" anchor="ctr"/>
          <a:lstStyle/>
          <a:p>
            <a:pPr indent="0" marL="0">
              <a:buNone/>
            </a:pPr>
            <a:r>
              <a:rPr lang="en-US" sz="1000" b="1" dirty="0">
                <a:solidFill>
                  <a:srgbClr val="55C8E8"/>
                </a:solidFill>
                <a:latin typeface="Calibri" pitchFamily="34" charset="0"/>
                <a:ea typeface="Calibri" pitchFamily="34" charset="-122"/>
                <a:cs typeface="Calibri" pitchFamily="34" charset="-120"/>
              </a:rPr>
              <a:t>Ms. Rivera:</a:t>
            </a:r>
            <a:endParaRPr lang="en-US" sz="1000" dirty="0"/>
          </a:p>
        </p:txBody>
      </p:sp>
      <p:sp>
        <p:nvSpPr>
          <p:cNvPr id="8" name="Text 6"/>
          <p:cNvSpPr/>
          <p:nvPr/>
        </p:nvSpPr>
        <p:spPr>
          <a:xfrm>
            <a:off x="594360" y="960120"/>
            <a:ext cx="7955280" cy="1463040"/>
          </a:xfrm>
          <a:prstGeom prst="rect">
            <a:avLst/>
          </a:prstGeom>
          <a:noFill/>
          <a:ln/>
        </p:spPr>
        <p:txBody>
          <a:bodyPr wrap="square"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"This is the last file in the whole wing. Canvas won't open the door at the end until all our early-Florida evidence is organized into one clear source notebook — source, detail, explanation. Get this right, and we finally move on to the next part of the course. Let's finish it."</a:t>
            </a:r>
            <a:endParaRPr lang="en-US" sz="1400" dirty="0"/>
          </a:p>
        </p:txBody>
      </p:sp>
      <p:sp>
        <p:nvSpPr>
          <p:cNvPr id="9" name="Shape 7"/>
          <p:cNvSpPr/>
          <p:nvPr/>
        </p:nvSpPr>
        <p:spPr>
          <a:xfrm>
            <a:off x="365760" y="2670048"/>
            <a:ext cx="3840480" cy="1234440"/>
          </a:xfrm>
          <a:prstGeom prst="roundRect">
            <a:avLst>
              <a:gd name="adj" fmla="val 11111"/>
            </a:avLst>
          </a:prstGeom>
          <a:solidFill>
            <a:srgbClr val="D4943A">
              <a:alpha val="85000"/>
            </a:srgbClr>
          </a:solidFill>
          <a:ln w="19050">
            <a:solidFill>
              <a:srgbClr val="D4943A"/>
            </a:solidFill>
            <a:prstDash val="solid"/>
          </a:ln>
        </p:spPr>
      </p:sp>
      <p:sp>
        <p:nvSpPr>
          <p:cNvPr id="10" name="Text 8"/>
          <p:cNvSpPr/>
          <p:nvPr/>
        </p:nvSpPr>
        <p:spPr>
          <a:xfrm>
            <a:off x="502920" y="2743200"/>
            <a:ext cx="3566160" cy="256032"/>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YOUR MISSION</a:t>
            </a:r>
            <a:endParaRPr lang="en-US" sz="900" dirty="0"/>
          </a:p>
        </p:txBody>
      </p:sp>
      <p:sp>
        <p:nvSpPr>
          <p:cNvPr id="11" name="Text 9"/>
          <p:cNvSpPr/>
          <p:nvPr/>
        </p:nvSpPr>
        <p:spPr>
          <a:xfrm>
            <a:off x="502920" y="3017520"/>
            <a:ext cx="3566160" cy="82296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Organize the team's early-Florida evidence into a complete source notebook. One source. One detail. One explanation. Then the door opens.</a:t>
            </a:r>
            <a:endParaRPr lang="en-US" sz="1100" dirty="0"/>
          </a:p>
        </p:txBody>
      </p:sp>
      <p:sp>
        <p:nvSpPr>
          <p:cNvPr id="12" name="Shape 10"/>
          <p:cNvSpPr/>
          <p:nvPr/>
        </p:nvSpPr>
        <p:spPr>
          <a:xfrm>
            <a:off x="4572000" y="2670048"/>
            <a:ext cx="4206240" cy="1234440"/>
          </a:xfrm>
          <a:prstGeom prst="roundRect">
            <a:avLst>
              <a:gd name="adj" fmla="val 11111"/>
            </a:avLst>
          </a:prstGeom>
          <a:solidFill>
            <a:srgbClr val="1A8A7D">
              <a:alpha val="80000"/>
            </a:srgbClr>
          </a:solidFill>
          <a:ln w="19050">
            <a:solidFill>
              <a:srgbClr val="1A8A7D"/>
            </a:solidFill>
            <a:prstDash val="solid"/>
          </a:ln>
        </p:spPr>
      </p:sp>
      <p:sp>
        <p:nvSpPr>
          <p:cNvPr id="13" name="Text 11"/>
          <p:cNvSpPr/>
          <p:nvPr/>
        </p:nvSpPr>
        <p:spPr>
          <a:xfrm>
            <a:off x="4709160" y="2743200"/>
            <a:ext cx="3931920" cy="256032"/>
          </a:xfrm>
          <a:prstGeom prst="rect">
            <a:avLst/>
          </a:prstGeom>
          <a:noFill/>
          <a:ln/>
        </p:spPr>
        <p:txBody>
          <a:bodyPr wrap="square"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YOUR ROLE</a:t>
            </a:r>
            <a:endParaRPr lang="en-US" sz="900" dirty="0"/>
          </a:p>
        </p:txBody>
      </p:sp>
      <p:sp>
        <p:nvSpPr>
          <p:cNvPr id="14" name="Text 12"/>
          <p:cNvSpPr/>
          <p:nvPr/>
        </p:nvSpPr>
        <p:spPr>
          <a:xfrm>
            <a:off x="4709160" y="3017520"/>
            <a:ext cx="3931920" cy="82296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Florida History Team member — final mission. Organize every clue, source, and discovery from Lessons 4.06.01 through 4.06.07.</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D4943A"/>
          </a:solidFill>
          <a:ln w="12700">
            <a:solidFill>
              <a:srgbClr val="D4943A"/>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THE SOURCE NOTEBOOK METHOD</a:t>
            </a:r>
            <a:endParaRPr lang="en-US" sz="900" dirty="0"/>
          </a:p>
        </p:txBody>
      </p:sp>
      <p:sp>
        <p:nvSpPr>
          <p:cNvPr id="5" name="Text 3"/>
          <p:cNvSpPr/>
          <p:nvPr/>
        </p:nvSpPr>
        <p:spPr>
          <a:xfrm>
            <a:off x="365760" y="393192"/>
            <a:ext cx="8412480" cy="530352"/>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Three Steps — Every Source</a:t>
            </a:r>
            <a:endParaRPr lang="en-US" sz="2600" dirty="0"/>
          </a:p>
        </p:txBody>
      </p:sp>
      <p:sp>
        <p:nvSpPr>
          <p:cNvPr id="6" name="Shape 4"/>
          <p:cNvSpPr/>
          <p:nvPr/>
        </p:nvSpPr>
        <p:spPr>
          <a:xfrm>
            <a:off x="274320" y="1024128"/>
            <a:ext cx="2560320" cy="2606040"/>
          </a:xfrm>
          <a:prstGeom prst="roundRect">
            <a:avLst>
              <a:gd name="adj" fmla="val 6429"/>
            </a:avLst>
          </a:prstGeom>
          <a:solidFill>
            <a:srgbClr val="0E1C42"/>
          </a:solidFill>
          <a:ln/>
          <a:effectLst>
            <a:outerShdw sx="100000" sy="100000" kx="0" ky="0" algn="bl" rotWithShape="0" blurRad="101600" dist="50800" dir="8100000">
              <a:srgbClr val="000000">
                <a:alpha val="18000"/>
              </a:srgbClr>
            </a:outerShdw>
          </a:effectLst>
        </p:spPr>
      </p:sp>
      <p:sp>
        <p:nvSpPr>
          <p:cNvPr id="7" name="Text 5"/>
          <p:cNvSpPr/>
          <p:nvPr/>
        </p:nvSpPr>
        <p:spPr>
          <a:xfrm>
            <a:off x="274320" y="1115568"/>
            <a:ext cx="2560320" cy="438912"/>
          </a:xfrm>
          <a:prstGeom prst="rect">
            <a:avLst/>
          </a:prstGeom>
          <a:noFill/>
          <a:ln/>
        </p:spPr>
        <p:txBody>
          <a:bodyPr wrap="square" rtlCol="0" anchor="ctr"/>
          <a:lstStyle/>
          <a:p>
            <a:pPr algn="ctr" indent="0" marL="0">
              <a:buNone/>
            </a:pPr>
            <a:r>
              <a:rPr lang="en-US" sz="2800" b="1" dirty="0">
                <a:solidFill>
                  <a:srgbClr val="55C8E8"/>
                </a:solidFill>
                <a:latin typeface="Cambria" pitchFamily="34" charset="0"/>
                <a:ea typeface="Cambria" pitchFamily="34" charset="-122"/>
                <a:cs typeface="Cambria" pitchFamily="34" charset="-120"/>
              </a:rPr>
              <a:t>1</a:t>
            </a:r>
            <a:endParaRPr lang="en-US" sz="2800" dirty="0"/>
          </a:p>
        </p:txBody>
      </p:sp>
      <p:sp>
        <p:nvSpPr>
          <p:cNvPr id="8" name="Text 6"/>
          <p:cNvSpPr/>
          <p:nvPr/>
        </p:nvSpPr>
        <p:spPr>
          <a:xfrm>
            <a:off x="274320" y="1572768"/>
            <a:ext cx="2560320" cy="38404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SOURCE</a:t>
            </a:r>
            <a:endParaRPr lang="en-US" sz="1800" dirty="0"/>
          </a:p>
        </p:txBody>
      </p:sp>
      <p:sp>
        <p:nvSpPr>
          <p:cNvPr id="9" name="Text 7"/>
          <p:cNvSpPr/>
          <p:nvPr/>
        </p:nvSpPr>
        <p:spPr>
          <a:xfrm>
            <a:off x="411480" y="1984248"/>
            <a:ext cx="2286000" cy="475488"/>
          </a:xfrm>
          <a:prstGeom prst="rect">
            <a:avLst/>
          </a:prstGeom>
          <a:noFill/>
          <a:ln/>
        </p:spPr>
        <p:txBody>
          <a:bodyPr wrap="square" rtlCol="0" anchor="ctr"/>
          <a:lstStyle/>
          <a:p>
            <a:pPr algn="ctr" indent="0" marL="0">
              <a:buNone/>
            </a:pPr>
            <a:r>
              <a:rPr lang="en-US" sz="1200" i="1" dirty="0">
                <a:solidFill>
                  <a:srgbClr val="F0F2F8"/>
                </a:solidFill>
                <a:latin typeface="Calibri" pitchFamily="34" charset="0"/>
                <a:ea typeface="Calibri" pitchFamily="34" charset="-122"/>
                <a:cs typeface="Calibri" pitchFamily="34" charset="-120"/>
              </a:rPr>
              <a:t>Where does this information come from?</a:t>
            </a:r>
            <a:endParaRPr lang="en-US" sz="1200" dirty="0"/>
          </a:p>
        </p:txBody>
      </p:sp>
      <p:sp>
        <p:nvSpPr>
          <p:cNvPr id="10" name="Text 8"/>
          <p:cNvSpPr/>
          <p:nvPr/>
        </p:nvSpPr>
        <p:spPr>
          <a:xfrm>
            <a:off x="411480" y="2487168"/>
            <a:ext cx="2286000" cy="365760"/>
          </a:xfrm>
          <a:prstGeom prst="rect">
            <a:avLst/>
          </a:prstGeom>
          <a:noFill/>
          <a:ln/>
        </p:spPr>
        <p:txBody>
          <a:bodyPr wrap="square"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(map, fort image, mission record)</a:t>
            </a:r>
            <a:endParaRPr lang="en-US" sz="1000" dirty="0"/>
          </a:p>
        </p:txBody>
      </p:sp>
      <p:sp>
        <p:nvSpPr>
          <p:cNvPr id="11" name="Text 9"/>
          <p:cNvSpPr/>
          <p:nvPr/>
        </p:nvSpPr>
        <p:spPr>
          <a:xfrm>
            <a:off x="411480" y="2880360"/>
            <a:ext cx="2286000" cy="502920"/>
          </a:xfrm>
          <a:prstGeom prst="rect">
            <a:avLst/>
          </a:prstGeom>
          <a:noFill/>
          <a:ln/>
        </p:spPr>
        <p:txBody>
          <a:bodyPr wrap="square" rtlCol="0" anchor="ctr"/>
          <a:lstStyle/>
          <a:p>
            <a:pPr algn="ctr" indent="0" marL="0">
              <a:buNone/>
            </a:pPr>
            <a:r>
              <a:rPr lang="en-US" sz="1000" b="1" dirty="0">
                <a:solidFill>
                  <a:srgbClr val="55C8E8"/>
                </a:solidFill>
                <a:latin typeface="Calibri" pitchFamily="34" charset="0"/>
                <a:ea typeface="Calibri" pitchFamily="34" charset="-122"/>
                <a:cs typeface="Calibri" pitchFamily="34" charset="-120"/>
              </a:rPr>
              <a:t>Who? When? Where?</a:t>
            </a:r>
            <a:endParaRPr lang="en-US" sz="1000" dirty="0"/>
          </a:p>
          <a:p>
            <a:pPr algn="ctr" indent="0" marL="0">
              <a:buNone/>
            </a:pPr>
            <a:r>
              <a:rPr lang="en-US" sz="1000" b="1" dirty="0">
                <a:solidFill>
                  <a:srgbClr val="55C8E8"/>
                </a:solidFill>
                <a:latin typeface="Calibri" pitchFamily="34" charset="0"/>
                <a:ea typeface="Calibri" pitchFamily="34" charset="-122"/>
                <a:cs typeface="Calibri" pitchFamily="34" charset="-120"/>
              </a:rPr>
              <a:t>How do we know?</a:t>
            </a:r>
            <a:endParaRPr lang="en-US" sz="1000" dirty="0"/>
          </a:p>
        </p:txBody>
      </p:sp>
      <p:sp>
        <p:nvSpPr>
          <p:cNvPr id="12" name="Shape 10"/>
          <p:cNvSpPr/>
          <p:nvPr/>
        </p:nvSpPr>
        <p:spPr>
          <a:xfrm>
            <a:off x="2907792" y="2212848"/>
            <a:ext cx="502920" cy="438912"/>
          </a:xfrm>
          <a:prstGeom prst="rightArrow">
            <a:avLst/>
          </a:prstGeom>
          <a:solidFill>
            <a:srgbClr val="D4943A"/>
          </a:solidFill>
          <a:ln w="12700">
            <a:solidFill>
              <a:srgbClr val="D4943A"/>
            </a:solidFill>
            <a:prstDash val="solid"/>
          </a:ln>
        </p:spPr>
      </p:sp>
      <p:sp>
        <p:nvSpPr>
          <p:cNvPr id="13" name="Shape 11"/>
          <p:cNvSpPr/>
          <p:nvPr/>
        </p:nvSpPr>
        <p:spPr>
          <a:xfrm>
            <a:off x="3474720" y="1024128"/>
            <a:ext cx="2560320" cy="2606040"/>
          </a:xfrm>
          <a:prstGeom prst="roundRect">
            <a:avLst>
              <a:gd name="adj" fmla="val 6429"/>
            </a:avLst>
          </a:prstGeom>
          <a:solidFill>
            <a:srgbClr val="1A8A7D"/>
          </a:solidFill>
          <a:ln/>
          <a:effectLst>
            <a:outerShdw sx="100000" sy="100000" kx="0" ky="0" algn="bl" rotWithShape="0" blurRad="101600" dist="50800" dir="8100000">
              <a:srgbClr val="000000">
                <a:alpha val="18000"/>
              </a:srgbClr>
            </a:outerShdw>
          </a:effectLst>
        </p:spPr>
      </p:sp>
      <p:sp>
        <p:nvSpPr>
          <p:cNvPr id="14" name="Text 12"/>
          <p:cNvSpPr/>
          <p:nvPr/>
        </p:nvSpPr>
        <p:spPr>
          <a:xfrm>
            <a:off x="3474720" y="1115568"/>
            <a:ext cx="2560320" cy="438912"/>
          </a:xfrm>
          <a:prstGeom prst="rect">
            <a:avLst/>
          </a:prstGeom>
          <a:noFill/>
          <a:ln/>
        </p:spPr>
        <p:txBody>
          <a:bodyPr wrap="square" rtlCol="0" anchor="ctr"/>
          <a:lstStyle/>
          <a:p>
            <a:pPr algn="ctr" indent="0" marL="0">
              <a:buNone/>
            </a:pPr>
            <a:r>
              <a:rPr lang="en-US" sz="2800" b="1" dirty="0">
                <a:solidFill>
                  <a:srgbClr val="FFF3DC"/>
                </a:solidFill>
                <a:latin typeface="Cambria" pitchFamily="34" charset="0"/>
                <a:ea typeface="Cambria" pitchFamily="34" charset="-122"/>
                <a:cs typeface="Cambria" pitchFamily="34" charset="-120"/>
              </a:rPr>
              <a:t>2</a:t>
            </a:r>
            <a:endParaRPr lang="en-US" sz="2800" dirty="0"/>
          </a:p>
        </p:txBody>
      </p:sp>
      <p:sp>
        <p:nvSpPr>
          <p:cNvPr id="15" name="Text 13"/>
          <p:cNvSpPr/>
          <p:nvPr/>
        </p:nvSpPr>
        <p:spPr>
          <a:xfrm>
            <a:off x="3474720" y="1572768"/>
            <a:ext cx="2560320" cy="38404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DETAIL</a:t>
            </a:r>
            <a:endParaRPr lang="en-US" sz="1800" dirty="0"/>
          </a:p>
        </p:txBody>
      </p:sp>
      <p:sp>
        <p:nvSpPr>
          <p:cNvPr id="16" name="Text 14"/>
          <p:cNvSpPr/>
          <p:nvPr/>
        </p:nvSpPr>
        <p:spPr>
          <a:xfrm>
            <a:off x="3611880" y="1984248"/>
            <a:ext cx="2286000" cy="475488"/>
          </a:xfrm>
          <a:prstGeom prst="rect">
            <a:avLst/>
          </a:prstGeom>
          <a:noFill/>
          <a:ln/>
        </p:spPr>
        <p:txBody>
          <a:bodyPr wrap="square" rtlCol="0" anchor="ctr"/>
          <a:lstStyle/>
          <a:p>
            <a:pPr algn="ctr" indent="0" marL="0">
              <a:buNone/>
            </a:pPr>
            <a:r>
              <a:rPr lang="en-US" sz="1200" i="1" dirty="0">
                <a:solidFill>
                  <a:srgbClr val="F0F2F8"/>
                </a:solidFill>
                <a:latin typeface="Calibri" pitchFamily="34" charset="0"/>
                <a:ea typeface="Calibri" pitchFamily="34" charset="-122"/>
                <a:cs typeface="Calibri" pitchFamily="34" charset="-120"/>
              </a:rPr>
              <a:t>One specific fact the source shows</a:t>
            </a:r>
            <a:endParaRPr lang="en-US" sz="1200" dirty="0"/>
          </a:p>
        </p:txBody>
      </p:sp>
      <p:sp>
        <p:nvSpPr>
          <p:cNvPr id="17" name="Text 15"/>
          <p:cNvSpPr/>
          <p:nvPr/>
        </p:nvSpPr>
        <p:spPr>
          <a:xfrm>
            <a:off x="3611880" y="2487168"/>
            <a:ext cx="2286000" cy="365760"/>
          </a:xfrm>
          <a:prstGeom prst="rect">
            <a:avLst/>
          </a:prstGeom>
          <a:noFill/>
          <a:ln/>
        </p:spPr>
        <p:txBody>
          <a:bodyPr wrap="square" rtlCol="0" anchor="ctr"/>
          <a:lstStyle/>
          <a:p>
            <a:pPr algn="ctr" indent="0" marL="0">
              <a:buNone/>
            </a:pPr>
            <a:r>
              <a:rPr lang="en-US" sz="1000" dirty="0">
                <a:solidFill>
                  <a:srgbClr val="E2EFE8"/>
                </a:solidFill>
                <a:latin typeface="Calibri" pitchFamily="34" charset="0"/>
                <a:ea typeface="Calibri" pitchFamily="34" charset="-122"/>
                <a:cs typeface="Calibri" pitchFamily="34" charset="-120"/>
              </a:rPr>
              <a:t>(a date, a location, a person or event)</a:t>
            </a:r>
            <a:endParaRPr lang="en-US" sz="1000" dirty="0"/>
          </a:p>
        </p:txBody>
      </p:sp>
      <p:sp>
        <p:nvSpPr>
          <p:cNvPr id="18" name="Text 16"/>
          <p:cNvSpPr/>
          <p:nvPr/>
        </p:nvSpPr>
        <p:spPr>
          <a:xfrm>
            <a:off x="3611880" y="2880360"/>
            <a:ext cx="2286000" cy="502920"/>
          </a:xfrm>
          <a:prstGeom prst="rect">
            <a:avLst/>
          </a:prstGeom>
          <a:noFill/>
          <a:ln/>
        </p:spPr>
        <p:txBody>
          <a:bodyPr wrap="square" rtlCol="0" anchor="ctr"/>
          <a:lstStyle/>
          <a:p>
            <a:pPr algn="ctr" indent="0" marL="0">
              <a:buNone/>
            </a:pPr>
            <a:r>
              <a:rPr lang="en-US" sz="1000" b="1" dirty="0">
                <a:solidFill>
                  <a:srgbClr val="FFF3DC"/>
                </a:solidFill>
                <a:latin typeface="Calibri" pitchFamily="34" charset="0"/>
                <a:ea typeface="Calibri" pitchFamily="34" charset="-122"/>
                <a:cs typeface="Calibri" pitchFamily="34" charset="-120"/>
              </a:rPr>
              <a:t>Be specific —</a:t>
            </a:r>
            <a:endParaRPr lang="en-US" sz="1000" dirty="0"/>
          </a:p>
          <a:p>
            <a:pPr algn="ctr" indent="0" marL="0">
              <a:buNone/>
            </a:pPr>
            <a:r>
              <a:rPr lang="en-US" sz="1000" b="1" dirty="0">
                <a:solidFill>
                  <a:srgbClr val="FFF3DC"/>
                </a:solidFill>
                <a:latin typeface="Calibri" pitchFamily="34" charset="0"/>
                <a:ea typeface="Calibri" pitchFamily="34" charset="-122"/>
                <a:cs typeface="Calibri" pitchFamily="34" charset="-120"/>
              </a:rPr>
              <a:t>not 'things happened'</a:t>
            </a:r>
            <a:endParaRPr lang="en-US" sz="1000" dirty="0"/>
          </a:p>
        </p:txBody>
      </p:sp>
      <p:sp>
        <p:nvSpPr>
          <p:cNvPr id="19" name="Shape 17"/>
          <p:cNvSpPr/>
          <p:nvPr/>
        </p:nvSpPr>
        <p:spPr>
          <a:xfrm>
            <a:off x="6108192" y="2212848"/>
            <a:ext cx="502920" cy="438912"/>
          </a:xfrm>
          <a:prstGeom prst="rightArrow">
            <a:avLst/>
          </a:prstGeom>
          <a:solidFill>
            <a:srgbClr val="D4943A"/>
          </a:solidFill>
          <a:ln w="12700">
            <a:solidFill>
              <a:srgbClr val="D4943A"/>
            </a:solidFill>
            <a:prstDash val="solid"/>
          </a:ln>
        </p:spPr>
      </p:sp>
      <p:sp>
        <p:nvSpPr>
          <p:cNvPr id="20" name="Shape 18"/>
          <p:cNvSpPr/>
          <p:nvPr/>
        </p:nvSpPr>
        <p:spPr>
          <a:xfrm>
            <a:off x="6675120" y="1024128"/>
            <a:ext cx="2148840" cy="2606040"/>
          </a:xfrm>
          <a:prstGeom prst="roundRect">
            <a:avLst>
              <a:gd name="adj" fmla="val 7660"/>
            </a:avLst>
          </a:prstGeom>
          <a:solidFill>
            <a:srgbClr val="D4943A"/>
          </a:solidFill>
          <a:ln/>
          <a:effectLst>
            <a:outerShdw sx="100000" sy="100000" kx="0" ky="0" algn="bl" rotWithShape="0" blurRad="101600" dist="50800" dir="8100000">
              <a:srgbClr val="000000">
                <a:alpha val="18000"/>
              </a:srgbClr>
            </a:outerShdw>
          </a:effectLst>
        </p:spPr>
      </p:sp>
      <p:sp>
        <p:nvSpPr>
          <p:cNvPr id="21" name="Text 19"/>
          <p:cNvSpPr/>
          <p:nvPr/>
        </p:nvSpPr>
        <p:spPr>
          <a:xfrm>
            <a:off x="6675120" y="1115568"/>
            <a:ext cx="2148840" cy="438912"/>
          </a:xfrm>
          <a:prstGeom prst="rect">
            <a:avLst/>
          </a:prstGeom>
          <a:noFill/>
          <a:ln/>
        </p:spPr>
        <p:txBody>
          <a:bodyPr wrap="square" rtlCol="0" anchor="ctr"/>
          <a:lstStyle/>
          <a:p>
            <a:pPr algn="ctr" indent="0" marL="0">
              <a:buNone/>
            </a:pPr>
            <a:r>
              <a:rPr lang="en-US" sz="2800" b="1" dirty="0">
                <a:solidFill>
                  <a:srgbClr val="0E1C42"/>
                </a:solidFill>
                <a:latin typeface="Cambria" pitchFamily="34" charset="0"/>
                <a:ea typeface="Cambria" pitchFamily="34" charset="-122"/>
                <a:cs typeface="Cambria" pitchFamily="34" charset="-120"/>
              </a:rPr>
              <a:t>3</a:t>
            </a:r>
            <a:endParaRPr lang="en-US" sz="2800" dirty="0"/>
          </a:p>
        </p:txBody>
      </p:sp>
      <p:sp>
        <p:nvSpPr>
          <p:cNvPr id="22" name="Text 20"/>
          <p:cNvSpPr/>
          <p:nvPr/>
        </p:nvSpPr>
        <p:spPr>
          <a:xfrm>
            <a:off x="6675120" y="1572768"/>
            <a:ext cx="2148840" cy="384048"/>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EXPLAIN</a:t>
            </a:r>
            <a:endParaRPr lang="en-US" sz="1800" dirty="0"/>
          </a:p>
        </p:txBody>
      </p:sp>
      <p:sp>
        <p:nvSpPr>
          <p:cNvPr id="23" name="Text 21"/>
          <p:cNvSpPr/>
          <p:nvPr/>
        </p:nvSpPr>
        <p:spPr>
          <a:xfrm>
            <a:off x="6784848" y="1984248"/>
            <a:ext cx="1920240" cy="658368"/>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What does the detail mean and how does it connect?</a:t>
            </a:r>
            <a:endParaRPr lang="en-US" sz="1200" dirty="0"/>
          </a:p>
        </p:txBody>
      </p:sp>
      <p:sp>
        <p:nvSpPr>
          <p:cNvPr id="24" name="Text 22"/>
          <p:cNvSpPr/>
          <p:nvPr/>
        </p:nvSpPr>
        <p:spPr>
          <a:xfrm>
            <a:off x="6784848" y="2743200"/>
            <a:ext cx="1920240" cy="50292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'This shows that...</a:t>
            </a:r>
            <a:endParaRPr lang="en-US" sz="1000" dirty="0"/>
          </a:p>
          <a:p>
            <a:pPr algn="ctr" indent="0" marL="0">
              <a:buNone/>
            </a:pPr>
            <a:r>
              <a:rPr lang="en-US" sz="1000" b="1" dirty="0">
                <a:solidFill>
                  <a:srgbClr val="0E1C42"/>
                </a:solidFill>
                <a:latin typeface="Calibri" pitchFamily="34" charset="0"/>
                <a:ea typeface="Calibri" pitchFamily="34" charset="-122"/>
                <a:cs typeface="Calibri" pitchFamily="34" charset="-120"/>
              </a:rPr>
              <a:t>because...'</a:t>
            </a:r>
            <a:endParaRPr lang="en-US" sz="1000" dirty="0"/>
          </a:p>
        </p:txBody>
      </p:sp>
      <p:sp>
        <p:nvSpPr>
          <p:cNvPr id="25" name="Shape 23"/>
          <p:cNvSpPr/>
          <p:nvPr/>
        </p:nvSpPr>
        <p:spPr>
          <a:xfrm>
            <a:off x="274320" y="3749040"/>
            <a:ext cx="8595360" cy="804672"/>
          </a:xfrm>
          <a:prstGeom prst="roundRect">
            <a:avLst>
              <a:gd name="adj" fmla="val 13636"/>
            </a:avLst>
          </a:prstGeom>
          <a:solidFill>
            <a:srgbClr val="FFF3DC"/>
          </a:solidFill>
          <a:ln w="19050">
            <a:solidFill>
              <a:srgbClr val="F5E6C8"/>
            </a:solidFill>
            <a:prstDash val="solid"/>
          </a:ln>
        </p:spPr>
      </p:sp>
      <p:sp>
        <p:nvSpPr>
          <p:cNvPr id="26" name="Text 24"/>
          <p:cNvSpPr/>
          <p:nvPr/>
        </p:nvSpPr>
        <p:spPr>
          <a:xfrm>
            <a:off x="457200" y="3840480"/>
            <a:ext cx="1005840" cy="530352"/>
          </a:xfrm>
          <a:prstGeom prst="rect">
            <a:avLst/>
          </a:prstGeom>
          <a:noFill/>
          <a:ln/>
        </p:spPr>
        <p:txBody>
          <a:bodyPr wrap="square"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Opti says:</a:t>
            </a:r>
            <a:endParaRPr lang="en-US" sz="1100" dirty="0"/>
          </a:p>
        </p:txBody>
      </p:sp>
      <p:sp>
        <p:nvSpPr>
          <p:cNvPr id="27" name="Text 25"/>
          <p:cNvSpPr/>
          <p:nvPr/>
        </p:nvSpPr>
        <p:spPr>
          <a:xfrm>
            <a:off x="1417320" y="3822192"/>
            <a:ext cx="7269480" cy="566928"/>
          </a:xfrm>
          <a:prstGeom prst="rect">
            <a:avLst/>
          </a:prstGeom>
          <a:noFill/>
          <a:ln/>
        </p:spPr>
        <p:txBody>
          <a:bodyPr wrap="square" rtlCol="0" anchor="ctr"/>
          <a:lstStyle/>
          <a:p>
            <a:pPr indent="0" marL="0">
              <a:buNone/>
            </a:pPr>
            <a:r>
              <a:rPr lang="en-US" sz="1100" i="1" dirty="0">
                <a:solidFill>
                  <a:srgbClr val="5A4A3A"/>
                </a:solidFill>
                <a:latin typeface="Cambria" pitchFamily="34" charset="0"/>
                <a:ea typeface="Cambria" pitchFamily="34" charset="-122"/>
                <a:cs typeface="Cambria" pitchFamily="34" charset="-120"/>
              </a:rPr>
              <a:t>"A good source notebook answers four little questions: who, when, where, and how do we know? If you can answer 'how do we know,' you've named your source."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D4943A"/>
          </a:solidFill>
          <a:ln w="12700">
            <a:solidFill>
              <a:srgbClr val="D4943A"/>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MULTI-SOURCE COMPARE</a:t>
            </a:r>
            <a:endParaRPr lang="en-US" sz="900" dirty="0"/>
          </a:p>
        </p:txBody>
      </p:sp>
      <p:sp>
        <p:nvSpPr>
          <p:cNvPr id="5" name="Text 3"/>
          <p:cNvSpPr/>
          <p:nvPr/>
        </p:nvSpPr>
        <p:spPr>
          <a:xfrm>
            <a:off x="365760" y="393192"/>
            <a:ext cx="8412480" cy="50292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Does Each Source Show Us?</a:t>
            </a:r>
            <a:endParaRPr lang="en-US" sz="2400" dirty="0"/>
          </a:p>
        </p:txBody>
      </p:sp>
      <p:sp>
        <p:nvSpPr>
          <p:cNvPr id="6" name="Shape 4"/>
          <p:cNvSpPr/>
          <p:nvPr/>
        </p:nvSpPr>
        <p:spPr>
          <a:xfrm>
            <a:off x="274320" y="987552"/>
            <a:ext cx="1371600" cy="274320"/>
          </a:xfrm>
          <a:prstGeom prst="roundRect">
            <a:avLst>
              <a:gd name="adj" fmla="val 26667"/>
            </a:avLst>
          </a:prstGeom>
          <a:solidFill>
            <a:srgbClr val="0E1C42"/>
          </a:solidFill>
          <a:ln w="12700">
            <a:solidFill>
              <a:srgbClr val="0E1C42"/>
            </a:solidFill>
            <a:prstDash val="solid"/>
          </a:ln>
        </p:spPr>
      </p:sp>
      <p:sp>
        <p:nvSpPr>
          <p:cNvPr id="7" name="Text 5"/>
          <p:cNvSpPr/>
          <p:nvPr/>
        </p:nvSpPr>
        <p:spPr>
          <a:xfrm>
            <a:off x="274320" y="987552"/>
            <a:ext cx="1371600" cy="274320"/>
          </a:xfrm>
          <a:prstGeom prst="rect">
            <a:avLst/>
          </a:prstGeom>
          <a:noFill/>
          <a:ln/>
        </p:spPr>
        <p:txBody>
          <a:bodyPr wrap="square"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SOURCE A</a:t>
            </a:r>
            <a:endParaRPr lang="en-US" sz="900" dirty="0"/>
          </a:p>
        </p:txBody>
      </p:sp>
      <p:sp>
        <p:nvSpPr>
          <p:cNvPr id="8" name="Shape 6"/>
          <p:cNvSpPr/>
          <p:nvPr/>
        </p:nvSpPr>
        <p:spPr>
          <a:xfrm>
            <a:off x="4754880" y="987552"/>
            <a:ext cx="1371600" cy="274320"/>
          </a:xfrm>
          <a:prstGeom prst="roundRect">
            <a:avLst>
              <a:gd name="adj" fmla="val 26667"/>
            </a:avLst>
          </a:prstGeom>
          <a:solidFill>
            <a:srgbClr val="1A8A7D"/>
          </a:solidFill>
          <a:ln w="12700">
            <a:solidFill>
              <a:srgbClr val="1A8A7D"/>
            </a:solidFill>
            <a:prstDash val="solid"/>
          </a:ln>
        </p:spPr>
      </p:sp>
      <p:sp>
        <p:nvSpPr>
          <p:cNvPr id="9" name="Text 7"/>
          <p:cNvSpPr/>
          <p:nvPr/>
        </p:nvSpPr>
        <p:spPr>
          <a:xfrm>
            <a:off x="4754880" y="987552"/>
            <a:ext cx="1371600" cy="274320"/>
          </a:xfrm>
          <a:prstGeom prst="rect">
            <a:avLst/>
          </a:prstGeom>
          <a:noFill/>
          <a:ln/>
        </p:spPr>
        <p:txBody>
          <a:bodyPr wrap="square"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SOURCE B</a:t>
            </a:r>
            <a:endParaRPr lang="en-US" sz="900" dirty="0"/>
          </a:p>
        </p:txBody>
      </p:sp>
      <p:sp>
        <p:nvSpPr>
          <p:cNvPr id="10" name="Shape 8"/>
          <p:cNvSpPr/>
          <p:nvPr/>
        </p:nvSpPr>
        <p:spPr>
          <a:xfrm>
            <a:off x="274320" y="1325880"/>
            <a:ext cx="4114800" cy="2286000"/>
          </a:xfrm>
          <a:prstGeom prst="roundRect">
            <a:avLst>
              <a:gd name="adj" fmla="val 4800"/>
            </a:avLst>
          </a:prstGeom>
          <a:solidFill>
            <a:srgbClr val="E2E8F4"/>
          </a:solidFill>
          <a:ln w="19050">
            <a:solidFill>
              <a:srgbClr val="B0B8CC"/>
            </a:solidFill>
            <a:prstDash val="dash"/>
          </a:ln>
        </p:spPr>
      </p:sp>
      <p:sp>
        <p:nvSpPr>
          <p:cNvPr id="11" name="Text 9"/>
          <p:cNvSpPr/>
          <p:nvPr/>
        </p:nvSpPr>
        <p:spPr>
          <a:xfrm>
            <a:off x="274320" y="132588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411480" y="1600200"/>
            <a:ext cx="384048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Old Spanish map of Florida, c. 1600s — coastline, rivers, settlements, place names in Spanish. La Florida labeled. Aged parchment texture.</a:t>
            </a:r>
            <a:endParaRPr lang="en-US" sz="1100" dirty="0"/>
          </a:p>
        </p:txBody>
      </p:sp>
      <p:sp>
        <p:nvSpPr>
          <p:cNvPr id="13" name="Shape 11"/>
          <p:cNvSpPr/>
          <p:nvPr/>
        </p:nvSpPr>
        <p:spPr>
          <a:xfrm>
            <a:off x="4617720" y="1325880"/>
            <a:ext cx="4160520" cy="2286000"/>
          </a:xfrm>
          <a:prstGeom prst="roundRect">
            <a:avLst>
              <a:gd name="adj" fmla="val 4800"/>
            </a:avLst>
          </a:prstGeom>
          <a:solidFill>
            <a:srgbClr val="E2E8F4"/>
          </a:solidFill>
          <a:ln w="19050">
            <a:solidFill>
              <a:srgbClr val="B0B8CC"/>
            </a:solidFill>
            <a:prstDash val="dash"/>
          </a:ln>
        </p:spPr>
      </p:sp>
      <p:sp>
        <p:nvSpPr>
          <p:cNvPr id="14" name="Text 12"/>
          <p:cNvSpPr/>
          <p:nvPr/>
        </p:nvSpPr>
        <p:spPr>
          <a:xfrm>
            <a:off x="4617720" y="1325880"/>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4754880" y="1600200"/>
            <a:ext cx="388620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Castillo de San Marcos exterior — massive coquina stone fort walls, cannon emplacements, moat visible, St. Augustine waterfront in background.</a:t>
            </a:r>
            <a:endParaRPr lang="en-US" sz="1100" dirty="0"/>
          </a:p>
        </p:txBody>
      </p:sp>
      <p:sp>
        <p:nvSpPr>
          <p:cNvPr id="16" name="Shape 14"/>
          <p:cNvSpPr/>
          <p:nvPr/>
        </p:nvSpPr>
        <p:spPr>
          <a:xfrm>
            <a:off x="274320" y="3703320"/>
            <a:ext cx="8595360" cy="1188720"/>
          </a:xfrm>
          <a:prstGeom prst="roundRect">
            <a:avLst>
              <a:gd name="adj" fmla="val 9231"/>
            </a:avLst>
          </a:prstGeom>
          <a:solidFill>
            <a:srgbClr val="FFF3DC"/>
          </a:solidFill>
          <a:ln w="19050">
            <a:solidFill>
              <a:srgbClr val="F5E6C8"/>
            </a:solidFill>
            <a:prstDash val="solid"/>
          </a:ln>
        </p:spPr>
      </p:sp>
      <p:sp>
        <p:nvSpPr>
          <p:cNvPr id="17" name="Text 15"/>
          <p:cNvSpPr/>
          <p:nvPr/>
        </p:nvSpPr>
        <p:spPr>
          <a:xfrm>
            <a:off x="411480" y="3758184"/>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411480" y="3959352"/>
            <a:ext cx="832104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(the map) tells us ___ but Source B (the fort) shows ___ because these two sources are different types..."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detail I can only get from Source A is ___ because the map shows something the fort cannot, which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"Together, these two sources prove ___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55C8E8"/>
          </a:solidFill>
          <a:ln w="12700">
            <a:solidFill>
              <a:srgbClr val="55C8E8"/>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DISCUSSION</a:t>
            </a:r>
            <a:endParaRPr lang="en-US" sz="900" dirty="0"/>
          </a:p>
        </p:txBody>
      </p:sp>
      <p:sp>
        <p:nvSpPr>
          <p:cNvPr id="5" name="Text 3"/>
          <p:cNvSpPr/>
          <p:nvPr/>
        </p:nvSpPr>
        <p:spPr>
          <a:xfrm>
            <a:off x="365760" y="393192"/>
            <a:ext cx="8412480" cy="530352"/>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What Makes a Source Trustworthy?</a:t>
            </a:r>
            <a:endParaRPr lang="en-US" sz="2600" dirty="0"/>
          </a:p>
        </p:txBody>
      </p:sp>
      <p:sp>
        <p:nvSpPr>
          <p:cNvPr id="6" name="Shape 4"/>
          <p:cNvSpPr/>
          <p:nvPr/>
        </p:nvSpPr>
        <p:spPr>
          <a:xfrm>
            <a:off x="274320" y="1078992"/>
            <a:ext cx="5303520" cy="2816352"/>
          </a:xfrm>
          <a:prstGeom prst="roundRect">
            <a:avLst>
              <a:gd name="adj" fmla="val 4870"/>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457200" y="1170432"/>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457200" y="1426464"/>
            <a:ext cx="4937760" cy="237744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our unit's sources was most reliable — the Spanish fort, the mission records, or the map? How do you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the strongest evidence we found in this unit — the one you'd use to prove an argument?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still uncertain about early Florida, and why does that uncertainty matter to a historian?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use the same sources we have and reach a DIFFERENT conclusion? What would they argue?</a:t>
            </a:r>
            <a:endParaRPr lang="en-US" sz="1100" dirty="0"/>
          </a:p>
        </p:txBody>
      </p:sp>
      <p:sp>
        <p:nvSpPr>
          <p:cNvPr id="9" name="Shape 7"/>
          <p:cNvSpPr/>
          <p:nvPr/>
        </p:nvSpPr>
        <p:spPr>
          <a:xfrm>
            <a:off x="5715000" y="1078992"/>
            <a:ext cx="3108960" cy="2816352"/>
          </a:xfrm>
          <a:prstGeom prst="roundRect">
            <a:avLst>
              <a:gd name="adj" fmla="val 4870"/>
            </a:avLst>
          </a:prstGeom>
          <a:solidFill>
            <a:srgbClr val="FFFFFF"/>
          </a:solidFill>
          <a:ln w="19050">
            <a:solidFill>
              <a:srgbClr val="B0B8CC"/>
            </a:solidFill>
            <a:prstDash val="solid"/>
          </a:ln>
        </p:spPr>
      </p:sp>
      <p:sp>
        <p:nvSpPr>
          <p:cNvPr id="10" name="Text 8"/>
          <p:cNvSpPr/>
          <p:nvPr/>
        </p:nvSpPr>
        <p:spPr>
          <a:xfrm>
            <a:off x="5852160" y="1170432"/>
            <a:ext cx="2834640" cy="274320"/>
          </a:xfrm>
          <a:prstGeom prst="rect">
            <a:avLst/>
          </a:prstGeom>
          <a:noFill/>
          <a:ln/>
        </p:spPr>
        <p:txBody>
          <a:bodyPr wrap="square" rtlCol="0" anchor="ctr"/>
          <a:lstStyle/>
          <a:p>
            <a:pPr indent="0" marL="0">
              <a:buNone/>
            </a:pPr>
            <a:r>
              <a:rPr lang="en-US" sz="900" b="1" spc="130" kern="0" dirty="0">
                <a:solidFill>
                  <a:srgbClr val="0E1C42"/>
                </a:solidFill>
                <a:latin typeface="Calibri" pitchFamily="34" charset="0"/>
                <a:ea typeface="Calibri" pitchFamily="34" charset="-122"/>
                <a:cs typeface="Calibri" pitchFamily="34" charset="-120"/>
              </a:rPr>
              <a:t>A TRUSTWORTHY SOURCE...</a:t>
            </a:r>
            <a:endParaRPr lang="en-US" sz="900" dirty="0"/>
          </a:p>
        </p:txBody>
      </p:sp>
      <p:sp>
        <p:nvSpPr>
          <p:cNvPr id="11" name="Text 9"/>
          <p:cNvSpPr/>
          <p:nvPr/>
        </p:nvSpPr>
        <p:spPr>
          <a:xfrm>
            <a:off x="5870448" y="1508760"/>
            <a:ext cx="2816352" cy="365760"/>
          </a:xfrm>
          <a:prstGeom prst="rect">
            <a:avLst/>
          </a:prstGeom>
          <a:noFill/>
          <a:ln/>
        </p:spPr>
        <p:txBody>
          <a:bodyPr wrap="square" rtlCol="0" anchor="ctr"/>
          <a:lstStyle/>
          <a:p>
            <a:pPr marL="342900" indent="-342900">
              <a:buSzPct val="100000"/>
              <a:buChar char="•"/>
            </a:pPr>
            <a:r>
              <a:rPr lang="en-US" sz="1100" dirty="0">
                <a:solidFill>
                  <a:srgbClr val="1A2D5A"/>
                </a:solidFill>
                <a:latin typeface="Calibri" pitchFamily="34" charset="0"/>
                <a:ea typeface="Calibri" pitchFamily="34" charset="-122"/>
                <a:cs typeface="Calibri" pitchFamily="34" charset="-120"/>
              </a:rPr>
              <a:t>Can we identify WHO made it?</a:t>
            </a:r>
            <a:endParaRPr lang="en-US" sz="1100" dirty="0"/>
          </a:p>
        </p:txBody>
      </p:sp>
      <p:sp>
        <p:nvSpPr>
          <p:cNvPr id="12" name="Text 10"/>
          <p:cNvSpPr/>
          <p:nvPr/>
        </p:nvSpPr>
        <p:spPr>
          <a:xfrm>
            <a:off x="5870448" y="1911096"/>
            <a:ext cx="2816352" cy="365760"/>
          </a:xfrm>
          <a:prstGeom prst="rect">
            <a:avLst/>
          </a:prstGeom>
          <a:noFill/>
          <a:ln/>
        </p:spPr>
        <p:txBody>
          <a:bodyPr wrap="square" rtlCol="0" anchor="ctr"/>
          <a:lstStyle/>
          <a:p>
            <a:pPr marL="342900" indent="-342900">
              <a:buSzPct val="100000"/>
              <a:buChar char="•"/>
            </a:pPr>
            <a:r>
              <a:rPr lang="en-US" sz="1100" dirty="0">
                <a:solidFill>
                  <a:srgbClr val="1A2D5A"/>
                </a:solidFill>
                <a:latin typeface="Calibri" pitchFamily="34" charset="0"/>
                <a:ea typeface="Calibri" pitchFamily="34" charset="-122"/>
                <a:cs typeface="Calibri" pitchFamily="34" charset="-120"/>
              </a:rPr>
              <a:t>Do we know WHEN it was made?</a:t>
            </a:r>
            <a:endParaRPr lang="en-US" sz="1100" dirty="0"/>
          </a:p>
        </p:txBody>
      </p:sp>
      <p:sp>
        <p:nvSpPr>
          <p:cNvPr id="13" name="Text 11"/>
          <p:cNvSpPr/>
          <p:nvPr/>
        </p:nvSpPr>
        <p:spPr>
          <a:xfrm>
            <a:off x="5870448" y="2313432"/>
            <a:ext cx="2816352" cy="365760"/>
          </a:xfrm>
          <a:prstGeom prst="rect">
            <a:avLst/>
          </a:prstGeom>
          <a:noFill/>
          <a:ln/>
        </p:spPr>
        <p:txBody>
          <a:bodyPr wrap="square" rtlCol="0" anchor="ctr"/>
          <a:lstStyle/>
          <a:p>
            <a:pPr marL="342900" indent="-342900">
              <a:buSzPct val="100000"/>
              <a:buChar char="•"/>
            </a:pPr>
            <a:r>
              <a:rPr lang="en-US" sz="1100" dirty="0">
                <a:solidFill>
                  <a:srgbClr val="1A2D5A"/>
                </a:solidFill>
                <a:latin typeface="Calibri" pitchFamily="34" charset="0"/>
                <a:ea typeface="Calibri" pitchFamily="34" charset="-122"/>
                <a:cs typeface="Calibri" pitchFamily="34" charset="-120"/>
              </a:rPr>
              <a:t>Is a clear perspective shown?</a:t>
            </a:r>
            <a:endParaRPr lang="en-US" sz="1100" dirty="0"/>
          </a:p>
        </p:txBody>
      </p:sp>
      <p:sp>
        <p:nvSpPr>
          <p:cNvPr id="14" name="Text 12"/>
          <p:cNvSpPr/>
          <p:nvPr/>
        </p:nvSpPr>
        <p:spPr>
          <a:xfrm>
            <a:off x="5870448" y="2715768"/>
            <a:ext cx="2816352" cy="365760"/>
          </a:xfrm>
          <a:prstGeom prst="rect">
            <a:avLst/>
          </a:prstGeom>
          <a:noFill/>
          <a:ln/>
        </p:spPr>
        <p:txBody>
          <a:bodyPr wrap="square" rtlCol="0" anchor="ctr"/>
          <a:lstStyle/>
          <a:p>
            <a:pPr marL="342900" indent="-342900">
              <a:buSzPct val="100000"/>
              <a:buChar char="•"/>
            </a:pPr>
            <a:r>
              <a:rPr lang="en-US" sz="1100" dirty="0">
                <a:solidFill>
                  <a:srgbClr val="1A2D5A"/>
                </a:solidFill>
                <a:latin typeface="Calibri" pitchFamily="34" charset="0"/>
                <a:ea typeface="Calibri" pitchFamily="34" charset="-122"/>
                <a:cs typeface="Calibri" pitchFamily="34" charset="-120"/>
              </a:rPr>
              <a:t>Are we aware of what's MISSING?</a:t>
            </a:r>
            <a:endParaRPr lang="en-US" sz="1100" dirty="0"/>
          </a:p>
        </p:txBody>
      </p:sp>
      <p:sp>
        <p:nvSpPr>
          <p:cNvPr id="15" name="Text 13"/>
          <p:cNvSpPr/>
          <p:nvPr/>
        </p:nvSpPr>
        <p:spPr>
          <a:xfrm>
            <a:off x="5870448" y="3118104"/>
            <a:ext cx="2816352" cy="365760"/>
          </a:xfrm>
          <a:prstGeom prst="rect">
            <a:avLst/>
          </a:prstGeom>
          <a:noFill/>
          <a:ln/>
        </p:spPr>
        <p:txBody>
          <a:bodyPr wrap="square" rtlCol="0" anchor="ctr"/>
          <a:lstStyle/>
          <a:p>
            <a:pPr marL="342900" indent="-342900">
              <a:buSzPct val="100000"/>
              <a:buChar char="•"/>
            </a:pPr>
            <a:r>
              <a:rPr lang="en-US" sz="1100" dirty="0">
                <a:solidFill>
                  <a:srgbClr val="1A2D5A"/>
                </a:solidFill>
                <a:latin typeface="Calibri" pitchFamily="34" charset="0"/>
                <a:ea typeface="Calibri" pitchFamily="34" charset="-122"/>
                <a:cs typeface="Calibri" pitchFamily="34" charset="-120"/>
              </a:rPr>
              <a:t>Does another source confirm it?</a:t>
            </a:r>
            <a:endParaRPr lang="en-US" sz="1100" dirty="0"/>
          </a:p>
        </p:txBody>
      </p:sp>
      <p:sp>
        <p:nvSpPr>
          <p:cNvPr id="16" name="Shape 14"/>
          <p:cNvSpPr/>
          <p:nvPr/>
        </p:nvSpPr>
        <p:spPr>
          <a:xfrm>
            <a:off x="274320" y="3950208"/>
            <a:ext cx="8595360" cy="932688"/>
          </a:xfrm>
          <a:prstGeom prst="roundRect">
            <a:avLst>
              <a:gd name="adj" fmla="val 11765"/>
            </a:avLst>
          </a:prstGeom>
          <a:solidFill>
            <a:srgbClr val="FFF3DC"/>
          </a:solidFill>
          <a:ln w="19050">
            <a:solidFill>
              <a:srgbClr val="F5E6C8"/>
            </a:solidFill>
            <a:prstDash val="solid"/>
          </a:ln>
        </p:spPr>
      </p:sp>
      <p:sp>
        <p:nvSpPr>
          <p:cNvPr id="17" name="Text 15"/>
          <p:cNvSpPr/>
          <p:nvPr/>
        </p:nvSpPr>
        <p:spPr>
          <a:xfrm>
            <a:off x="411480" y="4005072"/>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411480" y="4206240"/>
            <a:ext cx="8321040" cy="61264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trustworthy source from our unit is ___ because the evidence it gives us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"I'm less certain about ___ as a source because it's missing..."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1A8A7D"/>
          </a:solidFill>
          <a:ln w="12700">
            <a:solidFill>
              <a:srgbClr val="1A8A7D"/>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SOURCE NOTEBOOK — UNIT EXAMPLES</a:t>
            </a:r>
            <a:endParaRPr lang="en-US" sz="900" dirty="0"/>
          </a:p>
        </p:txBody>
      </p:sp>
      <p:sp>
        <p:nvSpPr>
          <p:cNvPr id="5" name="Text 3"/>
          <p:cNvSpPr/>
          <p:nvPr/>
        </p:nvSpPr>
        <p:spPr>
          <a:xfrm>
            <a:off x="365760" y="393192"/>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Three Full S-D-E Entries from Unit 6</a:t>
            </a:r>
            <a:endParaRPr lang="en-US" sz="2200" dirty="0"/>
          </a:p>
        </p:txBody>
      </p:sp>
      <p:sp>
        <p:nvSpPr>
          <p:cNvPr id="6" name="Shape 4"/>
          <p:cNvSpPr/>
          <p:nvPr/>
        </p:nvSpPr>
        <p:spPr>
          <a:xfrm>
            <a:off x="228600" y="987552"/>
            <a:ext cx="2880360" cy="3639312"/>
          </a:xfrm>
          <a:prstGeom prst="roundRect">
            <a:avLst>
              <a:gd name="adj" fmla="val 4762"/>
            </a:avLst>
          </a:prstGeom>
          <a:solidFill>
            <a:srgbClr val="FFFFFF"/>
          </a:solidFill>
          <a:ln w="12700">
            <a:solidFill>
              <a:srgbClr val="B0B8CC"/>
            </a:solidFill>
            <a:prstDash val="solid"/>
          </a:ln>
        </p:spPr>
      </p:sp>
      <p:sp>
        <p:nvSpPr>
          <p:cNvPr id="7" name="Shape 5"/>
          <p:cNvSpPr/>
          <p:nvPr/>
        </p:nvSpPr>
        <p:spPr>
          <a:xfrm>
            <a:off x="228600" y="987552"/>
            <a:ext cx="2880360" cy="411480"/>
          </a:xfrm>
          <a:prstGeom prst="roundRect">
            <a:avLst>
              <a:gd name="adj" fmla="val 22222"/>
            </a:avLst>
          </a:prstGeom>
          <a:solidFill>
            <a:srgbClr val="0E1C42"/>
          </a:solidFill>
          <a:ln w="12700">
            <a:solidFill>
              <a:srgbClr val="0E1C42"/>
            </a:solidFill>
            <a:prstDash val="solid"/>
          </a:ln>
        </p:spPr>
      </p:sp>
      <p:sp>
        <p:nvSpPr>
          <p:cNvPr id="8" name="Text 6"/>
          <p:cNvSpPr/>
          <p:nvPr/>
        </p:nvSpPr>
        <p:spPr>
          <a:xfrm>
            <a:off x="338328" y="1005840"/>
            <a:ext cx="2651760" cy="36576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Map of La Florida (c. 1600s)</a:t>
            </a:r>
            <a:endParaRPr lang="en-US" sz="900" dirty="0"/>
          </a:p>
        </p:txBody>
      </p:sp>
      <p:sp>
        <p:nvSpPr>
          <p:cNvPr id="9" name="Shape 7"/>
          <p:cNvSpPr/>
          <p:nvPr/>
        </p:nvSpPr>
        <p:spPr>
          <a:xfrm>
            <a:off x="338328" y="1463040"/>
            <a:ext cx="640080" cy="228600"/>
          </a:xfrm>
          <a:prstGeom prst="rect">
            <a:avLst/>
          </a:prstGeom>
          <a:solidFill>
            <a:srgbClr val="0E1C42"/>
          </a:solidFill>
          <a:ln w="12700">
            <a:solidFill>
              <a:srgbClr val="0E1C42"/>
            </a:solidFill>
            <a:prstDash val="solid"/>
          </a:ln>
        </p:spPr>
      </p:sp>
      <p:sp>
        <p:nvSpPr>
          <p:cNvPr id="10" name="Text 8"/>
          <p:cNvSpPr/>
          <p:nvPr/>
        </p:nvSpPr>
        <p:spPr>
          <a:xfrm>
            <a:off x="338328" y="1463040"/>
            <a:ext cx="640080" cy="22860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DETAIL</a:t>
            </a:r>
            <a:endParaRPr lang="en-US" sz="700" dirty="0"/>
          </a:p>
        </p:txBody>
      </p:sp>
      <p:sp>
        <p:nvSpPr>
          <p:cNvPr id="11" name="Text 9"/>
          <p:cNvSpPr/>
          <p:nvPr/>
        </p:nvSpPr>
        <p:spPr>
          <a:xfrm>
            <a:off x="338328" y="1719072"/>
            <a:ext cx="2651760" cy="77724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Shows Spanish names for rivers, missions, and ports along the Florida coast.</a:t>
            </a:r>
            <a:endParaRPr lang="en-US" sz="1000" dirty="0"/>
          </a:p>
        </p:txBody>
      </p:sp>
      <p:sp>
        <p:nvSpPr>
          <p:cNvPr id="12" name="Shape 10"/>
          <p:cNvSpPr/>
          <p:nvPr/>
        </p:nvSpPr>
        <p:spPr>
          <a:xfrm>
            <a:off x="338328" y="2560320"/>
            <a:ext cx="640080" cy="228600"/>
          </a:xfrm>
          <a:prstGeom prst="rect">
            <a:avLst/>
          </a:prstGeom>
          <a:solidFill>
            <a:srgbClr val="D4943A"/>
          </a:solidFill>
          <a:ln w="12700">
            <a:solidFill>
              <a:srgbClr val="D4943A"/>
            </a:solidFill>
            <a:prstDash val="solid"/>
          </a:ln>
        </p:spPr>
      </p:sp>
      <p:sp>
        <p:nvSpPr>
          <p:cNvPr id="13" name="Text 11"/>
          <p:cNvSpPr/>
          <p:nvPr/>
        </p:nvSpPr>
        <p:spPr>
          <a:xfrm>
            <a:off x="338328" y="2560320"/>
            <a:ext cx="640080" cy="22860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EXPLAIN</a:t>
            </a:r>
            <a:endParaRPr lang="en-US" sz="700" dirty="0"/>
          </a:p>
        </p:txBody>
      </p:sp>
      <p:sp>
        <p:nvSpPr>
          <p:cNvPr id="14" name="Text 12"/>
          <p:cNvSpPr/>
          <p:nvPr/>
        </p:nvSpPr>
        <p:spPr>
          <a:xfrm>
            <a:off x="338328" y="2816352"/>
            <a:ext cx="2651760" cy="1691640"/>
          </a:xfrm>
          <a:prstGeom prst="rect">
            <a:avLst/>
          </a:prstGeom>
          <a:noFill/>
          <a:ln/>
        </p:spPr>
        <p:txBody>
          <a:bodyPr wrap="square" rtlCol="0" anchor="t"/>
          <a:lstStyle/>
          <a:p>
            <a:pPr indent="0" marL="0">
              <a:buNone/>
            </a:pPr>
            <a:r>
              <a:rPr lang="en-US" sz="1000" i="1" dirty="0">
                <a:solidFill>
                  <a:srgbClr val="5A4A3A"/>
                </a:solidFill>
                <a:latin typeface="Calibri" pitchFamily="34" charset="0"/>
                <a:ea typeface="Calibri" pitchFamily="34" charset="-122"/>
                <a:cs typeface="Calibri" pitchFamily="34" charset="-120"/>
              </a:rPr>
              <a:t>Spain was naming and claiming the land — geography was a tool of colonial control, not just navigation.</a:t>
            </a:r>
            <a:endParaRPr lang="en-US" sz="1000" dirty="0"/>
          </a:p>
        </p:txBody>
      </p:sp>
      <p:sp>
        <p:nvSpPr>
          <p:cNvPr id="15" name="Shape 13"/>
          <p:cNvSpPr/>
          <p:nvPr/>
        </p:nvSpPr>
        <p:spPr>
          <a:xfrm>
            <a:off x="3246120" y="987552"/>
            <a:ext cx="2880360" cy="3639312"/>
          </a:xfrm>
          <a:prstGeom prst="roundRect">
            <a:avLst>
              <a:gd name="adj" fmla="val 4762"/>
            </a:avLst>
          </a:prstGeom>
          <a:solidFill>
            <a:srgbClr val="FFFFFF"/>
          </a:solidFill>
          <a:ln w="12700">
            <a:solidFill>
              <a:srgbClr val="B0B8CC"/>
            </a:solidFill>
            <a:prstDash val="solid"/>
          </a:ln>
        </p:spPr>
      </p:sp>
      <p:sp>
        <p:nvSpPr>
          <p:cNvPr id="16" name="Shape 14"/>
          <p:cNvSpPr/>
          <p:nvPr/>
        </p:nvSpPr>
        <p:spPr>
          <a:xfrm>
            <a:off x="3246120" y="987552"/>
            <a:ext cx="2880360" cy="411480"/>
          </a:xfrm>
          <a:prstGeom prst="roundRect">
            <a:avLst>
              <a:gd name="adj" fmla="val 22222"/>
            </a:avLst>
          </a:prstGeom>
          <a:solidFill>
            <a:srgbClr val="1A8A7D"/>
          </a:solidFill>
          <a:ln w="12700">
            <a:solidFill>
              <a:srgbClr val="1A8A7D"/>
            </a:solidFill>
            <a:prstDash val="solid"/>
          </a:ln>
        </p:spPr>
      </p:sp>
      <p:sp>
        <p:nvSpPr>
          <p:cNvPr id="17" name="Text 15"/>
          <p:cNvSpPr/>
          <p:nvPr/>
        </p:nvSpPr>
        <p:spPr>
          <a:xfrm>
            <a:off x="3355848" y="1005840"/>
            <a:ext cx="2651760" cy="36576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Castillo de San Marcos (fort)</a:t>
            </a:r>
            <a:endParaRPr lang="en-US" sz="900" dirty="0"/>
          </a:p>
        </p:txBody>
      </p:sp>
      <p:sp>
        <p:nvSpPr>
          <p:cNvPr id="18" name="Shape 16"/>
          <p:cNvSpPr/>
          <p:nvPr/>
        </p:nvSpPr>
        <p:spPr>
          <a:xfrm>
            <a:off x="3355848" y="1463040"/>
            <a:ext cx="640080" cy="228600"/>
          </a:xfrm>
          <a:prstGeom prst="rect">
            <a:avLst/>
          </a:prstGeom>
          <a:solidFill>
            <a:srgbClr val="1A8A7D"/>
          </a:solidFill>
          <a:ln w="12700">
            <a:solidFill>
              <a:srgbClr val="1A8A7D"/>
            </a:solidFill>
            <a:prstDash val="solid"/>
          </a:ln>
        </p:spPr>
      </p:sp>
      <p:sp>
        <p:nvSpPr>
          <p:cNvPr id="19" name="Text 17"/>
          <p:cNvSpPr/>
          <p:nvPr/>
        </p:nvSpPr>
        <p:spPr>
          <a:xfrm>
            <a:off x="3355848" y="1463040"/>
            <a:ext cx="640080" cy="22860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DETAIL</a:t>
            </a:r>
            <a:endParaRPr lang="en-US" sz="700" dirty="0"/>
          </a:p>
        </p:txBody>
      </p:sp>
      <p:sp>
        <p:nvSpPr>
          <p:cNvPr id="20" name="Text 18"/>
          <p:cNvSpPr/>
          <p:nvPr/>
        </p:nvSpPr>
        <p:spPr>
          <a:xfrm>
            <a:off x="3355848" y="1719072"/>
            <a:ext cx="2651760" cy="77724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Built from coquina stone in 1672; still stands today in St. Augustine.</a:t>
            </a:r>
            <a:endParaRPr lang="en-US" sz="1000" dirty="0"/>
          </a:p>
        </p:txBody>
      </p:sp>
      <p:sp>
        <p:nvSpPr>
          <p:cNvPr id="21" name="Shape 19"/>
          <p:cNvSpPr/>
          <p:nvPr/>
        </p:nvSpPr>
        <p:spPr>
          <a:xfrm>
            <a:off x="3355848" y="2560320"/>
            <a:ext cx="640080" cy="228600"/>
          </a:xfrm>
          <a:prstGeom prst="rect">
            <a:avLst/>
          </a:prstGeom>
          <a:solidFill>
            <a:srgbClr val="D4943A"/>
          </a:solidFill>
          <a:ln w="12700">
            <a:solidFill>
              <a:srgbClr val="D4943A"/>
            </a:solidFill>
            <a:prstDash val="solid"/>
          </a:ln>
        </p:spPr>
      </p:sp>
      <p:sp>
        <p:nvSpPr>
          <p:cNvPr id="22" name="Text 20"/>
          <p:cNvSpPr/>
          <p:nvPr/>
        </p:nvSpPr>
        <p:spPr>
          <a:xfrm>
            <a:off x="3355848" y="2560320"/>
            <a:ext cx="640080" cy="22860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EXPLAIN</a:t>
            </a:r>
            <a:endParaRPr lang="en-US" sz="700" dirty="0"/>
          </a:p>
        </p:txBody>
      </p:sp>
      <p:sp>
        <p:nvSpPr>
          <p:cNvPr id="23" name="Text 21"/>
          <p:cNvSpPr/>
          <p:nvPr/>
        </p:nvSpPr>
        <p:spPr>
          <a:xfrm>
            <a:off x="3355848" y="2816352"/>
            <a:ext cx="2651760" cy="1691640"/>
          </a:xfrm>
          <a:prstGeom prst="rect">
            <a:avLst/>
          </a:prstGeom>
          <a:noFill/>
          <a:ln/>
        </p:spPr>
        <p:txBody>
          <a:bodyPr wrap="square" rtlCol="0" anchor="t"/>
          <a:lstStyle/>
          <a:p>
            <a:pPr indent="0" marL="0">
              <a:buNone/>
            </a:pPr>
            <a:r>
              <a:rPr lang="en-US" sz="1000" i="1" dirty="0">
                <a:solidFill>
                  <a:srgbClr val="5A4A3A"/>
                </a:solidFill>
                <a:latin typeface="Calibri" pitchFamily="34" charset="0"/>
                <a:ea typeface="Calibri" pitchFamily="34" charset="-122"/>
                <a:cs typeface="Calibri" pitchFamily="34" charset="-120"/>
              </a:rPr>
              <a:t>Permanent military defense shows Spain intended long-term control — this connects to the pattern that colonization changes the land through permanent structures.</a:t>
            </a:r>
            <a:endParaRPr lang="en-US" sz="1000" dirty="0"/>
          </a:p>
        </p:txBody>
      </p:sp>
      <p:sp>
        <p:nvSpPr>
          <p:cNvPr id="24" name="Shape 22"/>
          <p:cNvSpPr/>
          <p:nvPr/>
        </p:nvSpPr>
        <p:spPr>
          <a:xfrm>
            <a:off x="6263640" y="987552"/>
            <a:ext cx="2880360" cy="3639312"/>
          </a:xfrm>
          <a:prstGeom prst="roundRect">
            <a:avLst>
              <a:gd name="adj" fmla="val 4762"/>
            </a:avLst>
          </a:prstGeom>
          <a:solidFill>
            <a:srgbClr val="FFFFFF"/>
          </a:solidFill>
          <a:ln w="12700">
            <a:solidFill>
              <a:srgbClr val="B0B8CC"/>
            </a:solidFill>
            <a:prstDash val="solid"/>
          </a:ln>
        </p:spPr>
      </p:sp>
      <p:sp>
        <p:nvSpPr>
          <p:cNvPr id="25" name="Shape 23"/>
          <p:cNvSpPr/>
          <p:nvPr/>
        </p:nvSpPr>
        <p:spPr>
          <a:xfrm>
            <a:off x="6263640" y="987552"/>
            <a:ext cx="2880360" cy="411480"/>
          </a:xfrm>
          <a:prstGeom prst="roundRect">
            <a:avLst>
              <a:gd name="adj" fmla="val 22222"/>
            </a:avLst>
          </a:prstGeom>
          <a:solidFill>
            <a:srgbClr val="8B6FC0"/>
          </a:solidFill>
          <a:ln w="12700">
            <a:solidFill>
              <a:srgbClr val="8B6FC0"/>
            </a:solidFill>
            <a:prstDash val="solid"/>
          </a:ln>
        </p:spPr>
      </p:sp>
      <p:sp>
        <p:nvSpPr>
          <p:cNvPr id="26" name="Text 24"/>
          <p:cNvSpPr/>
          <p:nvPr/>
        </p:nvSpPr>
        <p:spPr>
          <a:xfrm>
            <a:off x="6373368" y="1005840"/>
            <a:ext cx="2651760" cy="36576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San Luis Mission records (1656)</a:t>
            </a:r>
            <a:endParaRPr lang="en-US" sz="900" dirty="0"/>
          </a:p>
        </p:txBody>
      </p:sp>
      <p:sp>
        <p:nvSpPr>
          <p:cNvPr id="27" name="Shape 25"/>
          <p:cNvSpPr/>
          <p:nvPr/>
        </p:nvSpPr>
        <p:spPr>
          <a:xfrm>
            <a:off x="6373368" y="1463040"/>
            <a:ext cx="640080" cy="228600"/>
          </a:xfrm>
          <a:prstGeom prst="rect">
            <a:avLst/>
          </a:prstGeom>
          <a:solidFill>
            <a:srgbClr val="8B6FC0"/>
          </a:solidFill>
          <a:ln w="12700">
            <a:solidFill>
              <a:srgbClr val="8B6FC0"/>
            </a:solidFill>
            <a:prstDash val="solid"/>
          </a:ln>
        </p:spPr>
      </p:sp>
      <p:sp>
        <p:nvSpPr>
          <p:cNvPr id="28" name="Text 26"/>
          <p:cNvSpPr/>
          <p:nvPr/>
        </p:nvSpPr>
        <p:spPr>
          <a:xfrm>
            <a:off x="6373368" y="1463040"/>
            <a:ext cx="640080" cy="22860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DETAIL</a:t>
            </a:r>
            <a:endParaRPr lang="en-US" sz="700" dirty="0"/>
          </a:p>
        </p:txBody>
      </p:sp>
      <p:sp>
        <p:nvSpPr>
          <p:cNvPr id="29" name="Text 27"/>
          <p:cNvSpPr/>
          <p:nvPr/>
        </p:nvSpPr>
        <p:spPr>
          <a:xfrm>
            <a:off x="6373368" y="1719072"/>
            <a:ext cx="2651760" cy="77724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Lists hundreds of Apalachee people attending mass at the mission.</a:t>
            </a:r>
            <a:endParaRPr lang="en-US" sz="1000" dirty="0"/>
          </a:p>
        </p:txBody>
      </p:sp>
      <p:sp>
        <p:nvSpPr>
          <p:cNvPr id="30" name="Shape 28"/>
          <p:cNvSpPr/>
          <p:nvPr/>
        </p:nvSpPr>
        <p:spPr>
          <a:xfrm>
            <a:off x="6373368" y="2560320"/>
            <a:ext cx="640080" cy="228600"/>
          </a:xfrm>
          <a:prstGeom prst="rect">
            <a:avLst/>
          </a:prstGeom>
          <a:solidFill>
            <a:srgbClr val="D4943A"/>
          </a:solidFill>
          <a:ln w="12700">
            <a:solidFill>
              <a:srgbClr val="D4943A"/>
            </a:solidFill>
            <a:prstDash val="solid"/>
          </a:ln>
        </p:spPr>
      </p:sp>
      <p:sp>
        <p:nvSpPr>
          <p:cNvPr id="31" name="Text 29"/>
          <p:cNvSpPr/>
          <p:nvPr/>
        </p:nvSpPr>
        <p:spPr>
          <a:xfrm>
            <a:off x="6373368" y="2560320"/>
            <a:ext cx="640080" cy="22860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EXPLAIN</a:t>
            </a:r>
            <a:endParaRPr lang="en-US" sz="700" dirty="0"/>
          </a:p>
        </p:txBody>
      </p:sp>
      <p:sp>
        <p:nvSpPr>
          <p:cNvPr id="32" name="Text 30"/>
          <p:cNvSpPr/>
          <p:nvPr/>
        </p:nvSpPr>
        <p:spPr>
          <a:xfrm>
            <a:off x="6373368" y="2816352"/>
            <a:ext cx="2651760" cy="1691640"/>
          </a:xfrm>
          <a:prstGeom prst="rect">
            <a:avLst/>
          </a:prstGeom>
          <a:noFill/>
          <a:ln/>
        </p:spPr>
        <p:txBody>
          <a:bodyPr wrap="square" rtlCol="0" anchor="t"/>
          <a:lstStyle/>
          <a:p>
            <a:pPr indent="0" marL="0">
              <a:buNone/>
            </a:pPr>
            <a:r>
              <a:rPr lang="en-US" sz="1000" i="1" dirty="0">
                <a:solidFill>
                  <a:srgbClr val="5A4A3A"/>
                </a:solidFill>
                <a:latin typeface="Calibri" pitchFamily="34" charset="0"/>
                <a:ea typeface="Calibri" pitchFamily="34" charset="-122"/>
                <a:cs typeface="Calibri" pitchFamily="34" charset="-120"/>
              </a:rPr>
              <a:t>The mission system reshaped Apalachee spiritual and daily life. But these records were written by Spaniards — whose voice is missing from this source?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8B6FC0"/>
          </a:solidFill>
          <a:ln w="12700">
            <a:solidFill>
              <a:srgbClr val="8B6FC0"/>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MULTI-SOURCE COMPARE</a:t>
            </a:r>
            <a:endParaRPr lang="en-US" sz="900" dirty="0"/>
          </a:p>
        </p:txBody>
      </p:sp>
      <p:sp>
        <p:nvSpPr>
          <p:cNvPr id="5" name="Text 3"/>
          <p:cNvSpPr/>
          <p:nvPr/>
        </p:nvSpPr>
        <p:spPr>
          <a:xfrm>
            <a:off x="365760" y="393192"/>
            <a:ext cx="8412480" cy="50292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Whose Story Gets Told?</a:t>
            </a:r>
            <a:endParaRPr lang="en-US" sz="2600" dirty="0"/>
          </a:p>
        </p:txBody>
      </p:sp>
      <p:sp>
        <p:nvSpPr>
          <p:cNvPr id="6" name="Shape 4"/>
          <p:cNvSpPr/>
          <p:nvPr/>
        </p:nvSpPr>
        <p:spPr>
          <a:xfrm>
            <a:off x="274320" y="978408"/>
            <a:ext cx="1965960" cy="274320"/>
          </a:xfrm>
          <a:prstGeom prst="roundRect">
            <a:avLst>
              <a:gd name="adj" fmla="val 26667"/>
            </a:avLst>
          </a:prstGeom>
          <a:solidFill>
            <a:srgbClr val="8B6FC0"/>
          </a:solidFill>
          <a:ln w="12700">
            <a:solidFill>
              <a:srgbClr val="8B6FC0"/>
            </a:solidFill>
            <a:prstDash val="solid"/>
          </a:ln>
        </p:spPr>
      </p:sp>
      <p:sp>
        <p:nvSpPr>
          <p:cNvPr id="7" name="Text 5"/>
          <p:cNvSpPr/>
          <p:nvPr/>
        </p:nvSpPr>
        <p:spPr>
          <a:xfrm>
            <a:off x="274320" y="978408"/>
            <a:ext cx="1965960" cy="274320"/>
          </a:xfrm>
          <a:prstGeom prst="rect">
            <a:avLst/>
          </a:prstGeom>
          <a:noFill/>
          <a:ln/>
        </p:spPr>
        <p:txBody>
          <a:bodyPr wrap="square"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SPANISH RECORDS</a:t>
            </a:r>
            <a:endParaRPr lang="en-US" sz="900" dirty="0"/>
          </a:p>
        </p:txBody>
      </p:sp>
      <p:sp>
        <p:nvSpPr>
          <p:cNvPr id="8" name="Shape 6"/>
          <p:cNvSpPr/>
          <p:nvPr/>
        </p:nvSpPr>
        <p:spPr>
          <a:xfrm>
            <a:off x="4663440" y="978408"/>
            <a:ext cx="2286000" cy="274320"/>
          </a:xfrm>
          <a:prstGeom prst="roundRect">
            <a:avLst>
              <a:gd name="adj" fmla="val 26667"/>
            </a:avLst>
          </a:prstGeom>
          <a:solidFill>
            <a:srgbClr val="1A8A7D"/>
          </a:solidFill>
          <a:ln w="12700">
            <a:solidFill>
              <a:srgbClr val="1A8A7D"/>
            </a:solidFill>
            <a:prstDash val="solid"/>
          </a:ln>
        </p:spPr>
      </p:sp>
      <p:sp>
        <p:nvSpPr>
          <p:cNvPr id="9" name="Text 7"/>
          <p:cNvSpPr/>
          <p:nvPr/>
        </p:nvSpPr>
        <p:spPr>
          <a:xfrm>
            <a:off x="4663440" y="978408"/>
            <a:ext cx="2286000" cy="274320"/>
          </a:xfrm>
          <a:prstGeom prst="rect">
            <a:avLst/>
          </a:prstGeom>
          <a:noFill/>
          <a:ln/>
        </p:spPr>
        <p:txBody>
          <a:bodyPr wrap="square" rtlCol="0" anchor="ctr"/>
          <a:lstStyle/>
          <a:p>
            <a:pPr algn="ctr" indent="0" marL="0">
              <a:buNone/>
            </a:pPr>
            <a:r>
              <a:rPr lang="en-US" sz="800" b="1" spc="80" kern="0" dirty="0">
                <a:solidFill>
                  <a:srgbClr val="FFFFFF"/>
                </a:solidFill>
                <a:latin typeface="Calibri" pitchFamily="34" charset="0"/>
                <a:ea typeface="Calibri" pitchFamily="34" charset="-122"/>
                <a:cs typeface="Calibri" pitchFamily="34" charset="-120"/>
              </a:rPr>
              <a:t>ARCHAEOLOGICAL EVIDENCE</a:t>
            </a:r>
            <a:endParaRPr lang="en-US" sz="800" dirty="0"/>
          </a:p>
        </p:txBody>
      </p:sp>
      <p:sp>
        <p:nvSpPr>
          <p:cNvPr id="10" name="Shape 8"/>
          <p:cNvSpPr/>
          <p:nvPr/>
        </p:nvSpPr>
        <p:spPr>
          <a:xfrm>
            <a:off x="274320" y="1325880"/>
            <a:ext cx="4069080" cy="2148840"/>
          </a:xfrm>
          <a:prstGeom prst="roundRect">
            <a:avLst>
              <a:gd name="adj" fmla="val 5106"/>
            </a:avLst>
          </a:prstGeom>
          <a:solidFill>
            <a:srgbClr val="E2E8F4"/>
          </a:solidFill>
          <a:ln w="19050">
            <a:solidFill>
              <a:srgbClr val="B0B8CC"/>
            </a:solidFill>
            <a:prstDash val="dash"/>
          </a:ln>
        </p:spPr>
      </p:sp>
      <p:sp>
        <p:nvSpPr>
          <p:cNvPr id="11" name="Text 9"/>
          <p:cNvSpPr/>
          <p:nvPr/>
        </p:nvSpPr>
        <p:spPr>
          <a:xfrm>
            <a:off x="274320" y="1325880"/>
            <a:ext cx="40690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411480" y="1600200"/>
            <a:ext cx="3794760" cy="1783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Page from Spanish colonial mission record or Florida administrative report, c. 1650-1700 — handwritten Spanish text, official-looking with signatures or seals.</a:t>
            </a:r>
            <a:endParaRPr lang="en-US" sz="1100" dirty="0"/>
          </a:p>
        </p:txBody>
      </p:sp>
      <p:sp>
        <p:nvSpPr>
          <p:cNvPr id="13" name="Shape 11"/>
          <p:cNvSpPr/>
          <p:nvPr/>
        </p:nvSpPr>
        <p:spPr>
          <a:xfrm>
            <a:off x="4617720" y="1325880"/>
            <a:ext cx="4160520" cy="2148840"/>
          </a:xfrm>
          <a:prstGeom prst="roundRect">
            <a:avLst>
              <a:gd name="adj" fmla="val 5106"/>
            </a:avLst>
          </a:prstGeom>
          <a:solidFill>
            <a:srgbClr val="E2E8F4"/>
          </a:solidFill>
          <a:ln w="19050">
            <a:solidFill>
              <a:srgbClr val="B0B8CC"/>
            </a:solidFill>
            <a:prstDash val="dash"/>
          </a:ln>
        </p:spPr>
      </p:sp>
      <p:sp>
        <p:nvSpPr>
          <p:cNvPr id="14" name="Text 12"/>
          <p:cNvSpPr/>
          <p:nvPr/>
        </p:nvSpPr>
        <p:spPr>
          <a:xfrm>
            <a:off x="4617720" y="1325880"/>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4754880" y="1600200"/>
            <a:ext cx="3886200" cy="1783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Archaeological excavation photo at Florida Native American site — pottery shards, shell tools, European trade beads visible together, soil layers exposed.</a:t>
            </a:r>
            <a:endParaRPr lang="en-US" sz="1100" dirty="0"/>
          </a:p>
        </p:txBody>
      </p:sp>
      <p:sp>
        <p:nvSpPr>
          <p:cNvPr id="16" name="Shape 14"/>
          <p:cNvSpPr/>
          <p:nvPr/>
        </p:nvSpPr>
        <p:spPr>
          <a:xfrm>
            <a:off x="274320" y="3566160"/>
            <a:ext cx="8595360" cy="1234440"/>
          </a:xfrm>
          <a:prstGeom prst="roundRect">
            <a:avLst>
              <a:gd name="adj" fmla="val 11111"/>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457200" y="3657600"/>
            <a:ext cx="8229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8" name="Text 16"/>
          <p:cNvSpPr/>
          <p:nvPr/>
        </p:nvSpPr>
        <p:spPr>
          <a:xfrm>
            <a:off x="457200" y="3913632"/>
            <a:ext cx="8229600" cy="7955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Whose voice is missing from the Spanish mission records — and why does that matter?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source gives us a more complete picture of what life was like for Native peoples?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it matter that we have archaeological evidence alongside written records?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we explain early Florida honestly using only Spanish records? Why or why not?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0E1C42"/>
          </a:solidFill>
          <a:ln w="12700">
            <a:solidFill>
              <a:srgbClr val="0E1C42"/>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CHRONOLOGY CHECK</a:t>
            </a:r>
            <a:endParaRPr lang="en-US" sz="900" dirty="0"/>
          </a:p>
        </p:txBody>
      </p:sp>
      <p:sp>
        <p:nvSpPr>
          <p:cNvPr id="5" name="Text 3"/>
          <p:cNvSpPr/>
          <p:nvPr/>
        </p:nvSpPr>
        <p:spPr>
          <a:xfrm>
            <a:off x="365760" y="393192"/>
            <a:ext cx="8412480" cy="50292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Unit 6 Timeline — In Order</a:t>
            </a:r>
            <a:endParaRPr lang="en-US" sz="2600" dirty="0"/>
          </a:p>
        </p:txBody>
      </p:sp>
      <p:sp>
        <p:nvSpPr>
          <p:cNvPr id="6" name="Shape 4"/>
          <p:cNvSpPr/>
          <p:nvPr/>
        </p:nvSpPr>
        <p:spPr>
          <a:xfrm>
            <a:off x="457200" y="1938528"/>
            <a:ext cx="8229600" cy="109728"/>
          </a:xfrm>
          <a:prstGeom prst="rect">
            <a:avLst/>
          </a:prstGeom>
          <a:solidFill>
            <a:srgbClr val="D4943A"/>
          </a:solidFill>
          <a:ln w="12700">
            <a:solidFill>
              <a:srgbClr val="D4943A"/>
            </a:solidFill>
            <a:prstDash val="solid"/>
          </a:ln>
        </p:spPr>
      </p:sp>
      <p:sp>
        <p:nvSpPr>
          <p:cNvPr id="7" name="Shape 5"/>
          <p:cNvSpPr/>
          <p:nvPr/>
        </p:nvSpPr>
        <p:spPr>
          <a:xfrm>
            <a:off x="978408" y="1837944"/>
            <a:ext cx="219456" cy="219456"/>
          </a:xfrm>
          <a:prstGeom prst="ellipse">
            <a:avLst/>
          </a:prstGeom>
          <a:solidFill>
            <a:srgbClr val="0E1C42"/>
          </a:solidFill>
          <a:ln w="12700">
            <a:solidFill>
              <a:srgbClr val="0E1C42"/>
            </a:solidFill>
            <a:prstDash val="solid"/>
          </a:ln>
        </p:spPr>
      </p:sp>
      <p:sp>
        <p:nvSpPr>
          <p:cNvPr id="8" name="Shape 6"/>
          <p:cNvSpPr/>
          <p:nvPr/>
        </p:nvSpPr>
        <p:spPr>
          <a:xfrm>
            <a:off x="411480" y="932688"/>
            <a:ext cx="1389888" cy="886968"/>
          </a:xfrm>
          <a:prstGeom prst="roundRect">
            <a:avLst>
              <a:gd name="adj" fmla="val 10309"/>
            </a:avLst>
          </a:prstGeom>
          <a:solidFill>
            <a:srgbClr val="0E1C42"/>
          </a:solidFill>
          <a:ln w="12700">
            <a:solidFill>
              <a:srgbClr val="0E1C42"/>
            </a:solidFill>
            <a:prstDash val="solid"/>
          </a:ln>
        </p:spPr>
      </p:sp>
      <p:sp>
        <p:nvSpPr>
          <p:cNvPr id="9" name="Text 7"/>
          <p:cNvSpPr/>
          <p:nvPr/>
        </p:nvSpPr>
        <p:spPr>
          <a:xfrm>
            <a:off x="457200" y="960120"/>
            <a:ext cx="1298448" cy="7498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European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Explorers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Arrive</a:t>
            </a:r>
            <a:endParaRPr lang="en-US" sz="900" dirty="0"/>
          </a:p>
        </p:txBody>
      </p:sp>
      <p:sp>
        <p:nvSpPr>
          <p:cNvPr id="10" name="Text 8"/>
          <p:cNvSpPr/>
          <p:nvPr/>
        </p:nvSpPr>
        <p:spPr>
          <a:xfrm>
            <a:off x="411480" y="2103120"/>
            <a:ext cx="1389888" cy="256032"/>
          </a:xfrm>
          <a:prstGeom prst="rect">
            <a:avLst/>
          </a:prstGeom>
          <a:noFill/>
          <a:ln/>
        </p:spPr>
        <p:txBody>
          <a:bodyPr wrap="square" rtlCol="0" anchor="ctr"/>
          <a:lstStyle/>
          <a:p>
            <a:pPr algn="ctr" indent="0" marL="0">
              <a:buNone/>
            </a:pPr>
            <a:r>
              <a:rPr lang="en-US" sz="900" b="1" dirty="0">
                <a:solidFill>
                  <a:srgbClr val="0E1C42"/>
                </a:solidFill>
                <a:latin typeface="Calibri" pitchFamily="34" charset="0"/>
                <a:ea typeface="Calibri" pitchFamily="34" charset="-122"/>
                <a:cs typeface="Calibri" pitchFamily="34" charset="-120"/>
              </a:rPr>
              <a:t>1500s</a:t>
            </a:r>
            <a:endParaRPr lang="en-US" sz="900" dirty="0"/>
          </a:p>
        </p:txBody>
      </p:sp>
      <p:sp>
        <p:nvSpPr>
          <p:cNvPr id="11" name="Shape 9"/>
          <p:cNvSpPr/>
          <p:nvPr/>
        </p:nvSpPr>
        <p:spPr>
          <a:xfrm>
            <a:off x="2624328" y="1837944"/>
            <a:ext cx="219456" cy="219456"/>
          </a:xfrm>
          <a:prstGeom prst="ellipse">
            <a:avLst/>
          </a:prstGeom>
          <a:solidFill>
            <a:srgbClr val="1A8A7D"/>
          </a:solidFill>
          <a:ln w="12700">
            <a:solidFill>
              <a:srgbClr val="1A8A7D"/>
            </a:solidFill>
            <a:prstDash val="solid"/>
          </a:ln>
        </p:spPr>
      </p:sp>
      <p:sp>
        <p:nvSpPr>
          <p:cNvPr id="12" name="Shape 10"/>
          <p:cNvSpPr/>
          <p:nvPr/>
        </p:nvSpPr>
        <p:spPr>
          <a:xfrm>
            <a:off x="2057400" y="932688"/>
            <a:ext cx="1389888" cy="886968"/>
          </a:xfrm>
          <a:prstGeom prst="roundRect">
            <a:avLst>
              <a:gd name="adj" fmla="val 10309"/>
            </a:avLst>
          </a:prstGeom>
          <a:solidFill>
            <a:srgbClr val="1A8A7D"/>
          </a:solidFill>
          <a:ln w="12700">
            <a:solidFill>
              <a:srgbClr val="1A8A7D"/>
            </a:solidFill>
            <a:prstDash val="solid"/>
          </a:ln>
        </p:spPr>
      </p:sp>
      <p:sp>
        <p:nvSpPr>
          <p:cNvPr id="13" name="Text 11"/>
          <p:cNvSpPr/>
          <p:nvPr/>
        </p:nvSpPr>
        <p:spPr>
          <a:xfrm>
            <a:off x="2103120" y="960120"/>
            <a:ext cx="1298448" cy="7498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 Augustine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Founded</a:t>
            </a:r>
            <a:endParaRPr lang="en-US" sz="900" dirty="0"/>
          </a:p>
        </p:txBody>
      </p:sp>
      <p:sp>
        <p:nvSpPr>
          <p:cNvPr id="14" name="Text 12"/>
          <p:cNvSpPr/>
          <p:nvPr/>
        </p:nvSpPr>
        <p:spPr>
          <a:xfrm>
            <a:off x="2057400" y="2103120"/>
            <a:ext cx="1389888" cy="256032"/>
          </a:xfrm>
          <a:prstGeom prst="rect">
            <a:avLst/>
          </a:prstGeom>
          <a:noFill/>
          <a:ln/>
        </p:spPr>
        <p:txBody>
          <a:bodyPr wrap="square" rtlCol="0" anchor="ctr"/>
          <a:lstStyle/>
          <a:p>
            <a:pPr algn="ctr" indent="0" marL="0">
              <a:buNone/>
            </a:pPr>
            <a:r>
              <a:rPr lang="en-US" sz="900" b="1" dirty="0">
                <a:solidFill>
                  <a:srgbClr val="1A8A7D"/>
                </a:solidFill>
                <a:latin typeface="Calibri" pitchFamily="34" charset="0"/>
                <a:ea typeface="Calibri" pitchFamily="34" charset="-122"/>
                <a:cs typeface="Calibri" pitchFamily="34" charset="-120"/>
              </a:rPr>
              <a:t>1565</a:t>
            </a:r>
            <a:endParaRPr lang="en-US" sz="900" dirty="0"/>
          </a:p>
        </p:txBody>
      </p:sp>
      <p:sp>
        <p:nvSpPr>
          <p:cNvPr id="15" name="Shape 13"/>
          <p:cNvSpPr/>
          <p:nvPr/>
        </p:nvSpPr>
        <p:spPr>
          <a:xfrm>
            <a:off x="4270248" y="1837944"/>
            <a:ext cx="219456" cy="219456"/>
          </a:xfrm>
          <a:prstGeom prst="ellipse">
            <a:avLst/>
          </a:prstGeom>
          <a:solidFill>
            <a:srgbClr val="8B6FC0"/>
          </a:solidFill>
          <a:ln w="12700">
            <a:solidFill>
              <a:srgbClr val="8B6FC0"/>
            </a:solidFill>
            <a:prstDash val="solid"/>
          </a:ln>
        </p:spPr>
      </p:sp>
      <p:sp>
        <p:nvSpPr>
          <p:cNvPr id="16" name="Shape 14"/>
          <p:cNvSpPr/>
          <p:nvPr/>
        </p:nvSpPr>
        <p:spPr>
          <a:xfrm>
            <a:off x="3703320" y="932688"/>
            <a:ext cx="1389888" cy="886968"/>
          </a:xfrm>
          <a:prstGeom prst="roundRect">
            <a:avLst>
              <a:gd name="adj" fmla="val 10309"/>
            </a:avLst>
          </a:prstGeom>
          <a:solidFill>
            <a:srgbClr val="8B6FC0"/>
          </a:solidFill>
          <a:ln w="12700">
            <a:solidFill>
              <a:srgbClr val="8B6FC0"/>
            </a:solidFill>
            <a:prstDash val="solid"/>
          </a:ln>
        </p:spPr>
      </p:sp>
      <p:sp>
        <p:nvSpPr>
          <p:cNvPr id="17" name="Text 15"/>
          <p:cNvSpPr/>
          <p:nvPr/>
        </p:nvSpPr>
        <p:spPr>
          <a:xfrm>
            <a:off x="3749040" y="960120"/>
            <a:ext cx="1298448" cy="7498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Missions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18" name="Text 16"/>
          <p:cNvSpPr/>
          <p:nvPr/>
        </p:nvSpPr>
        <p:spPr>
          <a:xfrm>
            <a:off x="3703320" y="2103120"/>
            <a:ext cx="1389888" cy="256032"/>
          </a:xfrm>
          <a:prstGeom prst="rect">
            <a:avLst/>
          </a:prstGeom>
          <a:noFill/>
          <a:ln/>
        </p:spPr>
        <p:txBody>
          <a:bodyPr wrap="square" rtlCol="0" anchor="ctr"/>
          <a:lstStyle/>
          <a:p>
            <a:pPr algn="ctr" indent="0" marL="0">
              <a:buNone/>
            </a:pPr>
            <a:r>
              <a:rPr lang="en-US" sz="900" b="1" dirty="0">
                <a:solidFill>
                  <a:srgbClr val="8B6FC0"/>
                </a:solidFill>
                <a:latin typeface="Calibri" pitchFamily="34" charset="0"/>
                <a:ea typeface="Calibri" pitchFamily="34" charset="-122"/>
                <a:cs typeface="Calibri" pitchFamily="34" charset="-120"/>
              </a:rPr>
              <a:t>1600s</a:t>
            </a:r>
            <a:endParaRPr lang="en-US" sz="900" dirty="0"/>
          </a:p>
        </p:txBody>
      </p:sp>
      <p:sp>
        <p:nvSpPr>
          <p:cNvPr id="19" name="Shape 17"/>
          <p:cNvSpPr/>
          <p:nvPr/>
        </p:nvSpPr>
        <p:spPr>
          <a:xfrm>
            <a:off x="5916168" y="1837944"/>
            <a:ext cx="219456" cy="219456"/>
          </a:xfrm>
          <a:prstGeom prst="ellipse">
            <a:avLst/>
          </a:prstGeom>
          <a:solidFill>
            <a:srgbClr val="D4943A"/>
          </a:solidFill>
          <a:ln w="12700">
            <a:solidFill>
              <a:srgbClr val="D4943A"/>
            </a:solidFill>
            <a:prstDash val="solid"/>
          </a:ln>
        </p:spPr>
      </p:sp>
      <p:sp>
        <p:nvSpPr>
          <p:cNvPr id="20" name="Shape 18"/>
          <p:cNvSpPr/>
          <p:nvPr/>
        </p:nvSpPr>
        <p:spPr>
          <a:xfrm>
            <a:off x="5349240" y="932688"/>
            <a:ext cx="1389888" cy="886968"/>
          </a:xfrm>
          <a:prstGeom prst="roundRect">
            <a:avLst>
              <a:gd name="adj" fmla="val 10309"/>
            </a:avLst>
          </a:prstGeom>
          <a:solidFill>
            <a:srgbClr val="D4943A"/>
          </a:solidFill>
          <a:ln w="12700">
            <a:solidFill>
              <a:srgbClr val="D4943A"/>
            </a:solidFill>
            <a:prstDash val="solid"/>
          </a:ln>
        </p:spPr>
      </p:sp>
      <p:sp>
        <p:nvSpPr>
          <p:cNvPr id="21" name="Text 19"/>
          <p:cNvSpPr/>
          <p:nvPr/>
        </p:nvSpPr>
        <p:spPr>
          <a:xfrm>
            <a:off x="5394960" y="960120"/>
            <a:ext cx="1298448" cy="7498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Spanish Rule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Expands</a:t>
            </a:r>
            <a:endParaRPr lang="en-US" sz="900" dirty="0"/>
          </a:p>
        </p:txBody>
      </p:sp>
      <p:sp>
        <p:nvSpPr>
          <p:cNvPr id="22" name="Text 20"/>
          <p:cNvSpPr/>
          <p:nvPr/>
        </p:nvSpPr>
        <p:spPr>
          <a:xfrm>
            <a:off x="5349240" y="2103120"/>
            <a:ext cx="1389888" cy="256032"/>
          </a:xfrm>
          <a:prstGeom prst="rect">
            <a:avLst/>
          </a:prstGeom>
          <a:noFill/>
          <a:ln/>
        </p:spPr>
        <p:txBody>
          <a:bodyPr wrap="square" rtlCol="0" anchor="ctr"/>
          <a:lstStyle/>
          <a:p>
            <a:pPr algn="ctr" indent="0" marL="0">
              <a:buNone/>
            </a:pPr>
            <a:r>
              <a:rPr lang="en-US" sz="900" b="1" dirty="0">
                <a:solidFill>
                  <a:srgbClr val="D4943A"/>
                </a:solidFill>
                <a:latin typeface="Calibri" pitchFamily="34" charset="0"/>
                <a:ea typeface="Calibri" pitchFamily="34" charset="-122"/>
                <a:cs typeface="Calibri" pitchFamily="34" charset="-120"/>
              </a:rPr>
              <a:t>1650s</a:t>
            </a:r>
            <a:endParaRPr lang="en-US" sz="900" dirty="0"/>
          </a:p>
        </p:txBody>
      </p:sp>
      <p:sp>
        <p:nvSpPr>
          <p:cNvPr id="23" name="Shape 21"/>
          <p:cNvSpPr/>
          <p:nvPr/>
        </p:nvSpPr>
        <p:spPr>
          <a:xfrm>
            <a:off x="7470648" y="1837944"/>
            <a:ext cx="219456" cy="219456"/>
          </a:xfrm>
          <a:prstGeom prst="ellipse">
            <a:avLst/>
          </a:prstGeom>
          <a:solidFill>
            <a:srgbClr val="E8636B"/>
          </a:solidFill>
          <a:ln w="12700">
            <a:solidFill>
              <a:srgbClr val="E8636B"/>
            </a:solidFill>
            <a:prstDash val="solid"/>
          </a:ln>
        </p:spPr>
      </p:sp>
      <p:sp>
        <p:nvSpPr>
          <p:cNvPr id="24" name="Shape 22"/>
          <p:cNvSpPr/>
          <p:nvPr/>
        </p:nvSpPr>
        <p:spPr>
          <a:xfrm>
            <a:off x="6903720" y="932688"/>
            <a:ext cx="1389888" cy="886968"/>
          </a:xfrm>
          <a:prstGeom prst="roundRect">
            <a:avLst>
              <a:gd name="adj" fmla="val 10309"/>
            </a:avLst>
          </a:prstGeom>
          <a:solidFill>
            <a:srgbClr val="E8636B"/>
          </a:solidFill>
          <a:ln w="12700">
            <a:solidFill>
              <a:srgbClr val="E8636B"/>
            </a:solidFill>
            <a:prstDash val="solid"/>
          </a:ln>
        </p:spPr>
      </p:sp>
      <p:sp>
        <p:nvSpPr>
          <p:cNvPr id="25" name="Text 23"/>
          <p:cNvSpPr/>
          <p:nvPr/>
        </p:nvSpPr>
        <p:spPr>
          <a:xfrm>
            <a:off x="6949440" y="960120"/>
            <a:ext cx="1298448" cy="7498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Effects on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Native Peoples</a:t>
            </a:r>
            <a:endParaRPr lang="en-US" sz="900" dirty="0"/>
          </a:p>
        </p:txBody>
      </p:sp>
      <p:sp>
        <p:nvSpPr>
          <p:cNvPr id="26" name="Text 24"/>
          <p:cNvSpPr/>
          <p:nvPr/>
        </p:nvSpPr>
        <p:spPr>
          <a:xfrm>
            <a:off x="6903720" y="2103120"/>
            <a:ext cx="1389888" cy="256032"/>
          </a:xfrm>
          <a:prstGeom prst="rect">
            <a:avLst/>
          </a:prstGeom>
          <a:noFill/>
          <a:ln/>
        </p:spPr>
        <p:txBody>
          <a:bodyPr wrap="square" rtlCol="0" anchor="ctr"/>
          <a:lstStyle/>
          <a:p>
            <a:pPr algn="ctr" indent="0" marL="0">
              <a:buNone/>
            </a:pPr>
            <a:r>
              <a:rPr lang="en-US" sz="900" b="1" dirty="0">
                <a:solidFill>
                  <a:srgbClr val="E8636B"/>
                </a:solidFill>
                <a:latin typeface="Calibri" pitchFamily="34" charset="0"/>
                <a:ea typeface="Calibri" pitchFamily="34" charset="-122"/>
                <a:cs typeface="Calibri" pitchFamily="34" charset="-120"/>
              </a:rPr>
              <a:t>Ongoing</a:t>
            </a:r>
            <a:endParaRPr lang="en-US" sz="900" dirty="0"/>
          </a:p>
        </p:txBody>
      </p:sp>
      <p:sp>
        <p:nvSpPr>
          <p:cNvPr id="27" name="Shape 25"/>
          <p:cNvSpPr/>
          <p:nvPr/>
        </p:nvSpPr>
        <p:spPr>
          <a:xfrm>
            <a:off x="274320" y="2487168"/>
            <a:ext cx="8595360" cy="36576"/>
          </a:xfrm>
          <a:prstGeom prst="rect">
            <a:avLst/>
          </a:prstGeom>
          <a:solidFill>
            <a:srgbClr val="B0B8CC"/>
          </a:solidFill>
          <a:ln w="12700">
            <a:solidFill>
              <a:srgbClr val="B0B8CC"/>
            </a:solidFill>
            <a:prstDash val="solid"/>
          </a:ln>
        </p:spPr>
      </p:sp>
      <p:sp>
        <p:nvSpPr>
          <p:cNvPr id="28" name="Text 26"/>
          <p:cNvSpPr/>
          <p:nvPr/>
        </p:nvSpPr>
        <p:spPr>
          <a:xfrm>
            <a:off x="274320" y="2560320"/>
            <a:ext cx="8595360" cy="292608"/>
          </a:xfrm>
          <a:prstGeom prst="rect">
            <a:avLst/>
          </a:prstGeom>
          <a:noFill/>
          <a:ln/>
        </p:spPr>
        <p:txBody>
          <a:bodyPr wrap="square" rtlCol="0" anchor="ctr"/>
          <a:lstStyle/>
          <a:p>
            <a:pPr algn="ctr" indent="0" marL="0">
              <a:buNone/>
            </a:pPr>
            <a:r>
              <a:rPr lang="en-US" sz="1100" i="1" dirty="0">
                <a:solidFill>
                  <a:srgbClr val="1A2D5A"/>
                </a:solidFill>
                <a:latin typeface="Calibri" pitchFamily="34" charset="0"/>
                <a:ea typeface="Calibri" pitchFamily="34" charset="-122"/>
                <a:cs typeface="Calibri" pitchFamily="34" charset="-120"/>
              </a:rPr>
              <a:t>Cause and Effect: European arrival  --&gt;  settlements and missions  --&gt;  effects on Native peoples</a:t>
            </a:r>
            <a:endParaRPr lang="en-US" sz="1100" dirty="0"/>
          </a:p>
        </p:txBody>
      </p:sp>
      <p:sp>
        <p:nvSpPr>
          <p:cNvPr id="29" name="Shape 27"/>
          <p:cNvSpPr/>
          <p:nvPr/>
        </p:nvSpPr>
        <p:spPr>
          <a:xfrm>
            <a:off x="274320" y="2944368"/>
            <a:ext cx="8595360" cy="1051560"/>
          </a:xfrm>
          <a:prstGeom prst="roundRect">
            <a:avLst>
              <a:gd name="adj" fmla="val 10435"/>
            </a:avLst>
          </a:prstGeom>
          <a:solidFill>
            <a:srgbClr val="FFF3DC"/>
          </a:solidFill>
          <a:ln w="19050">
            <a:solidFill>
              <a:srgbClr val="F5E6C8"/>
            </a:solidFill>
            <a:prstDash val="solid"/>
          </a:ln>
        </p:spPr>
      </p:sp>
      <p:sp>
        <p:nvSpPr>
          <p:cNvPr id="30" name="Text 28"/>
          <p:cNvSpPr/>
          <p:nvPr/>
        </p:nvSpPr>
        <p:spPr>
          <a:xfrm>
            <a:off x="411480" y="2999232"/>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31" name="Text 29"/>
          <p:cNvSpPr/>
          <p:nvPr/>
        </p:nvSpPr>
        <p:spPr>
          <a:xfrm>
            <a:off x="411480" y="3200400"/>
            <a:ext cx="8321040" cy="731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important turning point in this unit was ___ because that is when everything changed for..."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"Looking at this timeline, I can see a cause-and-effect connection between ___ and ___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Text 1"/>
          <p:cNvSpPr/>
          <p:nvPr/>
        </p:nvSpPr>
        <p:spPr>
          <a:xfrm>
            <a:off x="457200" y="182880"/>
            <a:ext cx="8229600" cy="292608"/>
          </a:xfrm>
          <a:prstGeom prst="rect">
            <a:avLst/>
          </a:prstGeom>
          <a:noFill/>
          <a:ln/>
        </p:spPr>
        <p:txBody>
          <a:bodyPr wrap="square"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THE BIG PATTERN</a:t>
            </a:r>
            <a:endParaRPr lang="en-US" sz="900" dirty="0"/>
          </a:p>
        </p:txBody>
      </p:sp>
      <p:sp>
        <p:nvSpPr>
          <p:cNvPr id="4" name="Text 2"/>
          <p:cNvSpPr/>
          <p:nvPr/>
        </p:nvSpPr>
        <p:spPr>
          <a:xfrm>
            <a:off x="457200" y="502920"/>
            <a:ext cx="8229600" cy="566928"/>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What Did We Discover Across This Whole Unit?</a:t>
            </a:r>
            <a:endParaRPr lang="en-US" sz="2400" dirty="0"/>
          </a:p>
        </p:txBody>
      </p:sp>
      <p:sp>
        <p:nvSpPr>
          <p:cNvPr id="5" name="Shape 3"/>
          <p:cNvSpPr/>
          <p:nvPr/>
        </p:nvSpPr>
        <p:spPr>
          <a:xfrm>
            <a:off x="1188720" y="1170432"/>
            <a:ext cx="6766560" cy="658368"/>
          </a:xfrm>
          <a:prstGeom prst="roundRect">
            <a:avLst>
              <a:gd name="adj" fmla="val 20833"/>
            </a:avLst>
          </a:prstGeom>
          <a:solidFill>
            <a:srgbClr val="D4943A"/>
          </a:solidFill>
          <a:ln w="12700">
            <a:solidFill>
              <a:srgbClr val="D4943A"/>
            </a:solidFill>
            <a:prstDash val="solid"/>
          </a:ln>
        </p:spPr>
      </p:sp>
      <p:sp>
        <p:nvSpPr>
          <p:cNvPr id="6" name="Text 4"/>
          <p:cNvSpPr/>
          <p:nvPr/>
        </p:nvSpPr>
        <p:spPr>
          <a:xfrm>
            <a:off x="1325880" y="1188720"/>
            <a:ext cx="6492240" cy="621792"/>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Colonization changes the people who already live there — in their land, faith, and way of life.</a:t>
            </a:r>
            <a:endParaRPr lang="en-US" sz="1400" dirty="0"/>
          </a:p>
        </p:txBody>
      </p:sp>
      <p:sp>
        <p:nvSpPr>
          <p:cNvPr id="7" name="Shape 5"/>
          <p:cNvSpPr/>
          <p:nvPr/>
        </p:nvSpPr>
        <p:spPr>
          <a:xfrm>
            <a:off x="274320" y="1938528"/>
            <a:ext cx="8595360" cy="2633472"/>
          </a:xfrm>
          <a:prstGeom prst="roundRect">
            <a:avLst>
              <a:gd name="adj" fmla="val 5208"/>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457200" y="2029968"/>
            <a:ext cx="8229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457200" y="2286000"/>
            <a:ext cx="8229600" cy="219456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this pattern — 'colonization changes the people who already live there' — describe something in a different time or place you've studied?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changed most for Florida because of Spanish colonization — land, religion, or trade? Which mattered most,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piece of evidence from our unit best proves this pattern? Why is that your strongest choice?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disagrees with this pattern argue — and is their argument strong enough to make you reconsider?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1A8A7D"/>
          </a:solidFill>
          <a:ln w="12700">
            <a:solidFill>
              <a:srgbClr val="1A8A7D"/>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GUIDED PRACTICE — TEACHER MODEL</a:t>
            </a:r>
            <a:endParaRPr lang="en-US" sz="900" dirty="0"/>
          </a:p>
        </p:txBody>
      </p:sp>
      <p:sp>
        <p:nvSpPr>
          <p:cNvPr id="5" name="Text 3"/>
          <p:cNvSpPr/>
          <p:nvPr/>
        </p:nvSpPr>
        <p:spPr>
          <a:xfrm>
            <a:off x="365760" y="393192"/>
            <a:ext cx="8412480" cy="50292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Watch How I Build One Complete Entry</a:t>
            </a:r>
            <a:endParaRPr lang="en-US" sz="2400" dirty="0"/>
          </a:p>
        </p:txBody>
      </p:sp>
      <p:sp>
        <p:nvSpPr>
          <p:cNvPr id="6" name="Shape 4"/>
          <p:cNvSpPr/>
          <p:nvPr/>
        </p:nvSpPr>
        <p:spPr>
          <a:xfrm>
            <a:off x="274320" y="987552"/>
            <a:ext cx="8595360" cy="2633472"/>
          </a:xfrm>
          <a:prstGeom prst="roundRect">
            <a:avLst>
              <a:gd name="adj" fmla="val 5208"/>
            </a:avLst>
          </a:prstGeom>
          <a:solidFill>
            <a:srgbClr val="FFFFFF"/>
          </a:solidFill>
          <a:ln w="25400">
            <a:solidFill>
              <a:srgbClr val="1A8A7D"/>
            </a:solidFill>
            <a:prstDash val="solid"/>
          </a:ln>
        </p:spPr>
      </p:sp>
      <p:sp>
        <p:nvSpPr>
          <p:cNvPr id="7" name="Text 5"/>
          <p:cNvSpPr/>
          <p:nvPr/>
        </p:nvSpPr>
        <p:spPr>
          <a:xfrm>
            <a:off x="457200" y="1060704"/>
            <a:ext cx="8229600" cy="27432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WORKED EXAMPLE — Castillo de San Marcos</a:t>
            </a:r>
            <a:endParaRPr lang="en-US" sz="1000" dirty="0"/>
          </a:p>
        </p:txBody>
      </p:sp>
      <p:sp>
        <p:nvSpPr>
          <p:cNvPr id="8" name="Shape 6"/>
          <p:cNvSpPr/>
          <p:nvPr/>
        </p:nvSpPr>
        <p:spPr>
          <a:xfrm>
            <a:off x="411480" y="1389888"/>
            <a:ext cx="1234440" cy="384048"/>
          </a:xfrm>
          <a:prstGeom prst="rect">
            <a:avLst/>
          </a:prstGeom>
          <a:solidFill>
            <a:srgbClr val="0E1C42"/>
          </a:solidFill>
          <a:ln w="12700">
            <a:solidFill>
              <a:srgbClr val="0E1C42"/>
            </a:solidFill>
            <a:prstDash val="solid"/>
          </a:ln>
        </p:spPr>
      </p:sp>
      <p:sp>
        <p:nvSpPr>
          <p:cNvPr id="9" name="Text 7"/>
          <p:cNvSpPr/>
          <p:nvPr/>
        </p:nvSpPr>
        <p:spPr>
          <a:xfrm>
            <a:off x="411480" y="1389888"/>
            <a:ext cx="1234440" cy="384048"/>
          </a:xfrm>
          <a:prstGeom prst="rect">
            <a:avLst/>
          </a:prstGeom>
          <a:noFill/>
          <a:ln/>
        </p:spPr>
        <p:txBody>
          <a:bodyPr wrap="square" rtlCol="0" anchor="ctr"/>
          <a:lstStyle/>
          <a:p>
            <a:pPr algn="ctr" indent="0" marL="0">
              <a:buNone/>
            </a:pPr>
            <a:r>
              <a:rPr lang="en-US" sz="1000" b="1" dirty="0">
                <a:solidFill>
                  <a:srgbClr val="55C8E8"/>
                </a:solidFill>
                <a:latin typeface="Calibri" pitchFamily="34" charset="0"/>
                <a:ea typeface="Calibri" pitchFamily="34" charset="-122"/>
                <a:cs typeface="Calibri" pitchFamily="34" charset="-120"/>
              </a:rPr>
              <a:t>SOURCE</a:t>
            </a:r>
            <a:endParaRPr lang="en-US" sz="1000" dirty="0"/>
          </a:p>
        </p:txBody>
      </p:sp>
      <p:sp>
        <p:nvSpPr>
          <p:cNvPr id="10" name="Text 8"/>
          <p:cNvSpPr/>
          <p:nvPr/>
        </p:nvSpPr>
        <p:spPr>
          <a:xfrm>
            <a:off x="1719072" y="1389888"/>
            <a:ext cx="6995160" cy="38404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Castillo de San Marcos (physical artifact / historical site), St. Augustine, FL</a:t>
            </a:r>
            <a:endParaRPr lang="en-US" sz="1200" dirty="0"/>
          </a:p>
        </p:txBody>
      </p:sp>
      <p:sp>
        <p:nvSpPr>
          <p:cNvPr id="11" name="Shape 9"/>
          <p:cNvSpPr/>
          <p:nvPr/>
        </p:nvSpPr>
        <p:spPr>
          <a:xfrm>
            <a:off x="411480" y="1828800"/>
            <a:ext cx="1234440" cy="384048"/>
          </a:xfrm>
          <a:prstGeom prst="rect">
            <a:avLst/>
          </a:prstGeom>
          <a:solidFill>
            <a:srgbClr val="1A8A7D"/>
          </a:solidFill>
          <a:ln w="12700">
            <a:solidFill>
              <a:srgbClr val="1A8A7D"/>
            </a:solidFill>
            <a:prstDash val="solid"/>
          </a:ln>
        </p:spPr>
      </p:sp>
      <p:sp>
        <p:nvSpPr>
          <p:cNvPr id="12" name="Text 10"/>
          <p:cNvSpPr/>
          <p:nvPr/>
        </p:nvSpPr>
        <p:spPr>
          <a:xfrm>
            <a:off x="411480" y="1828800"/>
            <a:ext cx="123444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DETAIL</a:t>
            </a:r>
            <a:endParaRPr lang="en-US" sz="1000" dirty="0"/>
          </a:p>
        </p:txBody>
      </p:sp>
      <p:sp>
        <p:nvSpPr>
          <p:cNvPr id="13" name="Text 11"/>
          <p:cNvSpPr/>
          <p:nvPr/>
        </p:nvSpPr>
        <p:spPr>
          <a:xfrm>
            <a:off x="1719072" y="1828800"/>
            <a:ext cx="6995160" cy="38404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fort was built in 1672 from coquina stone — and it still stands today in St. Augustine.</a:t>
            </a:r>
            <a:endParaRPr lang="en-US" sz="1200" dirty="0"/>
          </a:p>
        </p:txBody>
      </p:sp>
      <p:sp>
        <p:nvSpPr>
          <p:cNvPr id="14" name="Shape 12"/>
          <p:cNvSpPr/>
          <p:nvPr/>
        </p:nvSpPr>
        <p:spPr>
          <a:xfrm>
            <a:off x="411480" y="2267712"/>
            <a:ext cx="1234440" cy="640080"/>
          </a:xfrm>
          <a:prstGeom prst="rect">
            <a:avLst/>
          </a:prstGeom>
          <a:solidFill>
            <a:srgbClr val="D4943A"/>
          </a:solidFill>
          <a:ln w="12700">
            <a:solidFill>
              <a:srgbClr val="D4943A"/>
            </a:solidFill>
            <a:prstDash val="solid"/>
          </a:ln>
        </p:spPr>
      </p:sp>
      <p:sp>
        <p:nvSpPr>
          <p:cNvPr id="15" name="Text 13"/>
          <p:cNvSpPr/>
          <p:nvPr/>
        </p:nvSpPr>
        <p:spPr>
          <a:xfrm>
            <a:off x="411480" y="2267712"/>
            <a:ext cx="1234440" cy="6400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EXPLAIN</a:t>
            </a:r>
            <a:endParaRPr lang="en-US" sz="1000" dirty="0"/>
          </a:p>
        </p:txBody>
      </p:sp>
      <p:sp>
        <p:nvSpPr>
          <p:cNvPr id="16" name="Text 14"/>
          <p:cNvSpPr/>
          <p:nvPr/>
        </p:nvSpPr>
        <p:spPr>
          <a:xfrm>
            <a:off x="1719072" y="2267712"/>
            <a:ext cx="6995160" cy="640080"/>
          </a:xfrm>
          <a:prstGeom prst="rect">
            <a:avLst/>
          </a:prstGeom>
          <a:noFill/>
          <a:ln/>
        </p:spPr>
        <p:txBody>
          <a:bodyPr wrap="square" rtlCol="0" anchor="ctr"/>
          <a:lstStyle/>
          <a:p>
            <a:pPr indent="0" marL="0">
              <a:buNone/>
            </a:pPr>
            <a:r>
              <a:rPr lang="en-US" sz="1100" i="1" dirty="0">
                <a:solidFill>
                  <a:srgbClr val="5A4A3A"/>
                </a:solidFill>
                <a:latin typeface="Cambria" pitchFamily="34" charset="0"/>
                <a:ea typeface="Cambria" pitchFamily="34" charset="-122"/>
                <a:cs typeface="Cambria" pitchFamily="34" charset="-120"/>
              </a:rPr>
              <a:t>This shows Spain built permanent military defenses in Florida, meaning they intended long-term control — not just exploration. It connects to the pattern that colonization changes the land through permanent structures built to hold power.</a:t>
            </a:r>
            <a:endParaRPr lang="en-US" sz="1100" dirty="0"/>
          </a:p>
        </p:txBody>
      </p:sp>
      <p:sp>
        <p:nvSpPr>
          <p:cNvPr id="17" name="Shape 15"/>
          <p:cNvSpPr/>
          <p:nvPr/>
        </p:nvSpPr>
        <p:spPr>
          <a:xfrm>
            <a:off x="274320" y="3703320"/>
            <a:ext cx="8595360" cy="777240"/>
          </a:xfrm>
          <a:prstGeom prst="roundRect">
            <a:avLst>
              <a:gd name="adj" fmla="val 14118"/>
            </a:avLst>
          </a:prstGeom>
          <a:solidFill>
            <a:srgbClr val="55C8E8">
              <a:alpha val="20000"/>
            </a:srgbClr>
          </a:solidFill>
          <a:ln w="19050">
            <a:solidFill>
              <a:srgbClr val="55C8E8"/>
            </a:solidFill>
            <a:prstDash val="solid"/>
          </a:ln>
        </p:spPr>
      </p:sp>
      <p:sp>
        <p:nvSpPr>
          <p:cNvPr id="18" name="Text 16"/>
          <p:cNvSpPr/>
          <p:nvPr/>
        </p:nvSpPr>
        <p:spPr>
          <a:xfrm>
            <a:off x="457200" y="3776472"/>
            <a:ext cx="2011680" cy="274320"/>
          </a:xfrm>
          <a:prstGeom prst="rect">
            <a:avLst/>
          </a:prstGeom>
          <a:noFill/>
          <a:ln/>
        </p:spPr>
        <p:txBody>
          <a:bodyPr wrap="square"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Teacher Think-Aloud:</a:t>
            </a:r>
            <a:endParaRPr lang="en-US" sz="1000" dirty="0"/>
          </a:p>
        </p:txBody>
      </p:sp>
      <p:sp>
        <p:nvSpPr>
          <p:cNvPr id="19" name="Text 17"/>
          <p:cNvSpPr/>
          <p:nvPr/>
        </p:nvSpPr>
        <p:spPr>
          <a:xfrm>
            <a:off x="2487168" y="3749040"/>
            <a:ext cx="6217920" cy="621792"/>
          </a:xfrm>
          <a:prstGeom prst="rect">
            <a:avLst/>
          </a:prstGeom>
          <a:noFill/>
          <a:ln/>
        </p:spPr>
        <p:txBody>
          <a:bodyPr wrap="square" rtlCol="0" anchor="ctr"/>
          <a:lstStyle/>
          <a:p>
            <a:pPr indent="0" marL="0">
              <a:buNone/>
            </a:pPr>
            <a:r>
              <a:rPr lang="en-US" sz="1100" i="1" dirty="0">
                <a:solidFill>
                  <a:srgbClr val="1A2D5A"/>
                </a:solidFill>
                <a:latin typeface="Cambria" pitchFamily="34" charset="0"/>
                <a:ea typeface="Cambria" pitchFamily="34" charset="-122"/>
                <a:cs typeface="Cambria" pitchFamily="34" charset="-120"/>
              </a:rPr>
              <a:t>"My EXPLANATION does not just repeat my detail. I ask myself: what does the 1672 date MEAN for the story of colonization? It means permanence. Spain planned to stay."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8B6FC0"/>
          </a:solidFill>
          <a:ln w="12700">
            <a:solidFill>
              <a:srgbClr val="8B6FC0"/>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GUIDED PRACTICE — DEFEND YOUR EVIDENCE</a:t>
            </a:r>
            <a:endParaRPr lang="en-US" sz="900" dirty="0"/>
          </a:p>
        </p:txBody>
      </p:sp>
      <p:sp>
        <p:nvSpPr>
          <p:cNvPr id="5" name="Text 3"/>
          <p:cNvSpPr/>
          <p:nvPr/>
        </p:nvSpPr>
        <p:spPr>
          <a:xfrm>
            <a:off x="365760" y="393192"/>
            <a:ext cx="8412480" cy="50292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You Choose — Then You Defend</a:t>
            </a:r>
            <a:endParaRPr lang="en-US" sz="2600" dirty="0"/>
          </a:p>
        </p:txBody>
      </p:sp>
      <p:sp>
        <p:nvSpPr>
          <p:cNvPr id="6" name="Shape 4"/>
          <p:cNvSpPr/>
          <p:nvPr/>
        </p:nvSpPr>
        <p:spPr>
          <a:xfrm>
            <a:off x="274320" y="987552"/>
            <a:ext cx="8595360" cy="1024128"/>
          </a:xfrm>
          <a:prstGeom prst="roundRect">
            <a:avLst>
              <a:gd name="adj" fmla="val 13393"/>
            </a:avLst>
          </a:prstGeom>
          <a:solidFill>
            <a:srgbClr val="1A2D5A"/>
          </a:solidFill>
          <a:ln w="12700">
            <a:solidFill>
              <a:srgbClr val="1A2D5A"/>
            </a:solidFill>
            <a:prstDash val="solid"/>
          </a:ln>
        </p:spPr>
      </p:sp>
      <p:sp>
        <p:nvSpPr>
          <p:cNvPr id="7" name="Text 5"/>
          <p:cNvSpPr/>
          <p:nvPr/>
        </p:nvSpPr>
        <p:spPr>
          <a:xfrm>
            <a:off x="502920" y="1060704"/>
            <a:ext cx="804672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Your task:</a:t>
            </a:r>
            <a:endParaRPr lang="en-US" sz="1100" dirty="0"/>
          </a:p>
        </p:txBody>
      </p:sp>
      <p:sp>
        <p:nvSpPr>
          <p:cNvPr id="8" name="Text 6"/>
          <p:cNvSpPr/>
          <p:nvPr/>
        </p:nvSpPr>
        <p:spPr>
          <a:xfrm>
            <a:off x="502920" y="1325880"/>
            <a:ext cx="8046720" cy="6400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Choose ONE source from the unit (map, fort, mission records, or archaeological evidence). In chat, write the SOURCE name and ONE DETAIL. Then defend: why did you choose that source and not a different one?</a:t>
            </a:r>
            <a:endParaRPr lang="en-US" sz="1200" dirty="0"/>
          </a:p>
        </p:txBody>
      </p:sp>
      <p:sp>
        <p:nvSpPr>
          <p:cNvPr id="9" name="Shape 7"/>
          <p:cNvSpPr/>
          <p:nvPr/>
        </p:nvSpPr>
        <p:spPr>
          <a:xfrm>
            <a:off x="274320" y="2103120"/>
            <a:ext cx="8595360" cy="1234440"/>
          </a:xfrm>
          <a:prstGeom prst="roundRect">
            <a:avLst>
              <a:gd name="adj" fmla="val 8889"/>
            </a:avLst>
          </a:prstGeom>
          <a:solidFill>
            <a:srgbClr val="FFF3DC"/>
          </a:solidFill>
          <a:ln w="19050">
            <a:solidFill>
              <a:srgbClr val="F5E6C8"/>
            </a:solidFill>
            <a:prstDash val="solid"/>
          </a:ln>
        </p:spPr>
      </p:sp>
      <p:sp>
        <p:nvSpPr>
          <p:cNvPr id="10" name="Text 8"/>
          <p:cNvSpPr/>
          <p:nvPr/>
        </p:nvSpPr>
        <p:spPr>
          <a:xfrm>
            <a:off x="411480" y="2157984"/>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411480" y="2359152"/>
            <a:ext cx="832104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evidence in our unit was ___ because it showed me something no other source could — specifically..."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chose this source and not ___ because the detail it gives is stronger evidence of ___ because..."</a:t>
            </a:r>
            <a:endParaRPr lang="en-US" sz="1200" dirty="0"/>
          </a:p>
        </p:txBody>
      </p:sp>
      <p:sp>
        <p:nvSpPr>
          <p:cNvPr id="12" name="Shape 10"/>
          <p:cNvSpPr/>
          <p:nvPr/>
        </p:nvSpPr>
        <p:spPr>
          <a:xfrm>
            <a:off x="274320" y="3429000"/>
            <a:ext cx="8595360" cy="13716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457200" y="3520440"/>
            <a:ext cx="8229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457200" y="3776472"/>
            <a:ext cx="8229600" cy="932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chose a DIFFERENT source say? Can you argue against your own choice?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your detail specific enough — or could it apply to any colonial situation anywhere?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your explanation connect to the unit pattern: colonization changes the people who already live there?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E8636B"/>
          </a:solidFill>
          <a:ln w="12700">
            <a:solidFill>
              <a:srgbClr val="E8636B"/>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GUIDED PRACTICE — CRITIQUE</a:t>
            </a:r>
            <a:endParaRPr lang="en-US" sz="900" dirty="0"/>
          </a:p>
        </p:txBody>
      </p:sp>
      <p:sp>
        <p:nvSpPr>
          <p:cNvPr id="5" name="Text 3"/>
          <p:cNvSpPr/>
          <p:nvPr/>
        </p:nvSpPr>
        <p:spPr>
          <a:xfrm>
            <a:off x="365760" y="393192"/>
            <a:ext cx="8412480" cy="50292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Find What Is Missing</a:t>
            </a:r>
            <a:endParaRPr lang="en-US" sz="2600" dirty="0"/>
          </a:p>
        </p:txBody>
      </p:sp>
      <p:sp>
        <p:nvSpPr>
          <p:cNvPr id="6" name="Shape 4"/>
          <p:cNvSpPr/>
          <p:nvPr/>
        </p:nvSpPr>
        <p:spPr>
          <a:xfrm>
            <a:off x="274320" y="987552"/>
            <a:ext cx="8595360" cy="2029968"/>
          </a:xfrm>
          <a:prstGeom prst="roundRect">
            <a:avLst>
              <a:gd name="adj" fmla="val 6757"/>
            </a:avLst>
          </a:prstGeom>
          <a:solidFill>
            <a:srgbClr val="FFFFFF"/>
          </a:solidFill>
          <a:ln w="25400">
            <a:solidFill>
              <a:srgbClr val="E8636B"/>
            </a:solidFill>
            <a:prstDash val="dash"/>
          </a:ln>
        </p:spPr>
      </p:sp>
      <p:sp>
        <p:nvSpPr>
          <p:cNvPr id="7" name="Text 5"/>
          <p:cNvSpPr/>
          <p:nvPr/>
        </p:nvSpPr>
        <p:spPr>
          <a:xfrm>
            <a:off x="457200" y="1060704"/>
            <a:ext cx="8046720" cy="256032"/>
          </a:xfrm>
          <a:prstGeom prst="rect">
            <a:avLst/>
          </a:prstGeom>
          <a:noFill/>
          <a:ln/>
        </p:spPr>
        <p:txBody>
          <a:bodyPr wrap="square" rtlCol="0" anchor="ctr"/>
          <a:lstStyle/>
          <a:p>
            <a:pPr indent="0" marL="0">
              <a:buNone/>
            </a:pPr>
            <a:r>
              <a:rPr lang="en-US" sz="1000" b="1" spc="120" kern="0" dirty="0">
                <a:solidFill>
                  <a:srgbClr val="E8636B"/>
                </a:solidFill>
                <a:latin typeface="Calibri" pitchFamily="34" charset="0"/>
                <a:ea typeface="Calibri" pitchFamily="34" charset="-122"/>
                <a:cs typeface="Calibri" pitchFamily="34" charset="-120"/>
              </a:rPr>
              <a:t>SAMPLE NOTEBOOK ENTRY — Does this explanation actually work?</a:t>
            </a:r>
            <a:endParaRPr lang="en-US" sz="1000" dirty="0"/>
          </a:p>
        </p:txBody>
      </p:sp>
      <p:sp>
        <p:nvSpPr>
          <p:cNvPr id="8" name="Shape 6"/>
          <p:cNvSpPr/>
          <p:nvPr/>
        </p:nvSpPr>
        <p:spPr>
          <a:xfrm>
            <a:off x="411480" y="1371600"/>
            <a:ext cx="1170432" cy="347472"/>
          </a:xfrm>
          <a:prstGeom prst="rect">
            <a:avLst/>
          </a:prstGeom>
          <a:solidFill>
            <a:srgbClr val="0E1C42"/>
          </a:solidFill>
          <a:ln w="12700">
            <a:solidFill>
              <a:srgbClr val="0E1C42"/>
            </a:solidFill>
            <a:prstDash val="solid"/>
          </a:ln>
        </p:spPr>
      </p:sp>
      <p:sp>
        <p:nvSpPr>
          <p:cNvPr id="9" name="Text 7"/>
          <p:cNvSpPr/>
          <p:nvPr/>
        </p:nvSpPr>
        <p:spPr>
          <a:xfrm>
            <a:off x="411480" y="1371600"/>
            <a:ext cx="1170432" cy="347472"/>
          </a:xfrm>
          <a:prstGeom prst="rect">
            <a:avLst/>
          </a:prstGeom>
          <a:noFill/>
          <a:ln/>
        </p:spPr>
        <p:txBody>
          <a:bodyPr wrap="square" rtlCol="0" anchor="ctr"/>
          <a:lstStyle/>
          <a:p>
            <a:pPr algn="ctr" indent="0" marL="0">
              <a:buNone/>
            </a:pPr>
            <a:r>
              <a:rPr lang="en-US" sz="900" b="1" dirty="0">
                <a:solidFill>
                  <a:srgbClr val="55C8E8"/>
                </a:solidFill>
                <a:latin typeface="Calibri" pitchFamily="34" charset="0"/>
                <a:ea typeface="Calibri" pitchFamily="34" charset="-122"/>
                <a:cs typeface="Calibri" pitchFamily="34" charset="-120"/>
              </a:rPr>
              <a:t>SOURCE</a:t>
            </a:r>
            <a:endParaRPr lang="en-US" sz="900" dirty="0"/>
          </a:p>
        </p:txBody>
      </p:sp>
      <p:sp>
        <p:nvSpPr>
          <p:cNvPr id="10" name="Text 8"/>
          <p:cNvSpPr/>
          <p:nvPr/>
        </p:nvSpPr>
        <p:spPr>
          <a:xfrm>
            <a:off x="1645920" y="1371600"/>
            <a:ext cx="7086600" cy="347472"/>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Spanish mission records from San Luis (1656)</a:t>
            </a:r>
            <a:endParaRPr lang="en-US" sz="1200" dirty="0"/>
          </a:p>
        </p:txBody>
      </p:sp>
      <p:sp>
        <p:nvSpPr>
          <p:cNvPr id="11" name="Shape 9"/>
          <p:cNvSpPr/>
          <p:nvPr/>
        </p:nvSpPr>
        <p:spPr>
          <a:xfrm>
            <a:off x="411480" y="1764792"/>
            <a:ext cx="1170432" cy="347472"/>
          </a:xfrm>
          <a:prstGeom prst="rect">
            <a:avLst/>
          </a:prstGeom>
          <a:solidFill>
            <a:srgbClr val="1A8A7D"/>
          </a:solidFill>
          <a:ln w="12700">
            <a:solidFill>
              <a:srgbClr val="1A8A7D"/>
            </a:solidFill>
            <a:prstDash val="solid"/>
          </a:ln>
        </p:spPr>
      </p:sp>
      <p:sp>
        <p:nvSpPr>
          <p:cNvPr id="12" name="Text 10"/>
          <p:cNvSpPr/>
          <p:nvPr/>
        </p:nvSpPr>
        <p:spPr>
          <a:xfrm>
            <a:off x="411480" y="1764792"/>
            <a:ext cx="1170432"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DETAIL</a:t>
            </a:r>
            <a:endParaRPr lang="en-US" sz="900" dirty="0"/>
          </a:p>
        </p:txBody>
      </p:sp>
      <p:sp>
        <p:nvSpPr>
          <p:cNvPr id="13" name="Text 11"/>
          <p:cNvSpPr/>
          <p:nvPr/>
        </p:nvSpPr>
        <p:spPr>
          <a:xfrm>
            <a:off x="1645920" y="1764792"/>
            <a:ext cx="7086600" cy="347472"/>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mission records say many Apalachee people came to the mission.</a:t>
            </a:r>
            <a:endParaRPr lang="en-US" sz="1200" dirty="0"/>
          </a:p>
        </p:txBody>
      </p:sp>
      <p:sp>
        <p:nvSpPr>
          <p:cNvPr id="14" name="Shape 12"/>
          <p:cNvSpPr/>
          <p:nvPr/>
        </p:nvSpPr>
        <p:spPr>
          <a:xfrm>
            <a:off x="411480" y="2157984"/>
            <a:ext cx="1170432" cy="475488"/>
          </a:xfrm>
          <a:prstGeom prst="rect">
            <a:avLst/>
          </a:prstGeom>
          <a:solidFill>
            <a:srgbClr val="D4943A"/>
          </a:solidFill>
          <a:ln w="12700">
            <a:solidFill>
              <a:srgbClr val="D4943A"/>
            </a:solidFill>
            <a:prstDash val="solid"/>
          </a:ln>
        </p:spPr>
      </p:sp>
      <p:sp>
        <p:nvSpPr>
          <p:cNvPr id="15" name="Text 13"/>
          <p:cNvSpPr/>
          <p:nvPr/>
        </p:nvSpPr>
        <p:spPr>
          <a:xfrm>
            <a:off x="411480" y="2157984"/>
            <a:ext cx="1170432" cy="47548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EXPLAIN</a:t>
            </a:r>
            <a:endParaRPr lang="en-US" sz="900" dirty="0"/>
          </a:p>
        </p:txBody>
      </p:sp>
      <p:sp>
        <p:nvSpPr>
          <p:cNvPr id="16" name="Text 14"/>
          <p:cNvSpPr/>
          <p:nvPr/>
        </p:nvSpPr>
        <p:spPr>
          <a:xfrm>
            <a:off x="1645920" y="2157984"/>
            <a:ext cx="7086600" cy="475488"/>
          </a:xfrm>
          <a:prstGeom prst="rect">
            <a:avLst/>
          </a:prstGeom>
          <a:noFill/>
          <a:ln/>
        </p:spPr>
        <p:txBody>
          <a:bodyPr wrap="square" rtlCol="0" anchor="ctr"/>
          <a:lstStyle/>
          <a:p>
            <a:pPr indent="0" marL="0">
              <a:buNone/>
            </a:pPr>
            <a:r>
              <a:rPr lang="en-US" sz="1200" i="1" dirty="0">
                <a:solidFill>
                  <a:srgbClr val="E8636B"/>
                </a:solidFill>
                <a:latin typeface="Calibri" pitchFamily="34" charset="0"/>
                <a:ea typeface="Calibri" pitchFamily="34" charset="-122"/>
                <a:cs typeface="Calibri" pitchFamily="34" charset="-120"/>
              </a:rPr>
              <a:t>This shows that Spanish missionaries were in Florida and they had missions.</a:t>
            </a:r>
            <a:endParaRPr lang="en-US" sz="1200" dirty="0"/>
          </a:p>
        </p:txBody>
      </p:sp>
      <p:sp>
        <p:nvSpPr>
          <p:cNvPr id="17" name="Shape 15"/>
          <p:cNvSpPr/>
          <p:nvPr/>
        </p:nvSpPr>
        <p:spPr>
          <a:xfrm>
            <a:off x="274320" y="3127248"/>
            <a:ext cx="6126480" cy="169164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18" name="Text 16"/>
          <p:cNvSpPr/>
          <p:nvPr/>
        </p:nvSpPr>
        <p:spPr>
          <a:xfrm>
            <a:off x="457200" y="3218688"/>
            <a:ext cx="5760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9" name="Text 17"/>
          <p:cNvSpPr/>
          <p:nvPr/>
        </p:nvSpPr>
        <p:spPr>
          <a:xfrm>
            <a:off x="457200" y="3474720"/>
            <a:ext cx="5760720" cy="12527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explanation actually tell us? Does it say what the detail MEANS — or just describe what happened?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important question does this explanation fail to answer about colonization?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rewrite the explanation to show what the Apalachee coming to the mission MEANS?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There is also a source problem here. What perspective is completely missing from this record?</a:t>
            </a:r>
            <a:endParaRPr lang="en-US" sz="1100" dirty="0"/>
          </a:p>
        </p:txBody>
      </p:sp>
      <p:sp>
        <p:nvSpPr>
          <p:cNvPr id="20" name="Shape 18"/>
          <p:cNvSpPr/>
          <p:nvPr/>
        </p:nvSpPr>
        <p:spPr>
          <a:xfrm>
            <a:off x="6492240" y="3127248"/>
            <a:ext cx="2331720" cy="1691640"/>
          </a:xfrm>
          <a:prstGeom prst="roundRect">
            <a:avLst>
              <a:gd name="adj" fmla="val 6486"/>
            </a:avLst>
          </a:prstGeom>
          <a:solidFill>
            <a:srgbClr val="34B76F">
              <a:alpha val="85000"/>
            </a:srgbClr>
          </a:solidFill>
          <a:ln w="19050">
            <a:solidFill>
              <a:srgbClr val="34B76F"/>
            </a:solidFill>
            <a:prstDash val="solid"/>
          </a:ln>
        </p:spPr>
      </p:sp>
      <p:sp>
        <p:nvSpPr>
          <p:cNvPr id="21" name="Text 19"/>
          <p:cNvSpPr/>
          <p:nvPr/>
        </p:nvSpPr>
        <p:spPr>
          <a:xfrm>
            <a:off x="6601968" y="3218688"/>
            <a:ext cx="2103120" cy="274320"/>
          </a:xfrm>
          <a:prstGeom prst="rect">
            <a:avLst/>
          </a:prstGeom>
          <a:noFill/>
          <a:ln/>
        </p:spPr>
        <p:txBody>
          <a:bodyPr wrap="square"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FIX IT</a:t>
            </a:r>
            <a:endParaRPr lang="en-US" sz="1000" dirty="0"/>
          </a:p>
        </p:txBody>
      </p:sp>
      <p:sp>
        <p:nvSpPr>
          <p:cNvPr id="22" name="Text 20"/>
          <p:cNvSpPr/>
          <p:nvPr/>
        </p:nvSpPr>
        <p:spPr>
          <a:xfrm>
            <a:off x="6601968" y="3529584"/>
            <a:ext cx="2103120" cy="118872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Rewrite the EXPLANATION: say what the detail means AND name the perspective this source is missing.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D5A"/>
          </a:solidFill>
          <a:ln w="12700">
            <a:solidFill>
              <a:srgbClr val="1A2D5A"/>
            </a:solidFill>
            <a:prstDash val="solid"/>
          </a:ln>
        </p:spPr>
      </p:sp>
      <p:sp>
        <p:nvSpPr>
          <p:cNvPr id="3" name="Text 1"/>
          <p:cNvSpPr/>
          <p:nvPr/>
        </p:nvSpPr>
        <p:spPr>
          <a:xfrm>
            <a:off x="457200" y="164592"/>
            <a:ext cx="8229600" cy="292608"/>
          </a:xfrm>
          <a:prstGeom prst="rect">
            <a:avLst/>
          </a:prstGeom>
          <a:noFill/>
          <a:ln/>
        </p:spPr>
        <p:txBody>
          <a:bodyPr wrap="square"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THE TRICKY ONE</a:t>
            </a:r>
            <a:endParaRPr lang="en-US" sz="900" dirty="0"/>
          </a:p>
        </p:txBody>
      </p:sp>
      <p:sp>
        <p:nvSpPr>
          <p:cNvPr id="4" name="Text 2"/>
          <p:cNvSpPr/>
          <p:nvPr/>
        </p:nvSpPr>
        <p:spPr>
          <a:xfrm>
            <a:off x="457200" y="475488"/>
            <a:ext cx="8229600" cy="566928"/>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Are All Our Sources Equally Reliable?</a:t>
            </a:r>
            <a:endParaRPr lang="en-US" sz="2600" dirty="0"/>
          </a:p>
        </p:txBody>
      </p:sp>
      <p:sp>
        <p:nvSpPr>
          <p:cNvPr id="5" name="Shape 3"/>
          <p:cNvSpPr/>
          <p:nvPr/>
        </p:nvSpPr>
        <p:spPr>
          <a:xfrm>
            <a:off x="365760" y="1143000"/>
            <a:ext cx="8412480" cy="896112"/>
          </a:xfrm>
          <a:prstGeom prst="roundRect">
            <a:avLst>
              <a:gd name="adj" fmla="val 15306"/>
            </a:avLst>
          </a:prstGeom>
          <a:solidFill>
            <a:srgbClr val="D4943A">
              <a:alpha val="90000"/>
            </a:srgbClr>
          </a:solidFill>
          <a:ln w="19050">
            <a:solidFill>
              <a:srgbClr val="D4943A"/>
            </a:solidFill>
            <a:prstDash val="solid"/>
          </a:ln>
        </p:spPr>
      </p:sp>
      <p:sp>
        <p:nvSpPr>
          <p:cNvPr id="6" name="Text 4"/>
          <p:cNvSpPr/>
          <p:nvPr/>
        </p:nvSpPr>
        <p:spPr>
          <a:xfrm>
            <a:off x="548640" y="1170432"/>
            <a:ext cx="8046720" cy="804672"/>
          </a:xfrm>
          <a:prstGeom prst="rect">
            <a:avLst/>
          </a:prstGeom>
          <a:noFill/>
          <a:ln/>
        </p:spPr>
        <p:txBody>
          <a:bodyPr wrap="square" rtlCol="0" anchor="ctr"/>
          <a:lstStyle/>
          <a:p>
            <a:pPr algn="ctr" indent="0" marL="0">
              <a:buNone/>
            </a:pPr>
            <a:r>
              <a:rPr lang="en-US" sz="1400" i="1" dirty="0">
                <a:solidFill>
                  <a:srgbClr val="0E1C42"/>
                </a:solidFill>
                <a:latin typeface="Cambria" pitchFamily="34" charset="0"/>
                <a:ea typeface="Cambria" pitchFamily="34" charset="-122"/>
                <a:cs typeface="Cambria" pitchFamily="34" charset="-120"/>
              </a:rPr>
              <a:t>"Can we explain early Florida honestly using only Spanish records? What problems does that create for a historian who cares about the truth?"</a:t>
            </a:r>
            <a:endParaRPr lang="en-US" sz="1400" dirty="0"/>
          </a:p>
        </p:txBody>
      </p:sp>
      <p:sp>
        <p:nvSpPr>
          <p:cNvPr id="7" name="Shape 5"/>
          <p:cNvSpPr/>
          <p:nvPr/>
        </p:nvSpPr>
        <p:spPr>
          <a:xfrm>
            <a:off x="365760" y="2148840"/>
            <a:ext cx="3886200" cy="1536192"/>
          </a:xfrm>
          <a:prstGeom prst="roundRect">
            <a:avLst>
              <a:gd name="adj" fmla="val 8929"/>
            </a:avLst>
          </a:prstGeom>
          <a:solidFill>
            <a:srgbClr val="0E1C42"/>
          </a:solidFill>
          <a:ln w="19050">
            <a:solidFill>
              <a:srgbClr val="55C8E8"/>
            </a:solidFill>
            <a:prstDash val="solid"/>
          </a:ln>
        </p:spPr>
      </p:sp>
      <p:sp>
        <p:nvSpPr>
          <p:cNvPr id="8" name="Text 6"/>
          <p:cNvSpPr/>
          <p:nvPr/>
        </p:nvSpPr>
        <p:spPr>
          <a:xfrm>
            <a:off x="502920" y="2221992"/>
            <a:ext cx="3611880" cy="256032"/>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POSITION A</a:t>
            </a:r>
            <a:endParaRPr lang="en-US" sz="900" dirty="0"/>
          </a:p>
        </p:txBody>
      </p:sp>
      <p:sp>
        <p:nvSpPr>
          <p:cNvPr id="9" name="Text 7"/>
          <p:cNvSpPr/>
          <p:nvPr/>
        </p:nvSpPr>
        <p:spPr>
          <a:xfrm>
            <a:off x="502920" y="2514600"/>
            <a:ext cx="3611880" cy="1078992"/>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Spanish records are valuable primary sources. A careful historian can read them critically and still learn a great deal about early Florida.</a:t>
            </a:r>
            <a:endParaRPr lang="en-US" sz="1100" dirty="0"/>
          </a:p>
        </p:txBody>
      </p:sp>
      <p:sp>
        <p:nvSpPr>
          <p:cNvPr id="10" name="Shape 8"/>
          <p:cNvSpPr/>
          <p:nvPr/>
        </p:nvSpPr>
        <p:spPr>
          <a:xfrm>
            <a:off x="4572000" y="2148840"/>
            <a:ext cx="4206240" cy="1536192"/>
          </a:xfrm>
          <a:prstGeom prst="roundRect">
            <a:avLst>
              <a:gd name="adj" fmla="val 8929"/>
            </a:avLst>
          </a:prstGeom>
          <a:solidFill>
            <a:srgbClr val="0E1C42"/>
          </a:solidFill>
          <a:ln w="19050">
            <a:solidFill>
              <a:srgbClr val="E8636B"/>
            </a:solidFill>
            <a:prstDash val="solid"/>
          </a:ln>
        </p:spPr>
      </p:sp>
      <p:sp>
        <p:nvSpPr>
          <p:cNvPr id="11" name="Text 9"/>
          <p:cNvSpPr/>
          <p:nvPr/>
        </p:nvSpPr>
        <p:spPr>
          <a:xfrm>
            <a:off x="4709160" y="2221992"/>
            <a:ext cx="3931920" cy="256032"/>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POSITION B</a:t>
            </a:r>
            <a:endParaRPr lang="en-US" sz="900" dirty="0"/>
          </a:p>
        </p:txBody>
      </p:sp>
      <p:sp>
        <p:nvSpPr>
          <p:cNvPr id="12" name="Text 10"/>
          <p:cNvSpPr/>
          <p:nvPr/>
        </p:nvSpPr>
        <p:spPr>
          <a:xfrm>
            <a:off x="4709160" y="2514600"/>
            <a:ext cx="3931920" cy="1078992"/>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Spanish records only document what Spaniards chose to record. A historian who relies ONLY on them will miss the Timucua, Apalachee, and Calusa perspective entirely.</a:t>
            </a:r>
            <a:endParaRPr lang="en-US" sz="1100" dirty="0"/>
          </a:p>
        </p:txBody>
      </p:sp>
      <p:sp>
        <p:nvSpPr>
          <p:cNvPr id="13" name="Shape 11"/>
          <p:cNvSpPr/>
          <p:nvPr/>
        </p:nvSpPr>
        <p:spPr>
          <a:xfrm>
            <a:off x="365760" y="3794760"/>
            <a:ext cx="8412480" cy="749808"/>
          </a:xfrm>
          <a:prstGeom prst="roundRect">
            <a:avLst>
              <a:gd name="adj" fmla="val 14634"/>
            </a:avLst>
          </a:prstGeom>
          <a:solidFill>
            <a:srgbClr val="34B76F">
              <a:alpha val="80000"/>
            </a:srgbClr>
          </a:solidFill>
          <a:ln w="12700">
            <a:solidFill>
              <a:srgbClr val="34B76F"/>
            </a:solidFill>
            <a:prstDash val="solid"/>
          </a:ln>
        </p:spPr>
      </p:sp>
      <p:sp>
        <p:nvSpPr>
          <p:cNvPr id="14" name="Text 12"/>
          <p:cNvSpPr/>
          <p:nvPr/>
        </p:nvSpPr>
        <p:spPr>
          <a:xfrm>
            <a:off x="548640" y="3840480"/>
            <a:ext cx="8046720" cy="658368"/>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Honest historians acknowledge this: reasonable people can disagree about which sources to trust — but EVERY historian must ask whose voice is missing and work to find it.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91440"/>
          </a:xfrm>
          <a:prstGeom prst="rect">
            <a:avLst/>
          </a:prstGeom>
          <a:solidFill>
            <a:srgbClr val="D4943A"/>
          </a:solidFill>
          <a:ln w="12700">
            <a:solidFill>
              <a:srgbClr val="D4943A"/>
            </a:solidFill>
            <a:prstDash val="solid"/>
          </a:ln>
        </p:spPr>
      </p:sp>
      <p:sp>
        <p:nvSpPr>
          <p:cNvPr id="4" name="Text 2"/>
          <p:cNvSpPr/>
          <p:nvPr/>
        </p:nvSpPr>
        <p:spPr>
          <a:xfrm>
            <a:off x="365760" y="155448"/>
            <a:ext cx="8412480" cy="256032"/>
          </a:xfrm>
          <a:prstGeom prst="rect">
            <a:avLst/>
          </a:prstGeom>
          <a:noFill/>
          <a:ln/>
        </p:spPr>
        <p:txBody>
          <a:bodyPr wrap="square" rtlCol="0" anchor="ctr"/>
          <a:lstStyle/>
          <a:p>
            <a:pPr indent="0" marL="0">
              <a:buNone/>
            </a:pPr>
            <a:r>
              <a:rPr lang="en-US" sz="900" b="1" spc="200" kern="0" dirty="0">
                <a:solidFill>
                  <a:srgbClr val="7A88A8"/>
                </a:solidFill>
                <a:latin typeface="Calibri" pitchFamily="34" charset="0"/>
                <a:ea typeface="Calibri" pitchFamily="34" charset="-122"/>
                <a:cs typeface="Calibri" pitchFamily="34" charset="-120"/>
              </a:rPr>
              <a:t>ASSIGNMENT PREVIEW — LESSON 4.06.08</a:t>
            </a:r>
            <a:endParaRPr lang="en-US" sz="900" dirty="0"/>
          </a:p>
        </p:txBody>
      </p:sp>
      <p:sp>
        <p:nvSpPr>
          <p:cNvPr id="5" name="Text 3"/>
          <p:cNvSpPr/>
          <p:nvPr/>
        </p:nvSpPr>
        <p:spPr>
          <a:xfrm>
            <a:off x="365760" y="393192"/>
            <a:ext cx="8412480" cy="50292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Your Source Notebook Entry</a:t>
            </a:r>
            <a:endParaRPr lang="en-US" sz="2600" dirty="0"/>
          </a:p>
        </p:txBody>
      </p:sp>
      <p:sp>
        <p:nvSpPr>
          <p:cNvPr id="6" name="Shape 4"/>
          <p:cNvSpPr/>
          <p:nvPr/>
        </p:nvSpPr>
        <p:spPr>
          <a:xfrm>
            <a:off x="274320" y="987552"/>
            <a:ext cx="5257800" cy="2304288"/>
          </a:xfrm>
          <a:prstGeom prst="roundRect">
            <a:avLst>
              <a:gd name="adj" fmla="val 5952"/>
            </a:avLst>
          </a:prstGeom>
          <a:solidFill>
            <a:srgbClr val="FFFFFF"/>
          </a:solidFill>
          <a:ln w="19050">
            <a:solidFill>
              <a:srgbClr val="D4943A"/>
            </a:solidFill>
            <a:prstDash val="solid"/>
          </a:ln>
        </p:spPr>
      </p:sp>
      <p:sp>
        <p:nvSpPr>
          <p:cNvPr id="7" name="Text 5"/>
          <p:cNvSpPr/>
          <p:nvPr/>
        </p:nvSpPr>
        <p:spPr>
          <a:xfrm>
            <a:off x="457200" y="1060704"/>
            <a:ext cx="4892040" cy="2560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QUESTIONS</a:t>
            </a:r>
            <a:endParaRPr lang="en-US" sz="900" dirty="0"/>
          </a:p>
        </p:txBody>
      </p:sp>
      <p:sp>
        <p:nvSpPr>
          <p:cNvPr id="8" name="Text 6"/>
          <p:cNvSpPr/>
          <p:nvPr/>
        </p:nvSpPr>
        <p:spPr>
          <a:xfrm>
            <a:off x="457200" y="1371600"/>
            <a:ext cx="4892040" cy="27432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Q1: Record one early-Florida source with its detail and explanation.</a:t>
            </a:r>
            <a:endParaRPr lang="en-US" sz="1100" dirty="0"/>
          </a:p>
        </p:txBody>
      </p:sp>
      <p:sp>
        <p:nvSpPr>
          <p:cNvPr id="9" name="Text 7"/>
          <p:cNvSpPr/>
          <p:nvPr/>
        </p:nvSpPr>
        <p:spPr>
          <a:xfrm>
            <a:off x="457200" y="1664208"/>
            <a:ext cx="4892040" cy="411480"/>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(Write three lines: the SOURCE, one DETAIL it shows, and an EXPLANATION of what that detail means.)</a:t>
            </a:r>
            <a:endParaRPr lang="en-US" sz="1000" dirty="0"/>
          </a:p>
        </p:txBody>
      </p:sp>
      <p:sp>
        <p:nvSpPr>
          <p:cNvPr id="10" name="Shape 8"/>
          <p:cNvSpPr/>
          <p:nvPr/>
        </p:nvSpPr>
        <p:spPr>
          <a:xfrm>
            <a:off x="457200" y="2121408"/>
            <a:ext cx="4754880" cy="36576"/>
          </a:xfrm>
          <a:prstGeom prst="rect">
            <a:avLst/>
          </a:prstGeom>
          <a:solidFill>
            <a:srgbClr val="E2E8F4"/>
          </a:solidFill>
          <a:ln w="12700">
            <a:solidFill>
              <a:srgbClr val="E2E8F4"/>
            </a:solidFill>
            <a:prstDash val="solid"/>
          </a:ln>
        </p:spPr>
      </p:sp>
      <p:sp>
        <p:nvSpPr>
          <p:cNvPr id="11" name="Text 9"/>
          <p:cNvSpPr/>
          <p:nvPr/>
        </p:nvSpPr>
        <p:spPr>
          <a:xfrm>
            <a:off x="457200" y="2212848"/>
            <a:ext cx="4892040" cy="27432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Q2: Why does organizing evidence help a historian tell the truth about the past?</a:t>
            </a:r>
            <a:endParaRPr lang="en-US" sz="1100" dirty="0"/>
          </a:p>
        </p:txBody>
      </p:sp>
      <p:sp>
        <p:nvSpPr>
          <p:cNvPr id="12" name="Text 10"/>
          <p:cNvSpPr/>
          <p:nvPr/>
        </p:nvSpPr>
        <p:spPr>
          <a:xfrm>
            <a:off x="457200" y="2505456"/>
            <a:ext cx="4892040" cy="411480"/>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(Think about today's virtue, Honesty — and what a clear source notebook helps you do.)</a:t>
            </a:r>
            <a:endParaRPr lang="en-US" sz="1000" dirty="0"/>
          </a:p>
        </p:txBody>
      </p:sp>
      <p:sp>
        <p:nvSpPr>
          <p:cNvPr id="13" name="Shape 11"/>
          <p:cNvSpPr/>
          <p:nvPr/>
        </p:nvSpPr>
        <p:spPr>
          <a:xfrm>
            <a:off x="5669280" y="987552"/>
            <a:ext cx="3154680" cy="2304288"/>
          </a:xfrm>
          <a:prstGeom prst="roundRect">
            <a:avLst>
              <a:gd name="adj" fmla="val 5952"/>
            </a:avLst>
          </a:prstGeom>
          <a:solidFill>
            <a:srgbClr val="FFFFFF"/>
          </a:solidFill>
          <a:ln w="19050">
            <a:solidFill>
              <a:srgbClr val="B0B8CC"/>
            </a:solidFill>
            <a:prstDash val="solid"/>
          </a:ln>
        </p:spPr>
      </p:sp>
      <p:sp>
        <p:nvSpPr>
          <p:cNvPr id="14" name="Text 12"/>
          <p:cNvSpPr/>
          <p:nvPr/>
        </p:nvSpPr>
        <p:spPr>
          <a:xfrm>
            <a:off x="5806440" y="1060704"/>
            <a:ext cx="2880360" cy="256032"/>
          </a:xfrm>
          <a:prstGeom prst="rect">
            <a:avLst/>
          </a:prstGeom>
          <a:noFill/>
          <a:ln/>
        </p:spPr>
        <p:txBody>
          <a:bodyPr wrap="square" rtlCol="0" anchor="ctr"/>
          <a:lstStyle/>
          <a:p>
            <a:pPr indent="0" marL="0">
              <a:buNone/>
            </a:pPr>
            <a:r>
              <a:rPr lang="en-US" sz="900" b="1" spc="150" kern="0" dirty="0">
                <a:solidFill>
                  <a:srgbClr val="1A2D5A"/>
                </a:solidFill>
                <a:latin typeface="Calibri" pitchFamily="34" charset="0"/>
                <a:ea typeface="Calibri" pitchFamily="34" charset="-122"/>
                <a:cs typeface="Calibri" pitchFamily="34" charset="-120"/>
              </a:rPr>
              <a:t>TURN-IN CHECKLIST</a:t>
            </a:r>
            <a:endParaRPr lang="en-US" sz="900" dirty="0"/>
          </a:p>
        </p:txBody>
      </p:sp>
      <p:sp>
        <p:nvSpPr>
          <p:cNvPr id="15" name="Text 13"/>
          <p:cNvSpPr/>
          <p:nvPr/>
        </p:nvSpPr>
        <p:spPr>
          <a:xfrm>
            <a:off x="5833872" y="1389888"/>
            <a:ext cx="2834640" cy="329184"/>
          </a:xfrm>
          <a:prstGeom prst="rect">
            <a:avLst/>
          </a:prstGeom>
          <a:noFill/>
          <a:ln/>
        </p:spPr>
        <p:txBody>
          <a:bodyPr wrap="square" rtlCol="0" anchor="ctr"/>
          <a:lstStyle/>
          <a:p>
            <a:pPr marL="342900" indent="-342900">
              <a:buSzPct val="100000"/>
              <a:buChar char="•"/>
            </a:pPr>
            <a:r>
              <a:rPr lang="en-US" sz="900" dirty="0">
                <a:solidFill>
                  <a:srgbClr val="0E1C42"/>
                </a:solidFill>
                <a:latin typeface="Calibri" pitchFamily="34" charset="0"/>
                <a:ea typeface="Calibri" pitchFamily="34" charset="-122"/>
                <a:cs typeface="Calibri" pitchFamily="34" charset="-120"/>
              </a:rPr>
              <a:t>Recorded a source with detail and explanation</a:t>
            </a:r>
            <a:endParaRPr lang="en-US" sz="900" dirty="0"/>
          </a:p>
        </p:txBody>
      </p:sp>
      <p:sp>
        <p:nvSpPr>
          <p:cNvPr id="16" name="Text 14"/>
          <p:cNvSpPr/>
          <p:nvPr/>
        </p:nvSpPr>
        <p:spPr>
          <a:xfrm>
            <a:off x="5833872" y="1737360"/>
            <a:ext cx="2834640" cy="329184"/>
          </a:xfrm>
          <a:prstGeom prst="rect">
            <a:avLst/>
          </a:prstGeom>
          <a:noFill/>
          <a:ln/>
        </p:spPr>
        <p:txBody>
          <a:bodyPr wrap="square" rtlCol="0" anchor="ctr"/>
          <a:lstStyle/>
          <a:p>
            <a:pPr marL="342900" indent="-342900">
              <a:buSzPct val="100000"/>
              <a:buChar char="•"/>
            </a:pPr>
            <a:r>
              <a:rPr lang="en-US" sz="900" dirty="0">
                <a:solidFill>
                  <a:srgbClr val="0E1C42"/>
                </a:solidFill>
                <a:latin typeface="Calibri" pitchFamily="34" charset="0"/>
                <a:ea typeface="Calibri" pitchFamily="34" charset="-122"/>
                <a:cs typeface="Calibri" pitchFamily="34" charset="-120"/>
              </a:rPr>
              <a:t>Answered the Honesty virtue question</a:t>
            </a:r>
            <a:endParaRPr lang="en-US" sz="900" dirty="0"/>
          </a:p>
        </p:txBody>
      </p:sp>
      <p:sp>
        <p:nvSpPr>
          <p:cNvPr id="17" name="Text 15"/>
          <p:cNvSpPr/>
          <p:nvPr/>
        </p:nvSpPr>
        <p:spPr>
          <a:xfrm>
            <a:off x="5833872" y="2084832"/>
            <a:ext cx="2834640" cy="329184"/>
          </a:xfrm>
          <a:prstGeom prst="rect">
            <a:avLst/>
          </a:prstGeom>
          <a:noFill/>
          <a:ln/>
        </p:spPr>
        <p:txBody>
          <a:bodyPr wrap="square" rtlCol="0" anchor="ctr"/>
          <a:lstStyle/>
          <a:p>
            <a:pPr marL="342900" indent="-342900">
              <a:buSzPct val="100000"/>
              <a:buChar char="•"/>
            </a:pPr>
            <a:r>
              <a:rPr lang="en-US" sz="900" dirty="0">
                <a:solidFill>
                  <a:srgbClr val="0E1C42"/>
                </a:solidFill>
                <a:latin typeface="Calibri" pitchFamily="34" charset="0"/>
                <a:ea typeface="Calibri" pitchFamily="34" charset="-122"/>
                <a:cs typeface="Calibri" pitchFamily="34" charset="-120"/>
              </a:rPr>
              <a:t>Listed 3 events in order with cause-and-effect</a:t>
            </a:r>
            <a:endParaRPr lang="en-US" sz="900" dirty="0"/>
          </a:p>
        </p:txBody>
      </p:sp>
      <p:sp>
        <p:nvSpPr>
          <p:cNvPr id="18" name="Text 16"/>
          <p:cNvSpPr/>
          <p:nvPr/>
        </p:nvSpPr>
        <p:spPr>
          <a:xfrm>
            <a:off x="5833872" y="2432304"/>
            <a:ext cx="2834640" cy="329184"/>
          </a:xfrm>
          <a:prstGeom prst="rect">
            <a:avLst/>
          </a:prstGeom>
          <a:noFill/>
          <a:ln/>
        </p:spPr>
        <p:txBody>
          <a:bodyPr wrap="square" rtlCol="0" anchor="ctr"/>
          <a:lstStyle/>
          <a:p>
            <a:pPr marL="342900" indent="-342900">
              <a:buSzPct val="100000"/>
              <a:buChar char="•"/>
            </a:pPr>
            <a:r>
              <a:rPr lang="en-US" sz="900" dirty="0">
                <a:solidFill>
                  <a:srgbClr val="0E1C42"/>
                </a:solidFill>
                <a:latin typeface="Calibri" pitchFamily="34" charset="0"/>
                <a:ea typeface="Calibri" pitchFamily="34" charset="-122"/>
                <a:cs typeface="Calibri" pitchFamily="34" charset="-120"/>
              </a:rPr>
              <a:t>Wrote Historian's Sentence</a:t>
            </a:r>
            <a:endParaRPr lang="en-US" sz="900" dirty="0"/>
          </a:p>
        </p:txBody>
      </p:sp>
      <p:sp>
        <p:nvSpPr>
          <p:cNvPr id="19" name="Text 17"/>
          <p:cNvSpPr/>
          <p:nvPr/>
        </p:nvSpPr>
        <p:spPr>
          <a:xfrm>
            <a:off x="5833872" y="2779776"/>
            <a:ext cx="2834640" cy="329184"/>
          </a:xfrm>
          <a:prstGeom prst="rect">
            <a:avLst/>
          </a:prstGeom>
          <a:noFill/>
          <a:ln/>
        </p:spPr>
        <p:txBody>
          <a:bodyPr wrap="square" rtlCol="0" anchor="ctr"/>
          <a:lstStyle/>
          <a:p>
            <a:pPr marL="342900" indent="-342900">
              <a:buSzPct val="100000"/>
              <a:buChar char="•"/>
            </a:pPr>
            <a:r>
              <a:rPr lang="en-US" sz="900" dirty="0">
                <a:solidFill>
                  <a:srgbClr val="0E1C42"/>
                </a:solidFill>
                <a:latin typeface="Calibri" pitchFamily="34" charset="0"/>
                <a:ea typeface="Calibri" pitchFamily="34" charset="-122"/>
                <a:cs typeface="Calibri" pitchFamily="34" charset="-120"/>
              </a:rPr>
              <a:t>Submitted to Canvas</a:t>
            </a:r>
            <a:endParaRPr lang="en-US" sz="900" dirty="0"/>
          </a:p>
        </p:txBody>
      </p:sp>
      <p:sp>
        <p:nvSpPr>
          <p:cNvPr id="20" name="Shape 18"/>
          <p:cNvSpPr/>
          <p:nvPr/>
        </p:nvSpPr>
        <p:spPr>
          <a:xfrm>
            <a:off x="274320" y="3383280"/>
            <a:ext cx="8595360" cy="1481328"/>
          </a:xfrm>
          <a:prstGeom prst="roundRect">
            <a:avLst>
              <a:gd name="adj" fmla="val 9259"/>
            </a:avLst>
          </a:prstGeom>
          <a:solidFill>
            <a:srgbClr val="D4943A">
              <a:alpha val="12000"/>
            </a:srgbClr>
          </a:solidFill>
          <a:ln w="19050">
            <a:solidFill>
              <a:srgbClr val="D4943A"/>
            </a:solidFill>
            <a:prstDash val="solid"/>
          </a:ln>
        </p:spPr>
      </p:sp>
      <p:sp>
        <p:nvSpPr>
          <p:cNvPr id="21" name="Text 19"/>
          <p:cNvSpPr/>
          <p:nvPr/>
        </p:nvSpPr>
        <p:spPr>
          <a:xfrm>
            <a:off x="457200" y="3456432"/>
            <a:ext cx="8229600" cy="2560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UNLOCK CHALLENGE (Bonus)</a:t>
            </a:r>
            <a:endParaRPr lang="en-US" sz="900" dirty="0"/>
          </a:p>
        </p:txBody>
      </p:sp>
      <p:sp>
        <p:nvSpPr>
          <p:cNvPr id="22" name="Text 20"/>
          <p:cNvSpPr/>
          <p:nvPr/>
        </p:nvSpPr>
        <p:spPr>
          <a:xfrm>
            <a:off x="457200" y="3730752"/>
            <a:ext cx="8229600" cy="1051560"/>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Build a source notebook and timeline. List three early-Florida sources or events in time order. For one of them, write the Source, a Detail, and an Explanation. Then explain ONE cause-and-effect connection across the unit (for example: European arrival --&gt; St. Augustine and the missions --&gt; effects on Native peoples).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91440"/>
          </a:xfrm>
          <a:prstGeom prst="rect">
            <a:avLst/>
          </a:prstGeom>
          <a:solidFill>
            <a:srgbClr val="D4943A"/>
          </a:solidFill>
          <a:ln w="12700">
            <a:solidFill>
              <a:srgbClr val="D4943A"/>
            </a:solidFill>
            <a:prstDash val="solid"/>
          </a:ln>
        </p:spPr>
      </p:sp>
      <p:sp>
        <p:nvSpPr>
          <p:cNvPr id="5" name="Shape 3"/>
          <p:cNvSpPr/>
          <p:nvPr/>
        </p:nvSpPr>
        <p:spPr>
          <a:xfrm>
            <a:off x="2286000" y="201168"/>
            <a:ext cx="4572000" cy="502920"/>
          </a:xfrm>
          <a:prstGeom prst="roundRect">
            <a:avLst>
              <a:gd name="adj" fmla="val 27273"/>
            </a:avLst>
          </a:prstGeom>
          <a:solidFill>
            <a:srgbClr val="D4943A"/>
          </a:solidFill>
          <a:ln w="12700">
            <a:solidFill>
              <a:srgbClr val="D4943A"/>
            </a:solidFill>
            <a:prstDash val="solid"/>
          </a:ln>
        </p:spPr>
      </p:sp>
      <p:sp>
        <p:nvSpPr>
          <p:cNvPr id="6" name="Text 4"/>
          <p:cNvSpPr/>
          <p:nvPr/>
        </p:nvSpPr>
        <p:spPr>
          <a:xfrm>
            <a:off x="2286000" y="201168"/>
            <a:ext cx="4572000" cy="502920"/>
          </a:xfrm>
          <a:prstGeom prst="rect">
            <a:avLst/>
          </a:prstGeom>
          <a:noFill/>
          <a:ln/>
        </p:spPr>
        <p:txBody>
          <a:bodyPr wrap="square" rtlCol="0" anchor="ctr"/>
          <a:lstStyle/>
          <a:p>
            <a:pPr algn="ctr" indent="0" marL="0">
              <a:buNone/>
            </a:pPr>
            <a:r>
              <a:rPr lang="en-US" sz="2000" b="1" spc="300" kern="0" dirty="0">
                <a:solidFill>
                  <a:srgbClr val="0E1C42"/>
                </a:solidFill>
                <a:latin typeface="Calibri" pitchFamily="34" charset="0"/>
                <a:ea typeface="Calibri" pitchFamily="34" charset="-122"/>
                <a:cs typeface="Calibri" pitchFamily="34" charset="-120"/>
              </a:rPr>
              <a:t>FILE UNLOCKED</a:t>
            </a:r>
            <a:endParaRPr lang="en-US" sz="2000" dirty="0"/>
          </a:p>
        </p:txBody>
      </p:sp>
      <p:sp>
        <p:nvSpPr>
          <p:cNvPr id="7" name="Text 5"/>
          <p:cNvSpPr/>
          <p:nvPr/>
        </p:nvSpPr>
        <p:spPr>
          <a:xfrm>
            <a:off x="457200" y="822960"/>
            <a:ext cx="8229600" cy="1371600"/>
          </a:xfrm>
          <a:prstGeom prst="rect">
            <a:avLst/>
          </a:prstGeom>
          <a:noFill/>
          <a:ln/>
        </p:spPr>
        <p:txBody>
          <a:bodyPr wrap="square" rtlCol="0" anchor="ctr"/>
          <a:lstStyle/>
          <a:p>
            <a:pPr algn="ctr" indent="0" marL="0">
              <a:lnSpc>
                <a:spcPct val="110000"/>
              </a:lnSpc>
              <a:buNone/>
            </a:pPr>
            <a:r>
              <a:rPr lang="en-US" sz="3600" b="1" dirty="0">
                <a:solidFill>
                  <a:srgbClr val="FFFFFF"/>
                </a:solidFill>
                <a:latin typeface="Cambria" pitchFamily="34" charset="0"/>
                <a:ea typeface="Cambria" pitchFamily="34" charset="-122"/>
                <a:cs typeface="Cambria" pitchFamily="34" charset="-120"/>
              </a:rPr>
              <a:t>The Door at the End</a:t>
            </a:r>
            <a:endParaRPr lang="en-US" sz="3600" dirty="0"/>
          </a:p>
          <a:p>
            <a:pPr algn="ctr" indent="0" marL="0">
              <a:lnSpc>
                <a:spcPct val="110000"/>
              </a:lnSpc>
              <a:buNone/>
            </a:pPr>
            <a:r>
              <a:rPr lang="en-US" sz="3600" b="1" dirty="0">
                <a:solidFill>
                  <a:srgbClr val="FFFFFF"/>
                </a:solidFill>
                <a:latin typeface="Cambria" pitchFamily="34" charset="0"/>
                <a:ea typeface="Cambria" pitchFamily="34" charset="-122"/>
                <a:cs typeface="Cambria" pitchFamily="34" charset="-120"/>
              </a:rPr>
              <a:t>of the Wing Just Opened.</a:t>
            </a:r>
            <a:endParaRPr lang="en-US" sz="3600" dirty="0"/>
          </a:p>
        </p:txBody>
      </p:sp>
      <p:sp>
        <p:nvSpPr>
          <p:cNvPr id="8" name="Shape 6"/>
          <p:cNvSpPr/>
          <p:nvPr/>
        </p:nvSpPr>
        <p:spPr>
          <a:xfrm>
            <a:off x="2743200" y="2304288"/>
            <a:ext cx="3657600" cy="54864"/>
          </a:xfrm>
          <a:prstGeom prst="rect">
            <a:avLst/>
          </a:prstGeom>
          <a:solidFill>
            <a:srgbClr val="D4943A"/>
          </a:solidFill>
          <a:ln w="12700">
            <a:solidFill>
              <a:srgbClr val="D4943A"/>
            </a:solidFill>
            <a:prstDash val="solid"/>
          </a:ln>
        </p:spPr>
      </p:sp>
      <p:sp>
        <p:nvSpPr>
          <p:cNvPr id="9" name="Text 7"/>
          <p:cNvSpPr/>
          <p:nvPr/>
        </p:nvSpPr>
        <p:spPr>
          <a:xfrm>
            <a:off x="731520" y="2423160"/>
            <a:ext cx="7680960" cy="594360"/>
          </a:xfrm>
          <a:prstGeom prst="rect">
            <a:avLst/>
          </a:prstGeom>
          <a:noFill/>
          <a:ln/>
        </p:spPr>
        <p:txBody>
          <a:bodyPr wrap="square" rtlCol="0" anchor="ctr"/>
          <a:lstStyle/>
          <a:p>
            <a:pPr algn="ctr" indent="0" marL="0">
              <a:buNone/>
            </a:pPr>
            <a:r>
              <a:rPr lang="en-US" sz="1600" i="1" dirty="0">
                <a:solidFill>
                  <a:srgbClr val="F0F2F8"/>
                </a:solidFill>
                <a:latin typeface="Calibri" pitchFamily="34" charset="0"/>
                <a:ea typeface="Calibri" pitchFamily="34" charset="-122"/>
                <a:cs typeface="Calibri" pitchFamily="34" charset="-120"/>
              </a:rPr>
              <a:t>The settlements-and-missions wing is complete.</a:t>
            </a:r>
            <a:endParaRPr lang="en-US" sz="1600" dirty="0"/>
          </a:p>
          <a:p>
            <a:pPr algn="ctr" indent="0" marL="0">
              <a:buNone/>
            </a:pPr>
            <a:r>
              <a:rPr lang="en-US" sz="1600" i="1" dirty="0">
                <a:solidFill>
                  <a:srgbClr val="F0F2F8"/>
                </a:solidFill>
                <a:latin typeface="Calibri" pitchFamily="34" charset="0"/>
                <a:ea typeface="Calibri" pitchFamily="34" charset="-122"/>
                <a:cs typeface="Calibri" pitchFamily="34" charset="-120"/>
              </a:rPr>
              <a:t>Unit 6: Early Florida — done.</a:t>
            </a:r>
            <a:endParaRPr lang="en-US" sz="1600" dirty="0"/>
          </a:p>
        </p:txBody>
      </p:sp>
      <p:sp>
        <p:nvSpPr>
          <p:cNvPr id="10" name="Shape 8"/>
          <p:cNvSpPr/>
          <p:nvPr/>
        </p:nvSpPr>
        <p:spPr>
          <a:xfrm>
            <a:off x="1645920" y="3127248"/>
            <a:ext cx="5852160" cy="658368"/>
          </a:xfrm>
          <a:prstGeom prst="roundRect">
            <a:avLst>
              <a:gd name="adj" fmla="val 20833"/>
            </a:avLst>
          </a:prstGeom>
          <a:solidFill>
            <a:srgbClr val="1A2D5A"/>
          </a:solidFill>
          <a:ln w="12700">
            <a:solidFill>
              <a:srgbClr val="55C8E8"/>
            </a:solidFill>
            <a:prstDash val="solid"/>
          </a:ln>
        </p:spPr>
      </p:sp>
      <p:sp>
        <p:nvSpPr>
          <p:cNvPr id="11" name="Text 9"/>
          <p:cNvSpPr/>
          <p:nvPr/>
        </p:nvSpPr>
        <p:spPr>
          <a:xfrm>
            <a:off x="1783080" y="3163824"/>
            <a:ext cx="5577840" cy="566928"/>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Virtue — Honesty: Historians who organize their evidence honestly tell a truer story — and that matters.</a:t>
            </a:r>
            <a:endParaRPr lang="en-US" sz="1200" dirty="0"/>
          </a:p>
        </p:txBody>
      </p:sp>
      <p:sp>
        <p:nvSpPr>
          <p:cNvPr id="12" name="Text 10"/>
          <p:cNvSpPr/>
          <p:nvPr/>
        </p:nvSpPr>
        <p:spPr>
          <a:xfrm>
            <a:off x="731520" y="3886200"/>
            <a:ext cx="7680960" cy="36576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Today you organized maps, forts, missions, and archaeological evidence into one honest source notebook.</a:t>
            </a:r>
            <a:endParaRPr lang="en-US" sz="1100" dirty="0"/>
          </a:p>
        </p:txBody>
      </p:sp>
      <p:sp>
        <p:nvSpPr>
          <p:cNvPr id="13" name="Shape 11"/>
          <p:cNvSpPr/>
          <p:nvPr/>
        </p:nvSpPr>
        <p:spPr>
          <a:xfrm>
            <a:off x="0" y="4846320"/>
            <a:ext cx="9144000" cy="73152"/>
          </a:xfrm>
          <a:prstGeom prst="rect">
            <a:avLst/>
          </a:prstGeom>
          <a:solidFill>
            <a:srgbClr val="D4943A"/>
          </a:solidFill>
          <a:ln w="12700">
            <a:solidFill>
              <a:srgbClr val="D4943A"/>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3A5080"/>
            </a:solidFill>
            <a:prstDash val="dash"/>
          </a:ln>
        </p:spPr>
      </p:sp>
      <p:sp>
        <p:nvSpPr>
          <p:cNvPr id="3" name="Shape 1"/>
          <p:cNvSpPr/>
          <p:nvPr/>
        </p:nvSpPr>
        <p:spPr>
          <a:xfrm>
            <a:off x="0" y="0"/>
            <a:ext cx="9144000" cy="91440"/>
          </a:xfrm>
          <a:prstGeom prst="rect">
            <a:avLst/>
          </a:prstGeom>
          <a:solidFill>
            <a:srgbClr val="1A8A7D"/>
          </a:solidFill>
          <a:ln w="12700">
            <a:solidFill>
              <a:srgbClr val="1A8A7D"/>
            </a:solidFill>
            <a:prstDash val="solid"/>
          </a:ln>
        </p:spPr>
      </p:sp>
      <p:sp>
        <p:nvSpPr>
          <p:cNvPr id="4" name="Text 2"/>
          <p:cNvSpPr/>
          <p:nvPr/>
        </p:nvSpPr>
        <p:spPr>
          <a:xfrm>
            <a:off x="457200" y="201168"/>
            <a:ext cx="8229600" cy="320040"/>
          </a:xfrm>
          <a:prstGeom prst="rect">
            <a:avLst/>
          </a:prstGeom>
          <a:noFill/>
          <a:ln/>
        </p:spPr>
        <p:txBody>
          <a:bodyPr wrap="square" rtlCol="0" anchor="ctr"/>
          <a:lstStyle/>
          <a:p>
            <a:pPr algn="ctr" indent="0" marL="0">
              <a:buNone/>
            </a:pPr>
            <a:r>
              <a:rPr lang="en-US" sz="1100" b="1" spc="250" kern="0" dirty="0">
                <a:solidFill>
                  <a:srgbClr val="1A8A7D"/>
                </a:solidFill>
                <a:latin typeface="Calibri" pitchFamily="34" charset="0"/>
                <a:ea typeface="Calibri" pitchFamily="34" charset="-122"/>
                <a:cs typeface="Calibri" pitchFamily="34" charset="-120"/>
              </a:rPr>
              <a:t>COMING NEXT</a:t>
            </a:r>
            <a:endParaRPr lang="en-US" sz="1100" dirty="0"/>
          </a:p>
        </p:txBody>
      </p:sp>
      <p:sp>
        <p:nvSpPr>
          <p:cNvPr id="5" name="Text 3"/>
          <p:cNvSpPr/>
          <p:nvPr/>
        </p:nvSpPr>
        <p:spPr>
          <a:xfrm>
            <a:off x="457200" y="594360"/>
            <a:ext cx="8229600" cy="658368"/>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Unit 6 Complete.</a:t>
            </a:r>
            <a:endParaRPr lang="en-US" sz="3600" dirty="0"/>
          </a:p>
        </p:txBody>
      </p:sp>
      <p:sp>
        <p:nvSpPr>
          <p:cNvPr id="6" name="Shape 4"/>
          <p:cNvSpPr/>
          <p:nvPr/>
        </p:nvSpPr>
        <p:spPr>
          <a:xfrm>
            <a:off x="3200400" y="1325880"/>
            <a:ext cx="2743200" cy="54864"/>
          </a:xfrm>
          <a:prstGeom prst="rect">
            <a:avLst/>
          </a:prstGeom>
          <a:solidFill>
            <a:srgbClr val="D4943A"/>
          </a:solidFill>
          <a:ln w="12700">
            <a:solidFill>
              <a:srgbClr val="D4943A"/>
            </a:solidFill>
            <a:prstDash val="solid"/>
          </a:ln>
        </p:spPr>
      </p:sp>
      <p:sp>
        <p:nvSpPr>
          <p:cNvPr id="7" name="Text 5"/>
          <p:cNvSpPr/>
          <p:nvPr/>
        </p:nvSpPr>
        <p:spPr>
          <a:xfrm>
            <a:off x="731520" y="1444752"/>
            <a:ext cx="7680960" cy="438912"/>
          </a:xfrm>
          <a:prstGeom prst="rect">
            <a:avLst/>
          </a:prstGeom>
          <a:noFill/>
          <a:ln/>
        </p:spPr>
        <p:txBody>
          <a:bodyPr wrap="square" rtlCol="0" anchor="ctr"/>
          <a:lstStyle/>
          <a:p>
            <a:pPr algn="ctr" indent="0" marL="0">
              <a:buNone/>
            </a:pPr>
            <a:r>
              <a:rPr lang="en-US" sz="1800" i="1" dirty="0">
                <a:solidFill>
                  <a:srgbClr val="F0F2F8"/>
                </a:solidFill>
                <a:latin typeface="Cambria" pitchFamily="34" charset="0"/>
                <a:ea typeface="Cambria" pitchFamily="34" charset="-122"/>
                <a:cs typeface="Cambria" pitchFamily="34" charset="-120"/>
              </a:rPr>
              <a:t>Episode 7 opens a new chapter of Florida history.</a:t>
            </a:r>
            <a:endParaRPr lang="en-US" sz="1800" dirty="0"/>
          </a:p>
        </p:txBody>
      </p:sp>
      <p:sp>
        <p:nvSpPr>
          <p:cNvPr id="8" name="Shape 6"/>
          <p:cNvSpPr/>
          <p:nvPr/>
        </p:nvSpPr>
        <p:spPr>
          <a:xfrm>
            <a:off x="1371600" y="1993392"/>
            <a:ext cx="6400800" cy="1572768"/>
          </a:xfrm>
          <a:prstGeom prst="roundRect">
            <a:avLst>
              <a:gd name="adj" fmla="val 10465"/>
            </a:avLst>
          </a:prstGeom>
          <a:solidFill>
            <a:srgbClr val="1A2D5A"/>
          </a:solidFill>
          <a:ln w="19050">
            <a:solidFill>
              <a:srgbClr val="3A5080"/>
            </a:solidFill>
            <a:prstDash val="solid"/>
          </a:ln>
        </p:spPr>
      </p:sp>
      <p:sp>
        <p:nvSpPr>
          <p:cNvPr id="9" name="Text 7"/>
          <p:cNvSpPr/>
          <p:nvPr/>
        </p:nvSpPr>
        <p:spPr>
          <a:xfrm>
            <a:off x="1536192" y="2066544"/>
            <a:ext cx="6071616" cy="27432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Episode 7 Preview</a:t>
            </a:r>
            <a:endParaRPr lang="en-US" sz="1000" dirty="0"/>
          </a:p>
        </p:txBody>
      </p:sp>
      <p:sp>
        <p:nvSpPr>
          <p:cNvPr id="10" name="Text 8"/>
          <p:cNvSpPr/>
          <p:nvPr/>
        </p:nvSpPr>
        <p:spPr>
          <a:xfrm>
            <a:off x="1536192" y="2377440"/>
            <a:ext cx="6071616" cy="1078992"/>
          </a:xfrm>
          <a:prstGeom prst="rect">
            <a:avLst/>
          </a:prstGeom>
          <a:noFill/>
          <a:ln/>
        </p:spPr>
        <p:txBody>
          <a:bodyPr wrap="square"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Florida's story continues — new powers, new peoples, new conflicts. The source notebook skills you built today are the same ones you will use in every unit ahead.</a:t>
            </a:r>
            <a:endParaRPr lang="en-US" sz="1300" dirty="0"/>
          </a:p>
        </p:txBody>
      </p:sp>
      <p:sp>
        <p:nvSpPr>
          <p:cNvPr id="11" name="Text 9"/>
          <p:cNvSpPr/>
          <p:nvPr/>
        </p:nvSpPr>
        <p:spPr>
          <a:xfrm>
            <a:off x="457200" y="3749040"/>
            <a:ext cx="8229600" cy="411480"/>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What we built today: Organized 6 lessons of evidence  |  Compared multiple sources  |  Named the big pattern  |  Built a complete source notebook entry</a:t>
            </a:r>
            <a:endParaRPr lang="en-US" sz="900" dirty="0"/>
          </a:p>
        </p:txBody>
      </p:sp>
      <p:sp>
        <p:nvSpPr>
          <p:cNvPr id="12" name="Shape 10"/>
          <p:cNvSpPr/>
          <p:nvPr/>
        </p:nvSpPr>
        <p:spPr>
          <a:xfrm>
            <a:off x="0" y="4846320"/>
            <a:ext cx="9144000" cy="73152"/>
          </a:xfrm>
          <a:prstGeom prst="rect">
            <a:avLst/>
          </a:prstGeom>
          <a:solidFill>
            <a:srgbClr val="1A8A7D"/>
          </a:solidFill>
          <a:ln w="12700">
            <a:solidFill>
              <a:srgbClr val="1A8A7D"/>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2026-07-14T00:36:13Z</dcterms:created>
  <dcterms:modified xsi:type="dcterms:W3CDTF">2026-07-14T00:36:13Z</dcterms:modified>
</cp:coreProperties>
</file>