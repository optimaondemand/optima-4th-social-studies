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glowing gate at the end of a long digital corridor, dramatic golden and blue light, atmospheric digital-fantasy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setup: Ms. Rivera is stuck at the gate. The council must deliberate and produce a careful, honest answer. Build suspense: this is where everything they have learned gets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respond in chat before revealing anything. This is a prediction. Most will say they have heard the arrival story more. Note that, then say: Let's see if the council wall confirms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this for 3-4 minutes. Students may not know much -- that is fine. The goal is to surface prior knowledge so you can connect it to the perspective cards. Do not correct gaps; note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card aloud together. Ask: Which detail would be easiest to find in a typical textbook? Which one might a traveler from Spain have written about? All four details describe contact from the perspective of what was gained. The next slide shows what else was happening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30 seconds of silence after reading this card. The weight of Perspective B is intentional -- do not rush past it. Ask: Did you see these details in the story you predicted on slide 3? The contrast with predictions is the discovery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source evaluation moment. Push students past 'one is good, one is bad' toward: both are real, both have authors, and the question is whose story got preserved. Historians have to go find Perspective B -- it does not show up automatically in most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concept reveal. Read aloud and give 5 seconds of silence. Run the retrieval: call on 2-3 students to name a detail from each side. Confirm: 'Yes -- both of those are true, and they happened at the same time.' This is the hinge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model sentence aloud. Break it apart using the three boxes. Emphasize: 'even as' tells the reader these two things happened simultaneously. Ask: What would be missing if I stopped after the first box? Answer: Only Perspective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draft independently for 2-3 minutes, then share in chat. Read 2-3 aloud. Ask the Socratic questions to push revision. Coach: Does it have both halves? Does it use a connector that shows they happened at the same time? This directly prepares students for Assignment Q1 and Q3.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weak sentence is technically true -- horses and tools did arrive. The problem is what it omits. Push students to name the omission AND cite the specific evidence from Perspective B that proves it is incomplete. The third Socratic question is hard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resolve this for students. Let them argue it out. Push them toward evidence: That is an interesting claim -- which piece of evidence from the wall supports it? The valid takeaway: historians disagree, but they disagree with evidence, not feelings.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question aloud. Remind students they already discussed Q1 (perspective details), Q2 (the incomplete sentence), and Q3 (the council sentence structure). The copywork is a handwriting or typing task -- ask: Which part of today's lesson made that sentence feel true?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gate swinging open in a glowing digital corridor, warm golden light pouring through from the other side, dramatic and celebratory atmosphere, digital-fantasy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92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8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4.05.02  ·  FLORIDA FILES: ESCAPE FROM CANVAS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858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Council Chamber: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12984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After Contact?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48640" y="20299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1: Land, People, and First Contact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560320" y="2523744"/>
            <a:ext cx="4023360" cy="310896"/>
          </a:xfrm>
          <a:prstGeom prst="roundRect">
            <a:avLst>
              <a:gd name="adj" fmla="val 23529"/>
            </a:avLst>
          </a:prstGeom>
          <a:solidFill>
            <a:srgbClr val="1A2D5A"/>
          </a:solidFill>
          <a:ln w="12700">
            <a:solidFill>
              <a:srgbClr val="3A50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252374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SS.4.A.3.1  ·  SS.4.A.3.2  ·  SS.4.G.1.4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71600" y="2980944"/>
            <a:ext cx="6400800" cy="0"/>
          </a:xfrm>
          <a:prstGeom prst="line">
            <a:avLst/>
          </a:prstGeom>
          <a:noFill/>
          <a:ln w="12700">
            <a:solidFill>
              <a:srgbClr val="3A50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80160" y="3145536"/>
            <a:ext cx="658368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17320" y="3145536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gate. Canvas won't open it until it hears a careful answer.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00400" y="3986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VIRTUE: HONESTY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FILES: ESCAPE FROM CANVAS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0" y="54864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5486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COUNCIL IS IN SESSION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Rivera made it down the corridor from the checkpoint door -- but one more gate stands between her and freedom. Canvas won't open it until it hears a careful answer.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8046720" cy="914400"/>
          </a:xfrm>
          <a:prstGeom prst="roundRect">
            <a:avLst>
              <a:gd name="adj" fmla="val 14000"/>
            </a:avLst>
          </a:prstGeom>
          <a:solidFill>
            <a:srgbClr val="0B1835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92808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 QUESTION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honest sentence about Florida after contact can hold both what arrived and who paid?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2907792"/>
            <a:ext cx="7315200" cy="749808"/>
          </a:xfrm>
          <a:prstGeom prst="roundRect">
            <a:avLst>
              <a:gd name="adj" fmla="val 12195"/>
            </a:avLst>
          </a:prstGeom>
          <a:solidFill>
            <a:srgbClr val="152450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62656"/>
            <a:ext cx="6949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3163824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one evidence-based answer that unlocks the gate. It must name both halves of the story.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82219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 today: Florida historian, seated in the council chamber.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 -- TWO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937760" cy="2377440"/>
          </a:xfrm>
          <a:prstGeom prst="roundRect">
            <a:avLst>
              <a:gd name="adj" fmla="val 4615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ships arriving on Florida shores on the left / Native peoples watching from the shoreline on the right -- split composition, historical illustration style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658368"/>
            <a:ext cx="3337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C8D0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71323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COUNCIL SPEAKS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32120" y="932688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perspective have you heard more often in stories about America -- the arrivals or the people already here? What made you think that?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9202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30 seconds -- think before you type.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163824"/>
            <a:ext cx="8503920" cy="1481328"/>
          </a:xfrm>
          <a:prstGeom prst="roundRect">
            <a:avLst>
              <a:gd name="adj" fmla="val 740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18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419856"/>
            <a:ext cx="82296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I've heard Perspective ___ more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predict the harder perspective to write about is...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THE COUNCIL -- ACTIVATE PRIOR KNOWLEDGE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5120640" cy="2468880"/>
          </a:xfrm>
          <a:prstGeom prst="roundRect">
            <a:avLst>
              <a:gd name="adj" fmla="val 555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412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47548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read the perspectives: what do you already know about what Europeans BROUGHT to Florida?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already know about what First Peoples LOST when Europeans arrived?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both of those answers be true at the same time? What would that sentence sound like?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749808"/>
            <a:ext cx="31546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9050">
            <a:solidFill>
              <a:srgbClr val="C8D0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822960"/>
            <a:ext cx="2880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HISTORIAN'S CHALLENGE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0" y="1097280"/>
            <a:ext cx="2880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two truths at once is the hardest thing a historian does.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stories pick one side. A careful historian names both -- without softening either.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council will practice that move.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364992"/>
            <a:ext cx="8503920" cy="1353312"/>
          </a:xfrm>
          <a:prstGeom prst="roundRect">
            <a:avLst>
              <a:gd name="adj" fmla="val 8108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198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621024"/>
            <a:ext cx="8229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know Europeans brought...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know First Peoples lost...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A -- WHAT ARRIVED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horses and cattle being led ashore in Florida, or a Spanish mission under construction -- historical illustration, warm earth tones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658368"/>
            <a:ext cx="46177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731520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EVIDENCE CARD -- PERSPECTIVE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1005840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Horses, cattle, pigs, and iron tools arrived.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crops moved between continents.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drew claim lines and built missions and forts.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routes connected Florida to a larger world.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8503920" cy="292608"/>
          </a:xfrm>
          <a:prstGeom prst="roundRect">
            <a:avLst>
              <a:gd name="adj" fmla="val 25000"/>
            </a:avLst>
          </a:prstGeom>
          <a:solidFill>
            <a:srgbClr val="E8F5F3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detail carefully. Which one surprised you most? Why?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39312"/>
            <a:ext cx="8503920" cy="1051560"/>
          </a:xfrm>
          <a:prstGeom prst="roundRect">
            <a:avLst>
              <a:gd name="adj" fmla="val 1043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94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89534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specific detail from Perspective A is...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E8636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B -- WHO PAID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20040" y="658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32688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abandoned or grieving Native village after European contact -- empty structures, somber mood, or a symbolic image of loss, historical illustration style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658368"/>
            <a:ext cx="46177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731520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EVIDENCE CARD -- PERSPECTIVE 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0" y="1005840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First Peoples had no defense against spread fast.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communities were lost.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were forced into mission labor or pushed from their land.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and ways of life held for thousands of years were broken.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8503920" cy="292608"/>
          </a:xfrm>
          <a:prstGeom prst="roundRect">
            <a:avLst>
              <a:gd name="adj" fmla="val 25000"/>
            </a:avLst>
          </a:prstGeom>
          <a:solidFill>
            <a:srgbClr val="FDEAEB"/>
          </a:solidFill>
          <a:ln w="12700">
            <a:solidFill>
              <a:srgbClr val="E86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detail from Perspective B is hardest to read? Why does that matter for a historian?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39312"/>
            <a:ext cx="8503920" cy="1051560"/>
          </a:xfrm>
          <a:prstGeom prst="roundRect">
            <a:avLst>
              <a:gd name="adj" fmla="val 1043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94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89534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specific detail from Perspective B is...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COMPARE -- WHO TOLD EACH STORY?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594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account -- a Spanish colonial record, ship log, mission drawing, or early Florida map with Spanish place names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395728"/>
            <a:ext cx="3749040" cy="329184"/>
          </a:xfrm>
          <a:prstGeom prst="roundRect">
            <a:avLst>
              <a:gd name="adj" fmla="val 19444"/>
            </a:avLst>
          </a:prstGeom>
          <a:solidFill>
            <a:srgbClr val="1A8A7D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3957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A -- What Arrived (European account)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120640" y="594360"/>
            <a:ext cx="3749040" cy="1737360"/>
          </a:xfrm>
          <a:prstGeom prst="roundRect">
            <a:avLst>
              <a:gd name="adj" fmla="val 6316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120640" y="594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57800" y="8686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Peoples account -- a Timucua artifact, Native drawing, or symbolic image of oral tradition representing Indigenous knowledge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2395728"/>
            <a:ext cx="3749040" cy="329184"/>
          </a:xfrm>
          <a:prstGeom prst="roundRect">
            <a:avLst>
              <a:gd name="adj" fmla="val 19444"/>
            </a:avLst>
          </a:prstGeom>
          <a:solidFill>
            <a:srgbClr val="E8636B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3957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B -- Who Paid (First Peoples account)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5029200" cy="1783080"/>
          </a:xfrm>
          <a:prstGeom prst="roundRect">
            <a:avLst>
              <a:gd name="adj" fmla="val 7692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926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SOURCE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82112"/>
            <a:ext cx="4663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perspective is easier to find in old textbooks? Why do you think that is?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created the sources that record Perspective A? Who might have created Perspective B?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from a history that uses only one of these two sides?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283464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8895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3090672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"Perspective A and B agree that contact happened, but disagree about...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HISTORIAN'S MOVE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0" y="731520"/>
            <a:ext cx="3657600" cy="0"/>
          </a:xfrm>
          <a:prstGeom prst="line">
            <a:avLst/>
          </a:prstGeom>
          <a:noFill/>
          <a:ln w="19050">
            <a:solidFill>
              <a:srgbClr val="D4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perspectives are true.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happened at the same time, to different people.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029968"/>
            <a:ext cx="7315200" cy="0"/>
          </a:xfrm>
          <a:prstGeom prst="line">
            <a:avLst/>
          </a:prstGeom>
          <a:noFill/>
          <a:ln w="12700">
            <a:solidFill>
              <a:srgbClr val="3A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76272"/>
            <a:ext cx="7680960" cy="658368"/>
          </a:xfrm>
          <a:prstGeom prst="roundRect">
            <a:avLst>
              <a:gd name="adj" fmla="val 13889"/>
            </a:avLst>
          </a:prstGeom>
          <a:solidFill>
            <a:srgbClr val="2A1A1A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7627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dishonest move: share only Perspective A because it is easier to write.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71800"/>
            <a:ext cx="7680960" cy="713232"/>
          </a:xfrm>
          <a:prstGeom prst="roundRect">
            <a:avLst>
              <a:gd name="adj" fmla="val 12821"/>
            </a:avLst>
          </a:prstGeom>
          <a:solidFill>
            <a:srgbClr val="1A2D5A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71800"/>
            <a:ext cx="7315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council sentence holds two truths at once: what changed for the land and the newcomers, AND what was lost by the people already here.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3822192"/>
            <a:ext cx="5486400" cy="475488"/>
          </a:xfrm>
          <a:prstGeom prst="roundRect">
            <a:avLst>
              <a:gd name="adj" fmla="val 17308"/>
            </a:avLst>
          </a:prstGeom>
          <a:solidFill>
            <a:srgbClr val="152450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382219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Name one detail from Perspective A. Name one detail from Perspective B.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-- TEACHER MODELS A COUNCIL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1170432"/>
          </a:xfrm>
          <a:prstGeom prst="roundRect">
            <a:avLst>
              <a:gd name="adj" fmla="val 9375"/>
            </a:avLst>
          </a:prstGeom>
          <a:solidFill>
            <a:srgbClr val="1A2D5A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2237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THINK-ALOUD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2354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contact in Florida, new tools, animals, and trade routes arrived -- even as the First Peoples lost their lands, their leaders, and many of their lives to disease and forced labor.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STRUCTURE: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E8F5F3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A DETAIL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tools, animals, and trade routes arrived"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2212848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221284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2212848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FDEAEB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21284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B DETAIL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"First Peoples lost lands, leaders, and many lives"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8503920" cy="530352"/>
          </a:xfrm>
          <a:prstGeom prst="roundRect">
            <a:avLst>
              <a:gd name="adj" fmla="val 17241"/>
            </a:avLst>
          </a:prstGeom>
          <a:solidFill>
            <a:srgbClr val="FFF3DC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8211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sentence has BOTH halves, joined by 'even as.' Neither half is softened or explained away.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8404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that work: even as  |  while  |  at the same time  |  yet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-- DEFEND: WRITE YOUR COUNCIL SENTENCE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621792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217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position: write YOUR council sentence. It must name both halves -- one detail from each perspective -- joined by a connector.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1A8A7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Assignment Q1 and Q3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5029200" cy="1508760"/>
          </a:xfrm>
          <a:prstGeom prst="roundRect">
            <a:avLst>
              <a:gd name="adj" fmla="val 727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90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council sentence is: After contact, ___ arrived -- even as ___."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used Perspective ___ because the evidence specifically shows..."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298448"/>
            <a:ext cx="3337560" cy="1874520"/>
          </a:xfrm>
          <a:prstGeom prst="roundRect">
            <a:avLst>
              <a:gd name="adj" fmla="val 7317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13898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0" y="1645920"/>
            <a:ext cx="297180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piece of Perspective B evidence is hardest to include? Why?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'even as' a better connector than 'but'?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sentence complete if it only names one half?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1A2D5A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4670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VIRTUE: HONESTY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54787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means letting hard truths sit next to bright ones -- without erasing either. A council sentence that only holds Perspective A is not an honest sentence.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-- CRITIQUE: WHAT MAKES A SENTENCE INCOMPLETE?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612648"/>
            <a:ext cx="3657600" cy="256032"/>
          </a:xfrm>
          <a:prstGeom prst="roundRect">
            <a:avLst>
              <a:gd name="adj" fmla="val 21429"/>
            </a:avLst>
          </a:prstGeom>
          <a:solidFill>
            <a:srgbClr val="E8636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12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Scaffolds Assignment Q2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SAMPLE -- EVALUATE THIS SENTENCE: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contact, Europeans brought horses and new tools to Florida.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FFF3DC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3886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honest about this sentence?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dishonest?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card on the wall makes it incomplete?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4206240" cy="1417320"/>
          </a:xfrm>
          <a:prstGeom prst="roundRect">
            <a:avLst>
              <a:gd name="adj" fmla="val 9677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176272"/>
            <a:ext cx="38404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dishonest to share ONLY Perspective A in a story about Florida?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from the Contact card makes the flattened sentence impossible to defend?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someone defend this sentence? What would they say -- and how would you respond?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761488"/>
            <a:ext cx="8503920" cy="91440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163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sentence is incomplete because it leaves out... The evidence that makes this clear is... because..."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767328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0E1C4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673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Q2 asks exactly this: Why is it dishonest to share ONLY Perspective A? Use one piece of evidence from the wall to support your answer.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D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-- THE TRICKY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621792"/>
            <a:ext cx="85039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25400">
            <a:solidFill>
              <a:srgbClr val="8B6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8580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DEBATE: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905256"/>
            <a:ext cx="822960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historians argue that the new connections Europeans created eventually helped many people -- including Indigenous peoples in the long run. Others say no long-term benefit justifies the immediate destruction.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question that has one right answer?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5029200" cy="1719072"/>
          </a:xfrm>
          <a:prstGeom prst="roundRect">
            <a:avLst>
              <a:gd name="adj" fmla="val 7979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21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would support the 'long-term benefit' view? Is that evidence in our two perspective cards?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challenges or undermines that view?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'reasonable people can disagree' a valid conclusion -- and when is it a way to avoid the hard truth?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029968"/>
            <a:ext cx="3383280" cy="1719072"/>
          </a:xfrm>
          <a:prstGeom prst="roundRect">
            <a:avLst>
              <a:gd name="adj" fmla="val 6383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08483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2286000"/>
            <a:ext cx="31089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"My position is ___ because... The strongest evidence I have is..."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58768"/>
            <a:ext cx="8503920" cy="566928"/>
          </a:xfrm>
          <a:prstGeom prst="roundRect">
            <a:avLst>
              <a:gd name="adj" fmla="val 14516"/>
            </a:avLst>
          </a:prstGeom>
          <a:solidFill>
            <a:srgbClr val="FFF3DC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587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Historians can disagree here -- if they cite evidence. 'I think it helped' is not enough without a specific detail. The question is whether the evidence supports it.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DEBRIEF -- LOCK THE DECISION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85953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6217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(Evidence)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822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"Name one specific detail from Perspective A (what arrived) and one from Perspective B (who paid). Use the exact wording from the council perspectives."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44168"/>
            <a:ext cx="85953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71600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(Explanation)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5727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it dishonest to share ONLY Perspective A in a story about Florida after contact? Use one piece of evidence from the wall to support your answer."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85953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762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(Council Sentence)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377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YOUR honest council sentence about what changed in Florida after contact. It should name both what arrived and who paid -- in one sentence."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62656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1A2D5A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01752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DEBRIEF (4-5 sentences)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3218688"/>
            <a:ext cx="4663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sentence + Perspective A evidence + Perspective B evidence + why naming both was the honest move.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both, at the same time, even as, this meant.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2962656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FFF3DC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01752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HISTORIAN'S SENTENCE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23560" y="3200400"/>
            <a:ext cx="31089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council session, I learned that ______ because ______.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595360" cy="530352"/>
          </a:xfrm>
          <a:prstGeom prst="roundRect">
            <a:avLst>
              <a:gd name="adj" fmla="val 15517"/>
            </a:avLst>
          </a:prstGeom>
          <a:solidFill>
            <a:srgbClr val="0E1C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COPYWORK: A historian tells the whole story -- even the parts that complicate the answer.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286000" y="41148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411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UNLOCKED -- Episode 1 Closed!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held two truths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one sentence.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21031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sat the council, named both what arrived and who paid, and answered the gate's question with real evidence.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12700">
            <a:solidFill>
              <a:srgbClr val="3A50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2944368"/>
            <a:ext cx="6400800" cy="475488"/>
          </a:xfrm>
          <a:prstGeom prst="roundRect">
            <a:avLst>
              <a:gd name="adj" fmla="val 17308"/>
            </a:avLst>
          </a:prstGeom>
          <a:solidFill>
            <a:srgbClr val="1A2D5A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08760" y="2944368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HONESTY: letting hard truths sit next to bright ones without erasing either.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371600" y="3547872"/>
            <a:ext cx="6400800" cy="658368"/>
          </a:xfrm>
          <a:prstGeom prst="roundRect">
            <a:avLst>
              <a:gd name="adj" fmla="val 13889"/>
            </a:avLst>
          </a:prstGeom>
          <a:solidFill>
            <a:srgbClr val="0B1835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54480" y="3584448"/>
            <a:ext cx="6035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554480" y="378561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6: Early Florida -- St. Augustine and the Missions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2026-07-14T00:28:41Z</dcterms:created>
  <dcterms:modified xsi:type="dcterms:W3CDTF">2026-07-14T00:28:41Z</dcterms:modified>
</cp:coreProperties>
</file>