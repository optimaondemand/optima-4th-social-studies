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Research desk with a book, newspaper, and laptop screen showing Florida history website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read the message. Ask: 'What three kinds of sources does the teacher have open? What question does the teacher need us to answer?' Then move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four steps. Today's skill: run the three-question check (who, when, where) on print and electronic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to examine all three. Coach: 'Can you find who made each one? A date? Where it came from?' Don't teach the three-question check yet — let them discover the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back on the three-question check. Let students identify the problem themselves first: 'You can't always find who made it.' Then bridge to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Ask: 'Where does a book show you its author, date, and publisher?' Let students call out: title page, cover, publication info. Then tee up electronic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three-question check out loud on both sources. Point to where the answer lives (or is missing) on each one. This is the core skill of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to draw out: a scanned photo on Florida Memory is still the same primary source — the delivery changed, not the source itself. Hold back; let students reach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Transferable Pattern: same check, both types. A source doesn't become more reliable just because it's in a book, or less reliable just because it's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honesty to students' real digital lives. They encounter unattributed online content constantly. The three-question check is an honesty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five-step move explicitly. Then hand it to students for practice in the next slides. Keep this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B is the hard one — no organization listed, so who made it? Students should flag the missing 'who.' Source C passes all three checks. Let students argue Source B before you weigh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diagnose the weak response first. 'What did they skip?' Then reveal the strong one. The lesson: appearance is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there is no automatic 'print is better' rule. Both pass the three-question check if the electronic source is properly archived. The check is the standard, not the delivery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answer first then reveal one at a time. Q3 is the synthesis question — it connects print/electronic to primary/secondary. Celebrate any student who gets that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questions aloud. Model Q1: 'I'd name a Florida history textbook for print (you can hold it) and the Florida Memory website for electronic (lives on a screen).' Walk through the notebook entry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Researcher at desk with open book and laptop side by side — print and electronic sources in use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64008"/>
          </a:xfrm>
          <a:prstGeom prst="rect">
            <a:avLst/>
          </a:prstGeom>
          <a:solidFill>
            <a:srgbClr val="D4943A"/>
          </a:solidFill>
          <a:ln/>
        </p:spPr>
      </p:sp>
      <p:sp>
        <p:nvSpPr>
          <p:cNvPr id="6" name="Shape 3"/>
          <p:cNvSpPr/>
          <p:nvPr/>
        </p:nvSpPr>
        <p:spPr>
          <a:xfrm>
            <a:off x="457200" y="228600"/>
            <a:ext cx="2194560" cy="365760"/>
          </a:xfrm>
          <a:prstGeom prst="roundRect">
            <a:avLst>
              <a:gd name="adj" fmla="val 45000"/>
            </a:avLst>
          </a:prstGeom>
          <a:solidFill>
            <a:srgbClr val="D4943A"/>
          </a:solidFill>
          <a:ln/>
        </p:spPr>
      </p:sp>
      <p:sp>
        <p:nvSpPr>
          <p:cNvPr id="7" name="Text 4"/>
          <p:cNvSpPr/>
          <p:nvPr/>
        </p:nvSpPr>
        <p:spPr>
          <a:xfrm>
            <a:off x="457200" y="228600"/>
            <a:ext cx="21945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LESSON 4.01.03</a:t>
            </a:r>
            <a:endParaRPr lang="en-US" sz="1100" dirty="0"/>
          </a:p>
        </p:txBody>
      </p:sp>
      <p:sp>
        <p:nvSpPr>
          <p:cNvPr id="8" name="Text 5"/>
          <p:cNvSpPr/>
          <p:nvPr/>
        </p:nvSpPr>
        <p:spPr>
          <a:xfrm>
            <a:off x="457200" y="731520"/>
            <a:ext cx="8229600" cy="6858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Print &amp;</a:t>
            </a:r>
            <a:endParaRPr lang="en-US" sz="5000" dirty="0"/>
          </a:p>
        </p:txBody>
      </p:sp>
      <p:sp>
        <p:nvSpPr>
          <p:cNvPr id="9" name="Text 6"/>
          <p:cNvSpPr/>
          <p:nvPr/>
        </p:nvSpPr>
        <p:spPr>
          <a:xfrm>
            <a:off x="457200" y="1389888"/>
            <a:ext cx="8229600" cy="685800"/>
          </a:xfrm>
          <a:prstGeom prst="rect">
            <a:avLst/>
          </a:prstGeom>
          <a:noFill/>
          <a:ln/>
        </p:spPr>
        <p:txBody>
          <a:bodyPr wrap="square" lIns="0" tIns="0" rIns="0" bIns="0" rtlCol="0" anchor="ctr"/>
          <a:lstStyle/>
          <a:p>
            <a:pPr indent="0" marL="0">
              <a:buNone/>
            </a:pPr>
            <a:r>
              <a:rPr lang="en-US" sz="5000" b="1" dirty="0">
                <a:solidFill>
                  <a:srgbClr val="D4943A"/>
                </a:solidFill>
                <a:latin typeface="Cambria" pitchFamily="34" charset="0"/>
                <a:ea typeface="Cambria" pitchFamily="34" charset="-122"/>
                <a:cs typeface="Cambria" pitchFamily="34" charset="-120"/>
              </a:rPr>
              <a:t>Electronic Media</a:t>
            </a:r>
            <a:endParaRPr lang="en-US" sz="5000" dirty="0"/>
          </a:p>
        </p:txBody>
      </p:sp>
      <p:sp>
        <p:nvSpPr>
          <p:cNvPr id="10" name="Text 7"/>
          <p:cNvSpPr/>
          <p:nvPr/>
        </p:nvSpPr>
        <p:spPr>
          <a:xfrm>
            <a:off x="457200" y="2176272"/>
            <a:ext cx="8229600" cy="347472"/>
          </a:xfrm>
          <a:prstGeom prst="rect">
            <a:avLst/>
          </a:prstGeom>
          <a:noFill/>
          <a:ln/>
        </p:spPr>
        <p:txBody>
          <a:bodyPr wrap="square" lIns="0" tIns="0" rIns="0" bIns="0" rtlCol="0" anchor="ctr"/>
          <a:lstStyle/>
          <a:p>
            <a:pPr indent="0" marL="0">
              <a:buNone/>
            </a:pPr>
            <a:r>
              <a:rPr lang="en-US" sz="1800" i="1" dirty="0">
                <a:solidFill>
                  <a:srgbClr val="55C8E8"/>
                </a:solidFill>
                <a:latin typeface="Calibri" pitchFamily="34" charset="0"/>
                <a:ea typeface="Calibri" pitchFamily="34" charset="-122"/>
                <a:cs typeface="Calibri" pitchFamily="34" charset="-120"/>
              </a:rPr>
              <a:t>Thinking Like a Florida Historian</a:t>
            </a:r>
            <a:endParaRPr lang="en-US" sz="1800" dirty="0"/>
          </a:p>
        </p:txBody>
      </p:sp>
      <p:sp>
        <p:nvSpPr>
          <p:cNvPr id="11" name="Shape 8"/>
          <p:cNvSpPr/>
          <p:nvPr/>
        </p:nvSpPr>
        <p:spPr>
          <a:xfrm>
            <a:off x="457200" y="2606040"/>
            <a:ext cx="3657600" cy="45720"/>
          </a:xfrm>
          <a:prstGeom prst="rect">
            <a:avLst/>
          </a:prstGeom>
          <a:solidFill>
            <a:srgbClr val="D4943A"/>
          </a:solidFill>
          <a:ln/>
        </p:spPr>
      </p:sp>
      <p:sp>
        <p:nvSpPr>
          <p:cNvPr id="12" name="Text 9"/>
          <p:cNvSpPr/>
          <p:nvPr/>
        </p:nvSpPr>
        <p:spPr>
          <a:xfrm>
            <a:off x="457200" y="272491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BIG QUESTION</a:t>
            </a:r>
            <a:endParaRPr lang="en-US" sz="900" dirty="0"/>
          </a:p>
        </p:txBody>
      </p:sp>
      <p:sp>
        <p:nvSpPr>
          <p:cNvPr id="13" name="Text 10"/>
          <p:cNvSpPr/>
          <p:nvPr/>
        </p:nvSpPr>
        <p:spPr>
          <a:xfrm>
            <a:off x="457200" y="2999232"/>
            <a:ext cx="8046720" cy="100584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How do Florida historians use both print sources (books, newspapers, photos) and electronic sources (websites, videos, databases) — and what do we have to check before trusting either kind?</a:t>
            </a:r>
            <a:endParaRPr lang="en-US" sz="1600" dirty="0"/>
          </a:p>
        </p:txBody>
      </p:sp>
      <p:sp>
        <p:nvSpPr>
          <p:cNvPr id="14" name="Text 11"/>
          <p:cNvSpPr/>
          <p:nvPr/>
        </p:nvSpPr>
        <p:spPr>
          <a:xfrm>
            <a:off x="457200" y="4663440"/>
            <a:ext cx="8229600" cy="292608"/>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SS.4.A.1.1 · SS.4.A.1.2 · SS.4.A.9.1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D4943A"/>
          </a:solidFill>
          <a:ln/>
        </p:spPr>
      </p:sp>
      <p:sp>
        <p:nvSpPr>
          <p:cNvPr id="4" name="Text 2"/>
          <p:cNvSpPr/>
          <p:nvPr/>
        </p:nvSpPr>
        <p:spPr>
          <a:xfrm>
            <a:off x="457200" y="164592"/>
            <a:ext cx="8229600" cy="32004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FLORIDA FILES: ESCAPE FROM CANVAS</a:t>
            </a:r>
            <a:endParaRPr lang="en-US" sz="1000" dirty="0"/>
          </a:p>
        </p:txBody>
      </p:sp>
      <p:sp>
        <p:nvSpPr>
          <p:cNvPr id="5" name="Shape 3"/>
          <p:cNvSpPr/>
          <p:nvPr/>
        </p:nvSpPr>
        <p:spPr>
          <a:xfrm>
            <a:off x="640080" y="594360"/>
            <a:ext cx="7863840" cy="3337560"/>
          </a:xfrm>
          <a:prstGeom prst="roundRect">
            <a:avLst>
              <a:gd name="adj" fmla="val 4932"/>
            </a:avLst>
          </a:prstGeom>
          <a:solidFill>
            <a:srgbClr val="1A2D5A"/>
          </a:solidFill>
          <a:ln w="25400">
            <a:solidFill>
              <a:srgbClr val="D4943A"/>
            </a:solidFill>
            <a:prstDash val="solid"/>
          </a:ln>
        </p:spPr>
      </p:sp>
      <p:sp>
        <p:nvSpPr>
          <p:cNvPr id="6" name="Text 4"/>
          <p:cNvSpPr/>
          <p:nvPr/>
        </p:nvSpPr>
        <p:spPr>
          <a:xfrm>
            <a:off x="914400" y="777240"/>
            <a:ext cx="7132320" cy="32004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Message from Inside Canvas</a:t>
            </a:r>
            <a:endParaRPr lang="en-US" sz="1300" dirty="0"/>
          </a:p>
        </p:txBody>
      </p:sp>
      <p:sp>
        <p:nvSpPr>
          <p:cNvPr id="7" name="Text 5"/>
          <p:cNvSpPr/>
          <p:nvPr/>
        </p:nvSpPr>
        <p:spPr>
          <a:xfrm>
            <a:off x="914400" y="1170432"/>
            <a:ext cx="7315200" cy="178308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Canvas keeps giving me too many search results and I can't tell which ones are reliable. I've got a book, a newspaper, and a website all open at once — and the file won't unlock until I know which ones to trust. Help me figure out what makes a print source or an electronic source worth using, and we can get this file open together.</a:t>
            </a:r>
            <a:endParaRPr lang="en-US" sz="1400" dirty="0"/>
          </a:p>
        </p:txBody>
      </p:sp>
      <p:sp>
        <p:nvSpPr>
          <p:cNvPr id="8" name="Text 6"/>
          <p:cNvSpPr/>
          <p:nvPr/>
        </p:nvSpPr>
        <p:spPr>
          <a:xfrm>
            <a:off x="914400" y="3035808"/>
            <a:ext cx="7315200" cy="347472"/>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 Your teacher, still inside Module 1</a:t>
            </a:r>
            <a:endParaRPr lang="en-US" sz="1200" dirty="0"/>
          </a:p>
        </p:txBody>
      </p:sp>
      <p:sp>
        <p:nvSpPr>
          <p:cNvPr id="9" name="Text 7"/>
          <p:cNvSpPr/>
          <p:nvPr/>
        </p:nvSpPr>
        <p:spPr>
          <a:xfrm>
            <a:off x="457200" y="4069080"/>
            <a:ext cx="8229600" cy="365760"/>
          </a:xfrm>
          <a:prstGeom prst="rect">
            <a:avLst/>
          </a:prstGeom>
          <a:noFill/>
          <a:ln/>
        </p:spPr>
        <p:txBody>
          <a:bodyPr wrap="square" lIns="0" tIns="0" rIns="0" bIns="0"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Your mission: Figure out what makes each kind of source worth trusting.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28016"/>
            <a:ext cx="822960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TODAY'S PATH</a:t>
            </a:r>
            <a:endParaRPr lang="en-US" sz="2200" dirty="0"/>
          </a:p>
        </p:txBody>
      </p:sp>
      <p:sp>
        <p:nvSpPr>
          <p:cNvPr id="5" name="Shape 3"/>
          <p:cNvSpPr/>
          <p:nvPr/>
        </p:nvSpPr>
        <p:spPr>
          <a:xfrm>
            <a:off x="365760" y="749808"/>
            <a:ext cx="8412480" cy="896112"/>
          </a:xfrm>
          <a:prstGeom prst="roundRect">
            <a:avLst>
              <a:gd name="adj" fmla="val 12245"/>
            </a:avLst>
          </a:prstGeom>
          <a:solidFill>
            <a:srgbClr val="FFFFFF"/>
          </a:solidFill>
          <a:ln w="12700">
            <a:solidFill>
              <a:srgbClr val="B0B8CC"/>
            </a:solidFill>
            <a:prstDash val="solid"/>
          </a:ln>
        </p:spPr>
      </p:sp>
      <p:sp>
        <p:nvSpPr>
          <p:cNvPr id="6" name="Shape 4"/>
          <p:cNvSpPr/>
          <p:nvPr/>
        </p:nvSpPr>
        <p:spPr>
          <a:xfrm>
            <a:off x="548640" y="932688"/>
            <a:ext cx="502920" cy="502920"/>
          </a:xfrm>
          <a:prstGeom prst="ellipse">
            <a:avLst/>
          </a:prstGeom>
          <a:solidFill>
            <a:srgbClr val="D4943A"/>
          </a:solidFill>
          <a:ln/>
        </p:spPr>
      </p:sp>
      <p:sp>
        <p:nvSpPr>
          <p:cNvPr id="7" name="Text 5"/>
          <p:cNvSpPr/>
          <p:nvPr/>
        </p:nvSpPr>
        <p:spPr>
          <a:xfrm>
            <a:off x="548640" y="93268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188720" y="84124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LEARN</a:t>
            </a:r>
            <a:endParaRPr lang="en-US" sz="1000" dirty="0"/>
          </a:p>
        </p:txBody>
      </p:sp>
      <p:sp>
        <p:nvSpPr>
          <p:cNvPr id="9" name="Text 7"/>
          <p:cNvSpPr/>
          <p:nvPr/>
        </p:nvSpPr>
        <p:spPr>
          <a:xfrm>
            <a:off x="1188720" y="113385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Print and electronic sources — same evidence, different delivery</a:t>
            </a:r>
            <a:endParaRPr lang="en-US" sz="1300" dirty="0"/>
          </a:p>
        </p:txBody>
      </p:sp>
      <p:sp>
        <p:nvSpPr>
          <p:cNvPr id="10" name="Shape 8"/>
          <p:cNvSpPr/>
          <p:nvPr/>
        </p:nvSpPr>
        <p:spPr>
          <a:xfrm>
            <a:off x="365760" y="1755648"/>
            <a:ext cx="8412480" cy="896112"/>
          </a:xfrm>
          <a:prstGeom prst="roundRect">
            <a:avLst>
              <a:gd name="adj" fmla="val 12245"/>
            </a:avLst>
          </a:prstGeom>
          <a:solidFill>
            <a:srgbClr val="FFFFFF"/>
          </a:solidFill>
          <a:ln w="12700">
            <a:solidFill>
              <a:srgbClr val="B0B8CC"/>
            </a:solidFill>
            <a:prstDash val="solid"/>
          </a:ln>
        </p:spPr>
      </p:sp>
      <p:sp>
        <p:nvSpPr>
          <p:cNvPr id="11" name="Shape 9"/>
          <p:cNvSpPr/>
          <p:nvPr/>
        </p:nvSpPr>
        <p:spPr>
          <a:xfrm>
            <a:off x="548640" y="1938528"/>
            <a:ext cx="502920" cy="502920"/>
          </a:xfrm>
          <a:prstGeom prst="ellipse">
            <a:avLst/>
          </a:prstGeom>
          <a:solidFill>
            <a:srgbClr val="D4943A"/>
          </a:solidFill>
          <a:ln/>
        </p:spPr>
      </p:sp>
      <p:sp>
        <p:nvSpPr>
          <p:cNvPr id="12" name="Text 10"/>
          <p:cNvSpPr/>
          <p:nvPr/>
        </p:nvSpPr>
        <p:spPr>
          <a:xfrm>
            <a:off x="548640" y="19385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188720" y="184708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EXPLORE</a:t>
            </a:r>
            <a:endParaRPr lang="en-US" sz="1000" dirty="0"/>
          </a:p>
        </p:txBody>
      </p:sp>
      <p:sp>
        <p:nvSpPr>
          <p:cNvPr id="14" name="Text 12"/>
          <p:cNvSpPr/>
          <p:nvPr/>
        </p:nvSpPr>
        <p:spPr>
          <a:xfrm>
            <a:off x="1188720" y="213969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Compare a print and electronic Florida source side by side</a:t>
            </a:r>
            <a:endParaRPr lang="en-US" sz="1300" dirty="0"/>
          </a:p>
        </p:txBody>
      </p:sp>
      <p:sp>
        <p:nvSpPr>
          <p:cNvPr id="15" name="Shape 13"/>
          <p:cNvSpPr/>
          <p:nvPr/>
        </p:nvSpPr>
        <p:spPr>
          <a:xfrm>
            <a:off x="365760" y="2761488"/>
            <a:ext cx="8412480" cy="896112"/>
          </a:xfrm>
          <a:prstGeom prst="roundRect">
            <a:avLst>
              <a:gd name="adj" fmla="val 12245"/>
            </a:avLst>
          </a:prstGeom>
          <a:solidFill>
            <a:srgbClr val="FFFFFF"/>
          </a:solidFill>
          <a:ln w="12700">
            <a:solidFill>
              <a:srgbClr val="B0B8CC"/>
            </a:solidFill>
            <a:prstDash val="solid"/>
          </a:ln>
        </p:spPr>
      </p:sp>
      <p:sp>
        <p:nvSpPr>
          <p:cNvPr id="16" name="Shape 14"/>
          <p:cNvSpPr/>
          <p:nvPr/>
        </p:nvSpPr>
        <p:spPr>
          <a:xfrm>
            <a:off x="548640" y="2944368"/>
            <a:ext cx="502920" cy="502920"/>
          </a:xfrm>
          <a:prstGeom prst="ellipse">
            <a:avLst/>
          </a:prstGeom>
          <a:solidFill>
            <a:srgbClr val="D4943A"/>
          </a:solidFill>
          <a:ln/>
        </p:spPr>
      </p:sp>
      <p:sp>
        <p:nvSpPr>
          <p:cNvPr id="17" name="Text 15"/>
          <p:cNvSpPr/>
          <p:nvPr/>
        </p:nvSpPr>
        <p:spPr>
          <a:xfrm>
            <a:off x="548640" y="29443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188720" y="285292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CHECK</a:t>
            </a:r>
            <a:endParaRPr lang="en-US" sz="1000" dirty="0"/>
          </a:p>
        </p:txBody>
      </p:sp>
      <p:sp>
        <p:nvSpPr>
          <p:cNvPr id="19" name="Text 17"/>
          <p:cNvSpPr/>
          <p:nvPr/>
        </p:nvSpPr>
        <p:spPr>
          <a:xfrm>
            <a:off x="1188720" y="314553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Quick self-check: three-question check on every source</a:t>
            </a:r>
            <a:endParaRPr lang="en-US" sz="1300" dirty="0"/>
          </a:p>
        </p:txBody>
      </p:sp>
      <p:sp>
        <p:nvSpPr>
          <p:cNvPr id="20" name="Shape 18"/>
          <p:cNvSpPr/>
          <p:nvPr/>
        </p:nvSpPr>
        <p:spPr>
          <a:xfrm>
            <a:off x="365760" y="3767328"/>
            <a:ext cx="8412480" cy="896112"/>
          </a:xfrm>
          <a:prstGeom prst="roundRect">
            <a:avLst>
              <a:gd name="adj" fmla="val 12245"/>
            </a:avLst>
          </a:prstGeom>
          <a:solidFill>
            <a:srgbClr val="FFFFFF"/>
          </a:solidFill>
          <a:ln w="12700">
            <a:solidFill>
              <a:srgbClr val="B0B8CC"/>
            </a:solidFill>
            <a:prstDash val="solid"/>
          </a:ln>
        </p:spPr>
      </p:sp>
      <p:sp>
        <p:nvSpPr>
          <p:cNvPr id="21" name="Shape 19"/>
          <p:cNvSpPr/>
          <p:nvPr/>
        </p:nvSpPr>
        <p:spPr>
          <a:xfrm>
            <a:off x="548640" y="3950208"/>
            <a:ext cx="502920" cy="502920"/>
          </a:xfrm>
          <a:prstGeom prst="ellipse">
            <a:avLst/>
          </a:prstGeom>
          <a:solidFill>
            <a:srgbClr val="D4943A"/>
          </a:solidFill>
          <a:ln/>
        </p:spPr>
      </p:sp>
      <p:sp>
        <p:nvSpPr>
          <p:cNvPr id="22" name="Text 20"/>
          <p:cNvSpPr/>
          <p:nvPr/>
        </p:nvSpPr>
        <p:spPr>
          <a:xfrm>
            <a:off x="548640" y="395020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188720" y="3858768"/>
            <a:ext cx="182880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a:t>
            </a:r>
            <a:endParaRPr lang="en-US" sz="1000" dirty="0"/>
          </a:p>
        </p:txBody>
      </p:sp>
      <p:sp>
        <p:nvSpPr>
          <p:cNvPr id="24" name="Text 22"/>
          <p:cNvSpPr/>
          <p:nvPr/>
        </p:nvSpPr>
        <p:spPr>
          <a:xfrm>
            <a:off x="1188720" y="4151376"/>
            <a:ext cx="7315200" cy="411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Write your Historian's Notebook entry and submit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CLUE BOX — THE HISTORIAN'S RESEARCH CHECKLIST</a:t>
            </a:r>
            <a:endParaRPr lang="en-US" sz="1400" dirty="0"/>
          </a:p>
        </p:txBody>
      </p:sp>
      <p:sp>
        <p:nvSpPr>
          <p:cNvPr id="5" name="Shape 3"/>
          <p:cNvSpPr/>
          <p:nvPr/>
        </p:nvSpPr>
        <p:spPr>
          <a:xfrm>
            <a:off x="365760" y="685800"/>
            <a:ext cx="457200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685800"/>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960120"/>
            <a:ext cx="429768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Research checklist beside a book, newspaper, and website on screen — three kinds of Florida history sources, one set of questions.</a:t>
            </a:r>
            <a:endParaRPr lang="en-US" sz="1100" dirty="0"/>
          </a:p>
        </p:txBody>
      </p:sp>
      <p:sp>
        <p:nvSpPr>
          <p:cNvPr id="8" name="Shape 6"/>
          <p:cNvSpPr/>
          <p:nvPr/>
        </p:nvSpPr>
        <p:spPr>
          <a:xfrm>
            <a:off x="5074920" y="685800"/>
            <a:ext cx="3657600" cy="3063240"/>
          </a:xfrm>
          <a:prstGeom prst="roundRect">
            <a:avLst>
              <a:gd name="adj" fmla="val 3582"/>
            </a:avLst>
          </a:prstGeom>
          <a:solidFill>
            <a:srgbClr val="FFF3DC"/>
          </a:solidFill>
          <a:ln w="19050">
            <a:solidFill>
              <a:srgbClr val="F5E6C8"/>
            </a:solidFill>
            <a:prstDash val="solid"/>
          </a:ln>
        </p:spPr>
      </p:sp>
      <p:sp>
        <p:nvSpPr>
          <p:cNvPr id="9" name="Text 7"/>
          <p:cNvSpPr/>
          <p:nvPr/>
        </p:nvSpPr>
        <p:spPr>
          <a:xfrm>
            <a:off x="5212080" y="740664"/>
            <a:ext cx="3383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212080" y="941832"/>
            <a:ext cx="3383280" cy="2743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source is [print / electronic]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"When I look for WHO made it, I can find... / I can't find..."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matters to Florida historians because..."</a:t>
            </a:r>
            <a:endParaRPr lang="en-US" sz="1200" dirty="0"/>
          </a:p>
        </p:txBody>
      </p:sp>
      <p:sp>
        <p:nvSpPr>
          <p:cNvPr id="11" name="Text 9"/>
          <p:cNvSpPr/>
          <p:nvPr/>
        </p:nvSpPr>
        <p:spPr>
          <a:xfrm>
            <a:off x="365760" y="3886200"/>
            <a:ext cx="8412480" cy="384048"/>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Look at all three sources. Before discussing — write your first reaction using the chat frame.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DISCUSSION — HOW DO WE TELL THEM APART?</a:t>
            </a:r>
            <a:endParaRPr lang="en-US" sz="1500" dirty="0"/>
          </a:p>
        </p:txBody>
      </p:sp>
      <p:sp>
        <p:nvSpPr>
          <p:cNvPr id="5" name="Shape 3"/>
          <p:cNvSpPr/>
          <p:nvPr/>
        </p:nvSpPr>
        <p:spPr>
          <a:xfrm>
            <a:off x="365760" y="749808"/>
            <a:ext cx="8412480" cy="3749040"/>
          </a:xfrm>
          <a:prstGeom prst="roundRect">
            <a:avLst>
              <a:gd name="adj" fmla="val 3659"/>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84124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097280"/>
            <a:ext cx="8046720" cy="3310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the difference between a source you can hold and a source you see on a screen?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kind of source (primary or secondary) change just because it's now on a website?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it be harder to find the author of a webpage than the author of a book?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found a fact about Florida history online with no author listed, what would a historian do?</a:t>
            </a:r>
            <a:endParaRPr lang="en-US" sz="1100" dirty="0"/>
          </a:p>
        </p:txBody>
      </p:sp>
      <p:sp>
        <p:nvSpPr>
          <p:cNvPr id="8" name="Text 6"/>
          <p:cNvSpPr/>
          <p:nvPr/>
        </p:nvSpPr>
        <p:spPr>
          <a:xfrm>
            <a:off x="365760" y="4617720"/>
            <a:ext cx="8412480" cy="29260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Push students to name the actual problem: missing author, missing date, missing origin.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1A8A7D"/>
          </a:solidFill>
          <a:ln/>
        </p:spPr>
      </p:sp>
      <p:sp>
        <p:nvSpPr>
          <p:cNvPr id="4" name="Text 2"/>
          <p:cNvSpPr/>
          <p:nvPr/>
        </p:nvSpPr>
        <p:spPr>
          <a:xfrm>
            <a:off x="457200" y="164592"/>
            <a:ext cx="2743200" cy="274320"/>
          </a:xfrm>
          <a:prstGeom prst="rect">
            <a:avLst/>
          </a:prstGeom>
          <a:noFill/>
          <a:ln/>
        </p:spPr>
        <p:txBody>
          <a:bodyPr wrap="square" lIns="0" tIns="0" rIns="0" bIns="0"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REVEAL 1</a:t>
            </a:r>
            <a:endParaRPr lang="en-US" sz="1000" dirty="0"/>
          </a:p>
        </p:txBody>
      </p:sp>
      <p:sp>
        <p:nvSpPr>
          <p:cNvPr id="5" name="Shape 3"/>
          <p:cNvSpPr/>
          <p:nvPr/>
        </p:nvSpPr>
        <p:spPr>
          <a:xfrm>
            <a:off x="457200" y="502920"/>
            <a:ext cx="8229600" cy="1005840"/>
          </a:xfrm>
          <a:prstGeom prst="roundRect">
            <a:avLst>
              <a:gd name="adj" fmla="val 12727"/>
            </a:avLst>
          </a:prstGeom>
          <a:solidFill>
            <a:srgbClr val="1A2D5A"/>
          </a:solidFill>
          <a:ln w="25400">
            <a:solidFill>
              <a:srgbClr val="1A8A7D"/>
            </a:solidFill>
            <a:prstDash val="solid"/>
          </a:ln>
        </p:spPr>
      </p:sp>
      <p:sp>
        <p:nvSpPr>
          <p:cNvPr id="6" name="Text 4"/>
          <p:cNvSpPr/>
          <p:nvPr/>
        </p:nvSpPr>
        <p:spPr>
          <a:xfrm>
            <a:off x="640080" y="594360"/>
            <a:ext cx="4572000" cy="292608"/>
          </a:xfrm>
          <a:prstGeom prst="rect">
            <a:avLst/>
          </a:prstGeom>
          <a:noFill/>
          <a:ln/>
        </p:spPr>
        <p:txBody>
          <a:bodyPr wrap="square" lIns="0" tIns="0" rIns="0" bIns="0" rtlCol="0" anchor="ctr"/>
          <a:lstStyle/>
          <a:p>
            <a:pPr indent="0" marL="0">
              <a:buNone/>
            </a:pPr>
            <a:r>
              <a:rPr lang="en-US" sz="1200" b="1" spc="150" kern="0" dirty="0">
                <a:solidFill>
                  <a:srgbClr val="1A8A7D"/>
                </a:solidFill>
                <a:latin typeface="Calibri" pitchFamily="34" charset="0"/>
                <a:ea typeface="Calibri" pitchFamily="34" charset="-122"/>
                <a:cs typeface="Calibri" pitchFamily="34" charset="-120"/>
              </a:rPr>
              <a:t>PRINT SOURCES</a:t>
            </a:r>
            <a:endParaRPr lang="en-US" sz="1200" dirty="0"/>
          </a:p>
        </p:txBody>
      </p:sp>
      <p:sp>
        <p:nvSpPr>
          <p:cNvPr id="7" name="Text 5"/>
          <p:cNvSpPr/>
          <p:nvPr/>
        </p:nvSpPr>
        <p:spPr>
          <a:xfrm>
            <a:off x="640080" y="896112"/>
            <a:ext cx="7863840" cy="50292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Anything you can hold in your hands — books, newspapers, printed photographs, paper maps.</a:t>
            </a:r>
            <a:endParaRPr lang="en-US" sz="1500" dirty="0"/>
          </a:p>
        </p:txBody>
      </p:sp>
      <p:sp>
        <p:nvSpPr>
          <p:cNvPr id="8" name="Shape 6"/>
          <p:cNvSpPr/>
          <p:nvPr/>
        </p:nvSpPr>
        <p:spPr>
          <a:xfrm>
            <a:off x="457200" y="1627632"/>
            <a:ext cx="8229600" cy="457200"/>
          </a:xfrm>
          <a:prstGeom prst="roundRect">
            <a:avLst>
              <a:gd name="adj" fmla="val 20000"/>
            </a:avLst>
          </a:prstGeom>
          <a:solidFill>
            <a:srgbClr val="1A2D5A"/>
          </a:solidFill>
          <a:ln w="12700">
            <a:solidFill>
              <a:srgbClr val="2A4080"/>
            </a:solidFill>
            <a:prstDash val="solid"/>
          </a:ln>
        </p:spPr>
      </p:sp>
      <p:sp>
        <p:nvSpPr>
          <p:cNvPr id="9" name="Text 7"/>
          <p:cNvSpPr/>
          <p:nvPr/>
        </p:nvSpPr>
        <p:spPr>
          <a:xfrm>
            <a:off x="640080" y="1627632"/>
            <a:ext cx="786384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Florida history textbook on your shelf</a:t>
            </a:r>
            <a:endParaRPr lang="en-US" sz="1200" dirty="0"/>
          </a:p>
        </p:txBody>
      </p:sp>
      <p:sp>
        <p:nvSpPr>
          <p:cNvPr id="10" name="Shape 8"/>
          <p:cNvSpPr/>
          <p:nvPr/>
        </p:nvSpPr>
        <p:spPr>
          <a:xfrm>
            <a:off x="457200" y="2157984"/>
            <a:ext cx="8229600" cy="457200"/>
          </a:xfrm>
          <a:prstGeom prst="roundRect">
            <a:avLst>
              <a:gd name="adj" fmla="val 20000"/>
            </a:avLst>
          </a:prstGeom>
          <a:solidFill>
            <a:srgbClr val="1A2D5A"/>
          </a:solidFill>
          <a:ln w="12700">
            <a:solidFill>
              <a:srgbClr val="2A4080"/>
            </a:solidFill>
            <a:prstDash val="solid"/>
          </a:ln>
        </p:spPr>
      </p:sp>
      <p:sp>
        <p:nvSpPr>
          <p:cNvPr id="11" name="Text 9"/>
          <p:cNvSpPr/>
          <p:nvPr/>
        </p:nvSpPr>
        <p:spPr>
          <a:xfrm>
            <a:off x="640080" y="2157984"/>
            <a:ext cx="786384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1920 newspaper from Jacksonville — printed on paper, dated, with a named publisher</a:t>
            </a:r>
            <a:endParaRPr lang="en-US" sz="1200" dirty="0"/>
          </a:p>
        </p:txBody>
      </p:sp>
      <p:sp>
        <p:nvSpPr>
          <p:cNvPr id="12" name="Shape 10"/>
          <p:cNvSpPr/>
          <p:nvPr/>
        </p:nvSpPr>
        <p:spPr>
          <a:xfrm>
            <a:off x="457200" y="2688336"/>
            <a:ext cx="8229600" cy="457200"/>
          </a:xfrm>
          <a:prstGeom prst="roundRect">
            <a:avLst>
              <a:gd name="adj" fmla="val 20000"/>
            </a:avLst>
          </a:prstGeom>
          <a:solidFill>
            <a:srgbClr val="1A2D5A"/>
          </a:solidFill>
          <a:ln w="12700">
            <a:solidFill>
              <a:srgbClr val="2A4080"/>
            </a:solidFill>
            <a:prstDash val="solid"/>
          </a:ln>
        </p:spPr>
      </p:sp>
      <p:sp>
        <p:nvSpPr>
          <p:cNvPr id="13" name="Text 11"/>
          <p:cNvSpPr/>
          <p:nvPr/>
        </p:nvSpPr>
        <p:spPr>
          <a:xfrm>
            <a:off x="640080" y="2688336"/>
            <a:ext cx="786384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printed photograph from the State Archives of Florida with archive stamp and date</a:t>
            </a:r>
            <a:endParaRPr lang="en-US" sz="1200" dirty="0"/>
          </a:p>
        </p:txBody>
      </p:sp>
      <p:sp>
        <p:nvSpPr>
          <p:cNvPr id="14" name="Shape 12"/>
          <p:cNvSpPr/>
          <p:nvPr/>
        </p:nvSpPr>
        <p:spPr>
          <a:xfrm>
            <a:off x="457200" y="3218688"/>
            <a:ext cx="8229600" cy="457200"/>
          </a:xfrm>
          <a:prstGeom prst="roundRect">
            <a:avLst>
              <a:gd name="adj" fmla="val 20000"/>
            </a:avLst>
          </a:prstGeom>
          <a:solidFill>
            <a:srgbClr val="1A2D5A"/>
          </a:solidFill>
          <a:ln w="12700">
            <a:solidFill>
              <a:srgbClr val="2A4080"/>
            </a:solidFill>
            <a:prstDash val="solid"/>
          </a:ln>
        </p:spPr>
      </p:sp>
      <p:sp>
        <p:nvSpPr>
          <p:cNvPr id="15" name="Text 13"/>
          <p:cNvSpPr/>
          <p:nvPr/>
        </p:nvSpPr>
        <p:spPr>
          <a:xfrm>
            <a:off x="640080" y="3218688"/>
            <a:ext cx="786384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 historical paper map of St. Augustine drawn in the 1700s</a:t>
            </a:r>
            <a:endParaRPr lang="en-US" sz="1200" dirty="0"/>
          </a:p>
        </p:txBody>
      </p:sp>
      <p:sp>
        <p:nvSpPr>
          <p:cNvPr id="16" name="Text 14"/>
          <p:cNvSpPr/>
          <p:nvPr/>
        </p:nvSpPr>
        <p:spPr>
          <a:xfrm>
            <a:off x="457200" y="4434840"/>
            <a:ext cx="8412480" cy="347472"/>
          </a:xfrm>
          <a:prstGeom prst="rect">
            <a:avLst/>
          </a:prstGeom>
          <a:noFill/>
          <a:ln/>
        </p:spPr>
        <p:txBody>
          <a:bodyPr wrap="square" lIns="0" tIns="0" rIns="0" bIns="0" rtlCol="0" anchor="ctr"/>
          <a:lstStyle/>
          <a:p>
            <a:pPr algn="ctr" indent="0" marL="0">
              <a:buNone/>
            </a:pPr>
            <a:r>
              <a:rPr lang="en-US" sz="1100" b="1" dirty="0">
                <a:solidFill>
                  <a:srgbClr val="D4943A"/>
                </a:solidFill>
                <a:latin typeface="Calibri" pitchFamily="34" charset="0"/>
                <a:ea typeface="Calibri" pitchFamily="34" charset="-122"/>
                <a:cs typeface="Calibri" pitchFamily="34" charset="-120"/>
              </a:rPr>
              <a:t>RETRIEVAL CHALLENGE: Where do print sources usually show you who made them and when?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MULTI-SOURCE COMPARE — SAME TOPIC, TWO DELIVERIES</a:t>
            </a:r>
            <a:endParaRPr lang="en-US" sz="1400" dirty="0"/>
          </a:p>
        </p:txBody>
      </p:sp>
      <p:sp>
        <p:nvSpPr>
          <p:cNvPr id="5" name="Shape 3"/>
          <p:cNvSpPr/>
          <p:nvPr/>
        </p:nvSpPr>
        <p:spPr>
          <a:xfrm>
            <a:off x="274320" y="685800"/>
            <a:ext cx="3977640" cy="2423160"/>
          </a:xfrm>
          <a:prstGeom prst="roundRect">
            <a:avLst>
              <a:gd name="adj" fmla="val 4528"/>
            </a:avLst>
          </a:prstGeom>
          <a:solidFill>
            <a:srgbClr val="E2E8F4"/>
          </a:solidFill>
          <a:ln w="19050">
            <a:solidFill>
              <a:srgbClr val="B0B8CC"/>
            </a:solidFill>
            <a:prstDash val="dash"/>
          </a:ln>
        </p:spPr>
      </p:sp>
      <p:sp>
        <p:nvSpPr>
          <p:cNvPr id="6" name="Text 4"/>
          <p:cNvSpPr/>
          <p:nvPr/>
        </p:nvSpPr>
        <p:spPr>
          <a:xfrm>
            <a:off x="274320" y="685800"/>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960120"/>
            <a:ext cx="3703320" cy="2057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PRINT SOURCE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Page from a Florida history book or 1920 newspaper. Author, title, date clearly visible. Label: 'PRINT SOURCE'</a:t>
            </a:r>
            <a:endParaRPr lang="en-US" sz="1100" dirty="0"/>
          </a:p>
        </p:txBody>
      </p:sp>
      <p:sp>
        <p:nvSpPr>
          <p:cNvPr id="8" name="Shape 6"/>
          <p:cNvSpPr/>
          <p:nvPr/>
        </p:nvSpPr>
        <p:spPr>
          <a:xfrm>
            <a:off x="274320" y="3172968"/>
            <a:ext cx="3977640" cy="475488"/>
          </a:xfrm>
          <a:prstGeom prst="roundRect">
            <a:avLst>
              <a:gd name="adj" fmla="val 19231"/>
            </a:avLst>
          </a:prstGeom>
          <a:solidFill>
            <a:srgbClr val="1A8A7D"/>
          </a:solidFill>
          <a:ln/>
        </p:spPr>
      </p:sp>
      <p:sp>
        <p:nvSpPr>
          <p:cNvPr id="9" name="Text 7"/>
          <p:cNvSpPr/>
          <p:nvPr/>
        </p:nvSpPr>
        <p:spPr>
          <a:xfrm>
            <a:off x="274320" y="3172968"/>
            <a:ext cx="39776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PRINT — Hold in your hands</a:t>
            </a:r>
            <a:endParaRPr lang="en-US" sz="1100" dirty="0"/>
          </a:p>
        </p:txBody>
      </p:sp>
      <p:sp>
        <p:nvSpPr>
          <p:cNvPr id="10" name="Text 8"/>
          <p:cNvSpPr/>
          <p:nvPr/>
        </p:nvSpPr>
        <p:spPr>
          <a:xfrm>
            <a:off x="4343400" y="1645920"/>
            <a:ext cx="457200" cy="457200"/>
          </a:xfrm>
          <a:prstGeom prst="rect">
            <a:avLst/>
          </a:prstGeom>
          <a:noFill/>
          <a:ln/>
        </p:spPr>
        <p:txBody>
          <a:bodyPr wrap="square" lIns="0" tIns="0" rIns="0" bIns="0"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VS.</a:t>
            </a:r>
            <a:endParaRPr lang="en-US" sz="1600" dirty="0"/>
          </a:p>
        </p:txBody>
      </p:sp>
      <p:sp>
        <p:nvSpPr>
          <p:cNvPr id="11" name="Shape 9"/>
          <p:cNvSpPr/>
          <p:nvPr/>
        </p:nvSpPr>
        <p:spPr>
          <a:xfrm>
            <a:off x="4892040" y="685800"/>
            <a:ext cx="3977640" cy="2423160"/>
          </a:xfrm>
          <a:prstGeom prst="roundRect">
            <a:avLst>
              <a:gd name="adj" fmla="val 4528"/>
            </a:avLst>
          </a:prstGeom>
          <a:solidFill>
            <a:srgbClr val="E2E8F4"/>
          </a:solidFill>
          <a:ln w="19050">
            <a:solidFill>
              <a:srgbClr val="B0B8CC"/>
            </a:solidFill>
            <a:prstDash val="dash"/>
          </a:ln>
        </p:spPr>
      </p:sp>
      <p:sp>
        <p:nvSpPr>
          <p:cNvPr id="12" name="Text 10"/>
          <p:cNvSpPr/>
          <p:nvPr/>
        </p:nvSpPr>
        <p:spPr>
          <a:xfrm>
            <a:off x="4892040" y="685800"/>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5029200" y="960120"/>
            <a:ext cx="3703320" cy="2057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ELECTRONIC SOURCE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Screenshot of Florida Memory (floridamemory.com) or NPS page covering same Florida topic. URL, title, and any visible date shown. Label: 'ELECTRONIC SOURCE'</a:t>
            </a:r>
            <a:endParaRPr lang="en-US" sz="1100" dirty="0"/>
          </a:p>
        </p:txBody>
      </p:sp>
      <p:sp>
        <p:nvSpPr>
          <p:cNvPr id="14" name="Shape 12"/>
          <p:cNvSpPr/>
          <p:nvPr/>
        </p:nvSpPr>
        <p:spPr>
          <a:xfrm>
            <a:off x="4892040" y="3172968"/>
            <a:ext cx="3977640" cy="475488"/>
          </a:xfrm>
          <a:prstGeom prst="roundRect">
            <a:avLst>
              <a:gd name="adj" fmla="val 19231"/>
            </a:avLst>
          </a:prstGeom>
          <a:solidFill>
            <a:srgbClr val="D4943A"/>
          </a:solidFill>
          <a:ln/>
        </p:spPr>
      </p:sp>
      <p:sp>
        <p:nvSpPr>
          <p:cNvPr id="15" name="Text 13"/>
          <p:cNvSpPr/>
          <p:nvPr/>
        </p:nvSpPr>
        <p:spPr>
          <a:xfrm>
            <a:off x="4892040" y="3172968"/>
            <a:ext cx="397764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ELECTRONIC — Lives on a screen</a:t>
            </a:r>
            <a:endParaRPr lang="en-US" sz="1100" dirty="0"/>
          </a:p>
        </p:txBody>
      </p:sp>
      <p:sp>
        <p:nvSpPr>
          <p:cNvPr id="16" name="Shape 14"/>
          <p:cNvSpPr/>
          <p:nvPr/>
        </p:nvSpPr>
        <p:spPr>
          <a:xfrm>
            <a:off x="274320" y="3767328"/>
            <a:ext cx="8595360" cy="9144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457200" y="3858768"/>
            <a:ext cx="8229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8" name="Text 16"/>
          <p:cNvSpPr/>
          <p:nvPr/>
        </p:nvSpPr>
        <p:spPr>
          <a:xfrm>
            <a:off x="457200" y="4114800"/>
            <a:ext cx="8229600" cy="475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made it? (Can you find the author on each 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(Is there a clear publication date on each 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is it from? (Do you trust the origin of each one?)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DISCUSSION — WHO, WHEN, WHERE?</a:t>
            </a:r>
            <a:endParaRPr lang="en-US" sz="1500" dirty="0"/>
          </a:p>
        </p:txBody>
      </p:sp>
      <p:sp>
        <p:nvSpPr>
          <p:cNvPr id="5" name="Shape 3"/>
          <p:cNvSpPr/>
          <p:nvPr/>
        </p:nvSpPr>
        <p:spPr>
          <a:xfrm>
            <a:off x="365760" y="749808"/>
            <a:ext cx="8412480" cy="3749040"/>
          </a:xfrm>
          <a:prstGeom prst="roundRect">
            <a:avLst>
              <a:gd name="adj" fmla="val 3659"/>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84124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097280"/>
            <a:ext cx="8046720" cy="3310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website has the same information as a book, does the delivery change whether you trust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 print source easier to verify than an electronic one — or is it always easier?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Florida Memory website posts scanned photos from the State Archives. Is the digital scan print or electronic? Does it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can't answer all three questions (who, when, where) for a source, what should an honest historian say?</a:t>
            </a:r>
            <a:endParaRPr lang="en-US" sz="1100" dirty="0"/>
          </a:p>
        </p:txBody>
      </p:sp>
      <p:sp>
        <p:nvSpPr>
          <p:cNvPr id="8" name="Text 6"/>
          <p:cNvSpPr/>
          <p:nvPr/>
        </p:nvSpPr>
        <p:spPr>
          <a:xfrm>
            <a:off x="365760" y="4617720"/>
            <a:ext cx="8412480" cy="29260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Push toward: the three-question check applies to both. The delivery doesn't change the standard.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D4943A"/>
          </a:solidFill>
          <a:ln/>
        </p:spPr>
      </p:sp>
      <p:sp>
        <p:nvSpPr>
          <p:cNvPr id="4" name="Text 2"/>
          <p:cNvSpPr/>
          <p:nvPr/>
        </p:nvSpPr>
        <p:spPr>
          <a:xfrm>
            <a:off x="457200" y="164592"/>
            <a:ext cx="2743200" cy="274320"/>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REVEAL 2</a:t>
            </a:r>
            <a:endParaRPr lang="en-US" sz="1000" dirty="0"/>
          </a:p>
        </p:txBody>
      </p:sp>
      <p:sp>
        <p:nvSpPr>
          <p:cNvPr id="5" name="Shape 3"/>
          <p:cNvSpPr/>
          <p:nvPr/>
        </p:nvSpPr>
        <p:spPr>
          <a:xfrm>
            <a:off x="457200" y="502920"/>
            <a:ext cx="8229600" cy="1005840"/>
          </a:xfrm>
          <a:prstGeom prst="roundRect">
            <a:avLst>
              <a:gd name="adj" fmla="val 12727"/>
            </a:avLst>
          </a:prstGeom>
          <a:solidFill>
            <a:srgbClr val="1A2D5A"/>
          </a:solidFill>
          <a:ln w="25400">
            <a:solidFill>
              <a:srgbClr val="D4943A"/>
            </a:solidFill>
            <a:prstDash val="solid"/>
          </a:ln>
        </p:spPr>
      </p:sp>
      <p:sp>
        <p:nvSpPr>
          <p:cNvPr id="6" name="Text 4"/>
          <p:cNvSpPr/>
          <p:nvPr/>
        </p:nvSpPr>
        <p:spPr>
          <a:xfrm>
            <a:off x="640080" y="594360"/>
            <a:ext cx="4572000" cy="292608"/>
          </a:xfrm>
          <a:prstGeom prst="rect">
            <a:avLst/>
          </a:prstGeom>
          <a:noFill/>
          <a:ln/>
        </p:spPr>
        <p:txBody>
          <a:bodyPr wrap="square" lIns="0" tIns="0" rIns="0" bIns="0" rtlCol="0" anchor="ctr"/>
          <a:lstStyle/>
          <a:p>
            <a:pPr indent="0" marL="0">
              <a:buNone/>
            </a:pPr>
            <a:r>
              <a:rPr lang="en-US" sz="1200" b="1" spc="150" kern="0" dirty="0">
                <a:solidFill>
                  <a:srgbClr val="D4943A"/>
                </a:solidFill>
                <a:latin typeface="Calibri" pitchFamily="34" charset="0"/>
                <a:ea typeface="Calibri" pitchFamily="34" charset="-122"/>
                <a:cs typeface="Calibri" pitchFamily="34" charset="-120"/>
              </a:rPr>
              <a:t>ELECTRONIC SOURCES</a:t>
            </a:r>
            <a:endParaRPr lang="en-US" sz="1200" dirty="0"/>
          </a:p>
        </p:txBody>
      </p:sp>
      <p:sp>
        <p:nvSpPr>
          <p:cNvPr id="7" name="Text 5"/>
          <p:cNvSpPr/>
          <p:nvPr/>
        </p:nvSpPr>
        <p:spPr>
          <a:xfrm>
            <a:off x="640080" y="896112"/>
            <a:ext cx="7863840" cy="502920"/>
          </a:xfrm>
          <a:prstGeom prst="rect">
            <a:avLst/>
          </a:prstGeom>
          <a:noFill/>
          <a:ln/>
        </p:spPr>
        <p:txBody>
          <a:bodyPr wrap="square" lIns="0" tIns="0" rIns="0" bIns="0" rtlCol="0" anchor="ctr"/>
          <a:lstStyle/>
          <a:p>
            <a:pPr indent="0" marL="0">
              <a:buNone/>
            </a:pPr>
            <a:r>
              <a:rPr lang="en-US" sz="1500" dirty="0">
                <a:solidFill>
                  <a:srgbClr val="FFFFFF"/>
                </a:solidFill>
                <a:latin typeface="Cambria" pitchFamily="34" charset="0"/>
                <a:ea typeface="Cambria" pitchFamily="34" charset="-122"/>
                <a:cs typeface="Cambria" pitchFamily="34" charset="-120"/>
              </a:rPr>
              <a:t>Anything that lives on a screen — websites, videos, databases, podcasts, digital maps.</a:t>
            </a:r>
            <a:endParaRPr lang="en-US" sz="1500" dirty="0"/>
          </a:p>
        </p:txBody>
      </p:sp>
      <p:sp>
        <p:nvSpPr>
          <p:cNvPr id="8" name="Shape 6"/>
          <p:cNvSpPr/>
          <p:nvPr/>
        </p:nvSpPr>
        <p:spPr>
          <a:xfrm>
            <a:off x="457200" y="1627632"/>
            <a:ext cx="8229600" cy="1188720"/>
          </a:xfrm>
          <a:prstGeom prst="roundRect">
            <a:avLst>
              <a:gd name="adj" fmla="val 10769"/>
            </a:avLst>
          </a:prstGeom>
          <a:solidFill>
            <a:srgbClr val="1A2D5A"/>
          </a:solidFill>
          <a:ln w="19050">
            <a:solidFill>
              <a:srgbClr val="55C8E8"/>
            </a:solidFill>
            <a:prstDash val="solid"/>
          </a:ln>
        </p:spPr>
      </p:sp>
      <p:sp>
        <p:nvSpPr>
          <p:cNvPr id="9" name="Text 7"/>
          <p:cNvSpPr/>
          <p:nvPr/>
        </p:nvSpPr>
        <p:spPr>
          <a:xfrm>
            <a:off x="640080" y="171907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TRANSFERABLE PATTERN</a:t>
            </a:r>
            <a:endParaRPr lang="en-US" sz="900" dirty="0"/>
          </a:p>
        </p:txBody>
      </p:sp>
      <p:sp>
        <p:nvSpPr>
          <p:cNvPr id="10" name="Text 8"/>
          <p:cNvSpPr/>
          <p:nvPr/>
        </p:nvSpPr>
        <p:spPr>
          <a:xfrm>
            <a:off x="640080" y="1993392"/>
            <a:ext cx="7863840" cy="73152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Every source — print or electronic — gets the same three-question check: Who made it? When? Where is it from? If you can't answer all three, say so and keep looking.</a:t>
            </a:r>
            <a:endParaRPr lang="en-US" sz="1400" dirty="0"/>
          </a:p>
        </p:txBody>
      </p:sp>
      <p:sp>
        <p:nvSpPr>
          <p:cNvPr id="11" name="Shape 9"/>
          <p:cNvSpPr/>
          <p:nvPr/>
        </p:nvSpPr>
        <p:spPr>
          <a:xfrm>
            <a:off x="457200" y="2926080"/>
            <a:ext cx="4069080" cy="1874520"/>
          </a:xfrm>
          <a:prstGeom prst="roundRect">
            <a:avLst>
              <a:gd name="adj" fmla="val 5854"/>
            </a:avLst>
          </a:prstGeom>
          <a:solidFill>
            <a:srgbClr val="1A2D5A"/>
          </a:solidFill>
          <a:ln w="19050">
            <a:solidFill>
              <a:srgbClr val="1A8A7D"/>
            </a:solidFill>
            <a:prstDash val="solid"/>
          </a:ln>
        </p:spPr>
      </p:sp>
      <p:sp>
        <p:nvSpPr>
          <p:cNvPr id="12" name="Text 10"/>
          <p:cNvSpPr/>
          <p:nvPr/>
        </p:nvSpPr>
        <p:spPr>
          <a:xfrm>
            <a:off x="594360" y="2999232"/>
            <a:ext cx="3749040" cy="256032"/>
          </a:xfrm>
          <a:prstGeom prst="rect">
            <a:avLst/>
          </a:prstGeom>
          <a:noFill/>
          <a:ln/>
        </p:spPr>
        <p:txBody>
          <a:bodyPr wrap="square" lIns="0" tIns="0" rIns="0" bIns="0" rtlCol="0" anchor="ctr"/>
          <a:lstStyle/>
          <a:p>
            <a:pPr indent="0" marL="0">
              <a:buNone/>
            </a:pPr>
            <a:r>
              <a:rPr lang="en-US" sz="1000" b="1" spc="120" kern="0" dirty="0">
                <a:solidFill>
                  <a:srgbClr val="1A8A7D"/>
                </a:solidFill>
                <a:latin typeface="Calibri" pitchFamily="34" charset="0"/>
                <a:ea typeface="Calibri" pitchFamily="34" charset="-122"/>
                <a:cs typeface="Calibri" pitchFamily="34" charset="-120"/>
              </a:rPr>
              <a:t>PRINT</a:t>
            </a:r>
            <a:endParaRPr lang="en-US" sz="1000" dirty="0"/>
          </a:p>
        </p:txBody>
      </p:sp>
      <p:sp>
        <p:nvSpPr>
          <p:cNvPr id="13" name="Text 11"/>
          <p:cNvSpPr/>
          <p:nvPr/>
        </p:nvSpPr>
        <p:spPr>
          <a:xfrm>
            <a:off x="594360" y="3291840"/>
            <a:ext cx="3749040" cy="4389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Hold in your hands</a:t>
            </a:r>
            <a:endParaRPr lang="en-US" sz="1100" dirty="0"/>
          </a:p>
        </p:txBody>
      </p:sp>
      <p:sp>
        <p:nvSpPr>
          <p:cNvPr id="14" name="Text 12"/>
          <p:cNvSpPr/>
          <p:nvPr/>
        </p:nvSpPr>
        <p:spPr>
          <a:xfrm>
            <a:off x="594360" y="3767328"/>
            <a:ext cx="3749040" cy="4389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Author/date on title page or masthead</a:t>
            </a:r>
            <a:endParaRPr lang="en-US" sz="1100" dirty="0"/>
          </a:p>
        </p:txBody>
      </p:sp>
      <p:sp>
        <p:nvSpPr>
          <p:cNvPr id="15" name="Text 13"/>
          <p:cNvSpPr/>
          <p:nvPr/>
        </p:nvSpPr>
        <p:spPr>
          <a:xfrm>
            <a:off x="594360" y="4242816"/>
            <a:ext cx="3749040" cy="4389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Newspaper, book, printed photo, paper map</a:t>
            </a:r>
            <a:endParaRPr lang="en-US" sz="1100" dirty="0"/>
          </a:p>
        </p:txBody>
      </p:sp>
      <p:sp>
        <p:nvSpPr>
          <p:cNvPr id="16" name="Shape 14"/>
          <p:cNvSpPr/>
          <p:nvPr/>
        </p:nvSpPr>
        <p:spPr>
          <a:xfrm>
            <a:off x="4800600" y="2926080"/>
            <a:ext cx="4069080" cy="1874520"/>
          </a:xfrm>
          <a:prstGeom prst="roundRect">
            <a:avLst>
              <a:gd name="adj" fmla="val 5854"/>
            </a:avLst>
          </a:prstGeom>
          <a:solidFill>
            <a:srgbClr val="1A2D5A"/>
          </a:solidFill>
          <a:ln w="19050">
            <a:solidFill>
              <a:srgbClr val="D4943A"/>
            </a:solidFill>
            <a:prstDash val="solid"/>
          </a:ln>
        </p:spPr>
      </p:sp>
      <p:sp>
        <p:nvSpPr>
          <p:cNvPr id="17" name="Text 15"/>
          <p:cNvSpPr/>
          <p:nvPr/>
        </p:nvSpPr>
        <p:spPr>
          <a:xfrm>
            <a:off x="4937760" y="2999232"/>
            <a:ext cx="3749040" cy="256032"/>
          </a:xfrm>
          <a:prstGeom prst="rect">
            <a:avLst/>
          </a:prstGeom>
          <a:noFill/>
          <a:ln/>
        </p:spPr>
        <p:txBody>
          <a:bodyPr wrap="square" lIns="0" tIns="0" rIns="0" bIns="0" rtlCol="0" anchor="ctr"/>
          <a:lstStyle/>
          <a:p>
            <a:pPr indent="0" marL="0">
              <a:buNone/>
            </a:pPr>
            <a:r>
              <a:rPr lang="en-US" sz="1000" b="1" spc="120" kern="0" dirty="0">
                <a:solidFill>
                  <a:srgbClr val="D4943A"/>
                </a:solidFill>
                <a:latin typeface="Calibri" pitchFamily="34" charset="0"/>
                <a:ea typeface="Calibri" pitchFamily="34" charset="-122"/>
                <a:cs typeface="Calibri" pitchFamily="34" charset="-120"/>
              </a:rPr>
              <a:t>ELECTRONIC</a:t>
            </a:r>
            <a:endParaRPr lang="en-US" sz="1000" dirty="0"/>
          </a:p>
        </p:txBody>
      </p:sp>
      <p:sp>
        <p:nvSpPr>
          <p:cNvPr id="18" name="Text 16"/>
          <p:cNvSpPr/>
          <p:nvPr/>
        </p:nvSpPr>
        <p:spPr>
          <a:xfrm>
            <a:off x="4937760" y="3291840"/>
            <a:ext cx="3749040" cy="4389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Lives on a screen</a:t>
            </a:r>
            <a:endParaRPr lang="en-US" sz="1100" dirty="0"/>
          </a:p>
        </p:txBody>
      </p:sp>
      <p:sp>
        <p:nvSpPr>
          <p:cNvPr id="19" name="Text 17"/>
          <p:cNvSpPr/>
          <p:nvPr/>
        </p:nvSpPr>
        <p:spPr>
          <a:xfrm>
            <a:off x="4937760" y="3767328"/>
            <a:ext cx="3749040" cy="4389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Author/date may require digging</a:t>
            </a:r>
            <a:endParaRPr lang="en-US" sz="1100" dirty="0"/>
          </a:p>
        </p:txBody>
      </p:sp>
      <p:sp>
        <p:nvSpPr>
          <p:cNvPr id="20" name="Text 18"/>
          <p:cNvSpPr/>
          <p:nvPr/>
        </p:nvSpPr>
        <p:spPr>
          <a:xfrm>
            <a:off x="4937760" y="4242816"/>
            <a:ext cx="3749040" cy="43891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 Website, video, podcast, digital map, database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64008"/>
          </a:xfrm>
          <a:prstGeom prst="rect">
            <a:avLst/>
          </a:prstGeom>
          <a:solidFill>
            <a:srgbClr val="D4943A"/>
          </a:solidFill>
          <a:ln/>
        </p:spPr>
      </p:sp>
      <p:sp>
        <p:nvSpPr>
          <p:cNvPr id="4" name="Text 2"/>
          <p:cNvSpPr/>
          <p:nvPr/>
        </p:nvSpPr>
        <p:spPr>
          <a:xfrm>
            <a:off x="457200" y="182880"/>
            <a:ext cx="8229600" cy="292608"/>
          </a:xfrm>
          <a:prstGeom prst="rect">
            <a:avLst/>
          </a:prstGeom>
          <a:noFill/>
          <a:ln/>
        </p:spPr>
        <p:txBody>
          <a:bodyPr wrap="square" lIns="0" tIns="0" rIns="0" bIns="0"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5" name="Text 3"/>
          <p:cNvSpPr/>
          <p:nvPr/>
        </p:nvSpPr>
        <p:spPr>
          <a:xfrm>
            <a:off x="457200" y="548640"/>
            <a:ext cx="8229600" cy="658368"/>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Honesty</a:t>
            </a:r>
            <a:endParaRPr lang="en-US" sz="5000" dirty="0"/>
          </a:p>
        </p:txBody>
      </p:sp>
      <p:sp>
        <p:nvSpPr>
          <p:cNvPr id="6" name="Shape 4"/>
          <p:cNvSpPr/>
          <p:nvPr/>
        </p:nvSpPr>
        <p:spPr>
          <a:xfrm>
            <a:off x="457200" y="1261872"/>
            <a:ext cx="2743200" cy="45720"/>
          </a:xfrm>
          <a:prstGeom prst="rect">
            <a:avLst/>
          </a:prstGeom>
          <a:solidFill>
            <a:srgbClr val="D4943A"/>
          </a:solidFill>
          <a:ln/>
        </p:spPr>
      </p:sp>
      <p:sp>
        <p:nvSpPr>
          <p:cNvPr id="7" name="Text 5"/>
          <p:cNvSpPr/>
          <p:nvPr/>
        </p:nvSpPr>
        <p:spPr>
          <a:xfrm>
            <a:off x="457200" y="1417320"/>
            <a:ext cx="8229600" cy="100584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Print sources have a publisher, an author, and a date printed right on them. Electronic sources also have those things — but sometimes you have to dig to find them, and sometimes they're missing.</a:t>
            </a:r>
            <a:endParaRPr lang="en-US" sz="1600" dirty="0"/>
          </a:p>
        </p:txBody>
      </p:sp>
      <p:sp>
        <p:nvSpPr>
          <p:cNvPr id="8" name="Text 6"/>
          <p:cNvSpPr/>
          <p:nvPr/>
        </p:nvSpPr>
        <p:spPr>
          <a:xfrm>
            <a:off x="457200" y="2514600"/>
            <a:ext cx="8229600" cy="1143000"/>
          </a:xfrm>
          <a:prstGeom prst="rect">
            <a:avLst/>
          </a:prstGeom>
          <a:noFill/>
          <a:ln/>
        </p:spPr>
        <p:txBody>
          <a:bodyPr wrap="square" lIns="0" tIns="0" rIns="0" bIns="0" rtlCol="0" anchor="t"/>
          <a:lstStyle/>
          <a:p>
            <a:pPr indent="0" marL="0">
              <a:buNone/>
            </a:pPr>
            <a:r>
              <a:rPr lang="en-US" sz="1500" dirty="0">
                <a:solidFill>
                  <a:srgbClr val="D4943A"/>
                </a:solidFill>
                <a:latin typeface="Cambria" pitchFamily="34" charset="0"/>
                <a:ea typeface="Cambria" pitchFamily="34" charset="-122"/>
                <a:cs typeface="Cambria" pitchFamily="34" charset="-120"/>
              </a:rPr>
              <a:t>An honest Florida historian doesn't just trust a source because it looks fancy or seems official. We ask: who made it, when, and where is it from? If we can't answer those three, we say so.</a:t>
            </a:r>
            <a:endParaRPr lang="en-US" sz="1500" dirty="0"/>
          </a:p>
        </p:txBody>
      </p:sp>
      <p:sp>
        <p:nvSpPr>
          <p:cNvPr id="9" name="Shape 7"/>
          <p:cNvSpPr/>
          <p:nvPr/>
        </p:nvSpPr>
        <p:spPr>
          <a:xfrm>
            <a:off x="457200" y="3767328"/>
            <a:ext cx="8229600" cy="804672"/>
          </a:xfrm>
          <a:prstGeom prst="roundRect">
            <a:avLst>
              <a:gd name="adj" fmla="val 13636"/>
            </a:avLst>
          </a:prstGeom>
          <a:solidFill>
            <a:srgbClr val="1A2D5A"/>
          </a:solidFill>
          <a:ln w="19050">
            <a:solidFill>
              <a:srgbClr val="D4943A"/>
            </a:solidFill>
            <a:prstDash val="solid"/>
          </a:ln>
        </p:spPr>
      </p:sp>
      <p:sp>
        <p:nvSpPr>
          <p:cNvPr id="10" name="Text 8"/>
          <p:cNvSpPr/>
          <p:nvPr/>
        </p:nvSpPr>
        <p:spPr>
          <a:xfrm>
            <a:off x="594360" y="3794760"/>
            <a:ext cx="7955280" cy="749808"/>
          </a:xfrm>
          <a:prstGeom prst="rect">
            <a:avLst/>
          </a:prstGeom>
          <a:noFill/>
          <a:ln/>
        </p:spPr>
        <p:txBody>
          <a:bodyPr wrap="square" lIns="0" tIns="0" rIns="0" bIns="0"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Discuss: Have you ever read something online and trusted it without checking who wrote it or when? What would honesty look like in that moment?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GUIDED PRACTICE — TEACHER MODELS</a:t>
            </a:r>
            <a:endParaRPr lang="en-US" sz="1500" dirty="0"/>
          </a:p>
        </p:txBody>
      </p:sp>
      <p:sp>
        <p:nvSpPr>
          <p:cNvPr id="5" name="Shape 3"/>
          <p:cNvSpPr/>
          <p:nvPr/>
        </p:nvSpPr>
        <p:spPr>
          <a:xfrm>
            <a:off x="365760" y="713232"/>
            <a:ext cx="8412480" cy="2103120"/>
          </a:xfrm>
          <a:prstGeom prst="roundRect">
            <a:avLst>
              <a:gd name="adj" fmla="val 6087"/>
            </a:avLst>
          </a:prstGeom>
          <a:solidFill>
            <a:srgbClr val="FFFFFF"/>
          </a:solidFill>
          <a:ln w="12700">
            <a:solidFill>
              <a:srgbClr val="B0B8CC"/>
            </a:solidFill>
            <a:prstDash val="solid"/>
          </a:ln>
        </p:spPr>
      </p:sp>
      <p:sp>
        <p:nvSpPr>
          <p:cNvPr id="6" name="Text 4"/>
          <p:cNvSpPr/>
          <p:nvPr/>
        </p:nvSpPr>
        <p:spPr>
          <a:xfrm>
            <a:off x="548640" y="822960"/>
            <a:ext cx="3657600" cy="274320"/>
          </a:xfrm>
          <a:prstGeom prst="rect">
            <a:avLst/>
          </a:prstGeom>
          <a:noFill/>
          <a:ln/>
        </p:spPr>
        <p:txBody>
          <a:bodyPr wrap="square" lIns="0" tIns="0" rIns="0" bIns="0"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Teacher Think-Aloud</a:t>
            </a:r>
            <a:endParaRPr lang="en-US" sz="1100" dirty="0"/>
          </a:p>
        </p:txBody>
      </p:sp>
      <p:sp>
        <p:nvSpPr>
          <p:cNvPr id="7" name="Text 5"/>
          <p:cNvSpPr/>
          <p:nvPr/>
        </p:nvSpPr>
        <p:spPr>
          <a:xfrm>
            <a:off x="548640" y="1133856"/>
            <a:ext cx="8046720" cy="1572768"/>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"I'm looking at the Florida Memory website. Let me run the three-question check out loud. Who made it? The State Archives of Florida — I can see that in the footer. When? The scanned photos have original dates, and the website was updated in 2022. Where is it from? A government archive — that's a strong origin. All three questions answered. This is a trustworthy electronic source."</a:t>
            </a:r>
            <a:endParaRPr lang="en-US" sz="1400" dirty="0"/>
          </a:p>
        </p:txBody>
      </p:sp>
      <p:sp>
        <p:nvSpPr>
          <p:cNvPr id="8" name="Shape 6"/>
          <p:cNvSpPr/>
          <p:nvPr/>
        </p:nvSpPr>
        <p:spPr>
          <a:xfrm>
            <a:off x="365760" y="2926080"/>
            <a:ext cx="8412480" cy="1005840"/>
          </a:xfrm>
          <a:prstGeom prst="roundRect">
            <a:avLst>
              <a:gd name="adj" fmla="val 12727"/>
            </a:avLst>
          </a:prstGeom>
          <a:solidFill>
            <a:srgbClr val="1A2D5A"/>
          </a:solidFill>
          <a:ln w="19050">
            <a:solidFill>
              <a:srgbClr val="55C8E8"/>
            </a:solidFill>
            <a:prstDash val="solid"/>
          </a:ln>
        </p:spPr>
      </p:sp>
      <p:sp>
        <p:nvSpPr>
          <p:cNvPr id="9" name="Text 7"/>
          <p:cNvSpPr/>
          <p:nvPr/>
        </p:nvSpPr>
        <p:spPr>
          <a:xfrm>
            <a:off x="548640" y="3017520"/>
            <a:ext cx="3657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NOTICE THE MOVE</a:t>
            </a:r>
            <a:endParaRPr lang="en-US" sz="900" dirty="0"/>
          </a:p>
        </p:txBody>
      </p:sp>
      <p:sp>
        <p:nvSpPr>
          <p:cNvPr id="10" name="Text 8"/>
          <p:cNvSpPr/>
          <p:nvPr/>
        </p:nvSpPr>
        <p:spPr>
          <a:xfrm>
            <a:off x="548640" y="3291840"/>
            <a:ext cx="8046720" cy="5486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1) Name the source type (print/electronic).  2) WHO made it?  3) WHEN?  4) WHERE is it from?  5) State your confidence level.</a:t>
            </a:r>
            <a:endParaRPr lang="en-US" sz="1300" dirty="0"/>
          </a:p>
        </p:txBody>
      </p:sp>
      <p:sp>
        <p:nvSpPr>
          <p:cNvPr id="11" name="Text 9"/>
          <p:cNvSpPr/>
          <p:nvPr/>
        </p:nvSpPr>
        <p:spPr>
          <a:xfrm>
            <a:off x="365760" y="4069080"/>
            <a:ext cx="841248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Think aloud slowly — students need to see the check run in real time.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GUIDED PRACTICE — INVESTIGATE + DEFEND</a:t>
            </a:r>
            <a:endParaRPr lang="en-US" sz="1500" dirty="0"/>
          </a:p>
        </p:txBody>
      </p:sp>
      <p:sp>
        <p:nvSpPr>
          <p:cNvPr id="5" name="Shape 3"/>
          <p:cNvSpPr/>
          <p:nvPr/>
        </p:nvSpPr>
        <p:spPr>
          <a:xfrm>
            <a:off x="365760" y="731520"/>
            <a:ext cx="8412480" cy="1170432"/>
          </a:xfrm>
          <a:prstGeom prst="roundRect">
            <a:avLst>
              <a:gd name="adj" fmla="val 9375"/>
            </a:avLst>
          </a:prstGeom>
          <a:solidFill>
            <a:srgbClr val="FFFFFF"/>
          </a:solidFill>
          <a:ln w="12700">
            <a:solidFill>
              <a:srgbClr val="B0B8CC"/>
            </a:solidFill>
            <a:prstDash val="solid"/>
          </a:ln>
        </p:spPr>
      </p:sp>
      <p:sp>
        <p:nvSpPr>
          <p:cNvPr id="6" name="Text 4"/>
          <p:cNvSpPr/>
          <p:nvPr/>
        </p:nvSpPr>
        <p:spPr>
          <a:xfrm>
            <a:off x="548640" y="804672"/>
            <a:ext cx="182880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Source A</a:t>
            </a:r>
            <a:endParaRPr lang="en-US" sz="1000" dirty="0"/>
          </a:p>
        </p:txBody>
      </p:sp>
      <p:sp>
        <p:nvSpPr>
          <p:cNvPr id="7" name="Text 5"/>
          <p:cNvSpPr/>
          <p:nvPr/>
        </p:nvSpPr>
        <p:spPr>
          <a:xfrm>
            <a:off x="548640" y="1078992"/>
            <a:ext cx="8046720" cy="4114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1920 newspaper from Jacksonville, held at the State Archives. Title, date, and publisher printed on page 1.</a:t>
            </a:r>
            <a:endParaRPr lang="en-US" sz="1300" dirty="0"/>
          </a:p>
        </p:txBody>
      </p:sp>
      <p:sp>
        <p:nvSpPr>
          <p:cNvPr id="8" name="Text 6"/>
          <p:cNvSpPr/>
          <p:nvPr/>
        </p:nvSpPr>
        <p:spPr>
          <a:xfrm>
            <a:off x="548640" y="1490472"/>
            <a:ext cx="804672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Print or electronic? Run the three-question check out loud.</a:t>
            </a:r>
            <a:endParaRPr lang="en-US" sz="1100" dirty="0"/>
          </a:p>
        </p:txBody>
      </p:sp>
      <p:sp>
        <p:nvSpPr>
          <p:cNvPr id="9" name="Shape 7"/>
          <p:cNvSpPr/>
          <p:nvPr/>
        </p:nvSpPr>
        <p:spPr>
          <a:xfrm>
            <a:off x="365760" y="2011680"/>
            <a:ext cx="8412480" cy="1170432"/>
          </a:xfrm>
          <a:prstGeom prst="roundRect">
            <a:avLst>
              <a:gd name="adj" fmla="val 9375"/>
            </a:avLst>
          </a:prstGeom>
          <a:solidFill>
            <a:srgbClr val="FFFFFF"/>
          </a:solidFill>
          <a:ln w="12700">
            <a:solidFill>
              <a:srgbClr val="B0B8CC"/>
            </a:solidFill>
            <a:prstDash val="solid"/>
          </a:ln>
        </p:spPr>
      </p:sp>
      <p:sp>
        <p:nvSpPr>
          <p:cNvPr id="10" name="Text 8"/>
          <p:cNvSpPr/>
          <p:nvPr/>
        </p:nvSpPr>
        <p:spPr>
          <a:xfrm>
            <a:off x="548640" y="2084832"/>
            <a:ext cx="182880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Source B</a:t>
            </a:r>
            <a:endParaRPr lang="en-US" sz="1000" dirty="0"/>
          </a:p>
        </p:txBody>
      </p:sp>
      <p:sp>
        <p:nvSpPr>
          <p:cNvPr id="11" name="Text 9"/>
          <p:cNvSpPr/>
          <p:nvPr/>
        </p:nvSpPr>
        <p:spPr>
          <a:xfrm>
            <a:off x="548640" y="2359152"/>
            <a:ext cx="8046720" cy="4114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A YouTube video titled 'Florida History — Seminole Wars explained,' uploaded by a channel with no school or organization listed.</a:t>
            </a:r>
            <a:endParaRPr lang="en-US" sz="1300" dirty="0"/>
          </a:p>
        </p:txBody>
      </p:sp>
      <p:sp>
        <p:nvSpPr>
          <p:cNvPr id="12" name="Text 10"/>
          <p:cNvSpPr/>
          <p:nvPr/>
        </p:nvSpPr>
        <p:spPr>
          <a:xfrm>
            <a:off x="548640" y="2770632"/>
            <a:ext cx="804672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Print or electronic? Can you pass the three-question check? Defend your answer.</a:t>
            </a:r>
            <a:endParaRPr lang="en-US" sz="1100" dirty="0"/>
          </a:p>
        </p:txBody>
      </p:sp>
      <p:sp>
        <p:nvSpPr>
          <p:cNvPr id="13" name="Shape 11"/>
          <p:cNvSpPr/>
          <p:nvPr/>
        </p:nvSpPr>
        <p:spPr>
          <a:xfrm>
            <a:off x="365760" y="3291840"/>
            <a:ext cx="8412480" cy="1170432"/>
          </a:xfrm>
          <a:prstGeom prst="roundRect">
            <a:avLst>
              <a:gd name="adj" fmla="val 9375"/>
            </a:avLst>
          </a:prstGeom>
          <a:solidFill>
            <a:srgbClr val="FFFFFF"/>
          </a:solidFill>
          <a:ln w="12700">
            <a:solidFill>
              <a:srgbClr val="B0B8CC"/>
            </a:solidFill>
            <a:prstDash val="solid"/>
          </a:ln>
        </p:spPr>
      </p:sp>
      <p:sp>
        <p:nvSpPr>
          <p:cNvPr id="14" name="Text 12"/>
          <p:cNvSpPr/>
          <p:nvPr/>
        </p:nvSpPr>
        <p:spPr>
          <a:xfrm>
            <a:off x="548640" y="3364992"/>
            <a:ext cx="1828800" cy="256032"/>
          </a:xfrm>
          <a:prstGeom prst="rect">
            <a:avLst/>
          </a:prstGeom>
          <a:noFill/>
          <a:ln/>
        </p:spPr>
        <p:txBody>
          <a:bodyPr wrap="square" lIns="0" tIns="0" rIns="0" bIns="0"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Source C</a:t>
            </a:r>
            <a:endParaRPr lang="en-US" sz="1000" dirty="0"/>
          </a:p>
        </p:txBody>
      </p:sp>
      <p:sp>
        <p:nvSpPr>
          <p:cNvPr id="15" name="Text 13"/>
          <p:cNvSpPr/>
          <p:nvPr/>
        </p:nvSpPr>
        <p:spPr>
          <a:xfrm>
            <a:off x="548640" y="3639312"/>
            <a:ext cx="8046720" cy="41148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The National Park Service website page about Castillo de San Marcos — includes author, agency, and last-updated date.</a:t>
            </a:r>
            <a:endParaRPr lang="en-US" sz="1300" dirty="0"/>
          </a:p>
        </p:txBody>
      </p:sp>
      <p:sp>
        <p:nvSpPr>
          <p:cNvPr id="16" name="Text 14"/>
          <p:cNvSpPr/>
          <p:nvPr/>
        </p:nvSpPr>
        <p:spPr>
          <a:xfrm>
            <a:off x="548640" y="4050792"/>
            <a:ext cx="8046720" cy="32004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Print or electronic? Run the check. Is this trustworthy? Why?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55C8E8"/>
                </a:solidFill>
                <a:latin typeface="Calibri" pitchFamily="34" charset="0"/>
                <a:ea typeface="Calibri" pitchFamily="34" charset="-122"/>
                <a:cs typeface="Calibri" pitchFamily="34" charset="-120"/>
              </a:rPr>
              <a:t>GUIDED PRACTICE — CRITIQUE: WEAK VS. STRONG</a:t>
            </a:r>
            <a:endParaRPr lang="en-US" sz="1500" dirty="0"/>
          </a:p>
        </p:txBody>
      </p:sp>
      <p:sp>
        <p:nvSpPr>
          <p:cNvPr id="5" name="Shape 3"/>
          <p:cNvSpPr/>
          <p:nvPr/>
        </p:nvSpPr>
        <p:spPr>
          <a:xfrm>
            <a:off x="365760" y="713232"/>
            <a:ext cx="4114800" cy="3246120"/>
          </a:xfrm>
          <a:prstGeom prst="roundRect">
            <a:avLst>
              <a:gd name="adj" fmla="val 3944"/>
            </a:avLst>
          </a:prstGeom>
          <a:solidFill>
            <a:srgbClr val="FFFFFF"/>
          </a:solidFill>
          <a:ln w="25400">
            <a:solidFill>
              <a:srgbClr val="E8636B"/>
            </a:solidFill>
            <a:prstDash val="solid"/>
          </a:ln>
        </p:spPr>
      </p:sp>
      <p:sp>
        <p:nvSpPr>
          <p:cNvPr id="6" name="Shape 4"/>
          <p:cNvSpPr/>
          <p:nvPr/>
        </p:nvSpPr>
        <p:spPr>
          <a:xfrm>
            <a:off x="365760" y="713232"/>
            <a:ext cx="4114800" cy="384048"/>
          </a:xfrm>
          <a:prstGeom prst="roundRect">
            <a:avLst>
              <a:gd name="adj" fmla="val 33333"/>
            </a:avLst>
          </a:prstGeom>
          <a:solidFill>
            <a:srgbClr val="E8636B"/>
          </a:solidFill>
          <a:ln/>
        </p:spPr>
      </p:sp>
      <p:sp>
        <p:nvSpPr>
          <p:cNvPr id="7" name="Text 5"/>
          <p:cNvSpPr/>
          <p:nvPr/>
        </p:nvSpPr>
        <p:spPr>
          <a:xfrm>
            <a:off x="365760" y="713232"/>
            <a:ext cx="4114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WEAK RESPONSE</a:t>
            </a:r>
            <a:endParaRPr lang="en-US" sz="1100" dirty="0"/>
          </a:p>
        </p:txBody>
      </p:sp>
      <p:sp>
        <p:nvSpPr>
          <p:cNvPr id="8" name="Text 6"/>
          <p:cNvSpPr/>
          <p:nvPr/>
        </p:nvSpPr>
        <p:spPr>
          <a:xfrm>
            <a:off x="502920" y="1170432"/>
            <a:ext cx="3840480" cy="91440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"I trust the website because it looks official and has a lot of information about Florida."</a:t>
            </a:r>
            <a:endParaRPr lang="en-US" sz="1300" dirty="0"/>
          </a:p>
        </p:txBody>
      </p:sp>
      <p:sp>
        <p:nvSpPr>
          <p:cNvPr id="9" name="Text 7"/>
          <p:cNvSpPr/>
          <p:nvPr/>
        </p:nvSpPr>
        <p:spPr>
          <a:xfrm>
            <a:off x="502920" y="2148840"/>
            <a:ext cx="3840480" cy="1691640"/>
          </a:xfrm>
          <a:prstGeom prst="rect">
            <a:avLst/>
          </a:prstGeom>
          <a:noFill/>
          <a:ln/>
        </p:spPr>
        <p:txBody>
          <a:bodyPr wrap="square" lIns="0" tIns="0" rIns="0" bIns="0" rtlCol="0" anchor="t"/>
          <a:lstStyle/>
          <a:p>
            <a:pPr indent="0" marL="0">
              <a:buNone/>
            </a:pPr>
            <a:r>
              <a:rPr lang="en-US" sz="1200" dirty="0">
                <a:solidFill>
                  <a:srgbClr val="7A88A8"/>
                </a:solidFill>
                <a:latin typeface="Calibri" pitchFamily="34" charset="0"/>
                <a:ea typeface="Calibri" pitchFamily="34" charset="-122"/>
                <a:cs typeface="Calibri" pitchFamily="34" charset="-120"/>
              </a:rPr>
              <a:t>What is missing?</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'Looks official' is not the check</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No answer to WHO made it</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No answer to WHEN</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No answer to WHERE it is from</a:t>
            </a:r>
            <a:endParaRPr lang="en-US" sz="1200" dirty="0"/>
          </a:p>
          <a:p>
            <a:pPr indent="0" marL="0">
              <a:buNone/>
            </a:pPr>
            <a:r>
              <a:rPr lang="en-US" sz="1200" dirty="0">
                <a:solidFill>
                  <a:srgbClr val="7A88A8"/>
                </a:solidFill>
                <a:latin typeface="Calibri" pitchFamily="34" charset="0"/>
                <a:ea typeface="Calibri" pitchFamily="34" charset="-122"/>
                <a:cs typeface="Calibri" pitchFamily="34" charset="-120"/>
              </a:rPr>
              <a:t>• Appearance is not evidence</a:t>
            </a:r>
            <a:endParaRPr lang="en-US" sz="1200" dirty="0"/>
          </a:p>
        </p:txBody>
      </p:sp>
      <p:sp>
        <p:nvSpPr>
          <p:cNvPr id="10" name="Shape 8"/>
          <p:cNvSpPr/>
          <p:nvPr/>
        </p:nvSpPr>
        <p:spPr>
          <a:xfrm>
            <a:off x="4663440" y="713232"/>
            <a:ext cx="4114800" cy="3246120"/>
          </a:xfrm>
          <a:prstGeom prst="roundRect">
            <a:avLst>
              <a:gd name="adj" fmla="val 3944"/>
            </a:avLst>
          </a:prstGeom>
          <a:solidFill>
            <a:srgbClr val="FFFFFF"/>
          </a:solidFill>
          <a:ln w="25400">
            <a:solidFill>
              <a:srgbClr val="34B76F"/>
            </a:solidFill>
            <a:prstDash val="solid"/>
          </a:ln>
        </p:spPr>
      </p:sp>
      <p:sp>
        <p:nvSpPr>
          <p:cNvPr id="11" name="Shape 9"/>
          <p:cNvSpPr/>
          <p:nvPr/>
        </p:nvSpPr>
        <p:spPr>
          <a:xfrm>
            <a:off x="4663440" y="713232"/>
            <a:ext cx="4114800" cy="384048"/>
          </a:xfrm>
          <a:prstGeom prst="roundRect">
            <a:avLst>
              <a:gd name="adj" fmla="val 33333"/>
            </a:avLst>
          </a:prstGeom>
          <a:solidFill>
            <a:srgbClr val="34B76F"/>
          </a:solidFill>
          <a:ln/>
        </p:spPr>
      </p:sp>
      <p:sp>
        <p:nvSpPr>
          <p:cNvPr id="12" name="Text 10"/>
          <p:cNvSpPr/>
          <p:nvPr/>
        </p:nvSpPr>
        <p:spPr>
          <a:xfrm>
            <a:off x="4663440" y="713232"/>
            <a:ext cx="4114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STRONG RESPONSE</a:t>
            </a:r>
            <a:endParaRPr lang="en-US" sz="1100" dirty="0"/>
          </a:p>
        </p:txBody>
      </p:sp>
      <p:sp>
        <p:nvSpPr>
          <p:cNvPr id="13" name="Text 11"/>
          <p:cNvSpPr/>
          <p:nvPr/>
        </p:nvSpPr>
        <p:spPr>
          <a:xfrm>
            <a:off x="4800600" y="1170432"/>
            <a:ext cx="3840480" cy="128016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"This is an electronic source. WHO: the National Park Service — a government agency. WHEN: last updated 2023. WHERE: nps.gov — a .gov site. All three questions answered, so I trust it."</a:t>
            </a:r>
            <a:endParaRPr lang="en-US" sz="1300" dirty="0"/>
          </a:p>
        </p:txBody>
      </p:sp>
      <p:sp>
        <p:nvSpPr>
          <p:cNvPr id="14" name="Text 12"/>
          <p:cNvSpPr/>
          <p:nvPr/>
        </p:nvSpPr>
        <p:spPr>
          <a:xfrm>
            <a:off x="4800600" y="2514600"/>
            <a:ext cx="3840480" cy="1325880"/>
          </a:xfrm>
          <a:prstGeom prst="rect">
            <a:avLst/>
          </a:prstGeom>
          <a:noFill/>
          <a:ln/>
        </p:spPr>
        <p:txBody>
          <a:bodyPr wrap="square" lIns="0" tIns="0" rIns="0" bIns="0" rtlCol="0" anchor="t"/>
          <a:lstStyle/>
          <a:p>
            <a:pPr indent="0" marL="0">
              <a:buNone/>
            </a:pPr>
            <a:r>
              <a:rPr lang="en-US" sz="1200" dirty="0">
                <a:solidFill>
                  <a:srgbClr val="34B76F"/>
                </a:solidFill>
                <a:latin typeface="Calibri" pitchFamily="34" charset="0"/>
                <a:ea typeface="Calibri" pitchFamily="34" charset="-122"/>
                <a:cs typeface="Calibri" pitchFamily="34" charset="-120"/>
              </a:rPr>
              <a:t>What works:</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Names the source type</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Answers all three questions with evidence</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States confidence based on the check</a:t>
            </a:r>
            <a:endParaRPr lang="en-US" sz="1200" dirty="0"/>
          </a:p>
          <a:p>
            <a:pPr indent="0" marL="0">
              <a:buNone/>
            </a:pPr>
            <a:r>
              <a:rPr lang="en-US" sz="1200" dirty="0">
                <a:solidFill>
                  <a:srgbClr val="34B76F"/>
                </a:solidFill>
                <a:latin typeface="Calibri" pitchFamily="34" charset="0"/>
                <a:ea typeface="Calibri" pitchFamily="34" charset="-122"/>
                <a:cs typeface="Calibri" pitchFamily="34" charset="-120"/>
              </a:rPr>
              <a:t>• No 'looks official' reasoning</a:t>
            </a:r>
            <a:endParaRPr lang="en-US" sz="1200" dirty="0"/>
          </a:p>
        </p:txBody>
      </p:sp>
      <p:sp>
        <p:nvSpPr>
          <p:cNvPr id="15" name="Text 13"/>
          <p:cNvSpPr/>
          <p:nvPr/>
        </p:nvSpPr>
        <p:spPr>
          <a:xfrm>
            <a:off x="365760" y="4069080"/>
            <a:ext cx="8412480" cy="384048"/>
          </a:xfrm>
          <a:prstGeom prst="rect">
            <a:avLst/>
          </a:prstGeom>
          <a:noFill/>
          <a:ln/>
        </p:spPr>
        <p:txBody>
          <a:bodyPr wrap="square" lIns="0" tIns="0" rIns="0" bIns="0" rtlCol="0" anchor="ctr"/>
          <a:lstStyle/>
          <a:p>
            <a:pPr indent="0" marL="0">
              <a:buNone/>
            </a:pPr>
            <a:r>
              <a:rPr lang="en-US" sz="1200" b="1" i="1" dirty="0">
                <a:solidFill>
                  <a:srgbClr val="0E1C42"/>
                </a:solidFill>
                <a:latin typeface="Calibri" pitchFamily="34" charset="0"/>
                <a:ea typeface="Calibri" pitchFamily="34" charset="-122"/>
                <a:cs typeface="Calibri" pitchFamily="34" charset="-120"/>
              </a:rPr>
              <a:t>Ask: What ONE change would make the weak response honest?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D4943A"/>
                </a:solidFill>
                <a:latin typeface="Calibri" pitchFamily="34" charset="0"/>
                <a:ea typeface="Calibri" pitchFamily="34" charset="-122"/>
                <a:cs typeface="Calibri" pitchFamily="34" charset="-120"/>
              </a:rPr>
              <a:t>GUIDED PRACTICE — THE TRICKY ONE</a:t>
            </a:r>
            <a:endParaRPr lang="en-US" sz="1500" dirty="0"/>
          </a:p>
        </p:txBody>
      </p:sp>
      <p:sp>
        <p:nvSpPr>
          <p:cNvPr id="5" name="Shape 3"/>
          <p:cNvSpPr/>
          <p:nvPr/>
        </p:nvSpPr>
        <p:spPr>
          <a:xfrm>
            <a:off x="365760" y="713232"/>
            <a:ext cx="8412480" cy="1417320"/>
          </a:xfrm>
          <a:prstGeom prst="roundRect">
            <a:avLst>
              <a:gd name="adj" fmla="val 9032"/>
            </a:avLst>
          </a:prstGeom>
          <a:solidFill>
            <a:srgbClr val="0E1C42"/>
          </a:solidFill>
          <a:ln w="25400">
            <a:solidFill>
              <a:srgbClr val="D4943A"/>
            </a:solidFill>
            <a:prstDash val="solid"/>
          </a:ln>
        </p:spPr>
      </p:sp>
      <p:sp>
        <p:nvSpPr>
          <p:cNvPr id="6" name="Text 4"/>
          <p:cNvSpPr/>
          <p:nvPr/>
        </p:nvSpPr>
        <p:spPr>
          <a:xfrm>
            <a:off x="548640" y="804672"/>
            <a:ext cx="2743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SCENARIO</a:t>
            </a:r>
            <a:endParaRPr lang="en-US" sz="900" dirty="0"/>
          </a:p>
        </p:txBody>
      </p:sp>
      <p:sp>
        <p:nvSpPr>
          <p:cNvPr id="7" name="Text 5"/>
          <p:cNvSpPr/>
          <p:nvPr/>
        </p:nvSpPr>
        <p:spPr>
          <a:xfrm>
            <a:off x="548640" y="1097280"/>
            <a:ext cx="8046720" cy="960120"/>
          </a:xfrm>
          <a:prstGeom prst="rect">
            <a:avLst/>
          </a:prstGeom>
          <a:noFill/>
          <a:ln/>
        </p:spPr>
        <p:txBody>
          <a:bodyPr wrap="square" lIns="0" tIns="0" rIns="0" bIns="0" rtlCol="0" anchor="t"/>
          <a:lstStyle/>
          <a:p>
            <a:pPr indent="0" marL="0">
              <a:buNone/>
            </a:pPr>
            <a:r>
              <a:rPr lang="en-US" sz="1500" i="1" dirty="0">
                <a:solidFill>
                  <a:srgbClr val="FFFFFF"/>
                </a:solidFill>
                <a:latin typeface="Cambria" pitchFamily="34" charset="0"/>
                <a:ea typeface="Cambria" pitchFamily="34" charset="-122"/>
                <a:cs typeface="Cambria" pitchFamily="34" charset="-120"/>
              </a:rPr>
              <a:t>A Florida historian finds the exact same photograph: the original print sits in the State Archives, and a digital scan appears on the Florida Memory website. The print has an archive stamp and date on the back. The digital scan has the same image but shows the URL and website name. Which version should the historian trust more?</a:t>
            </a:r>
            <a:endParaRPr lang="en-US" sz="1500" dirty="0"/>
          </a:p>
        </p:txBody>
      </p:sp>
      <p:sp>
        <p:nvSpPr>
          <p:cNvPr id="8" name="Shape 6"/>
          <p:cNvSpPr/>
          <p:nvPr/>
        </p:nvSpPr>
        <p:spPr>
          <a:xfrm>
            <a:off x="365760" y="2249424"/>
            <a:ext cx="8412480" cy="2304288"/>
          </a:xfrm>
          <a:prstGeom prst="roundRect">
            <a:avLst>
              <a:gd name="adj" fmla="val 5952"/>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340864"/>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596896"/>
            <a:ext cx="8046720" cy="186537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delivery (print vs. digital) change how reliable the photograph is as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pass the three-question check on both versions? Does one fail any question?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the digital scan had a different crop or color than the original, would that change your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there a clean 'print is always better' or 'electronic is always worse' rule here — or does it depend?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1A8A7D"/>
                </a:solidFill>
                <a:latin typeface="Calibri" pitchFamily="34" charset="0"/>
                <a:ea typeface="Calibri" pitchFamily="34" charset="-122"/>
                <a:cs typeface="Calibri" pitchFamily="34" charset="-120"/>
              </a:rPr>
              <a:t>QUICK SELF-CHECK (NOT GRADED)</a:t>
            </a:r>
            <a:endParaRPr lang="en-US" sz="1500" dirty="0"/>
          </a:p>
        </p:txBody>
      </p:sp>
      <p:sp>
        <p:nvSpPr>
          <p:cNvPr id="5" name="Shape 3"/>
          <p:cNvSpPr/>
          <p:nvPr/>
        </p:nvSpPr>
        <p:spPr>
          <a:xfrm>
            <a:off x="365760" y="713232"/>
            <a:ext cx="8412480" cy="1252728"/>
          </a:xfrm>
          <a:prstGeom prst="roundRect">
            <a:avLst>
              <a:gd name="adj" fmla="val 8759"/>
            </a:avLst>
          </a:prstGeom>
          <a:solidFill>
            <a:srgbClr val="FFFFFF"/>
          </a:solidFill>
          <a:ln w="12700">
            <a:solidFill>
              <a:srgbClr val="B0B8CC"/>
            </a:solidFill>
            <a:prstDash val="solid"/>
          </a:ln>
        </p:spPr>
      </p:sp>
      <p:sp>
        <p:nvSpPr>
          <p:cNvPr id="6" name="Text 4"/>
          <p:cNvSpPr/>
          <p:nvPr/>
        </p:nvSpPr>
        <p:spPr>
          <a:xfrm>
            <a:off x="502920" y="786384"/>
            <a:ext cx="45720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960120" y="768096"/>
            <a:ext cx="7589520" cy="5303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Which of these is a print source about Florida history?</a:t>
            </a:r>
            <a:endParaRPr lang="en-US" sz="1200" dirty="0"/>
          </a:p>
        </p:txBody>
      </p:sp>
      <p:sp>
        <p:nvSpPr>
          <p:cNvPr id="8" name="Shape 6"/>
          <p:cNvSpPr/>
          <p:nvPr/>
        </p:nvSpPr>
        <p:spPr>
          <a:xfrm>
            <a:off x="502920" y="1335024"/>
            <a:ext cx="8138160" cy="530352"/>
          </a:xfrm>
          <a:prstGeom prst="roundRect">
            <a:avLst>
              <a:gd name="adj" fmla="val 13793"/>
            </a:avLst>
          </a:prstGeom>
          <a:solidFill>
            <a:srgbClr val="E8F5EE"/>
          </a:solidFill>
          <a:ln w="12700">
            <a:solidFill>
              <a:srgbClr val="34B76F"/>
            </a:solidFill>
            <a:prstDash val="solid"/>
          </a:ln>
        </p:spPr>
      </p:sp>
      <p:sp>
        <p:nvSpPr>
          <p:cNvPr id="9" name="Text 7"/>
          <p:cNvSpPr/>
          <p:nvPr/>
        </p:nvSpPr>
        <p:spPr>
          <a:xfrm>
            <a:off x="640080" y="1335024"/>
            <a:ext cx="7863840" cy="53035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A 1920 Jacksonville newspaper you can hold — print sources are anything you can hold in your hands.</a:t>
            </a:r>
            <a:endParaRPr lang="en-US" sz="1100" dirty="0"/>
          </a:p>
        </p:txBody>
      </p:sp>
      <p:sp>
        <p:nvSpPr>
          <p:cNvPr id="10" name="Shape 8"/>
          <p:cNvSpPr/>
          <p:nvPr/>
        </p:nvSpPr>
        <p:spPr>
          <a:xfrm>
            <a:off x="365760" y="2057400"/>
            <a:ext cx="8412480" cy="1252728"/>
          </a:xfrm>
          <a:prstGeom prst="roundRect">
            <a:avLst>
              <a:gd name="adj" fmla="val 8759"/>
            </a:avLst>
          </a:prstGeom>
          <a:solidFill>
            <a:srgbClr val="FFFFFF"/>
          </a:solidFill>
          <a:ln w="12700">
            <a:solidFill>
              <a:srgbClr val="B0B8CC"/>
            </a:solidFill>
            <a:prstDash val="solid"/>
          </a:ln>
        </p:spPr>
      </p:sp>
      <p:sp>
        <p:nvSpPr>
          <p:cNvPr id="11" name="Text 9"/>
          <p:cNvSpPr/>
          <p:nvPr/>
        </p:nvSpPr>
        <p:spPr>
          <a:xfrm>
            <a:off x="502920" y="2130552"/>
            <a:ext cx="45720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Q2</a:t>
            </a:r>
            <a:endParaRPr lang="en-US" sz="1100" dirty="0"/>
          </a:p>
        </p:txBody>
      </p:sp>
      <p:sp>
        <p:nvSpPr>
          <p:cNvPr id="12" name="Text 10"/>
          <p:cNvSpPr/>
          <p:nvPr/>
        </p:nvSpPr>
        <p:spPr>
          <a:xfrm>
            <a:off x="960120" y="2112264"/>
            <a:ext cx="7589520" cy="5303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You find a Florida history fact on a website. The page doesn't say who wrote it or when. What should a Florida historian do?</a:t>
            </a:r>
            <a:endParaRPr lang="en-US" sz="1200" dirty="0"/>
          </a:p>
        </p:txBody>
      </p:sp>
      <p:sp>
        <p:nvSpPr>
          <p:cNvPr id="13" name="Shape 11"/>
          <p:cNvSpPr/>
          <p:nvPr/>
        </p:nvSpPr>
        <p:spPr>
          <a:xfrm>
            <a:off x="502920" y="2679192"/>
            <a:ext cx="8138160" cy="530352"/>
          </a:xfrm>
          <a:prstGeom prst="roundRect">
            <a:avLst>
              <a:gd name="adj" fmla="val 13793"/>
            </a:avLst>
          </a:prstGeom>
          <a:solidFill>
            <a:srgbClr val="E8F5EE"/>
          </a:solidFill>
          <a:ln w="12700">
            <a:solidFill>
              <a:srgbClr val="34B76F"/>
            </a:solidFill>
            <a:prstDash val="solid"/>
          </a:ln>
        </p:spPr>
      </p:sp>
      <p:sp>
        <p:nvSpPr>
          <p:cNvPr id="14" name="Text 12"/>
          <p:cNvSpPr/>
          <p:nvPr/>
        </p:nvSpPr>
        <p:spPr>
          <a:xfrm>
            <a:off x="640080" y="2679192"/>
            <a:ext cx="7863840" cy="53035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Say honestly that we don't know who made it or when, and keep looking for a source we can check.</a:t>
            </a:r>
            <a:endParaRPr lang="en-US" sz="1100" dirty="0"/>
          </a:p>
        </p:txBody>
      </p:sp>
      <p:sp>
        <p:nvSpPr>
          <p:cNvPr id="15" name="Shape 13"/>
          <p:cNvSpPr/>
          <p:nvPr/>
        </p:nvSpPr>
        <p:spPr>
          <a:xfrm>
            <a:off x="365760" y="3401568"/>
            <a:ext cx="8412480" cy="1252728"/>
          </a:xfrm>
          <a:prstGeom prst="roundRect">
            <a:avLst>
              <a:gd name="adj" fmla="val 8759"/>
            </a:avLst>
          </a:prstGeom>
          <a:solidFill>
            <a:srgbClr val="FFFFFF"/>
          </a:solidFill>
          <a:ln w="12700">
            <a:solidFill>
              <a:srgbClr val="B0B8CC"/>
            </a:solidFill>
            <a:prstDash val="solid"/>
          </a:ln>
        </p:spPr>
      </p:sp>
      <p:sp>
        <p:nvSpPr>
          <p:cNvPr id="16" name="Text 14"/>
          <p:cNvSpPr/>
          <p:nvPr/>
        </p:nvSpPr>
        <p:spPr>
          <a:xfrm>
            <a:off x="502920" y="3474720"/>
            <a:ext cx="457200" cy="27432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Q3</a:t>
            </a:r>
            <a:endParaRPr lang="en-US" sz="1100" dirty="0"/>
          </a:p>
        </p:txBody>
      </p:sp>
      <p:sp>
        <p:nvSpPr>
          <p:cNvPr id="17" name="Text 15"/>
          <p:cNvSpPr/>
          <p:nvPr/>
        </p:nvSpPr>
        <p:spPr>
          <a:xfrm>
            <a:off x="960120" y="3456432"/>
            <a:ext cx="7589520" cy="530352"/>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A Menéndez letter from 1565 appears in a printed book AND as a scan on Florida Memory. What does that show about sources?</a:t>
            </a:r>
            <a:endParaRPr lang="en-US" sz="1200" dirty="0"/>
          </a:p>
        </p:txBody>
      </p:sp>
      <p:sp>
        <p:nvSpPr>
          <p:cNvPr id="18" name="Shape 16"/>
          <p:cNvSpPr/>
          <p:nvPr/>
        </p:nvSpPr>
        <p:spPr>
          <a:xfrm>
            <a:off x="502920" y="4023360"/>
            <a:ext cx="8138160" cy="530352"/>
          </a:xfrm>
          <a:prstGeom prst="roundRect">
            <a:avLst>
              <a:gd name="adj" fmla="val 13793"/>
            </a:avLst>
          </a:prstGeom>
          <a:solidFill>
            <a:srgbClr val="E8F5EE"/>
          </a:solidFill>
          <a:ln w="12700">
            <a:solidFill>
              <a:srgbClr val="34B76F"/>
            </a:solidFill>
            <a:prstDash val="solid"/>
          </a:ln>
        </p:spPr>
      </p:sp>
      <p:sp>
        <p:nvSpPr>
          <p:cNvPr id="19" name="Text 17"/>
          <p:cNvSpPr/>
          <p:nvPr/>
        </p:nvSpPr>
        <p:spPr>
          <a:xfrm>
            <a:off x="640080" y="4023360"/>
            <a:ext cx="7863840" cy="530352"/>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The same source can reach us in different ways. What changes is the delivery — not the source itself or the three-question check.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ect">
            <a:avLst/>
          </a:prstGeom>
          <a:solidFill>
            <a:srgbClr val="0E1C42"/>
          </a:solidFill>
          <a:ln/>
        </p:spPr>
      </p:sp>
      <p:sp>
        <p:nvSpPr>
          <p:cNvPr id="4" name="Text 2"/>
          <p:cNvSpPr/>
          <p:nvPr/>
        </p:nvSpPr>
        <p:spPr>
          <a:xfrm>
            <a:off x="365760" y="146304"/>
            <a:ext cx="8229600" cy="320040"/>
          </a:xfrm>
          <a:prstGeom prst="rect">
            <a:avLst/>
          </a:prstGeom>
          <a:noFill/>
          <a:ln/>
        </p:spPr>
        <p:txBody>
          <a:bodyPr wrap="square" lIns="0" tIns="0" rIns="0" bIns="0" rtlCol="0" anchor="ctr"/>
          <a:lstStyle/>
          <a:p>
            <a:pPr indent="0" marL="0">
              <a:buNone/>
            </a:pPr>
            <a:r>
              <a:rPr lang="en-US" sz="1500" b="1" dirty="0">
                <a:solidFill>
                  <a:srgbClr val="D4943A"/>
                </a:solidFill>
                <a:latin typeface="Calibri" pitchFamily="34" charset="0"/>
                <a:ea typeface="Calibri" pitchFamily="34" charset="-122"/>
                <a:cs typeface="Calibri" pitchFamily="34" charset="-120"/>
              </a:rPr>
              <a:t>ASSIGNMENT — HISTORIAN'S NOTEBOOK ENTRY</a:t>
            </a:r>
            <a:endParaRPr lang="en-US" sz="1500" dirty="0"/>
          </a:p>
        </p:txBody>
      </p:sp>
      <p:sp>
        <p:nvSpPr>
          <p:cNvPr id="5" name="Shape 3"/>
          <p:cNvSpPr/>
          <p:nvPr/>
        </p:nvSpPr>
        <p:spPr>
          <a:xfrm>
            <a:off x="365760" y="713232"/>
            <a:ext cx="8412480" cy="1078992"/>
          </a:xfrm>
          <a:prstGeom prst="roundRect">
            <a:avLst>
              <a:gd name="adj" fmla="val 10169"/>
            </a:avLst>
          </a:prstGeom>
          <a:solidFill>
            <a:srgbClr val="FFFFFF"/>
          </a:solidFill>
          <a:ln w="12700">
            <a:solidFill>
              <a:srgbClr val="B0B8CC"/>
            </a:solidFill>
            <a:prstDash val="solid"/>
          </a:ln>
        </p:spPr>
      </p:sp>
      <p:sp>
        <p:nvSpPr>
          <p:cNvPr id="6" name="Shape 4"/>
          <p:cNvSpPr/>
          <p:nvPr/>
        </p:nvSpPr>
        <p:spPr>
          <a:xfrm>
            <a:off x="502920" y="987552"/>
            <a:ext cx="411480" cy="411480"/>
          </a:xfrm>
          <a:prstGeom prst="ellipse">
            <a:avLst/>
          </a:prstGeom>
          <a:solidFill>
            <a:srgbClr val="D4943A"/>
          </a:solidFill>
          <a:ln/>
        </p:spPr>
      </p:sp>
      <p:sp>
        <p:nvSpPr>
          <p:cNvPr id="7" name="Text 5"/>
          <p:cNvSpPr/>
          <p:nvPr/>
        </p:nvSpPr>
        <p:spPr>
          <a:xfrm>
            <a:off x="502920" y="9875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05840" y="804672"/>
            <a:ext cx="7589520" cy="53035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Name one print source about Florida history and one electronic source. What makes each one fit its category?</a:t>
            </a:r>
            <a:endParaRPr lang="en-US" sz="1300" dirty="0"/>
          </a:p>
        </p:txBody>
      </p:sp>
      <p:sp>
        <p:nvSpPr>
          <p:cNvPr id="9" name="Text 7"/>
          <p:cNvSpPr/>
          <p:nvPr/>
        </p:nvSpPr>
        <p:spPr>
          <a:xfrm>
            <a:off x="1005840" y="1371600"/>
            <a:ext cx="758952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You can hold a print source; an electronic source lives on a screen.</a:t>
            </a:r>
            <a:endParaRPr lang="en-US" sz="1100" dirty="0"/>
          </a:p>
        </p:txBody>
      </p:sp>
      <p:sp>
        <p:nvSpPr>
          <p:cNvPr id="10" name="Shape 8"/>
          <p:cNvSpPr/>
          <p:nvPr/>
        </p:nvSpPr>
        <p:spPr>
          <a:xfrm>
            <a:off x="365760" y="1883664"/>
            <a:ext cx="8412480" cy="1078992"/>
          </a:xfrm>
          <a:prstGeom prst="roundRect">
            <a:avLst>
              <a:gd name="adj" fmla="val 10169"/>
            </a:avLst>
          </a:prstGeom>
          <a:solidFill>
            <a:srgbClr val="FFFFFF"/>
          </a:solidFill>
          <a:ln w="12700">
            <a:solidFill>
              <a:srgbClr val="B0B8CC"/>
            </a:solidFill>
            <a:prstDash val="solid"/>
          </a:ln>
        </p:spPr>
      </p:sp>
      <p:sp>
        <p:nvSpPr>
          <p:cNvPr id="11" name="Shape 9"/>
          <p:cNvSpPr/>
          <p:nvPr/>
        </p:nvSpPr>
        <p:spPr>
          <a:xfrm>
            <a:off x="502920" y="2157984"/>
            <a:ext cx="411480" cy="411480"/>
          </a:xfrm>
          <a:prstGeom prst="ellipse">
            <a:avLst/>
          </a:prstGeom>
          <a:solidFill>
            <a:srgbClr val="D4943A"/>
          </a:solidFill>
          <a:ln/>
        </p:spPr>
      </p:sp>
      <p:sp>
        <p:nvSpPr>
          <p:cNvPr id="12" name="Text 10"/>
          <p:cNvSpPr/>
          <p:nvPr/>
        </p:nvSpPr>
        <p:spPr>
          <a:xfrm>
            <a:off x="502920" y="21579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005840" y="1975104"/>
            <a:ext cx="7589520" cy="53035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What is the three-question check a Florida historian runs on every source — and why does it matter?</a:t>
            </a:r>
            <a:endParaRPr lang="en-US" sz="1300" dirty="0"/>
          </a:p>
        </p:txBody>
      </p:sp>
      <p:sp>
        <p:nvSpPr>
          <p:cNvPr id="14" name="Text 12"/>
          <p:cNvSpPr/>
          <p:nvPr/>
        </p:nvSpPr>
        <p:spPr>
          <a:xfrm>
            <a:off x="1005840" y="2542032"/>
            <a:ext cx="758952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List all three questions, then say what they protect us from.</a:t>
            </a:r>
            <a:endParaRPr lang="en-US" sz="1100" dirty="0"/>
          </a:p>
        </p:txBody>
      </p:sp>
      <p:sp>
        <p:nvSpPr>
          <p:cNvPr id="15" name="Shape 13"/>
          <p:cNvSpPr/>
          <p:nvPr/>
        </p:nvSpPr>
        <p:spPr>
          <a:xfrm>
            <a:off x="365760" y="3054096"/>
            <a:ext cx="8412480" cy="1078992"/>
          </a:xfrm>
          <a:prstGeom prst="roundRect">
            <a:avLst>
              <a:gd name="adj" fmla="val 10169"/>
            </a:avLst>
          </a:prstGeom>
          <a:solidFill>
            <a:srgbClr val="FFFFFF"/>
          </a:solidFill>
          <a:ln w="12700">
            <a:solidFill>
              <a:srgbClr val="B0B8CC"/>
            </a:solidFill>
            <a:prstDash val="solid"/>
          </a:ln>
        </p:spPr>
      </p:sp>
      <p:sp>
        <p:nvSpPr>
          <p:cNvPr id="16" name="Shape 14"/>
          <p:cNvSpPr/>
          <p:nvPr/>
        </p:nvSpPr>
        <p:spPr>
          <a:xfrm>
            <a:off x="502920" y="3328416"/>
            <a:ext cx="411480" cy="411480"/>
          </a:xfrm>
          <a:prstGeom prst="ellipse">
            <a:avLst/>
          </a:prstGeom>
          <a:solidFill>
            <a:srgbClr val="D4943A"/>
          </a:solidFill>
          <a:ln/>
        </p:spPr>
      </p:sp>
      <p:sp>
        <p:nvSpPr>
          <p:cNvPr id="17" name="Text 15"/>
          <p:cNvSpPr/>
          <p:nvPr/>
        </p:nvSpPr>
        <p:spPr>
          <a:xfrm>
            <a:off x="502920" y="3328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005840" y="3145536"/>
            <a:ext cx="7589520" cy="53035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Why is being honest about a source important — whether it is print or electronic?</a:t>
            </a:r>
            <a:endParaRPr lang="en-US" sz="1300" dirty="0"/>
          </a:p>
        </p:txBody>
      </p:sp>
      <p:sp>
        <p:nvSpPr>
          <p:cNvPr id="19" name="Text 17"/>
          <p:cNvSpPr/>
          <p:nvPr/>
        </p:nvSpPr>
        <p:spPr>
          <a:xfrm>
            <a:off x="1005840" y="3712464"/>
            <a:ext cx="7589520" cy="347472"/>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Use today's three-question check in your answer.</a:t>
            </a:r>
            <a:endParaRPr lang="en-US" sz="1100" dirty="0"/>
          </a:p>
        </p:txBody>
      </p:sp>
      <p:sp>
        <p:nvSpPr>
          <p:cNvPr id="20" name="Shape 18"/>
          <p:cNvSpPr/>
          <p:nvPr/>
        </p:nvSpPr>
        <p:spPr>
          <a:xfrm>
            <a:off x="365760" y="4251960"/>
            <a:ext cx="8412480" cy="566928"/>
          </a:xfrm>
          <a:prstGeom prst="roundRect">
            <a:avLst>
              <a:gd name="adj" fmla="val 16129"/>
            </a:avLst>
          </a:prstGeom>
          <a:solidFill>
            <a:srgbClr val="FFF3DC"/>
          </a:solidFill>
          <a:ln w="19050">
            <a:solidFill>
              <a:srgbClr val="D4943A"/>
            </a:solidFill>
            <a:prstDash val="solid"/>
          </a:ln>
        </p:spPr>
      </p:sp>
      <p:sp>
        <p:nvSpPr>
          <p:cNvPr id="21" name="Text 19"/>
          <p:cNvSpPr/>
          <p:nvPr/>
        </p:nvSpPr>
        <p:spPr>
          <a:xfrm>
            <a:off x="502920" y="4270248"/>
            <a:ext cx="8229600" cy="530352"/>
          </a:xfrm>
          <a:prstGeom prst="rect">
            <a:avLst/>
          </a:prstGeom>
          <a:noFill/>
          <a:ln/>
        </p:spPr>
        <p:txBody>
          <a:bodyPr wrap="square" lIns="0" tIns="0" rIns="0" bIns="0" rtlCol="0" anchor="ctr"/>
          <a:lstStyle/>
          <a:p>
            <a:pPr indent="0" marL="0">
              <a:buNone/>
            </a:pPr>
            <a:r>
              <a:rPr lang="en-US" sz="1100" dirty="0">
                <a:solidFill>
                  <a:srgbClr val="5A4A3A"/>
                </a:solidFill>
                <a:latin typeface="Calibri" pitchFamily="34" charset="0"/>
                <a:ea typeface="Calibri" pitchFamily="34" charset="-122"/>
                <a:cs typeface="Calibri" pitchFamily="34" charset="-120"/>
              </a:rPr>
              <a:t>Unlock Challenge: Historian's Notebook Entry — 3-5 sentences with one Florida example of each source type and one sentence about the three-question check. Use historian language: 'I noticed...', 'The evidence shows...'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64008"/>
          </a:xfrm>
          <a:prstGeom prst="rect">
            <a:avLst/>
          </a:prstGeom>
          <a:solidFill>
            <a:srgbClr val="D4943A"/>
          </a:solidFill>
          <a:ln/>
        </p:spPr>
      </p:sp>
      <p:sp>
        <p:nvSpPr>
          <p:cNvPr id="6" name="Shape 3"/>
          <p:cNvSpPr/>
          <p:nvPr/>
        </p:nvSpPr>
        <p:spPr>
          <a:xfrm>
            <a:off x="457200" y="256032"/>
            <a:ext cx="3200400" cy="402336"/>
          </a:xfrm>
          <a:prstGeom prst="roundRect">
            <a:avLst>
              <a:gd name="adj" fmla="val 40909"/>
            </a:avLst>
          </a:prstGeom>
          <a:solidFill>
            <a:srgbClr val="D4943A"/>
          </a:solidFill>
          <a:ln/>
        </p:spPr>
      </p:sp>
      <p:sp>
        <p:nvSpPr>
          <p:cNvPr id="7" name="Text 4"/>
          <p:cNvSpPr/>
          <p:nvPr/>
        </p:nvSpPr>
        <p:spPr>
          <a:xfrm>
            <a:off x="457200" y="256032"/>
            <a:ext cx="3200400" cy="402336"/>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Calibri" pitchFamily="34" charset="0"/>
                <a:ea typeface="Calibri" pitchFamily="34" charset="-122"/>
                <a:cs typeface="Calibri" pitchFamily="34" charset="-120"/>
              </a:rPr>
              <a:t>FILE UNLOCKED</a:t>
            </a:r>
            <a:endParaRPr lang="en-US" sz="1300" dirty="0"/>
          </a:p>
        </p:txBody>
      </p:sp>
      <p:sp>
        <p:nvSpPr>
          <p:cNvPr id="8" name="Text 5"/>
          <p:cNvSpPr/>
          <p:nvPr/>
        </p:nvSpPr>
        <p:spPr>
          <a:xfrm>
            <a:off x="457200" y="777240"/>
            <a:ext cx="8229600" cy="658368"/>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Dual-Feed Source Map.</a:t>
            </a:r>
            <a:endParaRPr lang="en-US" sz="4400" dirty="0"/>
          </a:p>
        </p:txBody>
      </p:sp>
      <p:sp>
        <p:nvSpPr>
          <p:cNvPr id="9" name="Text 6"/>
          <p:cNvSpPr/>
          <p:nvPr/>
        </p:nvSpPr>
        <p:spPr>
          <a:xfrm>
            <a:off x="457200" y="1536192"/>
            <a:ext cx="8229600" cy="658368"/>
          </a:xfrm>
          <a:prstGeom prst="rect">
            <a:avLst/>
          </a:prstGeom>
          <a:noFill/>
          <a:ln/>
        </p:spPr>
        <p:txBody>
          <a:bodyPr wrap="square" lIns="0" tIns="0" rIns="0" bIns="0" rtlCol="0" anchor="ctr"/>
          <a:lstStyle/>
          <a:p>
            <a:pPr indent="0" marL="0">
              <a:buNone/>
            </a:pPr>
            <a:r>
              <a:rPr lang="en-US" sz="1900" i="1" dirty="0">
                <a:solidFill>
                  <a:srgbClr val="D4943A"/>
                </a:solidFill>
                <a:latin typeface="Cambria" pitchFamily="34" charset="0"/>
                <a:ea typeface="Cambria" pitchFamily="34" charset="-122"/>
                <a:cs typeface="Cambria" pitchFamily="34" charset="-120"/>
              </a:rPr>
              <a:t>Reliable print and electronic media help historians gather accurate information instead of guessing.</a:t>
            </a:r>
            <a:endParaRPr lang="en-US" sz="1900" dirty="0"/>
          </a:p>
        </p:txBody>
      </p:sp>
      <p:sp>
        <p:nvSpPr>
          <p:cNvPr id="10" name="Shape 7"/>
          <p:cNvSpPr/>
          <p:nvPr/>
        </p:nvSpPr>
        <p:spPr>
          <a:xfrm>
            <a:off x="457200" y="2304288"/>
            <a:ext cx="4572000" cy="45720"/>
          </a:xfrm>
          <a:prstGeom prst="rect">
            <a:avLst/>
          </a:prstGeom>
          <a:solidFill>
            <a:srgbClr val="55C8E8"/>
          </a:solidFill>
          <a:ln/>
        </p:spPr>
      </p:sp>
      <p:sp>
        <p:nvSpPr>
          <p:cNvPr id="11" name="Text 8"/>
          <p:cNvSpPr/>
          <p:nvPr/>
        </p:nvSpPr>
        <p:spPr>
          <a:xfrm>
            <a:off x="457200" y="2450592"/>
            <a:ext cx="8229600" cy="274320"/>
          </a:xfrm>
          <a:prstGeom prst="rect">
            <a:avLst/>
          </a:prstGeom>
          <a:noFill/>
          <a:ln/>
        </p:spPr>
        <p:txBody>
          <a:bodyPr wrap="square" lIns="0" tIns="0" rIns="0" bIns="0" rtlCol="0" anchor="ctr"/>
          <a:lstStyle/>
          <a:p>
            <a:pPr indent="0" marL="0">
              <a:buNone/>
            </a:pPr>
            <a:r>
              <a:rPr lang="en-US" sz="1200" b="1" spc="150" kern="0" dirty="0">
                <a:solidFill>
                  <a:srgbClr val="55C8E8"/>
                </a:solidFill>
                <a:latin typeface="Calibri" pitchFamily="34" charset="0"/>
                <a:ea typeface="Calibri" pitchFamily="34" charset="-122"/>
                <a:cs typeface="Calibri" pitchFamily="34" charset="-120"/>
              </a:rPr>
              <a:t>The Rule:</a:t>
            </a:r>
            <a:endParaRPr lang="en-US" sz="1200" dirty="0"/>
          </a:p>
        </p:txBody>
      </p:sp>
      <p:sp>
        <p:nvSpPr>
          <p:cNvPr id="12" name="Text 9"/>
          <p:cNvSpPr/>
          <p:nvPr/>
        </p:nvSpPr>
        <p:spPr>
          <a:xfrm>
            <a:off x="457200" y="2788920"/>
            <a:ext cx="8229600" cy="749808"/>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Print sources live in your hands. Electronic sources live on screens. Both get the same three-question check: Who made it? When? Where is it from?</a:t>
            </a:r>
            <a:endParaRPr lang="en-US" sz="1600" dirty="0"/>
          </a:p>
        </p:txBody>
      </p:sp>
      <p:sp>
        <p:nvSpPr>
          <p:cNvPr id="13" name="Text 10"/>
          <p:cNvSpPr/>
          <p:nvPr/>
        </p:nvSpPr>
        <p:spPr>
          <a:xfrm>
            <a:off x="457200" y="3749040"/>
            <a:ext cx="8229600" cy="347472"/>
          </a:xfrm>
          <a:prstGeom prst="rect">
            <a:avLst/>
          </a:prstGeom>
          <a:noFill/>
          <a:ln/>
        </p:spPr>
        <p:txBody>
          <a:bodyPr wrap="square" lIns="0" tIns="0" rIns="0" bIns="0" rtlCol="0" anchor="ctr"/>
          <a:lstStyle/>
          <a:p>
            <a:pPr indent="0" marL="0">
              <a:buNone/>
            </a:pPr>
            <a:r>
              <a:rPr lang="en-US" sz="1300" dirty="0">
                <a:solidFill>
                  <a:srgbClr val="7A88A8"/>
                </a:solidFill>
                <a:latin typeface="Calibri" pitchFamily="34" charset="0"/>
                <a:ea typeface="Calibri" pitchFamily="34" charset="-122"/>
                <a:cs typeface="Calibri" pitchFamily="34" charset="-120"/>
              </a:rPr>
              <a:t>Virtue: Honesty · Coming Next: Lesson 4.01.04 — Timeline Thread: Sequencing Florida History</a:t>
            </a:r>
            <a:endParaRPr lang="en-US" sz="1300" dirty="0"/>
          </a:p>
        </p:txBody>
      </p:sp>
      <p:sp>
        <p:nvSpPr>
          <p:cNvPr id="14" name="Text 11"/>
          <p:cNvSpPr/>
          <p:nvPr/>
        </p:nvSpPr>
        <p:spPr>
          <a:xfrm>
            <a:off x="457200" y="4663440"/>
            <a:ext cx="8229600" cy="292608"/>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Optima Academy Online · Grade 4 Social Studies · Lesson 4.01.03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2026-07-13T20:35:30Z</dcterms:created>
  <dcterms:modified xsi:type="dcterms:W3CDTF">2026-07-13T20:35:30Z</dcterms:modified>
</cp:coreProperties>
</file>