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View from the ocean looking toward an unknown coastline at dawn — green land, mist, and the bow of a wooden ship in the foreground. No people visible. Dramatic light.IMAGE TO INSERT: View from the ocean looking toward an unknown coastline at dawn — green land, mist, wooden ship bow. No people. Dramatic light.
After studying the people who lived here for thousands of years, today we meet the strangers who first arrived from across the sea. Name the three explorers students will meet: Juan Ponce de Leon, Panfilo de Narvaez, Hernando de Soto.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Dark digital archive screen with a scrambled route map of Florida's coast — ships frozen mid-ocean, dates and names jumbled. Glowing blue lines.Set up the file unlock. The route map is scrambled — students need to sort the explorers and their dates to unlock it. Tease the perspective tension: after five lessons about the First Peoples, today we meet the strangers who arrived on their shores.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View from Florida's shore — mangroves and sand, three sailing ships approaching across calm water. Dawn. No people.
Key move: put students on the SHORE, not on the ship. They just spent five lessons with the First Peoples. This is their land. The ships are the unknown arrivals.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'discovery' framing is the intellectual target. Students should arrive at: you can't 'discover' a place where tens of thousands of people already live. That's a meeting. Push them to find this logic themselves rather than being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evaluation: the timeline is a historian's reconstruction. It shows the European expeditions clearly — but the First Peoples appear only as a footnote. Ask: what would a timeline built from a Calusa or Apalachee perspective look like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Split image: left half shows a Spanish sailing ship at sea; right half shows a Florida coastline with natural landscape. A visible dividing line between the two worlds meeting.Concept reveal. The key reframe: 'discovery' is the European-only version of this event. 'Arrival' acknowledges both sides. Retrieval challenge: cover screens, name all three explorers and years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Multi-source compare. Key question: why is Source B harder to find than Source A? The First Peoples didn't leave written records of this event in a form historians can read directly — that means the historian's job includes looking for other kinds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Three Spanish sailing ships positioned at different points along a stylized Florida coastline map. Each ship labeled with an explorer's name and year. Dark navy and gold.Walk through each explorer. For Ponce de Leon: the Fountain of Youth is a legend — he came for land and resources. For Narvaez: 300 men, 4 survivors — what does that tell you? For de Soto: he never found gold, he spread disease, he died. Ask: which expedition do you think was 'worst' for the First Peoples,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emphasizing the specific number. 4 out of 300 is the evidence. Students need to see that 'it was very dangerous' without the number is a weak answer compared to '296 of 300 men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practice the Q3 reasoning. The key move: without the First Peoples' presence in the record, the explorers' story becomes a 'discovery' narrative rather than a 'meeting' narrative — which is historically inaccurate.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errors: 'discovered' is wrong (people already lived there); 'brought Spanish culture to the New World' omits the impact on existing cultures; no mention of the First Peoples; 'brave' without acknowledging harm. Students should identify at least 2 specific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'reasonable people can disagree' moment. Students can reach different conclusions about the explorers as long as they acknowledge both the evidence of courage AND the evidence of harm. A one-sided answer — in either direction — misses the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wooden ship compass and navigation tools on a dark table — astrolabe, map, compass rose. No people. Gold and navy tones. Dramatic light from one side.Virtue spotlight. The complexity here is intentional: courage is real, AND harm is real. Students should be able to hold both truths. This sets up the Historian's Notebook entry — they need to acknowledge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Students practiced Q1 on slides 8-9, Q2 on slide 9, Q3 on slides 10-11. Walk through the Unlock Challenge: stress the requirement for THREE types of evidence: a name, a year, AND a fact about the First Peoples.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For Q3, emphasize: the First Peoples being there BEFORE the explorers is not a footnote — it's half the story. If students miss this, ask: what would a historian who forgets this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Route map of Florida and the Caribbean — three ship routes marked in gold, silver, and teal converging on Florida's coast from Spain. Dark navy background, stars visible.File unlocked. Restate the three explorers and years: Ponce de Leon (1513), Narvaez (1528), de Soto (1539). Tease lesson 4.04.02: not a ship, but a piece of writing — we'll study WHY the Spanish came at all. Remind students to bring their Historian's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3291840"/>
            <a:ext cx="9144000" cy="1188720"/>
          </a:xfrm>
          <a:prstGeom prst="rect">
            <a:avLst/>
          </a:prstGeom>
          <a:solidFill>
            <a:srgbClr val="D4943A">
              <a:alpha val="85000"/>
            </a:srgbClr>
          </a:solidFill>
          <a:ln/>
        </p:spPr>
      </p:sp>
      <p:sp>
        <p:nvSpPr>
          <p:cNvPr id="6" name="Text 3"/>
          <p:cNvSpPr/>
          <p:nvPr/>
        </p:nvSpPr>
        <p:spPr>
          <a:xfrm>
            <a:off x="457200" y="365760"/>
            <a:ext cx="8229600" cy="365760"/>
          </a:xfrm>
          <a:prstGeom prst="rect">
            <a:avLst/>
          </a:prstGeom>
          <a:noFill/>
          <a:ln/>
        </p:spPr>
        <p:txBody>
          <a:bodyPr wrap="square"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FLORIDA FILES: ESCAPE FROM CANVAS</a:t>
            </a:r>
            <a:endParaRPr lang="en-US" sz="1300" dirty="0"/>
          </a:p>
        </p:txBody>
      </p:sp>
      <p:sp>
        <p:nvSpPr>
          <p:cNvPr id="7" name="Text 4"/>
          <p:cNvSpPr/>
          <p:nvPr/>
        </p:nvSpPr>
        <p:spPr>
          <a:xfrm>
            <a:off x="457200" y="749808"/>
            <a:ext cx="8229600" cy="274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File 1 of 13  ·  Unit 4: New Spain and Exploration</a:t>
            </a:r>
            <a:endParaRPr lang="en-US" sz="1100" dirty="0"/>
          </a:p>
        </p:txBody>
      </p:sp>
      <p:sp>
        <p:nvSpPr>
          <p:cNvPr id="8" name="Text 5"/>
          <p:cNvSpPr/>
          <p:nvPr/>
        </p:nvSpPr>
        <p:spPr>
          <a:xfrm>
            <a:off x="457200" y="1234440"/>
            <a:ext cx="8229600" cy="77724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Explorers Who Came to Florida</a:t>
            </a:r>
            <a:endParaRPr lang="en-US" sz="4000" dirty="0"/>
          </a:p>
        </p:txBody>
      </p:sp>
      <p:sp>
        <p:nvSpPr>
          <p:cNvPr id="9" name="Text 6"/>
          <p:cNvSpPr/>
          <p:nvPr/>
        </p:nvSpPr>
        <p:spPr>
          <a:xfrm>
            <a:off x="457200" y="2057400"/>
            <a:ext cx="8229600" cy="320040"/>
          </a:xfrm>
          <a:prstGeom prst="rect">
            <a:avLst/>
          </a:prstGeom>
          <a:noFill/>
          <a:ln/>
        </p:spPr>
        <p:txBody>
          <a:bodyPr wrap="square"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Lesson 4.04.01</a:t>
            </a:r>
            <a:endParaRPr lang="en-US" sz="1400" dirty="0"/>
          </a:p>
        </p:txBody>
      </p:sp>
      <p:sp>
        <p:nvSpPr>
          <p:cNvPr id="10" name="Text 7"/>
          <p:cNvSpPr/>
          <p:nvPr/>
        </p:nvSpPr>
        <p:spPr>
          <a:xfrm>
            <a:off x="731520" y="3337560"/>
            <a:ext cx="7680960" cy="548640"/>
          </a:xfrm>
          <a:prstGeom prst="rect">
            <a:avLst/>
          </a:prstGeom>
          <a:noFill/>
          <a:ln/>
        </p:spPr>
        <p:txBody>
          <a:bodyPr wrap="square"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Who were the first Europeans to come to Florida — and what evidence can historians use to understand how their arrival changed Florida's story?</a:t>
            </a:r>
            <a:endParaRPr lang="en-US" sz="1400" dirty="0"/>
          </a:p>
        </p:txBody>
      </p:sp>
      <p:sp>
        <p:nvSpPr>
          <p:cNvPr id="11" name="Text 8"/>
          <p:cNvSpPr/>
          <p:nvPr/>
        </p:nvSpPr>
        <p:spPr>
          <a:xfrm>
            <a:off x="457200" y="4709160"/>
            <a:ext cx="8229600" cy="256032"/>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SS.4.A.3.1  ·  SS.4.A.3.2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320040"/>
            <a:ext cx="8229600" cy="457200"/>
          </a:xfrm>
          <a:prstGeom prst="roundRect">
            <a:avLst>
              <a:gd name="adj" fmla="val 20000"/>
            </a:avLst>
          </a:prstGeom>
          <a:solidFill>
            <a:srgbClr val="55C8E8">
              <a:alpha val="80000"/>
            </a:srgbClr>
          </a:solidFill>
          <a:ln/>
        </p:spPr>
      </p:sp>
      <p:sp>
        <p:nvSpPr>
          <p:cNvPr id="6" name="Text 3"/>
          <p:cNvSpPr/>
          <p:nvPr/>
        </p:nvSpPr>
        <p:spPr>
          <a:xfrm>
            <a:off x="457200" y="320040"/>
            <a:ext cx="8229600" cy="457200"/>
          </a:xfrm>
          <a:prstGeom prst="rect">
            <a:avLst/>
          </a:prstGeom>
          <a:noFill/>
          <a:ln/>
        </p:spPr>
        <p:txBody>
          <a:bodyPr wrap="square"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FILE LOCKED — ROUTE MAP SCRAMBLED</a:t>
            </a:r>
            <a:endParaRPr lang="en-US" sz="1600" dirty="0"/>
          </a:p>
        </p:txBody>
      </p:sp>
      <p:sp>
        <p:nvSpPr>
          <p:cNvPr id="7" name="Text 4"/>
          <p:cNvSpPr/>
          <p:nvPr/>
        </p:nvSpPr>
        <p:spPr>
          <a:xfrm>
            <a:off x="457200" y="932688"/>
            <a:ext cx="8229600" cy="256032"/>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MESSAGE FROM MS. RIVERA</a:t>
            </a:r>
            <a:endParaRPr lang="en-US" sz="1000" dirty="0"/>
          </a:p>
        </p:txBody>
      </p:sp>
      <p:sp>
        <p:nvSpPr>
          <p:cNvPr id="8" name="Text 5"/>
          <p:cNvSpPr/>
          <p:nvPr/>
        </p:nvSpPr>
        <p:spPr>
          <a:xfrm>
            <a:off x="731520" y="1234440"/>
            <a:ext cx="7680960" cy="1600200"/>
          </a:xfrm>
          <a:prstGeom prst="rect">
            <a:avLst/>
          </a:prstGeom>
          <a:noFill/>
          <a:ln/>
        </p:spPr>
        <p:txBody>
          <a:bodyPr wrap="square" rtlCol="0" anchor="t"/>
          <a:lstStyle/>
          <a:p>
            <a:pPr indent="0" marL="0">
              <a:buNone/>
            </a:pPr>
            <a:r>
              <a:rPr lang="en-US" sz="1300" i="1" dirty="0">
                <a:solidFill>
                  <a:srgbClr val="FFFFFF"/>
                </a:solidFill>
                <a:latin typeface="Cambria" pitchFamily="34" charset="0"/>
                <a:ea typeface="Cambria" pitchFamily="34" charset="-122"/>
                <a:cs typeface="Cambria" pitchFamily="34" charset="-120"/>
              </a:rPr>
              <a:t>"Canvas won't let me open the file on Spanish explorers — it keeps showing a locked screen where the route map should be. I can see ships approaching Florida's coast, but the names and dates are all scrambled. I need you to identify the three explorers who came to Florida, figure out when each one arrived, and help me sort the routes in order. Once you unlock the timeline, I can piece the file back together from in here."</a:t>
            </a:r>
            <a:endParaRPr lang="en-US" sz="1300" dirty="0"/>
          </a:p>
        </p:txBody>
      </p:sp>
      <p:sp>
        <p:nvSpPr>
          <p:cNvPr id="9" name="Shape 6"/>
          <p:cNvSpPr/>
          <p:nvPr/>
        </p:nvSpPr>
        <p:spPr>
          <a:xfrm>
            <a:off x="457200" y="2944368"/>
            <a:ext cx="8229600" cy="27432"/>
          </a:xfrm>
          <a:prstGeom prst="rect">
            <a:avLst/>
          </a:prstGeom>
          <a:solidFill>
            <a:srgbClr val="D4943A"/>
          </a:solidFill>
          <a:ln/>
        </p:spPr>
      </p:sp>
      <p:sp>
        <p:nvSpPr>
          <p:cNvPr id="10" name="Text 7"/>
          <p:cNvSpPr/>
          <p:nvPr/>
        </p:nvSpPr>
        <p:spPr>
          <a:xfrm>
            <a:off x="457200" y="3035808"/>
            <a:ext cx="8229600" cy="256032"/>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TODAY'S MISSION</a:t>
            </a:r>
            <a:endParaRPr lang="en-US" sz="1000" dirty="0"/>
          </a:p>
        </p:txBody>
      </p:sp>
      <p:sp>
        <p:nvSpPr>
          <p:cNvPr id="11" name="Text 8"/>
          <p:cNvSpPr/>
          <p:nvPr/>
        </p:nvSpPr>
        <p:spPr>
          <a:xfrm>
            <a:off x="731520" y="3364992"/>
            <a:ext cx="7680960" cy="77724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Identify the three Spanish explorers who came to Florida, place their expeditions in order on a timeline, and evaluate what their arrival meant for the people already living here.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09728"/>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CLUE BOX</a:t>
            </a:r>
            <a:endParaRPr lang="en-US" sz="900" dirty="0"/>
          </a:p>
        </p:txBody>
      </p:sp>
      <p:sp>
        <p:nvSpPr>
          <p:cNvPr id="4" name="Text 2"/>
          <p:cNvSpPr/>
          <p:nvPr/>
        </p:nvSpPr>
        <p:spPr>
          <a:xfrm>
            <a:off x="365760" y="365760"/>
            <a:ext cx="822960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Ships on the Horizon — Florida, Early 1500s</a:t>
            </a:r>
            <a:endParaRPr lang="en-US" sz="2200" dirty="0"/>
          </a:p>
        </p:txBody>
      </p:sp>
      <p:sp>
        <p:nvSpPr>
          <p:cNvPr id="5" name="Shape 3"/>
          <p:cNvSpPr/>
          <p:nvPr/>
        </p:nvSpPr>
        <p:spPr>
          <a:xfrm>
            <a:off x="365760" y="932688"/>
            <a:ext cx="4572000" cy="3566160"/>
          </a:xfrm>
          <a:prstGeom prst="roundRect">
            <a:avLst>
              <a:gd name="adj" fmla="val 3077"/>
            </a:avLst>
          </a:prstGeom>
          <a:solidFill>
            <a:srgbClr val="E2E8F4"/>
          </a:solidFill>
          <a:ln w="19050">
            <a:solidFill>
              <a:srgbClr val="B0B8CC"/>
            </a:solidFill>
            <a:prstDash val="dash"/>
          </a:ln>
        </p:spPr>
      </p:sp>
      <p:sp>
        <p:nvSpPr>
          <p:cNvPr id="6" name="Text 4"/>
          <p:cNvSpPr/>
          <p:nvPr/>
        </p:nvSpPr>
        <p:spPr>
          <a:xfrm>
            <a:off x="365760" y="932688"/>
            <a:ext cx="4572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207008"/>
            <a:ext cx="429768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View from Florida's shoreline — mangroves and sand in foreground, three sailing ships approaching in the distance across calm water. Dawn light. No people.</a:t>
            </a:r>
            <a:endParaRPr lang="en-US" sz="1100" dirty="0"/>
          </a:p>
        </p:txBody>
      </p:sp>
      <p:sp>
        <p:nvSpPr>
          <p:cNvPr id="8" name="Shape 6"/>
          <p:cNvSpPr/>
          <p:nvPr/>
        </p:nvSpPr>
        <p:spPr>
          <a:xfrm>
            <a:off x="5120640" y="932688"/>
            <a:ext cx="3657600" cy="1965960"/>
          </a:xfrm>
          <a:prstGeom prst="roundRect">
            <a:avLst>
              <a:gd name="adj" fmla="val 5581"/>
            </a:avLst>
          </a:prstGeom>
          <a:solidFill>
            <a:srgbClr val="FFFFFF"/>
          </a:solidFill>
          <a:ln w="19050">
            <a:solidFill>
              <a:srgbClr val="D4943A"/>
            </a:solidFill>
            <a:prstDash val="solid"/>
          </a:ln>
        </p:spPr>
      </p:sp>
      <p:sp>
        <p:nvSpPr>
          <p:cNvPr id="9" name="Text 7"/>
          <p:cNvSpPr/>
          <p:nvPr/>
        </p:nvSpPr>
        <p:spPr>
          <a:xfrm>
            <a:off x="5257800" y="1005840"/>
            <a:ext cx="338328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ANALYZE THIS SCENE</a:t>
            </a:r>
            <a:endParaRPr lang="en-US" sz="900" dirty="0"/>
          </a:p>
        </p:txBody>
      </p:sp>
      <p:sp>
        <p:nvSpPr>
          <p:cNvPr id="10" name="Text 8"/>
          <p:cNvSpPr/>
          <p:nvPr/>
        </p:nvSpPr>
        <p:spPr>
          <a:xfrm>
            <a:off x="5257800" y="1261872"/>
            <a:ext cx="3383280" cy="150876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You are standing on Florida's shore — you have lived here your whole life. These ships are unlike anything you have ever seen.</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questions would you have? What would you be trying to figure out?</a:t>
            </a:r>
            <a:endParaRPr lang="en-US" sz="1200" dirty="0"/>
          </a:p>
        </p:txBody>
      </p:sp>
      <p:sp>
        <p:nvSpPr>
          <p:cNvPr id="11" name="Shape 9"/>
          <p:cNvSpPr/>
          <p:nvPr/>
        </p:nvSpPr>
        <p:spPr>
          <a:xfrm>
            <a:off x="5120640" y="2999232"/>
            <a:ext cx="3657600" cy="1508760"/>
          </a:xfrm>
          <a:prstGeom prst="roundRect">
            <a:avLst>
              <a:gd name="adj" fmla="val 7273"/>
            </a:avLst>
          </a:prstGeom>
          <a:solidFill>
            <a:srgbClr val="FFF3DC"/>
          </a:solidFill>
          <a:ln w="19050">
            <a:solidFill>
              <a:srgbClr val="F5E6C8"/>
            </a:solidFill>
            <a:prstDash val="solid"/>
          </a:ln>
        </p:spPr>
      </p:sp>
      <p:sp>
        <p:nvSpPr>
          <p:cNvPr id="12" name="Text 10"/>
          <p:cNvSpPr/>
          <p:nvPr/>
        </p:nvSpPr>
        <p:spPr>
          <a:xfrm>
            <a:off x="5257800" y="3054096"/>
            <a:ext cx="3383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257800" y="3255264"/>
            <a:ext cx="3383280" cy="11887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were watching those ships from shore, I would think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important question I'd want answered is ___ because that would tell me whether..."</a:t>
            </a:r>
            <a:endParaRPr lang="en-US" sz="1200" dirty="0"/>
          </a:p>
        </p:txBody>
      </p:sp>
      <p:sp>
        <p:nvSpPr>
          <p:cNvPr id="14" name="Text 12"/>
          <p:cNvSpPr/>
          <p:nvPr/>
        </p:nvSpPr>
        <p:spPr>
          <a:xfrm>
            <a:off x="365760" y="4590288"/>
            <a:ext cx="8229600" cy="256032"/>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Perspective check: we just spent five lessons studying the First Peoples. This scene looks very different from their shore.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229600" cy="59436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Why do historians have to tell BOTH sides of this story?</a:t>
            </a:r>
            <a:endParaRPr lang="en-US" sz="2600" dirty="0"/>
          </a:p>
        </p:txBody>
      </p:sp>
      <p:sp>
        <p:nvSpPr>
          <p:cNvPr id="4" name="Shape 2"/>
          <p:cNvSpPr/>
          <p:nvPr/>
        </p:nvSpPr>
        <p:spPr>
          <a:xfrm>
            <a:off x="365760" y="914400"/>
            <a:ext cx="5120640" cy="237744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548640" y="100584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548640" y="1261872"/>
            <a:ext cx="4754880" cy="19385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Some accounts describe these explorers as 'brave adventurers discovering new land.' What's wrong with that framing — and what's the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 arrival of these ships be both brave AND harmful at the same time? How would you defend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source would tell a more complete story: a Spanish sailor's journal, or a Calusa oral history? What does each one leave out?</a:t>
            </a:r>
            <a:endParaRPr lang="en-US" sz="1100" dirty="0"/>
          </a:p>
        </p:txBody>
      </p:sp>
      <p:sp>
        <p:nvSpPr>
          <p:cNvPr id="7" name="Shape 5"/>
          <p:cNvSpPr/>
          <p:nvPr/>
        </p:nvSpPr>
        <p:spPr>
          <a:xfrm>
            <a:off x="5669280" y="914400"/>
            <a:ext cx="3200400" cy="2377440"/>
          </a:xfrm>
          <a:prstGeom prst="roundRect">
            <a:avLst>
              <a:gd name="adj" fmla="val 4615"/>
            </a:avLst>
          </a:prstGeom>
          <a:solidFill>
            <a:srgbClr val="FFF3DC"/>
          </a:solidFill>
          <a:ln w="19050">
            <a:solidFill>
              <a:srgbClr val="F5E6C8"/>
            </a:solidFill>
            <a:prstDash val="solid"/>
          </a:ln>
        </p:spPr>
      </p:sp>
      <p:sp>
        <p:nvSpPr>
          <p:cNvPr id="8" name="Text 6"/>
          <p:cNvSpPr/>
          <p:nvPr/>
        </p:nvSpPr>
        <p:spPr>
          <a:xfrm>
            <a:off x="5806440" y="9692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5806440" y="1170432"/>
            <a:ext cx="2926080" cy="2057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framing of 'discovery' is inaccurate because the evidence shows ___, specifically..."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historians must include both perspectives because without ___, the record is incomplete — and that matters because..."</a:t>
            </a:r>
            <a:endParaRPr lang="en-US" sz="1200" dirty="0"/>
          </a:p>
        </p:txBody>
      </p:sp>
      <p:sp>
        <p:nvSpPr>
          <p:cNvPr id="10" name="Shape 8"/>
          <p:cNvSpPr/>
          <p:nvPr/>
        </p:nvSpPr>
        <p:spPr>
          <a:xfrm>
            <a:off x="365760" y="3429000"/>
            <a:ext cx="8412480" cy="1371600"/>
          </a:xfrm>
          <a:prstGeom prst="roundRect">
            <a:avLst>
              <a:gd name="adj" fmla="val 6667"/>
            </a:avLst>
          </a:prstGeom>
          <a:solidFill>
            <a:srgbClr val="FFFFFF"/>
          </a:solidFill>
          <a:ln w="12700">
            <a:solidFill>
              <a:srgbClr val="1A8A7D"/>
            </a:solidFill>
            <a:prstDash val="solid"/>
          </a:ln>
        </p:spPr>
      </p:sp>
      <p:sp>
        <p:nvSpPr>
          <p:cNvPr id="11" name="Text 9"/>
          <p:cNvSpPr/>
          <p:nvPr/>
        </p:nvSpPr>
        <p:spPr>
          <a:xfrm>
            <a:off x="548640" y="3502152"/>
            <a:ext cx="1828800" cy="201168"/>
          </a:xfrm>
          <a:prstGeom prst="rect">
            <a:avLst/>
          </a:prstGeom>
          <a:noFill/>
          <a:ln/>
        </p:spPr>
        <p:txBody>
          <a:bodyPr wrap="square" rtlCol="0" anchor="ctr"/>
          <a:lstStyle/>
          <a:p>
            <a:pPr indent="0" marL="0">
              <a:buNone/>
            </a:pPr>
            <a:r>
              <a:rPr lang="en-US" sz="800" b="1" spc="150" kern="0" dirty="0">
                <a:solidFill>
                  <a:srgbClr val="1A8A7D"/>
                </a:solidFill>
                <a:latin typeface="Calibri" pitchFamily="34" charset="0"/>
                <a:ea typeface="Calibri" pitchFamily="34" charset="-122"/>
                <a:cs typeface="Calibri" pitchFamily="34" charset="-120"/>
              </a:rPr>
              <a:t>TEACHER GUIDE</a:t>
            </a:r>
            <a:endParaRPr lang="en-US" sz="800" dirty="0"/>
          </a:p>
        </p:txBody>
      </p:sp>
      <p:sp>
        <p:nvSpPr>
          <p:cNvPr id="12" name="Text 10"/>
          <p:cNvSpPr/>
          <p:nvPr/>
        </p:nvSpPr>
        <p:spPr>
          <a:xfrm>
            <a:off x="548640" y="3730752"/>
            <a:ext cx="8046720" cy="96012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The word 'discover' is the key tension. You can discover something no one in your world knew about — but tens of thousands of people already lived there. That's not a discovery, that's a meeting. Don't tell them: ask them to find the logic flaw themselves.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09728"/>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SOURCE STUDY</a:t>
            </a:r>
            <a:endParaRPr lang="en-US" sz="900" dirty="0"/>
          </a:p>
        </p:txBody>
      </p:sp>
      <p:sp>
        <p:nvSpPr>
          <p:cNvPr id="4" name="Text 2"/>
          <p:cNvSpPr/>
          <p:nvPr/>
        </p:nvSpPr>
        <p:spPr>
          <a:xfrm>
            <a:off x="365760" y="365760"/>
            <a:ext cx="822960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Timeline Thread — Early Spanish Expeditions to Florida</a:t>
            </a:r>
            <a:endParaRPr lang="en-US" sz="2200" dirty="0"/>
          </a:p>
        </p:txBody>
      </p:sp>
      <p:sp>
        <p:nvSpPr>
          <p:cNvPr id="5" name="Shape 3"/>
          <p:cNvSpPr/>
          <p:nvPr/>
        </p:nvSpPr>
        <p:spPr>
          <a:xfrm>
            <a:off x="365760" y="960120"/>
            <a:ext cx="4023360" cy="329184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365760" y="960120"/>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234440"/>
            <a:ext cx="374904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clean horizontal timeline (1510-1545) with three expedition markers: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1513: Ponce de Leon's ship icon, Atlantic coast of Florida</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1528: Narvaez ship icon, Tampa Bay, 'disaster' symbol</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1539: de Soto ship icon, Tampa Bay, route arrow going inland through Southeast</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Below the timeline: 'First Peoples of Florida — already here for thousands of years' label spanning the full width.</a:t>
            </a:r>
            <a:endParaRPr lang="en-US" sz="1100" dirty="0"/>
          </a:p>
        </p:txBody>
      </p:sp>
      <p:sp>
        <p:nvSpPr>
          <p:cNvPr id="8" name="Shape 6"/>
          <p:cNvSpPr/>
          <p:nvPr/>
        </p:nvSpPr>
        <p:spPr>
          <a:xfrm>
            <a:off x="4572000" y="960120"/>
            <a:ext cx="4297680" cy="329184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4754880" y="1051560"/>
            <a:ext cx="39319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0" name="Text 8"/>
          <p:cNvSpPr/>
          <p:nvPr/>
        </p:nvSpPr>
        <p:spPr>
          <a:xfrm>
            <a:off x="4754880" y="1307592"/>
            <a:ext cx="3931920" cy="2852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This timeline shows only the Spanish expeditions. Whose story is missing from this type of source — and what difference would it make to include them?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timeline shows dates and routes. What does it NOT show — and why does that matter for understanding what really happened?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Cabeza de Vaca later wrote an account of the Narvaez disaster. What perspective would his account give you, and what perspective would it miss?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11480"/>
          </a:xfrm>
          <a:prstGeom prst="roundRect">
            <a:avLst>
              <a:gd name="adj" fmla="val 22222"/>
            </a:avLst>
          </a:prstGeom>
          <a:solidFill>
            <a:srgbClr val="D4943A">
              <a:alpha val="80000"/>
            </a:srgbClr>
          </a:solidFill>
          <a:ln/>
        </p:spPr>
      </p:sp>
      <p:sp>
        <p:nvSpPr>
          <p:cNvPr id="6" name="Text 3"/>
          <p:cNvSpPr/>
          <p:nvPr/>
        </p:nvSpPr>
        <p:spPr>
          <a:xfrm>
            <a:off x="457200" y="274320"/>
            <a:ext cx="8229600" cy="411480"/>
          </a:xfrm>
          <a:prstGeom prst="rect">
            <a:avLst/>
          </a:prstGeom>
          <a:noFill/>
          <a:ln/>
        </p:spPr>
        <p:txBody>
          <a:bodyPr wrap="square"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YOU FOUND IT:</a:t>
            </a:r>
            <a:endParaRPr lang="en-US" sz="1400" dirty="0"/>
          </a:p>
        </p:txBody>
      </p:sp>
      <p:sp>
        <p:nvSpPr>
          <p:cNvPr id="7" name="Text 4"/>
          <p:cNvSpPr/>
          <p:nvPr/>
        </p:nvSpPr>
        <p:spPr>
          <a:xfrm>
            <a:off x="457200" y="822960"/>
            <a:ext cx="8229600" cy="731520"/>
          </a:xfrm>
          <a:prstGeom prst="rect">
            <a:avLst/>
          </a:prstGeom>
          <a:noFill/>
          <a:ln/>
        </p:spPr>
        <p:txBody>
          <a:bodyPr wrap="square"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Arrival, Not Discovery</a:t>
            </a:r>
            <a:endParaRPr lang="en-US" sz="4400" dirty="0"/>
          </a:p>
        </p:txBody>
      </p:sp>
      <p:sp>
        <p:nvSpPr>
          <p:cNvPr id="8" name="Shape 5"/>
          <p:cNvSpPr/>
          <p:nvPr/>
        </p:nvSpPr>
        <p:spPr>
          <a:xfrm>
            <a:off x="914400" y="1664208"/>
            <a:ext cx="7315200" cy="27432"/>
          </a:xfrm>
          <a:prstGeom prst="rect">
            <a:avLst/>
          </a:prstGeom>
          <a:solidFill>
            <a:srgbClr val="55C8E8"/>
          </a:solidFill>
          <a:ln/>
        </p:spPr>
      </p:sp>
      <p:sp>
        <p:nvSpPr>
          <p:cNvPr id="9" name="Text 6"/>
          <p:cNvSpPr/>
          <p:nvPr/>
        </p:nvSpPr>
        <p:spPr>
          <a:xfrm>
            <a:off x="640080" y="1755648"/>
            <a:ext cx="7863840" cy="132588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Three Spanish expeditions reached Florida between 1513 and 1539 — led by Ponce de Leon, Narvaez, and de Soto. Their arrival was not a 'discovery.' It was a meeting between strangers and the nations who had been living on this land for thousands of years. Historians who tell only the European side are leaving out half the people involved.</a:t>
            </a:r>
            <a:endParaRPr lang="en-US" sz="1400" dirty="0"/>
          </a:p>
        </p:txBody>
      </p:sp>
      <p:sp>
        <p:nvSpPr>
          <p:cNvPr id="10" name="Shape 7"/>
          <p:cNvSpPr/>
          <p:nvPr/>
        </p:nvSpPr>
        <p:spPr>
          <a:xfrm>
            <a:off x="1371600" y="3218688"/>
            <a:ext cx="6400800" cy="1188720"/>
          </a:xfrm>
          <a:prstGeom prst="roundRect">
            <a:avLst>
              <a:gd name="adj" fmla="val 7692"/>
            </a:avLst>
          </a:prstGeom>
          <a:solidFill>
            <a:srgbClr val="1A2D5A"/>
          </a:solidFill>
          <a:ln/>
        </p:spPr>
      </p:sp>
      <p:sp>
        <p:nvSpPr>
          <p:cNvPr id="11" name="Text 8"/>
          <p:cNvSpPr/>
          <p:nvPr/>
        </p:nvSpPr>
        <p:spPr>
          <a:xfrm>
            <a:off x="1554480" y="3291840"/>
            <a:ext cx="6035040" cy="228600"/>
          </a:xfrm>
          <a:prstGeom prst="rect">
            <a:avLst/>
          </a:prstGeom>
          <a:noFill/>
          <a:ln/>
        </p:spPr>
        <p:txBody>
          <a:bodyPr wrap="square"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RETRIEVAL CHALLENGE</a:t>
            </a:r>
            <a:endParaRPr lang="en-US" sz="900" dirty="0"/>
          </a:p>
        </p:txBody>
      </p:sp>
      <p:sp>
        <p:nvSpPr>
          <p:cNvPr id="12" name="Text 9"/>
          <p:cNvSpPr/>
          <p:nvPr/>
        </p:nvSpPr>
        <p:spPr>
          <a:xfrm>
            <a:off x="1554480" y="3566160"/>
            <a:ext cx="6035040" cy="713232"/>
          </a:xfrm>
          <a:prstGeom prst="rect">
            <a:avLst/>
          </a:prstGeom>
          <a:noFill/>
          <a:ln/>
        </p:spPr>
        <p:txBody>
          <a:bodyPr wrap="square"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Cover your screen. Name all three explorers and their arrival years from memory.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91440"/>
            <a:ext cx="82296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MULTI-SOURCE COMPARE</a:t>
            </a:r>
            <a:endParaRPr lang="en-US" sz="900" dirty="0"/>
          </a:p>
        </p:txBody>
      </p:sp>
      <p:sp>
        <p:nvSpPr>
          <p:cNvPr id="4" name="Text 2"/>
          <p:cNvSpPr/>
          <p:nvPr/>
        </p:nvSpPr>
        <p:spPr>
          <a:xfrm>
            <a:off x="365760" y="347472"/>
            <a:ext cx="822960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Same Event — Two Very Different Stories</a:t>
            </a:r>
            <a:endParaRPr lang="en-US" sz="2200" dirty="0"/>
          </a:p>
        </p:txBody>
      </p:sp>
      <p:sp>
        <p:nvSpPr>
          <p:cNvPr id="5" name="Shape 3"/>
          <p:cNvSpPr/>
          <p:nvPr/>
        </p:nvSpPr>
        <p:spPr>
          <a:xfrm>
            <a:off x="274320" y="896112"/>
            <a:ext cx="4023360" cy="2377440"/>
          </a:xfrm>
          <a:prstGeom prst="roundRect">
            <a:avLst>
              <a:gd name="adj" fmla="val 4615"/>
            </a:avLst>
          </a:prstGeom>
          <a:solidFill>
            <a:srgbClr val="E2E8F4"/>
          </a:solidFill>
          <a:ln w="19050">
            <a:solidFill>
              <a:srgbClr val="B0B8CC"/>
            </a:solidFill>
            <a:prstDash val="dash"/>
          </a:ln>
        </p:spPr>
      </p:sp>
      <p:sp>
        <p:nvSpPr>
          <p:cNvPr id="6" name="Text 4"/>
          <p:cNvSpPr/>
          <p:nvPr/>
        </p:nvSpPr>
        <p:spPr>
          <a:xfrm>
            <a:off x="274320" y="896112"/>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170432"/>
            <a:ext cx="3749040" cy="201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A: Page from a European ship's log — careful script, nautical terms, maps, compass. Documents the expedition from the Spanish perspective. No people.</a:t>
            </a:r>
            <a:endParaRPr lang="en-US" sz="1100" dirty="0"/>
          </a:p>
        </p:txBody>
      </p:sp>
      <p:sp>
        <p:nvSpPr>
          <p:cNvPr id="8" name="Text 6"/>
          <p:cNvSpPr/>
          <p:nvPr/>
        </p:nvSpPr>
        <p:spPr>
          <a:xfrm>
            <a:off x="274320" y="3310128"/>
            <a:ext cx="402336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A: Spanish Expedition Log</a:t>
            </a:r>
            <a:endParaRPr lang="en-US" sz="1000" dirty="0"/>
          </a:p>
        </p:txBody>
      </p:sp>
      <p:sp>
        <p:nvSpPr>
          <p:cNvPr id="9" name="Text 7"/>
          <p:cNvSpPr/>
          <p:nvPr/>
        </p:nvSpPr>
        <p:spPr>
          <a:xfrm>
            <a:off x="274320" y="3547872"/>
            <a:ext cx="4023360" cy="274320"/>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Written by the explorers themselves — from the ship's view</a:t>
            </a:r>
            <a:endParaRPr lang="en-US" sz="1000" dirty="0"/>
          </a:p>
        </p:txBody>
      </p:sp>
      <p:sp>
        <p:nvSpPr>
          <p:cNvPr id="10" name="Shape 8"/>
          <p:cNvSpPr/>
          <p:nvPr/>
        </p:nvSpPr>
        <p:spPr>
          <a:xfrm>
            <a:off x="4663440" y="896112"/>
            <a:ext cx="4023360" cy="2377440"/>
          </a:xfrm>
          <a:prstGeom prst="roundRect">
            <a:avLst>
              <a:gd name="adj" fmla="val 4615"/>
            </a:avLst>
          </a:prstGeom>
          <a:solidFill>
            <a:srgbClr val="E2E8F4"/>
          </a:solidFill>
          <a:ln w="19050">
            <a:solidFill>
              <a:srgbClr val="B0B8CC"/>
            </a:solidFill>
            <a:prstDash val="dash"/>
          </a:ln>
        </p:spPr>
      </p:sp>
      <p:sp>
        <p:nvSpPr>
          <p:cNvPr id="11" name="Text 9"/>
          <p:cNvSpPr/>
          <p:nvPr/>
        </p:nvSpPr>
        <p:spPr>
          <a:xfrm>
            <a:off x="4663440" y="896112"/>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4800600" y="1170432"/>
            <a:ext cx="3749040" cy="201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B: Illustration of Florida's coastline as seen from inland — mangrove trees in foreground, the silhouette of ships visible on the horizon. The First Peoples' view from the shore.</a:t>
            </a:r>
            <a:endParaRPr lang="en-US" sz="1100" dirty="0"/>
          </a:p>
        </p:txBody>
      </p:sp>
      <p:sp>
        <p:nvSpPr>
          <p:cNvPr id="13" name="Text 11"/>
          <p:cNvSpPr/>
          <p:nvPr/>
        </p:nvSpPr>
        <p:spPr>
          <a:xfrm>
            <a:off x="4663440" y="3310128"/>
            <a:ext cx="402336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B: The Shore-Side View</a:t>
            </a:r>
            <a:endParaRPr lang="en-US" sz="1000" dirty="0"/>
          </a:p>
        </p:txBody>
      </p:sp>
      <p:sp>
        <p:nvSpPr>
          <p:cNvPr id="14" name="Text 12"/>
          <p:cNvSpPr/>
          <p:nvPr/>
        </p:nvSpPr>
        <p:spPr>
          <a:xfrm>
            <a:off x="4663440" y="3547872"/>
            <a:ext cx="4023360" cy="274320"/>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The First Peoples' perspective — not a written source they left</a:t>
            </a:r>
            <a:endParaRPr lang="en-US" sz="1000" dirty="0"/>
          </a:p>
        </p:txBody>
      </p:sp>
      <p:sp>
        <p:nvSpPr>
          <p:cNvPr id="15" name="Shape 13"/>
          <p:cNvSpPr/>
          <p:nvPr/>
        </p:nvSpPr>
        <p:spPr>
          <a:xfrm>
            <a:off x="274320" y="3913632"/>
            <a:ext cx="8595360" cy="960120"/>
          </a:xfrm>
          <a:prstGeom prst="roundRect">
            <a:avLst>
              <a:gd name="adj" fmla="val 11429"/>
            </a:avLst>
          </a:prstGeom>
          <a:solidFill>
            <a:srgbClr val="FFF3DC"/>
          </a:solidFill>
          <a:ln w="19050">
            <a:solidFill>
              <a:srgbClr val="F5E6C8"/>
            </a:solidFill>
            <a:prstDash val="solid"/>
          </a:ln>
        </p:spPr>
      </p:sp>
      <p:sp>
        <p:nvSpPr>
          <p:cNvPr id="16" name="Text 14"/>
          <p:cNvSpPr/>
          <p:nvPr/>
        </p:nvSpPr>
        <p:spPr>
          <a:xfrm>
            <a:off x="411480" y="3968496"/>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11480" y="4169664"/>
            <a:ext cx="832104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that ships arrived, but they show very different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source that a historian must work harder to find evidence for is ___, because it was recorded by..."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182880"/>
            <a:ext cx="8229600" cy="457200"/>
          </a:xfrm>
          <a:prstGeom prst="rect">
            <a:avLst/>
          </a:prstGeom>
          <a:noFill/>
          <a:ln/>
        </p:spPr>
        <p:txBody>
          <a:bodyPr wrap="square"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Three Expeditions — 26 Years</a:t>
            </a:r>
            <a:endParaRPr lang="en-US" sz="2800" dirty="0"/>
          </a:p>
        </p:txBody>
      </p:sp>
      <p:sp>
        <p:nvSpPr>
          <p:cNvPr id="6" name="Shape 3"/>
          <p:cNvSpPr/>
          <p:nvPr/>
        </p:nvSpPr>
        <p:spPr>
          <a:xfrm>
            <a:off x="274320" y="841248"/>
            <a:ext cx="8595360" cy="1207008"/>
          </a:xfrm>
          <a:prstGeom prst="roundRect">
            <a:avLst>
              <a:gd name="adj" fmla="val 7576"/>
            </a:avLst>
          </a:prstGeom>
          <a:solidFill>
            <a:srgbClr val="1A2D5A"/>
          </a:solidFill>
          <a:ln/>
        </p:spPr>
      </p:sp>
      <p:sp>
        <p:nvSpPr>
          <p:cNvPr id="7" name="Shape 4"/>
          <p:cNvSpPr/>
          <p:nvPr/>
        </p:nvSpPr>
        <p:spPr>
          <a:xfrm>
            <a:off x="274320" y="841248"/>
            <a:ext cx="777240" cy="1207008"/>
          </a:xfrm>
          <a:prstGeom prst="roundRect">
            <a:avLst>
              <a:gd name="adj" fmla="val 11765"/>
            </a:avLst>
          </a:prstGeom>
          <a:solidFill>
            <a:srgbClr val="55C8E8">
              <a:alpha val="80000"/>
            </a:srgbClr>
          </a:solidFill>
          <a:ln/>
        </p:spPr>
      </p:sp>
      <p:sp>
        <p:nvSpPr>
          <p:cNvPr id="8" name="Text 5"/>
          <p:cNvSpPr/>
          <p:nvPr/>
        </p:nvSpPr>
        <p:spPr>
          <a:xfrm>
            <a:off x="274320" y="841248"/>
            <a:ext cx="777240" cy="120700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1513</a:t>
            </a:r>
            <a:endParaRPr lang="en-US" sz="1600" dirty="0"/>
          </a:p>
        </p:txBody>
      </p:sp>
      <p:sp>
        <p:nvSpPr>
          <p:cNvPr id="9" name="Text 6"/>
          <p:cNvSpPr/>
          <p:nvPr/>
        </p:nvSpPr>
        <p:spPr>
          <a:xfrm>
            <a:off x="1143000" y="896112"/>
            <a:ext cx="7589520" cy="320040"/>
          </a:xfrm>
          <a:prstGeom prst="rect">
            <a:avLst/>
          </a:prstGeom>
          <a:noFill/>
          <a:ln/>
        </p:spPr>
        <p:txBody>
          <a:bodyPr wrap="square"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Juan Ponce de Leon</a:t>
            </a:r>
            <a:endParaRPr lang="en-US" sz="1400" dirty="0"/>
          </a:p>
        </p:txBody>
      </p:sp>
      <p:sp>
        <p:nvSpPr>
          <p:cNvPr id="10" name="Text 7"/>
          <p:cNvSpPr/>
          <p:nvPr/>
        </p:nvSpPr>
        <p:spPr>
          <a:xfrm>
            <a:off x="1143000" y="1207008"/>
            <a:ext cx="7589520" cy="749808"/>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Reaches Atlantic coast of Florida in spring. Names it La Florida. Looking for new lands and resources for Spain — NOT a Fountain of Youth (that's a legend).</a:t>
            </a:r>
            <a:endParaRPr lang="en-US" sz="1100" dirty="0"/>
          </a:p>
        </p:txBody>
      </p:sp>
      <p:sp>
        <p:nvSpPr>
          <p:cNvPr id="11" name="Shape 8"/>
          <p:cNvSpPr/>
          <p:nvPr/>
        </p:nvSpPr>
        <p:spPr>
          <a:xfrm>
            <a:off x="274320" y="2167128"/>
            <a:ext cx="8595360" cy="1207008"/>
          </a:xfrm>
          <a:prstGeom prst="roundRect">
            <a:avLst>
              <a:gd name="adj" fmla="val 7576"/>
            </a:avLst>
          </a:prstGeom>
          <a:solidFill>
            <a:srgbClr val="1A2D5A"/>
          </a:solidFill>
          <a:ln/>
        </p:spPr>
      </p:sp>
      <p:sp>
        <p:nvSpPr>
          <p:cNvPr id="12" name="Shape 9"/>
          <p:cNvSpPr/>
          <p:nvPr/>
        </p:nvSpPr>
        <p:spPr>
          <a:xfrm>
            <a:off x="274320" y="2167128"/>
            <a:ext cx="777240" cy="1207008"/>
          </a:xfrm>
          <a:prstGeom prst="roundRect">
            <a:avLst>
              <a:gd name="adj" fmla="val 11765"/>
            </a:avLst>
          </a:prstGeom>
          <a:solidFill>
            <a:srgbClr val="34B76F">
              <a:alpha val="80000"/>
            </a:srgbClr>
          </a:solidFill>
          <a:ln/>
        </p:spPr>
      </p:sp>
      <p:sp>
        <p:nvSpPr>
          <p:cNvPr id="13" name="Text 10"/>
          <p:cNvSpPr/>
          <p:nvPr/>
        </p:nvSpPr>
        <p:spPr>
          <a:xfrm>
            <a:off x="274320" y="2167128"/>
            <a:ext cx="777240" cy="120700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1528</a:t>
            </a:r>
            <a:endParaRPr lang="en-US" sz="1600" dirty="0"/>
          </a:p>
        </p:txBody>
      </p:sp>
      <p:sp>
        <p:nvSpPr>
          <p:cNvPr id="14" name="Text 11"/>
          <p:cNvSpPr/>
          <p:nvPr/>
        </p:nvSpPr>
        <p:spPr>
          <a:xfrm>
            <a:off x="1143000" y="2221992"/>
            <a:ext cx="7589520" cy="320040"/>
          </a:xfrm>
          <a:prstGeom prst="rect">
            <a:avLst/>
          </a:prstGeom>
          <a:noFill/>
          <a:ln/>
        </p:spPr>
        <p:txBody>
          <a:bodyPr wrap="square"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Panfilo de Narvaez</a:t>
            </a:r>
            <a:endParaRPr lang="en-US" sz="1400" dirty="0"/>
          </a:p>
        </p:txBody>
      </p:sp>
      <p:sp>
        <p:nvSpPr>
          <p:cNvPr id="15" name="Text 12"/>
          <p:cNvSpPr/>
          <p:nvPr/>
        </p:nvSpPr>
        <p:spPr>
          <a:xfrm>
            <a:off x="1143000" y="2532888"/>
            <a:ext cx="7589520" cy="749808"/>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Lands near Tampa Bay with ~300 men. Expedition ends in disaster. Only 4 survivors including Cabeza de Vaca, who later wrote a famous account.</a:t>
            </a:r>
            <a:endParaRPr lang="en-US" sz="1100" dirty="0"/>
          </a:p>
        </p:txBody>
      </p:sp>
      <p:sp>
        <p:nvSpPr>
          <p:cNvPr id="16" name="Shape 13"/>
          <p:cNvSpPr/>
          <p:nvPr/>
        </p:nvSpPr>
        <p:spPr>
          <a:xfrm>
            <a:off x="274320" y="3493008"/>
            <a:ext cx="8595360" cy="1207008"/>
          </a:xfrm>
          <a:prstGeom prst="roundRect">
            <a:avLst>
              <a:gd name="adj" fmla="val 7576"/>
            </a:avLst>
          </a:prstGeom>
          <a:solidFill>
            <a:srgbClr val="1A2D5A"/>
          </a:solidFill>
          <a:ln/>
        </p:spPr>
      </p:sp>
      <p:sp>
        <p:nvSpPr>
          <p:cNvPr id="17" name="Shape 14"/>
          <p:cNvSpPr/>
          <p:nvPr/>
        </p:nvSpPr>
        <p:spPr>
          <a:xfrm>
            <a:off x="274320" y="3493008"/>
            <a:ext cx="777240" cy="1207008"/>
          </a:xfrm>
          <a:prstGeom prst="roundRect">
            <a:avLst>
              <a:gd name="adj" fmla="val 11765"/>
            </a:avLst>
          </a:prstGeom>
          <a:solidFill>
            <a:srgbClr val="D4943A">
              <a:alpha val="80000"/>
            </a:srgbClr>
          </a:solidFill>
          <a:ln/>
        </p:spPr>
      </p:sp>
      <p:sp>
        <p:nvSpPr>
          <p:cNvPr id="18" name="Text 15"/>
          <p:cNvSpPr/>
          <p:nvPr/>
        </p:nvSpPr>
        <p:spPr>
          <a:xfrm>
            <a:off x="274320" y="3493008"/>
            <a:ext cx="777240" cy="120700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1539</a:t>
            </a:r>
            <a:endParaRPr lang="en-US" sz="1600" dirty="0"/>
          </a:p>
        </p:txBody>
      </p:sp>
      <p:sp>
        <p:nvSpPr>
          <p:cNvPr id="19" name="Text 16"/>
          <p:cNvSpPr/>
          <p:nvPr/>
        </p:nvSpPr>
        <p:spPr>
          <a:xfrm>
            <a:off x="1143000" y="3547872"/>
            <a:ext cx="7589520" cy="320040"/>
          </a:xfrm>
          <a:prstGeom prst="rect">
            <a:avLst/>
          </a:prstGeom>
          <a:noFill/>
          <a:ln/>
        </p:spPr>
        <p:txBody>
          <a:bodyPr wrap="square"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Hernando de Soto</a:t>
            </a:r>
            <a:endParaRPr lang="en-US" sz="1400" dirty="0"/>
          </a:p>
        </p:txBody>
      </p:sp>
      <p:sp>
        <p:nvSpPr>
          <p:cNvPr id="20" name="Text 17"/>
          <p:cNvSpPr/>
          <p:nvPr/>
        </p:nvSpPr>
        <p:spPr>
          <a:xfrm>
            <a:off x="1143000" y="3858768"/>
            <a:ext cx="7589520" cy="749808"/>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Lands near Tampa Bay with 600+ soldiers, horses, pigs. Marches across the Southeast searching for cities of gold. Spreads disease, takes food by force, dies near the Mississippi.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1: TEACHER MODELS</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Watch how I answer using names, dates, AND evidence...</a:t>
            </a:r>
            <a:endParaRPr lang="en-US" sz="2000" dirty="0"/>
          </a:p>
        </p:txBody>
      </p:sp>
      <p:sp>
        <p:nvSpPr>
          <p:cNvPr id="6" name="Shape 4"/>
          <p:cNvSpPr/>
          <p:nvPr/>
        </p:nvSpPr>
        <p:spPr>
          <a:xfrm>
            <a:off x="365760" y="1207008"/>
            <a:ext cx="8412480" cy="2286000"/>
          </a:xfrm>
          <a:prstGeom prst="roundRect">
            <a:avLst>
              <a:gd name="adj" fmla="val 4800"/>
            </a:avLst>
          </a:prstGeom>
          <a:solidFill>
            <a:srgbClr val="FFFFFF"/>
          </a:solidFill>
          <a:ln w="19050">
            <a:solidFill>
              <a:srgbClr val="1A8A7D"/>
            </a:solidFill>
            <a:prstDash val="solid"/>
          </a:ln>
        </p:spPr>
      </p:sp>
      <p:sp>
        <p:nvSpPr>
          <p:cNvPr id="7" name="Text 5"/>
          <p:cNvSpPr/>
          <p:nvPr/>
        </p:nvSpPr>
        <p:spPr>
          <a:xfrm>
            <a:off x="548640" y="1280160"/>
            <a:ext cx="182880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 ALOUD</a:t>
            </a:r>
            <a:endParaRPr lang="en-US" sz="900" dirty="0"/>
          </a:p>
        </p:txBody>
      </p:sp>
      <p:sp>
        <p:nvSpPr>
          <p:cNvPr id="8" name="Text 6"/>
          <p:cNvSpPr/>
          <p:nvPr/>
        </p:nvSpPr>
        <p:spPr>
          <a:xfrm>
            <a:off x="548640" y="1536192"/>
            <a:ext cx="8046720" cy="182880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Assignment Q1: Name two of the three Spanish explorers and the year each one came to Florida.</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I'll name Ponce de Leon (1513) and de Soto (1539). That's the easy part — just names and dates from the timeline.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Assignment Q2: What does the Narvaez expedition tell us about the dangers explorers faced?</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Here's my move: Narvaez came with 300 men. Only 4 survived. That's a 99% death rate. So the evidence isn't just 'it was dangerous' — the SPECIFIC evidence is that 296 out of 300 men died. That number is what makes the answer strong.</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Claim: The Narvaez expedition shows the expedition was extremely dangerous. Evidence: Only 4 of about 300 men survived. Explanation: That means the storms, hunger, illness, and conflicts with the Apalachee killed 296 people.</a:t>
            </a:r>
            <a:endParaRPr lang="en-US" sz="1200" dirty="0"/>
          </a:p>
        </p:txBody>
      </p:sp>
      <p:sp>
        <p:nvSpPr>
          <p:cNvPr id="9" name="Shape 7"/>
          <p:cNvSpPr/>
          <p:nvPr/>
        </p:nvSpPr>
        <p:spPr>
          <a:xfrm>
            <a:off x="365760" y="3611880"/>
            <a:ext cx="8412480" cy="822960"/>
          </a:xfrm>
          <a:prstGeom prst="roundRect">
            <a:avLst>
              <a:gd name="adj" fmla="val 11111"/>
            </a:avLst>
          </a:prstGeom>
          <a:solidFill>
            <a:srgbClr val="FFF3DC"/>
          </a:solidFill>
          <a:ln w="12700">
            <a:solidFill>
              <a:srgbClr val="F5E6C8"/>
            </a:solidFill>
            <a:prstDash val="solid"/>
          </a:ln>
        </p:spPr>
      </p:sp>
      <p:sp>
        <p:nvSpPr>
          <p:cNvPr id="10" name="Text 8"/>
          <p:cNvSpPr/>
          <p:nvPr/>
        </p:nvSpPr>
        <p:spPr>
          <a:xfrm>
            <a:off x="548640" y="3749040"/>
            <a:ext cx="8046720" cy="566928"/>
          </a:xfrm>
          <a:prstGeom prst="rect">
            <a:avLst/>
          </a:prstGeom>
          <a:noFill/>
          <a:ln/>
        </p:spPr>
        <p:txBody>
          <a:bodyPr wrap="square" rtlCol="0" anchor="ctr"/>
          <a:lstStyle/>
          <a:p>
            <a:pPr indent="0" marL="0">
              <a:buNone/>
            </a:pPr>
            <a:r>
              <a:rPr lang="en-US" sz="1200" i="1" dirty="0">
                <a:solidFill>
                  <a:srgbClr val="5A4A3A"/>
                </a:solidFill>
                <a:latin typeface="Calibri" pitchFamily="34" charset="0"/>
                <a:ea typeface="Calibri" pitchFamily="34" charset="-122"/>
                <a:cs typeface="Calibri" pitchFamily="34" charset="-120"/>
              </a:rPr>
              <a:t>THE PATTERN: Claim + specific number or detail as evidence + explanation of what that evidence proves. The number 4 (out of 300) is stronger than just 'most people died.'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2: DEFEND YOUR CLAIM</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Assignment Q3 — this one requires you to think about both sides</a:t>
            </a:r>
            <a:endParaRPr lang="en-US" sz="1800" dirty="0"/>
          </a:p>
        </p:txBody>
      </p:sp>
      <p:sp>
        <p:nvSpPr>
          <p:cNvPr id="6" name="Shape 4"/>
          <p:cNvSpPr/>
          <p:nvPr/>
        </p:nvSpPr>
        <p:spPr>
          <a:xfrm>
            <a:off x="365760" y="1207008"/>
            <a:ext cx="8412480" cy="749808"/>
          </a:xfrm>
          <a:prstGeom prst="roundRect">
            <a:avLst>
              <a:gd name="adj" fmla="val 12195"/>
            </a:avLst>
          </a:prstGeom>
          <a:solidFill>
            <a:srgbClr val="FFFFFF"/>
          </a:solidFill>
          <a:ln w="19050">
            <a:solidFill>
              <a:srgbClr val="D4943A"/>
            </a:solidFill>
            <a:prstDash val="solid"/>
          </a:ln>
        </p:spPr>
      </p:sp>
      <p:sp>
        <p:nvSpPr>
          <p:cNvPr id="7" name="Text 5"/>
          <p:cNvSpPr/>
          <p:nvPr/>
        </p:nvSpPr>
        <p:spPr>
          <a:xfrm>
            <a:off x="548640" y="1280160"/>
            <a:ext cx="2286000" cy="201168"/>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QUESTION:</a:t>
            </a:r>
            <a:endParaRPr lang="en-US" sz="900" dirty="0"/>
          </a:p>
        </p:txBody>
      </p:sp>
      <p:sp>
        <p:nvSpPr>
          <p:cNvPr id="8" name="Text 6"/>
          <p:cNvSpPr/>
          <p:nvPr/>
        </p:nvSpPr>
        <p:spPr>
          <a:xfrm>
            <a:off x="548640" y="1481328"/>
            <a:ext cx="8046720" cy="384048"/>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"Florida already had thousands of people living in it when these explorers arrived. Why is it important for a historian to remember that?"</a:t>
            </a:r>
            <a:endParaRPr lang="en-US" sz="1300" dirty="0"/>
          </a:p>
        </p:txBody>
      </p:sp>
      <p:sp>
        <p:nvSpPr>
          <p:cNvPr id="9" name="Shape 7"/>
          <p:cNvSpPr/>
          <p:nvPr/>
        </p:nvSpPr>
        <p:spPr>
          <a:xfrm>
            <a:off x="365760" y="2084832"/>
            <a:ext cx="4297680" cy="1920240"/>
          </a:xfrm>
          <a:prstGeom prst="roundRect">
            <a:avLst>
              <a:gd name="adj" fmla="val 5714"/>
            </a:avLst>
          </a:prstGeom>
          <a:solidFill>
            <a:srgbClr val="FFFFFF"/>
          </a:solidFill>
          <a:ln w="12700">
            <a:solidFill>
              <a:srgbClr val="B0B8CC"/>
            </a:solidFill>
            <a:prstDash val="solid"/>
          </a:ln>
        </p:spPr>
      </p:sp>
      <p:sp>
        <p:nvSpPr>
          <p:cNvPr id="10" name="Text 8"/>
          <p:cNvSpPr/>
          <p:nvPr/>
        </p:nvSpPr>
        <p:spPr>
          <a:xfrm>
            <a:off x="548640" y="2157984"/>
            <a:ext cx="2286000" cy="201168"/>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CLAIM + EVIDENCE</a:t>
            </a:r>
            <a:endParaRPr lang="en-US" sz="900" dirty="0"/>
          </a:p>
        </p:txBody>
      </p:sp>
      <p:sp>
        <p:nvSpPr>
          <p:cNvPr id="11" name="Text 9"/>
          <p:cNvSpPr/>
          <p:nvPr/>
        </p:nvSpPr>
        <p:spPr>
          <a:xfrm>
            <a:off x="548640" y="2395728"/>
            <a:ext cx="3931920" cy="14630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Your claim: It's important because...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Your evidence: (use a specific group name + detail from the lesson)</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Your explanation: That matters because without it, the history would...</a:t>
            </a:r>
            <a:endParaRPr lang="en-US" sz="1200" dirty="0"/>
          </a:p>
        </p:txBody>
      </p:sp>
      <p:sp>
        <p:nvSpPr>
          <p:cNvPr id="12" name="Shape 10"/>
          <p:cNvSpPr/>
          <p:nvPr/>
        </p:nvSpPr>
        <p:spPr>
          <a:xfrm>
            <a:off x="4828032" y="2084832"/>
            <a:ext cx="3950208" cy="1920240"/>
          </a:xfrm>
          <a:prstGeom prst="roundRect">
            <a:avLst>
              <a:gd name="adj" fmla="val 7143"/>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010912" y="2176272"/>
            <a:ext cx="3584448"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010912" y="2432304"/>
            <a:ext cx="3584448" cy="1481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 detail from the lesson proves that the First Peoples were already here — and not just passively waiting?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a history book that only told the Spanish side leave out — and would that make the history more accurate or less?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argue the explorers' story is still worth telling? How would you include both?</a:t>
            </a:r>
            <a:endParaRPr lang="en-US" sz="1100" dirty="0"/>
          </a:p>
        </p:txBody>
      </p:sp>
      <p:sp>
        <p:nvSpPr>
          <p:cNvPr id="15" name="Shape 13"/>
          <p:cNvSpPr/>
          <p:nvPr/>
        </p:nvSpPr>
        <p:spPr>
          <a:xfrm>
            <a:off x="365760" y="4096512"/>
            <a:ext cx="8412480" cy="914400"/>
          </a:xfrm>
          <a:prstGeom prst="roundRect">
            <a:avLst>
              <a:gd name="adj" fmla="val 12000"/>
            </a:avLst>
          </a:prstGeom>
          <a:solidFill>
            <a:srgbClr val="FFF3DC"/>
          </a:solidFill>
          <a:ln w="19050">
            <a:solidFill>
              <a:srgbClr val="F5E6C8"/>
            </a:solidFill>
            <a:prstDash val="solid"/>
          </a:ln>
        </p:spPr>
      </p:sp>
      <p:sp>
        <p:nvSpPr>
          <p:cNvPr id="16" name="Text 14"/>
          <p:cNvSpPr/>
          <p:nvPr/>
        </p:nvSpPr>
        <p:spPr>
          <a:xfrm>
            <a:off x="502920" y="415137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4352544"/>
            <a:ext cx="813816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"It's important to remember the First Peoples were already here because the evidence shows ___, specifically the ___, which proves..."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perspective, the history is incomplete because it would make the explorers' arrival seem like ___ when it was actually..."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3: CRITIQUE THE REASONING</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Evaluate this historian's notebook entry</a:t>
            </a:r>
            <a:endParaRPr lang="en-US" sz="2200" dirty="0"/>
          </a:p>
        </p:txBody>
      </p:sp>
      <p:sp>
        <p:nvSpPr>
          <p:cNvPr id="6" name="Shape 4"/>
          <p:cNvSpPr/>
          <p:nvPr/>
        </p:nvSpPr>
        <p:spPr>
          <a:xfrm>
            <a:off x="365760" y="1234440"/>
            <a:ext cx="8412480" cy="1371600"/>
          </a:xfrm>
          <a:prstGeom prst="roundRect">
            <a:avLst>
              <a:gd name="adj" fmla="val 8000"/>
            </a:avLst>
          </a:prstGeom>
          <a:solidFill>
            <a:srgbClr val="FFFFFF"/>
          </a:solidFill>
          <a:ln w="25400">
            <a:solidFill>
              <a:srgbClr val="E8636B"/>
            </a:solidFill>
            <a:prstDash val="solid"/>
          </a:ln>
        </p:spPr>
      </p:sp>
      <p:sp>
        <p:nvSpPr>
          <p:cNvPr id="7" name="Text 5"/>
          <p:cNvSpPr/>
          <p:nvPr/>
        </p:nvSpPr>
        <p:spPr>
          <a:xfrm>
            <a:off x="548640" y="1307592"/>
            <a:ext cx="4572000" cy="228600"/>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SAMPLE HISTORIAN'S NOTEBOOK ENTRY</a:t>
            </a:r>
            <a:endParaRPr lang="en-US" sz="900" dirty="0"/>
          </a:p>
        </p:txBody>
      </p:sp>
      <p:sp>
        <p:nvSpPr>
          <p:cNvPr id="8" name="Text 6"/>
          <p:cNvSpPr/>
          <p:nvPr/>
        </p:nvSpPr>
        <p:spPr>
          <a:xfrm>
            <a:off x="548640" y="1572768"/>
            <a:ext cx="8046720" cy="914400"/>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"Three brave explorers from Spain came to Florida to find new land. Ponce de Leon, Narvaez, and de Soto all sailed across the ocean. They discovered Florida and brought Spanish culture to the New World. It was a dangerous journey but they were very courageous."</a:t>
            </a:r>
            <a:endParaRPr lang="en-US" sz="1300" dirty="0"/>
          </a:p>
        </p:txBody>
      </p:sp>
      <p:sp>
        <p:nvSpPr>
          <p:cNvPr id="9" name="Shape 7"/>
          <p:cNvSpPr/>
          <p:nvPr/>
        </p:nvSpPr>
        <p:spPr>
          <a:xfrm>
            <a:off x="365760" y="2724912"/>
            <a:ext cx="8412480" cy="914400"/>
          </a:xfrm>
          <a:prstGeom prst="roundRect">
            <a:avLst>
              <a:gd name="adj" fmla="val 12000"/>
            </a:avLst>
          </a:prstGeom>
          <a:solidFill>
            <a:srgbClr val="FFFFFF"/>
          </a:solidFill>
          <a:ln w="12700">
            <a:solidFill>
              <a:srgbClr val="B0B8CC"/>
            </a:solidFill>
            <a:prstDash val="solid"/>
          </a:ln>
        </p:spPr>
      </p:sp>
      <p:sp>
        <p:nvSpPr>
          <p:cNvPr id="10" name="Text 8"/>
          <p:cNvSpPr/>
          <p:nvPr/>
        </p:nvSpPr>
        <p:spPr>
          <a:xfrm>
            <a:off x="548640" y="2798064"/>
            <a:ext cx="320040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WHAT'S WEAK OR WRONG?</a:t>
            </a:r>
            <a:endParaRPr lang="en-US" sz="900" dirty="0"/>
          </a:p>
        </p:txBody>
      </p:sp>
      <p:sp>
        <p:nvSpPr>
          <p:cNvPr id="11" name="Text 9"/>
          <p:cNvSpPr/>
          <p:nvPr/>
        </p:nvSpPr>
        <p:spPr>
          <a:xfrm>
            <a:off x="548640" y="3063240"/>
            <a:ext cx="8046720" cy="50292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This entry has some true facts. But what's wrong with it? What did it leave out, and what word choice is misleading? Which of the courtesy habits from Lesson 3.06 does it break?</a:t>
            </a:r>
            <a:endParaRPr lang="en-US" sz="1200" dirty="0"/>
          </a:p>
        </p:txBody>
      </p:sp>
      <p:sp>
        <p:nvSpPr>
          <p:cNvPr id="12" name="Shape 10"/>
          <p:cNvSpPr/>
          <p:nvPr/>
        </p:nvSpPr>
        <p:spPr>
          <a:xfrm>
            <a:off x="365760" y="3730752"/>
            <a:ext cx="8412480" cy="1207008"/>
          </a:xfrm>
          <a:prstGeom prst="roundRect">
            <a:avLst>
              <a:gd name="adj" fmla="val 9091"/>
            </a:avLst>
          </a:prstGeom>
          <a:solidFill>
            <a:srgbClr val="FFF3DC"/>
          </a:solidFill>
          <a:ln w="19050">
            <a:solidFill>
              <a:srgbClr val="F5E6C8"/>
            </a:solidFill>
            <a:prstDash val="solid"/>
          </a:ln>
        </p:spPr>
      </p:sp>
      <p:sp>
        <p:nvSpPr>
          <p:cNvPr id="13" name="Text 11"/>
          <p:cNvSpPr/>
          <p:nvPr/>
        </p:nvSpPr>
        <p:spPr>
          <a:xfrm>
            <a:off x="502920" y="378561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02920" y="3986784"/>
            <a:ext cx="813816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problem with this entry is it says ___ but that's misleading because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entry would include ___ because that would make the account more accurate and complete..."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8B6FC0"/>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GUIDED PRACTICE   |   STEP 4: THE TRICKY ONE</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The courage question — where evidence genuinely points two ways</a:t>
            </a:r>
            <a:endParaRPr lang="en-US" sz="1800" dirty="0"/>
          </a:p>
        </p:txBody>
      </p:sp>
      <p:sp>
        <p:nvSpPr>
          <p:cNvPr id="6" name="Shape 4"/>
          <p:cNvSpPr/>
          <p:nvPr/>
        </p:nvSpPr>
        <p:spPr>
          <a:xfrm>
            <a:off x="365760" y="1207008"/>
            <a:ext cx="8412480" cy="960120"/>
          </a:xfrm>
          <a:prstGeom prst="roundRect">
            <a:avLst>
              <a:gd name="adj" fmla="val 11429"/>
            </a:avLst>
          </a:prstGeom>
          <a:solidFill>
            <a:srgbClr val="FFFFFF"/>
          </a:solidFill>
          <a:ln w="25400">
            <a:solidFill>
              <a:srgbClr val="8B6FC0"/>
            </a:solidFill>
            <a:prstDash val="solid"/>
          </a:ln>
        </p:spPr>
      </p:sp>
      <p:sp>
        <p:nvSpPr>
          <p:cNvPr id="7" name="Text 5"/>
          <p:cNvSpPr/>
          <p:nvPr/>
        </p:nvSpPr>
        <p:spPr>
          <a:xfrm>
            <a:off x="548640" y="1280160"/>
            <a:ext cx="2743200" cy="2286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QUESTION</a:t>
            </a:r>
            <a:endParaRPr lang="en-US" sz="900" dirty="0"/>
          </a:p>
        </p:txBody>
      </p:sp>
      <p:sp>
        <p:nvSpPr>
          <p:cNvPr id="8" name="Text 6"/>
          <p:cNvSpPr/>
          <p:nvPr/>
        </p:nvSpPr>
        <p:spPr>
          <a:xfrm>
            <a:off x="548640" y="1536192"/>
            <a:ext cx="8046720" cy="56692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Virtue Spotlight today: Courage. But the lesson says courage in history doesn't always mean the people taking the risk were doing something kind. Can the Spanish explorers be both courageous AND harmful — or do those cancel each other out?</a:t>
            </a:r>
            <a:endParaRPr lang="en-US" sz="1200" dirty="0"/>
          </a:p>
        </p:txBody>
      </p:sp>
      <p:sp>
        <p:nvSpPr>
          <p:cNvPr id="9" name="Shape 7"/>
          <p:cNvSpPr/>
          <p:nvPr/>
        </p:nvSpPr>
        <p:spPr>
          <a:xfrm>
            <a:off x="365760" y="2304288"/>
            <a:ext cx="4937760" cy="18288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48640" y="2395728"/>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651760"/>
            <a:ext cx="4572000" cy="13898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from the lesson shows the explorers were courageous — and what evidence shows their expeditions caused harm?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showing that someone was courageous change whether what they did was right or wrong? What's the difference?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two historians look at the same expedition and reach different — but both defensible — conclusions? What would each need to prove their claim?</a:t>
            </a:r>
            <a:endParaRPr lang="en-US" sz="1100" dirty="0"/>
          </a:p>
        </p:txBody>
      </p:sp>
      <p:sp>
        <p:nvSpPr>
          <p:cNvPr id="12" name="Shape 10"/>
          <p:cNvSpPr/>
          <p:nvPr/>
        </p:nvSpPr>
        <p:spPr>
          <a:xfrm>
            <a:off x="5486400" y="2304288"/>
            <a:ext cx="3291840" cy="1828800"/>
          </a:xfrm>
          <a:prstGeom prst="roundRect">
            <a:avLst>
              <a:gd name="adj" fmla="val 6000"/>
            </a:avLst>
          </a:prstGeom>
          <a:solidFill>
            <a:srgbClr val="FFF3DC"/>
          </a:solidFill>
          <a:ln w="19050">
            <a:solidFill>
              <a:srgbClr val="F5E6C8"/>
            </a:solidFill>
            <a:prstDash val="solid"/>
          </a:ln>
        </p:spPr>
      </p:sp>
      <p:sp>
        <p:nvSpPr>
          <p:cNvPr id="13" name="Text 11"/>
          <p:cNvSpPr/>
          <p:nvPr/>
        </p:nvSpPr>
        <p:spPr>
          <a:xfrm>
            <a:off x="5577840" y="2377440"/>
            <a:ext cx="310896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TRANSFERABLE PATTERN</a:t>
            </a:r>
            <a:endParaRPr lang="en-US" sz="900" dirty="0"/>
          </a:p>
        </p:txBody>
      </p:sp>
      <p:sp>
        <p:nvSpPr>
          <p:cNvPr id="14" name="Text 12"/>
          <p:cNvSpPr/>
          <p:nvPr/>
        </p:nvSpPr>
        <p:spPr>
          <a:xfrm>
            <a:off x="5577840" y="2633472"/>
            <a:ext cx="3108960" cy="1371600"/>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Two things can both be true at once — courage and harm, bravery and destruction. A strong historian doesn't pick one and ignore the other: they show BOTH and let the evidence speak. That's not fence-sitting — that's precision.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11480"/>
          </a:xfrm>
          <a:prstGeom prst="roundRect">
            <a:avLst>
              <a:gd name="adj" fmla="val 22222"/>
            </a:avLst>
          </a:prstGeom>
          <a:solidFill>
            <a:srgbClr val="D4943A">
              <a:alpha val="80000"/>
            </a:srgbClr>
          </a:solidFill>
          <a:ln/>
        </p:spPr>
      </p:sp>
      <p:sp>
        <p:nvSpPr>
          <p:cNvPr id="6" name="Text 3"/>
          <p:cNvSpPr/>
          <p:nvPr/>
        </p:nvSpPr>
        <p:spPr>
          <a:xfrm>
            <a:off x="457200" y="274320"/>
            <a:ext cx="8229600" cy="411480"/>
          </a:xfrm>
          <a:prstGeom prst="rect">
            <a:avLst/>
          </a:prstGeom>
          <a:noFill/>
          <a:ln/>
        </p:spPr>
        <p:txBody>
          <a:bodyPr wrap="square"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VIRTUE SPOTLIGHT</a:t>
            </a:r>
            <a:endParaRPr lang="en-US" sz="1400" dirty="0"/>
          </a:p>
        </p:txBody>
      </p:sp>
      <p:sp>
        <p:nvSpPr>
          <p:cNvPr id="7" name="Text 4"/>
          <p:cNvSpPr/>
          <p:nvPr/>
        </p:nvSpPr>
        <p:spPr>
          <a:xfrm>
            <a:off x="457200" y="868680"/>
            <a:ext cx="8229600" cy="731520"/>
          </a:xfrm>
          <a:prstGeom prst="rect">
            <a:avLst/>
          </a:prstGeom>
          <a:noFill/>
          <a:ln/>
        </p:spPr>
        <p:txBody>
          <a:bodyPr wrap="square" rtlCol="0" anchor="ctr"/>
          <a:lstStyle/>
          <a:p>
            <a:pPr algn="ctr" indent="0" marL="0">
              <a:buNone/>
            </a:pPr>
            <a:r>
              <a:rPr lang="en-US" sz="5200" b="1" dirty="0">
                <a:solidFill>
                  <a:srgbClr val="D4943A"/>
                </a:solidFill>
                <a:latin typeface="Cambria" pitchFamily="34" charset="0"/>
                <a:ea typeface="Cambria" pitchFamily="34" charset="-122"/>
                <a:cs typeface="Cambria" pitchFamily="34" charset="-120"/>
              </a:rPr>
              <a:t>Courage</a:t>
            </a:r>
            <a:endParaRPr lang="en-US" sz="5200" dirty="0"/>
          </a:p>
        </p:txBody>
      </p:sp>
      <p:sp>
        <p:nvSpPr>
          <p:cNvPr id="8" name="Shape 5"/>
          <p:cNvSpPr/>
          <p:nvPr/>
        </p:nvSpPr>
        <p:spPr>
          <a:xfrm>
            <a:off x="1828800" y="1709928"/>
            <a:ext cx="5486400" cy="36576"/>
          </a:xfrm>
          <a:prstGeom prst="rect">
            <a:avLst/>
          </a:prstGeom>
          <a:solidFill>
            <a:srgbClr val="55C8E8"/>
          </a:solidFill>
          <a:ln/>
        </p:spPr>
      </p:sp>
      <p:sp>
        <p:nvSpPr>
          <p:cNvPr id="9" name="Text 6"/>
          <p:cNvSpPr/>
          <p:nvPr/>
        </p:nvSpPr>
        <p:spPr>
          <a:xfrm>
            <a:off x="731520" y="1828800"/>
            <a:ext cx="7680960" cy="123444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It took real courage to leave Spain in a wooden ship and sail across an ocean nobody had mapped. But honest historians also notice that the Spanish explorers' courage often led to harm for the people who already lived here. Today, watch for both — the bravery of the voyage, and what that voyage cost.</a:t>
            </a:r>
            <a:endParaRPr lang="en-US" sz="1400" dirty="0"/>
          </a:p>
        </p:txBody>
      </p:sp>
      <p:sp>
        <p:nvSpPr>
          <p:cNvPr id="10" name="Shape 7"/>
          <p:cNvSpPr/>
          <p:nvPr/>
        </p:nvSpPr>
        <p:spPr>
          <a:xfrm>
            <a:off x="1371600" y="3182112"/>
            <a:ext cx="6400800" cy="1536192"/>
          </a:xfrm>
          <a:prstGeom prst="roundRect">
            <a:avLst>
              <a:gd name="adj" fmla="val 7143"/>
            </a:avLst>
          </a:prstGeom>
          <a:solidFill>
            <a:srgbClr val="1A2D5A"/>
          </a:solidFill>
          <a:ln/>
        </p:spPr>
      </p:sp>
      <p:sp>
        <p:nvSpPr>
          <p:cNvPr id="11" name="Text 8"/>
          <p:cNvSpPr/>
          <p:nvPr/>
        </p:nvSpPr>
        <p:spPr>
          <a:xfrm>
            <a:off x="1554480" y="3255264"/>
            <a:ext cx="6035040" cy="228600"/>
          </a:xfrm>
          <a:prstGeom prst="rect">
            <a:avLst/>
          </a:prstGeom>
          <a:noFill/>
          <a:ln/>
        </p:spPr>
        <p:txBody>
          <a:bodyPr wrap="square"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TWO TRUTHS, BOTH REAL</a:t>
            </a:r>
            <a:endParaRPr lang="en-US" sz="900" dirty="0"/>
          </a:p>
        </p:txBody>
      </p:sp>
      <p:sp>
        <p:nvSpPr>
          <p:cNvPr id="12" name="Text 9"/>
          <p:cNvSpPr/>
          <p:nvPr/>
        </p:nvSpPr>
        <p:spPr>
          <a:xfrm>
            <a:off x="1554480" y="3520440"/>
            <a:ext cx="6035040" cy="1115568"/>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The Narvaez expedition lost 296 of 300 men — that's evidence of real danger and real courage.</a:t>
            </a:r>
            <a:endParaRPr lang="en-US" sz="1100" dirty="0"/>
          </a:p>
          <a:p>
            <a:pPr indent="0" marL="0">
              <a:buNone/>
            </a:pPr>
            <a:endParaRPr lang="en-US" sz="1100" dirty="0"/>
          </a:p>
          <a:p>
            <a:pPr indent="0" marL="0">
              <a:buNone/>
            </a:pPr>
            <a:r>
              <a:rPr lang="en-US" sz="1100" dirty="0">
                <a:solidFill>
                  <a:srgbClr val="F0F2F8"/>
                </a:solidFill>
                <a:latin typeface="Calibri" pitchFamily="34" charset="0"/>
                <a:ea typeface="Calibri" pitchFamily="34" charset="-122"/>
                <a:cs typeface="Calibri" pitchFamily="34" charset="-120"/>
              </a:rPr>
              <a:t>But de Soto's expedition spread disease, took food by force, and changed the lives of every Native nation it passed through — that's evidence of real harm.</a:t>
            </a:r>
            <a:endParaRPr lang="en-US" sz="1100" dirty="0"/>
          </a:p>
          <a:p>
            <a:pPr indent="0" marL="0">
              <a:buNone/>
            </a:pPr>
            <a:endParaRPr lang="en-US" sz="1100" dirty="0"/>
          </a:p>
          <a:p>
            <a:pPr indent="0" marL="0">
              <a:buNone/>
            </a:pPr>
            <a:r>
              <a:rPr lang="en-US" sz="1100" dirty="0">
                <a:solidFill>
                  <a:srgbClr val="F0F2F8"/>
                </a:solidFill>
                <a:latin typeface="Calibri" pitchFamily="34" charset="0"/>
                <a:ea typeface="Calibri" pitchFamily="34" charset="-122"/>
                <a:cs typeface="Calibri" pitchFamily="34" charset="-120"/>
              </a:rPr>
              <a:t>Both are true. A courageous person can still do harmful things.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D4943A"/>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CANVAS ASSIGNMENT   |   Your Historian's Notebook Entry</a:t>
            </a:r>
            <a:endParaRPr lang="en-US" sz="1100" dirty="0"/>
          </a:p>
        </p:txBody>
      </p:sp>
      <p:sp>
        <p:nvSpPr>
          <p:cNvPr id="5" name="Shape 3"/>
          <p:cNvSpPr/>
          <p:nvPr/>
        </p:nvSpPr>
        <p:spPr>
          <a:xfrm>
            <a:off x="274320" y="685800"/>
            <a:ext cx="8595360" cy="987552"/>
          </a:xfrm>
          <a:prstGeom prst="roundRect">
            <a:avLst>
              <a:gd name="adj" fmla="val 9259"/>
            </a:avLst>
          </a:prstGeom>
          <a:solidFill>
            <a:srgbClr val="FFFFFF"/>
          </a:solidFill>
          <a:ln w="12700">
            <a:solidFill>
              <a:srgbClr val="D4943A"/>
            </a:solidFill>
            <a:prstDash val="solid"/>
          </a:ln>
        </p:spPr>
      </p:sp>
      <p:sp>
        <p:nvSpPr>
          <p:cNvPr id="6" name="Text 4"/>
          <p:cNvSpPr/>
          <p:nvPr/>
        </p:nvSpPr>
        <p:spPr>
          <a:xfrm>
            <a:off x="457200" y="75895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Q1</a:t>
            </a:r>
            <a:endParaRPr lang="en-US" sz="1600" dirty="0"/>
          </a:p>
        </p:txBody>
      </p:sp>
      <p:sp>
        <p:nvSpPr>
          <p:cNvPr id="7" name="Text 5"/>
          <p:cNvSpPr/>
          <p:nvPr/>
        </p:nvSpPr>
        <p:spPr>
          <a:xfrm>
            <a:off x="914400" y="75895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Name two of the three Spanish explorers we met today and the year each one came to Florida. Use names and dates from the lesson timeline.</a:t>
            </a:r>
            <a:endParaRPr lang="en-US" sz="1200" dirty="0"/>
          </a:p>
        </p:txBody>
      </p:sp>
      <p:sp>
        <p:nvSpPr>
          <p:cNvPr id="8" name="Shape 6"/>
          <p:cNvSpPr/>
          <p:nvPr/>
        </p:nvSpPr>
        <p:spPr>
          <a:xfrm>
            <a:off x="274320" y="1783080"/>
            <a:ext cx="8595360" cy="987552"/>
          </a:xfrm>
          <a:prstGeom prst="roundRect">
            <a:avLst>
              <a:gd name="adj" fmla="val 9259"/>
            </a:avLst>
          </a:prstGeom>
          <a:solidFill>
            <a:srgbClr val="FFFFFF"/>
          </a:solidFill>
          <a:ln w="12700">
            <a:solidFill>
              <a:srgbClr val="D4943A"/>
            </a:solidFill>
            <a:prstDash val="solid"/>
          </a:ln>
        </p:spPr>
      </p:sp>
      <p:sp>
        <p:nvSpPr>
          <p:cNvPr id="9" name="Text 7"/>
          <p:cNvSpPr/>
          <p:nvPr/>
        </p:nvSpPr>
        <p:spPr>
          <a:xfrm>
            <a:off x="457200" y="185623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Q2</a:t>
            </a:r>
            <a:endParaRPr lang="en-US" sz="1600" dirty="0"/>
          </a:p>
        </p:txBody>
      </p:sp>
      <p:sp>
        <p:nvSpPr>
          <p:cNvPr id="10" name="Text 8"/>
          <p:cNvSpPr/>
          <p:nvPr/>
        </p:nvSpPr>
        <p:spPr>
          <a:xfrm>
            <a:off x="914400" y="185623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Cabeza de Vaca was one of only four survivors of the Narvaez expedition. What does that tell you about the dangers Spanish explorers faced when they came to Florida? Explain your thinking — what does the small number of survivors prove?</a:t>
            </a:r>
            <a:endParaRPr lang="en-US" sz="1200" dirty="0"/>
          </a:p>
        </p:txBody>
      </p:sp>
      <p:sp>
        <p:nvSpPr>
          <p:cNvPr id="11" name="Shape 9"/>
          <p:cNvSpPr/>
          <p:nvPr/>
        </p:nvSpPr>
        <p:spPr>
          <a:xfrm>
            <a:off x="274320" y="2880360"/>
            <a:ext cx="8595360" cy="987552"/>
          </a:xfrm>
          <a:prstGeom prst="roundRect">
            <a:avLst>
              <a:gd name="adj" fmla="val 9259"/>
            </a:avLst>
          </a:prstGeom>
          <a:solidFill>
            <a:srgbClr val="FFFFFF"/>
          </a:solidFill>
          <a:ln w="12700">
            <a:solidFill>
              <a:srgbClr val="D4943A"/>
            </a:solidFill>
            <a:prstDash val="solid"/>
          </a:ln>
        </p:spPr>
      </p:sp>
      <p:sp>
        <p:nvSpPr>
          <p:cNvPr id="12" name="Text 10"/>
          <p:cNvSpPr/>
          <p:nvPr/>
        </p:nvSpPr>
        <p:spPr>
          <a:xfrm>
            <a:off x="457200" y="295351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Q3</a:t>
            </a:r>
            <a:endParaRPr lang="en-US" sz="1600" dirty="0"/>
          </a:p>
        </p:txBody>
      </p:sp>
      <p:sp>
        <p:nvSpPr>
          <p:cNvPr id="13" name="Text 11"/>
          <p:cNvSpPr/>
          <p:nvPr/>
        </p:nvSpPr>
        <p:spPr>
          <a:xfrm>
            <a:off x="914400" y="295351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Florida already had thousands of people living in it when these explorers arrived. Why is it important for a historian to remember that? Give a reason and use a detail from the lesson.</a:t>
            </a:r>
            <a:endParaRPr lang="en-US" sz="1200" dirty="0"/>
          </a:p>
        </p:txBody>
      </p:sp>
      <p:sp>
        <p:nvSpPr>
          <p:cNvPr id="14" name="Shape 12"/>
          <p:cNvSpPr/>
          <p:nvPr/>
        </p:nvSpPr>
        <p:spPr>
          <a:xfrm>
            <a:off x="274320" y="3493008"/>
            <a:ext cx="8595360" cy="1371600"/>
          </a:xfrm>
          <a:prstGeom prst="roundRect">
            <a:avLst>
              <a:gd name="adj" fmla="val 6667"/>
            </a:avLst>
          </a:prstGeom>
          <a:solidFill>
            <a:srgbClr val="1A2D5A"/>
          </a:solidFill>
          <a:ln/>
        </p:spPr>
      </p:sp>
      <p:sp>
        <p:nvSpPr>
          <p:cNvPr id="15" name="Text 13"/>
          <p:cNvSpPr/>
          <p:nvPr/>
        </p:nvSpPr>
        <p:spPr>
          <a:xfrm>
            <a:off x="457200" y="3566160"/>
            <a:ext cx="822960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Historian's Notebook Entry — First Contact</a:t>
            </a:r>
            <a:endParaRPr lang="en-US" sz="1000" dirty="0"/>
          </a:p>
        </p:txBody>
      </p:sp>
      <p:sp>
        <p:nvSpPr>
          <p:cNvPr id="16" name="Text 14"/>
          <p:cNvSpPr/>
          <p:nvPr/>
        </p:nvSpPr>
        <p:spPr>
          <a:xfrm>
            <a:off x="457200" y="3840480"/>
            <a:ext cx="8229600" cy="914400"/>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In 3-5 sentences, answer: Who came to Florida between 1513 and 1539, and what did their arrival mean for the people already living here? Use at least one specific name, year, AND a fact about the First Peoples. (A name + a year + a fact about the First Peoples.)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09728"/>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SELF-CHECK</a:t>
            </a:r>
            <a:endParaRPr lang="en-US" sz="900" dirty="0"/>
          </a:p>
        </p:txBody>
      </p:sp>
      <p:sp>
        <p:nvSpPr>
          <p:cNvPr id="4" name="Text 2"/>
          <p:cNvSpPr/>
          <p:nvPr/>
        </p:nvSpPr>
        <p:spPr>
          <a:xfrm>
            <a:off x="365760" y="365760"/>
            <a:ext cx="822960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Quick check — then go to Canvas</a:t>
            </a:r>
            <a:endParaRPr lang="en-US" sz="2400" dirty="0"/>
          </a:p>
        </p:txBody>
      </p:sp>
      <p:sp>
        <p:nvSpPr>
          <p:cNvPr id="5" name="Shape 3"/>
          <p:cNvSpPr/>
          <p:nvPr/>
        </p:nvSpPr>
        <p:spPr>
          <a:xfrm>
            <a:off x="274320" y="932688"/>
            <a:ext cx="8595360" cy="1188720"/>
          </a:xfrm>
          <a:prstGeom prst="roundRect">
            <a:avLst>
              <a:gd name="adj" fmla="val 7692"/>
            </a:avLst>
          </a:prstGeom>
          <a:solidFill>
            <a:srgbClr val="FFFFFF"/>
          </a:solidFill>
          <a:ln w="12700">
            <a:solidFill>
              <a:srgbClr val="B0B8CC"/>
            </a:solidFill>
            <a:prstDash val="solid"/>
          </a:ln>
        </p:spPr>
      </p:sp>
      <p:sp>
        <p:nvSpPr>
          <p:cNvPr id="6" name="Text 4"/>
          <p:cNvSpPr/>
          <p:nvPr/>
        </p:nvSpPr>
        <p:spPr>
          <a:xfrm>
            <a:off x="457200" y="100584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1. In what year did Juan Ponce de Leon first reach Florida?</a:t>
            </a:r>
            <a:endParaRPr lang="en-US" sz="1200" dirty="0"/>
          </a:p>
        </p:txBody>
      </p:sp>
      <p:sp>
        <p:nvSpPr>
          <p:cNvPr id="7" name="Shape 5"/>
          <p:cNvSpPr/>
          <p:nvPr/>
        </p:nvSpPr>
        <p:spPr>
          <a:xfrm>
            <a:off x="457200" y="1399032"/>
            <a:ext cx="36576" cy="640080"/>
          </a:xfrm>
          <a:prstGeom prst="rect">
            <a:avLst/>
          </a:prstGeom>
          <a:solidFill>
            <a:srgbClr val="34B76F"/>
          </a:solidFill>
          <a:ln/>
        </p:spPr>
      </p:sp>
      <p:sp>
        <p:nvSpPr>
          <p:cNvPr id="8" name="Text 6"/>
          <p:cNvSpPr/>
          <p:nvPr/>
        </p:nvSpPr>
        <p:spPr>
          <a:xfrm>
            <a:off x="594360" y="141732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1513. He named the land La Florida that spring — looking for new lands and resources, not a Fountain of Youth.</a:t>
            </a:r>
            <a:endParaRPr lang="en-US" sz="1100" dirty="0"/>
          </a:p>
        </p:txBody>
      </p:sp>
      <p:sp>
        <p:nvSpPr>
          <p:cNvPr id="9" name="Shape 7"/>
          <p:cNvSpPr/>
          <p:nvPr/>
        </p:nvSpPr>
        <p:spPr>
          <a:xfrm>
            <a:off x="274320" y="2258568"/>
            <a:ext cx="8595360" cy="1188720"/>
          </a:xfrm>
          <a:prstGeom prst="roundRect">
            <a:avLst>
              <a:gd name="adj" fmla="val 7692"/>
            </a:avLst>
          </a:prstGeom>
          <a:solidFill>
            <a:srgbClr val="FFFFFF"/>
          </a:solidFill>
          <a:ln w="12700">
            <a:solidFill>
              <a:srgbClr val="B0B8CC"/>
            </a:solidFill>
            <a:prstDash val="solid"/>
          </a:ln>
        </p:spPr>
      </p:sp>
      <p:sp>
        <p:nvSpPr>
          <p:cNvPr id="10" name="Text 8"/>
          <p:cNvSpPr/>
          <p:nvPr/>
        </p:nvSpPr>
        <p:spPr>
          <a:xfrm>
            <a:off x="457200" y="233172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2. What happened to the Narvaez expedition in 1528?</a:t>
            </a:r>
            <a:endParaRPr lang="en-US" sz="1200" dirty="0"/>
          </a:p>
        </p:txBody>
      </p:sp>
      <p:sp>
        <p:nvSpPr>
          <p:cNvPr id="11" name="Shape 9"/>
          <p:cNvSpPr/>
          <p:nvPr/>
        </p:nvSpPr>
        <p:spPr>
          <a:xfrm>
            <a:off x="457200" y="2724912"/>
            <a:ext cx="36576" cy="640080"/>
          </a:xfrm>
          <a:prstGeom prst="rect">
            <a:avLst/>
          </a:prstGeom>
          <a:solidFill>
            <a:srgbClr val="34B76F"/>
          </a:solidFill>
          <a:ln/>
        </p:spPr>
      </p:sp>
      <p:sp>
        <p:nvSpPr>
          <p:cNvPr id="12" name="Text 10"/>
          <p:cNvSpPr/>
          <p:nvPr/>
        </p:nvSpPr>
        <p:spPr>
          <a:xfrm>
            <a:off x="594360" y="274320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It ended in disaster — only four men including Cabeza de Vaca survived out of about 300.</a:t>
            </a:r>
            <a:endParaRPr lang="en-US" sz="1100" dirty="0"/>
          </a:p>
        </p:txBody>
      </p:sp>
      <p:sp>
        <p:nvSpPr>
          <p:cNvPr id="13" name="Shape 11"/>
          <p:cNvSpPr/>
          <p:nvPr/>
        </p:nvSpPr>
        <p:spPr>
          <a:xfrm>
            <a:off x="274320" y="3584448"/>
            <a:ext cx="8595360" cy="1188720"/>
          </a:xfrm>
          <a:prstGeom prst="roundRect">
            <a:avLst>
              <a:gd name="adj" fmla="val 7692"/>
            </a:avLst>
          </a:prstGeom>
          <a:solidFill>
            <a:srgbClr val="FFFFFF"/>
          </a:solidFill>
          <a:ln w="12700">
            <a:solidFill>
              <a:srgbClr val="B0B8CC"/>
            </a:solidFill>
            <a:prstDash val="solid"/>
          </a:ln>
        </p:spPr>
      </p:sp>
      <p:sp>
        <p:nvSpPr>
          <p:cNvPr id="14" name="Text 12"/>
          <p:cNvSpPr/>
          <p:nvPr/>
        </p:nvSpPr>
        <p:spPr>
          <a:xfrm>
            <a:off x="457200" y="365760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3. Which was already true about Florida BEFORE any Spanish explorer arrived?</a:t>
            </a:r>
            <a:endParaRPr lang="en-US" sz="1200" dirty="0"/>
          </a:p>
        </p:txBody>
      </p:sp>
      <p:sp>
        <p:nvSpPr>
          <p:cNvPr id="15" name="Shape 13"/>
          <p:cNvSpPr/>
          <p:nvPr/>
        </p:nvSpPr>
        <p:spPr>
          <a:xfrm>
            <a:off x="457200" y="4050792"/>
            <a:ext cx="36576" cy="640080"/>
          </a:xfrm>
          <a:prstGeom prst="rect">
            <a:avLst/>
          </a:prstGeom>
          <a:solidFill>
            <a:srgbClr val="34B76F"/>
          </a:solidFill>
          <a:ln/>
        </p:spPr>
      </p:sp>
      <p:sp>
        <p:nvSpPr>
          <p:cNvPr id="16" name="Text 14"/>
          <p:cNvSpPr/>
          <p:nvPr/>
        </p:nvSpPr>
        <p:spPr>
          <a:xfrm>
            <a:off x="594360" y="406908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Tens of thousands of people — Calusa, Timucua, Apalachee, and Tequesta — already lived there for thousands of years.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57200"/>
          </a:xfrm>
          <a:prstGeom prst="roundRect">
            <a:avLst>
              <a:gd name="adj" fmla="val 20000"/>
            </a:avLst>
          </a:prstGeom>
          <a:solidFill>
            <a:srgbClr val="34B76F">
              <a:alpha val="85000"/>
            </a:srgbClr>
          </a:solidFill>
          <a:ln/>
        </p:spPr>
      </p:sp>
      <p:sp>
        <p:nvSpPr>
          <p:cNvPr id="6" name="Text 3"/>
          <p:cNvSpPr/>
          <p:nvPr/>
        </p:nvSpPr>
        <p:spPr>
          <a:xfrm>
            <a:off x="457200" y="274320"/>
            <a:ext cx="8229600" cy="457200"/>
          </a:xfrm>
          <a:prstGeom prst="rect">
            <a:avLst/>
          </a:prstGeom>
          <a:noFill/>
          <a:ln/>
        </p:spPr>
        <p:txBody>
          <a:bodyPr wrap="square" rtlCol="0" anchor="ctr"/>
          <a:lstStyle/>
          <a:p>
            <a:pPr algn="ctr" indent="0" marL="0">
              <a:buNone/>
            </a:pPr>
            <a:r>
              <a:rPr lang="en-US" sz="2000" b="1" spc="400" kern="0" dirty="0">
                <a:solidFill>
                  <a:srgbClr val="FFFFFF"/>
                </a:solidFill>
                <a:latin typeface="Calibri" pitchFamily="34" charset="0"/>
                <a:ea typeface="Calibri" pitchFamily="34" charset="-122"/>
                <a:cs typeface="Calibri" pitchFamily="34" charset="-120"/>
              </a:rPr>
              <a:t>FILE UNLOCKED</a:t>
            </a:r>
            <a:endParaRPr lang="en-US" sz="2000" dirty="0"/>
          </a:p>
        </p:txBody>
      </p:sp>
      <p:sp>
        <p:nvSpPr>
          <p:cNvPr id="7" name="Text 4"/>
          <p:cNvSpPr/>
          <p:nvPr/>
        </p:nvSpPr>
        <p:spPr>
          <a:xfrm>
            <a:off x="457200" y="896112"/>
            <a:ext cx="8229600" cy="365760"/>
          </a:xfrm>
          <a:prstGeom prst="rect">
            <a:avLst/>
          </a:prstGeom>
          <a:noFill/>
          <a:ln/>
        </p:spPr>
        <p:txBody>
          <a:bodyPr wrap="square" rtlCol="0" anchor="ctr"/>
          <a:lstStyle/>
          <a:p>
            <a:pPr algn="ctr" indent="0" marL="0">
              <a:buNone/>
            </a:pPr>
            <a:r>
              <a:rPr lang="en-US" sz="1400" i="1" dirty="0">
                <a:solidFill>
                  <a:srgbClr val="55C8E8"/>
                </a:solidFill>
                <a:latin typeface="Calibri" pitchFamily="34" charset="0"/>
                <a:ea typeface="Calibri" pitchFamily="34" charset="-122"/>
                <a:cs typeface="Calibri" pitchFamily="34" charset="-120"/>
              </a:rPr>
              <a:t>Explorers Who Came to Florida — Unit 4, File 1 of 13 Unlocked</a:t>
            </a:r>
            <a:endParaRPr lang="en-US" sz="1400" dirty="0"/>
          </a:p>
        </p:txBody>
      </p:sp>
      <p:sp>
        <p:nvSpPr>
          <p:cNvPr id="8" name="Text 5"/>
          <p:cNvSpPr/>
          <p:nvPr/>
        </p:nvSpPr>
        <p:spPr>
          <a:xfrm>
            <a:off x="457200" y="1389888"/>
            <a:ext cx="8229600" cy="411480"/>
          </a:xfrm>
          <a:prstGeom prst="rect">
            <a:avLst/>
          </a:prstGeom>
          <a:noFill/>
          <a:ln/>
        </p:spPr>
        <p:txBody>
          <a:bodyPr wrap="square" rtlCol="0" anchor="ctr"/>
          <a:lstStyle/>
          <a:p>
            <a:pPr algn="ctr" indent="0" marL="0">
              <a:buNone/>
            </a:pPr>
            <a:r>
              <a:rPr lang="en-US" sz="1800" b="1" dirty="0">
                <a:solidFill>
                  <a:srgbClr val="D4943A"/>
                </a:solidFill>
                <a:latin typeface="Cambria" pitchFamily="34" charset="0"/>
                <a:ea typeface="Cambria" pitchFamily="34" charset="-122"/>
                <a:cs typeface="Cambria" pitchFamily="34" charset="-120"/>
              </a:rPr>
              <a:t>Ponce de Leon (1513)  ·  Narvaez (1528)  ·  de Soto (1539)</a:t>
            </a:r>
            <a:endParaRPr lang="en-US" sz="1800" dirty="0"/>
          </a:p>
        </p:txBody>
      </p:sp>
      <p:sp>
        <p:nvSpPr>
          <p:cNvPr id="9" name="Shape 6"/>
          <p:cNvSpPr/>
          <p:nvPr/>
        </p:nvSpPr>
        <p:spPr>
          <a:xfrm>
            <a:off x="1371600" y="1901952"/>
            <a:ext cx="6400800" cy="36576"/>
          </a:xfrm>
          <a:prstGeom prst="rect">
            <a:avLst/>
          </a:prstGeom>
          <a:solidFill>
            <a:srgbClr val="55C8E8"/>
          </a:solidFill>
          <a:ln/>
        </p:spPr>
      </p:sp>
      <p:sp>
        <p:nvSpPr>
          <p:cNvPr id="10" name="Text 7"/>
          <p:cNvSpPr/>
          <p:nvPr/>
        </p:nvSpPr>
        <p:spPr>
          <a:xfrm>
            <a:off x="731520" y="2011680"/>
            <a:ext cx="7680960" cy="548640"/>
          </a:xfrm>
          <a:prstGeom prst="rect">
            <a:avLst/>
          </a:prstGeom>
          <a:noFill/>
          <a:ln/>
        </p:spPr>
        <p:txBody>
          <a:bodyPr wrap="square" rtlCol="0" anchor="ctr"/>
          <a:lstStyle/>
          <a:p>
            <a:pPr algn="ctr" indent="0" marL="0">
              <a:buNone/>
            </a:pPr>
            <a:r>
              <a:rPr lang="en-US" sz="1700" i="1" dirty="0">
                <a:solidFill>
                  <a:srgbClr val="F0F2F8"/>
                </a:solidFill>
                <a:latin typeface="Cambria" pitchFamily="34" charset="0"/>
                <a:ea typeface="Cambria" pitchFamily="34" charset="-122"/>
                <a:cs typeface="Cambria" pitchFamily="34" charset="-120"/>
              </a:rPr>
              <a:t>...and through it all, the First Peoples of Florida were there, watching from the shore.</a:t>
            </a:r>
            <a:endParaRPr lang="en-US" sz="1700" dirty="0"/>
          </a:p>
        </p:txBody>
      </p:sp>
      <p:sp>
        <p:nvSpPr>
          <p:cNvPr id="11" name="Shape 8"/>
          <p:cNvSpPr/>
          <p:nvPr/>
        </p:nvSpPr>
        <p:spPr>
          <a:xfrm>
            <a:off x="640080" y="2670048"/>
            <a:ext cx="7863840" cy="1188720"/>
          </a:xfrm>
          <a:prstGeom prst="roundRect">
            <a:avLst>
              <a:gd name="adj" fmla="val 9231"/>
            </a:avLst>
          </a:prstGeom>
          <a:solidFill>
            <a:srgbClr val="1A2D5A"/>
          </a:solidFill>
          <a:ln/>
        </p:spPr>
      </p:sp>
      <p:sp>
        <p:nvSpPr>
          <p:cNvPr id="12" name="Text 9"/>
          <p:cNvSpPr/>
          <p:nvPr/>
        </p:nvSpPr>
        <p:spPr>
          <a:xfrm>
            <a:off x="822960" y="2743200"/>
            <a:ext cx="7498080" cy="228600"/>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THE TRANSFERABLE PATTERN:</a:t>
            </a:r>
            <a:endParaRPr lang="en-US" sz="1000" dirty="0"/>
          </a:p>
        </p:txBody>
      </p:sp>
      <p:sp>
        <p:nvSpPr>
          <p:cNvPr id="13" name="Text 10"/>
          <p:cNvSpPr/>
          <p:nvPr/>
        </p:nvSpPr>
        <p:spPr>
          <a:xfrm>
            <a:off x="822960" y="2999232"/>
            <a:ext cx="7498080" cy="77724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When one world meets another, historians must tell BOTH sides — because every arrival looks different depending on which shore you're standing on.</a:t>
            </a:r>
            <a:endParaRPr lang="en-US" sz="1400" dirty="0"/>
          </a:p>
        </p:txBody>
      </p:sp>
      <p:sp>
        <p:nvSpPr>
          <p:cNvPr id="14" name="Shape 11"/>
          <p:cNvSpPr/>
          <p:nvPr/>
        </p:nvSpPr>
        <p:spPr>
          <a:xfrm>
            <a:off x="1371600" y="3950208"/>
            <a:ext cx="6400800" cy="822960"/>
          </a:xfrm>
          <a:prstGeom prst="roundRect">
            <a:avLst>
              <a:gd name="adj" fmla="val 11111"/>
            </a:avLst>
          </a:prstGeom>
          <a:solidFill>
            <a:srgbClr val="0E1C42"/>
          </a:solidFill>
          <a:ln w="12700">
            <a:solidFill>
              <a:srgbClr val="D4943A"/>
            </a:solidFill>
            <a:prstDash val="solid"/>
          </a:ln>
        </p:spPr>
      </p:sp>
      <p:sp>
        <p:nvSpPr>
          <p:cNvPr id="15" name="Text 12"/>
          <p:cNvSpPr/>
          <p:nvPr/>
        </p:nvSpPr>
        <p:spPr>
          <a:xfrm>
            <a:off x="1554480" y="4023360"/>
            <a:ext cx="6035040" cy="640080"/>
          </a:xfrm>
          <a:prstGeom prst="rect">
            <a:avLst/>
          </a:prstGeom>
          <a:noFill/>
          <a:ln/>
        </p:spPr>
        <p:txBody>
          <a:bodyPr wrap="square" rtlCol="0" anchor="ctr"/>
          <a:lstStyle/>
          <a:p>
            <a:pPr algn="ctr" indent="0" marL="0">
              <a:buNone/>
            </a:pPr>
            <a:r>
              <a:rPr lang="en-US" sz="1200" i="1" dirty="0">
                <a:solidFill>
                  <a:srgbClr val="D4943A"/>
                </a:solidFill>
                <a:latin typeface="Calibri" pitchFamily="34" charset="0"/>
                <a:ea typeface="Calibri" pitchFamily="34" charset="-122"/>
                <a:cs typeface="Calibri" pitchFamily="34" charset="-120"/>
              </a:rPr>
              <a:t>COMING NEXT: Lesson 4.04.02 — Motives for European Expeditions  |  Why did they come at all?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2026-07-14T00:25:08Z</dcterms:created>
  <dcterms:modified xsi:type="dcterms:W3CDTF">2026-07-14T00:25:08Z</dcterms:modified>
</cp:coreProperties>
</file>