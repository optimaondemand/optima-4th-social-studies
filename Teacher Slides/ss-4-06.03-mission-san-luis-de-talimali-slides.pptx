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Wide-angle view of Mission San Luis de Talimali reconstruction in Tallahassee, FL -- massive circular Apalachee Council House thatched roof on left, small Spanish chapel bell tower on right, open plaza between them. Golden afternoon light. Mood: two worlds, one place.Title slide. Open: 'The hallway opened into a room full of mission records -- Mission San Luis de Talimali. Spanish and Apalachee names, side by side. Canvas scrambled who did what. I am tired, but I can feel we are making real progress. Help me sort out what this mission reveals.' Under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Florida Files unlock. Read Ms. Rivera's message aloud. Ask: 'If two very different groups of people shared one plaza for 50 years, what questions would YOU want answered about how that worked?' Let 2-3 students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Show the image silently for 30 seconds. Ask: 'What do you notice? If the biggest building is NOT the church, what does that tell you?' Do NOT explain yet. Let them type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discussion. The 'missing voice' question is critical for native peoples lessons. Treat oral tradition and archaeology as valid evidence. Don't resolve the power question -- carry the tension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Study. Key move: this is a RECONSTRUCTION, not a 1690 photograph. Ask: 'What can we trust about it? What can archaeology tell us that written records cannot? What can it NOT tell us?' Introduce: The Apalachee people today still maintain their heritage.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or wide-angle view of Mission San Luis plaza with Council House on one side and Spanish chapel on the other -- two buildings facing each other across open ground. Golden light. Mood: two cultures, one shared space.Key concept reveal. Emphasize: JOINT settlement -- both groups lived here. The biggest building was Apalachee. For 50 years (1656-1704) two cultures shared this plaza in a way that was rare in colonial America.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Multi-Source Compare. Walk through both sources. Key question: What does the Spanish friar's account tell us that archaeology cannot? What does archaeology tell us that written records leave out? Push students to defend with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Sunrise over the Mission San Luis plaza -- warm golden light falling on the thatched Council House and small chapel bell tower. Two buildings in one frame, quiet morning light. Mood: service, sacrifice, reflection.Virtue Spotlight: Service. Read the text. Ask: 'Can two people serve completely different goals while sharing the same physical space? What does that mean for how we evaluate each person?' Under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Read the question exactly. Think aloud: name each building, give at least one specific detail (size, shape, purpose). The model answer uses specific details from the lesson. Students watch -- no typing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 Students must use specific details: location (near Tallahassee, in Apalachee territory), both groups living there, Apalachee chief AND Spanish deputy. Push back: 'Is sharing a plaza the same as equal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Critique. The sample is vague: 'in Florida' (should be 'in Apalachee territory near present-day Tallahassee'), 'own building' (should be 'Apalachee Council House, 120 feet across, larger than the chapel'), no numbers for population. The Apalachee chief and Spanish deputy should both be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Tricky One. This is genuinely ambiguous -- both 'service' and 'pressure' are defensible. The pattern: colonial encounters always involve multiple groups each believing they are serving a just cause. Accept both framings if evidence-backed.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Read each question aloud. Think aloud through Q2: 'If I am writing about a JOINT settlement, I would describe BOTH buildings -- the Apalachee Council House AND the Spanish chapel -- and explain they stood across the same plaza for 50 years.' Walk through turn-in.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Dusk view of the Mission San Luis plaza -- warm amber light across the open ground between the Council House and chapel. Empty plaza, two buildings silhouetted. Mood: file unlocked, corridor brighter, mission not over yet.Closing. Celebrate the team. Recap: Mission San Luis was a JOINT settlement -- Apalachee Council House and Spanish chapel, one plaza, 50 years. The Apalachee people today still maintain their heritage. Tease 4.06.04: daily life, the bell, the repartimiento. Under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017520"/>
            <a:ext cx="9144000" cy="2125980"/>
          </a:xfrm>
          <a:prstGeom prst="rect">
            <a:avLst/>
          </a:prstGeom>
          <a:solidFill>
            <a:srgbClr val="0E1C42">
              <a:alpha val="80000"/>
            </a:srgbClr>
          </a:solidFill>
          <a:ln/>
        </p:spPr>
      </p:sp>
      <p:sp>
        <p:nvSpPr>
          <p:cNvPr id="6" name="Text 3"/>
          <p:cNvSpPr/>
          <p:nvPr/>
        </p:nvSpPr>
        <p:spPr>
          <a:xfrm>
            <a:off x="365760" y="256032"/>
            <a:ext cx="8412480" cy="292608"/>
          </a:xfrm>
          <a:prstGeom prst="rect">
            <a:avLst/>
          </a:prstGeom>
          <a:noFill/>
          <a:ln/>
        </p:spPr>
        <p:txBody>
          <a:bodyPr wrap="square"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FLORIDA FILES: ESCAPE FROM CANVAS</a:t>
            </a:r>
            <a:endParaRPr lang="en-US" sz="1000" dirty="0"/>
          </a:p>
        </p:txBody>
      </p:sp>
      <p:sp>
        <p:nvSpPr>
          <p:cNvPr id="7" name="Text 4"/>
          <p:cNvSpPr/>
          <p:nvPr/>
        </p:nvSpPr>
        <p:spPr>
          <a:xfrm>
            <a:off x="365760" y="621792"/>
            <a:ext cx="8412480" cy="621792"/>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Mission San Luis de Talimali:</a:t>
            </a:r>
            <a:endParaRPr lang="en-US" sz="3400" dirty="0"/>
          </a:p>
        </p:txBody>
      </p:sp>
      <p:sp>
        <p:nvSpPr>
          <p:cNvPr id="8" name="Text 5"/>
          <p:cNvSpPr/>
          <p:nvPr/>
        </p:nvSpPr>
        <p:spPr>
          <a:xfrm>
            <a:off x="365760" y="1261872"/>
            <a:ext cx="8412480" cy="475488"/>
          </a:xfrm>
          <a:prstGeom prst="rect">
            <a:avLst/>
          </a:prstGeom>
          <a:noFill/>
          <a:ln/>
        </p:spPr>
        <p:txBody>
          <a:bodyPr wrap="square" rtlCol="0" anchor="ctr"/>
          <a:lstStyle/>
          <a:p>
            <a:pPr algn="l" indent="0" marL="0">
              <a:buNone/>
            </a:pPr>
            <a:r>
              <a:rPr lang="en-US" sz="2600" dirty="0">
                <a:solidFill>
                  <a:srgbClr val="D4943A"/>
                </a:solidFill>
                <a:latin typeface="Cambria" pitchFamily="34" charset="0"/>
                <a:ea typeface="Cambria" pitchFamily="34" charset="-122"/>
                <a:cs typeface="Cambria" pitchFamily="34" charset="-120"/>
              </a:rPr>
              <a:t>Two Buildings, One Plaza</a:t>
            </a:r>
            <a:endParaRPr lang="en-US" sz="2600" dirty="0"/>
          </a:p>
        </p:txBody>
      </p:sp>
      <p:sp>
        <p:nvSpPr>
          <p:cNvPr id="9" name="Text 6"/>
          <p:cNvSpPr/>
          <p:nvPr/>
        </p:nvSpPr>
        <p:spPr>
          <a:xfrm>
            <a:off x="365760" y="1828800"/>
            <a:ext cx="8412480" cy="274320"/>
          </a:xfrm>
          <a:prstGeom prst="rect">
            <a:avLst/>
          </a:prstGeom>
          <a:noFill/>
          <a:ln/>
        </p:spPr>
        <p:txBody>
          <a:bodyPr wrap="square" rtlCol="0" anchor="ctr"/>
          <a:lstStyle/>
          <a:p>
            <a:pPr algn="l" indent="0" marL="0">
              <a:buNone/>
            </a:pPr>
            <a:r>
              <a:rPr lang="en-US" sz="1200" dirty="0">
                <a:solidFill>
                  <a:srgbClr val="B0C0E0"/>
                </a:solidFill>
                <a:latin typeface="Calibri" pitchFamily="34" charset="0"/>
                <a:ea typeface="Calibri" pitchFamily="34" charset="-122"/>
                <a:cs typeface="Calibri" pitchFamily="34" charset="-120"/>
              </a:rPr>
              <a:t>Lesson 4.06.03  |  Florida History Team  |  Grade 4</a:t>
            </a:r>
            <a:endParaRPr lang="en-US" sz="1200" dirty="0"/>
          </a:p>
        </p:txBody>
      </p:sp>
      <p:sp>
        <p:nvSpPr>
          <p:cNvPr id="10" name="Shape 7"/>
          <p:cNvSpPr/>
          <p:nvPr/>
        </p:nvSpPr>
        <p:spPr>
          <a:xfrm>
            <a:off x="365760" y="2212848"/>
            <a:ext cx="3474720" cy="0"/>
          </a:xfrm>
          <a:prstGeom prst="line">
            <a:avLst/>
          </a:prstGeom>
          <a:noFill/>
          <a:ln w="25400">
            <a:solidFill>
              <a:srgbClr val="D4943A"/>
            </a:solidFill>
            <a:prstDash val="solid"/>
          </a:ln>
        </p:spPr>
      </p:sp>
      <p:sp>
        <p:nvSpPr>
          <p:cNvPr id="11" name="Text 8"/>
          <p:cNvSpPr/>
          <p:nvPr/>
        </p:nvSpPr>
        <p:spPr>
          <a:xfrm>
            <a:off x="365760" y="3154680"/>
            <a:ext cx="8412480" cy="777240"/>
          </a:xfrm>
          <a:prstGeom prst="rect">
            <a:avLst/>
          </a:prstGeom>
          <a:noFill/>
          <a:ln/>
        </p:spPr>
        <p:txBody>
          <a:bodyPr wrap="square" rtlCol="0" anchor="t"/>
          <a:lstStyle/>
          <a:p>
            <a:pPr algn="l" indent="0" marL="0">
              <a:buNone/>
            </a:pPr>
            <a:r>
              <a:rPr lang="en-US" sz="1400" i="1" dirty="0">
                <a:solidFill>
                  <a:srgbClr val="E8EEF8"/>
                </a:solidFill>
                <a:latin typeface="Calibri" pitchFamily="34" charset="0"/>
                <a:ea typeface="Calibri" pitchFamily="34" charset="-122"/>
                <a:cs typeface="Calibri" pitchFamily="34" charset="-120"/>
              </a:rPr>
              <a:t>Guiding Question: What did Mission San Luis reveal about how Spanish and Apalachee people shared a town -- and what did each group gain and lose?</a:t>
            </a:r>
            <a:endParaRPr lang="en-US" sz="1400" dirty="0"/>
          </a:p>
        </p:txBody>
      </p:sp>
      <p:sp>
        <p:nvSpPr>
          <p:cNvPr id="12" name="Text 9"/>
          <p:cNvSpPr/>
          <p:nvPr/>
        </p:nvSpPr>
        <p:spPr>
          <a:xfrm>
            <a:off x="365760" y="4773168"/>
            <a:ext cx="8412480" cy="201168"/>
          </a:xfrm>
          <a:prstGeom prst="rect">
            <a:avLst/>
          </a:prstGeom>
          <a:noFill/>
          <a:ln/>
        </p:spPr>
        <p:txBody>
          <a:bodyPr wrap="square" rtlCol="0" anchor="ctr"/>
          <a:lstStyle/>
          <a:p>
            <a:pPr algn="l" indent="0" marL="0">
              <a:buNone/>
            </a:pPr>
            <a:r>
              <a:rPr lang="en-US" sz="900" dirty="0">
                <a:solidFill>
                  <a:srgbClr val="7A88A8"/>
                </a:solidFill>
                <a:latin typeface="Calibri" pitchFamily="34" charset="0"/>
                <a:ea typeface="Calibri" pitchFamily="34" charset="-122"/>
                <a:cs typeface="Calibri" pitchFamily="34" charset="-120"/>
              </a:rPr>
              <a:t>SS.4.A.3.2 · SS.4.A.3.3 · SS.4.A.3.4 · SS.4.A.3.6 · SS.4.A.9.1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320040" y="256032"/>
            <a:ext cx="8503920" cy="960120"/>
          </a:xfrm>
          <a:prstGeom prst="roundRect">
            <a:avLst>
              <a:gd name="adj" fmla="val 11429"/>
            </a:avLst>
          </a:prstGeom>
          <a:solidFill>
            <a:srgbClr val="0E1C42"/>
          </a:solidFill>
          <a:ln/>
        </p:spPr>
      </p:sp>
      <p:sp>
        <p:nvSpPr>
          <p:cNvPr id="4" name="Text 2"/>
          <p:cNvSpPr/>
          <p:nvPr/>
        </p:nvSpPr>
        <p:spPr>
          <a:xfrm>
            <a:off x="502920" y="292608"/>
            <a:ext cx="8138160" cy="32004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FLORIDA FILES: MISSION UNLOCKED</a:t>
            </a:r>
            <a:endParaRPr lang="en-US" sz="1000" dirty="0"/>
          </a:p>
        </p:txBody>
      </p:sp>
      <p:sp>
        <p:nvSpPr>
          <p:cNvPr id="5" name="Text 3"/>
          <p:cNvSpPr/>
          <p:nvPr/>
        </p:nvSpPr>
        <p:spPr>
          <a:xfrm>
            <a:off x="502920" y="612648"/>
            <a:ext cx="8138160" cy="384048"/>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File 4.06.03 -- Mission San Luis de Talimali: The JOINT Settlement</a:t>
            </a:r>
            <a:endParaRPr lang="en-US" sz="1600" dirty="0"/>
          </a:p>
        </p:txBody>
      </p:sp>
      <p:sp>
        <p:nvSpPr>
          <p:cNvPr id="6" name="Shape 4"/>
          <p:cNvSpPr/>
          <p:nvPr/>
        </p:nvSpPr>
        <p:spPr>
          <a:xfrm>
            <a:off x="320040" y="1325880"/>
            <a:ext cx="8503920" cy="2377440"/>
          </a:xfrm>
          <a:prstGeom prst="roundRect">
            <a:avLst>
              <a:gd name="adj" fmla="val 5769"/>
            </a:avLst>
          </a:prstGeom>
          <a:solidFill>
            <a:srgbClr val="FFFFFF"/>
          </a:solidFill>
          <a:ln w="25400">
            <a:solidFill>
              <a:srgbClr val="D4943A"/>
            </a:solidFill>
            <a:prstDash val="solid"/>
          </a:ln>
        </p:spPr>
      </p:sp>
      <p:sp>
        <p:nvSpPr>
          <p:cNvPr id="7" name="Text 5"/>
          <p:cNvSpPr/>
          <p:nvPr/>
        </p:nvSpPr>
        <p:spPr>
          <a:xfrm>
            <a:off x="502920" y="1417320"/>
            <a:ext cx="3657600" cy="256032"/>
          </a:xfrm>
          <a:prstGeom prst="rect">
            <a:avLst/>
          </a:prstGeom>
          <a:noFill/>
          <a:ln/>
        </p:spPr>
        <p:txBody>
          <a:bodyPr wrap="square" rtlCol="0" anchor="ctr"/>
          <a:lstStyle/>
          <a:p>
            <a:pPr indent="0" marL="0">
              <a:buNone/>
            </a:pPr>
            <a:r>
              <a:rPr lang="en-US" sz="1000" b="1" spc="120" kern="0" dirty="0">
                <a:solidFill>
                  <a:srgbClr val="D4943A"/>
                </a:solidFill>
                <a:latin typeface="Calibri" pitchFamily="34" charset="0"/>
                <a:ea typeface="Calibri" pitchFamily="34" charset="-122"/>
                <a:cs typeface="Calibri" pitchFamily="34" charset="-120"/>
              </a:rPr>
              <a:t>Message from Ms. Rivera</a:t>
            </a:r>
            <a:endParaRPr lang="en-US" sz="1000" dirty="0"/>
          </a:p>
        </p:txBody>
      </p:sp>
      <p:sp>
        <p:nvSpPr>
          <p:cNvPr id="8" name="Text 6"/>
          <p:cNvSpPr/>
          <p:nvPr/>
        </p:nvSpPr>
        <p:spPr>
          <a:xfrm>
            <a:off x="502920" y="1691640"/>
            <a:ext cx="8138160" cy="1783080"/>
          </a:xfrm>
          <a:prstGeom prst="rect">
            <a:avLst/>
          </a:prstGeom>
          <a:noFill/>
          <a:ln/>
        </p:spPr>
        <p:txBody>
          <a:bodyPr wrap="square"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"The hallway opened into a room full of mission records -- Mission San Luis de Talimali -- with Spanish and Apalachee names side by side. Canvas scrambled who did what. I am tired, but I can feel we are making real progress. Help me sort out what this mission reveals."</a:t>
            </a:r>
            <a:endParaRPr lang="en-US" sz="1400" dirty="0"/>
          </a:p>
          <a:p>
            <a:pPr indent="0" marL="0">
              <a:buNone/>
            </a:pPr>
            <a:r>
              <a:rPr lang="en-US" sz="1400" i="1" dirty="0">
                <a:solidFill>
                  <a:srgbClr val="0E1C42"/>
                </a:solidFill>
                <a:latin typeface="Cambria" pitchFamily="34" charset="0"/>
                <a:ea typeface="Cambria" pitchFamily="34" charset="-122"/>
                <a:cs typeface="Cambria" pitchFamily="34" charset="-120"/>
              </a:rPr>
              <a:t>-- Ms. Rivera, deeper inside the course</a:t>
            </a:r>
            <a:endParaRPr lang="en-US" sz="1400" dirty="0"/>
          </a:p>
        </p:txBody>
      </p:sp>
      <p:sp>
        <p:nvSpPr>
          <p:cNvPr id="9" name="Shape 7"/>
          <p:cNvSpPr/>
          <p:nvPr/>
        </p:nvSpPr>
        <p:spPr>
          <a:xfrm>
            <a:off x="320040" y="3822192"/>
            <a:ext cx="8503920" cy="1005840"/>
          </a:xfrm>
          <a:prstGeom prst="roundRect">
            <a:avLst>
              <a:gd name="adj" fmla="val 10909"/>
            </a:avLst>
          </a:prstGeom>
          <a:solidFill>
            <a:srgbClr val="1A2D5A"/>
          </a:solidFill>
          <a:ln/>
        </p:spPr>
      </p:sp>
      <p:sp>
        <p:nvSpPr>
          <p:cNvPr id="10" name="Text 8"/>
          <p:cNvSpPr/>
          <p:nvPr/>
        </p:nvSpPr>
        <p:spPr>
          <a:xfrm>
            <a:off x="502920" y="3877056"/>
            <a:ext cx="2743200" cy="256032"/>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YOUR MISSION TODAY</a:t>
            </a:r>
            <a:endParaRPr lang="en-US" sz="900" dirty="0"/>
          </a:p>
        </p:txBody>
      </p:sp>
      <p:sp>
        <p:nvSpPr>
          <p:cNvPr id="11" name="Text 9"/>
          <p:cNvSpPr/>
          <p:nvPr/>
        </p:nvSpPr>
        <p:spPr>
          <a:xfrm>
            <a:off x="502920" y="4133088"/>
            <a:ext cx="8138160" cy="566928"/>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Describe both buildings. Explain what made this a JOINT settlement. Apply the Virtue Lens on service. Unlock the file.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37160"/>
            <a:ext cx="6400800" cy="27432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BOX -- ONE PLAZA, TWO BUILDINGS</a:t>
            </a:r>
            <a:endParaRPr lang="en-US" sz="900" dirty="0"/>
          </a:p>
        </p:txBody>
      </p:sp>
      <p:sp>
        <p:nvSpPr>
          <p:cNvPr id="4" name="Text 2"/>
          <p:cNvSpPr/>
          <p:nvPr/>
        </p:nvSpPr>
        <p:spPr>
          <a:xfrm>
            <a:off x="320040" y="438912"/>
            <a:ext cx="68580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do you notice -- and what questions does it raise?</a:t>
            </a:r>
            <a:endParaRPr lang="en-US" sz="2000" dirty="0"/>
          </a:p>
        </p:txBody>
      </p:sp>
      <p:sp>
        <p:nvSpPr>
          <p:cNvPr id="5" name="Shape 3"/>
          <p:cNvSpPr/>
          <p:nvPr/>
        </p:nvSpPr>
        <p:spPr>
          <a:xfrm>
            <a:off x="320040" y="932688"/>
            <a:ext cx="5029200" cy="3182112"/>
          </a:xfrm>
          <a:prstGeom prst="roundRect">
            <a:avLst>
              <a:gd name="adj" fmla="val 3448"/>
            </a:avLst>
          </a:prstGeom>
          <a:solidFill>
            <a:srgbClr val="E2E8F4"/>
          </a:solidFill>
          <a:ln w="19050">
            <a:solidFill>
              <a:srgbClr val="B0B8CC"/>
            </a:solidFill>
            <a:prstDash val="dash"/>
          </a:ln>
        </p:spPr>
      </p:sp>
      <p:sp>
        <p:nvSpPr>
          <p:cNvPr id="6" name="Text 4"/>
          <p:cNvSpPr/>
          <p:nvPr/>
        </p:nvSpPr>
        <p:spPr>
          <a:xfrm>
            <a:off x="320040" y="932688"/>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207008"/>
            <a:ext cx="4754880" cy="2816352"/>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the reconstructed Apalachee Council House at Mission San Luis Living History Museum, Tallahassee, FL. Massive circular thatched building, 120 feet across. Source: missionsanluis.org or Florida Memory.</a:t>
            </a:r>
            <a:endParaRPr lang="en-US" sz="1100" dirty="0"/>
          </a:p>
        </p:txBody>
      </p:sp>
      <p:sp>
        <p:nvSpPr>
          <p:cNvPr id="8" name="Shape 6"/>
          <p:cNvSpPr/>
          <p:nvPr/>
        </p:nvSpPr>
        <p:spPr>
          <a:xfrm>
            <a:off x="5532120" y="932688"/>
            <a:ext cx="3291840" cy="2011680"/>
          </a:xfrm>
          <a:prstGeom prst="roundRect">
            <a:avLst>
              <a:gd name="adj" fmla="val 5455"/>
            </a:avLst>
          </a:prstGeom>
          <a:solidFill>
            <a:srgbClr val="1A2D5A"/>
          </a:solidFill>
          <a:ln/>
        </p:spPr>
      </p:sp>
      <p:sp>
        <p:nvSpPr>
          <p:cNvPr id="9" name="Text 7"/>
          <p:cNvSpPr/>
          <p:nvPr/>
        </p:nvSpPr>
        <p:spPr>
          <a:xfrm>
            <a:off x="5623560" y="987552"/>
            <a:ext cx="3108960" cy="566928"/>
          </a:xfrm>
          <a:prstGeom prst="rect">
            <a:avLst/>
          </a:prstGeom>
          <a:noFill/>
          <a:ln/>
        </p:spPr>
        <p:txBody>
          <a:bodyPr wrap="square" rtlCol="0" anchor="ctr"/>
          <a:lstStyle/>
          <a:p>
            <a:pPr algn="ctr" indent="0" marL="0">
              <a:buNone/>
            </a:pPr>
            <a:r>
              <a:rPr lang="en-US" sz="1800" b="1" dirty="0">
                <a:solidFill>
                  <a:srgbClr val="D4943A"/>
                </a:solidFill>
                <a:latin typeface="Cambria" pitchFamily="34" charset="0"/>
                <a:ea typeface="Cambria" pitchFamily="34" charset="-122"/>
                <a:cs typeface="Cambria" pitchFamily="34" charset="-120"/>
              </a:rPr>
              <a:t>Apalachee</a:t>
            </a:r>
            <a:endParaRPr lang="en-US" sz="1800" dirty="0"/>
          </a:p>
          <a:p>
            <a:pPr algn="ctr" indent="0" marL="0">
              <a:buNone/>
            </a:pPr>
            <a:r>
              <a:rPr lang="en-US" sz="1800" b="1" dirty="0">
                <a:solidFill>
                  <a:srgbClr val="D4943A"/>
                </a:solidFill>
                <a:latin typeface="Cambria" pitchFamily="34" charset="0"/>
                <a:ea typeface="Cambria" pitchFamily="34" charset="-122"/>
                <a:cs typeface="Cambria" pitchFamily="34" charset="-120"/>
              </a:rPr>
              <a:t>Council House</a:t>
            </a:r>
            <a:endParaRPr lang="en-US" sz="1800" dirty="0"/>
          </a:p>
        </p:txBody>
      </p:sp>
      <p:sp>
        <p:nvSpPr>
          <p:cNvPr id="10" name="Text 8"/>
          <p:cNvSpPr/>
          <p:nvPr/>
        </p:nvSpPr>
        <p:spPr>
          <a:xfrm>
            <a:off x="5623560" y="1572768"/>
            <a:ext cx="3108960" cy="1261872"/>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120 feet across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Held up to 2,000 people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Circular, thatched roof</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The LARGEST building</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at Mission San Luis</a:t>
            </a:r>
            <a:endParaRPr lang="en-US" sz="1100" dirty="0"/>
          </a:p>
        </p:txBody>
      </p:sp>
      <p:sp>
        <p:nvSpPr>
          <p:cNvPr id="11" name="Shape 9"/>
          <p:cNvSpPr/>
          <p:nvPr/>
        </p:nvSpPr>
        <p:spPr>
          <a:xfrm>
            <a:off x="5532120" y="3035808"/>
            <a:ext cx="3291840" cy="1508760"/>
          </a:xfrm>
          <a:prstGeom prst="roundRect">
            <a:avLst>
              <a:gd name="adj" fmla="val 7273"/>
            </a:avLst>
          </a:prstGeom>
          <a:solidFill>
            <a:srgbClr val="FFF3DC"/>
          </a:solidFill>
          <a:ln w="19050">
            <a:solidFill>
              <a:srgbClr val="F5E6C8"/>
            </a:solidFill>
            <a:prstDash val="solid"/>
          </a:ln>
        </p:spPr>
      </p:sp>
      <p:sp>
        <p:nvSpPr>
          <p:cNvPr id="12" name="Text 10"/>
          <p:cNvSpPr/>
          <p:nvPr/>
        </p:nvSpPr>
        <p:spPr>
          <a:xfrm>
            <a:off x="5669280" y="3090672"/>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669280" y="3291840"/>
            <a:ext cx="3017520" cy="11887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which makes me wonder..."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this is the largest building, it tells me the Apalachee..."</a:t>
            </a:r>
            <a:endParaRPr lang="en-US" sz="1200" dirty="0"/>
          </a:p>
        </p:txBody>
      </p:sp>
      <p:sp>
        <p:nvSpPr>
          <p:cNvPr id="14" name="Text 12"/>
          <p:cNvSpPr/>
          <p:nvPr/>
        </p:nvSpPr>
        <p:spPr>
          <a:xfrm>
            <a:off x="320040" y="4206240"/>
            <a:ext cx="5029200" cy="274320"/>
          </a:xfrm>
          <a:prstGeom prst="rect">
            <a:avLst/>
          </a:prstGeom>
          <a:noFill/>
          <a:ln/>
        </p:spPr>
        <p:txBody>
          <a:bodyPr wrap="square"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OBSERVE 30 SECONDS -- then type in chat.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64592"/>
            <a:ext cx="8503920" cy="475488"/>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Who built this place -- and for whom?</a:t>
            </a:r>
            <a:endParaRPr lang="en-US" sz="2400" dirty="0"/>
          </a:p>
        </p:txBody>
      </p:sp>
      <p:sp>
        <p:nvSpPr>
          <p:cNvPr id="4" name="Shape 2"/>
          <p:cNvSpPr/>
          <p:nvPr/>
        </p:nvSpPr>
        <p:spPr>
          <a:xfrm>
            <a:off x="320040" y="749808"/>
            <a:ext cx="5303520" cy="2633472"/>
          </a:xfrm>
          <a:prstGeom prst="roundRect">
            <a:avLst>
              <a:gd name="adj" fmla="val 5208"/>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02920" y="841248"/>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502920" y="1097280"/>
            <a:ext cx="4937760" cy="219456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biggest building at this mission was the Apalachee Council House, NOT the Spanish chapel. What does that tell you about power at this site?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Apalachee chief and Spanish friars both lived here. Why might each of them have agreed to share this plaza -- and what might each have been giving up?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voice is missing from the written records about Mission San Luis? Where would a historian look to hear from the Apalachee side?</a:t>
            </a:r>
            <a:endParaRPr lang="en-US" sz="1100" dirty="0"/>
          </a:p>
        </p:txBody>
      </p:sp>
      <p:sp>
        <p:nvSpPr>
          <p:cNvPr id="7" name="Shape 5"/>
          <p:cNvSpPr/>
          <p:nvPr/>
        </p:nvSpPr>
        <p:spPr>
          <a:xfrm>
            <a:off x="5760720" y="749808"/>
            <a:ext cx="3063240" cy="1828800"/>
          </a:xfrm>
          <a:prstGeom prst="roundRect">
            <a:avLst>
              <a:gd name="adj" fmla="val 6000"/>
            </a:avLst>
          </a:prstGeom>
          <a:solidFill>
            <a:srgbClr val="FFF3DC"/>
          </a:solidFill>
          <a:ln w="19050">
            <a:solidFill>
              <a:srgbClr val="F5E6C8"/>
            </a:solidFill>
            <a:prstDash val="solid"/>
          </a:ln>
        </p:spPr>
      </p:sp>
      <p:sp>
        <p:nvSpPr>
          <p:cNvPr id="8" name="Text 6"/>
          <p:cNvSpPr/>
          <p:nvPr/>
        </p:nvSpPr>
        <p:spPr>
          <a:xfrm>
            <a:off x="5897880" y="804672"/>
            <a:ext cx="2788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897880" y="1005840"/>
            <a:ext cx="278892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Apalachee chief agreed to this arrangement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voice missing from this record is... because..."</a:t>
            </a:r>
            <a:endParaRPr lang="en-US" sz="1200" dirty="0"/>
          </a:p>
        </p:txBody>
      </p:sp>
      <p:sp>
        <p:nvSpPr>
          <p:cNvPr id="10" name="Shape 8"/>
          <p:cNvSpPr/>
          <p:nvPr/>
        </p:nvSpPr>
        <p:spPr>
          <a:xfrm>
            <a:off x="320040" y="3493008"/>
            <a:ext cx="8503920" cy="1353312"/>
          </a:xfrm>
          <a:prstGeom prst="roundRect">
            <a:avLst>
              <a:gd name="adj" fmla="val 8108"/>
            </a:avLst>
          </a:prstGeom>
          <a:solidFill>
            <a:srgbClr val="FFFFFF"/>
          </a:solidFill>
          <a:ln w="12700">
            <a:solidFill>
              <a:srgbClr val="B0B8CC"/>
            </a:solidFill>
            <a:prstDash val="solid"/>
          </a:ln>
        </p:spPr>
      </p:sp>
      <p:sp>
        <p:nvSpPr>
          <p:cNvPr id="11" name="Text 9"/>
          <p:cNvSpPr/>
          <p:nvPr/>
        </p:nvSpPr>
        <p:spPr>
          <a:xfrm>
            <a:off x="502920" y="3566160"/>
            <a:ext cx="1828800" cy="228600"/>
          </a:xfrm>
          <a:prstGeom prst="rect">
            <a:avLst/>
          </a:prstGeom>
          <a:noFill/>
          <a:ln/>
        </p:spPr>
        <p:txBody>
          <a:bodyPr wrap="square"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TEACHER MOVE</a:t>
            </a:r>
            <a:endParaRPr lang="en-US" sz="900" dirty="0"/>
          </a:p>
        </p:txBody>
      </p:sp>
      <p:sp>
        <p:nvSpPr>
          <p:cNvPr id="12" name="Text 10"/>
          <p:cNvSpPr/>
          <p:nvPr/>
        </p:nvSpPr>
        <p:spPr>
          <a:xfrm>
            <a:off x="502920" y="3794760"/>
            <a:ext cx="7955280" cy="932688"/>
          </a:xfrm>
          <a:prstGeom prst="rect">
            <a:avLst/>
          </a:prstGeom>
          <a:noFill/>
          <a:ln/>
        </p:spPr>
        <p:txBody>
          <a:bodyPr wrap="square"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After the first question, push: 'Does the size of the building tell us who had MORE power, or just who had been there longer? Could someone argue differently?' Hold the disagreement open.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37160"/>
            <a:ext cx="8503920" cy="27432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SOURCE STUDY -- Archaeological Evidence</a:t>
            </a:r>
            <a:endParaRPr lang="en-US" sz="900" dirty="0"/>
          </a:p>
        </p:txBody>
      </p:sp>
      <p:sp>
        <p:nvSpPr>
          <p:cNvPr id="4" name="Text 2"/>
          <p:cNvSpPr/>
          <p:nvPr/>
        </p:nvSpPr>
        <p:spPr>
          <a:xfrm>
            <a:off x="320040" y="457200"/>
            <a:ext cx="850392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The Reconstructed Council House -- What Archaeology Tells Us</a:t>
            </a:r>
            <a:endParaRPr lang="en-US" sz="2000" dirty="0"/>
          </a:p>
        </p:txBody>
      </p:sp>
      <p:sp>
        <p:nvSpPr>
          <p:cNvPr id="5" name="Shape 3"/>
          <p:cNvSpPr/>
          <p:nvPr/>
        </p:nvSpPr>
        <p:spPr>
          <a:xfrm>
            <a:off x="320040" y="932688"/>
            <a:ext cx="4663440" cy="329184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320040" y="932688"/>
            <a:ext cx="46634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207008"/>
            <a:ext cx="438912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reconstructed Apalachee Council House interior OR exterior at Mission San Luis, Tallahassee FL. Interior: central fire pit, tiered benches around the wall. Exterior: massive circular thatched building. Source: missionsanluis.org or Florida Memory search 'Mission San Luis Apalachee Council House.'</a:t>
            </a:r>
            <a:endParaRPr lang="en-US" sz="1100" dirty="0"/>
          </a:p>
        </p:txBody>
      </p:sp>
      <p:sp>
        <p:nvSpPr>
          <p:cNvPr id="8" name="Shape 6"/>
          <p:cNvSpPr/>
          <p:nvPr/>
        </p:nvSpPr>
        <p:spPr>
          <a:xfrm>
            <a:off x="5120640" y="932688"/>
            <a:ext cx="370332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303520" y="1024128"/>
            <a:ext cx="33375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0" name="Text 8"/>
          <p:cNvSpPr/>
          <p:nvPr/>
        </p:nvSpPr>
        <p:spPr>
          <a:xfrm>
            <a:off x="5303520" y="1280160"/>
            <a:ext cx="333756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source is a RECONSTRUCTION -- built in the 2000s based on archaeological evidence. How is this different from a photograph taken in 1690?</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is missing even from archaeological evidence? What can bones, pottery, and building posts NOT tell us?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Apalachee people today still exist as a community. Why might their oral traditions be as important as archaeological finds?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92608"/>
            <a:ext cx="8229600" cy="27432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YOU DISCOVERED IT:</a:t>
            </a:r>
            <a:endParaRPr lang="en-US" sz="1000" dirty="0"/>
          </a:p>
        </p:txBody>
      </p:sp>
      <p:sp>
        <p:nvSpPr>
          <p:cNvPr id="6" name="Text 3"/>
          <p:cNvSpPr/>
          <p:nvPr/>
        </p:nvSpPr>
        <p:spPr>
          <a:xfrm>
            <a:off x="457200" y="594360"/>
            <a:ext cx="8229600" cy="56692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Two Buildings. One Plaza. One Community.</a:t>
            </a:r>
            <a:endParaRPr lang="en-US" sz="3000" dirty="0"/>
          </a:p>
        </p:txBody>
      </p:sp>
      <p:sp>
        <p:nvSpPr>
          <p:cNvPr id="7" name="Shape 4"/>
          <p:cNvSpPr/>
          <p:nvPr/>
        </p:nvSpPr>
        <p:spPr>
          <a:xfrm>
            <a:off x="457200" y="1261872"/>
            <a:ext cx="8229600" cy="548640"/>
          </a:xfrm>
          <a:prstGeom prst="roundRect">
            <a:avLst>
              <a:gd name="adj" fmla="val 13333"/>
            </a:avLst>
          </a:prstGeom>
          <a:solidFill>
            <a:srgbClr val="1A2D5A">
              <a:alpha val="80000"/>
            </a:srgbClr>
          </a:solidFill>
          <a:ln/>
        </p:spPr>
      </p:sp>
      <p:sp>
        <p:nvSpPr>
          <p:cNvPr id="8" name="Text 5"/>
          <p:cNvSpPr/>
          <p:nvPr/>
        </p:nvSpPr>
        <p:spPr>
          <a:xfrm>
            <a:off x="594360" y="1353312"/>
            <a:ext cx="21945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LOCATION:</a:t>
            </a:r>
            <a:endParaRPr lang="en-US" sz="1000" dirty="0"/>
          </a:p>
        </p:txBody>
      </p:sp>
      <p:sp>
        <p:nvSpPr>
          <p:cNvPr id="9" name="Text 6"/>
          <p:cNvSpPr/>
          <p:nvPr/>
        </p:nvSpPr>
        <p:spPr>
          <a:xfrm>
            <a:off x="2880360" y="1353312"/>
            <a:ext cx="56692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200 miles west of St. Augustine, in Apalachee territory, near present-day Tallahassee.</a:t>
            </a:r>
            <a:endParaRPr lang="en-US" sz="1200" dirty="0"/>
          </a:p>
        </p:txBody>
      </p:sp>
      <p:sp>
        <p:nvSpPr>
          <p:cNvPr id="10" name="Shape 7"/>
          <p:cNvSpPr/>
          <p:nvPr/>
        </p:nvSpPr>
        <p:spPr>
          <a:xfrm>
            <a:off x="457200" y="1901952"/>
            <a:ext cx="8229600" cy="548640"/>
          </a:xfrm>
          <a:prstGeom prst="roundRect">
            <a:avLst>
              <a:gd name="adj" fmla="val 13333"/>
            </a:avLst>
          </a:prstGeom>
          <a:solidFill>
            <a:srgbClr val="1A2D5A">
              <a:alpha val="80000"/>
            </a:srgbClr>
          </a:solidFill>
          <a:ln/>
        </p:spPr>
      </p:sp>
      <p:sp>
        <p:nvSpPr>
          <p:cNvPr id="11" name="Text 8"/>
          <p:cNvSpPr/>
          <p:nvPr/>
        </p:nvSpPr>
        <p:spPr>
          <a:xfrm>
            <a:off x="594360" y="1993392"/>
            <a:ext cx="21945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APALACHEE COUNCIL HOUSE:</a:t>
            </a:r>
            <a:endParaRPr lang="en-US" sz="1000" dirty="0"/>
          </a:p>
        </p:txBody>
      </p:sp>
      <p:sp>
        <p:nvSpPr>
          <p:cNvPr id="12" name="Text 9"/>
          <p:cNvSpPr/>
          <p:nvPr/>
        </p:nvSpPr>
        <p:spPr>
          <a:xfrm>
            <a:off x="2880360" y="1993392"/>
            <a:ext cx="56692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Circular, thatched, 120 feet across -- held up to 2,000 people. The LARGEST building at San Luis.</a:t>
            </a:r>
            <a:endParaRPr lang="en-US" sz="1200" dirty="0"/>
          </a:p>
        </p:txBody>
      </p:sp>
      <p:sp>
        <p:nvSpPr>
          <p:cNvPr id="13" name="Shape 10"/>
          <p:cNvSpPr/>
          <p:nvPr/>
        </p:nvSpPr>
        <p:spPr>
          <a:xfrm>
            <a:off x="457200" y="2542032"/>
            <a:ext cx="8229600" cy="548640"/>
          </a:xfrm>
          <a:prstGeom prst="roundRect">
            <a:avLst>
              <a:gd name="adj" fmla="val 13333"/>
            </a:avLst>
          </a:prstGeom>
          <a:solidFill>
            <a:srgbClr val="1A2D5A">
              <a:alpha val="80000"/>
            </a:srgbClr>
          </a:solidFill>
          <a:ln/>
        </p:spPr>
      </p:sp>
      <p:sp>
        <p:nvSpPr>
          <p:cNvPr id="14" name="Text 11"/>
          <p:cNvSpPr/>
          <p:nvPr/>
        </p:nvSpPr>
        <p:spPr>
          <a:xfrm>
            <a:off x="594360" y="2633472"/>
            <a:ext cx="21945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SPANISH CHAPEL:</a:t>
            </a:r>
            <a:endParaRPr lang="en-US" sz="1000" dirty="0"/>
          </a:p>
        </p:txBody>
      </p:sp>
      <p:sp>
        <p:nvSpPr>
          <p:cNvPr id="15" name="Text 12"/>
          <p:cNvSpPr/>
          <p:nvPr/>
        </p:nvSpPr>
        <p:spPr>
          <a:xfrm>
            <a:off x="2880360" y="2633472"/>
            <a:ext cx="56692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Small chapel with bell tower and friary -- the center of Spanish religious life at the mission.</a:t>
            </a:r>
            <a:endParaRPr lang="en-US" sz="1200" dirty="0"/>
          </a:p>
        </p:txBody>
      </p:sp>
      <p:sp>
        <p:nvSpPr>
          <p:cNvPr id="16" name="Shape 13"/>
          <p:cNvSpPr/>
          <p:nvPr/>
        </p:nvSpPr>
        <p:spPr>
          <a:xfrm>
            <a:off x="457200" y="3182112"/>
            <a:ext cx="8229600" cy="548640"/>
          </a:xfrm>
          <a:prstGeom prst="roundRect">
            <a:avLst>
              <a:gd name="adj" fmla="val 13333"/>
            </a:avLst>
          </a:prstGeom>
          <a:solidFill>
            <a:srgbClr val="1A2D5A">
              <a:alpha val="80000"/>
            </a:srgbClr>
          </a:solidFill>
          <a:ln/>
        </p:spPr>
      </p:sp>
      <p:sp>
        <p:nvSpPr>
          <p:cNvPr id="17" name="Text 14"/>
          <p:cNvSpPr/>
          <p:nvPr/>
        </p:nvSpPr>
        <p:spPr>
          <a:xfrm>
            <a:off x="594360" y="3273552"/>
            <a:ext cx="21945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JOINT SETTLEMENT:</a:t>
            </a:r>
            <a:endParaRPr lang="en-US" sz="1000" dirty="0"/>
          </a:p>
        </p:txBody>
      </p:sp>
      <p:sp>
        <p:nvSpPr>
          <p:cNvPr id="18" name="Text 15"/>
          <p:cNvSpPr/>
          <p:nvPr/>
        </p:nvSpPr>
        <p:spPr>
          <a:xfrm>
            <a:off x="2880360" y="3273552"/>
            <a:ext cx="56692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About 1,000 Apalachee and 400 Spanish at its peak (1700). Apalachee chief and Spanish deputy both lived here.</a:t>
            </a:r>
            <a:endParaRPr lang="en-US" sz="1200" dirty="0"/>
          </a:p>
        </p:txBody>
      </p:sp>
      <p:sp>
        <p:nvSpPr>
          <p:cNvPr id="19" name="Shape 16"/>
          <p:cNvSpPr/>
          <p:nvPr/>
        </p:nvSpPr>
        <p:spPr>
          <a:xfrm>
            <a:off x="457200" y="3822192"/>
            <a:ext cx="8229600" cy="548640"/>
          </a:xfrm>
          <a:prstGeom prst="roundRect">
            <a:avLst>
              <a:gd name="adj" fmla="val 13333"/>
            </a:avLst>
          </a:prstGeom>
          <a:solidFill>
            <a:srgbClr val="1A2D5A">
              <a:alpha val="80000"/>
            </a:srgbClr>
          </a:solidFill>
          <a:ln/>
        </p:spPr>
      </p:sp>
      <p:sp>
        <p:nvSpPr>
          <p:cNvPr id="20" name="Text 17"/>
          <p:cNvSpPr/>
          <p:nvPr/>
        </p:nvSpPr>
        <p:spPr>
          <a:xfrm>
            <a:off x="594360" y="3913632"/>
            <a:ext cx="21945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1704:</a:t>
            </a:r>
            <a:endParaRPr lang="en-US" sz="1000" dirty="0"/>
          </a:p>
        </p:txBody>
      </p:sp>
      <p:sp>
        <p:nvSpPr>
          <p:cNvPr id="21" name="Text 18"/>
          <p:cNvSpPr/>
          <p:nvPr/>
        </p:nvSpPr>
        <p:spPr>
          <a:xfrm>
            <a:off x="2880360" y="3913632"/>
            <a:ext cx="56692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English and Creek forces destroyed Mission San Luis. The Apalachee and Spanish burned it themselves before leaving.</a:t>
            </a:r>
            <a:endParaRPr lang="en-US" sz="1200" dirty="0"/>
          </a:p>
        </p:txBody>
      </p:sp>
      <p:sp>
        <p:nvSpPr>
          <p:cNvPr id="22" name="Shape 19"/>
          <p:cNvSpPr/>
          <p:nvPr/>
        </p:nvSpPr>
        <p:spPr>
          <a:xfrm>
            <a:off x="457200" y="4572000"/>
            <a:ext cx="8229600" cy="347472"/>
          </a:xfrm>
          <a:prstGeom prst="roundRect">
            <a:avLst>
              <a:gd name="adj" fmla="val 21053"/>
            </a:avLst>
          </a:prstGeom>
          <a:solidFill>
            <a:srgbClr val="D4943A">
              <a:alpha val="90000"/>
            </a:srgbClr>
          </a:solidFill>
          <a:ln/>
        </p:spPr>
      </p:sp>
      <p:sp>
        <p:nvSpPr>
          <p:cNvPr id="23" name="Text 20"/>
          <p:cNvSpPr/>
          <p:nvPr/>
        </p:nvSpPr>
        <p:spPr>
          <a:xfrm>
            <a:off x="640080" y="4617720"/>
            <a:ext cx="7863840" cy="237744"/>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RETRIEVAL: Cover your screen. Name both buildings, the location, and who lived there.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09728"/>
            <a:ext cx="850392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MULTI-SOURCE COMPARE</a:t>
            </a:r>
            <a:endParaRPr lang="en-US" sz="900" dirty="0"/>
          </a:p>
        </p:txBody>
      </p:sp>
      <p:sp>
        <p:nvSpPr>
          <p:cNvPr id="4" name="Text 2"/>
          <p:cNvSpPr/>
          <p:nvPr/>
        </p:nvSpPr>
        <p:spPr>
          <a:xfrm>
            <a:off x="320040" y="384048"/>
            <a:ext cx="850392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Who Did What? Spanish Account vs. Archaeological Evidence</a:t>
            </a:r>
            <a:endParaRPr lang="en-US" sz="2000" dirty="0"/>
          </a:p>
        </p:txBody>
      </p:sp>
      <p:sp>
        <p:nvSpPr>
          <p:cNvPr id="5" name="Shape 3"/>
          <p:cNvSpPr/>
          <p:nvPr/>
        </p:nvSpPr>
        <p:spPr>
          <a:xfrm>
            <a:off x="320040" y="868680"/>
            <a:ext cx="3886200" cy="2670048"/>
          </a:xfrm>
          <a:prstGeom prst="roundRect">
            <a:avLst>
              <a:gd name="adj" fmla="val 4110"/>
            </a:avLst>
          </a:prstGeom>
          <a:solidFill>
            <a:srgbClr val="E2E8F4"/>
          </a:solidFill>
          <a:ln w="19050">
            <a:solidFill>
              <a:srgbClr val="B0B8CC"/>
            </a:solidFill>
            <a:prstDash val="dash"/>
          </a:ln>
        </p:spPr>
      </p:sp>
      <p:sp>
        <p:nvSpPr>
          <p:cNvPr id="6" name="Text 4"/>
          <p:cNvSpPr/>
          <p:nvPr/>
        </p:nvSpPr>
        <p:spPr>
          <a:xfrm>
            <a:off x="320040" y="868680"/>
            <a:ext cx="3886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143000"/>
            <a:ext cx="3611880" cy="230428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A: Spanish friar's written record or illustration of Mission San Luis -- showing Apalachee people at Mass, a friar teaching, the chapel interior. Spanish perspective on the mission's purpose. Source: LOC, Florida Memory, or Franciscan mission records.</a:t>
            </a:r>
            <a:endParaRPr lang="en-US" sz="1100" dirty="0"/>
          </a:p>
        </p:txBody>
      </p:sp>
      <p:sp>
        <p:nvSpPr>
          <p:cNvPr id="8" name="Text 6"/>
          <p:cNvSpPr/>
          <p:nvPr/>
        </p:nvSpPr>
        <p:spPr>
          <a:xfrm>
            <a:off x="320040" y="3611880"/>
            <a:ext cx="388620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A: Spanish Friar's Account</a:t>
            </a:r>
            <a:endParaRPr lang="en-US" sz="1000" dirty="0"/>
          </a:p>
        </p:txBody>
      </p:sp>
      <p:sp>
        <p:nvSpPr>
          <p:cNvPr id="9" name="Shape 7"/>
          <p:cNvSpPr/>
          <p:nvPr/>
        </p:nvSpPr>
        <p:spPr>
          <a:xfrm>
            <a:off x="4937760" y="868680"/>
            <a:ext cx="3886200" cy="2670048"/>
          </a:xfrm>
          <a:prstGeom prst="roundRect">
            <a:avLst>
              <a:gd name="adj" fmla="val 4110"/>
            </a:avLst>
          </a:prstGeom>
          <a:solidFill>
            <a:srgbClr val="E2E8F4"/>
          </a:solidFill>
          <a:ln w="19050">
            <a:solidFill>
              <a:srgbClr val="B0B8CC"/>
            </a:solidFill>
            <a:prstDash val="dash"/>
          </a:ln>
        </p:spPr>
      </p:sp>
      <p:sp>
        <p:nvSpPr>
          <p:cNvPr id="10" name="Text 8"/>
          <p:cNvSpPr/>
          <p:nvPr/>
        </p:nvSpPr>
        <p:spPr>
          <a:xfrm>
            <a:off x="4937760" y="868680"/>
            <a:ext cx="3886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5074920" y="1143000"/>
            <a:ext cx="3611880" cy="230428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B: Archaeological excavation photo from Mission San Luis -- pottery shards, storage jars, or structural post holes from the Council House. Physical evidence of Apalachee daily life. Source: missionsanluis.org excavation gallery or Florida Division of Historical Resources.</a:t>
            </a:r>
            <a:endParaRPr lang="en-US" sz="1100" dirty="0"/>
          </a:p>
        </p:txBody>
      </p:sp>
      <p:sp>
        <p:nvSpPr>
          <p:cNvPr id="12" name="Text 10"/>
          <p:cNvSpPr/>
          <p:nvPr/>
        </p:nvSpPr>
        <p:spPr>
          <a:xfrm>
            <a:off x="4937760" y="3611880"/>
            <a:ext cx="388620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B: Archaeological Evidence (Apalachee Artifacts)</a:t>
            </a:r>
            <a:endParaRPr lang="en-US" sz="1000" dirty="0"/>
          </a:p>
        </p:txBody>
      </p:sp>
      <p:sp>
        <p:nvSpPr>
          <p:cNvPr id="13" name="Shape 11"/>
          <p:cNvSpPr/>
          <p:nvPr/>
        </p:nvSpPr>
        <p:spPr>
          <a:xfrm>
            <a:off x="320040" y="3913632"/>
            <a:ext cx="8503920" cy="960120"/>
          </a:xfrm>
          <a:prstGeom prst="roundRect">
            <a:avLst>
              <a:gd name="adj" fmla="val 11429"/>
            </a:avLst>
          </a:prstGeom>
          <a:solidFill>
            <a:srgbClr val="FFF3DC"/>
          </a:solidFill>
          <a:ln w="19050">
            <a:solidFill>
              <a:srgbClr val="F5E6C8"/>
            </a:solidFill>
            <a:prstDash val="solid"/>
          </a:ln>
        </p:spPr>
      </p:sp>
      <p:sp>
        <p:nvSpPr>
          <p:cNvPr id="14" name="Text 12"/>
          <p:cNvSpPr/>
          <p:nvPr/>
        </p:nvSpPr>
        <p:spPr>
          <a:xfrm>
            <a:off x="457200" y="3968496"/>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57200" y="4169664"/>
            <a:ext cx="822960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about... but disagree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get the full picture of Mission San Luis, I would also need...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526280"/>
          </a:xfrm>
          <a:prstGeom prst="roundRect">
            <a:avLst>
              <a:gd name="adj" fmla="val 3636"/>
            </a:avLst>
          </a:prstGeom>
          <a:solidFill>
            <a:srgbClr val="0E1C42">
              <a:alpha val="75000"/>
            </a:srgbClr>
          </a:solidFill>
          <a:ln/>
        </p:spPr>
      </p:sp>
      <p:sp>
        <p:nvSpPr>
          <p:cNvPr id="6" name="Text 3"/>
          <p:cNvSpPr/>
          <p:nvPr/>
        </p:nvSpPr>
        <p:spPr>
          <a:xfrm>
            <a:off x="640080" y="411480"/>
            <a:ext cx="7863840" cy="27432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7" name="Text 4"/>
          <p:cNvSpPr/>
          <p:nvPr/>
        </p:nvSpPr>
        <p:spPr>
          <a:xfrm>
            <a:off x="640080" y="713232"/>
            <a:ext cx="7863840" cy="6400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Service</a:t>
            </a:r>
            <a:endParaRPr lang="en-US" sz="4400" dirty="0"/>
          </a:p>
        </p:txBody>
      </p:sp>
      <p:sp>
        <p:nvSpPr>
          <p:cNvPr id="8" name="Shape 5"/>
          <p:cNvSpPr/>
          <p:nvPr/>
        </p:nvSpPr>
        <p:spPr>
          <a:xfrm>
            <a:off x="640080" y="1389888"/>
            <a:ext cx="2926080" cy="0"/>
          </a:xfrm>
          <a:prstGeom prst="line">
            <a:avLst/>
          </a:prstGeom>
          <a:noFill/>
          <a:ln w="25400">
            <a:solidFill>
              <a:srgbClr val="D4943A"/>
            </a:solidFill>
            <a:prstDash val="solid"/>
          </a:ln>
        </p:spPr>
      </p:sp>
      <p:sp>
        <p:nvSpPr>
          <p:cNvPr id="9" name="Text 6"/>
          <p:cNvSpPr/>
          <p:nvPr/>
        </p:nvSpPr>
        <p:spPr>
          <a:xfrm>
            <a:off x="640080" y="1527048"/>
            <a:ext cx="7863840" cy="2057400"/>
          </a:xfrm>
          <a:prstGeom prst="rect">
            <a:avLst/>
          </a:prstGeom>
          <a:noFill/>
          <a:ln/>
        </p:spPr>
        <p:txBody>
          <a:bodyPr wrap="square" rtlCol="0" anchor="t"/>
          <a:lstStyle/>
          <a:p>
            <a:pPr indent="0" marL="0">
              <a:buNone/>
            </a:pPr>
            <a:r>
              <a:rPr lang="en-US" sz="1400" dirty="0">
                <a:solidFill>
                  <a:srgbClr val="E8EEF8"/>
                </a:solidFill>
                <a:latin typeface="Calibri" pitchFamily="34" charset="0"/>
                <a:ea typeface="Calibri" pitchFamily="34" charset="-122"/>
                <a:cs typeface="Calibri" pitchFamily="34" charset="-120"/>
              </a:rPr>
              <a:t>At Mission San Luis, both the Apalachee chief and the Spanish friars described their work in the same word -- service.</a:t>
            </a:r>
            <a:endParaRPr lang="en-US" sz="1400" dirty="0"/>
          </a:p>
          <a:p>
            <a:pPr indent="0" marL="0">
              <a:buNone/>
            </a:pPr>
            <a:endParaRPr lang="en-US" sz="1400" dirty="0"/>
          </a:p>
          <a:p>
            <a:pPr indent="0" marL="0">
              <a:buNone/>
            </a:pPr>
            <a:r>
              <a:rPr lang="en-US" sz="1400" dirty="0">
                <a:solidFill>
                  <a:srgbClr val="E8EEF8"/>
                </a:solidFill>
                <a:latin typeface="Calibri" pitchFamily="34" charset="0"/>
                <a:ea typeface="Calibri" pitchFamily="34" charset="-122"/>
                <a:cs typeface="Calibri" pitchFamily="34" charset="-120"/>
              </a:rPr>
              <a:t>The Apalachee chief served his people by negotiating with the Spanish so his village could keep its land and its leadership. The friars served their faith by teaching, baptizing, and learning the Apalachee language.</a:t>
            </a:r>
            <a:endParaRPr lang="en-US" sz="1400" dirty="0"/>
          </a:p>
          <a:p>
            <a:pPr indent="0" marL="0">
              <a:buNone/>
            </a:pPr>
            <a:endParaRPr lang="en-US" sz="1400" dirty="0"/>
          </a:p>
          <a:p>
            <a:pPr indent="0" marL="0">
              <a:buNone/>
            </a:pPr>
            <a:r>
              <a:rPr lang="en-US" sz="1400" dirty="0">
                <a:solidFill>
                  <a:srgbClr val="E8EEF8"/>
                </a:solidFill>
                <a:latin typeface="Calibri" pitchFamily="34" charset="0"/>
                <a:ea typeface="Calibri" pitchFamily="34" charset="-122"/>
                <a:cs typeface="Calibri" pitchFamily="34" charset="-120"/>
              </a:rPr>
              <a:t>The Virtue Lens today doesn't ask whether they agreed on everything -- they didn't. It asks: who was each person serving, and what did that service look like in everyday actions?</a:t>
            </a:r>
            <a:endParaRPr lang="en-US" sz="1400" dirty="0"/>
          </a:p>
        </p:txBody>
      </p:sp>
      <p:sp>
        <p:nvSpPr>
          <p:cNvPr id="10" name="Shape 7"/>
          <p:cNvSpPr/>
          <p:nvPr/>
        </p:nvSpPr>
        <p:spPr>
          <a:xfrm>
            <a:off x="640080" y="3657600"/>
            <a:ext cx="7863840" cy="1005840"/>
          </a:xfrm>
          <a:prstGeom prst="roundRect">
            <a:avLst>
              <a:gd name="adj" fmla="val 10909"/>
            </a:avLst>
          </a:prstGeom>
          <a:solidFill>
            <a:srgbClr val="FFF3DC"/>
          </a:solidFill>
          <a:ln w="19050">
            <a:solidFill>
              <a:srgbClr val="F5E6C8"/>
            </a:solidFill>
            <a:prstDash val="solid"/>
          </a:ln>
        </p:spPr>
      </p:sp>
      <p:sp>
        <p:nvSpPr>
          <p:cNvPr id="11" name="Text 8"/>
          <p:cNvSpPr/>
          <p:nvPr/>
        </p:nvSpPr>
        <p:spPr>
          <a:xfrm>
            <a:off x="777240" y="3712464"/>
            <a:ext cx="7589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9"/>
          <p:cNvSpPr/>
          <p:nvPr/>
        </p:nvSpPr>
        <p:spPr>
          <a:xfrm>
            <a:off x="777240" y="3913632"/>
            <a:ext cx="758952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Apalachee chief was serving... by...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"Service at Mission San Luis looked different for each person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GUIDED PRACTICE -- TEACHER MODELS</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Describing Both Buildings: Assignment Question 1</a:t>
            </a:r>
            <a:endParaRPr lang="en-US" sz="2200" dirty="0"/>
          </a:p>
        </p:txBody>
      </p:sp>
      <p:sp>
        <p:nvSpPr>
          <p:cNvPr id="6" name="Shape 4"/>
          <p:cNvSpPr/>
          <p:nvPr/>
        </p:nvSpPr>
        <p:spPr>
          <a:xfrm>
            <a:off x="320040" y="1097280"/>
            <a:ext cx="8503920" cy="841248"/>
          </a:xfrm>
          <a:prstGeom prst="roundRect">
            <a:avLst>
              <a:gd name="adj" fmla="val 13043"/>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1 (exact wording)</a:t>
            </a:r>
            <a:endParaRPr lang="en-US" sz="900" dirty="0"/>
          </a:p>
        </p:txBody>
      </p:sp>
      <p:sp>
        <p:nvSpPr>
          <p:cNvPr id="8" name="Text 6"/>
          <p:cNvSpPr/>
          <p:nvPr/>
        </p:nvSpPr>
        <p:spPr>
          <a:xfrm>
            <a:off x="502920" y="1389888"/>
            <a:ext cx="8229600" cy="4572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What were the two buildings that stood across the plaza at Mission San Luis? Describe each one in a few words.</a:t>
            </a:r>
            <a:endParaRPr lang="en-US" sz="1400" dirty="0"/>
          </a:p>
        </p:txBody>
      </p:sp>
      <p:sp>
        <p:nvSpPr>
          <p:cNvPr id="9" name="Shape 7"/>
          <p:cNvSpPr/>
          <p:nvPr/>
        </p:nvSpPr>
        <p:spPr>
          <a:xfrm>
            <a:off x="320040" y="2029968"/>
            <a:ext cx="8503920" cy="2724912"/>
          </a:xfrm>
          <a:prstGeom prst="roundRect">
            <a:avLst>
              <a:gd name="adj" fmla="val 4027"/>
            </a:avLst>
          </a:prstGeom>
          <a:solidFill>
            <a:srgbClr val="FFFFFF"/>
          </a:solidFill>
          <a:ln w="19050">
            <a:solidFill>
              <a:srgbClr val="D4943A"/>
            </a:solidFill>
            <a:prstDash val="solid"/>
          </a:ln>
        </p:spPr>
      </p:sp>
      <p:sp>
        <p:nvSpPr>
          <p:cNvPr id="10" name="Text 8"/>
          <p:cNvSpPr/>
          <p:nvPr/>
        </p:nvSpPr>
        <p:spPr>
          <a:xfrm>
            <a:off x="502920" y="2103120"/>
            <a:ext cx="2743200" cy="228600"/>
          </a:xfrm>
          <a:prstGeom prst="rect">
            <a:avLst/>
          </a:prstGeom>
          <a:noFill/>
          <a:ln/>
        </p:spPr>
        <p:txBody>
          <a:bodyPr wrap="square"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TEACHER THINK-ALOUD</a:t>
            </a:r>
            <a:endParaRPr lang="en-US" sz="900" dirty="0"/>
          </a:p>
        </p:txBody>
      </p:sp>
      <p:sp>
        <p:nvSpPr>
          <p:cNvPr id="11" name="Text 9"/>
          <p:cNvSpPr/>
          <p:nvPr/>
        </p:nvSpPr>
        <p:spPr>
          <a:xfrm>
            <a:off x="502920" y="2331720"/>
            <a:ext cx="8229600" cy="224028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"There were two buildings. Building 1: the Apalachee Council House -- circular, thatched, about 120 feet across, could hold up to 2,000 people. It was the largest structure at the mission.</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Building 2: the Spanish chapel with a bell tower and friary -- smaller, where the Franciscan friars held Mass and taught.</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They stood across the same shared plaza from each other."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1A8A7D"/>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GUIDED PRACTICE -- DEFEND IT</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Question 2 -- The JOINT Settlement</a:t>
            </a:r>
            <a:endParaRPr lang="en-US" sz="2200" dirty="0"/>
          </a:p>
        </p:txBody>
      </p:sp>
      <p:sp>
        <p:nvSpPr>
          <p:cNvPr id="6" name="Shape 4"/>
          <p:cNvSpPr/>
          <p:nvPr/>
        </p:nvSpPr>
        <p:spPr>
          <a:xfrm>
            <a:off x="320040" y="1097280"/>
            <a:ext cx="8503920" cy="914400"/>
          </a:xfrm>
          <a:prstGeom prst="roundRect">
            <a:avLst>
              <a:gd name="adj" fmla="val 12000"/>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2 (exact wording)</a:t>
            </a:r>
            <a:endParaRPr lang="en-US" sz="900" dirty="0"/>
          </a:p>
        </p:txBody>
      </p:sp>
      <p:sp>
        <p:nvSpPr>
          <p:cNvPr id="8" name="Text 6"/>
          <p:cNvSpPr/>
          <p:nvPr/>
        </p:nvSpPr>
        <p:spPr>
          <a:xfrm>
            <a:off x="502920" y="1389888"/>
            <a:ext cx="8229600" cy="530352"/>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Where was Mission San Luis located, and why was it called a JOINT settlement? Use specific details.</a:t>
            </a:r>
            <a:endParaRPr lang="en-US" sz="1400" dirty="0"/>
          </a:p>
        </p:txBody>
      </p:sp>
      <p:sp>
        <p:nvSpPr>
          <p:cNvPr id="9" name="Shape 7"/>
          <p:cNvSpPr/>
          <p:nvPr/>
        </p:nvSpPr>
        <p:spPr>
          <a:xfrm>
            <a:off x="320040" y="2103120"/>
            <a:ext cx="5212080" cy="2194560"/>
          </a:xfrm>
          <a:prstGeom prst="roundRect">
            <a:avLst>
              <a:gd name="adj" fmla="val 6250"/>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02920" y="2194560"/>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02920" y="2450592"/>
            <a:ext cx="4846320" cy="1755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details from the lesson prove this was a JOINT settlement -- not just 'Spanish people near an Apalachee village'?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this was NOT really a joint settlement -- that one side had more control? What evidence would they use?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have had to be different at Mission San Luis for it to NOT be called a joint settlement?</a:t>
            </a:r>
            <a:endParaRPr lang="en-US" sz="1100" dirty="0"/>
          </a:p>
        </p:txBody>
      </p:sp>
      <p:sp>
        <p:nvSpPr>
          <p:cNvPr id="12" name="Shape 10"/>
          <p:cNvSpPr/>
          <p:nvPr/>
        </p:nvSpPr>
        <p:spPr>
          <a:xfrm>
            <a:off x="5669280" y="2103120"/>
            <a:ext cx="3154680" cy="2194560"/>
          </a:xfrm>
          <a:prstGeom prst="roundRect">
            <a:avLst>
              <a:gd name="adj" fmla="val 5000"/>
            </a:avLst>
          </a:prstGeom>
          <a:solidFill>
            <a:srgbClr val="FFF3DC"/>
          </a:solidFill>
          <a:ln w="19050">
            <a:solidFill>
              <a:srgbClr val="F5E6C8"/>
            </a:solidFill>
            <a:prstDash val="solid"/>
          </a:ln>
        </p:spPr>
      </p:sp>
      <p:sp>
        <p:nvSpPr>
          <p:cNvPr id="13" name="Text 11"/>
          <p:cNvSpPr/>
          <p:nvPr/>
        </p:nvSpPr>
        <p:spPr>
          <a:xfrm>
            <a:off x="5806440" y="2157984"/>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359152"/>
            <a:ext cx="2880360" cy="1874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"Mission San Luis was a JOINT settlement because... The specific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could argue it was NOT equal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8B6FC0"/>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GUIDED PRACTICE -- CRITIQUE THE RESPONSE</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Does this answer earn full credit? Find the weakness.</a:t>
            </a:r>
            <a:endParaRPr lang="en-US" sz="2200" dirty="0"/>
          </a:p>
        </p:txBody>
      </p:sp>
      <p:sp>
        <p:nvSpPr>
          <p:cNvPr id="6" name="Shape 4"/>
          <p:cNvSpPr/>
          <p:nvPr/>
        </p:nvSpPr>
        <p:spPr>
          <a:xfrm>
            <a:off x="320040" y="1097280"/>
            <a:ext cx="8503920" cy="1234440"/>
          </a:xfrm>
          <a:prstGeom prst="roundRect">
            <a:avLst>
              <a:gd name="adj" fmla="val 8889"/>
            </a:avLst>
          </a:prstGeom>
          <a:solidFill>
            <a:srgbClr val="E2E8F4"/>
          </a:solidFill>
          <a:ln w="19050">
            <a:solidFill>
              <a:srgbClr val="B0B8CC"/>
            </a:solidFill>
            <a:prstDash val="solid"/>
          </a:ln>
        </p:spPr>
      </p:sp>
      <p:sp>
        <p:nvSpPr>
          <p:cNvPr id="7" name="Text 5"/>
          <p:cNvSpPr/>
          <p:nvPr/>
        </p:nvSpPr>
        <p:spPr>
          <a:xfrm>
            <a:off x="502920" y="1170432"/>
            <a:ext cx="3657600" cy="228600"/>
          </a:xfrm>
          <a:prstGeom prst="rect">
            <a:avLst/>
          </a:prstGeom>
          <a:noFill/>
          <a:ln/>
        </p:spPr>
        <p:txBody>
          <a:bodyPr wrap="square" rtlCol="0" anchor="ctr"/>
          <a:lstStyle/>
          <a:p>
            <a:pPr indent="0" marL="0">
              <a:buNone/>
            </a:pPr>
            <a:r>
              <a:rPr lang="en-US" sz="900" b="1" spc="120" kern="0" dirty="0">
                <a:solidFill>
                  <a:srgbClr val="8B6FC0"/>
                </a:solidFill>
                <a:latin typeface="Calibri" pitchFamily="34" charset="0"/>
                <a:ea typeface="Calibri" pitchFamily="34" charset="-122"/>
                <a:cs typeface="Calibri" pitchFamily="34" charset="-120"/>
              </a:rPr>
              <a:t>SAMPLE STUDENT RESPONSE</a:t>
            </a:r>
            <a:endParaRPr lang="en-US" sz="900" dirty="0"/>
          </a:p>
        </p:txBody>
      </p:sp>
      <p:sp>
        <p:nvSpPr>
          <p:cNvPr id="8" name="Text 6"/>
          <p:cNvSpPr/>
          <p:nvPr/>
        </p:nvSpPr>
        <p:spPr>
          <a:xfrm>
            <a:off x="502920" y="1389888"/>
            <a:ext cx="8229600" cy="804672"/>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"Mission San Luis was a JOINT settlement because Spanish and Apalachee people lived there together. It was in Florida. They had a church and the Apalachee had their own building too."</a:t>
            </a:r>
            <a:endParaRPr lang="en-US" sz="1300" dirty="0"/>
          </a:p>
        </p:txBody>
      </p:sp>
      <p:sp>
        <p:nvSpPr>
          <p:cNvPr id="9" name="Shape 7"/>
          <p:cNvSpPr/>
          <p:nvPr/>
        </p:nvSpPr>
        <p:spPr>
          <a:xfrm>
            <a:off x="320040" y="2450592"/>
            <a:ext cx="5212080" cy="2121408"/>
          </a:xfrm>
          <a:prstGeom prst="roundRect">
            <a:avLst>
              <a:gd name="adj" fmla="val 6466"/>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02920" y="2542032"/>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02920" y="2798064"/>
            <a:ext cx="4846320" cy="168249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student has a claim. Is the evidence specific enough? What exact details are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response says 'in Florida.' Is that specific enough for a historian? What location detail is required?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response say about the Apalachee perspective that is missing or incomplete?</a:t>
            </a:r>
            <a:endParaRPr lang="en-US" sz="1100" dirty="0"/>
          </a:p>
        </p:txBody>
      </p:sp>
      <p:sp>
        <p:nvSpPr>
          <p:cNvPr id="12" name="Shape 10"/>
          <p:cNvSpPr/>
          <p:nvPr/>
        </p:nvSpPr>
        <p:spPr>
          <a:xfrm>
            <a:off x="5669280" y="2450592"/>
            <a:ext cx="3154680" cy="2121408"/>
          </a:xfrm>
          <a:prstGeom prst="roundRect">
            <a:avLst>
              <a:gd name="adj" fmla="val 5172"/>
            </a:avLst>
          </a:prstGeom>
          <a:solidFill>
            <a:srgbClr val="FFF3DC"/>
          </a:solidFill>
          <a:ln w="19050">
            <a:solidFill>
              <a:srgbClr val="F5E6C8"/>
            </a:solidFill>
            <a:prstDash val="solid"/>
          </a:ln>
        </p:spPr>
      </p:sp>
      <p:sp>
        <p:nvSpPr>
          <p:cNvPr id="13" name="Text 11"/>
          <p:cNvSpPr/>
          <p:nvPr/>
        </p:nvSpPr>
        <p:spPr>
          <a:xfrm>
            <a:off x="5806440" y="2505456"/>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706624"/>
            <a:ext cx="2880360" cy="18013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needs more detail because it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answer would include the specific detail that..."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E8636B"/>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THE TRICKY ONE -- TRANSFERABLE PATTERN</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Q3 -- The Virtue Lens: Service</a:t>
            </a:r>
            <a:endParaRPr lang="en-US" sz="2200" dirty="0"/>
          </a:p>
        </p:txBody>
      </p:sp>
      <p:sp>
        <p:nvSpPr>
          <p:cNvPr id="6" name="Shape 4"/>
          <p:cNvSpPr/>
          <p:nvPr/>
        </p:nvSpPr>
        <p:spPr>
          <a:xfrm>
            <a:off x="320040" y="1097280"/>
            <a:ext cx="8503920" cy="932688"/>
          </a:xfrm>
          <a:prstGeom prst="roundRect">
            <a:avLst>
              <a:gd name="adj" fmla="val 11765"/>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3 (exact wording)</a:t>
            </a:r>
            <a:endParaRPr lang="en-US" sz="900" dirty="0"/>
          </a:p>
        </p:txBody>
      </p:sp>
      <p:sp>
        <p:nvSpPr>
          <p:cNvPr id="8" name="Text 6"/>
          <p:cNvSpPr/>
          <p:nvPr/>
        </p:nvSpPr>
        <p:spPr>
          <a:xfrm>
            <a:off x="502920" y="1389888"/>
            <a:ext cx="8229600" cy="54864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Use the Virtue Lens -- service. Pick ONE person (Apalachee chief, Franciscan friar, Apalachee farmer, Spanish soldier). Whom was that person serving, and how?</a:t>
            </a:r>
            <a:endParaRPr lang="en-US" sz="1400" dirty="0"/>
          </a:p>
        </p:txBody>
      </p:sp>
      <p:sp>
        <p:nvSpPr>
          <p:cNvPr id="9" name="Shape 7"/>
          <p:cNvSpPr/>
          <p:nvPr/>
        </p:nvSpPr>
        <p:spPr>
          <a:xfrm>
            <a:off x="320040" y="2121408"/>
            <a:ext cx="8503920" cy="896112"/>
          </a:xfrm>
          <a:prstGeom prst="roundRect">
            <a:avLst>
              <a:gd name="adj" fmla="val 12245"/>
            </a:avLst>
          </a:prstGeom>
          <a:solidFill>
            <a:srgbClr val="FFFFFF"/>
          </a:solidFill>
          <a:ln w="25400">
            <a:solidFill>
              <a:srgbClr val="E8636B"/>
            </a:solidFill>
            <a:prstDash val="solid"/>
          </a:ln>
        </p:spPr>
      </p:sp>
      <p:sp>
        <p:nvSpPr>
          <p:cNvPr id="10" name="Text 8"/>
          <p:cNvSpPr/>
          <p:nvPr/>
        </p:nvSpPr>
        <p:spPr>
          <a:xfrm>
            <a:off x="502920" y="2194560"/>
            <a:ext cx="8229600" cy="749808"/>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PATTERN: Throughout history, when two groups share the same space, they each often believe they are serving the more important cause. This pattern appears in every colonial encounter -- Spain in Florida, Britain in North America, and beyond. The question is not 'who served more?' but 'what were the costs of that service for each person?'</a:t>
            </a:r>
            <a:endParaRPr lang="en-US" sz="1300" dirty="0"/>
          </a:p>
        </p:txBody>
      </p:sp>
      <p:sp>
        <p:nvSpPr>
          <p:cNvPr id="11" name="Shape 9"/>
          <p:cNvSpPr/>
          <p:nvPr/>
        </p:nvSpPr>
        <p:spPr>
          <a:xfrm>
            <a:off x="320040" y="3108960"/>
            <a:ext cx="5212080" cy="1810512"/>
          </a:xfrm>
          <a:prstGeom prst="roundRect">
            <a:avLst>
              <a:gd name="adj" fmla="val 7576"/>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02920" y="3200400"/>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02920" y="3456432"/>
            <a:ext cx="4846320" cy="137160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two people serve completely different goals using the same act? Give an example from Mission San Luis.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For the Apalachee farmer at this mission, what did their daily service cost them in the long run?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Reasonable people can disagree: was Mission San Luis a place of service or a place of pressure? Use evidence from BOTH sides.</a:t>
            </a:r>
            <a:endParaRPr lang="en-US" sz="1100" dirty="0"/>
          </a:p>
        </p:txBody>
      </p:sp>
      <p:sp>
        <p:nvSpPr>
          <p:cNvPr id="14" name="Shape 12"/>
          <p:cNvSpPr/>
          <p:nvPr/>
        </p:nvSpPr>
        <p:spPr>
          <a:xfrm>
            <a:off x="5669280" y="3108960"/>
            <a:ext cx="3154680" cy="1810512"/>
          </a:xfrm>
          <a:prstGeom prst="roundRect">
            <a:avLst>
              <a:gd name="adj" fmla="val 6061"/>
            </a:avLst>
          </a:prstGeom>
          <a:solidFill>
            <a:srgbClr val="FFF3DC"/>
          </a:solidFill>
          <a:ln w="19050">
            <a:solidFill>
              <a:srgbClr val="F5E6C8"/>
            </a:solidFill>
            <a:prstDash val="solid"/>
          </a:ln>
        </p:spPr>
      </p:sp>
      <p:sp>
        <p:nvSpPr>
          <p:cNvPr id="15" name="Text 13"/>
          <p:cNvSpPr/>
          <p:nvPr/>
        </p:nvSpPr>
        <p:spPr>
          <a:xfrm>
            <a:off x="5806440" y="3163824"/>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06440" y="3364992"/>
            <a:ext cx="2880360" cy="14904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person I chose was... They were serving...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"Reasonable people could disagree about Mission San Luis because the evidence shows..."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ASSIGNMENT PREVIEW -- YOUR TURN</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Write a Historian's Notebook Entry on Mission San Luis</a:t>
            </a:r>
            <a:endParaRPr lang="en-US" sz="2200" dirty="0"/>
          </a:p>
        </p:txBody>
      </p:sp>
      <p:sp>
        <p:nvSpPr>
          <p:cNvPr id="6" name="Shape 4"/>
          <p:cNvSpPr/>
          <p:nvPr/>
        </p:nvSpPr>
        <p:spPr>
          <a:xfrm>
            <a:off x="320040" y="1097280"/>
            <a:ext cx="8503920" cy="896112"/>
          </a:xfrm>
          <a:prstGeom prst="roundRect">
            <a:avLst>
              <a:gd name="adj" fmla="val 10204"/>
            </a:avLst>
          </a:prstGeom>
          <a:solidFill>
            <a:srgbClr val="FFFFFF"/>
          </a:solidFill>
          <a:ln w="19050">
            <a:solidFill>
              <a:srgbClr val="D4943A"/>
            </a:solidFill>
            <a:prstDash val="solid"/>
          </a:ln>
        </p:spPr>
      </p:sp>
      <p:sp>
        <p:nvSpPr>
          <p:cNvPr id="7" name="Text 5"/>
          <p:cNvSpPr/>
          <p:nvPr/>
        </p:nvSpPr>
        <p:spPr>
          <a:xfrm>
            <a:off x="457200" y="1170432"/>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Q1</a:t>
            </a:r>
            <a:endParaRPr lang="en-US" sz="1400" dirty="0"/>
          </a:p>
        </p:txBody>
      </p:sp>
      <p:sp>
        <p:nvSpPr>
          <p:cNvPr id="8" name="Text 6"/>
          <p:cNvSpPr/>
          <p:nvPr/>
        </p:nvSpPr>
        <p:spPr>
          <a:xfrm>
            <a:off x="1005840" y="1170432"/>
            <a:ext cx="7680960" cy="74980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What were the two buildings that stood across the plaza at Mission San Luis? Describe each one in a few words.</a:t>
            </a:r>
            <a:endParaRPr lang="en-US" sz="1200" dirty="0"/>
          </a:p>
        </p:txBody>
      </p:sp>
      <p:sp>
        <p:nvSpPr>
          <p:cNvPr id="9" name="Shape 7"/>
          <p:cNvSpPr/>
          <p:nvPr/>
        </p:nvSpPr>
        <p:spPr>
          <a:xfrm>
            <a:off x="320040" y="2084832"/>
            <a:ext cx="8503920" cy="896112"/>
          </a:xfrm>
          <a:prstGeom prst="roundRect">
            <a:avLst>
              <a:gd name="adj" fmla="val 10204"/>
            </a:avLst>
          </a:prstGeom>
          <a:solidFill>
            <a:srgbClr val="FFFFFF"/>
          </a:solidFill>
          <a:ln w="19050">
            <a:solidFill>
              <a:srgbClr val="D4943A"/>
            </a:solidFill>
            <a:prstDash val="solid"/>
          </a:ln>
        </p:spPr>
      </p:sp>
      <p:sp>
        <p:nvSpPr>
          <p:cNvPr id="10" name="Text 8"/>
          <p:cNvSpPr/>
          <p:nvPr/>
        </p:nvSpPr>
        <p:spPr>
          <a:xfrm>
            <a:off x="457200" y="2157984"/>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Q2</a:t>
            </a:r>
            <a:endParaRPr lang="en-US" sz="1400" dirty="0"/>
          </a:p>
        </p:txBody>
      </p:sp>
      <p:sp>
        <p:nvSpPr>
          <p:cNvPr id="11" name="Text 9"/>
          <p:cNvSpPr/>
          <p:nvPr/>
        </p:nvSpPr>
        <p:spPr>
          <a:xfrm>
            <a:off x="1005840" y="2157984"/>
            <a:ext cx="7680960" cy="74980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Where was Mission San Luis located, and why was it called a JOINT settlement? Use specific details.</a:t>
            </a:r>
            <a:endParaRPr lang="en-US" sz="1200" dirty="0"/>
          </a:p>
        </p:txBody>
      </p:sp>
      <p:sp>
        <p:nvSpPr>
          <p:cNvPr id="12" name="Shape 10"/>
          <p:cNvSpPr/>
          <p:nvPr/>
        </p:nvSpPr>
        <p:spPr>
          <a:xfrm>
            <a:off x="320040" y="3072384"/>
            <a:ext cx="8503920" cy="896112"/>
          </a:xfrm>
          <a:prstGeom prst="roundRect">
            <a:avLst>
              <a:gd name="adj" fmla="val 10204"/>
            </a:avLst>
          </a:prstGeom>
          <a:solidFill>
            <a:srgbClr val="FFFFFF"/>
          </a:solidFill>
          <a:ln w="19050">
            <a:solidFill>
              <a:srgbClr val="D4943A"/>
            </a:solidFill>
            <a:prstDash val="solid"/>
          </a:ln>
        </p:spPr>
      </p:sp>
      <p:sp>
        <p:nvSpPr>
          <p:cNvPr id="13" name="Text 11"/>
          <p:cNvSpPr/>
          <p:nvPr/>
        </p:nvSpPr>
        <p:spPr>
          <a:xfrm>
            <a:off x="457200" y="3145536"/>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Q3</a:t>
            </a:r>
            <a:endParaRPr lang="en-US" sz="1400" dirty="0"/>
          </a:p>
        </p:txBody>
      </p:sp>
      <p:sp>
        <p:nvSpPr>
          <p:cNvPr id="14" name="Text 12"/>
          <p:cNvSpPr/>
          <p:nvPr/>
        </p:nvSpPr>
        <p:spPr>
          <a:xfrm>
            <a:off x="1005840" y="3145536"/>
            <a:ext cx="7680960" cy="74980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Use the Virtue Lens -- service. Pick ONE person (Apalachee chief, Franciscan friar, Apalachee farmer, Spanish soldier). Whom was that person serving, and how?</a:t>
            </a:r>
            <a:endParaRPr lang="en-US" sz="1200" dirty="0"/>
          </a:p>
        </p:txBody>
      </p:sp>
      <p:sp>
        <p:nvSpPr>
          <p:cNvPr id="15" name="Shape 13"/>
          <p:cNvSpPr/>
          <p:nvPr/>
        </p:nvSpPr>
        <p:spPr>
          <a:xfrm>
            <a:off x="320040" y="4114800"/>
            <a:ext cx="8503920" cy="777240"/>
          </a:xfrm>
          <a:prstGeom prst="roundRect">
            <a:avLst>
              <a:gd name="adj" fmla="val 11765"/>
            </a:avLst>
          </a:prstGeom>
          <a:solidFill>
            <a:srgbClr val="1A2D5A"/>
          </a:solidFill>
          <a:ln/>
        </p:spPr>
      </p:sp>
      <p:sp>
        <p:nvSpPr>
          <p:cNvPr id="16" name="Text 14"/>
          <p:cNvSpPr/>
          <p:nvPr/>
        </p:nvSpPr>
        <p:spPr>
          <a:xfrm>
            <a:off x="502920" y="4178808"/>
            <a:ext cx="8229600" cy="5943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HISTORIAN'S NOTEBOOK ENTRY: 5-7 sentences. Include at least one specific detail about the Apalachee side AND one about the Spanish side. Use historian language: 'The evidence shows...' 'This matters because...'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47472"/>
            <a:ext cx="8229600" cy="4370832"/>
          </a:xfrm>
          <a:prstGeom prst="roundRect">
            <a:avLst>
              <a:gd name="adj" fmla="val 3766"/>
            </a:avLst>
          </a:prstGeom>
          <a:solidFill>
            <a:srgbClr val="0E1C42">
              <a:alpha val="72000"/>
            </a:srgbClr>
          </a:solidFill>
          <a:ln/>
        </p:spPr>
      </p:sp>
      <p:sp>
        <p:nvSpPr>
          <p:cNvPr id="6" name="Text 3"/>
          <p:cNvSpPr/>
          <p:nvPr/>
        </p:nvSpPr>
        <p:spPr>
          <a:xfrm>
            <a:off x="640080" y="502920"/>
            <a:ext cx="7863840" cy="347472"/>
          </a:xfrm>
          <a:prstGeom prst="rect">
            <a:avLst/>
          </a:prstGeom>
          <a:noFill/>
          <a:ln/>
        </p:spPr>
        <p:txBody>
          <a:bodyPr wrap="square" rtlCol="0" anchor="ctr"/>
          <a:lstStyle/>
          <a:p>
            <a:pPr algn="ctr" indent="0" marL="0">
              <a:buNone/>
            </a:pPr>
            <a:r>
              <a:rPr lang="en-US" sz="1200" b="1" spc="250" kern="0" dirty="0">
                <a:solidFill>
                  <a:srgbClr val="D4943A"/>
                </a:solidFill>
                <a:latin typeface="Calibri" pitchFamily="34" charset="0"/>
                <a:ea typeface="Calibri" pitchFamily="34" charset="-122"/>
                <a:cs typeface="Calibri" pitchFamily="34" charset="-120"/>
              </a:rPr>
              <a:t>FILE SAVED</a:t>
            </a:r>
            <a:endParaRPr lang="en-US" sz="1200" dirty="0"/>
          </a:p>
        </p:txBody>
      </p:sp>
      <p:sp>
        <p:nvSpPr>
          <p:cNvPr id="7" name="Text 4"/>
          <p:cNvSpPr/>
          <p:nvPr/>
        </p:nvSpPr>
        <p:spPr>
          <a:xfrm>
            <a:off x="640080" y="868680"/>
            <a:ext cx="7863840" cy="59436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Mission San Luis: Locked In</a:t>
            </a:r>
            <a:endParaRPr lang="en-US" sz="3400" dirty="0"/>
          </a:p>
        </p:txBody>
      </p:sp>
      <p:sp>
        <p:nvSpPr>
          <p:cNvPr id="8" name="Shape 5"/>
          <p:cNvSpPr/>
          <p:nvPr/>
        </p:nvSpPr>
        <p:spPr>
          <a:xfrm>
            <a:off x="2286000" y="1508760"/>
            <a:ext cx="4572000" cy="0"/>
          </a:xfrm>
          <a:prstGeom prst="line">
            <a:avLst/>
          </a:prstGeom>
          <a:noFill/>
          <a:ln w="25400">
            <a:solidFill>
              <a:srgbClr val="D4943A"/>
            </a:solidFill>
            <a:prstDash val="solid"/>
          </a:ln>
        </p:spPr>
      </p:sp>
      <p:sp>
        <p:nvSpPr>
          <p:cNvPr id="9" name="Text 6"/>
          <p:cNvSpPr/>
          <p:nvPr/>
        </p:nvSpPr>
        <p:spPr>
          <a:xfrm>
            <a:off x="640080" y="1645920"/>
            <a:ext cx="7863840" cy="1207008"/>
          </a:xfrm>
          <a:prstGeom prst="rect">
            <a:avLst/>
          </a:prstGeom>
          <a:noFill/>
          <a:ln/>
        </p:spPr>
        <p:txBody>
          <a:bodyPr wrap="square" rtlCol="0" anchor="t"/>
          <a:lstStyle/>
          <a:p>
            <a:pPr algn="ctr" indent="0" marL="0">
              <a:buNone/>
            </a:pPr>
            <a:r>
              <a:rPr lang="en-US" sz="1400" i="1" dirty="0">
                <a:solidFill>
                  <a:srgbClr val="E8EEF8"/>
                </a:solidFill>
                <a:latin typeface="Cambria" pitchFamily="34" charset="0"/>
                <a:ea typeface="Cambria" pitchFamily="34" charset="-122"/>
                <a:cs typeface="Cambria" pitchFamily="34" charset="-120"/>
              </a:rPr>
              <a:t>"Mission San Luis is back in focus -- a place where Spanish and Apalachee lives met, with work, faith, and community tangled together. The corridor is brighter than when we started. Not free yet, but closer." -- Ms. Rivera</a:t>
            </a:r>
            <a:endParaRPr lang="en-US" sz="1400" dirty="0"/>
          </a:p>
        </p:txBody>
      </p:sp>
      <p:sp>
        <p:nvSpPr>
          <p:cNvPr id="10" name="Shape 7"/>
          <p:cNvSpPr/>
          <p:nvPr/>
        </p:nvSpPr>
        <p:spPr>
          <a:xfrm>
            <a:off x="1371600" y="3035808"/>
            <a:ext cx="6400800" cy="804672"/>
          </a:xfrm>
          <a:prstGeom prst="roundRect">
            <a:avLst>
              <a:gd name="adj" fmla="val 13636"/>
            </a:avLst>
          </a:prstGeom>
          <a:solidFill>
            <a:srgbClr val="1A2D5A"/>
          </a:solidFill>
          <a:ln/>
        </p:spPr>
      </p:sp>
      <p:sp>
        <p:nvSpPr>
          <p:cNvPr id="11" name="Text 8"/>
          <p:cNvSpPr/>
          <p:nvPr/>
        </p:nvSpPr>
        <p:spPr>
          <a:xfrm>
            <a:off x="1554480" y="3108960"/>
            <a:ext cx="182880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 PROVED:</a:t>
            </a:r>
            <a:endParaRPr lang="en-US" sz="900" dirty="0"/>
          </a:p>
        </p:txBody>
      </p:sp>
      <p:sp>
        <p:nvSpPr>
          <p:cNvPr id="12" name="Text 9"/>
          <p:cNvSpPr/>
          <p:nvPr/>
        </p:nvSpPr>
        <p:spPr>
          <a:xfrm>
            <a:off x="1554480" y="3337560"/>
            <a:ext cx="603504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Both buildings named -- JOINT settlement explained -- Virtue Lens applied -- Apalachee perspective held</a:t>
            </a:r>
            <a:endParaRPr lang="en-US" sz="1200" dirty="0"/>
          </a:p>
        </p:txBody>
      </p:sp>
      <p:sp>
        <p:nvSpPr>
          <p:cNvPr id="13" name="Shape 10"/>
          <p:cNvSpPr/>
          <p:nvPr/>
        </p:nvSpPr>
        <p:spPr>
          <a:xfrm>
            <a:off x="1371600" y="3977640"/>
            <a:ext cx="6400800" cy="530352"/>
          </a:xfrm>
          <a:prstGeom prst="roundRect">
            <a:avLst>
              <a:gd name="adj" fmla="val 17241"/>
            </a:avLst>
          </a:prstGeom>
          <a:solidFill>
            <a:srgbClr val="D4943A">
              <a:alpha val="85000"/>
            </a:srgbClr>
          </a:solidFill>
          <a:ln/>
        </p:spPr>
      </p:sp>
      <p:sp>
        <p:nvSpPr>
          <p:cNvPr id="14" name="Text 11"/>
          <p:cNvSpPr/>
          <p:nvPr/>
        </p:nvSpPr>
        <p:spPr>
          <a:xfrm>
            <a:off x="1554480" y="4041648"/>
            <a:ext cx="6035040" cy="3657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COMING NEXT -- 4.06.04: Daily Life on Florida Missions -- Bell to bell, field to friary.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2026-07-14T00:28:21Z</dcterms:created>
  <dcterms:modified xsi:type="dcterms:W3CDTF">2026-07-14T00:28:21Z</dcterms:modified>
</cp:coreProperties>
</file>