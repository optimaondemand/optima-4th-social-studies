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Florida coastline panorama with silhouettes of Spanish galleons approaching shore — indigenous village visible inland, warm golden-hour light, no human figures, colonial-era illustration styleSLIDE 1 — TITLE. Open with the Florida Files story: 'Canvas won't let the exploration file close — it keeps flagging it as incomplete. I think I know why: you have learned the names and the routes, but the file needs you to explain what happened next.' Read the Wonder Question. Set the tone: this is the unit finale — careful, serious, honest. Tell students: 'Today you trace causes to effects and write the honest picture.' Under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FILE UNLOCKED. Read Ms. Rivera's message aloud — slow and deliberate. Emphasize: 'This is the unit finale. You have gathered three files — today you explain what all of that exploration actually caused.' Tell students their role: they are the Florida History Team, and today's job is to trace causes to effects and write honestly. The file won't close until they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PHENOMENON CLUE BOX. Show both images without explanation. Give 60 seconds of silent observation time. Then ask: 'What changed between these two scenes? What might have caused those changes?' Take 2-3 chat responses using the sentence starters. Do NOT explain yet — let curiosity build. The goal is noticing, not knowing. Transition: 'Let's find out what caused that change — and what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SOCRATIC DISCUSSION. These are Grade 4 defend/evaluate/explain questions — they require reasoning, not recall. For Q1: push students who say 'all good' or 'all bad' to qualify. For Q2: the goal is recognizing that the same fact can be framed multiple ways — what matters is what evidence you use. For Q3: model historian thinking — two people can use the same source and weigh it differently based on whose perspective they center. Do NOT resolve these questions — let them sit. 4-5 minutes of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Florida map with four layered illustrations: explorers landing (4.04.01), a compass with God/Gold/Glory labels (4.04.02), three European flags over a coastline (4.04.03), and a mission with disease spread arrows (4.04.04) — storyboard arrangement, map-style, warm colorsSLIDE 5 — UNIT 4 BIG PICTURE. Walk through the four-lesson arc slowly. Name each file: 'Lesson 1, the ships. Lesson 2, the motives. Lesson 3, the three-way competition. Today, the final piece — what did all of that actually cause?' Read the transferable pattern aloud and ask students to hold it in their minds. This framing prepares them for the Guided Practice Tricky One and the Virtue Lens.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Three symbolic objects arranged on an antique map: a gold cross (God), gold coins and a treasure chest (Gold), and a heraldic banner or pennant (Glory) — warm lighting, no human figures, map-illustration styleSLIDE 6 — CAUSES. Walk through each cause with a brief explanation. Emphasize that these are the REASONS Europeans kept coming — they did not stop after one trip because the motives were powerful and ongoing. Point to the rivalry note at the bottom: 'Three countries all wanted the same piece of coastline — that competition kept the pressure on for 200+ years.' This directly scaffolds Assignment Q2 (name ONE major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EFFECTS. Walk through each effect one at a time. Pause longest on disease: 'This was the most devastating effect — not because Europeans intended it, but because First Peoples had no immunity. Tens of thousands died in a generation. Whole nations.' Then name the positive/permanent effects: missions, St. Augustine, new crops. End with the Honest History Note: 'We do not get to pick only one half of this story.' This directly scaffolds Assignment Q2 (name ONE major effect) and Q3 (Virtue Lens).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SOURCE STUDY. Display the image and ask students to look at it silently for 30 seconds. Then guide: 'What do you see? Names? Dates? Cross marks?' Walk through the Evaluate the Source panel. Emphasize the third point: 'A counted name is not a story — it is data. And data can show us patterns that are invisible in narratives.' This directly scaffolds Assignment Q1 (what kind of book, what does it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SOURCE DEEP DIVE. This slide directly rehearses Assignment Q1. Walk through both types of entries. Ask: 'If you opened this book and counted 40 baptisms in January and 80 burials in February of the same year, what would that tell you?' Let students reason. Then make it explicit: 'A mission record is both a religious document AND a population record — and historians use it as evidence of colonization's effects.' Guided practice with the chat frame before they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MULTI-SOURCE COMPARE. This is the key comparison the Virtue Lens question (Assignment Q3) will draw from. Walk through both sources. Ask: 'Can both sources be true at the same time?' Yes — one shows what the Spanish priest counted; the other shows what was lost. Emphasize: historians use multiple sources because no single document shows the whole picture. The chat frames rehearse the kind of comparative sentence students will need in the Source Study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Ancient writing desk with quill, ink, and a half-written scroll — warm candlelight, manuscript illustration style, no human figures, gold and deep blue tonesSLIDE 11 — WRITING SCAFFOLD. Walk through all four parts slowly. Tell students: 'Every strong Source Study response has these four moves. Claim — say what you think. Evidence — use the document. Explanation — connect evidence to claim. Connection — bring in the Virtue Lens.' Model pointing to the examples in each box. This prepares students for Guided Practice: Model (next slide) and the Source Study response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GP MODEL. Think aloud through each move: 'Watch how I start with a claim — I pick one cause. Then I look for evidence. I do not just say it happened — I point to a specific source. Then I explain the connection: why does this evidence prove my claim? Finally, I connect to the Virtue Lens.' Read the model response aloud. Then say: 'Now it is your turn.' This scaffolds Assignment Q2 and the Source Study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GP DEFEND. Give students 2-3 minutes to think independently before asking for responses. Call on 2-3 students to share their evidence and explanation. Push: 'Is that enough evidence? How does it connect to your claim?' Validate attempts — the goal is practicing the scaffold, not a perfect answer. The chat frame rehearses the Virtue Lens language they will need for Assignment 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GP CRITIQUE. Read the flawed argument aloud. Ask: 'What is right about this? What is missing? What has been left out?' Guide students toward: (1) the evidence is one-sided — it picks only the positive effects; (2) 'civilization' is a loaded word that ignores what was already here; (3) a strong argument holds both the achievement AND the cost. Do not dismiss the flawed argument — honor what is right about it, then show why it is incomplete. This builds critical reading skills for the Virtue Lens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GP TRICKY ONE. This is the 'reasonable people can disagree' moment. After presenting both sets of evidence, say: 'Both of these are true. That is what makes history hard. The question is not which one you pick — it is whether you are willing to hold both at the same time.' Model: 'An honest historian does not say colonization was only good or only bad. They say — both happened, both are true, and the weight you give each depends on whose story you center.' This prepares students for the Virtue Lens in Assignment 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Antique balance scale with a Spanish cross on one side and a broken indigenous pottery vessel on the other — balanced but heavy, warm golden light from behind, no human figures, symbolic illustration styleSLIDE 16 — KEY CONCEPT REVEAL. Read the definition slowly and deliberately. Pause after 'both/and.' Ask: 'What does it mean to hold both halves of a picture together?' This is the conceptual anchor for the Virtue Lens in Assignment Q3. After this slide, students should be able to say: 'I can use the Virtue Lens by naming one thing that was courageous AND one thing that was costly — and explain both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Abstract illustration of two paths converging — one shows a galleon sail and cross (European courage), the other shows indigenous tools and a village fire (First Peoples' courage and resilience) — the paths meet at a central point of light, no human figures, deep blue and gold paletteSLIDE 17 — VIRTUE SPOTLIGHT: COURAGE. Read the virtue definition aloud. Then read the Virtue Lens question: 'Was that courage used well?' Pause and let the silence sit. Then: 'Honest historians do not grade courage. They describe it — and they describe what it cost.' This is the conceptual hinge for Assignment Q3. Students who can write the Virtue Lens correctly will hold both the courage of explorers AND the cost to First Peoples in the same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ASSIGNMENT PREVIEW. Read each question aloud. Point to where it was practiced: 'Q1 — we built that answer on slides 8 and 9. Q2 — we built that on the causes and effects slides and the model. Q3 — the Virtue Lens is the both/and move we just practiced.' Walk through the Source Study requirements: 5-7 sentences, use the mission record, name a cause, name an effect, apply the Virtue Lens. Model the Historian's Sentence: 'Here is a starter I might use...'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SELF-CHECK. These are the exact questions from the lesson's ungraded self-check. Read each question and give students 20-30 seconds. Then reveal the answer and read the explanation. Celebrate correct answers — this is not a grade, it is a confidence builder before writing. After all three, say: 'You are ready. You know the causes, you know the effects, you know the Virtue Lens. Now write the story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Florida coastline at twilight — silhouettes of mission ruins and a fort against a warm orange-gold sky, ocean in background, no human figures, poetic and reflective illustration styleSLIDE 20 — CLOSING: FILE SAVED. Open with: 'European colonization caused major changes for Florida's people, land, communities, and future history. You identified the causes, studied the record, and wrote the honest picture. The file is unlocked.' Name the four lessons in order — slowly. Honor the seriousness: 'Some of what we studied was hard. That is what honest history is.' Tease Unit 5: 'Next week we pull pieces from ALL FOUR units into one big synthesis.' Under 90 seconds. Earned and reflective.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4754880"/>
            <a:ext cx="9144000" cy="109728"/>
          </a:xfrm>
          <a:prstGeom prst="rect">
            <a:avLst/>
          </a:prstGeom>
          <a:solidFill>
            <a:srgbClr val="D4943A"/>
          </a:solidFill>
          <a:ln w="12700">
            <a:solidFill>
              <a:srgbClr val="D4943A"/>
            </a:solidFill>
            <a:prstDash val="solid"/>
          </a:ln>
        </p:spPr>
      </p:sp>
      <p:sp>
        <p:nvSpPr>
          <p:cNvPr id="6" name="Shape 3"/>
          <p:cNvSpPr/>
          <p:nvPr/>
        </p:nvSpPr>
        <p:spPr>
          <a:xfrm>
            <a:off x="457200" y="320040"/>
            <a:ext cx="2560320" cy="347472"/>
          </a:xfrm>
          <a:prstGeom prst="roundRect">
            <a:avLst>
              <a:gd name="adj" fmla="val 26316"/>
            </a:avLst>
          </a:prstGeom>
          <a:solidFill>
            <a:srgbClr val="D4943A"/>
          </a:solidFill>
          <a:ln w="12700">
            <a:solidFill>
              <a:srgbClr val="D4943A"/>
            </a:solidFill>
            <a:prstDash val="solid"/>
          </a:ln>
        </p:spPr>
      </p:sp>
      <p:sp>
        <p:nvSpPr>
          <p:cNvPr id="7" name="Text 4"/>
          <p:cNvSpPr/>
          <p:nvPr/>
        </p:nvSpPr>
        <p:spPr>
          <a:xfrm>
            <a:off x="457200" y="320040"/>
            <a:ext cx="2560320" cy="347472"/>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FLORIDA FILES</a:t>
            </a:r>
            <a:endParaRPr lang="en-US" sz="1200" dirty="0"/>
          </a:p>
        </p:txBody>
      </p:sp>
      <p:sp>
        <p:nvSpPr>
          <p:cNvPr id="8" name="Text 5"/>
          <p:cNvSpPr/>
          <p:nvPr/>
        </p:nvSpPr>
        <p:spPr>
          <a:xfrm>
            <a:off x="457200" y="822960"/>
            <a:ext cx="8229600" cy="365760"/>
          </a:xfrm>
          <a:prstGeom prst="rect">
            <a:avLst/>
          </a:prstGeom>
          <a:noFill/>
          <a:ln/>
        </p:spPr>
        <p:txBody>
          <a:bodyPr wrap="square" lIns="0" tIns="0" rIns="0" bIns="0" rtlCol="0" anchor="ctr"/>
          <a:lstStyle/>
          <a:p>
            <a:pPr algn="l" indent="0" marL="0">
              <a:buNone/>
            </a:pPr>
            <a:r>
              <a:rPr lang="en-US" sz="1400" i="1" dirty="0">
                <a:solidFill>
                  <a:srgbClr val="55C8E8"/>
                </a:solidFill>
                <a:latin typeface="Calibri" pitchFamily="34" charset="0"/>
                <a:ea typeface="Calibri" pitchFamily="34" charset="-122"/>
                <a:cs typeface="Calibri" pitchFamily="34" charset="-120"/>
              </a:rPr>
              <a:t>File 3 of 3  —  Unit 4: New Spain and Exploration</a:t>
            </a:r>
            <a:endParaRPr lang="en-US" sz="1400" dirty="0"/>
          </a:p>
        </p:txBody>
      </p:sp>
      <p:sp>
        <p:nvSpPr>
          <p:cNvPr id="9" name="Text 6"/>
          <p:cNvSpPr/>
          <p:nvPr/>
        </p:nvSpPr>
        <p:spPr>
          <a:xfrm>
            <a:off x="457200" y="1261872"/>
            <a:ext cx="8229600" cy="1828800"/>
          </a:xfrm>
          <a:prstGeom prst="rect">
            <a:avLst/>
          </a:prstGeom>
          <a:noFill/>
          <a:ln/>
        </p:spPr>
        <p:txBody>
          <a:bodyPr wrap="square" lIns="0" tIns="0" rIns="0" bIns="0"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Causes and Effects of</a:t>
            </a:r>
            <a:endParaRPr lang="en-US" sz="4400" dirty="0"/>
          </a:p>
          <a:p>
            <a:pPr algn="l" indent="0" marL="0">
              <a:buNone/>
            </a:pPr>
            <a:r>
              <a:rPr lang="en-US" sz="4400" b="1" dirty="0">
                <a:solidFill>
                  <a:srgbClr val="FFFFFF"/>
                </a:solidFill>
                <a:latin typeface="Cambria" pitchFamily="34" charset="0"/>
                <a:ea typeface="Cambria" pitchFamily="34" charset="-122"/>
                <a:cs typeface="Cambria" pitchFamily="34" charset="-120"/>
              </a:rPr>
              <a:t>European Colonization</a:t>
            </a:r>
            <a:endParaRPr lang="en-US" sz="4400" dirty="0"/>
          </a:p>
        </p:txBody>
      </p:sp>
      <p:sp>
        <p:nvSpPr>
          <p:cNvPr id="10" name="Shape 7"/>
          <p:cNvSpPr/>
          <p:nvPr/>
        </p:nvSpPr>
        <p:spPr>
          <a:xfrm>
            <a:off x="457200" y="3200400"/>
            <a:ext cx="5029200" cy="45720"/>
          </a:xfrm>
          <a:prstGeom prst="rect">
            <a:avLst/>
          </a:prstGeom>
          <a:solidFill>
            <a:srgbClr val="55C8E8"/>
          </a:solidFill>
          <a:ln w="12700">
            <a:solidFill>
              <a:srgbClr val="55C8E8"/>
            </a:solidFill>
            <a:prstDash val="solid"/>
          </a:ln>
        </p:spPr>
      </p:sp>
      <p:sp>
        <p:nvSpPr>
          <p:cNvPr id="11" name="Text 8"/>
          <p:cNvSpPr/>
          <p:nvPr/>
        </p:nvSpPr>
        <p:spPr>
          <a:xfrm>
            <a:off x="457200" y="3337560"/>
            <a:ext cx="8046720" cy="1005840"/>
          </a:xfrm>
          <a:prstGeom prst="rect">
            <a:avLst/>
          </a:prstGeom>
          <a:noFill/>
          <a:ln/>
        </p:spPr>
        <p:txBody>
          <a:bodyPr wrap="square" lIns="0" tIns="0" rIns="0" bIns="0" rtlCol="0" anchor="t"/>
          <a:lstStyle/>
          <a:p>
            <a:pPr algn="l" indent="0" marL="0">
              <a:buNone/>
            </a:pPr>
            <a:r>
              <a:rPr lang="en-US" sz="1500" i="1" dirty="0">
                <a:solidFill>
                  <a:srgbClr val="F0F2F8"/>
                </a:solidFill>
                <a:latin typeface="Calibri" pitchFamily="34" charset="0"/>
                <a:ea typeface="Calibri" pitchFamily="34" charset="-122"/>
                <a:cs typeface="Calibri" pitchFamily="34" charset="-120"/>
              </a:rPr>
              <a:t>What were the most important causes and effects of European colonization in Florida — and what does an honest historian say about them?</a:t>
            </a:r>
            <a:endParaRPr lang="en-US" sz="1500" dirty="0"/>
          </a:p>
        </p:txBody>
      </p:sp>
      <p:sp>
        <p:nvSpPr>
          <p:cNvPr id="12" name="Text 9"/>
          <p:cNvSpPr/>
          <p:nvPr/>
        </p:nvSpPr>
        <p:spPr>
          <a:xfrm>
            <a:off x="457200" y="4434840"/>
            <a:ext cx="5486400" cy="274320"/>
          </a:xfrm>
          <a:prstGeom prst="rect">
            <a:avLst/>
          </a:prstGeom>
          <a:noFill/>
          <a:ln/>
        </p:spPr>
        <p:txBody>
          <a:bodyPr wrap="square" lIns="0" tIns="0" rIns="0" bIns="0" rtlCol="0" anchor="ctr"/>
          <a:lstStyle/>
          <a:p>
            <a:pPr algn="l" indent="0" marL="0">
              <a:buNone/>
            </a:pPr>
            <a:r>
              <a:rPr lang="en-US" sz="1100" dirty="0">
                <a:solidFill>
                  <a:srgbClr val="7A88A8"/>
                </a:solidFill>
                <a:latin typeface="Calibri" pitchFamily="34" charset="0"/>
                <a:ea typeface="Calibri" pitchFamily="34" charset="-122"/>
                <a:cs typeface="Calibri" pitchFamily="34" charset="-120"/>
              </a:rPr>
              <a:t>Lesson 4.04.04  |  SS.4.A.3.1  |  SS.4.A.3.7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2700">
            <a:solidFill>
              <a:srgbClr val="3A5080"/>
            </a:solidFill>
            <a:prstDash val="dash"/>
          </a:ln>
        </p:spPr>
      </p:sp>
      <p:sp>
        <p:nvSpPr>
          <p:cNvPr id="3" name="Shape 1"/>
          <p:cNvSpPr/>
          <p:nvPr/>
        </p:nvSpPr>
        <p:spPr>
          <a:xfrm>
            <a:off x="2926080" y="274320"/>
            <a:ext cx="3291840" cy="457200"/>
          </a:xfrm>
          <a:prstGeom prst="roundRect">
            <a:avLst>
              <a:gd name="adj" fmla="val 24000"/>
            </a:avLst>
          </a:prstGeom>
          <a:solidFill>
            <a:srgbClr val="34B76F"/>
          </a:solidFill>
          <a:ln w="12700">
            <a:solidFill>
              <a:srgbClr val="34B76F"/>
            </a:solidFill>
            <a:prstDash val="solid"/>
          </a:ln>
        </p:spPr>
      </p:sp>
      <p:sp>
        <p:nvSpPr>
          <p:cNvPr id="4" name="Text 2"/>
          <p:cNvSpPr/>
          <p:nvPr/>
        </p:nvSpPr>
        <p:spPr>
          <a:xfrm>
            <a:off x="2926080" y="274320"/>
            <a:ext cx="3291840" cy="457200"/>
          </a:xfrm>
          <a:prstGeom prst="rect">
            <a:avLst/>
          </a:prstGeom>
          <a:noFill/>
          <a:ln/>
        </p:spPr>
        <p:txBody>
          <a:bodyPr wrap="square" lIns="0" tIns="0" rIns="0" bIns="0" rtlCol="0" anchor="ctr"/>
          <a:lstStyle/>
          <a:p>
            <a:pPr algn="ctr" indent="0" marL="0">
              <a:buNone/>
            </a:pPr>
            <a:r>
              <a:rPr lang="en-US" sz="1500" b="1" spc="250" kern="0" dirty="0">
                <a:solidFill>
                  <a:srgbClr val="FFFFFF"/>
                </a:solidFill>
                <a:latin typeface="Calibri" pitchFamily="34" charset="0"/>
                <a:ea typeface="Calibri" pitchFamily="34" charset="-122"/>
                <a:cs typeface="Calibri" pitchFamily="34" charset="-120"/>
              </a:rPr>
              <a:t>FILE UNLOCKED</a:t>
            </a:r>
            <a:endParaRPr lang="en-US" sz="1500" dirty="0"/>
          </a:p>
        </p:txBody>
      </p:sp>
      <p:sp>
        <p:nvSpPr>
          <p:cNvPr id="5" name="Text 3"/>
          <p:cNvSpPr/>
          <p:nvPr/>
        </p:nvSpPr>
        <p:spPr>
          <a:xfrm>
            <a:off x="457200" y="914400"/>
            <a:ext cx="8229600" cy="365760"/>
          </a:xfrm>
          <a:prstGeom prst="rect">
            <a:avLst/>
          </a:prstGeom>
          <a:noFill/>
          <a:ln/>
        </p:spPr>
        <p:txBody>
          <a:bodyPr wrap="square" lIns="0" tIns="0" rIns="0" bIns="0" rtlCol="0" anchor="ctr"/>
          <a:lstStyle/>
          <a:p>
            <a:pPr algn="l" indent="0" marL="0">
              <a:buNone/>
            </a:pPr>
            <a:r>
              <a:rPr lang="en-US" sz="1300" b="1" spc="100" kern="0" dirty="0">
                <a:solidFill>
                  <a:srgbClr val="D4943A"/>
                </a:solidFill>
                <a:latin typeface="Calibri" pitchFamily="34" charset="0"/>
                <a:ea typeface="Calibri" pitchFamily="34" charset="-122"/>
                <a:cs typeface="Calibri" pitchFamily="34" charset="-120"/>
              </a:rPr>
              <a:t>Message from Inside Canvas</a:t>
            </a:r>
            <a:endParaRPr lang="en-US" sz="1300" dirty="0"/>
          </a:p>
        </p:txBody>
      </p:sp>
      <p:sp>
        <p:nvSpPr>
          <p:cNvPr id="6" name="Text 4"/>
          <p:cNvSpPr/>
          <p:nvPr/>
        </p:nvSpPr>
        <p:spPr>
          <a:xfrm>
            <a:off x="457200" y="1371600"/>
            <a:ext cx="8046720" cy="1280160"/>
          </a:xfrm>
          <a:prstGeom prst="rect">
            <a:avLst/>
          </a:prstGeom>
          <a:noFill/>
          <a:ln/>
        </p:spPr>
        <p:txBody>
          <a:bodyPr wrap="square" lIns="0" tIns="0" rIns="0" bIns="0" rtlCol="0" anchor="t"/>
          <a:lstStyle/>
          <a:p>
            <a:pPr algn="l" indent="0" marL="0">
              <a:buNone/>
            </a:pPr>
            <a:r>
              <a:rPr lang="en-US" sz="1600" i="1" dirty="0">
                <a:solidFill>
                  <a:srgbClr val="F0F2F8"/>
                </a:solidFill>
                <a:latin typeface="Calibri" pitchFamily="34" charset="0"/>
                <a:ea typeface="Calibri" pitchFamily="34" charset="-122"/>
                <a:cs typeface="Calibri" pitchFamily="34" charset="-120"/>
              </a:rPr>
              <a:t>Canvas won't let the exploration file close — it keeps flagging it as 'incomplete.' I think I know why: you've learned the names and the routes, but the file needs you to explain what happened next. Look at the record, trace the causes to the effects, and write it clearly.</a:t>
            </a:r>
            <a:endParaRPr lang="en-US" sz="1600" dirty="0"/>
          </a:p>
        </p:txBody>
      </p:sp>
      <p:sp>
        <p:nvSpPr>
          <p:cNvPr id="7" name="Text 5"/>
          <p:cNvSpPr/>
          <p:nvPr/>
        </p:nvSpPr>
        <p:spPr>
          <a:xfrm>
            <a:off x="457200" y="2743200"/>
            <a:ext cx="8046720" cy="640080"/>
          </a:xfrm>
          <a:prstGeom prst="rect">
            <a:avLst/>
          </a:prstGeom>
          <a:noFill/>
          <a:ln/>
        </p:spPr>
        <p:txBody>
          <a:bodyPr wrap="square" lIns="0" tIns="0" rIns="0" bIns="0" rtlCol="0" anchor="t"/>
          <a:lstStyle/>
          <a:p>
            <a:pPr algn="l" indent="0" marL="0">
              <a:buNone/>
            </a:pPr>
            <a:r>
              <a:rPr lang="en-US" sz="1600" b="1" dirty="0">
                <a:solidFill>
                  <a:srgbClr val="55C8E8"/>
                </a:solidFill>
                <a:latin typeface="Calibri" pitchFamily="34" charset="0"/>
                <a:ea typeface="Calibri" pitchFamily="34" charset="-122"/>
                <a:cs typeface="Calibri" pitchFamily="34" charset="-120"/>
              </a:rPr>
              <a:t>This is the unit's final piece. It matters. Study carefully, write honestly, and hold both halves of the picture.</a:t>
            </a:r>
            <a:endParaRPr lang="en-US" sz="1600" dirty="0"/>
          </a:p>
        </p:txBody>
      </p:sp>
      <p:sp>
        <p:nvSpPr>
          <p:cNvPr id="8" name="Text 6"/>
          <p:cNvSpPr/>
          <p:nvPr/>
        </p:nvSpPr>
        <p:spPr>
          <a:xfrm>
            <a:off x="457200" y="3474720"/>
            <a:ext cx="8046720" cy="274320"/>
          </a:xfrm>
          <a:prstGeom prst="rect">
            <a:avLst/>
          </a:prstGeom>
          <a:noFill/>
          <a:ln/>
        </p:spPr>
        <p:txBody>
          <a:bodyPr wrap="square" lIns="0" tIns="0" rIns="0" bIns="0" rtlCol="0" anchor="ctr"/>
          <a:lstStyle/>
          <a:p>
            <a:pPr algn="l" indent="0" marL="0">
              <a:buNone/>
            </a:pPr>
            <a:r>
              <a:rPr lang="en-US" sz="1200" i="1" dirty="0">
                <a:solidFill>
                  <a:srgbClr val="7A88A8"/>
                </a:solidFill>
                <a:latin typeface="Calibri" pitchFamily="34" charset="0"/>
                <a:ea typeface="Calibri" pitchFamily="34" charset="-122"/>
                <a:cs typeface="Calibri" pitchFamily="34" charset="-120"/>
              </a:rPr>
              <a:t>— Your teacher, still inside Module 4  |  Episode 4 of 13</a:t>
            </a:r>
            <a:endParaRPr lang="en-US" sz="1200" dirty="0"/>
          </a:p>
        </p:txBody>
      </p:sp>
      <p:sp>
        <p:nvSpPr>
          <p:cNvPr id="9" name="Shape 7"/>
          <p:cNvSpPr/>
          <p:nvPr/>
        </p:nvSpPr>
        <p:spPr>
          <a:xfrm>
            <a:off x="457200" y="3840480"/>
            <a:ext cx="8229600" cy="685800"/>
          </a:xfrm>
          <a:prstGeom prst="roundRect">
            <a:avLst>
              <a:gd name="adj" fmla="val 16000"/>
            </a:avLst>
          </a:prstGeom>
          <a:solidFill>
            <a:srgbClr val="1A2D5A"/>
          </a:solidFill>
          <a:ln w="19050">
            <a:solidFill>
              <a:srgbClr val="55C8E8"/>
            </a:solidFill>
            <a:prstDash val="solid"/>
          </a:ln>
        </p:spPr>
      </p:sp>
      <p:sp>
        <p:nvSpPr>
          <p:cNvPr id="10" name="Text 8"/>
          <p:cNvSpPr/>
          <p:nvPr/>
        </p:nvSpPr>
        <p:spPr>
          <a:xfrm>
            <a:off x="594360" y="3840480"/>
            <a:ext cx="7955280" cy="68580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YOUR ROLE:  Florida History Team  —  Examine the record, trace cause to effect, write the honest picture.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109728"/>
          </a:xfrm>
          <a:prstGeom prst="rect">
            <a:avLst/>
          </a:prstGeom>
          <a:solidFill>
            <a:srgbClr val="D4943A"/>
          </a:solidFill>
          <a:ln w="12700">
            <a:solidFill>
              <a:srgbClr val="D4943A"/>
            </a:solidFill>
            <a:prstDash val="solid"/>
          </a:ln>
        </p:spPr>
      </p:sp>
      <p:sp>
        <p:nvSpPr>
          <p:cNvPr id="4" name="Text 2"/>
          <p:cNvSpPr/>
          <p:nvPr/>
        </p:nvSpPr>
        <p:spPr>
          <a:xfrm>
            <a:off x="457200" y="182880"/>
            <a:ext cx="2743200" cy="256032"/>
          </a:xfrm>
          <a:prstGeom prst="rect">
            <a:avLst/>
          </a:prstGeom>
          <a:noFill/>
          <a:ln/>
        </p:spPr>
        <p:txBody>
          <a:bodyPr wrap="square" lIns="0" tIns="0" rIns="0" bIns="0" rtlCol="0" anchor="ctr"/>
          <a:lstStyle/>
          <a:p>
            <a:pPr indent="0" marL="0">
              <a:buNone/>
            </a:pPr>
            <a:r>
              <a:rPr lang="en-US" sz="900" b="1" spc="200" kern="0" dirty="0">
                <a:solidFill>
                  <a:srgbClr val="D4943A"/>
                </a:solidFill>
                <a:latin typeface="Calibri" pitchFamily="34" charset="0"/>
                <a:ea typeface="Calibri" pitchFamily="34" charset="-122"/>
                <a:cs typeface="Calibri" pitchFamily="34" charset="-120"/>
              </a:rPr>
              <a:t>OPENING CLUE</a:t>
            </a:r>
            <a:endParaRPr lang="en-US" sz="900" dirty="0"/>
          </a:p>
        </p:txBody>
      </p:sp>
      <p:sp>
        <p:nvSpPr>
          <p:cNvPr id="5" name="Text 3"/>
          <p:cNvSpPr/>
          <p:nvPr/>
        </p:nvSpPr>
        <p:spPr>
          <a:xfrm>
            <a:off x="457200" y="475488"/>
            <a:ext cx="8229600" cy="457200"/>
          </a:xfrm>
          <a:prstGeom prst="rect">
            <a:avLst/>
          </a:prstGeom>
          <a:noFill/>
          <a:ln/>
        </p:spPr>
        <p:txBody>
          <a:bodyPr wrap="square" lIns="0" tIns="0" rIns="0" bIns="0" rtlCol="0" anchor="ctr"/>
          <a:lstStyle/>
          <a:p>
            <a:pPr algn="l" indent="0" marL="0">
              <a:buNone/>
            </a:pPr>
            <a:r>
              <a:rPr lang="en-US" sz="2200" b="1" dirty="0">
                <a:solidFill>
                  <a:srgbClr val="0E1C42"/>
                </a:solidFill>
                <a:latin typeface="Cambria" pitchFamily="34" charset="0"/>
                <a:ea typeface="Cambria" pitchFamily="34" charset="-122"/>
                <a:cs typeface="Cambria" pitchFamily="34" charset="-120"/>
              </a:rPr>
              <a:t>Two Pictures — Same Place, 150 Years Apart</a:t>
            </a:r>
            <a:endParaRPr lang="en-US" sz="2200" dirty="0"/>
          </a:p>
        </p:txBody>
      </p:sp>
      <p:sp>
        <p:nvSpPr>
          <p:cNvPr id="6" name="Shape 4"/>
          <p:cNvSpPr/>
          <p:nvPr/>
        </p:nvSpPr>
        <p:spPr>
          <a:xfrm>
            <a:off x="457200" y="1005840"/>
            <a:ext cx="5303520" cy="2743200"/>
          </a:xfrm>
          <a:prstGeom prst="roundRect">
            <a:avLst>
              <a:gd name="adj" fmla="val 4000"/>
            </a:avLst>
          </a:prstGeom>
          <a:solidFill>
            <a:srgbClr val="E2E8F4"/>
          </a:solidFill>
          <a:ln w="19050">
            <a:solidFill>
              <a:srgbClr val="B0B8CC"/>
            </a:solidFill>
            <a:prstDash val="dash"/>
          </a:ln>
        </p:spPr>
      </p:sp>
      <p:sp>
        <p:nvSpPr>
          <p:cNvPr id="7" name="Text 5"/>
          <p:cNvSpPr/>
          <p:nvPr/>
        </p:nvSpPr>
        <p:spPr>
          <a:xfrm>
            <a:off x="457200" y="1005840"/>
            <a:ext cx="53035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94360" y="1280160"/>
            <a:ext cx="5029200" cy="2377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Split image: left side shows a Timucua village scene circa 1560 (longhouses, fishing, communal life, no European presence) — right side shows a Spanish mission compound circa 1700 (stone church, Spanish priests, changed settlement pattern). Map-illustration style, no human figures.</a:t>
            </a:r>
            <a:endParaRPr lang="en-US" sz="1100" dirty="0"/>
          </a:p>
        </p:txBody>
      </p:sp>
      <p:sp>
        <p:nvSpPr>
          <p:cNvPr id="9" name="Shape 7"/>
          <p:cNvSpPr/>
          <p:nvPr/>
        </p:nvSpPr>
        <p:spPr>
          <a:xfrm>
            <a:off x="5943600" y="1005840"/>
            <a:ext cx="2743200" cy="1371600"/>
          </a:xfrm>
          <a:prstGeom prst="roundRect">
            <a:avLst>
              <a:gd name="adj" fmla="val 8000"/>
            </a:avLst>
          </a:prstGeom>
          <a:solidFill>
            <a:srgbClr val="E2F0FF"/>
          </a:solidFill>
          <a:ln w="19050">
            <a:solidFill>
              <a:srgbClr val="B0C8E8"/>
            </a:solidFill>
            <a:prstDash val="solid"/>
          </a:ln>
        </p:spPr>
      </p:sp>
      <p:sp>
        <p:nvSpPr>
          <p:cNvPr id="10" name="Text 8"/>
          <p:cNvSpPr/>
          <p:nvPr/>
        </p:nvSpPr>
        <p:spPr>
          <a:xfrm>
            <a:off x="6035040" y="1060704"/>
            <a:ext cx="256032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WHAT DO YOU NOTICE?</a:t>
            </a:r>
            <a:endParaRPr lang="en-US" sz="900" dirty="0"/>
          </a:p>
        </p:txBody>
      </p:sp>
      <p:sp>
        <p:nvSpPr>
          <p:cNvPr id="11" name="Text 9"/>
          <p:cNvSpPr/>
          <p:nvPr/>
        </p:nvSpPr>
        <p:spPr>
          <a:xfrm>
            <a:off x="6035040" y="1371600"/>
            <a:ext cx="2560320" cy="868680"/>
          </a:xfrm>
          <a:prstGeom prst="rect">
            <a:avLst/>
          </a:prstGeom>
          <a:noFill/>
          <a:ln/>
        </p:spPr>
        <p:txBody>
          <a:bodyPr wrap="square" lIns="0" tIns="0" rIns="0" bIns="0" rtlCol="0" anchor="t"/>
          <a:lstStyle/>
          <a:p>
            <a:pPr algn="l" indent="0" marL="0">
              <a:buNone/>
            </a:pPr>
            <a:r>
              <a:rPr lang="en-US" sz="1200" dirty="0">
                <a:solidFill>
                  <a:srgbClr val="0E1C42"/>
                </a:solidFill>
                <a:latin typeface="Calibri" pitchFamily="34" charset="0"/>
                <a:ea typeface="Calibri" pitchFamily="34" charset="-122"/>
                <a:cs typeface="Calibri" pitchFamily="34" charset="-120"/>
              </a:rPr>
              <a:t>Look at both pictures.</a:t>
            </a:r>
            <a:endParaRPr lang="en-US" sz="1200" dirty="0"/>
          </a:p>
          <a:p>
            <a:pPr algn="l" indent="0" marL="0">
              <a:buNone/>
            </a:pPr>
            <a:r>
              <a:rPr lang="en-US" sz="1200" dirty="0">
                <a:solidFill>
                  <a:srgbClr val="0E1C42"/>
                </a:solidFill>
                <a:latin typeface="Calibri" pitchFamily="34" charset="0"/>
                <a:ea typeface="Calibri" pitchFamily="34" charset="-122"/>
                <a:cs typeface="Calibri" pitchFamily="34" charset="-120"/>
              </a:rPr>
              <a:t>What changed? What stayed the same?</a:t>
            </a:r>
            <a:endParaRPr lang="en-US" sz="1200" dirty="0"/>
          </a:p>
          <a:p>
            <a:pPr algn="l" indent="0" marL="0">
              <a:buNone/>
            </a:pPr>
            <a:r>
              <a:rPr lang="en-US" sz="1200" dirty="0">
                <a:solidFill>
                  <a:srgbClr val="0E1C42"/>
                </a:solidFill>
                <a:latin typeface="Calibri" pitchFamily="34" charset="0"/>
                <a:ea typeface="Calibri" pitchFamily="34" charset="-122"/>
                <a:cs typeface="Calibri" pitchFamily="34" charset="-120"/>
              </a:rPr>
              <a:t>What might have caused those changes?</a:t>
            </a:r>
            <a:endParaRPr lang="en-US" sz="1200" dirty="0"/>
          </a:p>
        </p:txBody>
      </p:sp>
      <p:sp>
        <p:nvSpPr>
          <p:cNvPr id="12" name="Shape 10"/>
          <p:cNvSpPr/>
          <p:nvPr/>
        </p:nvSpPr>
        <p:spPr>
          <a:xfrm>
            <a:off x="5943600" y="2514600"/>
            <a:ext cx="2743200" cy="1234440"/>
          </a:xfrm>
          <a:prstGeom prst="roundRect">
            <a:avLst>
              <a:gd name="adj" fmla="val 8889"/>
            </a:avLst>
          </a:prstGeom>
          <a:solidFill>
            <a:srgbClr val="FFF3DC"/>
          </a:solidFill>
          <a:ln w="19050">
            <a:solidFill>
              <a:srgbClr val="F5E6C8"/>
            </a:solidFill>
            <a:prstDash val="solid"/>
          </a:ln>
        </p:spPr>
      </p:sp>
      <p:sp>
        <p:nvSpPr>
          <p:cNvPr id="13" name="Text 11"/>
          <p:cNvSpPr/>
          <p:nvPr/>
        </p:nvSpPr>
        <p:spPr>
          <a:xfrm>
            <a:off x="6080760" y="2569464"/>
            <a:ext cx="24688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6080760" y="2770632"/>
            <a:ext cx="2468880" cy="914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that ______, and I think that happened because ______."</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thing that surprised me was ______ because ______."</a:t>
            </a:r>
            <a:endParaRPr lang="en-US" sz="1200" dirty="0"/>
          </a:p>
        </p:txBody>
      </p:sp>
      <p:sp>
        <p:nvSpPr>
          <p:cNvPr id="15" name="Text 13"/>
          <p:cNvSpPr/>
          <p:nvPr/>
        </p:nvSpPr>
        <p:spPr>
          <a:xfrm>
            <a:off x="457200" y="3886200"/>
            <a:ext cx="8229600" cy="274320"/>
          </a:xfrm>
          <a:prstGeom prst="rect">
            <a:avLst/>
          </a:prstGeom>
          <a:noFill/>
          <a:ln/>
        </p:spPr>
        <p:txBody>
          <a:bodyPr wrap="square" lIns="0" tIns="0" rIns="0" bIns="0" rtlCol="0" anchor="ctr"/>
          <a:lstStyle/>
          <a:p>
            <a:pPr algn="l" indent="0" marL="0">
              <a:buNone/>
            </a:pPr>
            <a:r>
              <a:rPr lang="en-US" sz="1100" i="1" dirty="0">
                <a:solidFill>
                  <a:srgbClr val="7A88A8"/>
                </a:solidFill>
                <a:latin typeface="Calibri" pitchFamily="34" charset="0"/>
                <a:ea typeface="Calibri" pitchFamily="34" charset="-122"/>
                <a:cs typeface="Calibri" pitchFamily="34" charset="-120"/>
              </a:rPr>
              <a:t>Give students 60 seconds to observe before taking responses.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109728"/>
          </a:xfrm>
          <a:prstGeom prst="rect">
            <a:avLst/>
          </a:prstGeom>
          <a:solidFill>
            <a:srgbClr val="55C8E8"/>
          </a:solidFill>
          <a:ln w="12700">
            <a:solidFill>
              <a:srgbClr val="55C8E8"/>
            </a:solidFill>
            <a:prstDash val="solid"/>
          </a:ln>
        </p:spPr>
      </p:sp>
      <p:sp>
        <p:nvSpPr>
          <p:cNvPr id="4" name="Text 2"/>
          <p:cNvSpPr/>
          <p:nvPr/>
        </p:nvSpPr>
        <p:spPr>
          <a:xfrm>
            <a:off x="457200" y="182880"/>
            <a:ext cx="3657600" cy="256032"/>
          </a:xfrm>
          <a:prstGeom prst="rect">
            <a:avLst/>
          </a:prstGeom>
          <a:noFill/>
          <a:ln/>
        </p:spPr>
        <p:txBody>
          <a:bodyPr wrap="square" lIns="0" tIns="0" rIns="0" bIns="0" rtlCol="0" anchor="ctr"/>
          <a:lstStyle/>
          <a:p>
            <a:pPr indent="0" marL="0">
              <a:buNone/>
            </a:pPr>
            <a:r>
              <a:rPr lang="en-US" sz="900" b="1" spc="200" kern="0" dirty="0">
                <a:solidFill>
                  <a:srgbClr val="1A8A7D"/>
                </a:solidFill>
                <a:latin typeface="Calibri" pitchFamily="34" charset="0"/>
                <a:ea typeface="Calibri" pitchFamily="34" charset="-122"/>
                <a:cs typeface="Calibri" pitchFamily="34" charset="-120"/>
              </a:rPr>
              <a:t>SOCRATIC DISCUSSION</a:t>
            </a:r>
            <a:endParaRPr lang="en-US" sz="900" dirty="0"/>
          </a:p>
        </p:txBody>
      </p:sp>
      <p:sp>
        <p:nvSpPr>
          <p:cNvPr id="5" name="Text 3"/>
          <p:cNvSpPr/>
          <p:nvPr/>
        </p:nvSpPr>
        <p:spPr>
          <a:xfrm>
            <a:off x="457200" y="475488"/>
            <a:ext cx="8229600" cy="457200"/>
          </a:xfrm>
          <a:prstGeom prst="rect">
            <a:avLst/>
          </a:prstGeom>
          <a:noFill/>
          <a:ln/>
        </p:spPr>
        <p:txBody>
          <a:bodyPr wrap="square" lIns="0" tIns="0" rIns="0" bIns="0" rtlCol="0" anchor="ctr"/>
          <a:lstStyle/>
          <a:p>
            <a:pPr algn="l" indent="0" marL="0">
              <a:buNone/>
            </a:pPr>
            <a:r>
              <a:rPr lang="en-US" sz="2200" b="1" dirty="0">
                <a:solidFill>
                  <a:srgbClr val="0E1C42"/>
                </a:solidFill>
                <a:latin typeface="Cambria" pitchFamily="34" charset="0"/>
                <a:ea typeface="Cambria" pitchFamily="34" charset="-122"/>
                <a:cs typeface="Cambria" pitchFamily="34" charset="-120"/>
              </a:rPr>
              <a:t>Defend, Evaluate, Explain</a:t>
            </a:r>
            <a:endParaRPr lang="en-US" sz="2200" dirty="0"/>
          </a:p>
        </p:txBody>
      </p:sp>
      <p:sp>
        <p:nvSpPr>
          <p:cNvPr id="6" name="Shape 4"/>
          <p:cNvSpPr/>
          <p:nvPr/>
        </p:nvSpPr>
        <p:spPr>
          <a:xfrm>
            <a:off x="457200" y="1051560"/>
            <a:ext cx="8229600" cy="3200400"/>
          </a:xfrm>
          <a:prstGeom prst="roundRect">
            <a:avLst>
              <a:gd name="adj" fmla="val 4286"/>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640080" y="1143000"/>
            <a:ext cx="78638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640080" y="1399032"/>
            <a:ext cx="7863840" cy="27614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Defend: A student says, 'European colonization was mostly good because it built cities like St. Augustine that still exist today.' Do you agree? What evidence would you use to defend OR challenge that claim?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Evaluate: The same event — disease spreading through First Peoples villages — can be described as 'tragic' or as 'unavoidable.' Which description is more honest? What evidence changes your answer?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Explain: Why might two historians, both looking at the same mission record, reach different conclusions about whether colonization was harmful?</a:t>
            </a:r>
            <a:endParaRPr lang="en-US" sz="1100" dirty="0"/>
          </a:p>
        </p:txBody>
      </p:sp>
      <p:sp>
        <p:nvSpPr>
          <p:cNvPr id="9" name="Shape 7"/>
          <p:cNvSpPr/>
          <p:nvPr/>
        </p:nvSpPr>
        <p:spPr>
          <a:xfrm>
            <a:off x="457200" y="4389120"/>
            <a:ext cx="8229600" cy="594360"/>
          </a:xfrm>
          <a:prstGeom prst="roundRect">
            <a:avLst>
              <a:gd name="adj" fmla="val 18462"/>
            </a:avLst>
          </a:prstGeom>
          <a:solidFill>
            <a:srgbClr val="FFF3DC"/>
          </a:solidFill>
          <a:ln w="19050">
            <a:solidFill>
              <a:srgbClr val="F5E6C8"/>
            </a:solidFill>
            <a:prstDash val="solid"/>
          </a:ln>
        </p:spPr>
      </p:sp>
      <p:sp>
        <p:nvSpPr>
          <p:cNvPr id="10" name="Text 8"/>
          <p:cNvSpPr/>
          <p:nvPr/>
        </p:nvSpPr>
        <p:spPr>
          <a:xfrm>
            <a:off x="594360" y="4443984"/>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94360" y="4645152"/>
            <a:ext cx="7955280" cy="2743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______ because the evidence shows ______."</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challenge that by saying ______ because ______."</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3200400" cy="347472"/>
          </a:xfrm>
          <a:prstGeom prst="roundRect">
            <a:avLst>
              <a:gd name="adj" fmla="val 26316"/>
            </a:avLst>
          </a:prstGeom>
          <a:solidFill>
            <a:srgbClr val="1A8A7D"/>
          </a:solidFill>
          <a:ln w="12700">
            <a:solidFill>
              <a:srgbClr val="1A8A7D"/>
            </a:solidFill>
            <a:prstDash val="solid"/>
          </a:ln>
        </p:spPr>
      </p:sp>
      <p:sp>
        <p:nvSpPr>
          <p:cNvPr id="6" name="Text 3"/>
          <p:cNvSpPr/>
          <p:nvPr/>
        </p:nvSpPr>
        <p:spPr>
          <a:xfrm>
            <a:off x="457200" y="274320"/>
            <a:ext cx="3200400" cy="347472"/>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UNIT 4 — THE FULL PICTURE</a:t>
            </a:r>
            <a:endParaRPr lang="en-US" sz="1100" dirty="0"/>
          </a:p>
        </p:txBody>
      </p:sp>
      <p:sp>
        <p:nvSpPr>
          <p:cNvPr id="7" name="Text 4"/>
          <p:cNvSpPr/>
          <p:nvPr/>
        </p:nvSpPr>
        <p:spPr>
          <a:xfrm>
            <a:off x="457200" y="777240"/>
            <a:ext cx="8229600" cy="475488"/>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One Whole Story — Four Pieces</a:t>
            </a:r>
            <a:endParaRPr lang="en-US" sz="2600" dirty="0"/>
          </a:p>
        </p:txBody>
      </p:sp>
      <p:sp>
        <p:nvSpPr>
          <p:cNvPr id="8" name="Shape 5"/>
          <p:cNvSpPr/>
          <p:nvPr/>
        </p:nvSpPr>
        <p:spPr>
          <a:xfrm>
            <a:off x="457200" y="1417320"/>
            <a:ext cx="1920240" cy="1920240"/>
          </a:xfrm>
          <a:prstGeom prst="roundRect">
            <a:avLst>
              <a:gd name="adj" fmla="val 6667"/>
            </a:avLst>
          </a:prstGeom>
          <a:solidFill>
            <a:srgbClr val="1A2D5A"/>
          </a:solidFill>
          <a:ln w="12700">
            <a:solidFill>
              <a:srgbClr val="3A5080"/>
            </a:solidFill>
            <a:prstDash val="solid"/>
          </a:ln>
        </p:spPr>
      </p:sp>
      <p:sp>
        <p:nvSpPr>
          <p:cNvPr id="9" name="Text 6"/>
          <p:cNvSpPr/>
          <p:nvPr/>
        </p:nvSpPr>
        <p:spPr>
          <a:xfrm>
            <a:off x="548640" y="1508760"/>
            <a:ext cx="1737360" cy="292608"/>
          </a:xfrm>
          <a:prstGeom prst="rect">
            <a:avLst/>
          </a:prstGeom>
          <a:noFill/>
          <a:ln/>
        </p:spPr>
        <p:txBody>
          <a:bodyPr wrap="square" lIns="0" tIns="0" rIns="0" bIns="0" rtlCol="0" anchor="ctr"/>
          <a:lstStyle/>
          <a:p>
            <a:pPr algn="ctr" indent="0" marL="0">
              <a:buNone/>
            </a:pPr>
            <a:r>
              <a:rPr lang="en-US" sz="1000" b="1" spc="100" kern="0" dirty="0">
                <a:solidFill>
                  <a:srgbClr val="55C8E8"/>
                </a:solidFill>
                <a:latin typeface="Calibri" pitchFamily="34" charset="0"/>
                <a:ea typeface="Calibri" pitchFamily="34" charset="-122"/>
                <a:cs typeface="Calibri" pitchFamily="34" charset="-120"/>
              </a:rPr>
              <a:t>4.04.01</a:t>
            </a:r>
            <a:endParaRPr lang="en-US" sz="1000" dirty="0"/>
          </a:p>
        </p:txBody>
      </p:sp>
      <p:sp>
        <p:nvSpPr>
          <p:cNvPr id="10" name="Text 7"/>
          <p:cNvSpPr/>
          <p:nvPr/>
        </p:nvSpPr>
        <p:spPr>
          <a:xfrm>
            <a:off x="548640" y="1828800"/>
            <a:ext cx="17373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Ships Arrive</a:t>
            </a:r>
            <a:endParaRPr lang="en-US" sz="1400" dirty="0"/>
          </a:p>
        </p:txBody>
      </p:sp>
      <p:sp>
        <p:nvSpPr>
          <p:cNvPr id="11" name="Text 8"/>
          <p:cNvSpPr/>
          <p:nvPr/>
        </p:nvSpPr>
        <p:spPr>
          <a:xfrm>
            <a:off x="548640" y="2560320"/>
            <a:ext cx="1737360" cy="658368"/>
          </a:xfrm>
          <a:prstGeom prst="rect">
            <a:avLst/>
          </a:prstGeom>
          <a:noFill/>
          <a:ln/>
        </p:spPr>
        <p:txBody>
          <a:bodyPr wrap="square" lIns="0" tIns="0" rIns="0" bIns="0" rtlCol="0" anchor="t"/>
          <a:lstStyle/>
          <a:p>
            <a:pPr algn="ctr" indent="0" marL="0">
              <a:buNone/>
            </a:pPr>
            <a:r>
              <a:rPr lang="en-US" sz="1100" i="1" dirty="0">
                <a:solidFill>
                  <a:srgbClr val="B0C0D8"/>
                </a:solidFill>
                <a:latin typeface="Calibri" pitchFamily="34" charset="0"/>
                <a:ea typeface="Calibri" pitchFamily="34" charset="-122"/>
                <a:cs typeface="Calibri" pitchFamily="34" charset="-120"/>
              </a:rPr>
              <a:t>Who came and how they traveled</a:t>
            </a:r>
            <a:endParaRPr lang="en-US" sz="1100" dirty="0"/>
          </a:p>
        </p:txBody>
      </p:sp>
      <p:sp>
        <p:nvSpPr>
          <p:cNvPr id="12" name="Shape 9"/>
          <p:cNvSpPr/>
          <p:nvPr/>
        </p:nvSpPr>
        <p:spPr>
          <a:xfrm>
            <a:off x="2560320" y="1417320"/>
            <a:ext cx="1920240" cy="1920240"/>
          </a:xfrm>
          <a:prstGeom prst="roundRect">
            <a:avLst>
              <a:gd name="adj" fmla="val 6667"/>
            </a:avLst>
          </a:prstGeom>
          <a:solidFill>
            <a:srgbClr val="1A2D5A"/>
          </a:solidFill>
          <a:ln w="12700">
            <a:solidFill>
              <a:srgbClr val="3A5080"/>
            </a:solidFill>
            <a:prstDash val="solid"/>
          </a:ln>
        </p:spPr>
      </p:sp>
      <p:sp>
        <p:nvSpPr>
          <p:cNvPr id="13" name="Text 10"/>
          <p:cNvSpPr/>
          <p:nvPr/>
        </p:nvSpPr>
        <p:spPr>
          <a:xfrm>
            <a:off x="2651760" y="1508760"/>
            <a:ext cx="1737360" cy="292608"/>
          </a:xfrm>
          <a:prstGeom prst="rect">
            <a:avLst/>
          </a:prstGeom>
          <a:noFill/>
          <a:ln/>
        </p:spPr>
        <p:txBody>
          <a:bodyPr wrap="square" lIns="0" tIns="0" rIns="0" bIns="0" rtlCol="0" anchor="ctr"/>
          <a:lstStyle/>
          <a:p>
            <a:pPr algn="ctr" indent="0" marL="0">
              <a:buNone/>
            </a:pPr>
            <a:r>
              <a:rPr lang="en-US" sz="1000" b="1" spc="100" kern="0" dirty="0">
                <a:solidFill>
                  <a:srgbClr val="55C8E8"/>
                </a:solidFill>
                <a:latin typeface="Calibri" pitchFamily="34" charset="0"/>
                <a:ea typeface="Calibri" pitchFamily="34" charset="-122"/>
                <a:cs typeface="Calibri" pitchFamily="34" charset="-120"/>
              </a:rPr>
              <a:t>4.04.02</a:t>
            </a:r>
            <a:endParaRPr lang="en-US" sz="1000" dirty="0"/>
          </a:p>
        </p:txBody>
      </p:sp>
      <p:sp>
        <p:nvSpPr>
          <p:cNvPr id="14" name="Text 11"/>
          <p:cNvSpPr/>
          <p:nvPr/>
        </p:nvSpPr>
        <p:spPr>
          <a:xfrm>
            <a:off x="2651760" y="1828800"/>
            <a:ext cx="17373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God, Gold, Glory</a:t>
            </a:r>
            <a:endParaRPr lang="en-US" sz="1400" dirty="0"/>
          </a:p>
        </p:txBody>
      </p:sp>
      <p:sp>
        <p:nvSpPr>
          <p:cNvPr id="15" name="Text 12"/>
          <p:cNvSpPr/>
          <p:nvPr/>
        </p:nvSpPr>
        <p:spPr>
          <a:xfrm>
            <a:off x="2651760" y="2560320"/>
            <a:ext cx="1737360" cy="658368"/>
          </a:xfrm>
          <a:prstGeom prst="rect">
            <a:avLst/>
          </a:prstGeom>
          <a:noFill/>
          <a:ln/>
        </p:spPr>
        <p:txBody>
          <a:bodyPr wrap="square" lIns="0" tIns="0" rIns="0" bIns="0" rtlCol="0" anchor="t"/>
          <a:lstStyle/>
          <a:p>
            <a:pPr algn="ctr" indent="0" marL="0">
              <a:buNone/>
            </a:pPr>
            <a:r>
              <a:rPr lang="en-US" sz="1100" i="1" dirty="0">
                <a:solidFill>
                  <a:srgbClr val="B0C0D8"/>
                </a:solidFill>
                <a:latin typeface="Calibri" pitchFamily="34" charset="0"/>
                <a:ea typeface="Calibri" pitchFamily="34" charset="-122"/>
                <a:cs typeface="Calibri" pitchFamily="34" charset="-120"/>
              </a:rPr>
              <a:t>Why Europeans kept sailing</a:t>
            </a:r>
            <a:endParaRPr lang="en-US" sz="1100" dirty="0"/>
          </a:p>
        </p:txBody>
      </p:sp>
      <p:sp>
        <p:nvSpPr>
          <p:cNvPr id="16" name="Shape 13"/>
          <p:cNvSpPr/>
          <p:nvPr/>
        </p:nvSpPr>
        <p:spPr>
          <a:xfrm>
            <a:off x="4663440" y="1417320"/>
            <a:ext cx="1920240" cy="1920240"/>
          </a:xfrm>
          <a:prstGeom prst="roundRect">
            <a:avLst>
              <a:gd name="adj" fmla="val 6667"/>
            </a:avLst>
          </a:prstGeom>
          <a:solidFill>
            <a:srgbClr val="1A2D5A"/>
          </a:solidFill>
          <a:ln w="12700">
            <a:solidFill>
              <a:srgbClr val="3A5080"/>
            </a:solidFill>
            <a:prstDash val="solid"/>
          </a:ln>
        </p:spPr>
      </p:sp>
      <p:sp>
        <p:nvSpPr>
          <p:cNvPr id="17" name="Text 14"/>
          <p:cNvSpPr/>
          <p:nvPr/>
        </p:nvSpPr>
        <p:spPr>
          <a:xfrm>
            <a:off x="4754880" y="1508760"/>
            <a:ext cx="1737360" cy="292608"/>
          </a:xfrm>
          <a:prstGeom prst="rect">
            <a:avLst/>
          </a:prstGeom>
          <a:noFill/>
          <a:ln/>
        </p:spPr>
        <p:txBody>
          <a:bodyPr wrap="square" lIns="0" tIns="0" rIns="0" bIns="0" rtlCol="0" anchor="ctr"/>
          <a:lstStyle/>
          <a:p>
            <a:pPr algn="ctr" indent="0" marL="0">
              <a:buNone/>
            </a:pPr>
            <a:r>
              <a:rPr lang="en-US" sz="1000" b="1" spc="100" kern="0" dirty="0">
                <a:solidFill>
                  <a:srgbClr val="55C8E8"/>
                </a:solidFill>
                <a:latin typeface="Calibri" pitchFamily="34" charset="0"/>
                <a:ea typeface="Calibri" pitchFamily="34" charset="-122"/>
                <a:cs typeface="Calibri" pitchFamily="34" charset="-120"/>
              </a:rPr>
              <a:t>4.04.03</a:t>
            </a:r>
            <a:endParaRPr lang="en-US" sz="1000" dirty="0"/>
          </a:p>
        </p:txBody>
      </p:sp>
      <p:sp>
        <p:nvSpPr>
          <p:cNvPr id="18" name="Text 15"/>
          <p:cNvSpPr/>
          <p:nvPr/>
        </p:nvSpPr>
        <p:spPr>
          <a:xfrm>
            <a:off x="4754880" y="1828800"/>
            <a:ext cx="17373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Three Flags</a:t>
            </a:r>
            <a:endParaRPr lang="en-US" sz="1400" dirty="0"/>
          </a:p>
        </p:txBody>
      </p:sp>
      <p:sp>
        <p:nvSpPr>
          <p:cNvPr id="19" name="Text 16"/>
          <p:cNvSpPr/>
          <p:nvPr/>
        </p:nvSpPr>
        <p:spPr>
          <a:xfrm>
            <a:off x="4754880" y="2560320"/>
            <a:ext cx="1737360" cy="658368"/>
          </a:xfrm>
          <a:prstGeom prst="rect">
            <a:avLst/>
          </a:prstGeom>
          <a:noFill/>
          <a:ln/>
        </p:spPr>
        <p:txBody>
          <a:bodyPr wrap="square" lIns="0" tIns="0" rIns="0" bIns="0" rtlCol="0" anchor="t"/>
          <a:lstStyle/>
          <a:p>
            <a:pPr algn="ctr" indent="0" marL="0">
              <a:buNone/>
            </a:pPr>
            <a:r>
              <a:rPr lang="en-US" sz="1100" i="1" dirty="0">
                <a:solidFill>
                  <a:srgbClr val="B0C0D8"/>
                </a:solidFill>
                <a:latin typeface="Calibri" pitchFamily="34" charset="0"/>
                <a:ea typeface="Calibri" pitchFamily="34" charset="-122"/>
                <a:cs typeface="Calibri" pitchFamily="34" charset="-120"/>
              </a:rPr>
              <a:t>Spain, France, England compete</a:t>
            </a:r>
            <a:endParaRPr lang="en-US" sz="1100" dirty="0"/>
          </a:p>
        </p:txBody>
      </p:sp>
      <p:sp>
        <p:nvSpPr>
          <p:cNvPr id="20" name="Shape 17"/>
          <p:cNvSpPr/>
          <p:nvPr/>
        </p:nvSpPr>
        <p:spPr>
          <a:xfrm>
            <a:off x="6766560" y="1417320"/>
            <a:ext cx="1920240" cy="1920240"/>
          </a:xfrm>
          <a:prstGeom prst="roundRect">
            <a:avLst>
              <a:gd name="adj" fmla="val 6667"/>
            </a:avLst>
          </a:prstGeom>
          <a:solidFill>
            <a:srgbClr val="D4943A"/>
          </a:solidFill>
          <a:ln w="25400">
            <a:solidFill>
              <a:srgbClr val="FFF3DC"/>
            </a:solidFill>
            <a:prstDash val="solid"/>
          </a:ln>
        </p:spPr>
      </p:sp>
      <p:sp>
        <p:nvSpPr>
          <p:cNvPr id="21" name="Text 18"/>
          <p:cNvSpPr/>
          <p:nvPr/>
        </p:nvSpPr>
        <p:spPr>
          <a:xfrm>
            <a:off x="6858000" y="1508760"/>
            <a:ext cx="1737360" cy="292608"/>
          </a:xfrm>
          <a:prstGeom prst="rect">
            <a:avLst/>
          </a:prstGeom>
          <a:noFill/>
          <a:ln/>
        </p:spPr>
        <p:txBody>
          <a:bodyPr wrap="square" lIns="0" tIns="0" rIns="0" bIns="0" rtlCol="0" anchor="ctr"/>
          <a:lstStyle/>
          <a:p>
            <a:pPr algn="ctr" indent="0" marL="0">
              <a:buNone/>
            </a:pPr>
            <a:r>
              <a:rPr lang="en-US" sz="1000" b="1" spc="100" kern="0" dirty="0">
                <a:solidFill>
                  <a:srgbClr val="0E1C42"/>
                </a:solidFill>
                <a:latin typeface="Calibri" pitchFamily="34" charset="0"/>
                <a:ea typeface="Calibri" pitchFamily="34" charset="-122"/>
                <a:cs typeface="Calibri" pitchFamily="34" charset="-120"/>
              </a:rPr>
              <a:t>4.04.04</a:t>
            </a:r>
            <a:endParaRPr lang="en-US" sz="1000" dirty="0"/>
          </a:p>
        </p:txBody>
      </p:sp>
      <p:sp>
        <p:nvSpPr>
          <p:cNvPr id="22" name="Text 19"/>
          <p:cNvSpPr/>
          <p:nvPr/>
        </p:nvSpPr>
        <p:spPr>
          <a:xfrm>
            <a:off x="6858000" y="1828800"/>
            <a:ext cx="17373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Causes + Effects</a:t>
            </a:r>
            <a:endParaRPr lang="en-US" sz="1400" dirty="0"/>
          </a:p>
        </p:txBody>
      </p:sp>
      <p:sp>
        <p:nvSpPr>
          <p:cNvPr id="23" name="Text 20"/>
          <p:cNvSpPr/>
          <p:nvPr/>
        </p:nvSpPr>
        <p:spPr>
          <a:xfrm>
            <a:off x="6858000" y="2560320"/>
            <a:ext cx="1737360" cy="658368"/>
          </a:xfrm>
          <a:prstGeom prst="rect">
            <a:avLst/>
          </a:prstGeom>
          <a:noFill/>
          <a:ln/>
        </p:spPr>
        <p:txBody>
          <a:bodyPr wrap="square" lIns="0" tIns="0" rIns="0" bIns="0" rtlCol="0" anchor="t"/>
          <a:lstStyle/>
          <a:p>
            <a:pPr algn="ctr" indent="0" marL="0">
              <a:buNone/>
            </a:pPr>
            <a:r>
              <a:rPr lang="en-US" sz="1100" i="1" dirty="0">
                <a:solidFill>
                  <a:srgbClr val="0E1C42"/>
                </a:solidFill>
                <a:latin typeface="Calibri" pitchFamily="34" charset="0"/>
                <a:ea typeface="Calibri" pitchFamily="34" charset="-122"/>
                <a:cs typeface="Calibri" pitchFamily="34" charset="-120"/>
              </a:rPr>
              <a:t>What colonization caused — TODAY</a:t>
            </a:r>
            <a:endParaRPr lang="en-US" sz="1100" dirty="0"/>
          </a:p>
        </p:txBody>
      </p:sp>
      <p:sp>
        <p:nvSpPr>
          <p:cNvPr id="24" name="Shape 21"/>
          <p:cNvSpPr/>
          <p:nvPr/>
        </p:nvSpPr>
        <p:spPr>
          <a:xfrm>
            <a:off x="2441448" y="2331720"/>
            <a:ext cx="146304" cy="45720"/>
          </a:xfrm>
          <a:prstGeom prst="rect">
            <a:avLst/>
          </a:prstGeom>
          <a:solidFill>
            <a:srgbClr val="55C8E8"/>
          </a:solidFill>
          <a:ln w="12700">
            <a:solidFill>
              <a:srgbClr val="55C8E8"/>
            </a:solidFill>
            <a:prstDash val="solid"/>
          </a:ln>
        </p:spPr>
      </p:sp>
      <p:sp>
        <p:nvSpPr>
          <p:cNvPr id="25" name="Shape 22"/>
          <p:cNvSpPr/>
          <p:nvPr/>
        </p:nvSpPr>
        <p:spPr>
          <a:xfrm>
            <a:off x="4544568" y="2331720"/>
            <a:ext cx="146304" cy="45720"/>
          </a:xfrm>
          <a:prstGeom prst="rect">
            <a:avLst/>
          </a:prstGeom>
          <a:solidFill>
            <a:srgbClr val="55C8E8"/>
          </a:solidFill>
          <a:ln w="12700">
            <a:solidFill>
              <a:srgbClr val="55C8E8"/>
            </a:solidFill>
            <a:prstDash val="solid"/>
          </a:ln>
        </p:spPr>
      </p:sp>
      <p:sp>
        <p:nvSpPr>
          <p:cNvPr id="26" name="Shape 23"/>
          <p:cNvSpPr/>
          <p:nvPr/>
        </p:nvSpPr>
        <p:spPr>
          <a:xfrm>
            <a:off x="6647688" y="2331720"/>
            <a:ext cx="146304" cy="45720"/>
          </a:xfrm>
          <a:prstGeom prst="rect">
            <a:avLst/>
          </a:prstGeom>
          <a:solidFill>
            <a:srgbClr val="55C8E8"/>
          </a:solidFill>
          <a:ln w="12700">
            <a:solidFill>
              <a:srgbClr val="55C8E8"/>
            </a:solidFill>
            <a:prstDash val="solid"/>
          </a:ln>
        </p:spPr>
      </p:sp>
      <p:sp>
        <p:nvSpPr>
          <p:cNvPr id="27" name="Shape 24"/>
          <p:cNvSpPr/>
          <p:nvPr/>
        </p:nvSpPr>
        <p:spPr>
          <a:xfrm>
            <a:off x="457200" y="3520440"/>
            <a:ext cx="8229600" cy="1005840"/>
          </a:xfrm>
          <a:prstGeom prst="roundRect">
            <a:avLst>
              <a:gd name="adj" fmla="val 12727"/>
            </a:avLst>
          </a:prstGeom>
          <a:solidFill>
            <a:srgbClr val="1A2D5A"/>
          </a:solidFill>
          <a:ln w="25400">
            <a:solidFill>
              <a:srgbClr val="D4943A"/>
            </a:solidFill>
            <a:prstDash val="solid"/>
          </a:ln>
        </p:spPr>
      </p:sp>
      <p:sp>
        <p:nvSpPr>
          <p:cNvPr id="28" name="Text 25"/>
          <p:cNvSpPr/>
          <p:nvPr/>
        </p:nvSpPr>
        <p:spPr>
          <a:xfrm>
            <a:off x="640080" y="3575304"/>
            <a:ext cx="3657600" cy="23774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TRANSFERABLE PATTERN</a:t>
            </a:r>
            <a:endParaRPr lang="en-US" sz="900" dirty="0"/>
          </a:p>
        </p:txBody>
      </p:sp>
      <p:sp>
        <p:nvSpPr>
          <p:cNvPr id="29" name="Text 26"/>
          <p:cNvSpPr/>
          <p:nvPr/>
        </p:nvSpPr>
        <p:spPr>
          <a:xfrm>
            <a:off x="640080" y="3840480"/>
            <a:ext cx="7863840" cy="59436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When two civilizations make contact, BOTH sides are changed — and the effects last for generations. The people who had less military power often bore the greatest cost.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2560320" cy="347472"/>
          </a:xfrm>
          <a:prstGeom prst="roundRect">
            <a:avLst>
              <a:gd name="adj" fmla="val 26316"/>
            </a:avLst>
          </a:prstGeom>
          <a:solidFill>
            <a:srgbClr val="D4943A"/>
          </a:solidFill>
          <a:ln w="12700">
            <a:solidFill>
              <a:srgbClr val="D4943A"/>
            </a:solidFill>
            <a:prstDash val="solid"/>
          </a:ln>
        </p:spPr>
      </p:sp>
      <p:sp>
        <p:nvSpPr>
          <p:cNvPr id="6" name="Text 3"/>
          <p:cNvSpPr/>
          <p:nvPr/>
        </p:nvSpPr>
        <p:spPr>
          <a:xfrm>
            <a:off x="457200" y="274320"/>
            <a:ext cx="2560320" cy="347472"/>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KEY CONCEPT — CAUSES</a:t>
            </a:r>
            <a:endParaRPr lang="en-US" sz="1000" dirty="0"/>
          </a:p>
        </p:txBody>
      </p:sp>
      <p:sp>
        <p:nvSpPr>
          <p:cNvPr id="7" name="Text 4"/>
          <p:cNvSpPr/>
          <p:nvPr/>
        </p:nvSpPr>
        <p:spPr>
          <a:xfrm>
            <a:off x="457200" y="795528"/>
            <a:ext cx="2743200" cy="347472"/>
          </a:xfrm>
          <a:prstGeom prst="rect">
            <a:avLst/>
          </a:prstGeom>
          <a:noFill/>
          <a:ln/>
        </p:spPr>
        <p:txBody>
          <a:bodyPr wrap="square" lIns="0" tIns="0" rIns="0" bIns="0" rtlCol="0" anchor="ctr"/>
          <a:lstStyle/>
          <a:p>
            <a:pPr algn="l" indent="0" marL="0">
              <a:buNone/>
            </a:pPr>
            <a:r>
              <a:rPr lang="en-US" sz="1400" i="1" dirty="0">
                <a:solidFill>
                  <a:srgbClr val="D4943A"/>
                </a:solidFill>
                <a:latin typeface="Calibri" pitchFamily="34" charset="0"/>
                <a:ea typeface="Calibri" pitchFamily="34" charset="-122"/>
                <a:cs typeface="Calibri" pitchFamily="34" charset="-120"/>
              </a:rPr>
              <a:t>You found it:</a:t>
            </a:r>
            <a:endParaRPr lang="en-US" sz="1400" dirty="0"/>
          </a:p>
        </p:txBody>
      </p:sp>
      <p:sp>
        <p:nvSpPr>
          <p:cNvPr id="8" name="Text 5"/>
          <p:cNvSpPr/>
          <p:nvPr/>
        </p:nvSpPr>
        <p:spPr>
          <a:xfrm>
            <a:off x="457200" y="1170432"/>
            <a:ext cx="8229600" cy="59436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Why Did Europeans Come to Florida?</a:t>
            </a:r>
            <a:endParaRPr lang="en-US" sz="3000" dirty="0"/>
          </a:p>
        </p:txBody>
      </p:sp>
      <p:sp>
        <p:nvSpPr>
          <p:cNvPr id="9" name="Shape 6"/>
          <p:cNvSpPr/>
          <p:nvPr/>
        </p:nvSpPr>
        <p:spPr>
          <a:xfrm>
            <a:off x="457200" y="1965960"/>
            <a:ext cx="2651760" cy="2286000"/>
          </a:xfrm>
          <a:prstGeom prst="roundRect">
            <a:avLst>
              <a:gd name="adj" fmla="val 6000"/>
            </a:avLst>
          </a:prstGeom>
          <a:solidFill>
            <a:srgbClr val="1A2D5A"/>
          </a:solidFill>
          <a:ln w="25400">
            <a:solidFill>
              <a:srgbClr val="1A8A7D"/>
            </a:solidFill>
            <a:prstDash val="solid"/>
          </a:ln>
        </p:spPr>
      </p:sp>
      <p:sp>
        <p:nvSpPr>
          <p:cNvPr id="10" name="Shape 7"/>
          <p:cNvSpPr/>
          <p:nvPr/>
        </p:nvSpPr>
        <p:spPr>
          <a:xfrm>
            <a:off x="1005840" y="2029968"/>
            <a:ext cx="1554480" cy="402336"/>
          </a:xfrm>
          <a:prstGeom prst="roundRect">
            <a:avLst>
              <a:gd name="adj" fmla="val 22727"/>
            </a:avLst>
          </a:prstGeom>
          <a:solidFill>
            <a:srgbClr val="1A8A7D"/>
          </a:solidFill>
          <a:ln w="12700">
            <a:solidFill>
              <a:srgbClr val="1A8A7D"/>
            </a:solidFill>
            <a:prstDash val="solid"/>
          </a:ln>
        </p:spPr>
      </p:sp>
      <p:sp>
        <p:nvSpPr>
          <p:cNvPr id="11" name="Text 8"/>
          <p:cNvSpPr/>
          <p:nvPr/>
        </p:nvSpPr>
        <p:spPr>
          <a:xfrm>
            <a:off x="1005840" y="2029968"/>
            <a:ext cx="1554480" cy="402336"/>
          </a:xfrm>
          <a:prstGeom prst="rect">
            <a:avLst/>
          </a:prstGeom>
          <a:noFill/>
          <a:ln/>
        </p:spPr>
        <p:txBody>
          <a:bodyPr wrap="square" lIns="0" tIns="0" rIns="0" bIns="0" rtlCol="0" anchor="ctr"/>
          <a:lstStyle/>
          <a:p>
            <a:pPr algn="ctr" indent="0" marL="0">
              <a:buNone/>
            </a:pPr>
            <a:r>
              <a:rPr lang="en-US" sz="1500" b="1" spc="200" kern="0" dirty="0">
                <a:solidFill>
                  <a:srgbClr val="FFFFFF"/>
                </a:solidFill>
                <a:latin typeface="Calibri" pitchFamily="34" charset="0"/>
                <a:ea typeface="Calibri" pitchFamily="34" charset="-122"/>
                <a:cs typeface="Calibri" pitchFamily="34" charset="-120"/>
              </a:rPr>
              <a:t>GOD</a:t>
            </a:r>
            <a:endParaRPr lang="en-US" sz="1500" dirty="0"/>
          </a:p>
        </p:txBody>
      </p:sp>
      <p:sp>
        <p:nvSpPr>
          <p:cNvPr id="12" name="Text 9"/>
          <p:cNvSpPr/>
          <p:nvPr/>
        </p:nvSpPr>
        <p:spPr>
          <a:xfrm>
            <a:off x="594360" y="2514600"/>
            <a:ext cx="2377440" cy="1600200"/>
          </a:xfrm>
          <a:prstGeom prst="rect">
            <a:avLst/>
          </a:prstGeom>
          <a:noFill/>
          <a:ln/>
        </p:spPr>
        <p:txBody>
          <a:bodyPr wrap="square" lIns="0" tIns="0" rIns="0" bIns="0" rtlCol="0" anchor="t"/>
          <a:lstStyle/>
          <a:p>
            <a:pPr algn="l" indent="0" marL="0">
              <a:buNone/>
            </a:pPr>
            <a:r>
              <a:rPr lang="en-US" sz="1200" dirty="0">
                <a:solidFill>
                  <a:srgbClr val="F0F2F8"/>
                </a:solidFill>
                <a:latin typeface="Calibri" pitchFamily="34" charset="0"/>
                <a:ea typeface="Calibri" pitchFamily="34" charset="-122"/>
                <a:cs typeface="Calibri" pitchFamily="34" charset="-120"/>
              </a:rPr>
              <a:t>Spanish priests wanted to convert First Peoples to Christianity. Missions were built across Florida to spread the Catholic faith.</a:t>
            </a:r>
            <a:endParaRPr lang="en-US" sz="1200" dirty="0"/>
          </a:p>
        </p:txBody>
      </p:sp>
      <p:sp>
        <p:nvSpPr>
          <p:cNvPr id="13" name="Shape 10"/>
          <p:cNvSpPr/>
          <p:nvPr/>
        </p:nvSpPr>
        <p:spPr>
          <a:xfrm>
            <a:off x="3291840" y="1965960"/>
            <a:ext cx="2651760" cy="2286000"/>
          </a:xfrm>
          <a:prstGeom prst="roundRect">
            <a:avLst>
              <a:gd name="adj" fmla="val 6000"/>
            </a:avLst>
          </a:prstGeom>
          <a:solidFill>
            <a:srgbClr val="1A2D5A"/>
          </a:solidFill>
          <a:ln w="25400">
            <a:solidFill>
              <a:srgbClr val="D4943A"/>
            </a:solidFill>
            <a:prstDash val="solid"/>
          </a:ln>
        </p:spPr>
      </p:sp>
      <p:sp>
        <p:nvSpPr>
          <p:cNvPr id="14" name="Shape 11"/>
          <p:cNvSpPr/>
          <p:nvPr/>
        </p:nvSpPr>
        <p:spPr>
          <a:xfrm>
            <a:off x="3840480" y="2029968"/>
            <a:ext cx="1554480" cy="402336"/>
          </a:xfrm>
          <a:prstGeom prst="roundRect">
            <a:avLst>
              <a:gd name="adj" fmla="val 22727"/>
            </a:avLst>
          </a:prstGeom>
          <a:solidFill>
            <a:srgbClr val="D4943A"/>
          </a:solidFill>
          <a:ln w="12700">
            <a:solidFill>
              <a:srgbClr val="D4943A"/>
            </a:solidFill>
            <a:prstDash val="solid"/>
          </a:ln>
        </p:spPr>
      </p:sp>
      <p:sp>
        <p:nvSpPr>
          <p:cNvPr id="15" name="Text 12"/>
          <p:cNvSpPr/>
          <p:nvPr/>
        </p:nvSpPr>
        <p:spPr>
          <a:xfrm>
            <a:off x="3840480" y="2029968"/>
            <a:ext cx="1554480" cy="402336"/>
          </a:xfrm>
          <a:prstGeom prst="rect">
            <a:avLst/>
          </a:prstGeom>
          <a:noFill/>
          <a:ln/>
        </p:spPr>
        <p:txBody>
          <a:bodyPr wrap="square" lIns="0" tIns="0" rIns="0" bIns="0" rtlCol="0" anchor="ctr"/>
          <a:lstStyle/>
          <a:p>
            <a:pPr algn="ctr" indent="0" marL="0">
              <a:buNone/>
            </a:pPr>
            <a:r>
              <a:rPr lang="en-US" sz="1500" b="1" spc="200" kern="0" dirty="0">
                <a:solidFill>
                  <a:srgbClr val="FFFFFF"/>
                </a:solidFill>
                <a:latin typeface="Calibri" pitchFamily="34" charset="0"/>
                <a:ea typeface="Calibri" pitchFamily="34" charset="-122"/>
                <a:cs typeface="Calibri" pitchFamily="34" charset="-120"/>
              </a:rPr>
              <a:t>GOLD</a:t>
            </a:r>
            <a:endParaRPr lang="en-US" sz="1500" dirty="0"/>
          </a:p>
        </p:txBody>
      </p:sp>
      <p:sp>
        <p:nvSpPr>
          <p:cNvPr id="16" name="Text 13"/>
          <p:cNvSpPr/>
          <p:nvPr/>
        </p:nvSpPr>
        <p:spPr>
          <a:xfrm>
            <a:off x="3429000" y="2514600"/>
            <a:ext cx="2377440" cy="1600200"/>
          </a:xfrm>
          <a:prstGeom prst="rect">
            <a:avLst/>
          </a:prstGeom>
          <a:noFill/>
          <a:ln/>
        </p:spPr>
        <p:txBody>
          <a:bodyPr wrap="square" lIns="0" tIns="0" rIns="0" bIns="0" rtlCol="0" anchor="t"/>
          <a:lstStyle/>
          <a:p>
            <a:pPr algn="l" indent="0" marL="0">
              <a:buNone/>
            </a:pPr>
            <a:r>
              <a:rPr lang="en-US" sz="1200" dirty="0">
                <a:solidFill>
                  <a:srgbClr val="F0F2F8"/>
                </a:solidFill>
                <a:latin typeface="Calibri" pitchFamily="34" charset="0"/>
                <a:ea typeface="Calibri" pitchFamily="34" charset="-122"/>
                <a:cs typeface="Calibri" pitchFamily="34" charset="-120"/>
              </a:rPr>
              <a:t>Europeans believed Florida held riches — gold, silver, fertile land. Explorers searched for wealth and natural resources to send home.</a:t>
            </a:r>
            <a:endParaRPr lang="en-US" sz="1200" dirty="0"/>
          </a:p>
        </p:txBody>
      </p:sp>
      <p:sp>
        <p:nvSpPr>
          <p:cNvPr id="17" name="Shape 14"/>
          <p:cNvSpPr/>
          <p:nvPr/>
        </p:nvSpPr>
        <p:spPr>
          <a:xfrm>
            <a:off x="6126480" y="1965960"/>
            <a:ext cx="2651760" cy="2286000"/>
          </a:xfrm>
          <a:prstGeom prst="roundRect">
            <a:avLst>
              <a:gd name="adj" fmla="val 6000"/>
            </a:avLst>
          </a:prstGeom>
          <a:solidFill>
            <a:srgbClr val="1A2D5A"/>
          </a:solidFill>
          <a:ln w="25400">
            <a:solidFill>
              <a:srgbClr val="8B6FC0"/>
            </a:solidFill>
            <a:prstDash val="solid"/>
          </a:ln>
        </p:spPr>
      </p:sp>
      <p:sp>
        <p:nvSpPr>
          <p:cNvPr id="18" name="Shape 15"/>
          <p:cNvSpPr/>
          <p:nvPr/>
        </p:nvSpPr>
        <p:spPr>
          <a:xfrm>
            <a:off x="6675120" y="2029968"/>
            <a:ext cx="1554480" cy="402336"/>
          </a:xfrm>
          <a:prstGeom prst="roundRect">
            <a:avLst>
              <a:gd name="adj" fmla="val 22727"/>
            </a:avLst>
          </a:prstGeom>
          <a:solidFill>
            <a:srgbClr val="8B6FC0"/>
          </a:solidFill>
          <a:ln w="12700">
            <a:solidFill>
              <a:srgbClr val="8B6FC0"/>
            </a:solidFill>
            <a:prstDash val="solid"/>
          </a:ln>
        </p:spPr>
      </p:sp>
      <p:sp>
        <p:nvSpPr>
          <p:cNvPr id="19" name="Text 16"/>
          <p:cNvSpPr/>
          <p:nvPr/>
        </p:nvSpPr>
        <p:spPr>
          <a:xfrm>
            <a:off x="6675120" y="2029968"/>
            <a:ext cx="1554480" cy="402336"/>
          </a:xfrm>
          <a:prstGeom prst="rect">
            <a:avLst/>
          </a:prstGeom>
          <a:noFill/>
          <a:ln/>
        </p:spPr>
        <p:txBody>
          <a:bodyPr wrap="square" lIns="0" tIns="0" rIns="0" bIns="0" rtlCol="0" anchor="ctr"/>
          <a:lstStyle/>
          <a:p>
            <a:pPr algn="ctr" indent="0" marL="0">
              <a:buNone/>
            </a:pPr>
            <a:r>
              <a:rPr lang="en-US" sz="1500" b="1" spc="200" kern="0" dirty="0">
                <a:solidFill>
                  <a:srgbClr val="FFFFFF"/>
                </a:solidFill>
                <a:latin typeface="Calibri" pitchFamily="34" charset="0"/>
                <a:ea typeface="Calibri" pitchFamily="34" charset="-122"/>
                <a:cs typeface="Calibri" pitchFamily="34" charset="-120"/>
              </a:rPr>
              <a:t>GLORY</a:t>
            </a:r>
            <a:endParaRPr lang="en-US" sz="1500" dirty="0"/>
          </a:p>
        </p:txBody>
      </p:sp>
      <p:sp>
        <p:nvSpPr>
          <p:cNvPr id="20" name="Text 17"/>
          <p:cNvSpPr/>
          <p:nvPr/>
        </p:nvSpPr>
        <p:spPr>
          <a:xfrm>
            <a:off x="6263640" y="2514600"/>
            <a:ext cx="2377440" cy="1600200"/>
          </a:xfrm>
          <a:prstGeom prst="rect">
            <a:avLst/>
          </a:prstGeom>
          <a:noFill/>
          <a:ln/>
        </p:spPr>
        <p:txBody>
          <a:bodyPr wrap="square" lIns="0" tIns="0" rIns="0" bIns="0" rtlCol="0" anchor="t"/>
          <a:lstStyle/>
          <a:p>
            <a:pPr algn="l" indent="0" marL="0">
              <a:buNone/>
            </a:pPr>
            <a:r>
              <a:rPr lang="en-US" sz="1200" dirty="0">
                <a:solidFill>
                  <a:srgbClr val="F0F2F8"/>
                </a:solidFill>
                <a:latin typeface="Calibri" pitchFamily="34" charset="0"/>
                <a:ea typeface="Calibri" pitchFamily="34" charset="-122"/>
                <a:cs typeface="Calibri" pitchFamily="34" charset="-120"/>
              </a:rPr>
              <a:t>European kings competed for power and territory. Claiming Florida meant national prestige — and blocking rival nations.</a:t>
            </a:r>
            <a:endParaRPr lang="en-US" sz="1200" dirty="0"/>
          </a:p>
        </p:txBody>
      </p:sp>
      <p:sp>
        <p:nvSpPr>
          <p:cNvPr id="21" name="Shape 18"/>
          <p:cNvSpPr/>
          <p:nvPr/>
        </p:nvSpPr>
        <p:spPr>
          <a:xfrm>
            <a:off x="457200" y="4434840"/>
            <a:ext cx="8229600" cy="411480"/>
          </a:xfrm>
          <a:prstGeom prst="roundRect">
            <a:avLst>
              <a:gd name="adj" fmla="val 22222"/>
            </a:avLst>
          </a:prstGeom>
          <a:solidFill>
            <a:srgbClr val="0E1C42"/>
          </a:solidFill>
          <a:ln w="12700">
            <a:solidFill>
              <a:srgbClr val="55C8E8"/>
            </a:solidFill>
            <a:prstDash val="solid"/>
          </a:ln>
        </p:spPr>
      </p:sp>
      <p:sp>
        <p:nvSpPr>
          <p:cNvPr id="22" name="Text 19"/>
          <p:cNvSpPr/>
          <p:nvPr/>
        </p:nvSpPr>
        <p:spPr>
          <a:xfrm>
            <a:off x="594360" y="4434840"/>
            <a:ext cx="7955280" cy="411480"/>
          </a:xfrm>
          <a:prstGeom prst="rect">
            <a:avLst/>
          </a:prstGeom>
          <a:noFill/>
          <a:ln/>
        </p:spPr>
        <p:txBody>
          <a:bodyPr wrap="square" lIns="0" tIns="0" rIns="0" bIns="0" rtlCol="0" anchor="ctr"/>
          <a:lstStyle/>
          <a:p>
            <a:pPr algn="l" indent="0" marL="0">
              <a:buNone/>
            </a:pPr>
            <a:r>
              <a:rPr lang="en-US" sz="1200" i="1" dirty="0">
                <a:solidFill>
                  <a:srgbClr val="55C8E8"/>
                </a:solidFill>
                <a:latin typeface="Calibri" pitchFamily="34" charset="0"/>
                <a:ea typeface="Calibri" pitchFamily="34" charset="-122"/>
                <a:cs typeface="Calibri" pitchFamily="34" charset="-120"/>
              </a:rPr>
              <a:t>ALSO: Spain, France, and England competed for the same coastline — and explorers searched for new routes and resources across the Atlantic.</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109728"/>
          </a:xfrm>
          <a:prstGeom prst="rect">
            <a:avLst/>
          </a:prstGeom>
          <a:solidFill>
            <a:srgbClr val="E8636B"/>
          </a:solidFill>
          <a:ln w="12700">
            <a:solidFill>
              <a:srgbClr val="E8636B"/>
            </a:solidFill>
            <a:prstDash val="solid"/>
          </a:ln>
        </p:spPr>
      </p:sp>
      <p:sp>
        <p:nvSpPr>
          <p:cNvPr id="4" name="Text 2"/>
          <p:cNvSpPr/>
          <p:nvPr/>
        </p:nvSpPr>
        <p:spPr>
          <a:xfrm>
            <a:off x="457200" y="182880"/>
            <a:ext cx="3200400" cy="256032"/>
          </a:xfrm>
          <a:prstGeom prst="rect">
            <a:avLst/>
          </a:prstGeom>
          <a:noFill/>
          <a:ln/>
        </p:spPr>
        <p:txBody>
          <a:bodyPr wrap="square" lIns="0" tIns="0" rIns="0" bIns="0" rtlCol="0" anchor="ctr"/>
          <a:lstStyle/>
          <a:p>
            <a:pPr indent="0" marL="0">
              <a:buNone/>
            </a:pPr>
            <a:r>
              <a:rPr lang="en-US" sz="900" b="1" spc="200" kern="0" dirty="0">
                <a:solidFill>
                  <a:srgbClr val="E8636B"/>
                </a:solidFill>
                <a:latin typeface="Calibri" pitchFamily="34" charset="0"/>
                <a:ea typeface="Calibri" pitchFamily="34" charset="-122"/>
                <a:cs typeface="Calibri" pitchFamily="34" charset="-120"/>
              </a:rPr>
              <a:t>KEY CONCEPT — EFFECTS</a:t>
            </a:r>
            <a:endParaRPr lang="en-US" sz="900" dirty="0"/>
          </a:p>
        </p:txBody>
      </p:sp>
      <p:sp>
        <p:nvSpPr>
          <p:cNvPr id="5" name="Text 3"/>
          <p:cNvSpPr/>
          <p:nvPr/>
        </p:nvSpPr>
        <p:spPr>
          <a:xfrm>
            <a:off x="457200" y="475488"/>
            <a:ext cx="8229600" cy="475488"/>
          </a:xfrm>
          <a:prstGeom prst="rect">
            <a:avLst/>
          </a:prstGeom>
          <a:noFill/>
          <a:ln/>
        </p:spPr>
        <p:txBody>
          <a:bodyPr wrap="square" lIns="0" tIns="0" rIns="0" bIns="0" rtlCol="0" anchor="ctr"/>
          <a:lstStyle/>
          <a:p>
            <a:pPr algn="l" indent="0" marL="0">
              <a:buNone/>
            </a:pPr>
            <a:r>
              <a:rPr lang="en-US" sz="2600" b="1" dirty="0">
                <a:solidFill>
                  <a:srgbClr val="0E1C42"/>
                </a:solidFill>
                <a:latin typeface="Cambria" pitchFamily="34" charset="0"/>
                <a:ea typeface="Cambria" pitchFamily="34" charset="-122"/>
                <a:cs typeface="Cambria" pitchFamily="34" charset="-120"/>
              </a:rPr>
              <a:t>What Colonization Left Behind</a:t>
            </a:r>
            <a:endParaRPr lang="en-US" sz="2600" dirty="0"/>
          </a:p>
        </p:txBody>
      </p:sp>
      <p:sp>
        <p:nvSpPr>
          <p:cNvPr id="6" name="Shape 4"/>
          <p:cNvSpPr/>
          <p:nvPr/>
        </p:nvSpPr>
        <p:spPr>
          <a:xfrm>
            <a:off x="457200" y="1051560"/>
            <a:ext cx="3474720" cy="2834640"/>
          </a:xfrm>
          <a:prstGeom prst="roundRect">
            <a:avLst>
              <a:gd name="adj" fmla="val 3871"/>
            </a:avLst>
          </a:prstGeom>
          <a:solidFill>
            <a:srgbClr val="E2E8F4"/>
          </a:solidFill>
          <a:ln w="19050">
            <a:solidFill>
              <a:srgbClr val="B0B8CC"/>
            </a:solidFill>
            <a:prstDash val="dash"/>
          </a:ln>
        </p:spPr>
      </p:sp>
      <p:sp>
        <p:nvSpPr>
          <p:cNvPr id="7" name="Text 5"/>
          <p:cNvSpPr/>
          <p:nvPr/>
        </p:nvSpPr>
        <p:spPr>
          <a:xfrm>
            <a:off x="457200" y="1051560"/>
            <a:ext cx="34747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94360" y="1325880"/>
            <a:ext cx="3200400" cy="24688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of Florida showing mission locations (marked with crosses), St. Augustine settlement marked with a star, and arrows indicating disease spread across indigenous territories. No human figures.</a:t>
            </a:r>
            <a:endParaRPr lang="en-US" sz="1100" dirty="0"/>
          </a:p>
        </p:txBody>
      </p:sp>
      <p:sp>
        <p:nvSpPr>
          <p:cNvPr id="9" name="Shape 7"/>
          <p:cNvSpPr/>
          <p:nvPr/>
        </p:nvSpPr>
        <p:spPr>
          <a:xfrm>
            <a:off x="4114800" y="1051560"/>
            <a:ext cx="4572000" cy="621792"/>
          </a:xfrm>
          <a:prstGeom prst="roundRect">
            <a:avLst>
              <a:gd name="adj" fmla="val 14706"/>
            </a:avLst>
          </a:prstGeom>
          <a:solidFill>
            <a:srgbClr val="FFFFFF"/>
          </a:solidFill>
          <a:ln w="19050">
            <a:solidFill>
              <a:srgbClr val="E8636B"/>
            </a:solidFill>
            <a:prstDash val="solid"/>
          </a:ln>
        </p:spPr>
      </p:sp>
      <p:sp>
        <p:nvSpPr>
          <p:cNvPr id="10" name="Shape 8"/>
          <p:cNvSpPr/>
          <p:nvPr/>
        </p:nvSpPr>
        <p:spPr>
          <a:xfrm>
            <a:off x="4114800" y="1051560"/>
            <a:ext cx="73152" cy="621792"/>
          </a:xfrm>
          <a:prstGeom prst="rect">
            <a:avLst/>
          </a:prstGeom>
          <a:solidFill>
            <a:srgbClr val="E8636B"/>
          </a:solidFill>
          <a:ln w="12700">
            <a:solidFill>
              <a:srgbClr val="E8636B"/>
            </a:solidFill>
            <a:prstDash val="solid"/>
          </a:ln>
        </p:spPr>
      </p:sp>
      <p:sp>
        <p:nvSpPr>
          <p:cNvPr id="11" name="Text 9"/>
          <p:cNvSpPr/>
          <p:nvPr/>
        </p:nvSpPr>
        <p:spPr>
          <a:xfrm>
            <a:off x="4251960" y="1078992"/>
            <a:ext cx="4297680" cy="228600"/>
          </a:xfrm>
          <a:prstGeom prst="rect">
            <a:avLst/>
          </a:prstGeom>
          <a:noFill/>
          <a:ln/>
        </p:spPr>
        <p:txBody>
          <a:bodyPr wrap="square" lIns="0" tIns="0" rIns="0" bIns="0" rtlCol="0" anchor="ctr"/>
          <a:lstStyle/>
          <a:p>
            <a:pPr algn="l" indent="0" marL="0">
              <a:buNone/>
            </a:pPr>
            <a:r>
              <a:rPr lang="en-US" sz="1100" b="1" dirty="0">
                <a:solidFill>
                  <a:srgbClr val="0E1C42"/>
                </a:solidFill>
                <a:latin typeface="Calibri" pitchFamily="34" charset="0"/>
                <a:ea typeface="Calibri" pitchFamily="34" charset="-122"/>
                <a:cs typeface="Calibri" pitchFamily="34" charset="-120"/>
              </a:rPr>
              <a:t>Catastrophic Disease</a:t>
            </a:r>
            <a:endParaRPr lang="en-US" sz="1100" dirty="0"/>
          </a:p>
        </p:txBody>
      </p:sp>
      <p:sp>
        <p:nvSpPr>
          <p:cNvPr id="12" name="Text 10"/>
          <p:cNvSpPr/>
          <p:nvPr/>
        </p:nvSpPr>
        <p:spPr>
          <a:xfrm>
            <a:off x="4251960" y="1325880"/>
            <a:ext cx="4297680" cy="274320"/>
          </a:xfrm>
          <a:prstGeom prst="rect">
            <a:avLst/>
          </a:prstGeom>
          <a:noFill/>
          <a:ln/>
        </p:spPr>
        <p:txBody>
          <a:bodyPr wrap="square" lIns="0" tIns="0" rIns="0" bIns="0" rtlCol="0" anchor="t"/>
          <a:lstStyle/>
          <a:p>
            <a:pPr algn="l" indent="0" marL="0">
              <a:buNone/>
            </a:pPr>
            <a:r>
              <a:rPr lang="en-US" sz="1000" dirty="0">
                <a:solidFill>
                  <a:srgbClr val="5A6A8A"/>
                </a:solidFill>
                <a:latin typeface="Calibri" pitchFamily="34" charset="0"/>
                <a:ea typeface="Calibri" pitchFamily="34" charset="-122"/>
                <a:cs typeface="Calibri" pitchFamily="34" charset="-120"/>
              </a:rPr>
              <a:t>Smallpox and measles killed tens of thousands. Whole nations — Calusa, Timucua, Apalachee, Tequesta — were devastated in a single generation.</a:t>
            </a:r>
            <a:endParaRPr lang="en-US" sz="1000" dirty="0"/>
          </a:p>
        </p:txBody>
      </p:sp>
      <p:sp>
        <p:nvSpPr>
          <p:cNvPr id="13" name="Shape 11"/>
          <p:cNvSpPr/>
          <p:nvPr/>
        </p:nvSpPr>
        <p:spPr>
          <a:xfrm>
            <a:off x="4114800" y="1764792"/>
            <a:ext cx="4572000" cy="621792"/>
          </a:xfrm>
          <a:prstGeom prst="roundRect">
            <a:avLst>
              <a:gd name="adj" fmla="val 14706"/>
            </a:avLst>
          </a:prstGeom>
          <a:solidFill>
            <a:srgbClr val="FFFFFF"/>
          </a:solidFill>
          <a:ln w="19050">
            <a:solidFill>
              <a:srgbClr val="D4943A"/>
            </a:solidFill>
            <a:prstDash val="solid"/>
          </a:ln>
        </p:spPr>
      </p:sp>
      <p:sp>
        <p:nvSpPr>
          <p:cNvPr id="14" name="Shape 12"/>
          <p:cNvSpPr/>
          <p:nvPr/>
        </p:nvSpPr>
        <p:spPr>
          <a:xfrm>
            <a:off x="4114800" y="1764792"/>
            <a:ext cx="73152" cy="621792"/>
          </a:xfrm>
          <a:prstGeom prst="rect">
            <a:avLst/>
          </a:prstGeom>
          <a:solidFill>
            <a:srgbClr val="D4943A"/>
          </a:solidFill>
          <a:ln w="12700">
            <a:solidFill>
              <a:srgbClr val="D4943A"/>
            </a:solidFill>
            <a:prstDash val="solid"/>
          </a:ln>
        </p:spPr>
      </p:sp>
      <p:sp>
        <p:nvSpPr>
          <p:cNvPr id="15" name="Text 13"/>
          <p:cNvSpPr/>
          <p:nvPr/>
        </p:nvSpPr>
        <p:spPr>
          <a:xfrm>
            <a:off x="4251960" y="1792224"/>
            <a:ext cx="4297680" cy="228600"/>
          </a:xfrm>
          <a:prstGeom prst="rect">
            <a:avLst/>
          </a:prstGeom>
          <a:noFill/>
          <a:ln/>
        </p:spPr>
        <p:txBody>
          <a:bodyPr wrap="square" lIns="0" tIns="0" rIns="0" bIns="0" rtlCol="0" anchor="ctr"/>
          <a:lstStyle/>
          <a:p>
            <a:pPr algn="l" indent="0" marL="0">
              <a:buNone/>
            </a:pPr>
            <a:r>
              <a:rPr lang="en-US" sz="1100" b="1" dirty="0">
                <a:solidFill>
                  <a:srgbClr val="0E1C42"/>
                </a:solidFill>
                <a:latin typeface="Calibri" pitchFamily="34" charset="0"/>
                <a:ea typeface="Calibri" pitchFamily="34" charset="-122"/>
                <a:cs typeface="Calibri" pitchFamily="34" charset="-120"/>
              </a:rPr>
              <a:t>Spanish Missions</a:t>
            </a:r>
            <a:endParaRPr lang="en-US" sz="1100" dirty="0"/>
          </a:p>
        </p:txBody>
      </p:sp>
      <p:sp>
        <p:nvSpPr>
          <p:cNvPr id="16" name="Text 14"/>
          <p:cNvSpPr/>
          <p:nvPr/>
        </p:nvSpPr>
        <p:spPr>
          <a:xfrm>
            <a:off x="4251960" y="2039112"/>
            <a:ext cx="4297680" cy="274320"/>
          </a:xfrm>
          <a:prstGeom prst="rect">
            <a:avLst/>
          </a:prstGeom>
          <a:noFill/>
          <a:ln/>
        </p:spPr>
        <p:txBody>
          <a:bodyPr wrap="square" lIns="0" tIns="0" rIns="0" bIns="0" rtlCol="0" anchor="t"/>
          <a:lstStyle/>
          <a:p>
            <a:pPr algn="l" indent="0" marL="0">
              <a:buNone/>
            </a:pPr>
            <a:r>
              <a:rPr lang="en-US" sz="1000" dirty="0">
                <a:solidFill>
                  <a:srgbClr val="5A6A8A"/>
                </a:solidFill>
                <a:latin typeface="Calibri" pitchFamily="34" charset="0"/>
                <a:ea typeface="Calibri" pitchFamily="34" charset="-122"/>
                <a:cs typeface="Calibri" pitchFamily="34" charset="-120"/>
              </a:rPr>
              <a:t>Priests built dozens of mission communities where Christianity and Spanish were taught — sometimes peacefully, sometimes by force.</a:t>
            </a:r>
            <a:endParaRPr lang="en-US" sz="1000" dirty="0"/>
          </a:p>
        </p:txBody>
      </p:sp>
      <p:sp>
        <p:nvSpPr>
          <p:cNvPr id="17" name="Shape 15"/>
          <p:cNvSpPr/>
          <p:nvPr/>
        </p:nvSpPr>
        <p:spPr>
          <a:xfrm>
            <a:off x="4114800" y="2478024"/>
            <a:ext cx="4572000" cy="621792"/>
          </a:xfrm>
          <a:prstGeom prst="roundRect">
            <a:avLst>
              <a:gd name="adj" fmla="val 14706"/>
            </a:avLst>
          </a:prstGeom>
          <a:solidFill>
            <a:srgbClr val="FFFFFF"/>
          </a:solidFill>
          <a:ln w="19050">
            <a:solidFill>
              <a:srgbClr val="1A8A7D"/>
            </a:solidFill>
            <a:prstDash val="solid"/>
          </a:ln>
        </p:spPr>
      </p:sp>
      <p:sp>
        <p:nvSpPr>
          <p:cNvPr id="18" name="Shape 16"/>
          <p:cNvSpPr/>
          <p:nvPr/>
        </p:nvSpPr>
        <p:spPr>
          <a:xfrm>
            <a:off x="4114800" y="2478024"/>
            <a:ext cx="73152" cy="621792"/>
          </a:xfrm>
          <a:prstGeom prst="rect">
            <a:avLst/>
          </a:prstGeom>
          <a:solidFill>
            <a:srgbClr val="1A8A7D"/>
          </a:solidFill>
          <a:ln w="12700">
            <a:solidFill>
              <a:srgbClr val="1A8A7D"/>
            </a:solidFill>
            <a:prstDash val="solid"/>
          </a:ln>
        </p:spPr>
      </p:sp>
      <p:sp>
        <p:nvSpPr>
          <p:cNvPr id="19" name="Text 17"/>
          <p:cNvSpPr/>
          <p:nvPr/>
        </p:nvSpPr>
        <p:spPr>
          <a:xfrm>
            <a:off x="4251960" y="2505456"/>
            <a:ext cx="4297680" cy="228600"/>
          </a:xfrm>
          <a:prstGeom prst="rect">
            <a:avLst/>
          </a:prstGeom>
          <a:noFill/>
          <a:ln/>
        </p:spPr>
        <p:txBody>
          <a:bodyPr wrap="square" lIns="0" tIns="0" rIns="0" bIns="0" rtlCol="0" anchor="ctr"/>
          <a:lstStyle/>
          <a:p>
            <a:pPr algn="l" indent="0" marL="0">
              <a:buNone/>
            </a:pPr>
            <a:r>
              <a:rPr lang="en-US" sz="1100" b="1" dirty="0">
                <a:solidFill>
                  <a:srgbClr val="0E1C42"/>
                </a:solidFill>
                <a:latin typeface="Calibri" pitchFamily="34" charset="0"/>
                <a:ea typeface="Calibri" pitchFamily="34" charset="-122"/>
                <a:cs typeface="Calibri" pitchFamily="34" charset="-120"/>
              </a:rPr>
              <a:t>St. Augustine Founded</a:t>
            </a:r>
            <a:endParaRPr lang="en-US" sz="1100" dirty="0"/>
          </a:p>
        </p:txBody>
      </p:sp>
      <p:sp>
        <p:nvSpPr>
          <p:cNvPr id="20" name="Text 18"/>
          <p:cNvSpPr/>
          <p:nvPr/>
        </p:nvSpPr>
        <p:spPr>
          <a:xfrm>
            <a:off x="4251960" y="2752344"/>
            <a:ext cx="4297680" cy="274320"/>
          </a:xfrm>
          <a:prstGeom prst="rect">
            <a:avLst/>
          </a:prstGeom>
          <a:noFill/>
          <a:ln/>
        </p:spPr>
        <p:txBody>
          <a:bodyPr wrap="square" lIns="0" tIns="0" rIns="0" bIns="0" rtlCol="0" anchor="t"/>
          <a:lstStyle/>
          <a:p>
            <a:pPr algn="l" indent="0" marL="0">
              <a:buNone/>
            </a:pPr>
            <a:r>
              <a:rPr lang="en-US" sz="1000" dirty="0">
                <a:solidFill>
                  <a:srgbClr val="5A6A8A"/>
                </a:solidFill>
                <a:latin typeface="Calibri" pitchFamily="34" charset="0"/>
                <a:ea typeface="Calibri" pitchFamily="34" charset="-122"/>
                <a:cs typeface="Calibri" pitchFamily="34" charset="-120"/>
              </a:rPr>
              <a:t>1565 — the oldest continuously occupied European settlement in the U.S. Still here today.</a:t>
            </a:r>
            <a:endParaRPr lang="en-US" sz="1000" dirty="0"/>
          </a:p>
        </p:txBody>
      </p:sp>
      <p:sp>
        <p:nvSpPr>
          <p:cNvPr id="21" name="Shape 19"/>
          <p:cNvSpPr/>
          <p:nvPr/>
        </p:nvSpPr>
        <p:spPr>
          <a:xfrm>
            <a:off x="4114800" y="3191256"/>
            <a:ext cx="4572000" cy="621792"/>
          </a:xfrm>
          <a:prstGeom prst="roundRect">
            <a:avLst>
              <a:gd name="adj" fmla="val 14706"/>
            </a:avLst>
          </a:prstGeom>
          <a:solidFill>
            <a:srgbClr val="FFFFFF"/>
          </a:solidFill>
          <a:ln w="19050">
            <a:solidFill>
              <a:srgbClr val="8B6FC0"/>
            </a:solidFill>
            <a:prstDash val="solid"/>
          </a:ln>
        </p:spPr>
      </p:sp>
      <p:sp>
        <p:nvSpPr>
          <p:cNvPr id="22" name="Shape 20"/>
          <p:cNvSpPr/>
          <p:nvPr/>
        </p:nvSpPr>
        <p:spPr>
          <a:xfrm>
            <a:off x="4114800" y="3191256"/>
            <a:ext cx="73152" cy="621792"/>
          </a:xfrm>
          <a:prstGeom prst="rect">
            <a:avLst/>
          </a:prstGeom>
          <a:solidFill>
            <a:srgbClr val="8B6FC0"/>
          </a:solidFill>
          <a:ln w="12700">
            <a:solidFill>
              <a:srgbClr val="8B6FC0"/>
            </a:solidFill>
            <a:prstDash val="solid"/>
          </a:ln>
        </p:spPr>
      </p:sp>
      <p:sp>
        <p:nvSpPr>
          <p:cNvPr id="23" name="Text 21"/>
          <p:cNvSpPr/>
          <p:nvPr/>
        </p:nvSpPr>
        <p:spPr>
          <a:xfrm>
            <a:off x="4251960" y="3218688"/>
            <a:ext cx="4297680" cy="228600"/>
          </a:xfrm>
          <a:prstGeom prst="rect">
            <a:avLst/>
          </a:prstGeom>
          <a:noFill/>
          <a:ln/>
        </p:spPr>
        <p:txBody>
          <a:bodyPr wrap="square" lIns="0" tIns="0" rIns="0" bIns="0" rtlCol="0" anchor="ctr"/>
          <a:lstStyle/>
          <a:p>
            <a:pPr algn="l" indent="0" marL="0">
              <a:buNone/>
            </a:pPr>
            <a:r>
              <a:rPr lang="en-US" sz="1100" b="1" dirty="0">
                <a:solidFill>
                  <a:srgbClr val="0E1C42"/>
                </a:solidFill>
                <a:latin typeface="Calibri" pitchFamily="34" charset="0"/>
                <a:ea typeface="Calibri" pitchFamily="34" charset="-122"/>
                <a:cs typeface="Calibri" pitchFamily="34" charset="-120"/>
              </a:rPr>
              <a:t>Change of Flags — 1763</a:t>
            </a:r>
            <a:endParaRPr lang="en-US" sz="1100" dirty="0"/>
          </a:p>
        </p:txBody>
      </p:sp>
      <p:sp>
        <p:nvSpPr>
          <p:cNvPr id="24" name="Text 22"/>
          <p:cNvSpPr/>
          <p:nvPr/>
        </p:nvSpPr>
        <p:spPr>
          <a:xfrm>
            <a:off x="4251960" y="3465576"/>
            <a:ext cx="4297680" cy="274320"/>
          </a:xfrm>
          <a:prstGeom prst="rect">
            <a:avLst/>
          </a:prstGeom>
          <a:noFill/>
          <a:ln/>
        </p:spPr>
        <p:txBody>
          <a:bodyPr wrap="square" lIns="0" tIns="0" rIns="0" bIns="0" rtlCol="0" anchor="t"/>
          <a:lstStyle/>
          <a:p>
            <a:pPr algn="l" indent="0" marL="0">
              <a:buNone/>
            </a:pPr>
            <a:r>
              <a:rPr lang="en-US" sz="1000" dirty="0">
                <a:solidFill>
                  <a:srgbClr val="5A6A8A"/>
                </a:solidFill>
                <a:latin typeface="Calibri" pitchFamily="34" charset="0"/>
                <a:ea typeface="Calibri" pitchFamily="34" charset="-122"/>
                <a:cs typeface="Calibri" pitchFamily="34" charset="-120"/>
              </a:rPr>
              <a:t>After 200 years of Spanish control, England took Florida. The flags changed — again.</a:t>
            </a:r>
            <a:endParaRPr lang="en-US" sz="1000" dirty="0"/>
          </a:p>
        </p:txBody>
      </p:sp>
      <p:sp>
        <p:nvSpPr>
          <p:cNvPr id="25" name="Shape 23"/>
          <p:cNvSpPr/>
          <p:nvPr/>
        </p:nvSpPr>
        <p:spPr>
          <a:xfrm>
            <a:off x="457200" y="4005072"/>
            <a:ext cx="8229600" cy="658368"/>
          </a:xfrm>
          <a:prstGeom prst="roundRect">
            <a:avLst>
              <a:gd name="adj" fmla="val 16667"/>
            </a:avLst>
          </a:prstGeom>
          <a:solidFill>
            <a:srgbClr val="FFF3DC"/>
          </a:solidFill>
          <a:ln w="19050">
            <a:solidFill>
              <a:srgbClr val="D4943A"/>
            </a:solidFill>
            <a:prstDash val="solid"/>
          </a:ln>
        </p:spPr>
      </p:sp>
      <p:sp>
        <p:nvSpPr>
          <p:cNvPr id="26" name="Text 24"/>
          <p:cNvSpPr/>
          <p:nvPr/>
        </p:nvSpPr>
        <p:spPr>
          <a:xfrm>
            <a:off x="640080" y="4041648"/>
            <a:ext cx="2743200" cy="219456"/>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HONEST HISTORY NOTE</a:t>
            </a:r>
            <a:endParaRPr lang="en-US" sz="900" dirty="0"/>
          </a:p>
        </p:txBody>
      </p:sp>
      <p:sp>
        <p:nvSpPr>
          <p:cNvPr id="27" name="Text 25"/>
          <p:cNvSpPr/>
          <p:nvPr/>
        </p:nvSpPr>
        <p:spPr>
          <a:xfrm>
            <a:off x="640080" y="4279392"/>
            <a:ext cx="7863840" cy="274320"/>
          </a:xfrm>
          <a:prstGeom prst="rect">
            <a:avLst/>
          </a:prstGeom>
          <a:noFill/>
          <a:ln/>
        </p:spPr>
        <p:txBody>
          <a:bodyPr wrap="square" lIns="0" tIns="0" rIns="0" bIns="0" rtlCol="0" anchor="t"/>
          <a:lstStyle/>
          <a:p>
            <a:pPr algn="l" indent="0" marL="0">
              <a:buNone/>
            </a:pPr>
            <a:r>
              <a:rPr lang="en-US" sz="1200" dirty="0">
                <a:solidFill>
                  <a:srgbClr val="5A4A3A"/>
                </a:solidFill>
                <a:latin typeface="Calibri" pitchFamily="34" charset="0"/>
                <a:ea typeface="Calibri" pitchFamily="34" charset="-122"/>
                <a:cs typeface="Calibri" pitchFamily="34" charset="-120"/>
              </a:rPr>
              <a:t>Some effects were devastating (disease, loss of nations). Others shaped Florida forever (St. Augustine). An honest historian holds BOTH.</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109728"/>
          </a:xfrm>
          <a:prstGeom prst="rect">
            <a:avLst/>
          </a:prstGeom>
          <a:solidFill>
            <a:srgbClr val="D4943A"/>
          </a:solidFill>
          <a:ln w="12700">
            <a:solidFill>
              <a:srgbClr val="D4943A"/>
            </a:solidFill>
            <a:prstDash val="solid"/>
          </a:ln>
        </p:spPr>
      </p:sp>
      <p:sp>
        <p:nvSpPr>
          <p:cNvPr id="4" name="Text 2"/>
          <p:cNvSpPr/>
          <p:nvPr/>
        </p:nvSpPr>
        <p:spPr>
          <a:xfrm>
            <a:off x="457200" y="182880"/>
            <a:ext cx="2743200" cy="256032"/>
          </a:xfrm>
          <a:prstGeom prst="rect">
            <a:avLst/>
          </a:prstGeom>
          <a:noFill/>
          <a:ln/>
        </p:spPr>
        <p:txBody>
          <a:bodyPr wrap="square" lIns="0" tIns="0" rIns="0" bIns="0" rtlCol="0" anchor="ctr"/>
          <a:lstStyle/>
          <a:p>
            <a:pPr indent="0" marL="0">
              <a:buNone/>
            </a:pPr>
            <a:r>
              <a:rPr lang="en-US" sz="900" b="1" spc="200" kern="0" dirty="0">
                <a:solidFill>
                  <a:srgbClr val="D4943A"/>
                </a:solidFill>
                <a:latin typeface="Calibri" pitchFamily="34" charset="0"/>
                <a:ea typeface="Calibri" pitchFamily="34" charset="-122"/>
                <a:cs typeface="Calibri" pitchFamily="34" charset="-120"/>
              </a:rPr>
              <a:t>SOURCE STUDY</a:t>
            </a:r>
            <a:endParaRPr lang="en-US" sz="900" dirty="0"/>
          </a:p>
        </p:txBody>
      </p:sp>
      <p:sp>
        <p:nvSpPr>
          <p:cNvPr id="5" name="Text 3"/>
          <p:cNvSpPr/>
          <p:nvPr/>
        </p:nvSpPr>
        <p:spPr>
          <a:xfrm>
            <a:off x="457200" y="475488"/>
            <a:ext cx="8229600" cy="457200"/>
          </a:xfrm>
          <a:prstGeom prst="rect">
            <a:avLst/>
          </a:prstGeom>
          <a:noFill/>
          <a:ln/>
        </p:spPr>
        <p:txBody>
          <a:bodyPr wrap="square" lIns="0" tIns="0" rIns="0" bIns="0" rtlCol="0" anchor="ctr"/>
          <a:lstStyle/>
          <a:p>
            <a:pPr algn="l" indent="0" marL="0">
              <a:buNone/>
            </a:pPr>
            <a:r>
              <a:rPr lang="en-US" sz="2200" b="1" dirty="0">
                <a:solidFill>
                  <a:srgbClr val="0E1C42"/>
                </a:solidFill>
                <a:latin typeface="Cambria" pitchFamily="34" charset="0"/>
                <a:ea typeface="Cambria" pitchFamily="34" charset="-122"/>
                <a:cs typeface="Cambria" pitchFamily="34" charset="-120"/>
              </a:rPr>
              <a:t>A Spanish Mission Record — Florida, 1600s–1700s</a:t>
            </a:r>
            <a:endParaRPr lang="en-US" sz="2200" dirty="0"/>
          </a:p>
        </p:txBody>
      </p:sp>
      <p:sp>
        <p:nvSpPr>
          <p:cNvPr id="6" name="Shape 4"/>
          <p:cNvSpPr/>
          <p:nvPr/>
        </p:nvSpPr>
        <p:spPr>
          <a:xfrm>
            <a:off x="457200" y="1024128"/>
            <a:ext cx="4114800" cy="2834640"/>
          </a:xfrm>
          <a:prstGeom prst="roundRect">
            <a:avLst>
              <a:gd name="adj" fmla="val 3871"/>
            </a:avLst>
          </a:prstGeom>
          <a:solidFill>
            <a:srgbClr val="E2E8F4"/>
          </a:solidFill>
          <a:ln w="19050">
            <a:solidFill>
              <a:srgbClr val="B0B8CC"/>
            </a:solidFill>
            <a:prstDash val="dash"/>
          </a:ln>
        </p:spPr>
      </p:sp>
      <p:sp>
        <p:nvSpPr>
          <p:cNvPr id="7" name="Text 5"/>
          <p:cNvSpPr/>
          <p:nvPr/>
        </p:nvSpPr>
        <p:spPr>
          <a:xfrm>
            <a:off x="457200" y="1024128"/>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94360" y="1298448"/>
            <a:ext cx="3840480" cy="24688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Page from a Spanish Catholic mission record book (libro de mision) from 17th or 18th century Florida — handwritten Spanish entries in careful script, columns of names and dates, small cross marks beside entries (baptisms and burials), worn parchment appearance. Source: Archivo General de Indias / University of Florida collections.</a:t>
            </a:r>
            <a:endParaRPr lang="en-US" sz="1100" dirty="0"/>
          </a:p>
        </p:txBody>
      </p:sp>
      <p:sp>
        <p:nvSpPr>
          <p:cNvPr id="9" name="Text 7"/>
          <p:cNvSpPr/>
          <p:nvPr/>
        </p:nvSpPr>
        <p:spPr>
          <a:xfrm>
            <a:off x="457200" y="3886200"/>
            <a:ext cx="4114800" cy="457200"/>
          </a:xfrm>
          <a:prstGeom prst="rect">
            <a:avLst/>
          </a:prstGeom>
          <a:noFill/>
          <a:ln/>
        </p:spPr>
        <p:txBody>
          <a:bodyPr wrap="square" lIns="0" tIns="0" rIns="0" bIns="0" rtlCol="0" anchor="ctr"/>
          <a:lstStyle/>
          <a:p>
            <a:pPr algn="l" indent="0" marL="0">
              <a:buNone/>
            </a:pPr>
            <a:r>
              <a:rPr lang="en-US" sz="900" i="1" dirty="0">
                <a:solidFill>
                  <a:srgbClr val="7A88A8"/>
                </a:solidFill>
                <a:latin typeface="Calibri" pitchFamily="34" charset="0"/>
                <a:ea typeface="Calibri" pitchFamily="34" charset="-122"/>
                <a:cs typeface="Calibri" pitchFamily="34" charset="-120"/>
              </a:rPr>
              <a:t>Primary Source — Spanish Catholic mission record, Florida, 1600s-1700s</a:t>
            </a:r>
            <a:endParaRPr lang="en-US" sz="900" dirty="0"/>
          </a:p>
          <a:p>
            <a:pPr algn="l" indent="0" marL="0">
              <a:buNone/>
            </a:pPr>
            <a:r>
              <a:rPr lang="en-US" sz="900" i="1" dirty="0">
                <a:solidFill>
                  <a:srgbClr val="7A88A8"/>
                </a:solidFill>
                <a:latin typeface="Calibri" pitchFamily="34" charset="0"/>
                <a:ea typeface="Calibri" pitchFamily="34" charset="-122"/>
                <a:cs typeface="Calibri" pitchFamily="34" charset="-120"/>
              </a:rPr>
              <a:t>Archivo General de Indias / University of Florida Smathers Libraries</a:t>
            </a:r>
            <a:endParaRPr lang="en-US" sz="900" dirty="0"/>
          </a:p>
        </p:txBody>
      </p:sp>
      <p:sp>
        <p:nvSpPr>
          <p:cNvPr id="10" name="Shape 8"/>
          <p:cNvSpPr/>
          <p:nvPr/>
        </p:nvSpPr>
        <p:spPr>
          <a:xfrm>
            <a:off x="4754880" y="1024128"/>
            <a:ext cx="3931920" cy="2834640"/>
          </a:xfrm>
          <a:prstGeom prst="roundRect">
            <a:avLst>
              <a:gd name="adj" fmla="val 4839"/>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4937760" y="1115568"/>
            <a:ext cx="356616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12" name="Text 10"/>
          <p:cNvSpPr/>
          <p:nvPr/>
        </p:nvSpPr>
        <p:spPr>
          <a:xfrm>
            <a:off x="4937760" y="1371600"/>
            <a:ext cx="3566160" cy="23957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made this? A Spanish Catholic priest recorded births (baptisms) and deaths (burials) at a Florida mission.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What's missing? The record shows Spanish names given at baptism — not Native names. The perspective of Native peoples who lived there is not in this document.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it matter? A counted name is evidence. It tells us how many people were baptized, how many died, and how fast populations changed — information no story can give us.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109728"/>
          </a:xfrm>
          <a:prstGeom prst="rect">
            <a:avLst/>
          </a:prstGeom>
          <a:solidFill>
            <a:srgbClr val="1A8A7D"/>
          </a:solidFill>
          <a:ln w="12700">
            <a:solidFill>
              <a:srgbClr val="1A8A7D"/>
            </a:solidFill>
            <a:prstDash val="solid"/>
          </a:ln>
        </p:spPr>
      </p:sp>
      <p:sp>
        <p:nvSpPr>
          <p:cNvPr id="4" name="Text 2"/>
          <p:cNvSpPr/>
          <p:nvPr/>
        </p:nvSpPr>
        <p:spPr>
          <a:xfrm>
            <a:off x="457200" y="182880"/>
            <a:ext cx="2743200" cy="256032"/>
          </a:xfrm>
          <a:prstGeom prst="rect">
            <a:avLst/>
          </a:prstGeom>
          <a:noFill/>
          <a:ln/>
        </p:spPr>
        <p:txBody>
          <a:bodyPr wrap="square" lIns="0" tIns="0" rIns="0" bIns="0" rtlCol="0" anchor="ctr"/>
          <a:lstStyle/>
          <a:p>
            <a:pPr indent="0" marL="0">
              <a:buNone/>
            </a:pPr>
            <a:r>
              <a:rPr lang="en-US" sz="900" b="1" spc="200" kern="0" dirty="0">
                <a:solidFill>
                  <a:srgbClr val="1A8A7D"/>
                </a:solidFill>
                <a:latin typeface="Calibri" pitchFamily="34" charset="0"/>
                <a:ea typeface="Calibri" pitchFamily="34" charset="-122"/>
                <a:cs typeface="Calibri" pitchFamily="34" charset="-120"/>
              </a:rPr>
              <a:t>SOURCE DEEP DIVE</a:t>
            </a:r>
            <a:endParaRPr lang="en-US" sz="900" dirty="0"/>
          </a:p>
        </p:txBody>
      </p:sp>
      <p:sp>
        <p:nvSpPr>
          <p:cNvPr id="5" name="Text 3"/>
          <p:cNvSpPr/>
          <p:nvPr/>
        </p:nvSpPr>
        <p:spPr>
          <a:xfrm>
            <a:off x="457200" y="475488"/>
            <a:ext cx="8229600" cy="457200"/>
          </a:xfrm>
          <a:prstGeom prst="rect">
            <a:avLst/>
          </a:prstGeom>
          <a:noFill/>
          <a:ln/>
        </p:spPr>
        <p:txBody>
          <a:bodyPr wrap="square" lIns="0" tIns="0" rIns="0" bIns="0" rtlCol="0" anchor="ctr"/>
          <a:lstStyle/>
          <a:p>
            <a:pPr algn="l" indent="0" marL="0">
              <a:buNone/>
            </a:pPr>
            <a:r>
              <a:rPr lang="en-US" sz="2200" b="1" dirty="0">
                <a:solidFill>
                  <a:srgbClr val="0E1C42"/>
                </a:solidFill>
                <a:latin typeface="Cambria" pitchFamily="34" charset="0"/>
                <a:ea typeface="Cambria" pitchFamily="34" charset="-122"/>
                <a:cs typeface="Cambria" pitchFamily="34" charset="-120"/>
              </a:rPr>
              <a:t>What Does the Mission Record Count?</a:t>
            </a:r>
            <a:endParaRPr lang="en-US" sz="2200" dirty="0"/>
          </a:p>
        </p:txBody>
      </p:sp>
      <p:sp>
        <p:nvSpPr>
          <p:cNvPr id="6" name="Shape 4"/>
          <p:cNvSpPr/>
          <p:nvPr/>
        </p:nvSpPr>
        <p:spPr>
          <a:xfrm>
            <a:off x="457200" y="1051560"/>
            <a:ext cx="3931920" cy="2286000"/>
          </a:xfrm>
          <a:prstGeom prst="roundRect">
            <a:avLst>
              <a:gd name="adj" fmla="val 5600"/>
            </a:avLst>
          </a:prstGeom>
          <a:solidFill>
            <a:srgbClr val="FFFFFF"/>
          </a:solidFill>
          <a:ln w="25400">
            <a:solidFill>
              <a:srgbClr val="34B76F"/>
            </a:solidFill>
            <a:prstDash val="solid"/>
          </a:ln>
        </p:spPr>
      </p:sp>
      <p:sp>
        <p:nvSpPr>
          <p:cNvPr id="7" name="Shape 5"/>
          <p:cNvSpPr/>
          <p:nvPr/>
        </p:nvSpPr>
        <p:spPr>
          <a:xfrm>
            <a:off x="4114800" y="1051560"/>
            <a:ext cx="3931920" cy="2286000"/>
          </a:xfrm>
          <a:prstGeom prst="roundRect">
            <a:avLst>
              <a:gd name="adj" fmla="val 5600"/>
            </a:avLst>
          </a:prstGeom>
          <a:solidFill>
            <a:srgbClr val="FFFFFF"/>
          </a:solidFill>
          <a:ln w="25400">
            <a:solidFill>
              <a:srgbClr val="E8636B"/>
            </a:solidFill>
            <a:prstDash val="solid"/>
          </a:ln>
        </p:spPr>
      </p:sp>
      <p:sp>
        <p:nvSpPr>
          <p:cNvPr id="8" name="Shape 6"/>
          <p:cNvSpPr/>
          <p:nvPr/>
        </p:nvSpPr>
        <p:spPr>
          <a:xfrm>
            <a:off x="731520" y="1143000"/>
            <a:ext cx="3383280" cy="384048"/>
          </a:xfrm>
          <a:prstGeom prst="roundRect">
            <a:avLst>
              <a:gd name="adj" fmla="val 23810"/>
            </a:avLst>
          </a:prstGeom>
          <a:solidFill>
            <a:srgbClr val="34B76F"/>
          </a:solidFill>
          <a:ln w="12700">
            <a:solidFill>
              <a:srgbClr val="34B76F"/>
            </a:solidFill>
            <a:prstDash val="solid"/>
          </a:ln>
        </p:spPr>
      </p:sp>
      <p:sp>
        <p:nvSpPr>
          <p:cNvPr id="9" name="Text 7"/>
          <p:cNvSpPr/>
          <p:nvPr/>
        </p:nvSpPr>
        <p:spPr>
          <a:xfrm>
            <a:off x="731520" y="1143000"/>
            <a:ext cx="33832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BAPTISMS (Births into the Church)</a:t>
            </a:r>
            <a:endParaRPr lang="en-US" sz="1100" dirty="0"/>
          </a:p>
        </p:txBody>
      </p:sp>
      <p:sp>
        <p:nvSpPr>
          <p:cNvPr id="10" name="Text 8"/>
          <p:cNvSpPr/>
          <p:nvPr/>
        </p:nvSpPr>
        <p:spPr>
          <a:xfrm>
            <a:off x="594360" y="1600200"/>
            <a:ext cx="3657600" cy="1645920"/>
          </a:xfrm>
          <a:prstGeom prst="rect">
            <a:avLst/>
          </a:prstGeom>
          <a:noFill/>
          <a:ln/>
        </p:spPr>
        <p:txBody>
          <a:bodyPr wrap="square" lIns="0" tIns="0" rIns="0" bIns="0" rtlCol="0" anchor="t"/>
          <a:lstStyle/>
          <a:p>
            <a:pPr algn="l" indent="0" marL="0">
              <a:buNone/>
            </a:pPr>
            <a:r>
              <a:rPr lang="en-US" sz="1200" dirty="0">
                <a:solidFill>
                  <a:srgbClr val="0E1C42"/>
                </a:solidFill>
                <a:latin typeface="Calibri" pitchFamily="34" charset="0"/>
                <a:ea typeface="Calibri" pitchFamily="34" charset="-122"/>
                <a:cs typeface="Calibri" pitchFamily="34" charset="-120"/>
              </a:rPr>
              <a:t>When a Native person was baptized into the Catholic Church, the priest recorded their new Spanish name, the date, and the mission where it happened.</a:t>
            </a:r>
            <a:endParaRPr lang="en-US" sz="1200" dirty="0"/>
          </a:p>
          <a:p>
            <a:pPr algn="l" indent="0" marL="0">
              <a:buNone/>
            </a:pPr>
            <a:endParaRPr lang="en-US" sz="1200" dirty="0"/>
          </a:p>
          <a:p>
            <a:pPr algn="l" indent="0" marL="0">
              <a:buNone/>
            </a:pPr>
            <a:r>
              <a:rPr lang="en-US" sz="1200" dirty="0">
                <a:solidFill>
                  <a:srgbClr val="0E1C42"/>
                </a:solidFill>
                <a:latin typeface="Calibri" pitchFamily="34" charset="0"/>
                <a:ea typeface="Calibri" pitchFamily="34" charset="-122"/>
                <a:cs typeface="Calibri" pitchFamily="34" charset="-120"/>
              </a:rPr>
              <a:t>Baptism entries tell us how many people joined the Church — a measure of the mission's reach and of Spanish cultural influence spreading through Florida.</a:t>
            </a:r>
            <a:endParaRPr lang="en-US" sz="1200" dirty="0"/>
          </a:p>
        </p:txBody>
      </p:sp>
      <p:sp>
        <p:nvSpPr>
          <p:cNvPr id="11" name="Shape 9"/>
          <p:cNvSpPr/>
          <p:nvPr/>
        </p:nvSpPr>
        <p:spPr>
          <a:xfrm>
            <a:off x="4389120" y="1143000"/>
            <a:ext cx="3383280" cy="384048"/>
          </a:xfrm>
          <a:prstGeom prst="roundRect">
            <a:avLst>
              <a:gd name="adj" fmla="val 23810"/>
            </a:avLst>
          </a:prstGeom>
          <a:solidFill>
            <a:srgbClr val="E8636B"/>
          </a:solidFill>
          <a:ln w="12700">
            <a:solidFill>
              <a:srgbClr val="E8636B"/>
            </a:solidFill>
            <a:prstDash val="solid"/>
          </a:ln>
        </p:spPr>
      </p:sp>
      <p:sp>
        <p:nvSpPr>
          <p:cNvPr id="12" name="Text 10"/>
          <p:cNvSpPr/>
          <p:nvPr/>
        </p:nvSpPr>
        <p:spPr>
          <a:xfrm>
            <a:off x="4389120" y="1143000"/>
            <a:ext cx="33832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BURIALS (Deaths Recorded)</a:t>
            </a:r>
            <a:endParaRPr lang="en-US" sz="1100" dirty="0"/>
          </a:p>
        </p:txBody>
      </p:sp>
      <p:sp>
        <p:nvSpPr>
          <p:cNvPr id="13" name="Text 11"/>
          <p:cNvSpPr/>
          <p:nvPr/>
        </p:nvSpPr>
        <p:spPr>
          <a:xfrm>
            <a:off x="4251960" y="1600200"/>
            <a:ext cx="3657600" cy="1645920"/>
          </a:xfrm>
          <a:prstGeom prst="rect">
            <a:avLst/>
          </a:prstGeom>
          <a:noFill/>
          <a:ln/>
        </p:spPr>
        <p:txBody>
          <a:bodyPr wrap="square" lIns="0" tIns="0" rIns="0" bIns="0" rtlCol="0" anchor="t"/>
          <a:lstStyle/>
          <a:p>
            <a:pPr algn="l" indent="0" marL="0">
              <a:buNone/>
            </a:pPr>
            <a:r>
              <a:rPr lang="en-US" sz="1200" dirty="0">
                <a:solidFill>
                  <a:srgbClr val="0E1C42"/>
                </a:solidFill>
                <a:latin typeface="Calibri" pitchFamily="34" charset="0"/>
                <a:ea typeface="Calibri" pitchFamily="34" charset="-122"/>
                <a:cs typeface="Calibri" pitchFamily="34" charset="-120"/>
              </a:rPr>
              <a:t>When someone died, the priest recorded their name, date, and sometimes cause of death. Many mission burial records from Florida show clusters of deaths — dozens in a short period.</a:t>
            </a:r>
            <a:endParaRPr lang="en-US" sz="1200" dirty="0"/>
          </a:p>
          <a:p>
            <a:pPr algn="l" indent="0" marL="0">
              <a:buNone/>
            </a:pPr>
            <a:endParaRPr lang="en-US" sz="1200" dirty="0"/>
          </a:p>
          <a:p>
            <a:pPr algn="l" indent="0" marL="0">
              <a:buNone/>
            </a:pPr>
            <a:r>
              <a:rPr lang="en-US" sz="1200" dirty="0">
                <a:solidFill>
                  <a:srgbClr val="0E1C42"/>
                </a:solidFill>
                <a:latin typeface="Calibri" pitchFamily="34" charset="0"/>
                <a:ea typeface="Calibri" pitchFamily="34" charset="-122"/>
                <a:cs typeface="Calibri" pitchFamily="34" charset="-120"/>
              </a:rPr>
              <a:t>Burial entries are evidence of disease outbreaks. When a historian sees many burials in a short window, it often means a smallpox or measles epidemic tore through the community.</a:t>
            </a:r>
            <a:endParaRPr lang="en-US" sz="1200" dirty="0"/>
          </a:p>
        </p:txBody>
      </p:sp>
      <p:sp>
        <p:nvSpPr>
          <p:cNvPr id="14" name="Shape 12"/>
          <p:cNvSpPr/>
          <p:nvPr/>
        </p:nvSpPr>
        <p:spPr>
          <a:xfrm>
            <a:off x="457200" y="3520440"/>
            <a:ext cx="8229600" cy="1097280"/>
          </a:xfrm>
          <a:prstGeom prst="roundRect">
            <a:avLst>
              <a:gd name="adj" fmla="val 10000"/>
            </a:avLst>
          </a:prstGeom>
          <a:solidFill>
            <a:srgbClr val="FFF3DC"/>
          </a:solidFill>
          <a:ln w="19050">
            <a:solidFill>
              <a:srgbClr val="F5E6C8"/>
            </a:solidFill>
            <a:prstDash val="solid"/>
          </a:ln>
        </p:spPr>
      </p:sp>
      <p:sp>
        <p:nvSpPr>
          <p:cNvPr id="15" name="Text 13"/>
          <p:cNvSpPr/>
          <p:nvPr/>
        </p:nvSpPr>
        <p:spPr>
          <a:xfrm>
            <a:off x="594360" y="3575304"/>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94360" y="3776472"/>
            <a:ext cx="7955280" cy="777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record is a ______ book because the entries show ______."</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burial entries matter to historians because ______ because ______."</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109728"/>
          </a:xfrm>
          <a:prstGeom prst="rect">
            <a:avLst/>
          </a:prstGeom>
          <a:solidFill>
            <a:srgbClr val="8B6FC0"/>
          </a:solidFill>
          <a:ln w="12700">
            <a:solidFill>
              <a:srgbClr val="8B6FC0"/>
            </a:solidFill>
            <a:prstDash val="solid"/>
          </a:ln>
        </p:spPr>
      </p:sp>
      <p:sp>
        <p:nvSpPr>
          <p:cNvPr id="4" name="Text 2"/>
          <p:cNvSpPr/>
          <p:nvPr/>
        </p:nvSpPr>
        <p:spPr>
          <a:xfrm>
            <a:off x="457200" y="182880"/>
            <a:ext cx="3474720" cy="256032"/>
          </a:xfrm>
          <a:prstGeom prst="rect">
            <a:avLst/>
          </a:prstGeom>
          <a:noFill/>
          <a:ln/>
        </p:spPr>
        <p:txBody>
          <a:bodyPr wrap="square" lIns="0" tIns="0" rIns="0" bIns="0" rtlCol="0" anchor="ctr"/>
          <a:lstStyle/>
          <a:p>
            <a:pPr indent="0" marL="0">
              <a:buNone/>
            </a:pPr>
            <a:r>
              <a:rPr lang="en-US" sz="900" b="1" spc="200" kern="0" dirty="0">
                <a:solidFill>
                  <a:srgbClr val="8B6FC0"/>
                </a:solidFill>
                <a:latin typeface="Calibri" pitchFamily="34" charset="0"/>
                <a:ea typeface="Calibri" pitchFamily="34" charset="-122"/>
                <a:cs typeface="Calibri" pitchFamily="34" charset="-120"/>
              </a:rPr>
              <a:t>MULTI-SOURCE COMPARE</a:t>
            </a:r>
            <a:endParaRPr lang="en-US" sz="900" dirty="0"/>
          </a:p>
        </p:txBody>
      </p:sp>
      <p:sp>
        <p:nvSpPr>
          <p:cNvPr id="5" name="Text 3"/>
          <p:cNvSpPr/>
          <p:nvPr/>
        </p:nvSpPr>
        <p:spPr>
          <a:xfrm>
            <a:off x="457200" y="475488"/>
            <a:ext cx="8229600" cy="457200"/>
          </a:xfrm>
          <a:prstGeom prst="rect">
            <a:avLst/>
          </a:prstGeom>
          <a:noFill/>
          <a:ln/>
        </p:spPr>
        <p:txBody>
          <a:bodyPr wrap="square" lIns="0" tIns="0" rIns="0" bIns="0" rtlCol="0" anchor="ctr"/>
          <a:lstStyle/>
          <a:p>
            <a:pPr algn="l" indent="0" marL="0">
              <a:buNone/>
            </a:pPr>
            <a:r>
              <a:rPr lang="en-US" sz="2200" b="1" dirty="0">
                <a:solidFill>
                  <a:srgbClr val="0E1C42"/>
                </a:solidFill>
                <a:latin typeface="Cambria" pitchFamily="34" charset="0"/>
                <a:ea typeface="Cambria" pitchFamily="34" charset="-122"/>
                <a:cs typeface="Cambria" pitchFamily="34" charset="-120"/>
              </a:rPr>
              <a:t>Two Sources — Same Events, Different Eyes</a:t>
            </a:r>
            <a:endParaRPr lang="en-US" sz="2200" dirty="0"/>
          </a:p>
        </p:txBody>
      </p:sp>
      <p:sp>
        <p:nvSpPr>
          <p:cNvPr id="6" name="Shape 4"/>
          <p:cNvSpPr/>
          <p:nvPr/>
        </p:nvSpPr>
        <p:spPr>
          <a:xfrm>
            <a:off x="274320" y="1051560"/>
            <a:ext cx="3840480" cy="2011680"/>
          </a:xfrm>
          <a:prstGeom prst="roundRect">
            <a:avLst>
              <a:gd name="adj" fmla="val 5455"/>
            </a:avLst>
          </a:prstGeom>
          <a:solidFill>
            <a:srgbClr val="E2E8F4"/>
          </a:solidFill>
          <a:ln w="19050">
            <a:solidFill>
              <a:srgbClr val="B0B8CC"/>
            </a:solidFill>
            <a:prstDash val="dash"/>
          </a:ln>
        </p:spPr>
      </p:sp>
      <p:sp>
        <p:nvSpPr>
          <p:cNvPr id="7" name="Text 5"/>
          <p:cNvSpPr/>
          <p:nvPr/>
        </p:nvSpPr>
        <p:spPr>
          <a:xfrm>
            <a:off x="274320" y="1051560"/>
            <a:ext cx="3840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411480" y="1325880"/>
            <a:ext cx="3566160" cy="1645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Spanish mission record book page: handwritten entries, names, cross marks, careful columns — representing the Spanish priests' view of Florida's colonization. Parchment style, no human figures.</a:t>
            </a:r>
            <a:endParaRPr lang="en-US" sz="1100" dirty="0"/>
          </a:p>
        </p:txBody>
      </p:sp>
      <p:sp>
        <p:nvSpPr>
          <p:cNvPr id="9" name="Shape 7"/>
          <p:cNvSpPr/>
          <p:nvPr/>
        </p:nvSpPr>
        <p:spPr>
          <a:xfrm>
            <a:off x="274320" y="3127248"/>
            <a:ext cx="3840480" cy="502920"/>
          </a:xfrm>
          <a:prstGeom prst="roundRect">
            <a:avLst>
              <a:gd name="adj" fmla="val 18182"/>
            </a:avLst>
          </a:prstGeom>
          <a:solidFill>
            <a:srgbClr val="1A2D5A"/>
          </a:solidFill>
          <a:ln w="12700">
            <a:solidFill>
              <a:srgbClr val="1A2D5A"/>
            </a:solidFill>
            <a:prstDash val="solid"/>
          </a:ln>
        </p:spPr>
      </p:sp>
      <p:sp>
        <p:nvSpPr>
          <p:cNvPr id="10" name="Text 8"/>
          <p:cNvSpPr/>
          <p:nvPr/>
        </p:nvSpPr>
        <p:spPr>
          <a:xfrm>
            <a:off x="411480" y="3154680"/>
            <a:ext cx="3566160" cy="438912"/>
          </a:xfrm>
          <a:prstGeom prst="rect">
            <a:avLst/>
          </a:prstGeom>
          <a:noFill/>
          <a:ln/>
        </p:spPr>
        <p:txBody>
          <a:bodyPr wrap="square" lIns="0" tIns="0" rIns="0" bIns="0" rtlCol="0" anchor="t"/>
          <a:lstStyle/>
          <a:p>
            <a:pPr algn="l" indent="0" marL="0">
              <a:buNone/>
            </a:pPr>
            <a:r>
              <a:rPr lang="en-US" sz="1000" i="1" dirty="0">
                <a:solidFill>
                  <a:srgbClr val="F0F2F8"/>
                </a:solidFill>
                <a:latin typeface="Calibri" pitchFamily="34" charset="0"/>
                <a:ea typeface="Calibri" pitchFamily="34" charset="-122"/>
                <a:cs typeface="Calibri" pitchFamily="34" charset="-120"/>
              </a:rPr>
              <a:t>SOURCE A: Spanish Mission Record, ~1700</a:t>
            </a:r>
            <a:endParaRPr lang="en-US" sz="1000" dirty="0"/>
          </a:p>
          <a:p>
            <a:pPr algn="l" indent="0" marL="0">
              <a:buNone/>
            </a:pPr>
            <a:r>
              <a:rPr lang="en-US" sz="1000" i="1" dirty="0">
                <a:solidFill>
                  <a:srgbClr val="F0F2F8"/>
                </a:solidFill>
                <a:latin typeface="Calibri" pitchFamily="34" charset="0"/>
                <a:ea typeface="Calibri" pitchFamily="34" charset="-122"/>
                <a:cs typeface="Calibri" pitchFamily="34" charset="-120"/>
              </a:rPr>
              <a:t>Records baptisms and burials — the priest's view of mission success.</a:t>
            </a:r>
            <a:endParaRPr lang="en-US" sz="1000" dirty="0"/>
          </a:p>
        </p:txBody>
      </p:sp>
      <p:sp>
        <p:nvSpPr>
          <p:cNvPr id="11" name="Shape 9"/>
          <p:cNvSpPr/>
          <p:nvPr/>
        </p:nvSpPr>
        <p:spPr>
          <a:xfrm>
            <a:off x="4572000" y="1051560"/>
            <a:ext cx="3840480" cy="2011680"/>
          </a:xfrm>
          <a:prstGeom prst="roundRect">
            <a:avLst>
              <a:gd name="adj" fmla="val 5455"/>
            </a:avLst>
          </a:prstGeom>
          <a:solidFill>
            <a:srgbClr val="E2E8F4"/>
          </a:solidFill>
          <a:ln w="19050">
            <a:solidFill>
              <a:srgbClr val="B0B8CC"/>
            </a:solidFill>
            <a:prstDash val="dash"/>
          </a:ln>
        </p:spPr>
      </p:sp>
      <p:sp>
        <p:nvSpPr>
          <p:cNvPr id="12" name="Text 10"/>
          <p:cNvSpPr/>
          <p:nvPr/>
        </p:nvSpPr>
        <p:spPr>
          <a:xfrm>
            <a:off x="4572000" y="1051560"/>
            <a:ext cx="3840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3" name="Text 11"/>
          <p:cNvSpPr/>
          <p:nvPr/>
        </p:nvSpPr>
        <p:spPr>
          <a:xfrm>
            <a:off x="4709160" y="1325880"/>
            <a:ext cx="3566160" cy="1645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Timucua or Apalachee oral tradition illustration: a village scene showing empty structures, a broken vessel, autumn colors representing loss and population decline — symbolic map-illustration style, no human figures.</a:t>
            </a:r>
            <a:endParaRPr lang="en-US" sz="1100" dirty="0"/>
          </a:p>
        </p:txBody>
      </p:sp>
      <p:sp>
        <p:nvSpPr>
          <p:cNvPr id="14" name="Shape 12"/>
          <p:cNvSpPr/>
          <p:nvPr/>
        </p:nvSpPr>
        <p:spPr>
          <a:xfrm>
            <a:off x="4572000" y="3127248"/>
            <a:ext cx="3840480" cy="502920"/>
          </a:xfrm>
          <a:prstGeom prst="roundRect">
            <a:avLst>
              <a:gd name="adj" fmla="val 18182"/>
            </a:avLst>
          </a:prstGeom>
          <a:solidFill>
            <a:srgbClr val="1A2D5A"/>
          </a:solidFill>
          <a:ln w="12700">
            <a:solidFill>
              <a:srgbClr val="1A2D5A"/>
            </a:solidFill>
            <a:prstDash val="solid"/>
          </a:ln>
        </p:spPr>
      </p:sp>
      <p:sp>
        <p:nvSpPr>
          <p:cNvPr id="15" name="Text 13"/>
          <p:cNvSpPr/>
          <p:nvPr/>
        </p:nvSpPr>
        <p:spPr>
          <a:xfrm>
            <a:off x="4709160" y="3154680"/>
            <a:ext cx="3566160" cy="438912"/>
          </a:xfrm>
          <a:prstGeom prst="rect">
            <a:avLst/>
          </a:prstGeom>
          <a:noFill/>
          <a:ln/>
        </p:spPr>
        <p:txBody>
          <a:bodyPr wrap="square" lIns="0" tIns="0" rIns="0" bIns="0" rtlCol="0" anchor="t"/>
          <a:lstStyle/>
          <a:p>
            <a:pPr algn="l" indent="0" marL="0">
              <a:buNone/>
            </a:pPr>
            <a:r>
              <a:rPr lang="en-US" sz="1000" i="1" dirty="0">
                <a:solidFill>
                  <a:srgbClr val="F0F2F8"/>
                </a:solidFill>
                <a:latin typeface="Calibri" pitchFamily="34" charset="0"/>
                <a:ea typeface="Calibri" pitchFamily="34" charset="-122"/>
                <a:cs typeface="Calibri" pitchFamily="34" charset="-120"/>
              </a:rPr>
              <a:t>SOURCE B: Timucua Historical Account, modern scholars</a:t>
            </a:r>
            <a:endParaRPr lang="en-US" sz="1000" dirty="0"/>
          </a:p>
          <a:p>
            <a:pPr algn="l" indent="0" marL="0">
              <a:buNone/>
            </a:pPr>
            <a:r>
              <a:rPr lang="en-US" sz="1000" i="1" dirty="0">
                <a:solidFill>
                  <a:srgbClr val="F0F2F8"/>
                </a:solidFill>
                <a:latin typeface="Calibri" pitchFamily="34" charset="0"/>
                <a:ea typeface="Calibri" pitchFamily="34" charset="-122"/>
                <a:cs typeface="Calibri" pitchFamily="34" charset="-120"/>
              </a:rPr>
              <a:t>Documents population decline and loss of traditional life — the First Peoples' view.</a:t>
            </a:r>
            <a:endParaRPr lang="en-US" sz="1000" dirty="0"/>
          </a:p>
        </p:txBody>
      </p:sp>
      <p:sp>
        <p:nvSpPr>
          <p:cNvPr id="16" name="Shape 14"/>
          <p:cNvSpPr/>
          <p:nvPr/>
        </p:nvSpPr>
        <p:spPr>
          <a:xfrm>
            <a:off x="274320" y="3749040"/>
            <a:ext cx="8229600" cy="1005840"/>
          </a:xfrm>
          <a:prstGeom prst="roundRect">
            <a:avLst>
              <a:gd name="adj" fmla="val 10909"/>
            </a:avLst>
          </a:prstGeom>
          <a:solidFill>
            <a:srgbClr val="FFF3DC"/>
          </a:solidFill>
          <a:ln w="19050">
            <a:solidFill>
              <a:srgbClr val="F5E6C8"/>
            </a:solidFill>
            <a:prstDash val="solid"/>
          </a:ln>
        </p:spPr>
      </p:sp>
      <p:sp>
        <p:nvSpPr>
          <p:cNvPr id="17" name="Text 15"/>
          <p:cNvSpPr/>
          <p:nvPr/>
        </p:nvSpPr>
        <p:spPr>
          <a:xfrm>
            <a:off x="411480" y="3803904"/>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411480" y="4005072"/>
            <a:ext cx="7955280" cy="6858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"Source A emphasizes ______, but Source B emphasizes ______."</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"Both sources together tell us ______ because ______."</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3200400" cy="347472"/>
          </a:xfrm>
          <a:prstGeom prst="roundRect">
            <a:avLst>
              <a:gd name="adj" fmla="val 26316"/>
            </a:avLst>
          </a:prstGeom>
          <a:solidFill>
            <a:srgbClr val="D4943A"/>
          </a:solidFill>
          <a:ln w="12700">
            <a:solidFill>
              <a:srgbClr val="D4943A"/>
            </a:solidFill>
            <a:prstDash val="solid"/>
          </a:ln>
        </p:spPr>
      </p:sp>
      <p:sp>
        <p:nvSpPr>
          <p:cNvPr id="6" name="Text 3"/>
          <p:cNvSpPr/>
          <p:nvPr/>
        </p:nvSpPr>
        <p:spPr>
          <a:xfrm>
            <a:off x="457200" y="274320"/>
            <a:ext cx="3200400" cy="347472"/>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WRITING SCAFFOLD</a:t>
            </a:r>
            <a:endParaRPr lang="en-US" sz="1100" dirty="0"/>
          </a:p>
        </p:txBody>
      </p:sp>
      <p:sp>
        <p:nvSpPr>
          <p:cNvPr id="7" name="Text 4"/>
          <p:cNvSpPr/>
          <p:nvPr/>
        </p:nvSpPr>
        <p:spPr>
          <a:xfrm>
            <a:off x="457200" y="777240"/>
            <a:ext cx="8229600" cy="47548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Claim  →  Evidence  →  Explanation  →  Connection</a:t>
            </a:r>
            <a:endParaRPr lang="en-US" sz="2200" dirty="0"/>
          </a:p>
        </p:txBody>
      </p:sp>
      <p:sp>
        <p:nvSpPr>
          <p:cNvPr id="8" name="Shape 5"/>
          <p:cNvSpPr/>
          <p:nvPr/>
        </p:nvSpPr>
        <p:spPr>
          <a:xfrm>
            <a:off x="365760" y="1417320"/>
            <a:ext cx="1965960" cy="3246120"/>
          </a:xfrm>
          <a:prstGeom prst="roundRect">
            <a:avLst>
              <a:gd name="adj" fmla="val 6512"/>
            </a:avLst>
          </a:prstGeom>
          <a:solidFill>
            <a:srgbClr val="1A2D5A"/>
          </a:solidFill>
          <a:ln w="25400">
            <a:solidFill>
              <a:srgbClr val="D4943A"/>
            </a:solidFill>
            <a:prstDash val="solid"/>
          </a:ln>
        </p:spPr>
      </p:sp>
      <p:sp>
        <p:nvSpPr>
          <p:cNvPr id="9" name="Shape 6"/>
          <p:cNvSpPr/>
          <p:nvPr/>
        </p:nvSpPr>
        <p:spPr>
          <a:xfrm>
            <a:off x="822960" y="1508760"/>
            <a:ext cx="1051560" cy="1051560"/>
          </a:xfrm>
          <a:prstGeom prst="roundRect">
            <a:avLst>
              <a:gd name="adj" fmla="val 43478"/>
            </a:avLst>
          </a:prstGeom>
          <a:solidFill>
            <a:srgbClr val="D4943A"/>
          </a:solidFill>
          <a:ln w="12700">
            <a:solidFill>
              <a:srgbClr val="D4943A"/>
            </a:solidFill>
            <a:prstDash val="solid"/>
          </a:ln>
        </p:spPr>
      </p:sp>
      <p:sp>
        <p:nvSpPr>
          <p:cNvPr id="10" name="Text 7"/>
          <p:cNvSpPr/>
          <p:nvPr/>
        </p:nvSpPr>
        <p:spPr>
          <a:xfrm>
            <a:off x="822960" y="150876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C</a:t>
            </a:r>
            <a:endParaRPr lang="en-US" sz="3000" dirty="0"/>
          </a:p>
        </p:txBody>
      </p:sp>
      <p:sp>
        <p:nvSpPr>
          <p:cNvPr id="11" name="Text 8"/>
          <p:cNvSpPr/>
          <p:nvPr/>
        </p:nvSpPr>
        <p:spPr>
          <a:xfrm>
            <a:off x="457200" y="2651760"/>
            <a:ext cx="1783080" cy="274320"/>
          </a:xfrm>
          <a:prstGeom prst="rect">
            <a:avLst/>
          </a:prstGeom>
          <a:noFill/>
          <a:ln/>
        </p:spPr>
        <p:txBody>
          <a:bodyPr wrap="square" lIns="0" tIns="0" rIns="0" bIns="0" rtlCol="0" anchor="ctr"/>
          <a:lstStyle/>
          <a:p>
            <a:pPr algn="ctr" indent="0" marL="0">
              <a:buNone/>
            </a:pPr>
            <a:r>
              <a:rPr lang="en-US" sz="1000" b="1" spc="100" kern="0" dirty="0">
                <a:solidFill>
                  <a:srgbClr val="D4943A"/>
                </a:solidFill>
                <a:latin typeface="Calibri" pitchFamily="34" charset="0"/>
                <a:ea typeface="Calibri" pitchFamily="34" charset="-122"/>
                <a:cs typeface="Calibri" pitchFamily="34" charset="-120"/>
              </a:rPr>
              <a:t>CLAIM</a:t>
            </a:r>
            <a:endParaRPr lang="en-US" sz="1000" dirty="0"/>
          </a:p>
        </p:txBody>
      </p:sp>
      <p:sp>
        <p:nvSpPr>
          <p:cNvPr id="12" name="Text 9"/>
          <p:cNvSpPr/>
          <p:nvPr/>
        </p:nvSpPr>
        <p:spPr>
          <a:xfrm>
            <a:off x="457200" y="2971800"/>
            <a:ext cx="1783080" cy="1600200"/>
          </a:xfrm>
          <a:prstGeom prst="rect">
            <a:avLst/>
          </a:prstGeom>
          <a:noFill/>
          <a:ln/>
        </p:spPr>
        <p:txBody>
          <a:bodyPr wrap="square" lIns="0" tIns="0" rIns="0" bIns="0" rtlCol="0" anchor="t"/>
          <a:lstStyle/>
          <a:p>
            <a:pPr algn="l" indent="0" marL="0">
              <a:buNone/>
            </a:pPr>
            <a:r>
              <a:rPr lang="en-US" sz="950" dirty="0">
                <a:solidFill>
                  <a:srgbClr val="E0E8F4"/>
                </a:solidFill>
                <a:latin typeface="Calibri" pitchFamily="34" charset="0"/>
                <a:ea typeface="Calibri" pitchFamily="34" charset="-122"/>
                <a:cs typeface="Calibri" pitchFamily="34" charset="-120"/>
              </a:rPr>
              <a:t>State your position. What were the most important causes OR effects of colonization?</a:t>
            </a:r>
            <a:endParaRPr lang="en-US" sz="950" dirty="0"/>
          </a:p>
          <a:p>
            <a:pPr algn="l" indent="0" marL="0">
              <a:buNone/>
            </a:pPr>
            <a:r>
              <a:rPr lang="en-US" sz="950" dirty="0">
                <a:solidFill>
                  <a:srgbClr val="E0E8F4"/>
                </a:solidFill>
                <a:latin typeface="Calibri" pitchFamily="34" charset="0"/>
                <a:ea typeface="Calibri" pitchFamily="34" charset="-122"/>
                <a:cs typeface="Calibri" pitchFamily="34" charset="-120"/>
              </a:rPr>
              <a:t>Example: 'The most devastating effect of European colonization in Florida was the spread of disease.'</a:t>
            </a:r>
            <a:endParaRPr lang="en-US" sz="950" dirty="0"/>
          </a:p>
        </p:txBody>
      </p:sp>
      <p:sp>
        <p:nvSpPr>
          <p:cNvPr id="13" name="Shape 10"/>
          <p:cNvSpPr/>
          <p:nvPr/>
        </p:nvSpPr>
        <p:spPr>
          <a:xfrm>
            <a:off x="2514600" y="1417320"/>
            <a:ext cx="1965960" cy="3246120"/>
          </a:xfrm>
          <a:prstGeom prst="roundRect">
            <a:avLst>
              <a:gd name="adj" fmla="val 6512"/>
            </a:avLst>
          </a:prstGeom>
          <a:solidFill>
            <a:srgbClr val="1A2D5A"/>
          </a:solidFill>
          <a:ln w="25400">
            <a:solidFill>
              <a:srgbClr val="55C8E8"/>
            </a:solidFill>
            <a:prstDash val="solid"/>
          </a:ln>
        </p:spPr>
      </p:sp>
      <p:sp>
        <p:nvSpPr>
          <p:cNvPr id="14" name="Shape 11"/>
          <p:cNvSpPr/>
          <p:nvPr/>
        </p:nvSpPr>
        <p:spPr>
          <a:xfrm>
            <a:off x="2971800" y="1508760"/>
            <a:ext cx="1051560" cy="1051560"/>
          </a:xfrm>
          <a:prstGeom prst="roundRect">
            <a:avLst>
              <a:gd name="adj" fmla="val 43478"/>
            </a:avLst>
          </a:prstGeom>
          <a:solidFill>
            <a:srgbClr val="55C8E8"/>
          </a:solidFill>
          <a:ln w="12700">
            <a:solidFill>
              <a:srgbClr val="55C8E8"/>
            </a:solidFill>
            <a:prstDash val="solid"/>
          </a:ln>
        </p:spPr>
      </p:sp>
      <p:sp>
        <p:nvSpPr>
          <p:cNvPr id="15" name="Text 12"/>
          <p:cNvSpPr/>
          <p:nvPr/>
        </p:nvSpPr>
        <p:spPr>
          <a:xfrm>
            <a:off x="2971800" y="150876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E</a:t>
            </a:r>
            <a:endParaRPr lang="en-US" sz="3000" dirty="0"/>
          </a:p>
        </p:txBody>
      </p:sp>
      <p:sp>
        <p:nvSpPr>
          <p:cNvPr id="16" name="Text 13"/>
          <p:cNvSpPr/>
          <p:nvPr/>
        </p:nvSpPr>
        <p:spPr>
          <a:xfrm>
            <a:off x="2606040" y="2651760"/>
            <a:ext cx="1783080" cy="274320"/>
          </a:xfrm>
          <a:prstGeom prst="rect">
            <a:avLst/>
          </a:prstGeom>
          <a:noFill/>
          <a:ln/>
        </p:spPr>
        <p:txBody>
          <a:bodyPr wrap="square" lIns="0" tIns="0" rIns="0" bIns="0" rtlCol="0" anchor="ctr"/>
          <a:lstStyle/>
          <a:p>
            <a:pPr algn="ctr" indent="0" marL="0">
              <a:buNone/>
            </a:pPr>
            <a:r>
              <a:rPr lang="en-US" sz="1000" b="1" spc="100" kern="0" dirty="0">
                <a:solidFill>
                  <a:srgbClr val="55C8E8"/>
                </a:solidFill>
                <a:latin typeface="Calibri" pitchFamily="34" charset="0"/>
                <a:ea typeface="Calibri" pitchFamily="34" charset="-122"/>
                <a:cs typeface="Calibri" pitchFamily="34" charset="-120"/>
              </a:rPr>
              <a:t>EVIDENCE</a:t>
            </a:r>
            <a:endParaRPr lang="en-US" sz="1000" dirty="0"/>
          </a:p>
        </p:txBody>
      </p:sp>
      <p:sp>
        <p:nvSpPr>
          <p:cNvPr id="17" name="Text 14"/>
          <p:cNvSpPr/>
          <p:nvPr/>
        </p:nvSpPr>
        <p:spPr>
          <a:xfrm>
            <a:off x="2606040" y="2971800"/>
            <a:ext cx="1783080" cy="1600200"/>
          </a:xfrm>
          <a:prstGeom prst="rect">
            <a:avLst/>
          </a:prstGeom>
          <a:noFill/>
          <a:ln/>
        </p:spPr>
        <p:txBody>
          <a:bodyPr wrap="square" lIns="0" tIns="0" rIns="0" bIns="0" rtlCol="0" anchor="t"/>
          <a:lstStyle/>
          <a:p>
            <a:pPr algn="l" indent="0" marL="0">
              <a:buNone/>
            </a:pPr>
            <a:r>
              <a:rPr lang="en-US" sz="950" dirty="0">
                <a:solidFill>
                  <a:srgbClr val="E0E8F4"/>
                </a:solidFill>
                <a:latin typeface="Calibri" pitchFamily="34" charset="0"/>
                <a:ea typeface="Calibri" pitchFamily="34" charset="-122"/>
                <a:cs typeface="Calibri" pitchFamily="34" charset="-120"/>
              </a:rPr>
              <a:t>Use a specific detail from the lesson or the mission record.</a:t>
            </a:r>
            <a:endParaRPr lang="en-US" sz="950" dirty="0"/>
          </a:p>
          <a:p>
            <a:pPr algn="l" indent="0" marL="0">
              <a:buNone/>
            </a:pPr>
            <a:r>
              <a:rPr lang="en-US" sz="950" dirty="0">
                <a:solidFill>
                  <a:srgbClr val="E0E8F4"/>
                </a:solidFill>
                <a:latin typeface="Calibri" pitchFamily="34" charset="0"/>
                <a:ea typeface="Calibri" pitchFamily="34" charset="-122"/>
                <a:cs typeface="Calibri" pitchFamily="34" charset="-120"/>
              </a:rPr>
              <a:t>Example: 'The Spanish mission record from 1700s Florida shows clusters of burial entries — evidence of disease outbreaks killing many people quickly.'</a:t>
            </a:r>
            <a:endParaRPr lang="en-US" sz="950" dirty="0"/>
          </a:p>
        </p:txBody>
      </p:sp>
      <p:sp>
        <p:nvSpPr>
          <p:cNvPr id="18" name="Shape 15"/>
          <p:cNvSpPr/>
          <p:nvPr/>
        </p:nvSpPr>
        <p:spPr>
          <a:xfrm>
            <a:off x="4663440" y="1417320"/>
            <a:ext cx="1965960" cy="3246120"/>
          </a:xfrm>
          <a:prstGeom prst="roundRect">
            <a:avLst>
              <a:gd name="adj" fmla="val 6512"/>
            </a:avLst>
          </a:prstGeom>
          <a:solidFill>
            <a:srgbClr val="1A2D5A"/>
          </a:solidFill>
          <a:ln w="25400">
            <a:solidFill>
              <a:srgbClr val="34B76F"/>
            </a:solidFill>
            <a:prstDash val="solid"/>
          </a:ln>
        </p:spPr>
      </p:sp>
      <p:sp>
        <p:nvSpPr>
          <p:cNvPr id="19" name="Shape 16"/>
          <p:cNvSpPr/>
          <p:nvPr/>
        </p:nvSpPr>
        <p:spPr>
          <a:xfrm>
            <a:off x="5120640" y="1508760"/>
            <a:ext cx="1051560" cy="1051560"/>
          </a:xfrm>
          <a:prstGeom prst="roundRect">
            <a:avLst>
              <a:gd name="adj" fmla="val 43478"/>
            </a:avLst>
          </a:prstGeom>
          <a:solidFill>
            <a:srgbClr val="34B76F"/>
          </a:solidFill>
          <a:ln w="12700">
            <a:solidFill>
              <a:srgbClr val="34B76F"/>
            </a:solidFill>
            <a:prstDash val="solid"/>
          </a:ln>
        </p:spPr>
      </p:sp>
      <p:sp>
        <p:nvSpPr>
          <p:cNvPr id="20" name="Text 17"/>
          <p:cNvSpPr/>
          <p:nvPr/>
        </p:nvSpPr>
        <p:spPr>
          <a:xfrm>
            <a:off x="5120640" y="150876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X</a:t>
            </a:r>
            <a:endParaRPr lang="en-US" sz="3000" dirty="0"/>
          </a:p>
        </p:txBody>
      </p:sp>
      <p:sp>
        <p:nvSpPr>
          <p:cNvPr id="21" name="Text 18"/>
          <p:cNvSpPr/>
          <p:nvPr/>
        </p:nvSpPr>
        <p:spPr>
          <a:xfrm>
            <a:off x="4754880" y="2651760"/>
            <a:ext cx="1783080" cy="274320"/>
          </a:xfrm>
          <a:prstGeom prst="rect">
            <a:avLst/>
          </a:prstGeom>
          <a:noFill/>
          <a:ln/>
        </p:spPr>
        <p:txBody>
          <a:bodyPr wrap="square" lIns="0" tIns="0" rIns="0" bIns="0" rtlCol="0" anchor="ctr"/>
          <a:lstStyle/>
          <a:p>
            <a:pPr algn="ctr" indent="0" marL="0">
              <a:buNone/>
            </a:pPr>
            <a:r>
              <a:rPr lang="en-US" sz="1000" b="1" spc="100" kern="0" dirty="0">
                <a:solidFill>
                  <a:srgbClr val="34B76F"/>
                </a:solidFill>
                <a:latin typeface="Calibri" pitchFamily="34" charset="0"/>
                <a:ea typeface="Calibri" pitchFamily="34" charset="-122"/>
                <a:cs typeface="Calibri" pitchFamily="34" charset="-120"/>
              </a:rPr>
              <a:t>EXPLANATION</a:t>
            </a:r>
            <a:endParaRPr lang="en-US" sz="1000" dirty="0"/>
          </a:p>
        </p:txBody>
      </p:sp>
      <p:sp>
        <p:nvSpPr>
          <p:cNvPr id="22" name="Text 19"/>
          <p:cNvSpPr/>
          <p:nvPr/>
        </p:nvSpPr>
        <p:spPr>
          <a:xfrm>
            <a:off x="4754880" y="2971800"/>
            <a:ext cx="1783080" cy="1600200"/>
          </a:xfrm>
          <a:prstGeom prst="rect">
            <a:avLst/>
          </a:prstGeom>
          <a:noFill/>
          <a:ln/>
        </p:spPr>
        <p:txBody>
          <a:bodyPr wrap="square" lIns="0" tIns="0" rIns="0" bIns="0" rtlCol="0" anchor="t"/>
          <a:lstStyle/>
          <a:p>
            <a:pPr algn="l" indent="0" marL="0">
              <a:buNone/>
            </a:pPr>
            <a:r>
              <a:rPr lang="en-US" sz="950" dirty="0">
                <a:solidFill>
                  <a:srgbClr val="E0E8F4"/>
                </a:solidFill>
                <a:latin typeface="Calibri" pitchFamily="34" charset="0"/>
                <a:ea typeface="Calibri" pitchFamily="34" charset="-122"/>
                <a:cs typeface="Calibri" pitchFamily="34" charset="-120"/>
              </a:rPr>
              <a:t>Explain how your evidence proves your claim.</a:t>
            </a:r>
            <a:endParaRPr lang="en-US" sz="950" dirty="0"/>
          </a:p>
          <a:p>
            <a:pPr algn="l" indent="0" marL="0">
              <a:buNone/>
            </a:pPr>
            <a:r>
              <a:rPr lang="en-US" sz="950" dirty="0">
                <a:solidFill>
                  <a:srgbClr val="E0E8F4"/>
                </a:solidFill>
                <a:latin typeface="Calibri" pitchFamily="34" charset="0"/>
                <a:ea typeface="Calibri" pitchFamily="34" charset="-122"/>
                <a:cs typeface="Calibri" pitchFamily="34" charset="-120"/>
              </a:rPr>
              <a:t>Example: 'These burial records show that entire communities were devastated in a short time — which matches what historians say about smallpox spreading through Florida.'</a:t>
            </a:r>
            <a:endParaRPr lang="en-US" sz="950" dirty="0"/>
          </a:p>
        </p:txBody>
      </p:sp>
      <p:sp>
        <p:nvSpPr>
          <p:cNvPr id="23" name="Shape 20"/>
          <p:cNvSpPr/>
          <p:nvPr/>
        </p:nvSpPr>
        <p:spPr>
          <a:xfrm>
            <a:off x="6812280" y="1417320"/>
            <a:ext cx="1965960" cy="3246120"/>
          </a:xfrm>
          <a:prstGeom prst="roundRect">
            <a:avLst>
              <a:gd name="adj" fmla="val 6512"/>
            </a:avLst>
          </a:prstGeom>
          <a:solidFill>
            <a:srgbClr val="1A2D5A"/>
          </a:solidFill>
          <a:ln w="25400">
            <a:solidFill>
              <a:srgbClr val="8B6FC0"/>
            </a:solidFill>
            <a:prstDash val="solid"/>
          </a:ln>
        </p:spPr>
      </p:sp>
      <p:sp>
        <p:nvSpPr>
          <p:cNvPr id="24" name="Shape 21"/>
          <p:cNvSpPr/>
          <p:nvPr/>
        </p:nvSpPr>
        <p:spPr>
          <a:xfrm>
            <a:off x="7269480" y="1508760"/>
            <a:ext cx="1051560" cy="1051560"/>
          </a:xfrm>
          <a:prstGeom prst="roundRect">
            <a:avLst>
              <a:gd name="adj" fmla="val 43478"/>
            </a:avLst>
          </a:prstGeom>
          <a:solidFill>
            <a:srgbClr val="8B6FC0"/>
          </a:solidFill>
          <a:ln w="12700">
            <a:solidFill>
              <a:srgbClr val="8B6FC0"/>
            </a:solidFill>
            <a:prstDash val="solid"/>
          </a:ln>
        </p:spPr>
      </p:sp>
      <p:sp>
        <p:nvSpPr>
          <p:cNvPr id="25" name="Text 22"/>
          <p:cNvSpPr/>
          <p:nvPr/>
        </p:nvSpPr>
        <p:spPr>
          <a:xfrm>
            <a:off x="7269480" y="150876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C</a:t>
            </a:r>
            <a:endParaRPr lang="en-US" sz="3000" dirty="0"/>
          </a:p>
        </p:txBody>
      </p:sp>
      <p:sp>
        <p:nvSpPr>
          <p:cNvPr id="26" name="Text 23"/>
          <p:cNvSpPr/>
          <p:nvPr/>
        </p:nvSpPr>
        <p:spPr>
          <a:xfrm>
            <a:off x="6903720" y="2651760"/>
            <a:ext cx="1783080" cy="274320"/>
          </a:xfrm>
          <a:prstGeom prst="rect">
            <a:avLst/>
          </a:prstGeom>
          <a:noFill/>
          <a:ln/>
        </p:spPr>
        <p:txBody>
          <a:bodyPr wrap="square" lIns="0" tIns="0" rIns="0" bIns="0" rtlCol="0" anchor="ctr"/>
          <a:lstStyle/>
          <a:p>
            <a:pPr algn="ctr" indent="0" marL="0">
              <a:buNone/>
            </a:pPr>
            <a:r>
              <a:rPr lang="en-US" sz="1000" b="1" spc="100" kern="0" dirty="0">
                <a:solidFill>
                  <a:srgbClr val="8B6FC0"/>
                </a:solidFill>
                <a:latin typeface="Calibri" pitchFamily="34" charset="0"/>
                <a:ea typeface="Calibri" pitchFamily="34" charset="-122"/>
                <a:cs typeface="Calibri" pitchFamily="34" charset="-120"/>
              </a:rPr>
              <a:t>CONNECTION</a:t>
            </a:r>
            <a:endParaRPr lang="en-US" sz="1000" dirty="0"/>
          </a:p>
        </p:txBody>
      </p:sp>
      <p:sp>
        <p:nvSpPr>
          <p:cNvPr id="27" name="Text 24"/>
          <p:cNvSpPr/>
          <p:nvPr/>
        </p:nvSpPr>
        <p:spPr>
          <a:xfrm>
            <a:off x="6903720" y="2971800"/>
            <a:ext cx="1783080" cy="1600200"/>
          </a:xfrm>
          <a:prstGeom prst="rect">
            <a:avLst/>
          </a:prstGeom>
          <a:noFill/>
          <a:ln/>
        </p:spPr>
        <p:txBody>
          <a:bodyPr wrap="square" lIns="0" tIns="0" rIns="0" bIns="0" rtlCol="0" anchor="t"/>
          <a:lstStyle/>
          <a:p>
            <a:pPr algn="l" indent="0" marL="0">
              <a:buNone/>
            </a:pPr>
            <a:r>
              <a:rPr lang="en-US" sz="950" dirty="0">
                <a:solidFill>
                  <a:srgbClr val="E0E8F4"/>
                </a:solidFill>
                <a:latin typeface="Calibri" pitchFamily="34" charset="0"/>
                <a:ea typeface="Calibri" pitchFamily="34" charset="-122"/>
                <a:cs typeface="Calibri" pitchFamily="34" charset="-120"/>
              </a:rPr>
              <a:t>Connect to the big picture — the Virtue Lens.</a:t>
            </a:r>
            <a:endParaRPr lang="en-US" sz="950" dirty="0"/>
          </a:p>
          <a:p>
            <a:pPr algn="l" indent="0" marL="0">
              <a:buNone/>
            </a:pPr>
            <a:r>
              <a:rPr lang="en-US" sz="950" dirty="0">
                <a:solidFill>
                  <a:srgbClr val="E0E8F4"/>
                </a:solidFill>
                <a:latin typeface="Calibri" pitchFamily="34" charset="0"/>
                <a:ea typeface="Calibri" pitchFamily="34" charset="-122"/>
                <a:cs typeface="Calibri" pitchFamily="34" charset="-120"/>
              </a:rPr>
              <a:t>Example: 'An honest historian holds both halves: the Spanish priests showed real faith and courage — and that same contact destroyed the communities they came to serve.'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109728"/>
          </a:xfrm>
          <a:prstGeom prst="rect">
            <a:avLst/>
          </a:prstGeom>
          <a:solidFill>
            <a:srgbClr val="1A8A7D"/>
          </a:solidFill>
          <a:ln w="12700">
            <a:solidFill>
              <a:srgbClr val="1A8A7D"/>
            </a:solidFill>
            <a:prstDash val="solid"/>
          </a:ln>
        </p:spPr>
      </p:sp>
      <p:sp>
        <p:nvSpPr>
          <p:cNvPr id="4" name="Text 2"/>
          <p:cNvSpPr/>
          <p:nvPr/>
        </p:nvSpPr>
        <p:spPr>
          <a:xfrm>
            <a:off x="457200" y="182880"/>
            <a:ext cx="3657600" cy="256032"/>
          </a:xfrm>
          <a:prstGeom prst="rect">
            <a:avLst/>
          </a:prstGeom>
          <a:noFill/>
          <a:ln/>
        </p:spPr>
        <p:txBody>
          <a:bodyPr wrap="square" lIns="0" tIns="0" rIns="0" bIns="0" rtlCol="0" anchor="ctr"/>
          <a:lstStyle/>
          <a:p>
            <a:pPr indent="0" marL="0">
              <a:buNone/>
            </a:pPr>
            <a:r>
              <a:rPr lang="en-US" sz="900" b="1" spc="200" kern="0" dirty="0">
                <a:solidFill>
                  <a:srgbClr val="1A8A7D"/>
                </a:solidFill>
                <a:latin typeface="Calibri" pitchFamily="34" charset="0"/>
                <a:ea typeface="Calibri" pitchFamily="34" charset="-122"/>
                <a:cs typeface="Calibri" pitchFamily="34" charset="-120"/>
              </a:rPr>
              <a:t>GUIDED PRACTICE — MODEL</a:t>
            </a:r>
            <a:endParaRPr lang="en-US" sz="900" dirty="0"/>
          </a:p>
        </p:txBody>
      </p:sp>
      <p:sp>
        <p:nvSpPr>
          <p:cNvPr id="5" name="Text 3"/>
          <p:cNvSpPr/>
          <p:nvPr/>
        </p:nvSpPr>
        <p:spPr>
          <a:xfrm>
            <a:off x="457200" y="475488"/>
            <a:ext cx="8229600" cy="457200"/>
          </a:xfrm>
          <a:prstGeom prst="rect">
            <a:avLst/>
          </a:prstGeom>
          <a:noFill/>
          <a:ln/>
        </p:spPr>
        <p:txBody>
          <a:bodyPr wrap="square" lIns="0" tIns="0" rIns="0" bIns="0" rtlCol="0" anchor="ctr"/>
          <a:lstStyle/>
          <a:p>
            <a:pPr algn="l" indent="0" marL="0">
              <a:buNone/>
            </a:pPr>
            <a:r>
              <a:rPr lang="en-US" sz="2200" b="1" dirty="0">
                <a:solidFill>
                  <a:srgbClr val="0E1C42"/>
                </a:solidFill>
                <a:latin typeface="Cambria" pitchFamily="34" charset="0"/>
                <a:ea typeface="Cambria" pitchFamily="34" charset="-122"/>
                <a:cs typeface="Cambria" pitchFamily="34" charset="-120"/>
              </a:rPr>
              <a:t>Watch Me Build a Cause-Effect Claim</a:t>
            </a:r>
            <a:endParaRPr lang="en-US" sz="2200" dirty="0"/>
          </a:p>
        </p:txBody>
      </p:sp>
      <p:sp>
        <p:nvSpPr>
          <p:cNvPr id="6" name="Shape 4"/>
          <p:cNvSpPr/>
          <p:nvPr/>
        </p:nvSpPr>
        <p:spPr>
          <a:xfrm>
            <a:off x="457200" y="1024128"/>
            <a:ext cx="8229600" cy="502920"/>
          </a:xfrm>
          <a:prstGeom prst="roundRect">
            <a:avLst>
              <a:gd name="adj" fmla="val 21818"/>
            </a:avLst>
          </a:prstGeom>
          <a:solidFill>
            <a:srgbClr val="E2F0FF"/>
          </a:solidFill>
          <a:ln w="19050">
            <a:solidFill>
              <a:srgbClr val="1A8A7D"/>
            </a:solidFill>
            <a:prstDash val="solid"/>
          </a:ln>
        </p:spPr>
      </p:sp>
      <p:sp>
        <p:nvSpPr>
          <p:cNvPr id="7" name="Text 5"/>
          <p:cNvSpPr/>
          <p:nvPr/>
        </p:nvSpPr>
        <p:spPr>
          <a:xfrm>
            <a:off x="594360" y="1024128"/>
            <a:ext cx="7955280" cy="502920"/>
          </a:xfrm>
          <a:prstGeom prst="rect">
            <a:avLst/>
          </a:prstGeom>
          <a:noFill/>
          <a:ln/>
        </p:spPr>
        <p:txBody>
          <a:bodyPr wrap="square" lIns="0" tIns="0" rIns="0" bIns="0" rtlCol="0" anchor="ctr"/>
          <a:lstStyle/>
          <a:p>
            <a:pPr algn="l" indent="0" marL="0">
              <a:buNone/>
            </a:pPr>
            <a:r>
              <a:rPr lang="en-US" sz="1300" b="1" dirty="0">
                <a:solidFill>
                  <a:srgbClr val="1A8A7D"/>
                </a:solidFill>
                <a:latin typeface="Calibri" pitchFamily="34" charset="0"/>
                <a:ea typeface="Calibri" pitchFamily="34" charset="-122"/>
                <a:cs typeface="Calibri" pitchFamily="34" charset="-120"/>
              </a:rPr>
              <a:t>PROMPT: Use the Claim-Evidence-Explanation-Connection scaffold to explain ONE cause of European colonization in Florida.</a:t>
            </a:r>
            <a:endParaRPr lang="en-US" sz="1300" dirty="0"/>
          </a:p>
        </p:txBody>
      </p:sp>
      <p:sp>
        <p:nvSpPr>
          <p:cNvPr id="8" name="Shape 6"/>
          <p:cNvSpPr/>
          <p:nvPr/>
        </p:nvSpPr>
        <p:spPr>
          <a:xfrm>
            <a:off x="457200" y="1664208"/>
            <a:ext cx="73152" cy="566928"/>
          </a:xfrm>
          <a:prstGeom prst="rect">
            <a:avLst/>
          </a:prstGeom>
          <a:solidFill>
            <a:srgbClr val="D4943A"/>
          </a:solidFill>
          <a:ln w="12700">
            <a:solidFill>
              <a:srgbClr val="D4943A"/>
            </a:solidFill>
            <a:prstDash val="solid"/>
          </a:ln>
        </p:spPr>
      </p:sp>
      <p:sp>
        <p:nvSpPr>
          <p:cNvPr id="9" name="Shape 7"/>
          <p:cNvSpPr/>
          <p:nvPr/>
        </p:nvSpPr>
        <p:spPr>
          <a:xfrm>
            <a:off x="594360" y="1664208"/>
            <a:ext cx="8092440" cy="566928"/>
          </a:xfrm>
          <a:prstGeom prst="roundRect">
            <a:avLst>
              <a:gd name="adj" fmla="val 12903"/>
            </a:avLst>
          </a:prstGeom>
          <a:solidFill>
            <a:srgbClr val="FFFFFF"/>
          </a:solidFill>
          <a:ln w="12700">
            <a:solidFill>
              <a:srgbClr val="D4943A"/>
            </a:solidFill>
            <a:prstDash val="solid"/>
          </a:ln>
        </p:spPr>
      </p:sp>
      <p:sp>
        <p:nvSpPr>
          <p:cNvPr id="10" name="Text 8"/>
          <p:cNvSpPr/>
          <p:nvPr/>
        </p:nvSpPr>
        <p:spPr>
          <a:xfrm>
            <a:off x="731520" y="1700784"/>
            <a:ext cx="1371600" cy="219456"/>
          </a:xfrm>
          <a:prstGeom prst="rect">
            <a:avLst/>
          </a:prstGeom>
          <a:noFill/>
          <a:ln/>
        </p:spPr>
        <p:txBody>
          <a:bodyPr wrap="square" lIns="0" tIns="0" rIns="0" bIns="0"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CLAIM</a:t>
            </a:r>
            <a:endParaRPr lang="en-US" sz="900" dirty="0"/>
          </a:p>
        </p:txBody>
      </p:sp>
      <p:sp>
        <p:nvSpPr>
          <p:cNvPr id="11" name="Text 9"/>
          <p:cNvSpPr/>
          <p:nvPr/>
        </p:nvSpPr>
        <p:spPr>
          <a:xfrm>
            <a:off x="731520" y="1938528"/>
            <a:ext cx="7772400" cy="256032"/>
          </a:xfrm>
          <a:prstGeom prst="rect">
            <a:avLst/>
          </a:prstGeom>
          <a:noFill/>
          <a:ln/>
        </p:spPr>
        <p:txBody>
          <a:bodyPr wrap="square" lIns="0" tIns="0" rIns="0" bIns="0" rtlCol="0" anchor="t"/>
          <a:lstStyle/>
          <a:p>
            <a:pPr algn="l" indent="0" marL="0">
              <a:buNone/>
            </a:pPr>
            <a:r>
              <a:rPr lang="en-US" sz="1100" dirty="0">
                <a:solidFill>
                  <a:srgbClr val="0E1C42"/>
                </a:solidFill>
                <a:latin typeface="Calibri" pitchFamily="34" charset="0"/>
                <a:ea typeface="Calibri" pitchFamily="34" charset="-122"/>
                <a:cs typeface="Calibri" pitchFamily="34" charset="-120"/>
              </a:rPr>
              <a:t>The search for religious converts was one of the most important causes of European colonization in Florida.</a:t>
            </a:r>
            <a:endParaRPr lang="en-US" sz="1100" dirty="0"/>
          </a:p>
        </p:txBody>
      </p:sp>
      <p:sp>
        <p:nvSpPr>
          <p:cNvPr id="12" name="Shape 10"/>
          <p:cNvSpPr/>
          <p:nvPr/>
        </p:nvSpPr>
        <p:spPr>
          <a:xfrm>
            <a:off x="457200" y="2368296"/>
            <a:ext cx="73152" cy="566928"/>
          </a:xfrm>
          <a:prstGeom prst="rect">
            <a:avLst/>
          </a:prstGeom>
          <a:solidFill>
            <a:srgbClr val="55C8E8"/>
          </a:solidFill>
          <a:ln w="12700">
            <a:solidFill>
              <a:srgbClr val="55C8E8"/>
            </a:solidFill>
            <a:prstDash val="solid"/>
          </a:ln>
        </p:spPr>
      </p:sp>
      <p:sp>
        <p:nvSpPr>
          <p:cNvPr id="13" name="Shape 11"/>
          <p:cNvSpPr/>
          <p:nvPr/>
        </p:nvSpPr>
        <p:spPr>
          <a:xfrm>
            <a:off x="594360" y="2368296"/>
            <a:ext cx="8092440" cy="566928"/>
          </a:xfrm>
          <a:prstGeom prst="roundRect">
            <a:avLst>
              <a:gd name="adj" fmla="val 12903"/>
            </a:avLst>
          </a:prstGeom>
          <a:solidFill>
            <a:srgbClr val="FFFFFF"/>
          </a:solidFill>
          <a:ln w="12700">
            <a:solidFill>
              <a:srgbClr val="55C8E8"/>
            </a:solidFill>
            <a:prstDash val="solid"/>
          </a:ln>
        </p:spPr>
      </p:sp>
      <p:sp>
        <p:nvSpPr>
          <p:cNvPr id="14" name="Text 12"/>
          <p:cNvSpPr/>
          <p:nvPr/>
        </p:nvSpPr>
        <p:spPr>
          <a:xfrm>
            <a:off x="731520" y="2404872"/>
            <a:ext cx="1371600" cy="219456"/>
          </a:xfrm>
          <a:prstGeom prst="rect">
            <a:avLst/>
          </a:prstGeom>
          <a:noFill/>
          <a:ln/>
        </p:spPr>
        <p:txBody>
          <a:bodyPr wrap="square" lIns="0" tIns="0" rIns="0" bIns="0" rtlCol="0" anchor="ctr"/>
          <a:lstStyle/>
          <a:p>
            <a:pPr indent="0" marL="0">
              <a:buNone/>
            </a:pPr>
            <a:r>
              <a:rPr lang="en-US" sz="900" b="1" spc="100" kern="0" dirty="0">
                <a:solidFill>
                  <a:srgbClr val="55C8E8"/>
                </a:solidFill>
                <a:latin typeface="Calibri" pitchFamily="34" charset="0"/>
                <a:ea typeface="Calibri" pitchFamily="34" charset="-122"/>
                <a:cs typeface="Calibri" pitchFamily="34" charset="-120"/>
              </a:rPr>
              <a:t>EVIDENCE</a:t>
            </a:r>
            <a:endParaRPr lang="en-US" sz="900" dirty="0"/>
          </a:p>
        </p:txBody>
      </p:sp>
      <p:sp>
        <p:nvSpPr>
          <p:cNvPr id="15" name="Text 13"/>
          <p:cNvSpPr/>
          <p:nvPr/>
        </p:nvSpPr>
        <p:spPr>
          <a:xfrm>
            <a:off x="731520" y="2642616"/>
            <a:ext cx="7772400" cy="256032"/>
          </a:xfrm>
          <a:prstGeom prst="rect">
            <a:avLst/>
          </a:prstGeom>
          <a:noFill/>
          <a:ln/>
        </p:spPr>
        <p:txBody>
          <a:bodyPr wrap="square" lIns="0" tIns="0" rIns="0" bIns="0" rtlCol="0" anchor="t"/>
          <a:lstStyle/>
          <a:p>
            <a:pPr algn="l" indent="0" marL="0">
              <a:buNone/>
            </a:pPr>
            <a:r>
              <a:rPr lang="en-US" sz="1100" dirty="0">
                <a:solidFill>
                  <a:srgbClr val="0E1C42"/>
                </a:solidFill>
                <a:latin typeface="Calibri" pitchFamily="34" charset="0"/>
                <a:ea typeface="Calibri" pitchFamily="34" charset="-122"/>
                <a:cs typeface="Calibri" pitchFamily="34" charset="-120"/>
              </a:rPr>
              <a:t>Spanish priests built dozens of missions where they recorded thousands of baptisms — as shown in mission records from Florida's Archivo General de Indias.</a:t>
            </a:r>
            <a:endParaRPr lang="en-US" sz="1100" dirty="0"/>
          </a:p>
        </p:txBody>
      </p:sp>
      <p:sp>
        <p:nvSpPr>
          <p:cNvPr id="16" name="Shape 14"/>
          <p:cNvSpPr/>
          <p:nvPr/>
        </p:nvSpPr>
        <p:spPr>
          <a:xfrm>
            <a:off x="457200" y="3072384"/>
            <a:ext cx="73152" cy="566928"/>
          </a:xfrm>
          <a:prstGeom prst="rect">
            <a:avLst/>
          </a:prstGeom>
          <a:solidFill>
            <a:srgbClr val="34B76F"/>
          </a:solidFill>
          <a:ln w="12700">
            <a:solidFill>
              <a:srgbClr val="34B76F"/>
            </a:solidFill>
            <a:prstDash val="solid"/>
          </a:ln>
        </p:spPr>
      </p:sp>
      <p:sp>
        <p:nvSpPr>
          <p:cNvPr id="17" name="Shape 15"/>
          <p:cNvSpPr/>
          <p:nvPr/>
        </p:nvSpPr>
        <p:spPr>
          <a:xfrm>
            <a:off x="594360" y="3072384"/>
            <a:ext cx="8092440" cy="566928"/>
          </a:xfrm>
          <a:prstGeom prst="roundRect">
            <a:avLst>
              <a:gd name="adj" fmla="val 12903"/>
            </a:avLst>
          </a:prstGeom>
          <a:solidFill>
            <a:srgbClr val="FFFFFF"/>
          </a:solidFill>
          <a:ln w="12700">
            <a:solidFill>
              <a:srgbClr val="34B76F"/>
            </a:solidFill>
            <a:prstDash val="solid"/>
          </a:ln>
        </p:spPr>
      </p:sp>
      <p:sp>
        <p:nvSpPr>
          <p:cNvPr id="18" name="Text 16"/>
          <p:cNvSpPr/>
          <p:nvPr/>
        </p:nvSpPr>
        <p:spPr>
          <a:xfrm>
            <a:off x="731520" y="3108960"/>
            <a:ext cx="1371600" cy="219456"/>
          </a:xfrm>
          <a:prstGeom prst="rect">
            <a:avLst/>
          </a:prstGeom>
          <a:noFill/>
          <a:ln/>
        </p:spPr>
        <p:txBody>
          <a:bodyPr wrap="square" lIns="0" tIns="0" rIns="0" bIns="0" rtlCol="0" anchor="ctr"/>
          <a:lstStyle/>
          <a:p>
            <a:pPr indent="0" marL="0">
              <a:buNone/>
            </a:pPr>
            <a:r>
              <a:rPr lang="en-US" sz="900" b="1" spc="100" kern="0" dirty="0">
                <a:solidFill>
                  <a:srgbClr val="34B76F"/>
                </a:solidFill>
                <a:latin typeface="Calibri" pitchFamily="34" charset="0"/>
                <a:ea typeface="Calibri" pitchFamily="34" charset="-122"/>
                <a:cs typeface="Calibri" pitchFamily="34" charset="-120"/>
              </a:rPr>
              <a:t>EXPLANATION</a:t>
            </a:r>
            <a:endParaRPr lang="en-US" sz="900" dirty="0"/>
          </a:p>
        </p:txBody>
      </p:sp>
      <p:sp>
        <p:nvSpPr>
          <p:cNvPr id="19" name="Text 17"/>
          <p:cNvSpPr/>
          <p:nvPr/>
        </p:nvSpPr>
        <p:spPr>
          <a:xfrm>
            <a:off x="731520" y="3346704"/>
            <a:ext cx="7772400" cy="256032"/>
          </a:xfrm>
          <a:prstGeom prst="rect">
            <a:avLst/>
          </a:prstGeom>
          <a:noFill/>
          <a:ln/>
        </p:spPr>
        <p:txBody>
          <a:bodyPr wrap="square" lIns="0" tIns="0" rIns="0" bIns="0" rtlCol="0" anchor="t"/>
          <a:lstStyle/>
          <a:p>
            <a:pPr algn="l" indent="0" marL="0">
              <a:buNone/>
            </a:pPr>
            <a:r>
              <a:rPr lang="en-US" sz="1100" dirty="0">
                <a:solidFill>
                  <a:srgbClr val="0E1C42"/>
                </a:solidFill>
                <a:latin typeface="Calibri" pitchFamily="34" charset="0"/>
                <a:ea typeface="Calibri" pitchFamily="34" charset="-122"/>
                <a:cs typeface="Calibri" pitchFamily="34" charset="-120"/>
              </a:rPr>
              <a:t>This evidence shows that 'God' was not just a slogan — Spanish priests actually crossed the Atlantic and built institutions to carry out that mission, making religious conversion a real and lasting cause.</a:t>
            </a:r>
            <a:endParaRPr lang="en-US" sz="1100" dirty="0"/>
          </a:p>
        </p:txBody>
      </p:sp>
      <p:sp>
        <p:nvSpPr>
          <p:cNvPr id="20" name="Shape 18"/>
          <p:cNvSpPr/>
          <p:nvPr/>
        </p:nvSpPr>
        <p:spPr>
          <a:xfrm>
            <a:off x="457200" y="3776472"/>
            <a:ext cx="73152" cy="566928"/>
          </a:xfrm>
          <a:prstGeom prst="rect">
            <a:avLst/>
          </a:prstGeom>
          <a:solidFill>
            <a:srgbClr val="8B6FC0"/>
          </a:solidFill>
          <a:ln w="12700">
            <a:solidFill>
              <a:srgbClr val="8B6FC0"/>
            </a:solidFill>
            <a:prstDash val="solid"/>
          </a:ln>
        </p:spPr>
      </p:sp>
      <p:sp>
        <p:nvSpPr>
          <p:cNvPr id="21" name="Shape 19"/>
          <p:cNvSpPr/>
          <p:nvPr/>
        </p:nvSpPr>
        <p:spPr>
          <a:xfrm>
            <a:off x="594360" y="3776472"/>
            <a:ext cx="8092440" cy="566928"/>
          </a:xfrm>
          <a:prstGeom prst="roundRect">
            <a:avLst>
              <a:gd name="adj" fmla="val 12903"/>
            </a:avLst>
          </a:prstGeom>
          <a:solidFill>
            <a:srgbClr val="FFFFFF"/>
          </a:solidFill>
          <a:ln w="12700">
            <a:solidFill>
              <a:srgbClr val="8B6FC0"/>
            </a:solidFill>
            <a:prstDash val="solid"/>
          </a:ln>
        </p:spPr>
      </p:sp>
      <p:sp>
        <p:nvSpPr>
          <p:cNvPr id="22" name="Text 20"/>
          <p:cNvSpPr/>
          <p:nvPr/>
        </p:nvSpPr>
        <p:spPr>
          <a:xfrm>
            <a:off x="731520" y="3813048"/>
            <a:ext cx="1371600" cy="219456"/>
          </a:xfrm>
          <a:prstGeom prst="rect">
            <a:avLst/>
          </a:prstGeom>
          <a:noFill/>
          <a:ln/>
        </p:spPr>
        <p:txBody>
          <a:bodyPr wrap="square" lIns="0" tIns="0" rIns="0" bIns="0" rtlCol="0" anchor="ctr"/>
          <a:lstStyle/>
          <a:p>
            <a:pPr indent="0" marL="0">
              <a:buNone/>
            </a:pPr>
            <a:r>
              <a:rPr lang="en-US" sz="900" b="1" spc="100" kern="0" dirty="0">
                <a:solidFill>
                  <a:srgbClr val="8B6FC0"/>
                </a:solidFill>
                <a:latin typeface="Calibri" pitchFamily="34" charset="0"/>
                <a:ea typeface="Calibri" pitchFamily="34" charset="-122"/>
                <a:cs typeface="Calibri" pitchFamily="34" charset="-120"/>
              </a:rPr>
              <a:t>CONNECTION</a:t>
            </a:r>
            <a:endParaRPr lang="en-US" sz="900" dirty="0"/>
          </a:p>
        </p:txBody>
      </p:sp>
      <p:sp>
        <p:nvSpPr>
          <p:cNvPr id="23" name="Text 21"/>
          <p:cNvSpPr/>
          <p:nvPr/>
        </p:nvSpPr>
        <p:spPr>
          <a:xfrm>
            <a:off x="731520" y="4050792"/>
            <a:ext cx="7772400" cy="256032"/>
          </a:xfrm>
          <a:prstGeom prst="rect">
            <a:avLst/>
          </a:prstGeom>
          <a:noFill/>
          <a:ln/>
        </p:spPr>
        <p:txBody>
          <a:bodyPr wrap="square" lIns="0" tIns="0" rIns="0" bIns="0" rtlCol="0" anchor="t"/>
          <a:lstStyle/>
          <a:p>
            <a:pPr algn="l" indent="0" marL="0">
              <a:buNone/>
            </a:pPr>
            <a:r>
              <a:rPr lang="en-US" sz="1100" dirty="0">
                <a:solidFill>
                  <a:srgbClr val="0E1C42"/>
                </a:solidFill>
                <a:latin typeface="Calibri" pitchFamily="34" charset="0"/>
                <a:ea typeface="Calibri" pitchFamily="34" charset="-122"/>
                <a:cs typeface="Calibri" pitchFamily="34" charset="-120"/>
              </a:rPr>
              <a:t>An honest historian recognizes this took genuine courage AND had costly effects — the same missions that spread faith also brought disease and disrupted traditional ways of life.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109728"/>
          </a:xfrm>
          <a:prstGeom prst="rect">
            <a:avLst/>
          </a:prstGeom>
          <a:solidFill>
            <a:srgbClr val="D4943A"/>
          </a:solidFill>
          <a:ln w="12700">
            <a:solidFill>
              <a:srgbClr val="D4943A"/>
            </a:solidFill>
            <a:prstDash val="solid"/>
          </a:ln>
        </p:spPr>
      </p:sp>
      <p:sp>
        <p:nvSpPr>
          <p:cNvPr id="4" name="Text 2"/>
          <p:cNvSpPr/>
          <p:nvPr/>
        </p:nvSpPr>
        <p:spPr>
          <a:xfrm>
            <a:off x="457200" y="182880"/>
            <a:ext cx="3840480" cy="256032"/>
          </a:xfrm>
          <a:prstGeom prst="rect">
            <a:avLst/>
          </a:prstGeom>
          <a:noFill/>
          <a:ln/>
        </p:spPr>
        <p:txBody>
          <a:bodyPr wrap="square" lIns="0" tIns="0" rIns="0" bIns="0" rtlCol="0" anchor="ctr"/>
          <a:lstStyle/>
          <a:p>
            <a:pPr indent="0" marL="0">
              <a:buNone/>
            </a:pPr>
            <a:r>
              <a:rPr lang="en-US" sz="900" b="1" spc="200" kern="0" dirty="0">
                <a:solidFill>
                  <a:srgbClr val="D4943A"/>
                </a:solidFill>
                <a:latin typeface="Calibri" pitchFamily="34" charset="0"/>
                <a:ea typeface="Calibri" pitchFamily="34" charset="-122"/>
                <a:cs typeface="Calibri" pitchFamily="34" charset="-120"/>
              </a:rPr>
              <a:t>GUIDED PRACTICE — DEFEND</a:t>
            </a:r>
            <a:endParaRPr lang="en-US" sz="900" dirty="0"/>
          </a:p>
        </p:txBody>
      </p:sp>
      <p:sp>
        <p:nvSpPr>
          <p:cNvPr id="5" name="Text 3"/>
          <p:cNvSpPr/>
          <p:nvPr/>
        </p:nvSpPr>
        <p:spPr>
          <a:xfrm>
            <a:off x="457200" y="475488"/>
            <a:ext cx="8229600" cy="457200"/>
          </a:xfrm>
          <a:prstGeom prst="rect">
            <a:avLst/>
          </a:prstGeom>
          <a:noFill/>
          <a:ln/>
        </p:spPr>
        <p:txBody>
          <a:bodyPr wrap="square" lIns="0" tIns="0" rIns="0" bIns="0" rtlCol="0" anchor="ctr"/>
          <a:lstStyle/>
          <a:p>
            <a:pPr algn="l" indent="0" marL="0">
              <a:buNone/>
            </a:pPr>
            <a:r>
              <a:rPr lang="en-US" sz="2200" b="1" dirty="0">
                <a:solidFill>
                  <a:srgbClr val="0E1C42"/>
                </a:solidFill>
                <a:latin typeface="Cambria" pitchFamily="34" charset="0"/>
                <a:ea typeface="Cambria" pitchFamily="34" charset="-122"/>
                <a:cs typeface="Cambria" pitchFamily="34" charset="-120"/>
              </a:rPr>
              <a:t>Your Turn — Defend a Cause-Effect Claim</a:t>
            </a:r>
            <a:endParaRPr lang="en-US" sz="2200" dirty="0"/>
          </a:p>
        </p:txBody>
      </p:sp>
      <p:sp>
        <p:nvSpPr>
          <p:cNvPr id="6" name="Shape 4"/>
          <p:cNvSpPr/>
          <p:nvPr/>
        </p:nvSpPr>
        <p:spPr>
          <a:xfrm>
            <a:off x="457200" y="1024128"/>
            <a:ext cx="8229600" cy="749808"/>
          </a:xfrm>
          <a:prstGeom prst="roundRect">
            <a:avLst>
              <a:gd name="adj" fmla="val 17073"/>
            </a:avLst>
          </a:prstGeom>
          <a:solidFill>
            <a:srgbClr val="FFF3DC"/>
          </a:solidFill>
          <a:ln w="25400">
            <a:solidFill>
              <a:srgbClr val="D4943A"/>
            </a:solidFill>
            <a:prstDash val="solid"/>
          </a:ln>
        </p:spPr>
      </p:sp>
      <p:sp>
        <p:nvSpPr>
          <p:cNvPr id="7" name="Text 5"/>
          <p:cNvSpPr/>
          <p:nvPr/>
        </p:nvSpPr>
        <p:spPr>
          <a:xfrm>
            <a:off x="640080" y="1078992"/>
            <a:ext cx="2286000" cy="23774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CLAIM TO DEFEND:</a:t>
            </a:r>
            <a:endParaRPr lang="en-US" sz="900" dirty="0"/>
          </a:p>
        </p:txBody>
      </p:sp>
      <p:sp>
        <p:nvSpPr>
          <p:cNvPr id="8" name="Text 6"/>
          <p:cNvSpPr/>
          <p:nvPr/>
        </p:nvSpPr>
        <p:spPr>
          <a:xfrm>
            <a:off x="640080" y="1335024"/>
            <a:ext cx="7863840" cy="365760"/>
          </a:xfrm>
          <a:prstGeom prst="rect">
            <a:avLst/>
          </a:prstGeom>
          <a:noFill/>
          <a:ln/>
        </p:spPr>
        <p:txBody>
          <a:bodyPr wrap="square" lIns="0" tIns="0" rIns="0" bIns="0" rtlCol="0" anchor="t"/>
          <a:lstStyle/>
          <a:p>
            <a:pPr algn="l" indent="0" marL="0">
              <a:buNone/>
            </a:pPr>
            <a:r>
              <a:rPr lang="en-US" sz="1300" b="1" i="1" dirty="0">
                <a:solidFill>
                  <a:srgbClr val="0E1C42"/>
                </a:solidFill>
                <a:latin typeface="Cambria" pitchFamily="34" charset="0"/>
                <a:ea typeface="Cambria" pitchFamily="34" charset="-122"/>
                <a:cs typeface="Cambria" pitchFamily="34" charset="-120"/>
              </a:rPr>
              <a:t>"The most devastating effect of European colonization in Florida was the spread of disease, because entire Native nations were lost in just a few generations."</a:t>
            </a:r>
            <a:endParaRPr lang="en-US" sz="1300" dirty="0"/>
          </a:p>
        </p:txBody>
      </p:sp>
      <p:sp>
        <p:nvSpPr>
          <p:cNvPr id="9" name="Text 7"/>
          <p:cNvSpPr/>
          <p:nvPr/>
        </p:nvSpPr>
        <p:spPr>
          <a:xfrm>
            <a:off x="457200" y="1920240"/>
            <a:ext cx="8229600" cy="365760"/>
          </a:xfrm>
          <a:prstGeom prst="rect">
            <a:avLst/>
          </a:prstGeom>
          <a:noFill/>
          <a:ln/>
        </p:spPr>
        <p:txBody>
          <a:bodyPr wrap="square" lIns="0" tIns="0" rIns="0" bIns="0" rtlCol="0" anchor="ctr"/>
          <a:lstStyle/>
          <a:p>
            <a:pPr algn="l" indent="0" marL="0">
              <a:buNone/>
            </a:pPr>
            <a:r>
              <a:rPr lang="en-US" sz="1300" dirty="0">
                <a:solidFill>
                  <a:srgbClr val="5A6A8A"/>
                </a:solidFill>
                <a:latin typeface="Calibri" pitchFamily="34" charset="0"/>
                <a:ea typeface="Calibri" pitchFamily="34" charset="-122"/>
                <a:cs typeface="Calibri" pitchFamily="34" charset="-120"/>
              </a:rPr>
              <a:t>YOUR TASK: Find evidence from the lesson to defend this claim. Use the Claim-Evidence-Explanation-Connection scaffold.</a:t>
            </a:r>
            <a:endParaRPr lang="en-US" sz="1300" dirty="0"/>
          </a:p>
        </p:txBody>
      </p:sp>
      <p:sp>
        <p:nvSpPr>
          <p:cNvPr id="10" name="Shape 8"/>
          <p:cNvSpPr/>
          <p:nvPr/>
        </p:nvSpPr>
        <p:spPr>
          <a:xfrm>
            <a:off x="457200" y="2423160"/>
            <a:ext cx="8229600" cy="502920"/>
          </a:xfrm>
          <a:prstGeom prst="roundRect">
            <a:avLst>
              <a:gd name="adj" fmla="val 18182"/>
            </a:avLst>
          </a:prstGeom>
          <a:solidFill>
            <a:srgbClr val="FFFFFF"/>
          </a:solidFill>
          <a:ln w="19050">
            <a:solidFill>
              <a:srgbClr val="55C8E8"/>
            </a:solidFill>
            <a:prstDash val="solid"/>
          </a:ln>
        </p:spPr>
      </p:sp>
      <p:sp>
        <p:nvSpPr>
          <p:cNvPr id="11" name="Text 9"/>
          <p:cNvSpPr/>
          <p:nvPr/>
        </p:nvSpPr>
        <p:spPr>
          <a:xfrm>
            <a:off x="594360" y="2459736"/>
            <a:ext cx="1463040" cy="219456"/>
          </a:xfrm>
          <a:prstGeom prst="rect">
            <a:avLst/>
          </a:prstGeom>
          <a:noFill/>
          <a:ln/>
        </p:spPr>
        <p:txBody>
          <a:bodyPr wrap="square" lIns="0" tIns="0" rIns="0" bIns="0" rtlCol="0" anchor="ctr"/>
          <a:lstStyle/>
          <a:p>
            <a:pPr indent="0" marL="0">
              <a:buNone/>
            </a:pPr>
            <a:r>
              <a:rPr lang="en-US" sz="900" b="1" spc="100" kern="0" dirty="0">
                <a:solidFill>
                  <a:srgbClr val="55C8E8"/>
                </a:solidFill>
                <a:latin typeface="Calibri" pitchFamily="34" charset="0"/>
                <a:ea typeface="Calibri" pitchFamily="34" charset="-122"/>
                <a:cs typeface="Calibri" pitchFamily="34" charset="-120"/>
              </a:rPr>
              <a:t>EVIDENCE:</a:t>
            </a:r>
            <a:endParaRPr lang="en-US" sz="900" dirty="0"/>
          </a:p>
        </p:txBody>
      </p:sp>
      <p:sp>
        <p:nvSpPr>
          <p:cNvPr id="12" name="Text 10"/>
          <p:cNvSpPr/>
          <p:nvPr/>
        </p:nvSpPr>
        <p:spPr>
          <a:xfrm>
            <a:off x="2011680" y="2459736"/>
            <a:ext cx="6537960" cy="411480"/>
          </a:xfrm>
          <a:prstGeom prst="rect">
            <a:avLst/>
          </a:prstGeom>
          <a:noFill/>
          <a:ln/>
        </p:spPr>
        <p:txBody>
          <a:bodyPr wrap="square" lIns="0" tIns="0" rIns="0" bIns="0" rtlCol="0" anchor="ctr"/>
          <a:lstStyle/>
          <a:p>
            <a:pPr algn="l" indent="0" marL="0">
              <a:buNone/>
            </a:pPr>
            <a:r>
              <a:rPr lang="en-US" sz="1100" i="1" dirty="0">
                <a:solidFill>
                  <a:srgbClr val="5A6A8A"/>
                </a:solidFill>
                <a:latin typeface="Calibri" pitchFamily="34" charset="0"/>
                <a:ea typeface="Calibri" pitchFamily="34" charset="-122"/>
                <a:cs typeface="Calibri" pitchFamily="34" charset="-120"/>
              </a:rPr>
              <a:t>What specific detail from the lesson OR the mission record supports this claim?</a:t>
            </a:r>
            <a:endParaRPr lang="en-US" sz="1100" dirty="0"/>
          </a:p>
        </p:txBody>
      </p:sp>
      <p:sp>
        <p:nvSpPr>
          <p:cNvPr id="13" name="Shape 11"/>
          <p:cNvSpPr/>
          <p:nvPr/>
        </p:nvSpPr>
        <p:spPr>
          <a:xfrm>
            <a:off x="457200" y="3017520"/>
            <a:ext cx="8229600" cy="502920"/>
          </a:xfrm>
          <a:prstGeom prst="roundRect">
            <a:avLst>
              <a:gd name="adj" fmla="val 18182"/>
            </a:avLst>
          </a:prstGeom>
          <a:solidFill>
            <a:srgbClr val="FFFFFF"/>
          </a:solidFill>
          <a:ln w="19050">
            <a:solidFill>
              <a:srgbClr val="34B76F"/>
            </a:solidFill>
            <a:prstDash val="solid"/>
          </a:ln>
        </p:spPr>
      </p:sp>
      <p:sp>
        <p:nvSpPr>
          <p:cNvPr id="14" name="Text 12"/>
          <p:cNvSpPr/>
          <p:nvPr/>
        </p:nvSpPr>
        <p:spPr>
          <a:xfrm>
            <a:off x="594360" y="3054096"/>
            <a:ext cx="1463040" cy="219456"/>
          </a:xfrm>
          <a:prstGeom prst="rect">
            <a:avLst/>
          </a:prstGeom>
          <a:noFill/>
          <a:ln/>
        </p:spPr>
        <p:txBody>
          <a:bodyPr wrap="square" lIns="0" tIns="0" rIns="0" bIns="0" rtlCol="0" anchor="ctr"/>
          <a:lstStyle/>
          <a:p>
            <a:pPr indent="0" marL="0">
              <a:buNone/>
            </a:pPr>
            <a:r>
              <a:rPr lang="en-US" sz="900" b="1" spc="100" kern="0" dirty="0">
                <a:solidFill>
                  <a:srgbClr val="34B76F"/>
                </a:solidFill>
                <a:latin typeface="Calibri" pitchFamily="34" charset="0"/>
                <a:ea typeface="Calibri" pitchFamily="34" charset="-122"/>
                <a:cs typeface="Calibri" pitchFamily="34" charset="-120"/>
              </a:rPr>
              <a:t>EXPLANATION:</a:t>
            </a:r>
            <a:endParaRPr lang="en-US" sz="900" dirty="0"/>
          </a:p>
        </p:txBody>
      </p:sp>
      <p:sp>
        <p:nvSpPr>
          <p:cNvPr id="15" name="Text 13"/>
          <p:cNvSpPr/>
          <p:nvPr/>
        </p:nvSpPr>
        <p:spPr>
          <a:xfrm>
            <a:off x="2011680" y="3054096"/>
            <a:ext cx="6537960" cy="411480"/>
          </a:xfrm>
          <a:prstGeom prst="rect">
            <a:avLst/>
          </a:prstGeom>
          <a:noFill/>
          <a:ln/>
        </p:spPr>
        <p:txBody>
          <a:bodyPr wrap="square" lIns="0" tIns="0" rIns="0" bIns="0" rtlCol="0" anchor="ctr"/>
          <a:lstStyle/>
          <a:p>
            <a:pPr algn="l" indent="0" marL="0">
              <a:buNone/>
            </a:pPr>
            <a:r>
              <a:rPr lang="en-US" sz="1100" i="1" dirty="0">
                <a:solidFill>
                  <a:srgbClr val="5A6A8A"/>
                </a:solidFill>
                <a:latin typeface="Calibri" pitchFamily="34" charset="0"/>
                <a:ea typeface="Calibri" pitchFamily="34" charset="-122"/>
                <a:cs typeface="Calibri" pitchFamily="34" charset="-120"/>
              </a:rPr>
              <a:t>How does that evidence prove disease was the most devastating effect?</a:t>
            </a:r>
            <a:endParaRPr lang="en-US" sz="1100" dirty="0"/>
          </a:p>
        </p:txBody>
      </p:sp>
      <p:sp>
        <p:nvSpPr>
          <p:cNvPr id="16" name="Shape 14"/>
          <p:cNvSpPr/>
          <p:nvPr/>
        </p:nvSpPr>
        <p:spPr>
          <a:xfrm>
            <a:off x="457200" y="3611880"/>
            <a:ext cx="8229600" cy="502920"/>
          </a:xfrm>
          <a:prstGeom prst="roundRect">
            <a:avLst>
              <a:gd name="adj" fmla="val 18182"/>
            </a:avLst>
          </a:prstGeom>
          <a:solidFill>
            <a:srgbClr val="FFFFFF"/>
          </a:solidFill>
          <a:ln w="19050">
            <a:solidFill>
              <a:srgbClr val="8B6FC0"/>
            </a:solidFill>
            <a:prstDash val="solid"/>
          </a:ln>
        </p:spPr>
      </p:sp>
      <p:sp>
        <p:nvSpPr>
          <p:cNvPr id="17" name="Text 15"/>
          <p:cNvSpPr/>
          <p:nvPr/>
        </p:nvSpPr>
        <p:spPr>
          <a:xfrm>
            <a:off x="594360" y="3648456"/>
            <a:ext cx="1463040" cy="219456"/>
          </a:xfrm>
          <a:prstGeom prst="rect">
            <a:avLst/>
          </a:prstGeom>
          <a:noFill/>
          <a:ln/>
        </p:spPr>
        <p:txBody>
          <a:bodyPr wrap="square" lIns="0" tIns="0" rIns="0" bIns="0" rtlCol="0" anchor="ctr"/>
          <a:lstStyle/>
          <a:p>
            <a:pPr indent="0" marL="0">
              <a:buNone/>
            </a:pPr>
            <a:r>
              <a:rPr lang="en-US" sz="900" b="1" spc="100" kern="0" dirty="0">
                <a:solidFill>
                  <a:srgbClr val="8B6FC0"/>
                </a:solidFill>
                <a:latin typeface="Calibri" pitchFamily="34" charset="0"/>
                <a:ea typeface="Calibri" pitchFamily="34" charset="-122"/>
                <a:cs typeface="Calibri" pitchFamily="34" charset="-120"/>
              </a:rPr>
              <a:t>CONNECTION:</a:t>
            </a:r>
            <a:endParaRPr lang="en-US" sz="900" dirty="0"/>
          </a:p>
        </p:txBody>
      </p:sp>
      <p:sp>
        <p:nvSpPr>
          <p:cNvPr id="18" name="Text 16"/>
          <p:cNvSpPr/>
          <p:nvPr/>
        </p:nvSpPr>
        <p:spPr>
          <a:xfrm>
            <a:off x="2011680" y="3648456"/>
            <a:ext cx="6537960" cy="411480"/>
          </a:xfrm>
          <a:prstGeom prst="rect">
            <a:avLst/>
          </a:prstGeom>
          <a:noFill/>
          <a:ln/>
        </p:spPr>
        <p:txBody>
          <a:bodyPr wrap="square" lIns="0" tIns="0" rIns="0" bIns="0" rtlCol="0" anchor="ctr"/>
          <a:lstStyle/>
          <a:p>
            <a:pPr algn="l" indent="0" marL="0">
              <a:buNone/>
            </a:pPr>
            <a:r>
              <a:rPr lang="en-US" sz="1100" i="1" dirty="0">
                <a:solidFill>
                  <a:srgbClr val="5A6A8A"/>
                </a:solidFill>
                <a:latin typeface="Calibri" pitchFamily="34" charset="0"/>
                <a:ea typeface="Calibri" pitchFamily="34" charset="-122"/>
                <a:cs typeface="Calibri" pitchFamily="34" charset="-120"/>
              </a:rPr>
              <a:t>How do you weigh this using the Virtue Lens? What does an honest historian say?</a:t>
            </a:r>
            <a:endParaRPr lang="en-US" sz="1100" dirty="0"/>
          </a:p>
        </p:txBody>
      </p:sp>
      <p:sp>
        <p:nvSpPr>
          <p:cNvPr id="19" name="Shape 17"/>
          <p:cNvSpPr/>
          <p:nvPr/>
        </p:nvSpPr>
        <p:spPr>
          <a:xfrm>
            <a:off x="457200" y="4251960"/>
            <a:ext cx="8229600" cy="640080"/>
          </a:xfrm>
          <a:prstGeom prst="roundRect">
            <a:avLst>
              <a:gd name="adj" fmla="val 17143"/>
            </a:avLst>
          </a:prstGeom>
          <a:solidFill>
            <a:srgbClr val="FFF3DC"/>
          </a:solidFill>
          <a:ln w="19050">
            <a:solidFill>
              <a:srgbClr val="F5E6C8"/>
            </a:solidFill>
            <a:prstDash val="solid"/>
          </a:ln>
        </p:spPr>
      </p:sp>
      <p:sp>
        <p:nvSpPr>
          <p:cNvPr id="20" name="Text 18"/>
          <p:cNvSpPr/>
          <p:nvPr/>
        </p:nvSpPr>
        <p:spPr>
          <a:xfrm>
            <a:off x="594360" y="4306824"/>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1" name="Text 19"/>
          <p:cNvSpPr/>
          <p:nvPr/>
        </p:nvSpPr>
        <p:spPr>
          <a:xfrm>
            <a:off x="594360" y="4507992"/>
            <a:ext cx="7955280" cy="3200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can defend this claim because the evidence shows ______."</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Virtue Lens says this was both ______ AND ______ because ______."</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109728"/>
          </a:xfrm>
          <a:prstGeom prst="rect">
            <a:avLst/>
          </a:prstGeom>
          <a:solidFill>
            <a:srgbClr val="E8636B"/>
          </a:solidFill>
          <a:ln w="12700">
            <a:solidFill>
              <a:srgbClr val="E8636B"/>
            </a:solidFill>
            <a:prstDash val="solid"/>
          </a:ln>
        </p:spPr>
      </p:sp>
      <p:sp>
        <p:nvSpPr>
          <p:cNvPr id="4" name="Text 2"/>
          <p:cNvSpPr/>
          <p:nvPr/>
        </p:nvSpPr>
        <p:spPr>
          <a:xfrm>
            <a:off x="457200" y="182880"/>
            <a:ext cx="3840480" cy="256032"/>
          </a:xfrm>
          <a:prstGeom prst="rect">
            <a:avLst/>
          </a:prstGeom>
          <a:noFill/>
          <a:ln/>
        </p:spPr>
        <p:txBody>
          <a:bodyPr wrap="square" lIns="0" tIns="0" rIns="0" bIns="0" rtlCol="0" anchor="ctr"/>
          <a:lstStyle/>
          <a:p>
            <a:pPr indent="0" marL="0">
              <a:buNone/>
            </a:pPr>
            <a:r>
              <a:rPr lang="en-US" sz="900" b="1" spc="200" kern="0" dirty="0">
                <a:solidFill>
                  <a:srgbClr val="E8636B"/>
                </a:solidFill>
                <a:latin typeface="Calibri" pitchFamily="34" charset="0"/>
                <a:ea typeface="Calibri" pitchFamily="34" charset="-122"/>
                <a:cs typeface="Calibri" pitchFamily="34" charset="-120"/>
              </a:rPr>
              <a:t>GUIDED PRACTICE — CRITIQUE</a:t>
            </a:r>
            <a:endParaRPr lang="en-US" sz="900" dirty="0"/>
          </a:p>
        </p:txBody>
      </p:sp>
      <p:sp>
        <p:nvSpPr>
          <p:cNvPr id="5" name="Text 3"/>
          <p:cNvSpPr/>
          <p:nvPr/>
        </p:nvSpPr>
        <p:spPr>
          <a:xfrm>
            <a:off x="457200" y="475488"/>
            <a:ext cx="8229600" cy="457200"/>
          </a:xfrm>
          <a:prstGeom prst="rect">
            <a:avLst/>
          </a:prstGeom>
          <a:noFill/>
          <a:ln/>
        </p:spPr>
        <p:txBody>
          <a:bodyPr wrap="square" lIns="0" tIns="0" rIns="0" bIns="0" rtlCol="0" anchor="ctr"/>
          <a:lstStyle/>
          <a:p>
            <a:pPr algn="l" indent="0" marL="0">
              <a:buNone/>
            </a:pPr>
            <a:r>
              <a:rPr lang="en-US" sz="2200" b="1" dirty="0">
                <a:solidFill>
                  <a:srgbClr val="0E1C42"/>
                </a:solidFill>
                <a:latin typeface="Cambria" pitchFamily="34" charset="0"/>
                <a:ea typeface="Cambria" pitchFamily="34" charset="-122"/>
                <a:cs typeface="Cambria" pitchFamily="34" charset="-120"/>
              </a:rPr>
              <a:t>What Is Wrong with This Reasoning?</a:t>
            </a:r>
            <a:endParaRPr lang="en-US" sz="2200" dirty="0"/>
          </a:p>
        </p:txBody>
      </p:sp>
      <p:sp>
        <p:nvSpPr>
          <p:cNvPr id="6" name="Shape 4"/>
          <p:cNvSpPr/>
          <p:nvPr/>
        </p:nvSpPr>
        <p:spPr>
          <a:xfrm>
            <a:off x="457200" y="1024128"/>
            <a:ext cx="8229600" cy="1417320"/>
          </a:xfrm>
          <a:prstGeom prst="roundRect">
            <a:avLst>
              <a:gd name="adj" fmla="val 9032"/>
            </a:avLst>
          </a:prstGeom>
          <a:solidFill>
            <a:srgbClr val="FFF0F0"/>
          </a:solidFill>
          <a:ln w="25400">
            <a:solidFill>
              <a:srgbClr val="E8636B"/>
            </a:solidFill>
            <a:prstDash val="solid"/>
          </a:ln>
        </p:spPr>
      </p:sp>
      <p:sp>
        <p:nvSpPr>
          <p:cNvPr id="7" name="Text 5"/>
          <p:cNvSpPr/>
          <p:nvPr/>
        </p:nvSpPr>
        <p:spPr>
          <a:xfrm>
            <a:off x="640080" y="1078992"/>
            <a:ext cx="2743200" cy="256032"/>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FLAWED ARGUMENT:</a:t>
            </a:r>
            <a:endParaRPr lang="en-US" sz="900" dirty="0"/>
          </a:p>
        </p:txBody>
      </p:sp>
      <p:sp>
        <p:nvSpPr>
          <p:cNvPr id="8" name="Text 6"/>
          <p:cNvSpPr/>
          <p:nvPr/>
        </p:nvSpPr>
        <p:spPr>
          <a:xfrm>
            <a:off x="640080" y="1371600"/>
            <a:ext cx="7863840" cy="960120"/>
          </a:xfrm>
          <a:prstGeom prst="rect">
            <a:avLst/>
          </a:prstGeom>
          <a:noFill/>
          <a:ln/>
        </p:spPr>
        <p:txBody>
          <a:bodyPr wrap="square" lIns="0" tIns="0" rIns="0" bIns="0" rtlCol="0" anchor="t"/>
          <a:lstStyle/>
          <a:p>
            <a:pPr algn="l" indent="0" marL="0">
              <a:buNone/>
            </a:pPr>
            <a:r>
              <a:rPr lang="en-US" sz="1300" i="1" dirty="0">
                <a:solidFill>
                  <a:srgbClr val="0E1C42"/>
                </a:solidFill>
                <a:latin typeface="Cambria" pitchFamily="34" charset="0"/>
                <a:ea typeface="Cambria" pitchFamily="34" charset="-122"/>
                <a:cs typeface="Cambria" pitchFamily="34" charset="-120"/>
              </a:rPr>
              <a:t>"European colonization was good for Florida because it built St. Augustine, the oldest city in the United States. Since St. Augustine is still here today, colonization clearly had a positive impact. The Spanish brought civilization to Florida."</a:t>
            </a:r>
            <a:endParaRPr lang="en-US" sz="1300" dirty="0"/>
          </a:p>
        </p:txBody>
      </p:sp>
      <p:sp>
        <p:nvSpPr>
          <p:cNvPr id="9" name="Shape 7"/>
          <p:cNvSpPr/>
          <p:nvPr/>
        </p:nvSpPr>
        <p:spPr>
          <a:xfrm>
            <a:off x="457200" y="2606040"/>
            <a:ext cx="3931920" cy="1645920"/>
          </a:xfrm>
          <a:prstGeom prst="roundRect">
            <a:avLst>
              <a:gd name="adj" fmla="val 7778"/>
            </a:avLst>
          </a:prstGeom>
          <a:solidFill>
            <a:srgbClr val="FFFFFF"/>
          </a:solidFill>
          <a:ln w="19050">
            <a:solidFill>
              <a:srgbClr val="E8636B"/>
            </a:solidFill>
            <a:prstDash val="solid"/>
          </a:ln>
        </p:spPr>
      </p:sp>
      <p:sp>
        <p:nvSpPr>
          <p:cNvPr id="10" name="Text 8"/>
          <p:cNvSpPr/>
          <p:nvPr/>
        </p:nvSpPr>
        <p:spPr>
          <a:xfrm>
            <a:off x="640080" y="2697480"/>
            <a:ext cx="3383280" cy="256032"/>
          </a:xfrm>
          <a:prstGeom prst="rect">
            <a:avLst/>
          </a:prstGeom>
          <a:noFill/>
          <a:ln/>
        </p:spPr>
        <p:txBody>
          <a:bodyPr wrap="square" lIns="0" tIns="0" rIns="0" bIns="0" rtlCol="0" anchor="ctr"/>
          <a:lstStyle/>
          <a:p>
            <a:pPr indent="0" marL="0">
              <a:buNone/>
            </a:pPr>
            <a:r>
              <a:rPr lang="en-US" sz="1000" b="1" spc="100" kern="0" dirty="0">
                <a:solidFill>
                  <a:srgbClr val="E8636B"/>
                </a:solidFill>
                <a:latin typeface="Calibri" pitchFamily="34" charset="0"/>
                <a:ea typeface="Calibri" pitchFamily="34" charset="-122"/>
                <a:cs typeface="Calibri" pitchFamily="34" charset="-120"/>
              </a:rPr>
              <a:t>WHAT IS WRONG?</a:t>
            </a:r>
            <a:endParaRPr lang="en-US" sz="1000" dirty="0"/>
          </a:p>
        </p:txBody>
      </p:sp>
      <p:sp>
        <p:nvSpPr>
          <p:cNvPr id="11" name="Text 9"/>
          <p:cNvSpPr/>
          <p:nvPr/>
        </p:nvSpPr>
        <p:spPr>
          <a:xfrm>
            <a:off x="594360" y="2999232"/>
            <a:ext cx="3657600" cy="1143000"/>
          </a:xfrm>
          <a:prstGeom prst="rect">
            <a:avLst/>
          </a:prstGeom>
          <a:noFill/>
          <a:ln/>
        </p:spPr>
        <p:txBody>
          <a:bodyPr wrap="square" lIns="0" tIns="0" rIns="0" bIns="0" rtlCol="0" anchor="t"/>
          <a:lstStyle/>
          <a:p>
            <a:pPr algn="l" indent="0" marL="0">
              <a:buNone/>
            </a:pPr>
            <a:r>
              <a:rPr lang="en-US" sz="1100" dirty="0">
                <a:solidFill>
                  <a:srgbClr val="0E1C42"/>
                </a:solidFill>
                <a:latin typeface="Calibri" pitchFamily="34" charset="0"/>
                <a:ea typeface="Calibri" pitchFamily="34" charset="-122"/>
                <a:cs typeface="Calibri" pitchFamily="34" charset="-120"/>
              </a:rPr>
              <a:t>This argument uses ONLY one effect and ignores others. It centers the Spanish perspective only. It defines 'civilization' in a way that erases what was already here. What evidence is missing?</a:t>
            </a:r>
            <a:endParaRPr lang="en-US" sz="1100" dirty="0"/>
          </a:p>
        </p:txBody>
      </p:sp>
      <p:sp>
        <p:nvSpPr>
          <p:cNvPr id="12" name="Shape 10"/>
          <p:cNvSpPr/>
          <p:nvPr/>
        </p:nvSpPr>
        <p:spPr>
          <a:xfrm>
            <a:off x="4572000" y="2606040"/>
            <a:ext cx="4114800" cy="1645920"/>
          </a:xfrm>
          <a:prstGeom prst="roundRect">
            <a:avLst>
              <a:gd name="adj" fmla="val 7778"/>
            </a:avLst>
          </a:prstGeom>
          <a:solidFill>
            <a:srgbClr val="FFFFFF"/>
          </a:solidFill>
          <a:ln w="19050">
            <a:solidFill>
              <a:srgbClr val="34B76F"/>
            </a:solidFill>
            <a:prstDash val="solid"/>
          </a:ln>
        </p:spPr>
      </p:sp>
      <p:sp>
        <p:nvSpPr>
          <p:cNvPr id="13" name="Text 11"/>
          <p:cNvSpPr/>
          <p:nvPr/>
        </p:nvSpPr>
        <p:spPr>
          <a:xfrm>
            <a:off x="4754880" y="2697480"/>
            <a:ext cx="3749040" cy="256032"/>
          </a:xfrm>
          <a:prstGeom prst="rect">
            <a:avLst/>
          </a:prstGeom>
          <a:noFill/>
          <a:ln/>
        </p:spPr>
        <p:txBody>
          <a:bodyPr wrap="square" lIns="0" tIns="0" rIns="0" bIns="0" rtlCol="0" anchor="ctr"/>
          <a:lstStyle/>
          <a:p>
            <a:pPr indent="0" marL="0">
              <a:buNone/>
            </a:pPr>
            <a:r>
              <a:rPr lang="en-US" sz="1000" b="1" spc="100" kern="0" dirty="0">
                <a:solidFill>
                  <a:srgbClr val="34B76F"/>
                </a:solidFill>
                <a:latin typeface="Calibri" pitchFamily="34" charset="0"/>
                <a:ea typeface="Calibri" pitchFamily="34" charset="-122"/>
                <a:cs typeface="Calibri" pitchFamily="34" charset="-120"/>
              </a:rPr>
              <a:t>A STRONGER ARGUMENT:</a:t>
            </a:r>
            <a:endParaRPr lang="en-US" sz="1000" dirty="0"/>
          </a:p>
        </p:txBody>
      </p:sp>
      <p:sp>
        <p:nvSpPr>
          <p:cNvPr id="14" name="Text 12"/>
          <p:cNvSpPr/>
          <p:nvPr/>
        </p:nvSpPr>
        <p:spPr>
          <a:xfrm>
            <a:off x="4709160" y="2999232"/>
            <a:ext cx="3840480" cy="1143000"/>
          </a:xfrm>
          <a:prstGeom prst="rect">
            <a:avLst/>
          </a:prstGeom>
          <a:noFill/>
          <a:ln/>
        </p:spPr>
        <p:txBody>
          <a:bodyPr wrap="square" lIns="0" tIns="0" rIns="0" bIns="0" rtlCol="0" anchor="t"/>
          <a:lstStyle/>
          <a:p>
            <a:pPr algn="l" indent="0" marL="0">
              <a:buNone/>
            </a:pPr>
            <a:r>
              <a:rPr lang="en-US" sz="1100" dirty="0">
                <a:solidFill>
                  <a:srgbClr val="0E1C42"/>
                </a:solidFill>
                <a:latin typeface="Calibri" pitchFamily="34" charset="0"/>
                <a:ea typeface="Calibri" pitchFamily="34" charset="-122"/>
                <a:cs typeface="Calibri" pitchFamily="34" charset="-120"/>
              </a:rPr>
              <a:t>Acknowledge St. Augustine as a real, lasting effect — and also acknowledge the cost: land taken, communities destroyed, disease. Both belong in the same argument. That is what makes an argument honest.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109728"/>
          </a:xfrm>
          <a:prstGeom prst="rect">
            <a:avLst/>
          </a:prstGeom>
          <a:solidFill>
            <a:srgbClr val="8B6FC0"/>
          </a:solidFill>
          <a:ln w="12700">
            <a:solidFill>
              <a:srgbClr val="8B6FC0"/>
            </a:solidFill>
            <a:prstDash val="solid"/>
          </a:ln>
        </p:spPr>
      </p:sp>
      <p:sp>
        <p:nvSpPr>
          <p:cNvPr id="4" name="Text 2"/>
          <p:cNvSpPr/>
          <p:nvPr/>
        </p:nvSpPr>
        <p:spPr>
          <a:xfrm>
            <a:off x="457200" y="182880"/>
            <a:ext cx="4114800" cy="256032"/>
          </a:xfrm>
          <a:prstGeom prst="rect">
            <a:avLst/>
          </a:prstGeom>
          <a:noFill/>
          <a:ln/>
        </p:spPr>
        <p:txBody>
          <a:bodyPr wrap="square" lIns="0" tIns="0" rIns="0" bIns="0" rtlCol="0" anchor="ctr"/>
          <a:lstStyle/>
          <a:p>
            <a:pPr indent="0" marL="0">
              <a:buNone/>
            </a:pPr>
            <a:r>
              <a:rPr lang="en-US" sz="900" b="1" spc="200" kern="0" dirty="0">
                <a:solidFill>
                  <a:srgbClr val="8B6FC0"/>
                </a:solidFill>
                <a:latin typeface="Calibri" pitchFamily="34" charset="0"/>
                <a:ea typeface="Calibri" pitchFamily="34" charset="-122"/>
                <a:cs typeface="Calibri" pitchFamily="34" charset="-120"/>
              </a:rPr>
              <a:t>GUIDED PRACTICE — TRICKY ONE</a:t>
            </a:r>
            <a:endParaRPr lang="en-US" sz="900" dirty="0"/>
          </a:p>
        </p:txBody>
      </p:sp>
      <p:sp>
        <p:nvSpPr>
          <p:cNvPr id="5" name="Text 3"/>
          <p:cNvSpPr/>
          <p:nvPr/>
        </p:nvSpPr>
        <p:spPr>
          <a:xfrm>
            <a:off x="457200" y="475488"/>
            <a:ext cx="8229600" cy="457200"/>
          </a:xfrm>
          <a:prstGeom prst="rect">
            <a:avLst/>
          </a:prstGeom>
          <a:noFill/>
          <a:ln/>
        </p:spPr>
        <p:txBody>
          <a:bodyPr wrap="square" lIns="0" tIns="0" rIns="0" bIns="0" rtlCol="0" anchor="ctr"/>
          <a:lstStyle/>
          <a:p>
            <a:pPr algn="l" indent="0" marL="0">
              <a:buNone/>
            </a:pPr>
            <a:r>
              <a:rPr lang="en-US" sz="2200" b="1" dirty="0">
                <a:solidFill>
                  <a:srgbClr val="0E1C42"/>
                </a:solidFill>
                <a:latin typeface="Cambria" pitchFamily="34" charset="0"/>
                <a:ea typeface="Cambria" pitchFamily="34" charset="-122"/>
                <a:cs typeface="Cambria" pitchFamily="34" charset="-120"/>
              </a:rPr>
              <a:t>When Evidence Points Both Ways</a:t>
            </a:r>
            <a:endParaRPr lang="en-US" sz="2200" dirty="0"/>
          </a:p>
        </p:txBody>
      </p:sp>
      <p:sp>
        <p:nvSpPr>
          <p:cNvPr id="6" name="Shape 4"/>
          <p:cNvSpPr/>
          <p:nvPr/>
        </p:nvSpPr>
        <p:spPr>
          <a:xfrm>
            <a:off x="457200" y="1024128"/>
            <a:ext cx="8229600" cy="621792"/>
          </a:xfrm>
          <a:prstGeom prst="roundRect">
            <a:avLst>
              <a:gd name="adj" fmla="val 17647"/>
            </a:avLst>
          </a:prstGeom>
          <a:solidFill>
            <a:srgbClr val="EEE8F8"/>
          </a:solidFill>
          <a:ln w="19050">
            <a:solidFill>
              <a:srgbClr val="8B6FC0"/>
            </a:solidFill>
            <a:prstDash val="solid"/>
          </a:ln>
        </p:spPr>
      </p:sp>
      <p:sp>
        <p:nvSpPr>
          <p:cNvPr id="7" name="Text 5"/>
          <p:cNvSpPr/>
          <p:nvPr/>
        </p:nvSpPr>
        <p:spPr>
          <a:xfrm>
            <a:off x="594360" y="1051560"/>
            <a:ext cx="7955280" cy="566928"/>
          </a:xfrm>
          <a:prstGeom prst="rect">
            <a:avLst/>
          </a:prstGeom>
          <a:noFill/>
          <a:ln/>
        </p:spPr>
        <p:txBody>
          <a:bodyPr wrap="square" lIns="0" tIns="0" rIns="0" bIns="0" rtlCol="0" anchor="ctr"/>
          <a:lstStyle/>
          <a:p>
            <a:pPr algn="l" indent="0" marL="0">
              <a:buNone/>
            </a:pPr>
            <a:r>
              <a:rPr lang="en-US" sz="1200" dirty="0">
                <a:solidFill>
                  <a:srgbClr val="0E1C42"/>
                </a:solidFill>
                <a:latin typeface="Calibri" pitchFamily="34" charset="0"/>
                <a:ea typeface="Calibri" pitchFamily="34" charset="-122"/>
                <a:cs typeface="Calibri" pitchFamily="34" charset="-120"/>
              </a:rPr>
              <a:t>SCENARIO: The Spanish founded St. Augustine — a permanent settlement that still exists today. They also brought disease that destroyed the Timucua and Apalachee nations. Was founding St. Augustine courageous or harmful?</a:t>
            </a:r>
            <a:endParaRPr lang="en-US" sz="1200" dirty="0"/>
          </a:p>
        </p:txBody>
      </p:sp>
      <p:sp>
        <p:nvSpPr>
          <p:cNvPr id="8" name="Shape 6"/>
          <p:cNvSpPr/>
          <p:nvPr/>
        </p:nvSpPr>
        <p:spPr>
          <a:xfrm>
            <a:off x="457200" y="1783080"/>
            <a:ext cx="3931920" cy="1508760"/>
          </a:xfrm>
          <a:prstGeom prst="roundRect">
            <a:avLst>
              <a:gd name="adj" fmla="val 7273"/>
            </a:avLst>
          </a:prstGeom>
          <a:solidFill>
            <a:srgbClr val="FFFFFF"/>
          </a:solidFill>
          <a:ln w="25400">
            <a:solidFill>
              <a:srgbClr val="34B76F"/>
            </a:solidFill>
            <a:prstDash val="solid"/>
          </a:ln>
        </p:spPr>
      </p:sp>
      <p:sp>
        <p:nvSpPr>
          <p:cNvPr id="9" name="Text 7"/>
          <p:cNvSpPr/>
          <p:nvPr/>
        </p:nvSpPr>
        <p:spPr>
          <a:xfrm>
            <a:off x="640080" y="1874520"/>
            <a:ext cx="3566160" cy="256032"/>
          </a:xfrm>
          <a:prstGeom prst="rect">
            <a:avLst/>
          </a:prstGeom>
          <a:noFill/>
          <a:ln/>
        </p:spPr>
        <p:txBody>
          <a:bodyPr wrap="square" lIns="0" tIns="0" rIns="0" bIns="0" rtlCol="0" anchor="ctr"/>
          <a:lstStyle/>
          <a:p>
            <a:pPr indent="0" marL="0">
              <a:buNone/>
            </a:pPr>
            <a:r>
              <a:rPr lang="en-US" sz="1000" b="1" spc="100" kern="0" dirty="0">
                <a:solidFill>
                  <a:srgbClr val="34B76F"/>
                </a:solidFill>
                <a:latin typeface="Calibri" pitchFamily="34" charset="0"/>
                <a:ea typeface="Calibri" pitchFamily="34" charset="-122"/>
                <a:cs typeface="Calibri" pitchFamily="34" charset="-120"/>
              </a:rPr>
              <a:t>EVIDENCE FOR COURAGEOUS</a:t>
            </a:r>
            <a:endParaRPr lang="en-US" sz="1000" dirty="0"/>
          </a:p>
        </p:txBody>
      </p:sp>
      <p:sp>
        <p:nvSpPr>
          <p:cNvPr id="10" name="Text 8"/>
          <p:cNvSpPr/>
          <p:nvPr/>
        </p:nvSpPr>
        <p:spPr>
          <a:xfrm>
            <a:off x="594360" y="2176272"/>
            <a:ext cx="3657600" cy="1005840"/>
          </a:xfrm>
          <a:prstGeom prst="rect">
            <a:avLst/>
          </a:prstGeom>
          <a:noFill/>
          <a:ln/>
        </p:spPr>
        <p:txBody>
          <a:bodyPr wrap="square" lIns="0" tIns="0" rIns="0" bIns="0" rtlCol="0" anchor="t"/>
          <a:lstStyle/>
          <a:p>
            <a:pPr algn="l" indent="0" marL="0">
              <a:buNone/>
            </a:pPr>
            <a:r>
              <a:rPr lang="en-US" sz="1100" dirty="0">
                <a:solidFill>
                  <a:srgbClr val="0E1C42"/>
                </a:solidFill>
                <a:latin typeface="Calibri" pitchFamily="34" charset="0"/>
                <a:ea typeface="Calibri" pitchFamily="34" charset="-122"/>
                <a:cs typeface="Calibri" pitchFamily="34" charset="-120"/>
              </a:rPr>
              <a:t>Crossing the Atlantic was genuinely dangerous. Building a permanent settlement required sacrifice and skill. St. Augustine survived attacks and still stands — a remarkable achievement.</a:t>
            </a:r>
            <a:endParaRPr lang="en-US" sz="1100" dirty="0"/>
          </a:p>
        </p:txBody>
      </p:sp>
      <p:sp>
        <p:nvSpPr>
          <p:cNvPr id="11" name="Shape 9"/>
          <p:cNvSpPr/>
          <p:nvPr/>
        </p:nvSpPr>
        <p:spPr>
          <a:xfrm>
            <a:off x="4572000" y="1783080"/>
            <a:ext cx="4114800" cy="1508760"/>
          </a:xfrm>
          <a:prstGeom prst="roundRect">
            <a:avLst>
              <a:gd name="adj" fmla="val 7273"/>
            </a:avLst>
          </a:prstGeom>
          <a:solidFill>
            <a:srgbClr val="FFFFFF"/>
          </a:solidFill>
          <a:ln w="25400">
            <a:solidFill>
              <a:srgbClr val="E8636B"/>
            </a:solidFill>
            <a:prstDash val="solid"/>
          </a:ln>
        </p:spPr>
      </p:sp>
      <p:sp>
        <p:nvSpPr>
          <p:cNvPr id="12" name="Text 10"/>
          <p:cNvSpPr/>
          <p:nvPr/>
        </p:nvSpPr>
        <p:spPr>
          <a:xfrm>
            <a:off x="4754880" y="1874520"/>
            <a:ext cx="3749040" cy="256032"/>
          </a:xfrm>
          <a:prstGeom prst="rect">
            <a:avLst/>
          </a:prstGeom>
          <a:noFill/>
          <a:ln/>
        </p:spPr>
        <p:txBody>
          <a:bodyPr wrap="square" lIns="0" tIns="0" rIns="0" bIns="0" rtlCol="0" anchor="ctr"/>
          <a:lstStyle/>
          <a:p>
            <a:pPr indent="0" marL="0">
              <a:buNone/>
            </a:pPr>
            <a:r>
              <a:rPr lang="en-US" sz="1000" b="1" spc="100" kern="0" dirty="0">
                <a:solidFill>
                  <a:srgbClr val="E8636B"/>
                </a:solidFill>
                <a:latin typeface="Calibri" pitchFamily="34" charset="0"/>
                <a:ea typeface="Calibri" pitchFamily="34" charset="-122"/>
                <a:cs typeface="Calibri" pitchFamily="34" charset="-120"/>
              </a:rPr>
              <a:t>EVIDENCE FOR HARMFUL</a:t>
            </a:r>
            <a:endParaRPr lang="en-US" sz="1000" dirty="0"/>
          </a:p>
        </p:txBody>
      </p:sp>
      <p:sp>
        <p:nvSpPr>
          <p:cNvPr id="13" name="Text 11"/>
          <p:cNvSpPr/>
          <p:nvPr/>
        </p:nvSpPr>
        <p:spPr>
          <a:xfrm>
            <a:off x="4709160" y="2176272"/>
            <a:ext cx="3840480" cy="1005840"/>
          </a:xfrm>
          <a:prstGeom prst="rect">
            <a:avLst/>
          </a:prstGeom>
          <a:noFill/>
          <a:ln/>
        </p:spPr>
        <p:txBody>
          <a:bodyPr wrap="square" lIns="0" tIns="0" rIns="0" bIns="0" rtlCol="0" anchor="t"/>
          <a:lstStyle/>
          <a:p>
            <a:pPr algn="l" indent="0" marL="0">
              <a:buNone/>
            </a:pPr>
            <a:r>
              <a:rPr lang="en-US" sz="1100" dirty="0">
                <a:solidFill>
                  <a:srgbClr val="0E1C42"/>
                </a:solidFill>
                <a:latin typeface="Calibri" pitchFamily="34" charset="0"/>
                <a:ea typeface="Calibri" pitchFamily="34" charset="-122"/>
                <a:cs typeface="Calibri" pitchFamily="34" charset="-120"/>
              </a:rPr>
              <a:t>The founding of St. Augustine displaced Timucua peoples from their territory. Spanish contact brought disease that killed tens of thousands. The city was built on land that was already home to communities.</a:t>
            </a:r>
            <a:endParaRPr lang="en-US" sz="1100" dirty="0"/>
          </a:p>
        </p:txBody>
      </p:sp>
      <p:sp>
        <p:nvSpPr>
          <p:cNvPr id="14" name="Shape 12"/>
          <p:cNvSpPr/>
          <p:nvPr/>
        </p:nvSpPr>
        <p:spPr>
          <a:xfrm>
            <a:off x="457200" y="3429000"/>
            <a:ext cx="8229600" cy="594360"/>
          </a:xfrm>
          <a:prstGeom prst="roundRect">
            <a:avLst>
              <a:gd name="adj" fmla="val 18462"/>
            </a:avLst>
          </a:prstGeom>
          <a:solidFill>
            <a:srgbClr val="1A2D5A"/>
          </a:solidFill>
          <a:ln w="25400">
            <a:solidFill>
              <a:srgbClr val="D4943A"/>
            </a:solidFill>
            <a:prstDash val="solid"/>
          </a:ln>
        </p:spPr>
      </p:sp>
      <p:sp>
        <p:nvSpPr>
          <p:cNvPr id="15" name="Text 13"/>
          <p:cNvSpPr/>
          <p:nvPr/>
        </p:nvSpPr>
        <p:spPr>
          <a:xfrm>
            <a:off x="594360" y="3456432"/>
            <a:ext cx="7955280" cy="54864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RESOLUTION: Reasonable people looking at the same evidence can reach different conclusions based on whose experience they center. Honest historians say BOTH/AND — the achievement is real, and so is the cost.</a:t>
            </a:r>
            <a:endParaRPr lang="en-US" sz="1200" dirty="0"/>
          </a:p>
        </p:txBody>
      </p:sp>
      <p:sp>
        <p:nvSpPr>
          <p:cNvPr id="16" name="Shape 14"/>
          <p:cNvSpPr/>
          <p:nvPr/>
        </p:nvSpPr>
        <p:spPr>
          <a:xfrm>
            <a:off x="457200" y="4133088"/>
            <a:ext cx="8229600" cy="566928"/>
          </a:xfrm>
          <a:prstGeom prst="roundRect">
            <a:avLst>
              <a:gd name="adj" fmla="val 16129"/>
            </a:avLst>
          </a:prstGeom>
          <a:solidFill>
            <a:srgbClr val="FFF3DC"/>
          </a:solidFill>
          <a:ln w="12700">
            <a:solidFill>
              <a:srgbClr val="D4943A"/>
            </a:solidFill>
            <a:prstDash val="solid"/>
          </a:ln>
        </p:spPr>
      </p:sp>
      <p:sp>
        <p:nvSpPr>
          <p:cNvPr id="17" name="Text 15"/>
          <p:cNvSpPr/>
          <p:nvPr/>
        </p:nvSpPr>
        <p:spPr>
          <a:xfrm>
            <a:off x="594360" y="4160520"/>
            <a:ext cx="7955280" cy="502920"/>
          </a:xfrm>
          <a:prstGeom prst="rect">
            <a:avLst/>
          </a:prstGeom>
          <a:noFill/>
          <a:ln/>
        </p:spPr>
        <p:txBody>
          <a:bodyPr wrap="square" lIns="0" tIns="0" rIns="0" bIns="0" rtlCol="0" anchor="ctr"/>
          <a:lstStyle/>
          <a:p>
            <a:pPr algn="l" indent="0" marL="0">
              <a:buNone/>
            </a:pPr>
            <a:r>
              <a:rPr lang="en-US" sz="1100" i="1" dirty="0">
                <a:solidFill>
                  <a:srgbClr val="5A4A3A"/>
                </a:solidFill>
                <a:latin typeface="Calibri" pitchFamily="34" charset="0"/>
                <a:ea typeface="Calibri" pitchFamily="34" charset="-122"/>
                <a:cs typeface="Calibri" pitchFamily="34" charset="-120"/>
              </a:rPr>
              <a:t>TRANSFERABLE PATTERN: When contact happens between two civilizations, the same events look different from different positions of power. Holding both perspectives is what makes a historian honest.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3200400" cy="347472"/>
          </a:xfrm>
          <a:prstGeom prst="roundRect">
            <a:avLst>
              <a:gd name="adj" fmla="val 26316"/>
            </a:avLst>
          </a:prstGeom>
          <a:solidFill>
            <a:srgbClr val="D4943A"/>
          </a:solidFill>
          <a:ln w="12700">
            <a:solidFill>
              <a:srgbClr val="D4943A"/>
            </a:solidFill>
            <a:prstDash val="solid"/>
          </a:ln>
        </p:spPr>
      </p:sp>
      <p:sp>
        <p:nvSpPr>
          <p:cNvPr id="6" name="Text 3"/>
          <p:cNvSpPr/>
          <p:nvPr/>
        </p:nvSpPr>
        <p:spPr>
          <a:xfrm>
            <a:off x="457200" y="274320"/>
            <a:ext cx="3200400" cy="347472"/>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KEY CONCEPT — HONEST HISTORY</a:t>
            </a:r>
            <a:endParaRPr lang="en-US" sz="1000" dirty="0"/>
          </a:p>
        </p:txBody>
      </p:sp>
      <p:sp>
        <p:nvSpPr>
          <p:cNvPr id="7" name="Text 4"/>
          <p:cNvSpPr/>
          <p:nvPr/>
        </p:nvSpPr>
        <p:spPr>
          <a:xfrm>
            <a:off x="457200" y="795528"/>
            <a:ext cx="2743200" cy="347472"/>
          </a:xfrm>
          <a:prstGeom prst="rect">
            <a:avLst/>
          </a:prstGeom>
          <a:noFill/>
          <a:ln/>
        </p:spPr>
        <p:txBody>
          <a:bodyPr wrap="square" lIns="0" tIns="0" rIns="0" bIns="0" rtlCol="0" anchor="ctr"/>
          <a:lstStyle/>
          <a:p>
            <a:pPr algn="l" indent="0" marL="0">
              <a:buNone/>
            </a:pPr>
            <a:r>
              <a:rPr lang="en-US" sz="1400" i="1" dirty="0">
                <a:solidFill>
                  <a:srgbClr val="D4943A"/>
                </a:solidFill>
                <a:latin typeface="Calibri" pitchFamily="34" charset="0"/>
                <a:ea typeface="Calibri" pitchFamily="34" charset="-122"/>
                <a:cs typeface="Calibri" pitchFamily="34" charset="-120"/>
              </a:rPr>
              <a:t>You found it:</a:t>
            </a:r>
            <a:endParaRPr lang="en-US" sz="1400" dirty="0"/>
          </a:p>
        </p:txBody>
      </p:sp>
      <p:sp>
        <p:nvSpPr>
          <p:cNvPr id="8" name="Text 5"/>
          <p:cNvSpPr/>
          <p:nvPr/>
        </p:nvSpPr>
        <p:spPr>
          <a:xfrm>
            <a:off x="457200" y="1170432"/>
            <a:ext cx="8229600" cy="137160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An Honest Historian Says</a:t>
            </a:r>
            <a:endParaRPr lang="en-US" sz="4000" dirty="0"/>
          </a:p>
          <a:p>
            <a:pPr algn="l" indent="0" marL="0">
              <a:buNone/>
            </a:pPr>
            <a:r>
              <a:rPr lang="en-US" sz="4000" b="1" dirty="0">
                <a:solidFill>
                  <a:srgbClr val="FFFFFF"/>
                </a:solidFill>
                <a:latin typeface="Cambria" pitchFamily="34" charset="0"/>
                <a:ea typeface="Cambria" pitchFamily="34" charset="-122"/>
                <a:cs typeface="Cambria" pitchFamily="34" charset="-120"/>
              </a:rPr>
              <a:t>Both / And</a:t>
            </a:r>
            <a:endParaRPr lang="en-US" sz="4000" dirty="0"/>
          </a:p>
        </p:txBody>
      </p:sp>
      <p:sp>
        <p:nvSpPr>
          <p:cNvPr id="9" name="Shape 6"/>
          <p:cNvSpPr/>
          <p:nvPr/>
        </p:nvSpPr>
        <p:spPr>
          <a:xfrm>
            <a:off x="457200" y="2697480"/>
            <a:ext cx="8229600" cy="1371600"/>
          </a:xfrm>
          <a:prstGeom prst="roundRect">
            <a:avLst>
              <a:gd name="adj" fmla="val 9333"/>
            </a:avLst>
          </a:prstGeom>
          <a:solidFill>
            <a:srgbClr val="1A2D5A"/>
          </a:solidFill>
          <a:ln w="25400">
            <a:solidFill>
              <a:srgbClr val="D4943A"/>
            </a:solidFill>
            <a:prstDash val="solid"/>
          </a:ln>
        </p:spPr>
      </p:sp>
      <p:sp>
        <p:nvSpPr>
          <p:cNvPr id="10" name="Text 7"/>
          <p:cNvSpPr/>
          <p:nvPr/>
        </p:nvSpPr>
        <p:spPr>
          <a:xfrm>
            <a:off x="594360" y="2788920"/>
            <a:ext cx="7955280" cy="1207008"/>
          </a:xfrm>
          <a:prstGeom prst="rect">
            <a:avLst/>
          </a:prstGeom>
          <a:noFill/>
          <a:ln/>
        </p:spPr>
        <p:txBody>
          <a:bodyPr wrap="square" lIns="0" tIns="0" rIns="0" bIns="0" rtlCol="0" anchor="t"/>
          <a:lstStyle/>
          <a:p>
            <a:pPr algn="l" indent="0" marL="0">
              <a:buNone/>
            </a:pPr>
            <a:r>
              <a:rPr lang="en-US" sz="1300" dirty="0">
                <a:solidFill>
                  <a:srgbClr val="F0F2F8"/>
                </a:solidFill>
                <a:latin typeface="Calibri" pitchFamily="34" charset="0"/>
                <a:ea typeface="Calibri" pitchFamily="34" charset="-122"/>
                <a:cs typeface="Calibri" pitchFamily="34" charset="-120"/>
              </a:rPr>
              <a:t>European colonization had identifiable causes — God, Gold, and Glory; rivalry between three powers; search for new resources — and identifiable effects: catastrophic disease, Spanish missions, the rise of St. Augustine, the slow loss of First Peoples nations, and eventually English control.</a:t>
            </a:r>
            <a:endParaRPr lang="en-US" sz="1300" dirty="0"/>
          </a:p>
          <a:p>
            <a:pPr algn="l" indent="0" marL="0">
              <a:buNone/>
            </a:pPr>
            <a:endParaRPr lang="en-US" sz="1300" dirty="0"/>
          </a:p>
          <a:p>
            <a:pPr algn="l" indent="0" marL="0">
              <a:buNone/>
            </a:pPr>
            <a:r>
              <a:rPr lang="en-US" sz="1300" dirty="0">
                <a:solidFill>
                  <a:srgbClr val="F0F2F8"/>
                </a:solidFill>
                <a:latin typeface="Calibri" pitchFamily="34" charset="0"/>
                <a:ea typeface="Calibri" pitchFamily="34" charset="-122"/>
                <a:cs typeface="Calibri" pitchFamily="34" charset="-120"/>
              </a:rPr>
              <a:t>An honest historian holds BOTH halves of the picture together: courage and cost, faith and force, settlement and loss.</a:t>
            </a:r>
            <a:endParaRPr lang="en-US" sz="1300" dirty="0"/>
          </a:p>
        </p:txBody>
      </p:sp>
      <p:sp>
        <p:nvSpPr>
          <p:cNvPr id="11" name="Shape 8"/>
          <p:cNvSpPr/>
          <p:nvPr/>
        </p:nvSpPr>
        <p:spPr>
          <a:xfrm>
            <a:off x="457200" y="4187952"/>
            <a:ext cx="8229600" cy="45720"/>
          </a:xfrm>
          <a:prstGeom prst="rect">
            <a:avLst/>
          </a:prstGeom>
          <a:solidFill>
            <a:srgbClr val="55C8E8"/>
          </a:solidFill>
          <a:ln w="12700">
            <a:solidFill>
              <a:srgbClr val="55C8E8"/>
            </a:solidFill>
            <a:prstDash val="solid"/>
          </a:ln>
        </p:spPr>
      </p:sp>
      <p:sp>
        <p:nvSpPr>
          <p:cNvPr id="12" name="Text 9"/>
          <p:cNvSpPr/>
          <p:nvPr/>
        </p:nvSpPr>
        <p:spPr>
          <a:xfrm>
            <a:off x="457200" y="4279392"/>
            <a:ext cx="8229600" cy="365760"/>
          </a:xfrm>
          <a:prstGeom prst="rect">
            <a:avLst/>
          </a:prstGeom>
          <a:noFill/>
          <a:ln/>
        </p:spPr>
        <p:txBody>
          <a:bodyPr wrap="square" lIns="0" tIns="0" rIns="0" bIns="0" rtlCol="0" anchor="ctr"/>
          <a:lstStyle/>
          <a:p>
            <a:pPr algn="ctr" indent="0" marL="0">
              <a:buNone/>
            </a:pPr>
            <a:r>
              <a:rPr lang="en-US" sz="1300" i="1" dirty="0">
                <a:solidFill>
                  <a:srgbClr val="D4943A"/>
                </a:solidFill>
                <a:latin typeface="Calibri" pitchFamily="34" charset="0"/>
                <a:ea typeface="Calibri" pitchFamily="34" charset="-122"/>
                <a:cs typeface="Calibri" pitchFamily="34" charset="-120"/>
              </a:rPr>
              <a:t>Florida today exists because of ALL of these effects — and remembering them clearly is the work of a Florida historian.</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3200400" y="274320"/>
            <a:ext cx="2743200" cy="384048"/>
          </a:xfrm>
          <a:prstGeom prst="roundRect">
            <a:avLst>
              <a:gd name="adj" fmla="val 28571"/>
            </a:avLst>
          </a:prstGeom>
          <a:solidFill>
            <a:srgbClr val="8B6FC0"/>
          </a:solidFill>
          <a:ln w="12700">
            <a:solidFill>
              <a:srgbClr val="8B6FC0"/>
            </a:solidFill>
            <a:prstDash val="solid"/>
          </a:ln>
        </p:spPr>
      </p:sp>
      <p:sp>
        <p:nvSpPr>
          <p:cNvPr id="6" name="Text 3"/>
          <p:cNvSpPr/>
          <p:nvPr/>
        </p:nvSpPr>
        <p:spPr>
          <a:xfrm>
            <a:off x="3200400" y="274320"/>
            <a:ext cx="274320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VIRTUE SPOTLIGHT</a:t>
            </a:r>
            <a:endParaRPr lang="en-US" sz="1200" dirty="0"/>
          </a:p>
        </p:txBody>
      </p:sp>
      <p:sp>
        <p:nvSpPr>
          <p:cNvPr id="7" name="Text 4"/>
          <p:cNvSpPr/>
          <p:nvPr/>
        </p:nvSpPr>
        <p:spPr>
          <a:xfrm>
            <a:off x="914400" y="868680"/>
            <a:ext cx="7315200" cy="1097280"/>
          </a:xfrm>
          <a:prstGeom prst="rect">
            <a:avLst/>
          </a:prstGeom>
          <a:noFill/>
          <a:ln/>
        </p:spPr>
        <p:txBody>
          <a:bodyPr wrap="square" lIns="0" tIns="0" rIns="0" bIns="0" rtlCol="0" anchor="ctr"/>
          <a:lstStyle/>
          <a:p>
            <a:pPr algn="ctr" indent="0" marL="0">
              <a:buNone/>
            </a:pPr>
            <a:r>
              <a:rPr lang="en-US" sz="5600" b="1" dirty="0">
                <a:solidFill>
                  <a:srgbClr val="D4943A"/>
                </a:solidFill>
                <a:latin typeface="Cambria" pitchFamily="34" charset="0"/>
                <a:ea typeface="Cambria" pitchFamily="34" charset="-122"/>
                <a:cs typeface="Cambria" pitchFamily="34" charset="-120"/>
              </a:rPr>
              <a:t>Courage</a:t>
            </a:r>
            <a:endParaRPr lang="en-US" sz="5600" dirty="0"/>
          </a:p>
        </p:txBody>
      </p:sp>
      <p:sp>
        <p:nvSpPr>
          <p:cNvPr id="8" name="Shape 5"/>
          <p:cNvSpPr/>
          <p:nvPr/>
        </p:nvSpPr>
        <p:spPr>
          <a:xfrm>
            <a:off x="457200" y="2057400"/>
            <a:ext cx="8229600" cy="804672"/>
          </a:xfrm>
          <a:prstGeom prst="roundRect">
            <a:avLst>
              <a:gd name="adj" fmla="val 15909"/>
            </a:avLst>
          </a:prstGeom>
          <a:solidFill>
            <a:srgbClr val="1A2D5A"/>
          </a:solidFill>
          <a:ln w="19050">
            <a:solidFill>
              <a:srgbClr val="D4943A"/>
            </a:solidFill>
            <a:prstDash val="solid"/>
          </a:ln>
        </p:spPr>
      </p:sp>
      <p:sp>
        <p:nvSpPr>
          <p:cNvPr id="9" name="Text 6"/>
          <p:cNvSpPr/>
          <p:nvPr/>
        </p:nvSpPr>
        <p:spPr>
          <a:xfrm>
            <a:off x="594360" y="2121408"/>
            <a:ext cx="7955280" cy="685800"/>
          </a:xfrm>
          <a:prstGeom prst="rect">
            <a:avLst/>
          </a:prstGeom>
          <a:noFill/>
          <a:ln/>
        </p:spPr>
        <p:txBody>
          <a:bodyPr wrap="square" lIns="0" tIns="0" rIns="0" bIns="0" rtlCol="0" anchor="ctr"/>
          <a:lstStyle/>
          <a:p>
            <a:pPr algn="l" indent="0" marL="0">
              <a:buNone/>
            </a:pPr>
            <a:r>
              <a:rPr lang="en-US" sz="1300" dirty="0">
                <a:solidFill>
                  <a:srgbClr val="F0F2F8"/>
                </a:solidFill>
                <a:latin typeface="Calibri" pitchFamily="34" charset="0"/>
                <a:ea typeface="Calibri" pitchFamily="34" charset="-122"/>
                <a:cs typeface="Calibri" pitchFamily="34" charset="-120"/>
              </a:rPr>
              <a:t>Courage means doing what is right or necessary even when it is difficult, dangerous, or uncertain. Spanish explorers showed courage crossing the Atlantic. First Peoples showed courage every day — facing disease, displacement, and change they did not choose.</a:t>
            </a:r>
            <a:endParaRPr lang="en-US" sz="1300" dirty="0"/>
          </a:p>
        </p:txBody>
      </p:sp>
      <p:sp>
        <p:nvSpPr>
          <p:cNvPr id="10" name="Shape 7"/>
          <p:cNvSpPr/>
          <p:nvPr/>
        </p:nvSpPr>
        <p:spPr>
          <a:xfrm>
            <a:off x="457200" y="2999232"/>
            <a:ext cx="8229600" cy="1280160"/>
          </a:xfrm>
          <a:prstGeom prst="roundRect">
            <a:avLst>
              <a:gd name="adj" fmla="val 10000"/>
            </a:avLst>
          </a:prstGeom>
          <a:solidFill>
            <a:srgbClr val="0E1C42"/>
          </a:solidFill>
          <a:ln w="19050">
            <a:solidFill>
              <a:srgbClr val="55C8E8"/>
            </a:solidFill>
            <a:prstDash val="solid"/>
          </a:ln>
        </p:spPr>
      </p:sp>
      <p:sp>
        <p:nvSpPr>
          <p:cNvPr id="11" name="Text 8"/>
          <p:cNvSpPr/>
          <p:nvPr/>
        </p:nvSpPr>
        <p:spPr>
          <a:xfrm>
            <a:off x="640080" y="3090672"/>
            <a:ext cx="7863840" cy="27432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THE VIRTUE LENS ASKS THE HARDER QUESTION:</a:t>
            </a:r>
            <a:endParaRPr lang="en-US" sz="1000" dirty="0"/>
          </a:p>
        </p:txBody>
      </p:sp>
      <p:sp>
        <p:nvSpPr>
          <p:cNvPr id="12" name="Text 9"/>
          <p:cNvSpPr/>
          <p:nvPr/>
        </p:nvSpPr>
        <p:spPr>
          <a:xfrm>
            <a:off x="640080" y="3401568"/>
            <a:ext cx="7863840" cy="777240"/>
          </a:xfrm>
          <a:prstGeom prst="rect">
            <a:avLst/>
          </a:prstGeom>
          <a:noFill/>
          <a:ln/>
        </p:spPr>
        <p:txBody>
          <a:bodyPr wrap="square" lIns="0" tIns="0" rIns="0" bIns="0" rtlCol="0" anchor="t"/>
          <a:lstStyle/>
          <a:p>
            <a:pPr algn="l" indent="0" marL="0">
              <a:buNone/>
            </a:pPr>
            <a:r>
              <a:rPr lang="en-US" sz="1300" i="1" dirty="0">
                <a:solidFill>
                  <a:srgbClr val="F0F2F8"/>
                </a:solidFill>
                <a:latin typeface="Calibri" pitchFamily="34" charset="0"/>
                <a:ea typeface="Calibri" pitchFamily="34" charset="-122"/>
                <a:cs typeface="Calibri" pitchFamily="34" charset="-120"/>
              </a:rPr>
              <a:t>Was that courage used well? When honest historians answer, they do not say yes or no. They say both/and — both the courage and the cost belong in the record. The Virtue Lens does not excuse harm. It does not erase achievement. It holds both.</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109728"/>
          </a:xfrm>
          <a:prstGeom prst="rect">
            <a:avLst/>
          </a:prstGeom>
          <a:solidFill>
            <a:srgbClr val="D4943A"/>
          </a:solidFill>
          <a:ln w="12700">
            <a:solidFill>
              <a:srgbClr val="D4943A"/>
            </a:solidFill>
            <a:prstDash val="solid"/>
          </a:ln>
        </p:spPr>
      </p:sp>
      <p:sp>
        <p:nvSpPr>
          <p:cNvPr id="4" name="Text 2"/>
          <p:cNvSpPr/>
          <p:nvPr/>
        </p:nvSpPr>
        <p:spPr>
          <a:xfrm>
            <a:off x="457200" y="182880"/>
            <a:ext cx="3200400" cy="256032"/>
          </a:xfrm>
          <a:prstGeom prst="rect">
            <a:avLst/>
          </a:prstGeom>
          <a:noFill/>
          <a:ln/>
        </p:spPr>
        <p:txBody>
          <a:bodyPr wrap="square" lIns="0" tIns="0" rIns="0" bIns="0" rtlCol="0" anchor="ctr"/>
          <a:lstStyle/>
          <a:p>
            <a:pPr indent="0" marL="0">
              <a:buNone/>
            </a:pPr>
            <a:r>
              <a:rPr lang="en-US" sz="900" b="1" spc="200" kern="0" dirty="0">
                <a:solidFill>
                  <a:srgbClr val="D4943A"/>
                </a:solidFill>
                <a:latin typeface="Calibri" pitchFamily="34" charset="0"/>
                <a:ea typeface="Calibri" pitchFamily="34" charset="-122"/>
                <a:cs typeface="Calibri" pitchFamily="34" charset="-120"/>
              </a:rPr>
              <a:t>ASSIGNMENT PREVIEW</a:t>
            </a:r>
            <a:endParaRPr lang="en-US" sz="900" dirty="0"/>
          </a:p>
        </p:txBody>
      </p:sp>
      <p:sp>
        <p:nvSpPr>
          <p:cNvPr id="5" name="Text 3"/>
          <p:cNvSpPr/>
          <p:nvPr/>
        </p:nvSpPr>
        <p:spPr>
          <a:xfrm>
            <a:off x="457200" y="475488"/>
            <a:ext cx="8229600" cy="457200"/>
          </a:xfrm>
          <a:prstGeom prst="rect">
            <a:avLst/>
          </a:prstGeom>
          <a:noFill/>
          <a:ln/>
        </p:spPr>
        <p:txBody>
          <a:bodyPr wrap="square" lIns="0" tIns="0" rIns="0" bIns="0" rtlCol="0" anchor="ctr"/>
          <a:lstStyle/>
          <a:p>
            <a:pPr algn="l" indent="0" marL="0">
              <a:buNone/>
            </a:pPr>
            <a:r>
              <a:rPr lang="en-US" sz="2200" b="1" dirty="0">
                <a:solidFill>
                  <a:srgbClr val="0E1C42"/>
                </a:solidFill>
                <a:latin typeface="Cambria" pitchFamily="34" charset="0"/>
                <a:ea typeface="Cambria" pitchFamily="34" charset="-122"/>
                <a:cs typeface="Cambria" pitchFamily="34" charset="-120"/>
              </a:rPr>
              <a:t>Your Final Source Study of Unit 4</a:t>
            </a:r>
            <a:endParaRPr lang="en-US" sz="2200" dirty="0"/>
          </a:p>
        </p:txBody>
      </p:sp>
      <p:sp>
        <p:nvSpPr>
          <p:cNvPr id="6" name="Shape 4"/>
          <p:cNvSpPr/>
          <p:nvPr/>
        </p:nvSpPr>
        <p:spPr>
          <a:xfrm>
            <a:off x="457200" y="1051560"/>
            <a:ext cx="8229600" cy="621792"/>
          </a:xfrm>
          <a:prstGeom prst="roundRect">
            <a:avLst>
              <a:gd name="adj" fmla="val 14706"/>
            </a:avLst>
          </a:prstGeom>
          <a:solidFill>
            <a:srgbClr val="FFFFFF"/>
          </a:solidFill>
          <a:ln w="19050">
            <a:solidFill>
              <a:srgbClr val="D4943A"/>
            </a:solidFill>
            <a:prstDash val="solid"/>
          </a:ln>
        </p:spPr>
      </p:sp>
      <p:sp>
        <p:nvSpPr>
          <p:cNvPr id="7" name="Shape 5"/>
          <p:cNvSpPr/>
          <p:nvPr/>
        </p:nvSpPr>
        <p:spPr>
          <a:xfrm>
            <a:off x="457200" y="1051560"/>
            <a:ext cx="457200" cy="621792"/>
          </a:xfrm>
          <a:prstGeom prst="roundRect">
            <a:avLst>
              <a:gd name="adj" fmla="val 20000"/>
            </a:avLst>
          </a:prstGeom>
          <a:solidFill>
            <a:srgbClr val="D4943A"/>
          </a:solidFill>
          <a:ln w="12700">
            <a:solidFill>
              <a:srgbClr val="D4943A"/>
            </a:solidFill>
            <a:prstDash val="solid"/>
          </a:ln>
        </p:spPr>
      </p:sp>
      <p:sp>
        <p:nvSpPr>
          <p:cNvPr id="8" name="Text 6"/>
          <p:cNvSpPr/>
          <p:nvPr/>
        </p:nvSpPr>
        <p:spPr>
          <a:xfrm>
            <a:off x="457200" y="1051560"/>
            <a:ext cx="45720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Q1</a:t>
            </a:r>
            <a:endParaRPr lang="en-US" sz="1300" dirty="0"/>
          </a:p>
        </p:txBody>
      </p:sp>
      <p:sp>
        <p:nvSpPr>
          <p:cNvPr id="9" name="Text 7"/>
          <p:cNvSpPr/>
          <p:nvPr/>
        </p:nvSpPr>
        <p:spPr>
          <a:xfrm>
            <a:off x="1005840" y="1088136"/>
            <a:ext cx="6217920" cy="530352"/>
          </a:xfrm>
          <a:prstGeom prst="rect">
            <a:avLst/>
          </a:prstGeom>
          <a:noFill/>
          <a:ln/>
        </p:spPr>
        <p:txBody>
          <a:bodyPr wrap="square" lIns="0" tIns="0" rIns="0" bIns="0" rtlCol="0" anchor="ctr"/>
          <a:lstStyle/>
          <a:p>
            <a:pPr algn="l" indent="0" marL="0">
              <a:buNone/>
            </a:pPr>
            <a:r>
              <a:rPr lang="en-US" sz="1200" dirty="0">
                <a:solidFill>
                  <a:srgbClr val="0E1C42"/>
                </a:solidFill>
                <a:latin typeface="Calibri" pitchFamily="34" charset="0"/>
                <a:ea typeface="Calibri" pitchFamily="34" charset="-122"/>
                <a:cs typeface="Calibri" pitchFamily="34" charset="-120"/>
              </a:rPr>
              <a:t>Look at the mission record on Tab 2. What kind of book was this, and what does it count? Use details from the page.</a:t>
            </a:r>
            <a:endParaRPr lang="en-US" sz="1200" dirty="0"/>
          </a:p>
        </p:txBody>
      </p:sp>
      <p:sp>
        <p:nvSpPr>
          <p:cNvPr id="10" name="Text 8"/>
          <p:cNvSpPr/>
          <p:nvPr/>
        </p:nvSpPr>
        <p:spPr>
          <a:xfrm>
            <a:off x="7315200" y="1188720"/>
            <a:ext cx="1188720" cy="347472"/>
          </a:xfrm>
          <a:prstGeom prst="rect">
            <a:avLst/>
          </a:prstGeom>
          <a:noFill/>
          <a:ln/>
        </p:spPr>
        <p:txBody>
          <a:bodyPr wrap="square" lIns="0" tIns="0" rIns="0" bIns="0" rtlCol="0" anchor="ctr"/>
          <a:lstStyle/>
          <a:p>
            <a:pPr algn="r" indent="0" marL="0">
              <a:buNone/>
            </a:pPr>
            <a:r>
              <a:rPr lang="en-US" sz="800" i="1" dirty="0">
                <a:solidFill>
                  <a:srgbClr val="34B76F"/>
                </a:solidFill>
                <a:latin typeface="Calibri" pitchFamily="34" charset="0"/>
                <a:ea typeface="Calibri" pitchFamily="34" charset="-122"/>
                <a:cs typeface="Calibri" pitchFamily="34" charset="-120"/>
              </a:rPr>
              <a:t>Practiced: Slides 8 &amp; 9</a:t>
            </a:r>
            <a:endParaRPr lang="en-US" sz="800" dirty="0"/>
          </a:p>
        </p:txBody>
      </p:sp>
      <p:sp>
        <p:nvSpPr>
          <p:cNvPr id="11" name="Shape 9"/>
          <p:cNvSpPr/>
          <p:nvPr/>
        </p:nvSpPr>
        <p:spPr>
          <a:xfrm>
            <a:off x="457200" y="1764792"/>
            <a:ext cx="8229600" cy="621792"/>
          </a:xfrm>
          <a:prstGeom prst="roundRect">
            <a:avLst>
              <a:gd name="adj" fmla="val 14706"/>
            </a:avLst>
          </a:prstGeom>
          <a:solidFill>
            <a:srgbClr val="FFFFFF"/>
          </a:solidFill>
          <a:ln w="19050">
            <a:solidFill>
              <a:srgbClr val="D4943A"/>
            </a:solidFill>
            <a:prstDash val="solid"/>
          </a:ln>
        </p:spPr>
      </p:sp>
      <p:sp>
        <p:nvSpPr>
          <p:cNvPr id="12" name="Shape 10"/>
          <p:cNvSpPr/>
          <p:nvPr/>
        </p:nvSpPr>
        <p:spPr>
          <a:xfrm>
            <a:off x="457200" y="1764792"/>
            <a:ext cx="457200" cy="621792"/>
          </a:xfrm>
          <a:prstGeom prst="roundRect">
            <a:avLst>
              <a:gd name="adj" fmla="val 20000"/>
            </a:avLst>
          </a:prstGeom>
          <a:solidFill>
            <a:srgbClr val="D4943A"/>
          </a:solidFill>
          <a:ln w="12700">
            <a:solidFill>
              <a:srgbClr val="D4943A"/>
            </a:solidFill>
            <a:prstDash val="solid"/>
          </a:ln>
        </p:spPr>
      </p:sp>
      <p:sp>
        <p:nvSpPr>
          <p:cNvPr id="13" name="Text 11"/>
          <p:cNvSpPr/>
          <p:nvPr/>
        </p:nvSpPr>
        <p:spPr>
          <a:xfrm>
            <a:off x="457200" y="1764792"/>
            <a:ext cx="45720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14" name="Text 12"/>
          <p:cNvSpPr/>
          <p:nvPr/>
        </p:nvSpPr>
        <p:spPr>
          <a:xfrm>
            <a:off x="1005840" y="1801368"/>
            <a:ext cx="6217920" cy="530352"/>
          </a:xfrm>
          <a:prstGeom prst="rect">
            <a:avLst/>
          </a:prstGeom>
          <a:noFill/>
          <a:ln/>
        </p:spPr>
        <p:txBody>
          <a:bodyPr wrap="square" lIns="0" tIns="0" rIns="0" bIns="0" rtlCol="0" anchor="ctr"/>
          <a:lstStyle/>
          <a:p>
            <a:pPr algn="l" indent="0" marL="0">
              <a:buNone/>
            </a:pPr>
            <a:r>
              <a:rPr lang="en-US" sz="1200" dirty="0">
                <a:solidFill>
                  <a:srgbClr val="0E1C42"/>
                </a:solidFill>
                <a:latin typeface="Calibri" pitchFamily="34" charset="0"/>
                <a:ea typeface="Calibri" pitchFamily="34" charset="-122"/>
                <a:cs typeface="Calibri" pitchFamily="34" charset="-120"/>
              </a:rPr>
              <a:t>Name ONE major cause AND ONE major effect of European colonization in Florida. Use specific details from this unit.</a:t>
            </a:r>
            <a:endParaRPr lang="en-US" sz="1200" dirty="0"/>
          </a:p>
        </p:txBody>
      </p:sp>
      <p:sp>
        <p:nvSpPr>
          <p:cNvPr id="15" name="Text 13"/>
          <p:cNvSpPr/>
          <p:nvPr/>
        </p:nvSpPr>
        <p:spPr>
          <a:xfrm>
            <a:off x="7315200" y="1901952"/>
            <a:ext cx="1188720" cy="347472"/>
          </a:xfrm>
          <a:prstGeom prst="rect">
            <a:avLst/>
          </a:prstGeom>
          <a:noFill/>
          <a:ln/>
        </p:spPr>
        <p:txBody>
          <a:bodyPr wrap="square" lIns="0" tIns="0" rIns="0" bIns="0" rtlCol="0" anchor="ctr"/>
          <a:lstStyle/>
          <a:p>
            <a:pPr algn="r" indent="0" marL="0">
              <a:buNone/>
            </a:pPr>
            <a:r>
              <a:rPr lang="en-US" sz="800" i="1" dirty="0">
                <a:solidFill>
                  <a:srgbClr val="34B76F"/>
                </a:solidFill>
                <a:latin typeface="Calibri" pitchFamily="34" charset="0"/>
                <a:ea typeface="Calibri" pitchFamily="34" charset="-122"/>
                <a:cs typeface="Calibri" pitchFamily="34" charset="-120"/>
              </a:rPr>
              <a:t>Practiced: Slides 6, 7 &amp; 12</a:t>
            </a:r>
            <a:endParaRPr lang="en-US" sz="800" dirty="0"/>
          </a:p>
        </p:txBody>
      </p:sp>
      <p:sp>
        <p:nvSpPr>
          <p:cNvPr id="16" name="Shape 14"/>
          <p:cNvSpPr/>
          <p:nvPr/>
        </p:nvSpPr>
        <p:spPr>
          <a:xfrm>
            <a:off x="457200" y="2478024"/>
            <a:ext cx="8229600" cy="621792"/>
          </a:xfrm>
          <a:prstGeom prst="roundRect">
            <a:avLst>
              <a:gd name="adj" fmla="val 14706"/>
            </a:avLst>
          </a:prstGeom>
          <a:solidFill>
            <a:srgbClr val="FFFFFF"/>
          </a:solidFill>
          <a:ln w="19050">
            <a:solidFill>
              <a:srgbClr val="D4943A"/>
            </a:solidFill>
            <a:prstDash val="solid"/>
          </a:ln>
        </p:spPr>
      </p:sp>
      <p:sp>
        <p:nvSpPr>
          <p:cNvPr id="17" name="Shape 15"/>
          <p:cNvSpPr/>
          <p:nvPr/>
        </p:nvSpPr>
        <p:spPr>
          <a:xfrm>
            <a:off x="457200" y="2478024"/>
            <a:ext cx="457200" cy="621792"/>
          </a:xfrm>
          <a:prstGeom prst="roundRect">
            <a:avLst>
              <a:gd name="adj" fmla="val 20000"/>
            </a:avLst>
          </a:prstGeom>
          <a:solidFill>
            <a:srgbClr val="D4943A"/>
          </a:solidFill>
          <a:ln w="12700">
            <a:solidFill>
              <a:srgbClr val="D4943A"/>
            </a:solidFill>
            <a:prstDash val="solid"/>
          </a:ln>
        </p:spPr>
      </p:sp>
      <p:sp>
        <p:nvSpPr>
          <p:cNvPr id="18" name="Text 16"/>
          <p:cNvSpPr/>
          <p:nvPr/>
        </p:nvSpPr>
        <p:spPr>
          <a:xfrm>
            <a:off x="457200" y="2478024"/>
            <a:ext cx="45720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Q3</a:t>
            </a:r>
            <a:endParaRPr lang="en-US" sz="1300" dirty="0"/>
          </a:p>
        </p:txBody>
      </p:sp>
      <p:sp>
        <p:nvSpPr>
          <p:cNvPr id="19" name="Text 17"/>
          <p:cNvSpPr/>
          <p:nvPr/>
        </p:nvSpPr>
        <p:spPr>
          <a:xfrm>
            <a:off x="1005840" y="2514600"/>
            <a:ext cx="6217920" cy="530352"/>
          </a:xfrm>
          <a:prstGeom prst="rect">
            <a:avLst/>
          </a:prstGeom>
          <a:noFill/>
          <a:ln/>
        </p:spPr>
        <p:txBody>
          <a:bodyPr wrap="square" lIns="0" tIns="0" rIns="0" bIns="0" rtlCol="0" anchor="ctr"/>
          <a:lstStyle/>
          <a:p>
            <a:pPr algn="l" indent="0" marL="0">
              <a:buNone/>
            </a:pPr>
            <a:r>
              <a:rPr lang="en-US" sz="1200" dirty="0">
                <a:solidFill>
                  <a:srgbClr val="0E1C42"/>
                </a:solidFill>
                <a:latin typeface="Calibri" pitchFamily="34" charset="0"/>
                <a:ea typeface="Calibri" pitchFamily="34" charset="-122"/>
                <a:cs typeface="Calibri" pitchFamily="34" charset="-120"/>
              </a:rPr>
              <a:t>Use the Virtue Lens. Was European colonization in Florida courageous, harmful, or both? Write your honest answer using evidence.</a:t>
            </a:r>
            <a:endParaRPr lang="en-US" sz="1200" dirty="0"/>
          </a:p>
        </p:txBody>
      </p:sp>
      <p:sp>
        <p:nvSpPr>
          <p:cNvPr id="20" name="Text 18"/>
          <p:cNvSpPr/>
          <p:nvPr/>
        </p:nvSpPr>
        <p:spPr>
          <a:xfrm>
            <a:off x="7315200" y="2615184"/>
            <a:ext cx="1188720" cy="347472"/>
          </a:xfrm>
          <a:prstGeom prst="rect">
            <a:avLst/>
          </a:prstGeom>
          <a:noFill/>
          <a:ln/>
        </p:spPr>
        <p:txBody>
          <a:bodyPr wrap="square" lIns="0" tIns="0" rIns="0" bIns="0" rtlCol="0" anchor="ctr"/>
          <a:lstStyle/>
          <a:p>
            <a:pPr algn="r" indent="0" marL="0">
              <a:buNone/>
            </a:pPr>
            <a:r>
              <a:rPr lang="en-US" sz="800" i="1" dirty="0">
                <a:solidFill>
                  <a:srgbClr val="34B76F"/>
                </a:solidFill>
                <a:latin typeface="Calibri" pitchFamily="34" charset="0"/>
                <a:ea typeface="Calibri" pitchFamily="34" charset="-122"/>
                <a:cs typeface="Calibri" pitchFamily="34" charset="-120"/>
              </a:rPr>
              <a:t>Practiced: Slides 15, 16 &amp; 17</a:t>
            </a:r>
            <a:endParaRPr lang="en-US" sz="800" dirty="0"/>
          </a:p>
        </p:txBody>
      </p:sp>
      <p:sp>
        <p:nvSpPr>
          <p:cNvPr id="21" name="Shape 19"/>
          <p:cNvSpPr/>
          <p:nvPr/>
        </p:nvSpPr>
        <p:spPr>
          <a:xfrm>
            <a:off x="457200" y="3246120"/>
            <a:ext cx="8229600" cy="1024128"/>
          </a:xfrm>
          <a:prstGeom prst="roundRect">
            <a:avLst>
              <a:gd name="adj" fmla="val 12500"/>
            </a:avLst>
          </a:prstGeom>
          <a:solidFill>
            <a:srgbClr val="1A2D5A"/>
          </a:solidFill>
          <a:ln w="25400">
            <a:solidFill>
              <a:srgbClr val="D4943A"/>
            </a:solidFill>
            <a:prstDash val="solid"/>
          </a:ln>
        </p:spPr>
      </p:sp>
      <p:sp>
        <p:nvSpPr>
          <p:cNvPr id="22" name="Text 20"/>
          <p:cNvSpPr/>
          <p:nvPr/>
        </p:nvSpPr>
        <p:spPr>
          <a:xfrm>
            <a:off x="640080" y="3319272"/>
            <a:ext cx="45720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UNLOCK CHALLENGE — SOURCE STUDY RESPONSE</a:t>
            </a:r>
            <a:endParaRPr lang="en-US" sz="900" dirty="0"/>
          </a:p>
        </p:txBody>
      </p:sp>
      <p:sp>
        <p:nvSpPr>
          <p:cNvPr id="23" name="Text 21"/>
          <p:cNvSpPr/>
          <p:nvPr/>
        </p:nvSpPr>
        <p:spPr>
          <a:xfrm>
            <a:off x="640080" y="3611880"/>
            <a:ext cx="7863840" cy="594360"/>
          </a:xfrm>
          <a:prstGeom prst="rect">
            <a:avLst/>
          </a:prstGeom>
          <a:noFill/>
          <a:ln/>
        </p:spPr>
        <p:txBody>
          <a:bodyPr wrap="square" lIns="0" tIns="0" rIns="0" bIns="0" rtlCol="0" anchor="t"/>
          <a:lstStyle/>
          <a:p>
            <a:pPr algn="l" indent="0" marL="0">
              <a:buNone/>
            </a:pPr>
            <a:r>
              <a:rPr lang="en-US" sz="1200" dirty="0">
                <a:solidFill>
                  <a:srgbClr val="F0F2F8"/>
                </a:solidFill>
                <a:latin typeface="Calibri" pitchFamily="34" charset="0"/>
                <a:ea typeface="Calibri" pitchFamily="34" charset="-122"/>
                <a:cs typeface="Calibri" pitchFamily="34" charset="-120"/>
              </a:rPr>
              <a:t>Write 5-7 sentences: What were the most important causes and effects of European colonization in Florida — and how do you weigh them using the Virtue Lens? Use the mission record as one piece of evidence. Name at least one specific cause AND one specific effect.</a:t>
            </a:r>
            <a:endParaRPr lang="en-US" sz="1200" dirty="0"/>
          </a:p>
        </p:txBody>
      </p:sp>
      <p:sp>
        <p:nvSpPr>
          <p:cNvPr id="24" name="Shape 22"/>
          <p:cNvSpPr/>
          <p:nvPr/>
        </p:nvSpPr>
        <p:spPr>
          <a:xfrm>
            <a:off x="457200" y="4389120"/>
            <a:ext cx="8229600" cy="438912"/>
          </a:xfrm>
          <a:prstGeom prst="roundRect">
            <a:avLst>
              <a:gd name="adj" fmla="val 20833"/>
            </a:avLst>
          </a:prstGeom>
          <a:solidFill>
            <a:srgbClr val="FFF3DC"/>
          </a:solidFill>
          <a:ln w="12700">
            <a:solidFill>
              <a:srgbClr val="D4943A"/>
            </a:solidFill>
            <a:prstDash val="solid"/>
          </a:ln>
        </p:spPr>
      </p:sp>
      <p:sp>
        <p:nvSpPr>
          <p:cNvPr id="25" name="Text 23"/>
          <p:cNvSpPr/>
          <p:nvPr/>
        </p:nvSpPr>
        <p:spPr>
          <a:xfrm>
            <a:off x="594360" y="4407408"/>
            <a:ext cx="7955280" cy="402336"/>
          </a:xfrm>
          <a:prstGeom prst="rect">
            <a:avLst/>
          </a:prstGeom>
          <a:noFill/>
          <a:ln/>
        </p:spPr>
        <p:txBody>
          <a:bodyPr wrap="square" lIns="0" tIns="0" rIns="0" bIns="0" rtlCol="0" anchor="ctr"/>
          <a:lstStyle/>
          <a:p>
            <a:pPr algn="l" indent="0" marL="0">
              <a:buNone/>
            </a:pPr>
            <a:r>
              <a:rPr lang="en-US" sz="1200" b="1" i="1" dirty="0">
                <a:solidFill>
                  <a:srgbClr val="5A4A3A"/>
                </a:solidFill>
                <a:latin typeface="Cambria" pitchFamily="34" charset="0"/>
                <a:ea typeface="Cambria" pitchFamily="34" charset="-122"/>
                <a:cs typeface="Cambria" pitchFamily="34" charset="-120"/>
              </a:rPr>
              <a:t>HISTORIAN'S SENTENCE:  "As a Florida historian, I can explain that _______ because _______."</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109728"/>
          </a:xfrm>
          <a:prstGeom prst="rect">
            <a:avLst/>
          </a:prstGeom>
          <a:solidFill>
            <a:srgbClr val="34B76F"/>
          </a:solidFill>
          <a:ln w="12700">
            <a:solidFill>
              <a:srgbClr val="34B76F"/>
            </a:solidFill>
            <a:prstDash val="solid"/>
          </a:ln>
        </p:spPr>
      </p:sp>
      <p:sp>
        <p:nvSpPr>
          <p:cNvPr id="4" name="Text 2"/>
          <p:cNvSpPr/>
          <p:nvPr/>
        </p:nvSpPr>
        <p:spPr>
          <a:xfrm>
            <a:off x="457200" y="182880"/>
            <a:ext cx="2743200" cy="256032"/>
          </a:xfrm>
          <a:prstGeom prst="rect">
            <a:avLst/>
          </a:prstGeom>
          <a:noFill/>
          <a:ln/>
        </p:spPr>
        <p:txBody>
          <a:bodyPr wrap="square" lIns="0" tIns="0" rIns="0" bIns="0" rtlCol="0" anchor="ctr"/>
          <a:lstStyle/>
          <a:p>
            <a:pPr indent="0" marL="0">
              <a:buNone/>
            </a:pPr>
            <a:r>
              <a:rPr lang="en-US" sz="900" b="1" spc="200" kern="0" dirty="0">
                <a:solidFill>
                  <a:srgbClr val="34B76F"/>
                </a:solidFill>
                <a:latin typeface="Calibri" pitchFamily="34" charset="0"/>
                <a:ea typeface="Calibri" pitchFamily="34" charset="-122"/>
                <a:cs typeface="Calibri" pitchFamily="34" charset="-120"/>
              </a:rPr>
              <a:t>QUICK SELF-CHECK</a:t>
            </a:r>
            <a:endParaRPr lang="en-US" sz="900" dirty="0"/>
          </a:p>
        </p:txBody>
      </p:sp>
      <p:sp>
        <p:nvSpPr>
          <p:cNvPr id="5" name="Text 3"/>
          <p:cNvSpPr/>
          <p:nvPr/>
        </p:nvSpPr>
        <p:spPr>
          <a:xfrm>
            <a:off x="457200" y="475488"/>
            <a:ext cx="8229600" cy="457200"/>
          </a:xfrm>
          <a:prstGeom prst="rect">
            <a:avLst/>
          </a:prstGeom>
          <a:noFill/>
          <a:ln/>
        </p:spPr>
        <p:txBody>
          <a:bodyPr wrap="square" lIns="0" tIns="0" rIns="0" bIns="0" rtlCol="0" anchor="ctr"/>
          <a:lstStyle/>
          <a:p>
            <a:pPr algn="l" indent="0" marL="0">
              <a:buNone/>
            </a:pPr>
            <a:r>
              <a:rPr lang="en-US" sz="2200" b="1" dirty="0">
                <a:solidFill>
                  <a:srgbClr val="0E1C42"/>
                </a:solidFill>
                <a:latin typeface="Cambria" pitchFamily="34" charset="0"/>
                <a:ea typeface="Cambria" pitchFamily="34" charset="-122"/>
                <a:cs typeface="Cambria" pitchFamily="34" charset="-120"/>
              </a:rPr>
              <a:t>Three Questions Before You Write</a:t>
            </a:r>
            <a:endParaRPr lang="en-US" sz="2200" dirty="0"/>
          </a:p>
        </p:txBody>
      </p:sp>
      <p:sp>
        <p:nvSpPr>
          <p:cNvPr id="6" name="Shape 4"/>
          <p:cNvSpPr/>
          <p:nvPr/>
        </p:nvSpPr>
        <p:spPr>
          <a:xfrm>
            <a:off x="457200" y="1024128"/>
            <a:ext cx="8229600" cy="1115568"/>
          </a:xfrm>
          <a:prstGeom prst="roundRect">
            <a:avLst>
              <a:gd name="adj" fmla="val 9836"/>
            </a:avLst>
          </a:prstGeom>
          <a:solidFill>
            <a:srgbClr val="FFFFFF"/>
          </a:solidFill>
          <a:ln w="19050">
            <a:solidFill>
              <a:srgbClr val="E8636B"/>
            </a:solidFill>
            <a:prstDash val="solid"/>
          </a:ln>
        </p:spPr>
      </p:sp>
      <p:sp>
        <p:nvSpPr>
          <p:cNvPr id="7" name="Text 5"/>
          <p:cNvSpPr/>
          <p:nvPr/>
        </p:nvSpPr>
        <p:spPr>
          <a:xfrm>
            <a:off x="594360" y="1060704"/>
            <a:ext cx="6858000" cy="274320"/>
          </a:xfrm>
          <a:prstGeom prst="rect">
            <a:avLst/>
          </a:prstGeom>
          <a:noFill/>
          <a:ln/>
        </p:spPr>
        <p:txBody>
          <a:bodyPr wrap="square" lIns="0" tIns="0" rIns="0" bIns="0" rtlCol="0" anchor="ctr"/>
          <a:lstStyle/>
          <a:p>
            <a:pPr algn="l" indent="0" marL="0">
              <a:buNone/>
            </a:pPr>
            <a:r>
              <a:rPr lang="en-US" sz="1200" b="1" dirty="0">
                <a:solidFill>
                  <a:srgbClr val="0E1C42"/>
                </a:solidFill>
                <a:latin typeface="Calibri" pitchFamily="34" charset="0"/>
                <a:ea typeface="Calibri" pitchFamily="34" charset="-122"/>
                <a:cs typeface="Calibri" pitchFamily="34" charset="-120"/>
              </a:rPr>
              <a:t>1. Which was the MOST devastating effect of European colonization on Florida's First Peoples?</a:t>
            </a:r>
            <a:endParaRPr lang="en-US" sz="1200" dirty="0"/>
          </a:p>
        </p:txBody>
      </p:sp>
      <p:sp>
        <p:nvSpPr>
          <p:cNvPr id="8" name="Text 6"/>
          <p:cNvSpPr/>
          <p:nvPr/>
        </p:nvSpPr>
        <p:spPr>
          <a:xfrm>
            <a:off x="731520" y="1371600"/>
            <a:ext cx="7315200" cy="210312"/>
          </a:xfrm>
          <a:prstGeom prst="rect">
            <a:avLst/>
          </a:prstGeom>
          <a:noFill/>
          <a:ln/>
        </p:spPr>
        <p:txBody>
          <a:bodyPr wrap="square" lIns="0" tIns="0" rIns="0" bIns="0" rtlCol="0" anchor="ctr"/>
          <a:lstStyle/>
          <a:p>
            <a:pPr algn="l" indent="0" marL="0">
              <a:buNone/>
            </a:pPr>
            <a:r>
              <a:rPr lang="en-US" sz="1100" dirty="0">
                <a:solidFill>
                  <a:srgbClr val="5A6A8A"/>
                </a:solidFill>
                <a:latin typeface="Calibri" pitchFamily="34" charset="0"/>
                <a:ea typeface="Calibri" pitchFamily="34" charset="-122"/>
                <a:cs typeface="Calibri" pitchFamily="34" charset="-120"/>
              </a:rPr>
              <a:t>   A. The building of new mission churches.</a:t>
            </a:r>
            <a:endParaRPr lang="en-US" sz="1100" dirty="0"/>
          </a:p>
        </p:txBody>
      </p:sp>
      <p:sp>
        <p:nvSpPr>
          <p:cNvPr id="9" name="Text 7"/>
          <p:cNvSpPr/>
          <p:nvPr/>
        </p:nvSpPr>
        <p:spPr>
          <a:xfrm>
            <a:off x="731520" y="1600200"/>
            <a:ext cx="7315200" cy="210312"/>
          </a:xfrm>
          <a:prstGeom prst="rect">
            <a:avLst/>
          </a:prstGeom>
          <a:noFill/>
          <a:ln/>
        </p:spPr>
        <p:txBody>
          <a:bodyPr wrap="square" lIns="0" tIns="0" rIns="0" bIns="0" rtlCol="0" anchor="ctr"/>
          <a:lstStyle/>
          <a:p>
            <a:pPr algn="l" indent="0" marL="0">
              <a:buNone/>
            </a:pPr>
            <a:r>
              <a:rPr lang="en-US" sz="1100" dirty="0">
                <a:solidFill>
                  <a:srgbClr val="5A6A8A"/>
                </a:solidFill>
                <a:latin typeface="Calibri" pitchFamily="34" charset="0"/>
                <a:ea typeface="Calibri" pitchFamily="34" charset="-122"/>
                <a:cs typeface="Calibri" pitchFamily="34" charset="-120"/>
              </a:rPr>
              <a:t>   B. The introduction of new crops and horses.</a:t>
            </a:r>
            <a:endParaRPr lang="en-US" sz="1100" dirty="0"/>
          </a:p>
        </p:txBody>
      </p:sp>
      <p:sp>
        <p:nvSpPr>
          <p:cNvPr id="10" name="Text 8"/>
          <p:cNvSpPr/>
          <p:nvPr/>
        </p:nvSpPr>
        <p:spPr>
          <a:xfrm>
            <a:off x="731520" y="1828800"/>
            <a:ext cx="7315200" cy="210312"/>
          </a:xfrm>
          <a:prstGeom prst="rect">
            <a:avLst/>
          </a:prstGeom>
          <a:noFill/>
          <a:ln/>
        </p:spPr>
        <p:txBody>
          <a:bodyPr wrap="square" lIns="0" tIns="0" rIns="0" bIns="0" rtlCol="0" anchor="ctr"/>
          <a:lstStyle/>
          <a:p>
            <a:pPr algn="l" indent="0" marL="0">
              <a:buNone/>
            </a:pPr>
            <a:r>
              <a:rPr lang="en-US" sz="1100" b="1" dirty="0">
                <a:solidFill>
                  <a:srgbClr val="E8636B"/>
                </a:solidFill>
                <a:latin typeface="Calibri" pitchFamily="34" charset="0"/>
                <a:ea typeface="Calibri" pitchFamily="34" charset="-122"/>
                <a:cs typeface="Calibri" pitchFamily="34" charset="-120"/>
              </a:rPr>
              <a:t>★ C. Diseases like smallpox and measles, which killed tens of thousands.</a:t>
            </a:r>
            <a:endParaRPr lang="en-US" sz="1100" dirty="0"/>
          </a:p>
        </p:txBody>
      </p:sp>
      <p:sp>
        <p:nvSpPr>
          <p:cNvPr id="11" name="Text 9"/>
          <p:cNvSpPr/>
          <p:nvPr/>
        </p:nvSpPr>
        <p:spPr>
          <a:xfrm>
            <a:off x="594360" y="1911096"/>
            <a:ext cx="7955280" cy="201168"/>
          </a:xfrm>
          <a:prstGeom prst="rect">
            <a:avLst/>
          </a:prstGeom>
          <a:noFill/>
          <a:ln/>
        </p:spPr>
        <p:txBody>
          <a:bodyPr wrap="square" lIns="0" tIns="0" rIns="0" bIns="0" rtlCol="0" anchor="ctr"/>
          <a:lstStyle/>
          <a:p>
            <a:pPr algn="l" indent="0" marL="0">
              <a:buNone/>
            </a:pPr>
            <a:r>
              <a:rPr lang="en-US" sz="950" i="1" dirty="0">
                <a:solidFill>
                  <a:srgbClr val="E8636B"/>
                </a:solidFill>
                <a:latin typeface="Calibri" pitchFamily="34" charset="0"/>
                <a:ea typeface="Calibri" pitchFamily="34" charset="-122"/>
                <a:cs typeface="Calibri" pitchFamily="34" charset="-120"/>
              </a:rPr>
              <a:t>Answer: Disease was the most devastating effect — entire nations were lost to illnesses they had never been exposed to before.</a:t>
            </a:r>
            <a:endParaRPr lang="en-US" sz="950" dirty="0"/>
          </a:p>
        </p:txBody>
      </p:sp>
      <p:sp>
        <p:nvSpPr>
          <p:cNvPr id="12" name="Shape 10"/>
          <p:cNvSpPr/>
          <p:nvPr/>
        </p:nvSpPr>
        <p:spPr>
          <a:xfrm>
            <a:off x="457200" y="2286000"/>
            <a:ext cx="8229600" cy="1115568"/>
          </a:xfrm>
          <a:prstGeom prst="roundRect">
            <a:avLst>
              <a:gd name="adj" fmla="val 9836"/>
            </a:avLst>
          </a:prstGeom>
          <a:solidFill>
            <a:srgbClr val="FFFFFF"/>
          </a:solidFill>
          <a:ln w="19050">
            <a:solidFill>
              <a:srgbClr val="1A8A7D"/>
            </a:solidFill>
            <a:prstDash val="solid"/>
          </a:ln>
        </p:spPr>
      </p:sp>
      <p:sp>
        <p:nvSpPr>
          <p:cNvPr id="13" name="Text 11"/>
          <p:cNvSpPr/>
          <p:nvPr/>
        </p:nvSpPr>
        <p:spPr>
          <a:xfrm>
            <a:off x="594360" y="2322576"/>
            <a:ext cx="6858000" cy="274320"/>
          </a:xfrm>
          <a:prstGeom prst="rect">
            <a:avLst/>
          </a:prstGeom>
          <a:noFill/>
          <a:ln/>
        </p:spPr>
        <p:txBody>
          <a:bodyPr wrap="square" lIns="0" tIns="0" rIns="0" bIns="0" rtlCol="0" anchor="ctr"/>
          <a:lstStyle/>
          <a:p>
            <a:pPr algn="l" indent="0" marL="0">
              <a:buNone/>
            </a:pPr>
            <a:r>
              <a:rPr lang="en-US" sz="1200" b="1" dirty="0">
                <a:solidFill>
                  <a:srgbClr val="0E1C42"/>
                </a:solidFill>
                <a:latin typeface="Calibri" pitchFamily="34" charset="0"/>
                <a:ea typeface="Calibri" pitchFamily="34" charset="-122"/>
                <a:cs typeface="Calibri" pitchFamily="34" charset="-120"/>
              </a:rPr>
              <a:t>2. What was the purpose of a Spanish mission in Florida?</a:t>
            </a:r>
            <a:endParaRPr lang="en-US" sz="1200" dirty="0"/>
          </a:p>
        </p:txBody>
      </p:sp>
      <p:sp>
        <p:nvSpPr>
          <p:cNvPr id="14" name="Text 12"/>
          <p:cNvSpPr/>
          <p:nvPr/>
        </p:nvSpPr>
        <p:spPr>
          <a:xfrm>
            <a:off x="731520" y="2633472"/>
            <a:ext cx="7315200" cy="210312"/>
          </a:xfrm>
          <a:prstGeom prst="rect">
            <a:avLst/>
          </a:prstGeom>
          <a:noFill/>
          <a:ln/>
        </p:spPr>
        <p:txBody>
          <a:bodyPr wrap="square" lIns="0" tIns="0" rIns="0" bIns="0" rtlCol="0" anchor="ctr"/>
          <a:lstStyle/>
          <a:p>
            <a:pPr algn="l" indent="0" marL="0">
              <a:buNone/>
            </a:pPr>
            <a:r>
              <a:rPr lang="en-US" sz="1100" dirty="0">
                <a:solidFill>
                  <a:srgbClr val="5A6A8A"/>
                </a:solidFill>
                <a:latin typeface="Calibri" pitchFamily="34" charset="0"/>
                <a:ea typeface="Calibri" pitchFamily="34" charset="-122"/>
                <a:cs typeface="Calibri" pitchFamily="34" charset="-120"/>
              </a:rPr>
              <a:t>   A. To search for gold in the swamps.</a:t>
            </a:r>
            <a:endParaRPr lang="en-US" sz="1100" dirty="0"/>
          </a:p>
        </p:txBody>
      </p:sp>
      <p:sp>
        <p:nvSpPr>
          <p:cNvPr id="15" name="Text 13"/>
          <p:cNvSpPr/>
          <p:nvPr/>
        </p:nvSpPr>
        <p:spPr>
          <a:xfrm>
            <a:off x="731520" y="2862072"/>
            <a:ext cx="7315200" cy="210312"/>
          </a:xfrm>
          <a:prstGeom prst="rect">
            <a:avLst/>
          </a:prstGeom>
          <a:noFill/>
          <a:ln/>
        </p:spPr>
        <p:txBody>
          <a:bodyPr wrap="square" lIns="0" tIns="0" rIns="0" bIns="0" rtlCol="0" anchor="ctr"/>
          <a:lstStyle/>
          <a:p>
            <a:pPr algn="l" indent="0" marL="0">
              <a:buNone/>
            </a:pPr>
            <a:r>
              <a:rPr lang="en-US" sz="1100" b="1" dirty="0">
                <a:solidFill>
                  <a:srgbClr val="1A8A7D"/>
                </a:solidFill>
                <a:latin typeface="Calibri" pitchFamily="34" charset="0"/>
                <a:ea typeface="Calibri" pitchFamily="34" charset="-122"/>
                <a:cs typeface="Calibri" pitchFamily="34" charset="-120"/>
              </a:rPr>
              <a:t>★ B. To teach Christianity and Spanish language to Native peoples.</a:t>
            </a:r>
            <a:endParaRPr lang="en-US" sz="1100" dirty="0"/>
          </a:p>
        </p:txBody>
      </p:sp>
      <p:sp>
        <p:nvSpPr>
          <p:cNvPr id="16" name="Text 14"/>
          <p:cNvSpPr/>
          <p:nvPr/>
        </p:nvSpPr>
        <p:spPr>
          <a:xfrm>
            <a:off x="731520" y="3090672"/>
            <a:ext cx="7315200" cy="210312"/>
          </a:xfrm>
          <a:prstGeom prst="rect">
            <a:avLst/>
          </a:prstGeom>
          <a:noFill/>
          <a:ln/>
        </p:spPr>
        <p:txBody>
          <a:bodyPr wrap="square" lIns="0" tIns="0" rIns="0" bIns="0" rtlCol="0" anchor="ctr"/>
          <a:lstStyle/>
          <a:p>
            <a:pPr algn="l" indent="0" marL="0">
              <a:buNone/>
            </a:pPr>
            <a:r>
              <a:rPr lang="en-US" sz="1100" dirty="0">
                <a:solidFill>
                  <a:srgbClr val="5A6A8A"/>
                </a:solidFill>
                <a:latin typeface="Calibri" pitchFamily="34" charset="0"/>
                <a:ea typeface="Calibri" pitchFamily="34" charset="-122"/>
                <a:cs typeface="Calibri" pitchFamily="34" charset="-120"/>
              </a:rPr>
              <a:t>   C. To defend Florida from French and English attacks.</a:t>
            </a:r>
            <a:endParaRPr lang="en-US" sz="1100" dirty="0"/>
          </a:p>
        </p:txBody>
      </p:sp>
      <p:sp>
        <p:nvSpPr>
          <p:cNvPr id="17" name="Text 15"/>
          <p:cNvSpPr/>
          <p:nvPr/>
        </p:nvSpPr>
        <p:spPr>
          <a:xfrm>
            <a:off x="594360" y="3172968"/>
            <a:ext cx="7955280" cy="201168"/>
          </a:xfrm>
          <a:prstGeom prst="rect">
            <a:avLst/>
          </a:prstGeom>
          <a:noFill/>
          <a:ln/>
        </p:spPr>
        <p:txBody>
          <a:bodyPr wrap="square" lIns="0" tIns="0" rIns="0" bIns="0" rtlCol="0" anchor="ctr"/>
          <a:lstStyle/>
          <a:p>
            <a:pPr algn="l" indent="0" marL="0">
              <a:buNone/>
            </a:pPr>
            <a:r>
              <a:rPr lang="en-US" sz="950" i="1" dirty="0">
                <a:solidFill>
                  <a:srgbClr val="1A8A7D"/>
                </a:solidFill>
                <a:latin typeface="Calibri" pitchFamily="34" charset="0"/>
                <a:ea typeface="Calibri" pitchFamily="34" charset="-122"/>
                <a:cs typeface="Calibri" pitchFamily="34" charset="-120"/>
              </a:rPr>
              <a:t>Answer: Missions were communities where priests taught Christianity and the Spanish language — sometimes peacefully, sometimes by force.</a:t>
            </a:r>
            <a:endParaRPr lang="en-US" sz="950" dirty="0"/>
          </a:p>
        </p:txBody>
      </p:sp>
      <p:sp>
        <p:nvSpPr>
          <p:cNvPr id="18" name="Shape 16"/>
          <p:cNvSpPr/>
          <p:nvPr/>
        </p:nvSpPr>
        <p:spPr>
          <a:xfrm>
            <a:off x="457200" y="3547872"/>
            <a:ext cx="8229600" cy="1115568"/>
          </a:xfrm>
          <a:prstGeom prst="roundRect">
            <a:avLst>
              <a:gd name="adj" fmla="val 9836"/>
            </a:avLst>
          </a:prstGeom>
          <a:solidFill>
            <a:srgbClr val="FFFFFF"/>
          </a:solidFill>
          <a:ln w="19050">
            <a:solidFill>
              <a:srgbClr val="8B6FC0"/>
            </a:solidFill>
            <a:prstDash val="solid"/>
          </a:ln>
        </p:spPr>
      </p:sp>
      <p:sp>
        <p:nvSpPr>
          <p:cNvPr id="19" name="Text 17"/>
          <p:cNvSpPr/>
          <p:nvPr/>
        </p:nvSpPr>
        <p:spPr>
          <a:xfrm>
            <a:off x="594360" y="3584448"/>
            <a:ext cx="6858000" cy="274320"/>
          </a:xfrm>
          <a:prstGeom prst="rect">
            <a:avLst/>
          </a:prstGeom>
          <a:noFill/>
          <a:ln/>
        </p:spPr>
        <p:txBody>
          <a:bodyPr wrap="square" lIns="0" tIns="0" rIns="0" bIns="0" rtlCol="0" anchor="ctr"/>
          <a:lstStyle/>
          <a:p>
            <a:pPr algn="l" indent="0" marL="0">
              <a:buNone/>
            </a:pPr>
            <a:r>
              <a:rPr lang="en-US" sz="1200" b="1" dirty="0">
                <a:solidFill>
                  <a:srgbClr val="0E1C42"/>
                </a:solidFill>
                <a:latin typeface="Calibri" pitchFamily="34" charset="0"/>
                <a:ea typeface="Calibri" pitchFamily="34" charset="-122"/>
                <a:cs typeface="Calibri" pitchFamily="34" charset="-120"/>
              </a:rPr>
              <a:t>3. An 'honest historian' holds two halves together. Which two?</a:t>
            </a:r>
            <a:endParaRPr lang="en-US" sz="1200" dirty="0"/>
          </a:p>
        </p:txBody>
      </p:sp>
      <p:sp>
        <p:nvSpPr>
          <p:cNvPr id="20" name="Text 18"/>
          <p:cNvSpPr/>
          <p:nvPr/>
        </p:nvSpPr>
        <p:spPr>
          <a:xfrm>
            <a:off x="731520" y="3895344"/>
            <a:ext cx="7315200" cy="210312"/>
          </a:xfrm>
          <a:prstGeom prst="rect">
            <a:avLst/>
          </a:prstGeom>
          <a:noFill/>
          <a:ln/>
        </p:spPr>
        <p:txBody>
          <a:bodyPr wrap="square" lIns="0" tIns="0" rIns="0" bIns="0" rtlCol="0" anchor="ctr"/>
          <a:lstStyle/>
          <a:p>
            <a:pPr algn="l" indent="0" marL="0">
              <a:buNone/>
            </a:pPr>
            <a:r>
              <a:rPr lang="en-US" sz="1100" b="1" dirty="0">
                <a:solidFill>
                  <a:srgbClr val="8B6FC0"/>
                </a:solidFill>
                <a:latin typeface="Calibri" pitchFamily="34" charset="0"/>
                <a:ea typeface="Calibri" pitchFamily="34" charset="-122"/>
                <a:cs typeface="Calibri" pitchFamily="34" charset="-120"/>
              </a:rPr>
              <a:t>★ A. Both the courage of European settlers AND the cost to First Peoples.</a:t>
            </a:r>
            <a:endParaRPr lang="en-US" sz="1100" dirty="0"/>
          </a:p>
        </p:txBody>
      </p:sp>
      <p:sp>
        <p:nvSpPr>
          <p:cNvPr id="21" name="Text 19"/>
          <p:cNvSpPr/>
          <p:nvPr/>
        </p:nvSpPr>
        <p:spPr>
          <a:xfrm>
            <a:off x="731520" y="4123944"/>
            <a:ext cx="7315200" cy="210312"/>
          </a:xfrm>
          <a:prstGeom prst="rect">
            <a:avLst/>
          </a:prstGeom>
          <a:noFill/>
          <a:ln/>
        </p:spPr>
        <p:txBody>
          <a:bodyPr wrap="square" lIns="0" tIns="0" rIns="0" bIns="0" rtlCol="0" anchor="ctr"/>
          <a:lstStyle/>
          <a:p>
            <a:pPr algn="l" indent="0" marL="0">
              <a:buNone/>
            </a:pPr>
            <a:r>
              <a:rPr lang="en-US" sz="1100" dirty="0">
                <a:solidFill>
                  <a:srgbClr val="5A6A8A"/>
                </a:solidFill>
                <a:latin typeface="Calibri" pitchFamily="34" charset="0"/>
                <a:ea typeface="Calibri" pitchFamily="34" charset="-122"/>
                <a:cs typeface="Calibri" pitchFamily="34" charset="-120"/>
              </a:rPr>
              <a:t>   B. Only Spanish achievements; everything else can be left out.</a:t>
            </a:r>
            <a:endParaRPr lang="en-US" sz="1100" dirty="0"/>
          </a:p>
        </p:txBody>
      </p:sp>
      <p:sp>
        <p:nvSpPr>
          <p:cNvPr id="22" name="Text 20"/>
          <p:cNvSpPr/>
          <p:nvPr/>
        </p:nvSpPr>
        <p:spPr>
          <a:xfrm>
            <a:off x="731520" y="4352544"/>
            <a:ext cx="7315200" cy="210312"/>
          </a:xfrm>
          <a:prstGeom prst="rect">
            <a:avLst/>
          </a:prstGeom>
          <a:noFill/>
          <a:ln/>
        </p:spPr>
        <p:txBody>
          <a:bodyPr wrap="square" lIns="0" tIns="0" rIns="0" bIns="0" rtlCol="0" anchor="ctr"/>
          <a:lstStyle/>
          <a:p>
            <a:pPr algn="l" indent="0" marL="0">
              <a:buNone/>
            </a:pPr>
            <a:r>
              <a:rPr lang="en-US" sz="1100" dirty="0">
                <a:solidFill>
                  <a:srgbClr val="5A6A8A"/>
                </a:solidFill>
                <a:latin typeface="Calibri" pitchFamily="34" charset="0"/>
                <a:ea typeface="Calibri" pitchFamily="34" charset="-122"/>
                <a:cs typeface="Calibri" pitchFamily="34" charset="-120"/>
              </a:rPr>
              <a:t>   C. Only the harm to First Peoples; settlement details do not matter.</a:t>
            </a:r>
            <a:endParaRPr lang="en-US" sz="1100" dirty="0"/>
          </a:p>
        </p:txBody>
      </p:sp>
      <p:sp>
        <p:nvSpPr>
          <p:cNvPr id="23" name="Text 21"/>
          <p:cNvSpPr/>
          <p:nvPr/>
        </p:nvSpPr>
        <p:spPr>
          <a:xfrm>
            <a:off x="594360" y="4434840"/>
            <a:ext cx="7955280" cy="201168"/>
          </a:xfrm>
          <a:prstGeom prst="rect">
            <a:avLst/>
          </a:prstGeom>
          <a:noFill/>
          <a:ln/>
        </p:spPr>
        <p:txBody>
          <a:bodyPr wrap="square" lIns="0" tIns="0" rIns="0" bIns="0" rtlCol="0" anchor="ctr"/>
          <a:lstStyle/>
          <a:p>
            <a:pPr algn="l" indent="0" marL="0">
              <a:buNone/>
            </a:pPr>
            <a:r>
              <a:rPr lang="en-US" sz="950" i="1" dirty="0">
                <a:solidFill>
                  <a:srgbClr val="8B6FC0"/>
                </a:solidFill>
                <a:latin typeface="Calibri" pitchFamily="34" charset="0"/>
                <a:ea typeface="Calibri" pitchFamily="34" charset="-122"/>
                <a:cs typeface="Calibri" pitchFamily="34" charset="-120"/>
              </a:rPr>
              <a:t>Answer: Honest history says both/and — courage and cost belong in the same record.</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3017520" y="274320"/>
            <a:ext cx="3108960" cy="475488"/>
          </a:xfrm>
          <a:prstGeom prst="roundRect">
            <a:avLst>
              <a:gd name="adj" fmla="val 26923"/>
            </a:avLst>
          </a:prstGeom>
          <a:solidFill>
            <a:srgbClr val="34B76F"/>
          </a:solidFill>
          <a:ln w="12700">
            <a:solidFill>
              <a:srgbClr val="34B76F"/>
            </a:solidFill>
            <a:prstDash val="solid"/>
          </a:ln>
        </p:spPr>
      </p:sp>
      <p:sp>
        <p:nvSpPr>
          <p:cNvPr id="6" name="Text 3"/>
          <p:cNvSpPr/>
          <p:nvPr/>
        </p:nvSpPr>
        <p:spPr>
          <a:xfrm>
            <a:off x="3017520" y="274320"/>
            <a:ext cx="3108960" cy="475488"/>
          </a:xfrm>
          <a:prstGeom prst="rect">
            <a:avLst/>
          </a:prstGeom>
          <a:noFill/>
          <a:ln/>
        </p:spPr>
        <p:txBody>
          <a:bodyPr wrap="square" lIns="0" tIns="0" rIns="0" bIns="0" rtlCol="0" anchor="ctr"/>
          <a:lstStyle/>
          <a:p>
            <a:pPr algn="ctr" indent="0" marL="0">
              <a:buNone/>
            </a:pPr>
            <a:r>
              <a:rPr lang="en-US" sz="1800" b="1" spc="300" kern="0" dirty="0">
                <a:solidFill>
                  <a:srgbClr val="FFFFFF"/>
                </a:solidFill>
                <a:latin typeface="Calibri" pitchFamily="34" charset="0"/>
                <a:ea typeface="Calibri" pitchFamily="34" charset="-122"/>
                <a:cs typeface="Calibri" pitchFamily="34" charset="-120"/>
              </a:rPr>
              <a:t>FILE SAVED</a:t>
            </a:r>
            <a:endParaRPr lang="en-US" sz="1800" dirty="0"/>
          </a:p>
        </p:txBody>
      </p:sp>
      <p:sp>
        <p:nvSpPr>
          <p:cNvPr id="7" name="Text 4"/>
          <p:cNvSpPr/>
          <p:nvPr/>
        </p:nvSpPr>
        <p:spPr>
          <a:xfrm>
            <a:off x="457200" y="960120"/>
            <a:ext cx="8229600" cy="502920"/>
          </a:xfrm>
          <a:prstGeom prst="rect">
            <a:avLst/>
          </a:prstGeom>
          <a:noFill/>
          <a:ln/>
        </p:spPr>
        <p:txBody>
          <a:bodyPr wrap="square" lIns="0" tIns="0" rIns="0" bIns="0" rtlCol="0" anchor="ctr"/>
          <a:lstStyle/>
          <a:p>
            <a:pPr algn="ctr" indent="0" marL="0">
              <a:buNone/>
            </a:pPr>
            <a:r>
              <a:rPr lang="en-US" sz="2800" b="1" dirty="0">
                <a:solidFill>
                  <a:srgbClr val="D4943A"/>
                </a:solidFill>
                <a:latin typeface="Cambria" pitchFamily="34" charset="0"/>
                <a:ea typeface="Cambria" pitchFamily="34" charset="-122"/>
                <a:cs typeface="Cambria" pitchFamily="34" charset="-120"/>
              </a:rPr>
              <a:t>Unit 4 — Complete</a:t>
            </a:r>
            <a:endParaRPr lang="en-US" sz="2800" dirty="0"/>
          </a:p>
        </p:txBody>
      </p:sp>
      <p:sp>
        <p:nvSpPr>
          <p:cNvPr id="8" name="Shape 5"/>
          <p:cNvSpPr/>
          <p:nvPr/>
        </p:nvSpPr>
        <p:spPr>
          <a:xfrm>
            <a:off x="457200" y="1627632"/>
            <a:ext cx="8229600" cy="1417320"/>
          </a:xfrm>
          <a:prstGeom prst="roundRect">
            <a:avLst>
              <a:gd name="adj" fmla="val 9677"/>
            </a:avLst>
          </a:prstGeom>
          <a:solidFill>
            <a:srgbClr val="1A2D5A"/>
          </a:solidFill>
          <a:ln w="25400">
            <a:solidFill>
              <a:srgbClr val="D4943A"/>
            </a:solidFill>
            <a:prstDash val="solid"/>
          </a:ln>
        </p:spPr>
      </p:sp>
      <p:sp>
        <p:nvSpPr>
          <p:cNvPr id="9" name="Text 6"/>
          <p:cNvSpPr/>
          <p:nvPr/>
        </p:nvSpPr>
        <p:spPr>
          <a:xfrm>
            <a:off x="640080" y="1719072"/>
            <a:ext cx="36576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TRANSFERABLE INSIGHT</a:t>
            </a:r>
            <a:endParaRPr lang="en-US" sz="900" dirty="0"/>
          </a:p>
        </p:txBody>
      </p:sp>
      <p:sp>
        <p:nvSpPr>
          <p:cNvPr id="10" name="Text 7"/>
          <p:cNvSpPr/>
          <p:nvPr/>
        </p:nvSpPr>
        <p:spPr>
          <a:xfrm>
            <a:off x="640080" y="2011680"/>
            <a:ext cx="7863840" cy="914400"/>
          </a:xfrm>
          <a:prstGeom prst="rect">
            <a:avLst/>
          </a:prstGeom>
          <a:noFill/>
          <a:ln/>
        </p:spPr>
        <p:txBody>
          <a:bodyPr wrap="square" lIns="0" tIns="0" rIns="0" bIns="0" rtlCol="0" anchor="t"/>
          <a:lstStyle/>
          <a:p>
            <a:pPr algn="l" indent="0" marL="0">
              <a:buNone/>
            </a:pPr>
            <a:r>
              <a:rPr lang="en-US" sz="1400" i="1" dirty="0">
                <a:solidFill>
                  <a:srgbClr val="FFFFFF"/>
                </a:solidFill>
                <a:latin typeface="Calibri" pitchFamily="34" charset="0"/>
                <a:ea typeface="Calibri" pitchFamily="34" charset="-122"/>
                <a:cs typeface="Calibri" pitchFamily="34" charset="-120"/>
              </a:rPr>
              <a:t>When two civilizations make contact, BOTH sides are changed — and the people with less military and biological power often bear the greatest cost. An honest historian traces both the courage and the cost, and holds them in the same sentence.</a:t>
            </a:r>
            <a:endParaRPr lang="en-US" sz="1400" dirty="0"/>
          </a:p>
        </p:txBody>
      </p:sp>
      <p:sp>
        <p:nvSpPr>
          <p:cNvPr id="11" name="Text 8"/>
          <p:cNvSpPr/>
          <p:nvPr/>
        </p:nvSpPr>
        <p:spPr>
          <a:xfrm>
            <a:off x="457200" y="3200400"/>
            <a:ext cx="8229600" cy="457200"/>
          </a:xfrm>
          <a:prstGeom prst="rect">
            <a:avLst/>
          </a:prstGeom>
          <a:noFill/>
          <a:ln/>
        </p:spPr>
        <p:txBody>
          <a:bodyPr wrap="square" lIns="0" tIns="0" rIns="0" bIns="0" rtlCol="0" anchor="ctr"/>
          <a:lstStyle/>
          <a:p>
            <a:pPr algn="ctr" indent="0" marL="0">
              <a:buNone/>
            </a:pPr>
            <a:r>
              <a:rPr lang="en-US" sz="1400" i="1" dirty="0">
                <a:solidFill>
                  <a:srgbClr val="F0F2F8"/>
                </a:solidFill>
                <a:latin typeface="Calibri" pitchFamily="34" charset="0"/>
                <a:ea typeface="Calibri" pitchFamily="34" charset="-122"/>
                <a:cs typeface="Calibri" pitchFamily="34" charset="-120"/>
              </a:rPr>
              <a:t>You studied four files. The ships. The motives. The three flags. And today — the causes and effects.</a:t>
            </a:r>
            <a:endParaRPr lang="en-US" sz="1400" dirty="0"/>
          </a:p>
        </p:txBody>
      </p:sp>
      <p:sp>
        <p:nvSpPr>
          <p:cNvPr id="12" name="Shape 9"/>
          <p:cNvSpPr/>
          <p:nvPr/>
        </p:nvSpPr>
        <p:spPr>
          <a:xfrm>
            <a:off x="1371600" y="3749040"/>
            <a:ext cx="6400800" cy="36576"/>
          </a:xfrm>
          <a:prstGeom prst="rect">
            <a:avLst/>
          </a:prstGeom>
          <a:solidFill>
            <a:srgbClr val="55C8E8"/>
          </a:solidFill>
          <a:ln w="12700">
            <a:solidFill>
              <a:srgbClr val="55C8E8"/>
            </a:solidFill>
            <a:prstDash val="solid"/>
          </a:ln>
        </p:spPr>
      </p:sp>
      <p:sp>
        <p:nvSpPr>
          <p:cNvPr id="13" name="Shape 10"/>
          <p:cNvSpPr/>
          <p:nvPr/>
        </p:nvSpPr>
        <p:spPr>
          <a:xfrm>
            <a:off x="457200" y="3858768"/>
            <a:ext cx="8229600" cy="658368"/>
          </a:xfrm>
          <a:prstGeom prst="roundRect">
            <a:avLst>
              <a:gd name="adj" fmla="val 16667"/>
            </a:avLst>
          </a:prstGeom>
          <a:solidFill>
            <a:srgbClr val="0E1C42"/>
          </a:solidFill>
          <a:ln w="19050">
            <a:solidFill>
              <a:srgbClr val="55C8E8"/>
            </a:solidFill>
            <a:prstDash val="solid"/>
          </a:ln>
        </p:spPr>
      </p:sp>
      <p:sp>
        <p:nvSpPr>
          <p:cNvPr id="14" name="Text 11"/>
          <p:cNvSpPr/>
          <p:nvPr/>
        </p:nvSpPr>
        <p:spPr>
          <a:xfrm>
            <a:off x="594360" y="3886200"/>
            <a:ext cx="7955280" cy="621792"/>
          </a:xfrm>
          <a:prstGeom prst="rect">
            <a:avLst/>
          </a:prstGeom>
          <a:noFill/>
          <a:ln/>
        </p:spPr>
        <p:txBody>
          <a:bodyPr wrap="square" lIns="0" tIns="0" rIns="0" bIns="0" rtlCol="0" anchor="ctr"/>
          <a:lstStyle/>
          <a:p>
            <a:pPr algn="l" indent="0" marL="0">
              <a:buNone/>
            </a:pPr>
            <a:r>
              <a:rPr lang="en-US" sz="1300" i="1" dirty="0">
                <a:solidFill>
                  <a:srgbClr val="55C8E8"/>
                </a:solidFill>
                <a:latin typeface="Calibri" pitchFamily="34" charset="0"/>
                <a:ea typeface="Calibri" pitchFamily="34" charset="-122"/>
                <a:cs typeface="Calibri" pitchFamily="34" charset="-120"/>
              </a:rPr>
              <a:t>COMING NEXT:  Unit 5 brings it all together — Florida historians, geography, First Peoples, AND exploration — into one big synthesis. Bring your Historian's Notebook.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2026-07-14T00:22:54Z</dcterms:created>
  <dcterms:modified xsi:type="dcterms:W3CDTF">2026-07-14T00:22:54Z</dcterms:modified>
</cp:coreProperties>
</file>