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IMAGE TO INSERT: Florida primary source document — 1565 letter facsimile or State Archives photograph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Hold on the message. Ask students to read it aloud. Build suspense: 'What are the two kinds of cards? We don't answer yet.' Then move forward.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all four steps. Tell students: by the end, they will label two Florida source cards and explain their evidence.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60 seconds silent look. Coach: 'Don't label it yet — what do you notice about when this was made and who made it?' Then share out.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Hold back — let students wrestle. If they say 'it was old,' push: 'What can it see that later sources can't?' Aim for 3-4 student responses before revealing the definition.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the definition. Cold-call: 'Give me one Florida primary source not on this slide.' Push: 'How do you know it's primary?'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Display side by side. Ask: 'Which came from inside the moment? Point to your evidence.' Then run the Evaluate panel one question at a time.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Don't accept 'primary is better.' Push: 'What can a secondary source do that a single 1565 letter can't?' Wait for students to name synthesis, multiple perspectives, context.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both definitions. Stress the Transferable Pattern — they'll use this every time they pick up a source. Contrast both columns before moving 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Pause on honesty — connect to real life. Ask: Has anyone heard someone say something happened a certain way, but the evidence showed something different? That's why this virtue matters.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Quick word-root fun. Ask: 'Where else do you hear prim-?' Accept prime minister, primary colors, primary election. Connect: 'So why is a primary source called primary?'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Model the four-step move explicitly and slowly. Students practice in the next two slides. Keep this one brief.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 B is the hardest — oral history recorded now, but containing memories. Historians debate this. Hold back. Let students argue. Don't resolve it — let them sit with the complexity.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Don't just show the answer — ask students to diagnose the weak one first. 'What's wrong with it?' Then reveal the strong one.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 clean answer — that's the point. Some historians call it primary (eyewitness); others call it memoir (closer to secondary). Let students sit with the ambiguity. Lesson: good historians say 'it depends' when evidence is genuinely mixed.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Students answer first (chat or whiteboard), then reveal one at a time. Celebrate correct reasoning, not just the label.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questions aloud. Model Q1: 'I'd pick the 1890s railroad photo — it's primary because the photographer was there at the time.' Walk through the Source Study structure before students complete in Canvas.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IMAGE TO INSERT: Florida primary source archive — wide view of historical documents, photographs, or a historian's research desk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B1835"/>
          </a:solidFill>
          <a:ln w="19050">
            <a:solidFill>
              <a:srgbClr val="3A5080"/>
            </a:solidFill>
            <a:prstDash val="dash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E1C42">
              <a:alpha val="62000"/>
            </a:srgbClr>
          </a:solidFill>
          <a:ln/>
        </p:spPr>
      </p:sp>
      <p:sp>
        <p:nvSpPr>
          <p:cNvPr id="5" name="Shape 2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D4943A"/>
          </a:solidFill>
          <a:ln/>
        </p:spPr>
      </p:sp>
      <p:sp>
        <p:nvSpPr>
          <p:cNvPr id="6" name="Shape 3"/>
          <p:cNvSpPr/>
          <p:nvPr/>
        </p:nvSpPr>
        <p:spPr>
          <a:xfrm>
            <a:off x="457200" y="228600"/>
            <a:ext cx="2194560" cy="365760"/>
          </a:xfrm>
          <a:prstGeom prst="roundRect">
            <a:avLst>
              <a:gd name="adj" fmla="val 45000"/>
            </a:avLst>
          </a:prstGeom>
          <a:solidFill>
            <a:srgbClr val="D4943A"/>
          </a:solidFill>
          <a:ln/>
        </p:spPr>
      </p:sp>
      <p:sp>
        <p:nvSpPr>
          <p:cNvPr id="7" name="Text 4"/>
          <p:cNvSpPr/>
          <p:nvPr/>
        </p:nvSpPr>
        <p:spPr>
          <a:xfrm>
            <a:off x="457200" y="22860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4.01.02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7315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Primary &amp;</a:t>
            </a:r>
            <a:endParaRPr lang="en-US" sz="5000" dirty="0"/>
          </a:p>
        </p:txBody>
      </p:sp>
      <p:sp>
        <p:nvSpPr>
          <p:cNvPr id="9" name="Text 6"/>
          <p:cNvSpPr/>
          <p:nvPr/>
        </p:nvSpPr>
        <p:spPr>
          <a:xfrm>
            <a:off x="457200" y="1389888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0" b="1" dirty="0">
                <a:solidFill>
                  <a:srgbClr val="D494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Secondary Sources</a:t>
            </a:r>
            <a:endParaRPr lang="en-US" sz="5000" dirty="0"/>
          </a:p>
        </p:txBody>
      </p:sp>
      <p:sp>
        <p:nvSpPr>
          <p:cNvPr id="10" name="Text 7"/>
          <p:cNvSpPr/>
          <p:nvPr/>
        </p:nvSpPr>
        <p:spPr>
          <a:xfrm>
            <a:off x="457200" y="2176272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55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Thinking Like a Florida Historian</a:t>
            </a:r>
            <a:endParaRPr lang="en-US" sz="1800" dirty="0"/>
          </a:p>
        </p:txBody>
      </p:sp>
      <p:sp>
        <p:nvSpPr>
          <p:cNvPr id="11" name="Shape 8"/>
          <p:cNvSpPr/>
          <p:nvPr/>
        </p:nvSpPr>
        <p:spPr>
          <a:xfrm>
            <a:off x="457200" y="2606040"/>
            <a:ext cx="3657600" cy="45720"/>
          </a:xfrm>
          <a:prstGeom prst="rect">
            <a:avLst/>
          </a:prstGeom>
          <a:solidFill>
            <a:srgbClr val="D4943A"/>
          </a:solidFill>
          <a:ln/>
        </p:spPr>
      </p:sp>
      <p:sp>
        <p:nvSpPr>
          <p:cNvPr id="12" name="Text 9"/>
          <p:cNvSpPr/>
          <p:nvPr/>
        </p:nvSpPr>
        <p:spPr>
          <a:xfrm>
            <a:off x="457200" y="2724912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55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 QUESTION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457200" y="2999232"/>
            <a:ext cx="8046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does it matter whether Florida history evidence came from someone who was there — or someone who learned about it later?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457200" y="466344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8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SS.4.A.1.1 · SS.4.A.1.2 · SS.4.A.9.1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E1C4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D4943A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6459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D49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FLORIDA FILES: ESCAPE FROM CANVAS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640080" y="594360"/>
            <a:ext cx="7863840" cy="3291840"/>
          </a:xfrm>
          <a:prstGeom prst="roundRect">
            <a:avLst>
              <a:gd name="adj" fmla="val 5000"/>
            </a:avLst>
          </a:prstGeom>
          <a:solidFill>
            <a:srgbClr val="1A2D5A"/>
          </a:solidFill>
          <a:ln w="25400">
            <a:solidFill>
              <a:srgbClr val="D494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777240"/>
            <a:ext cx="7132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9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Message from Inside Canvas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914400" y="1170432"/>
            <a:ext cx="73152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Canvas has two source cards ready for you, but both labels are missing — something scrambled them when the module locked. I can see one card is from someone who was right there when it happened, and the other explains it from a later point of view. I need you to look carefully at each one and decide which is which. Can you label them before I can send the next file?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14400" y="2999232"/>
            <a:ext cx="7315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5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Your teacher, still inside Module 1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4041648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D49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mission: Sort the source cards before the module stays locked.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0F2F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E1C42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128016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TODAY'S PATH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65760" y="749808"/>
            <a:ext cx="8412480" cy="896112"/>
          </a:xfrm>
          <a:prstGeom prst="roundRect">
            <a:avLst>
              <a:gd name="adj" fmla="val 12245"/>
            </a:avLst>
          </a:prstGeom>
          <a:solidFill>
            <a:srgbClr val="FFFFFF"/>
          </a:solidFill>
          <a:ln w="12700">
            <a:solidFill>
              <a:srgbClr val="B0B8C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932688"/>
            <a:ext cx="502920" cy="502920"/>
          </a:xfrm>
          <a:prstGeom prst="ellipse">
            <a:avLst/>
          </a:prstGeom>
          <a:solidFill>
            <a:srgbClr val="D4943A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93268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188720" y="84124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D49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188720" y="1133856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and secondary sources — two voices from Florida's past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65760" y="1755648"/>
            <a:ext cx="8412480" cy="896112"/>
          </a:xfrm>
          <a:prstGeom prst="roundRect">
            <a:avLst>
              <a:gd name="adj" fmla="val 12245"/>
            </a:avLst>
          </a:prstGeom>
          <a:solidFill>
            <a:srgbClr val="FFFFFF"/>
          </a:solidFill>
          <a:ln w="12700">
            <a:solidFill>
              <a:srgbClr val="B0B8C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48640" y="1938528"/>
            <a:ext cx="502920" cy="502920"/>
          </a:xfrm>
          <a:prstGeom prst="ellipse">
            <a:avLst/>
          </a:prstGeom>
          <a:solidFill>
            <a:srgbClr val="D4943A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193852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188720" y="184708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D49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EXPLORE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188720" y="2139696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Study a paired Florida source card — one primary, one secondary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365760" y="2761488"/>
            <a:ext cx="8412480" cy="896112"/>
          </a:xfrm>
          <a:prstGeom prst="roundRect">
            <a:avLst>
              <a:gd name="adj" fmla="val 12245"/>
            </a:avLst>
          </a:prstGeom>
          <a:solidFill>
            <a:srgbClr val="FFFFFF"/>
          </a:solidFill>
          <a:ln w="12700">
            <a:solidFill>
              <a:srgbClr val="B0B8C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48640" y="2944368"/>
            <a:ext cx="502920" cy="502920"/>
          </a:xfrm>
          <a:prstGeom prst="ellipse">
            <a:avLst/>
          </a:prstGeom>
          <a:solidFill>
            <a:srgbClr val="D4943A"/>
          </a:solidFill>
          <a:ln/>
        </p:spPr>
      </p:sp>
      <p:sp>
        <p:nvSpPr>
          <p:cNvPr id="17" name="Text 15"/>
          <p:cNvSpPr/>
          <p:nvPr/>
        </p:nvSpPr>
        <p:spPr>
          <a:xfrm>
            <a:off x="548640" y="294436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188720" y="28529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D49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188720" y="3145536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self-check: sort sources using evidence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365760" y="3767328"/>
            <a:ext cx="8412480" cy="896112"/>
          </a:xfrm>
          <a:prstGeom prst="roundRect">
            <a:avLst>
              <a:gd name="adj" fmla="val 12245"/>
            </a:avLst>
          </a:prstGeom>
          <a:solidFill>
            <a:srgbClr val="FFFFFF"/>
          </a:solidFill>
          <a:ln w="12700">
            <a:solidFill>
              <a:srgbClr val="B0B8C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48640" y="3950208"/>
            <a:ext cx="502920" cy="502920"/>
          </a:xfrm>
          <a:prstGeom prst="ellipse">
            <a:avLst/>
          </a:prstGeom>
          <a:solidFill>
            <a:srgbClr val="D4943A"/>
          </a:solidFill>
          <a:ln/>
        </p:spPr>
      </p:sp>
      <p:sp>
        <p:nvSpPr>
          <p:cNvPr id="22" name="Text 20"/>
          <p:cNvSpPr/>
          <p:nvPr/>
        </p:nvSpPr>
        <p:spPr>
          <a:xfrm>
            <a:off x="548640" y="395020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1188720" y="385876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D49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1188720" y="4151376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Source Study and submit to Canvas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0F2F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E1C42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146304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55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CLUE BOX — A SOURCE FROM FLORIDA'S PAST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365760" y="685800"/>
            <a:ext cx="4572000" cy="3063240"/>
          </a:xfrm>
          <a:prstGeom prst="roundRect">
            <a:avLst>
              <a:gd name="adj" fmla="val 3582"/>
            </a:avLst>
          </a:prstGeom>
          <a:solidFill>
            <a:srgbClr val="E2E8F4"/>
          </a:solidFill>
          <a:ln w="19050">
            <a:solidFill>
              <a:srgbClr val="B0B8CC"/>
            </a:solidFill>
            <a:prstDash val="dash"/>
          </a:ln>
        </p:spPr>
      </p:sp>
      <p:sp>
        <p:nvSpPr>
          <p:cNvPr id="6" name="Text 4"/>
          <p:cNvSpPr/>
          <p:nvPr/>
        </p:nvSpPr>
        <p:spPr>
          <a:xfrm>
            <a:off x="365760" y="6858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50" kern="0" dirty="0">
                <a:solidFill>
                  <a:srgbClr val="7A8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 IMAGE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02920" y="960120"/>
            <a:ext cx="4297680" cy="2697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7A8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Florida primary source — Henry Flagler railroad worker photo (1890s, State Archives of Florida) or Seminole family portrait. Show date and archive caption.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074920" y="685800"/>
            <a:ext cx="3657600" cy="3063240"/>
          </a:xfrm>
          <a:prstGeom prst="roundRect">
            <a:avLst>
              <a:gd name="adj" fmla="val 3582"/>
            </a:avLst>
          </a:prstGeom>
          <a:solidFill>
            <a:srgbClr val="FFF3DC"/>
          </a:solidFill>
          <a:ln w="19050">
            <a:solidFill>
              <a:srgbClr val="F5E6C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212080" y="740664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D49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FRAME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5212080" y="941832"/>
            <a:ext cx="338328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i="1" dirty="0">
                <a:solidFill>
                  <a:srgbClr val="5A4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"I think this source came from someone who was there because..."</a:t>
            </a:r>
            <a:endParaRPr lang="en-US" sz="12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200" i="1" dirty="0">
                <a:solidFill>
                  <a:srgbClr val="5A4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"One piece of evidence that helped me decide is..."</a:t>
            </a:r>
            <a:endParaRPr lang="en-US" sz="12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200" i="1" dirty="0">
                <a:solidFill>
                  <a:srgbClr val="5A4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"This matters to Florida historians because..."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65760" y="3886200"/>
            <a:ext cx="8412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7A8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 at the source. Before discussing — write your first reaction in the chat frame.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0F2F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E1C42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146304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55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DISCUSSION — WHAT MAKES A SOURCE 'PRIMARY'?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365760" y="749808"/>
            <a:ext cx="8412480" cy="3749040"/>
          </a:xfrm>
          <a:prstGeom prst="roundRect">
            <a:avLst>
              <a:gd name="adj" fmla="val 3659"/>
            </a:avLst>
          </a:prstGeom>
          <a:solidFill>
            <a:srgbClr val="1A2D5A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48640" y="841248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55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SOCRATIC QUESTIONS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48640" y="1097280"/>
            <a:ext cx="8046720" cy="3310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does it mean to be 'there at the time' — can a photograph be 'there'?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Menéndez wrote a letter in 1565, what does that letter know that a 2010 textbook doesn't?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two primary sources about the same event contradict each other? What does that mean for historians?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a source was made at the time but by someone with a strong bias, is it still primary? Still valuable?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65760" y="4617720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7A8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 past 'it was made then.' Ask: what does that mean for what it actually knows?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E1C4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1A8A7D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6459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1A8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REVEAL 1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530352"/>
            <a:ext cx="8229600" cy="1005840"/>
          </a:xfrm>
          <a:prstGeom prst="roundRect">
            <a:avLst>
              <a:gd name="adj" fmla="val 12727"/>
            </a:avLst>
          </a:prstGeom>
          <a:solidFill>
            <a:srgbClr val="1A2D5A"/>
          </a:solidFill>
          <a:ln w="25400">
            <a:solidFill>
              <a:srgbClr val="1A8A7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621792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A8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SOURCE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932688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Evidence from someone who was there at the time — a voice from inside the moment.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57200" y="1691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D49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Florida Examples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2011680"/>
            <a:ext cx="8229600" cy="475488"/>
          </a:xfrm>
          <a:prstGeom prst="roundRect">
            <a:avLst>
              <a:gd name="adj" fmla="val 19231"/>
            </a:avLst>
          </a:prstGeom>
          <a:solidFill>
            <a:srgbClr val="1A2D5A"/>
          </a:solidFill>
          <a:ln w="12700">
            <a:solidFill>
              <a:srgbClr val="2A408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2011680"/>
            <a:ext cx="7863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1565 — Pedro Menéndez's letter to the King of Spain about founding St. Augustine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" y="2560320"/>
            <a:ext cx="8229600" cy="475488"/>
          </a:xfrm>
          <a:prstGeom prst="roundRect">
            <a:avLst>
              <a:gd name="adj" fmla="val 19231"/>
            </a:avLst>
          </a:prstGeom>
          <a:solidFill>
            <a:srgbClr val="1A2D5A"/>
          </a:solidFill>
          <a:ln w="12700">
            <a:solidFill>
              <a:srgbClr val="2A408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" y="2560320"/>
            <a:ext cx="7863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1890s — Photograph of Henry Flagler's railroad workers, taken at the time of construction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" y="3108960"/>
            <a:ext cx="8229600" cy="475488"/>
          </a:xfrm>
          <a:prstGeom prst="roundRect">
            <a:avLst>
              <a:gd name="adj" fmla="val 19231"/>
            </a:avLst>
          </a:prstGeom>
          <a:solidFill>
            <a:srgbClr val="1A2D5A"/>
          </a:solidFill>
          <a:ln w="12700">
            <a:solidFill>
              <a:srgbClr val="2A408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" y="3108960"/>
            <a:ext cx="7863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1830 — Diary kept by a Seminole leader during their own lifetime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57200" y="3657600"/>
            <a:ext cx="8229600" cy="475488"/>
          </a:xfrm>
          <a:prstGeom prst="roundRect">
            <a:avLst>
              <a:gd name="adj" fmla="val 19231"/>
            </a:avLst>
          </a:prstGeom>
          <a:solidFill>
            <a:srgbClr val="1A2D5A"/>
          </a:solidFill>
          <a:ln w="12700">
            <a:solidFill>
              <a:srgbClr val="2A408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0080" y="3657600"/>
            <a:ext cx="7863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1880s — Florida citrus farmer's personal diary from the groves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57200" y="4434840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9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RETRIEVAL CHALLENGE: Name one more Florida primary source not on this list.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0F2F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E1C42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146304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9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MULTI-SOURCE COMPARE — PRIMARY VS. SECONDARY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274320" y="685800"/>
            <a:ext cx="3977640" cy="2423160"/>
          </a:xfrm>
          <a:prstGeom prst="roundRect">
            <a:avLst>
              <a:gd name="adj" fmla="val 4528"/>
            </a:avLst>
          </a:prstGeom>
          <a:solidFill>
            <a:srgbClr val="E2E8F4"/>
          </a:solidFill>
          <a:ln w="19050">
            <a:solidFill>
              <a:srgbClr val="B0B8CC"/>
            </a:solidFill>
            <a:prstDash val="dash"/>
          </a:ln>
        </p:spPr>
      </p:sp>
      <p:sp>
        <p:nvSpPr>
          <p:cNvPr id="6" name="Text 4"/>
          <p:cNvSpPr/>
          <p:nvPr/>
        </p:nvSpPr>
        <p:spPr>
          <a:xfrm>
            <a:off x="274320" y="685800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50" kern="0" dirty="0">
                <a:solidFill>
                  <a:srgbClr val="7A8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 IMAGE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11480" y="960120"/>
            <a:ext cx="3703320" cy="2057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7A8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SOURCE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i="1" dirty="0">
                <a:solidFill>
                  <a:srgbClr val="7A8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Florida primary source (e.g., 1890s railroad photo or 1565 letter facsimile). Label: date + 'PRIMARY'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74320" y="3172968"/>
            <a:ext cx="3977640" cy="475488"/>
          </a:xfrm>
          <a:prstGeom prst="roundRect">
            <a:avLst>
              <a:gd name="adj" fmla="val 19231"/>
            </a:avLst>
          </a:prstGeom>
          <a:solidFill>
            <a:srgbClr val="1A8A7D"/>
          </a:solidFill>
          <a:ln/>
        </p:spPr>
      </p:sp>
      <p:sp>
        <p:nvSpPr>
          <p:cNvPr id="9" name="Text 7"/>
          <p:cNvSpPr/>
          <p:nvPr/>
        </p:nvSpPr>
        <p:spPr>
          <a:xfrm>
            <a:off x="274320" y="3172968"/>
            <a:ext cx="3977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— From inside the moment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343400" y="1645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494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VS.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4892040" y="685800"/>
            <a:ext cx="3977640" cy="2423160"/>
          </a:xfrm>
          <a:prstGeom prst="roundRect">
            <a:avLst>
              <a:gd name="adj" fmla="val 4528"/>
            </a:avLst>
          </a:prstGeom>
          <a:solidFill>
            <a:srgbClr val="E2E8F4"/>
          </a:solidFill>
          <a:ln w="19050">
            <a:solidFill>
              <a:srgbClr val="B0B8CC"/>
            </a:solidFill>
            <a:prstDash val="dash"/>
          </a:ln>
        </p:spPr>
      </p:sp>
      <p:sp>
        <p:nvSpPr>
          <p:cNvPr id="12" name="Text 10"/>
          <p:cNvSpPr/>
          <p:nvPr/>
        </p:nvSpPr>
        <p:spPr>
          <a:xfrm>
            <a:off x="4892040" y="685800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50" kern="0" dirty="0">
                <a:solidFill>
                  <a:srgbClr val="7A8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 IMAGE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029200" y="960120"/>
            <a:ext cx="3703320" cy="2057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7A8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SECONDARY SOURCE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i="1" dirty="0">
                <a:solidFill>
                  <a:srgbClr val="7A8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Modern textbook page or museum panel about the same Florida event. Label: year + 'SECONDARY'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892040" y="3172968"/>
            <a:ext cx="3977640" cy="475488"/>
          </a:xfrm>
          <a:prstGeom prst="roundRect">
            <a:avLst>
              <a:gd name="adj" fmla="val 19231"/>
            </a:avLst>
          </a:prstGeom>
          <a:solidFill>
            <a:srgbClr val="D4943A"/>
          </a:solidFill>
          <a:ln/>
        </p:spPr>
      </p:sp>
      <p:sp>
        <p:nvSpPr>
          <p:cNvPr id="15" name="Text 13"/>
          <p:cNvSpPr/>
          <p:nvPr/>
        </p:nvSpPr>
        <p:spPr>
          <a:xfrm>
            <a:off x="4892040" y="3172968"/>
            <a:ext cx="3977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SECONDARY — Made later, looking back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74320" y="3767328"/>
            <a:ext cx="8595360" cy="914400"/>
          </a:xfrm>
          <a:prstGeom prst="roundRect">
            <a:avLst>
              <a:gd name="adj" fmla="val 15000"/>
            </a:avLst>
          </a:prstGeom>
          <a:solidFill>
            <a:srgbClr val="1A2D5A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57200" y="385876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D49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 THE SOURCE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4114800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created each source — and when?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can the PRIMARY source see that the secondary one cannot?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does the SECONDARY source pull together that the primary one misses?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0F2F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E1C42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146304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55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DISCUSSION — WHY DO HISTORIANS NEED BOTH?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365760" y="749808"/>
            <a:ext cx="8412480" cy="3749040"/>
          </a:xfrm>
          <a:prstGeom prst="roundRect">
            <a:avLst>
              <a:gd name="adj" fmla="val 3659"/>
            </a:avLst>
          </a:prstGeom>
          <a:solidFill>
            <a:srgbClr val="1A2D5A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48640" y="841248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55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SOCRATIC QUESTIONS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48640" y="1097280"/>
            <a:ext cx="8046720" cy="3310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does the primary source give you that no secondary source ever can?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does the secondary source give you that a single primary source can't?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a historian only had primary sources, what would be hard? Only secondary?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lesson page is itself a secondary source — does that make it less valuable? Why or why not?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65760" y="4617720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7A8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 past 'primary is better.' Historians need both. Hold back until students articulate the actual difference.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E1C4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D4943A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6459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D49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REVEAL 2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530352"/>
            <a:ext cx="8229600" cy="1005840"/>
          </a:xfrm>
          <a:prstGeom prst="roundRect">
            <a:avLst>
              <a:gd name="adj" fmla="val 12727"/>
            </a:avLst>
          </a:prstGeom>
          <a:solidFill>
            <a:srgbClr val="1A2D5A"/>
          </a:solidFill>
          <a:ln w="25400">
            <a:solidFill>
              <a:srgbClr val="D494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621792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D49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SECONDARY SOURCE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932688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 account made later by someone who studied the primary sources — a voice from outside the moment, looking back.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57200" y="1664208"/>
            <a:ext cx="8229600" cy="1143000"/>
          </a:xfrm>
          <a:prstGeom prst="roundRect">
            <a:avLst>
              <a:gd name="adj" fmla="val 11200"/>
            </a:avLst>
          </a:prstGeom>
          <a:solidFill>
            <a:srgbClr val="1A2D5A"/>
          </a:solidFill>
          <a:ln w="19050">
            <a:solidFill>
              <a:srgbClr val="55C8E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1755648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55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TRANSFERABLE PATTERN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40080" y="2029968"/>
            <a:ext cx="7863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 time you read Florida history, ask: Was this made at the time (primary) or later (secondary)? Both have value. Both have limits. Honesty means naming which is which — every time.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57200" y="2926080"/>
            <a:ext cx="4069080" cy="1874520"/>
          </a:xfrm>
          <a:prstGeom prst="roundRect">
            <a:avLst>
              <a:gd name="adj" fmla="val 5854"/>
            </a:avLst>
          </a:prstGeom>
          <a:solidFill>
            <a:srgbClr val="1A2D5A"/>
          </a:solidFill>
          <a:ln w="19050">
            <a:solidFill>
              <a:srgbClr val="1A8A7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94360" y="2999232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1A8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94360" y="3291840"/>
            <a:ext cx="3749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From inside the moment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94360" y="3767328"/>
            <a:ext cx="3749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One person's view — close to the event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94360" y="4242816"/>
            <a:ext cx="3749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Diary, photo, letter, artifact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800600" y="2926080"/>
            <a:ext cx="4069080" cy="1874520"/>
          </a:xfrm>
          <a:prstGeom prst="roundRect">
            <a:avLst>
              <a:gd name="adj" fmla="val 5854"/>
            </a:avLst>
          </a:prstGeom>
          <a:solidFill>
            <a:srgbClr val="1A2D5A"/>
          </a:solidFill>
          <a:ln w="19050">
            <a:solidFill>
              <a:srgbClr val="D4943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937760" y="2999232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D49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SECONDARY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937760" y="3291840"/>
            <a:ext cx="3749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Made later, looking back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937760" y="3767328"/>
            <a:ext cx="3749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Pulls many sources together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937760" y="4242816"/>
            <a:ext cx="3749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Textbook, documentary, museum panel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E1C4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D4943A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8288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D49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VIRTUE SPOTLIGHT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548640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Honesty</a:t>
            </a:r>
            <a:endParaRPr lang="en-US" sz="5000" dirty="0"/>
          </a:p>
        </p:txBody>
      </p:sp>
      <p:sp>
        <p:nvSpPr>
          <p:cNvPr id="6" name="Shape 4"/>
          <p:cNvSpPr/>
          <p:nvPr/>
        </p:nvSpPr>
        <p:spPr>
          <a:xfrm>
            <a:off x="457200" y="1261872"/>
            <a:ext cx="2743200" cy="45720"/>
          </a:xfrm>
          <a:prstGeom prst="rect">
            <a:avLst/>
          </a:prstGeom>
          <a:solidFill>
            <a:srgbClr val="D4943A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41732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Honesty is the historian's first rule. When a Florida historian says 'I know what happened,' that claim has to come from real evidence — and the historian has to be honest about where the evidence came from.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57200" y="2514600"/>
            <a:ext cx="82296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D494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diary written by a Seminole leader in 1830 and a textbook chapter written in 2010 both tell us something. Pretending they're the same kind of source would be dishonest. Naming each source for what it really is — that's honesty in action.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457200" y="3767328"/>
            <a:ext cx="8229600" cy="804672"/>
          </a:xfrm>
          <a:prstGeom prst="roundRect">
            <a:avLst>
              <a:gd name="adj" fmla="val 13636"/>
            </a:avLst>
          </a:prstGeom>
          <a:solidFill>
            <a:srgbClr val="1A2D5A"/>
          </a:solidFill>
          <a:ln w="19050">
            <a:solidFill>
              <a:srgbClr val="D4943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94360" y="3794760"/>
            <a:ext cx="79552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Discuss: When does it matter most for a historian to be honest about which kind of source they're using?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0F2F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E1C42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146304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49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ROOT — LATIN: prim- (FIRST)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365760" y="713232"/>
            <a:ext cx="8412480" cy="932688"/>
          </a:xfrm>
          <a:prstGeom prst="roundRect">
            <a:avLst>
              <a:gd name="adj" fmla="val 13725"/>
            </a:avLst>
          </a:prstGeom>
          <a:solidFill>
            <a:srgbClr val="0E1C42"/>
          </a:solidFill>
          <a:ln/>
        </p:spPr>
      </p:sp>
      <p:sp>
        <p:nvSpPr>
          <p:cNvPr id="6" name="Text 4"/>
          <p:cNvSpPr/>
          <p:nvPr/>
        </p:nvSpPr>
        <p:spPr>
          <a:xfrm>
            <a:off x="594360" y="786384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D494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prim-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2697480" y="877824"/>
            <a:ext cx="5852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Latin for "first" — hiding inside primary, prime, primitive, primer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65760" y="1755648"/>
            <a:ext cx="8412480" cy="621792"/>
          </a:xfrm>
          <a:prstGeom prst="roundRect">
            <a:avLst>
              <a:gd name="adj" fmla="val 14706"/>
            </a:avLst>
          </a:prstGeom>
          <a:solidFill>
            <a:srgbClr val="FFFFFF"/>
          </a:solidFill>
          <a:ln w="12700">
            <a:solidFill>
              <a:srgbClr val="B0B8C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1755648"/>
            <a:ext cx="20116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1C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primary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2697480" y="1755648"/>
            <a:ext cx="5943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A8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first, or coming first — evidence from the FIRST kind of moment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65760" y="2459736"/>
            <a:ext cx="8412480" cy="621792"/>
          </a:xfrm>
          <a:prstGeom prst="roundRect">
            <a:avLst>
              <a:gd name="adj" fmla="val 14706"/>
            </a:avLst>
          </a:prstGeom>
          <a:solidFill>
            <a:srgbClr val="FFFFFF"/>
          </a:solidFill>
          <a:ln w="12700">
            <a:solidFill>
              <a:srgbClr val="B0B8C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2459736"/>
            <a:ext cx="20116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1C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prime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2697480" y="2459736"/>
            <a:ext cx="5943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A8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in importance — prime time, prime minister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65760" y="3163824"/>
            <a:ext cx="8412480" cy="621792"/>
          </a:xfrm>
          <a:prstGeom prst="roundRect">
            <a:avLst>
              <a:gd name="adj" fmla="val 14706"/>
            </a:avLst>
          </a:prstGeom>
          <a:solidFill>
            <a:srgbClr val="FFFFFF"/>
          </a:solidFill>
          <a:ln w="12700">
            <a:solidFill>
              <a:srgbClr val="B0B8C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8640" y="3163824"/>
            <a:ext cx="20116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1C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primitive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2697480" y="3163824"/>
            <a:ext cx="5943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A8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the earliest time — the first, most basic stage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65760" y="3867912"/>
            <a:ext cx="8412480" cy="621792"/>
          </a:xfrm>
          <a:prstGeom prst="roundRect">
            <a:avLst>
              <a:gd name="adj" fmla="val 14706"/>
            </a:avLst>
          </a:prstGeom>
          <a:solidFill>
            <a:srgbClr val="FFFFFF"/>
          </a:solidFill>
          <a:ln w="12700">
            <a:solidFill>
              <a:srgbClr val="B0B8C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8640" y="3867912"/>
            <a:ext cx="20116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1C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primer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2697480" y="3867912"/>
            <a:ext cx="5943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A8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first book used to learn something — literally a 'first reader'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365760" y="4645152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A8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primary means 'first,' a primary source is the FIRST kind of evidence — straight from the moment.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0F2F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E1C42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146304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55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GUIDED PRACTICE — TEACHER MODELS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365760" y="713232"/>
            <a:ext cx="8412480" cy="2103120"/>
          </a:xfrm>
          <a:prstGeom prst="roundRect">
            <a:avLst>
              <a:gd name="adj" fmla="val 6087"/>
            </a:avLst>
          </a:prstGeom>
          <a:solidFill>
            <a:srgbClr val="FFFFFF"/>
          </a:solidFill>
          <a:ln w="12700">
            <a:solidFill>
              <a:srgbClr val="B0B8C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8229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D49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 Think-Aloud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1133856"/>
            <a:ext cx="8046720" cy="1572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0E1C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"I'm looking at a photograph of railroad workers in Florida from the 1890s. Let me think out loud: Was someone there when this was taken? Yes — the photographer was physically present at the construction site. Is there a date? Yes, 1890s. That means this source comes from inside the moment. So I would call this a... primary source. My evidence: it was taken at the time, by someone who was there."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65760" y="2926080"/>
            <a:ext cx="8412480" cy="1005840"/>
          </a:xfrm>
          <a:prstGeom prst="roundRect">
            <a:avLst>
              <a:gd name="adj" fmla="val 12727"/>
            </a:avLst>
          </a:prstGeom>
          <a:solidFill>
            <a:srgbClr val="1A2D5A"/>
          </a:solidFill>
          <a:ln w="19050">
            <a:solidFill>
              <a:srgbClr val="55C8E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301752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55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NOTICE THE MOVE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548640" y="329184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1) Name the source.  2) Ask: Was someone there when it was made?  3) Point to the evidence (date, maker, type of object).  4) State the label: primary or secondary.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65760" y="4069080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7A8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 aloud slowly — students need to hear the reasoning, not just the answer.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0F2F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E1C42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146304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55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GUIDED PRACTICE — INVESTIGATE + DEFEND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365760" y="731520"/>
            <a:ext cx="8412480" cy="1170432"/>
          </a:xfrm>
          <a:prstGeom prst="roundRect">
            <a:avLst>
              <a:gd name="adj" fmla="val 9375"/>
            </a:avLst>
          </a:prstGeom>
          <a:solidFill>
            <a:srgbClr val="FFFFFF"/>
          </a:solidFill>
          <a:ln w="12700">
            <a:solidFill>
              <a:srgbClr val="B0B8C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80467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D49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A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48640" y="1078992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documentary film about Florida's Seminole Wars, released 2019.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48640" y="1490472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7A8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or secondary? State one piece of evidence.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65760" y="2011680"/>
            <a:ext cx="8412480" cy="1170432"/>
          </a:xfrm>
          <a:prstGeom prst="roundRect">
            <a:avLst>
              <a:gd name="adj" fmla="val 9375"/>
            </a:avLst>
          </a:prstGeom>
          <a:solidFill>
            <a:srgbClr val="FFFFFF"/>
          </a:solidFill>
          <a:ln w="12700">
            <a:solidFill>
              <a:srgbClr val="B0B8C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208483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D49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B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48640" y="2359152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oral history recorded from a Seminole elder in 2005, describing their grandparents' memories of the 1830s.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48640" y="2770632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7A8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or secondary? This one is tricky — defend your answer.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65760" y="3291840"/>
            <a:ext cx="8412480" cy="1170432"/>
          </a:xfrm>
          <a:prstGeom prst="roundRect">
            <a:avLst>
              <a:gd name="adj" fmla="val 9375"/>
            </a:avLst>
          </a:prstGeom>
          <a:solidFill>
            <a:srgbClr val="FFFFFF"/>
          </a:solidFill>
          <a:ln w="12700">
            <a:solidFill>
              <a:srgbClr val="B0B8C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" y="336499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D49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C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48640" y="3639312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letter written by a U.S. Army general in 1836 during the Seminole Wars.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48640" y="4050792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7A8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or secondary? Point to the exact evidence.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0F2F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E1C42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146304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55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GUIDED PRACTICE — CRITIQUE: WEAK VS. STRONG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365760" y="713232"/>
            <a:ext cx="4114800" cy="3246120"/>
          </a:xfrm>
          <a:prstGeom prst="roundRect">
            <a:avLst>
              <a:gd name="adj" fmla="val 3944"/>
            </a:avLst>
          </a:prstGeom>
          <a:solidFill>
            <a:srgbClr val="FFFFFF"/>
          </a:solidFill>
          <a:ln w="25400">
            <a:solidFill>
              <a:srgbClr val="E8636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713232"/>
            <a:ext cx="4114800" cy="384048"/>
          </a:xfrm>
          <a:prstGeom prst="roundRect">
            <a:avLst>
              <a:gd name="adj" fmla="val 33333"/>
            </a:avLst>
          </a:prstGeom>
          <a:solidFill>
            <a:srgbClr val="E8636B"/>
          </a:solidFill>
          <a:ln/>
        </p:spPr>
      </p:sp>
      <p:sp>
        <p:nvSpPr>
          <p:cNvPr id="7" name="Text 5"/>
          <p:cNvSpPr/>
          <p:nvPr/>
        </p:nvSpPr>
        <p:spPr>
          <a:xfrm>
            <a:off x="365760" y="713232"/>
            <a:ext cx="4114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WEAK RESPONSE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02920" y="1170432"/>
            <a:ext cx="3840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0E1C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"This is a primary source because it is old and came from back then."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02920" y="2148840"/>
            <a:ext cx="384048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7A8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missing?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7A8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No specific evidence named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7A8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'Old' is not the rule — when it was made is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7A8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Doesn't name what kind of object it is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7A8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No connection to 'someone who was there'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663440" y="713232"/>
            <a:ext cx="4114800" cy="3246120"/>
          </a:xfrm>
          <a:prstGeom prst="roundRect">
            <a:avLst>
              <a:gd name="adj" fmla="val 3944"/>
            </a:avLst>
          </a:prstGeom>
          <a:solidFill>
            <a:srgbClr val="FFFFFF"/>
          </a:solidFill>
          <a:ln w="25400">
            <a:solidFill>
              <a:srgbClr val="34B76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663440" y="713232"/>
            <a:ext cx="4114800" cy="384048"/>
          </a:xfrm>
          <a:prstGeom prst="roundRect">
            <a:avLst>
              <a:gd name="adj" fmla="val 33333"/>
            </a:avLst>
          </a:prstGeom>
          <a:solidFill>
            <a:srgbClr val="34B76F"/>
          </a:solidFill>
          <a:ln/>
        </p:spPr>
      </p:sp>
      <p:sp>
        <p:nvSpPr>
          <p:cNvPr id="12" name="Text 10"/>
          <p:cNvSpPr/>
          <p:nvPr/>
        </p:nvSpPr>
        <p:spPr>
          <a:xfrm>
            <a:off x="4663440" y="713232"/>
            <a:ext cx="4114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RESPONSE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800600" y="1170432"/>
            <a:ext cx="38404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0E1C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"This photograph is a primary source because it was taken in the 1890s, when the railroad was actually being built — the photographer was there at the time."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800600" y="2423160"/>
            <a:ext cx="38404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works: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Names the source (photograph)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Points to the date (1890s)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States the rule (photographer was there)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One sentence of real evidence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65760" y="4069080"/>
            <a:ext cx="8412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i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Ask: What ONE change would make the weak response strong?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0F2F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E1C42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146304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49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GUIDED PRACTICE — THE TRICKY ONE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365760" y="713232"/>
            <a:ext cx="8412480" cy="1417320"/>
          </a:xfrm>
          <a:prstGeom prst="roundRect">
            <a:avLst>
              <a:gd name="adj" fmla="val 9032"/>
            </a:avLst>
          </a:prstGeom>
          <a:solidFill>
            <a:srgbClr val="0E1C42"/>
          </a:solidFill>
          <a:ln w="25400">
            <a:solidFill>
              <a:srgbClr val="D494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804672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D49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SCENARIO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48640" y="1097280"/>
            <a:ext cx="80467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diary was found in an archive. The writer says they lived through the Seminole Wars — but the diary was written 50 years after the events, when the writer was elderly and looking back. Is this diary a primary source or a secondary source?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365760" y="2249424"/>
            <a:ext cx="8412480" cy="2304288"/>
          </a:xfrm>
          <a:prstGeom prst="roundRect">
            <a:avLst>
              <a:gd name="adj" fmla="val 5952"/>
            </a:avLst>
          </a:prstGeom>
          <a:solidFill>
            <a:srgbClr val="1A2D5A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48640" y="2340864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55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SOCRATIC QUESTIONS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548640" y="2596896"/>
            <a:ext cx="8046720" cy="18653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it matter that the writer was there — or does it matter WHEN they wrote it down?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Would a historian trust this differently than a diary written the same year as the events?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there a clean answer here — or do historians have to say 'it depends'?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two questions would you ask before deciding how to use this source?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0F2F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E1C42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146304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8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SELF-CHECK (NOT GRADED)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365760" y="713232"/>
            <a:ext cx="8412480" cy="1252728"/>
          </a:xfrm>
          <a:prstGeom prst="roundRect">
            <a:avLst>
              <a:gd name="adj" fmla="val 8759"/>
            </a:avLst>
          </a:prstGeom>
          <a:solidFill>
            <a:srgbClr val="FFFFFF"/>
          </a:solidFill>
          <a:ln w="12700">
            <a:solidFill>
              <a:srgbClr val="B0B8C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78638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49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960120" y="768096"/>
            <a:ext cx="75895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1565, Menéndez wrote a letter to the King of Spain about founding St. Augustine. What kind of source is it?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02920" y="1335024"/>
            <a:ext cx="8138160" cy="530352"/>
          </a:xfrm>
          <a:prstGeom prst="roundRect">
            <a:avLst>
              <a:gd name="adj" fmla="val 13793"/>
            </a:avLst>
          </a:prstGeom>
          <a:solidFill>
            <a:srgbClr val="E8F5EE"/>
          </a:solidFill>
          <a:ln w="12700">
            <a:solidFill>
              <a:srgbClr val="34B76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1335024"/>
            <a:ext cx="7863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A8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Answer: PRIMARY — it came from someone who was there at the time. Age alone doesn't decide it.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65760" y="2057400"/>
            <a:ext cx="8412480" cy="1252728"/>
          </a:xfrm>
          <a:prstGeom prst="roundRect">
            <a:avLst>
              <a:gd name="adj" fmla="val 8759"/>
            </a:avLst>
          </a:prstGeom>
          <a:solidFill>
            <a:srgbClr val="FFFFFF"/>
          </a:solidFill>
          <a:ln w="12700">
            <a:solidFill>
              <a:srgbClr val="B0B8C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21305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49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960120" y="2112264"/>
            <a:ext cx="75895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is a SECONDARY source about the Seminole people?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02920" y="2679192"/>
            <a:ext cx="8138160" cy="530352"/>
          </a:xfrm>
          <a:prstGeom prst="roundRect">
            <a:avLst>
              <a:gd name="adj" fmla="val 13793"/>
            </a:avLst>
          </a:prstGeom>
          <a:solidFill>
            <a:srgbClr val="E8F5EE"/>
          </a:solidFill>
          <a:ln w="12700">
            <a:solidFill>
              <a:srgbClr val="34B76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" y="2679192"/>
            <a:ext cx="7863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A8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Answer: A textbook chapter about the Seminole written in 2010 — made later, by someone who studied other sources.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3401568"/>
            <a:ext cx="8412480" cy="1252728"/>
          </a:xfrm>
          <a:prstGeom prst="roundRect">
            <a:avLst>
              <a:gd name="adj" fmla="val 8759"/>
            </a:avLst>
          </a:prstGeom>
          <a:solidFill>
            <a:srgbClr val="FFFFFF"/>
          </a:solidFill>
          <a:ln w="12700">
            <a:solidFill>
              <a:srgbClr val="B0B8C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2920" y="34747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49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960120" y="3456432"/>
            <a:ext cx="75895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does it matter to tell primary and secondary sources apart?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02920" y="4023360"/>
            <a:ext cx="8138160" cy="530352"/>
          </a:xfrm>
          <a:prstGeom prst="roundRect">
            <a:avLst>
              <a:gd name="adj" fmla="val 13793"/>
            </a:avLst>
          </a:prstGeom>
          <a:solidFill>
            <a:srgbClr val="E8F5EE"/>
          </a:solidFill>
          <a:ln w="12700">
            <a:solidFill>
              <a:srgbClr val="34B76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0080" y="4023360"/>
            <a:ext cx="7863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A8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Answer: We must be honest about where evidence came from so we can judge what it really shows.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0F2F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E1C42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146304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49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ASSIGNMENT — COMPLETE YOUR SOURCE STUDY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365760" y="713232"/>
            <a:ext cx="8412480" cy="1078992"/>
          </a:xfrm>
          <a:prstGeom prst="roundRect">
            <a:avLst>
              <a:gd name="adj" fmla="val 10169"/>
            </a:avLst>
          </a:prstGeom>
          <a:solidFill>
            <a:srgbClr val="FFFFFF"/>
          </a:solidFill>
          <a:ln w="12700">
            <a:solidFill>
              <a:srgbClr val="B0B8C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987552"/>
            <a:ext cx="411480" cy="411480"/>
          </a:xfrm>
          <a:prstGeom prst="ellipse">
            <a:avLst/>
          </a:prstGeom>
          <a:solidFill>
            <a:srgbClr val="D4943A"/>
          </a:solidFill>
          <a:ln/>
        </p:spPr>
      </p:sp>
      <p:sp>
        <p:nvSpPr>
          <p:cNvPr id="7" name="Text 5"/>
          <p:cNvSpPr/>
          <p:nvPr/>
        </p:nvSpPr>
        <p:spPr>
          <a:xfrm>
            <a:off x="502920" y="98755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05840" y="804672"/>
            <a:ext cx="75895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 one example of a Florida PRIMARY source and explain why it counts as primary.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1371600"/>
            <a:ext cx="7589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7A8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 the source, then say what makes it a voice from inside the moment.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65760" y="1883664"/>
            <a:ext cx="8412480" cy="1078992"/>
          </a:xfrm>
          <a:prstGeom prst="roundRect">
            <a:avLst>
              <a:gd name="adj" fmla="val 10169"/>
            </a:avLst>
          </a:prstGeom>
          <a:solidFill>
            <a:srgbClr val="FFFFFF"/>
          </a:solidFill>
          <a:ln w="12700">
            <a:solidFill>
              <a:srgbClr val="B0B8C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02920" y="2157984"/>
            <a:ext cx="411480" cy="411480"/>
          </a:xfrm>
          <a:prstGeom prst="ellipse">
            <a:avLst/>
          </a:prstGeom>
          <a:solidFill>
            <a:srgbClr val="D4943A"/>
          </a:solidFill>
          <a:ln/>
        </p:spPr>
      </p:sp>
      <p:sp>
        <p:nvSpPr>
          <p:cNvPr id="12" name="Text 10"/>
          <p:cNvSpPr/>
          <p:nvPr/>
        </p:nvSpPr>
        <p:spPr>
          <a:xfrm>
            <a:off x="502920" y="2157984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005840" y="1975104"/>
            <a:ext cx="75895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 one example of a Florida SECONDARY source and explain why it counts as secondary.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005840" y="2542032"/>
            <a:ext cx="7589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7A8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 the source, say who made it and when — and how that makes it a voice from outside the moment.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3054096"/>
            <a:ext cx="8412480" cy="1078992"/>
          </a:xfrm>
          <a:prstGeom prst="roundRect">
            <a:avLst>
              <a:gd name="adj" fmla="val 10169"/>
            </a:avLst>
          </a:prstGeom>
          <a:solidFill>
            <a:srgbClr val="FFFFFF"/>
          </a:solidFill>
          <a:ln w="12700">
            <a:solidFill>
              <a:srgbClr val="B0B8C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02920" y="3328416"/>
            <a:ext cx="411480" cy="411480"/>
          </a:xfrm>
          <a:prstGeom prst="ellipse">
            <a:avLst/>
          </a:prstGeom>
          <a:solidFill>
            <a:srgbClr val="D4943A"/>
          </a:solidFill>
          <a:ln/>
        </p:spPr>
      </p:sp>
      <p:sp>
        <p:nvSpPr>
          <p:cNvPr id="17" name="Text 15"/>
          <p:cNvSpPr/>
          <p:nvPr/>
        </p:nvSpPr>
        <p:spPr>
          <a:xfrm>
            <a:off x="502920" y="3328416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005840" y="3145536"/>
            <a:ext cx="75895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is being HONEST about a source important for a Florida historian?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005840" y="3712464"/>
            <a:ext cx="7589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7A8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words primary and secondary in your answer.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65760" y="4251960"/>
            <a:ext cx="8412480" cy="566928"/>
          </a:xfrm>
          <a:prstGeom prst="roundRect">
            <a:avLst>
              <a:gd name="adj" fmla="val 16129"/>
            </a:avLst>
          </a:prstGeom>
          <a:solidFill>
            <a:srgbClr val="FFF3DC"/>
          </a:solidFill>
          <a:ln w="19050">
            <a:solidFill>
              <a:srgbClr val="D4943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2920" y="4270248"/>
            <a:ext cx="8229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4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Unlock Challenge: Label each side of the paired source card (primary / secondary) with one sentence of evidence. Then write 2-3 sentences explaining what the two sources together help us understand about this Florida moment.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B1835"/>
          </a:solidFill>
          <a:ln w="19050">
            <a:solidFill>
              <a:srgbClr val="3A5080"/>
            </a:solidFill>
            <a:prstDash val="dash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E1C42">
              <a:alpha val="62000"/>
            </a:srgbClr>
          </a:solidFill>
          <a:ln/>
        </p:spPr>
      </p:sp>
      <p:sp>
        <p:nvSpPr>
          <p:cNvPr id="5" name="Shape 2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D4943A"/>
          </a:solidFill>
          <a:ln/>
        </p:spPr>
      </p:sp>
      <p:sp>
        <p:nvSpPr>
          <p:cNvPr id="6" name="Shape 3"/>
          <p:cNvSpPr/>
          <p:nvPr/>
        </p:nvSpPr>
        <p:spPr>
          <a:xfrm>
            <a:off x="457200" y="256032"/>
            <a:ext cx="3200400" cy="402336"/>
          </a:xfrm>
          <a:prstGeom prst="roundRect">
            <a:avLst>
              <a:gd name="adj" fmla="val 40909"/>
            </a:avLst>
          </a:prstGeom>
          <a:solidFill>
            <a:srgbClr val="D4943A"/>
          </a:solidFill>
          <a:ln/>
        </p:spPr>
      </p:sp>
      <p:sp>
        <p:nvSpPr>
          <p:cNvPr id="7" name="Text 4"/>
          <p:cNvSpPr/>
          <p:nvPr/>
        </p:nvSpPr>
        <p:spPr>
          <a:xfrm>
            <a:off x="457200" y="256032"/>
            <a:ext cx="3200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1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UNLOCKED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457200" y="777240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Sources Identified.</a:t>
            </a:r>
            <a:endParaRPr lang="en-US" sz="4600" dirty="0"/>
          </a:p>
        </p:txBody>
      </p:sp>
      <p:sp>
        <p:nvSpPr>
          <p:cNvPr id="9" name="Text 6"/>
          <p:cNvSpPr/>
          <p:nvPr/>
        </p:nvSpPr>
        <p:spPr>
          <a:xfrm>
            <a:off x="457200" y="1536192"/>
            <a:ext cx="8229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D494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Primary and secondary sources help historians learn different kinds of information about Florida's past.</a:t>
            </a:r>
            <a:endParaRPr lang="en-US" sz="2000" dirty="0"/>
          </a:p>
        </p:txBody>
      </p:sp>
      <p:sp>
        <p:nvSpPr>
          <p:cNvPr id="10" name="Shape 7"/>
          <p:cNvSpPr/>
          <p:nvPr/>
        </p:nvSpPr>
        <p:spPr>
          <a:xfrm>
            <a:off x="457200" y="2267712"/>
            <a:ext cx="4572000" cy="45720"/>
          </a:xfrm>
          <a:prstGeom prst="rect">
            <a:avLst/>
          </a:prstGeom>
          <a:solidFill>
            <a:srgbClr val="55C8E8"/>
          </a:solidFill>
          <a:ln/>
        </p:spPr>
      </p:sp>
      <p:sp>
        <p:nvSpPr>
          <p:cNvPr id="11" name="Text 8"/>
          <p:cNvSpPr/>
          <p:nvPr/>
        </p:nvSpPr>
        <p:spPr>
          <a:xfrm>
            <a:off x="457200" y="24231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55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Rule: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457200" y="2743200"/>
            <a:ext cx="8229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Primary = from inside the moment. Secondary = made later, looking back. Both matter — only if we are honest about which is which.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457200" y="374904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A8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Virtue: Honesty · Coming Next: Lesson 4.01.03 — Print and Electronic Media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457200" y="466344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8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Optima Academy Online · Grade 4 Social Studies · Lesson 4.01.02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Optima Academy Online</dc:creator>
  <cp:lastModifiedBy>Optima Academy Online</cp:lastModifiedBy>
  <cp:revision>1</cp:revision>
  <dcterms:created xsi:type="dcterms:W3CDTF">2026-07-13T20:32:10Z</dcterms:created>
  <dcterms:modified xsi:type="dcterms:W3CDTF">2026-07-13T20:32:10Z</dcterms:modified>
</cp:coreProperties>
</file>