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map with glowing latitude/longitude grid lines, scale bar, and legend symbols visible — dramatic cartographic map-room aesthetic, deep blues and gold accents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energy opening. 'Six lessons of work. Today is the finale — and the stakes are real. The Map Room stays locked until every tool is used correctly.' Build genuine excitement and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60-second preview. Point to each tool with excitement. 'Every one of these is going to appear in your assignment today. Let's master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silence. Do NOT explain the grid. Ask: 'What problem does having numbered lines on a map solve?' Students should connect it to finding specific locations. Collect 3 responses before the discussion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the historian question: 'Why would knowing EXACT coordinates help a historian?' Students should reach: so you can find the same spot on different maps from different eras. That's precision as historical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the discovery. Frame it: 'You just figured out how every GPS in the world works — same principle, just automated.' Retrieval: give 30 seconds of silence, then chat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describe what the scale bar does before revealing the definition. Some will know from previous lessons. Let them explain to each other. Then ask: 'Why does the same map have different details if you zoom in vs. zoom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contradiction question is the setup for Slide 17. Let students argue about it here without resolving it. If someone gives a strong answer, hold onto it: 'Remember that idea — we're going to need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tools are now on the table. Retrieval: four tools, four one-word jobs. Expected answers: latitude=north/south, longitude=east/west, scale=distance, symbol=meaning. Collect in chat,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underlying tool (lat/long), 400 years apart. What changed: accuracy, technology, accessibility. What stayed the same: the grid system, the coordinates, the principle. Ask: 'Why did latitude and longitude survive unchanged for 400 years?' The answer is the Reveal pattern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for source evaluation at Grade 4: reliability depends on PURPOSE. A 400-year-old chart is unreliable for GPS navigation but excellent for understanding what 16th-century navigators believed about Florida's coastline. Push students to commit to a purpose before judging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pattern: these four tools apply to ANY map students will ever see — not just Florida, not just 4th grade. The complete-reading habit is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compass rose lying on an old map beside a scale bar and a measuring ruler — instruments of courage and precision. Warm light, exploratory feel.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90 seconds maximum. Model quickly, then move students to their own city. The scaffolded four-step structure on the next slide matches exactly what you modeled here. Students should feel: 'I know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to complete the scaffold. Then share 2-3 examples as a class. After each, ask: 'Did they use all four tools?' Use the Socratic panel to push the class to evaluate each other's readings. Do not evaluate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response is intentionally missing three of the four tools (lat/long, scale, legend symbol). Students should identify all three gaps. Ask: 'Is this wrong — or just incomplete?' Grade 4 distinction: weak evidence is not always wrong, it's just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Both positions are defensible. YES: a small lake visible at 1:100,000 scale disappears at 1:1,000,000 — is its absence a contradiction? NO: maps at different scales serve different purposes; showing less detail is not the same as showing wrong information. Let students argue it to a draw — that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score celebration: 'The Map Room is unlocked!' For any misses, revisit quickly — 30 seconds per question. The goal is confidence going into the assignment. Keep energy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Q1 = lat/long practiced on Slides 4-6. Q2 = scale practiced on Slides 7-9. Q3 = symbols practiced throughout. The Unlock Challenge uses all three. Walk through the turn-in process.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map fully illuminated with glowing grid lines, scale bar visible at bottom, legend symbols glowing at corner — triumphant 'Map Room unlocked' aesthetic, deep blue and gold, celebratory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457200"/>
            <a:ext cx="8229600" cy="274320"/>
          </a:xfrm>
          <a:prstGeom prst="rect">
            <a:avLst/>
          </a:prstGeom>
          <a:noFill/>
          <a:ln/>
        </p:spPr>
        <p:txBody>
          <a:bodyPr wrap="square" lIns="0" tIns="0" rIns="0" bIns="0"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LESSON 4.02.06  ·  FLORIDA FILES  ·  UNIT 2 FINALE</a:t>
            </a:r>
            <a:endParaRPr lang="en-US" sz="1000" dirty="0"/>
          </a:p>
        </p:txBody>
      </p:sp>
      <p:sp>
        <p:nvSpPr>
          <p:cNvPr id="6" name="Text 3"/>
          <p:cNvSpPr/>
          <p:nvPr/>
        </p:nvSpPr>
        <p:spPr>
          <a:xfrm>
            <a:off x="457200" y="777240"/>
            <a:ext cx="8229600" cy="2011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Florida Map Quest:</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Latitude, Longitude,</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Scale, and Symbols</a:t>
            </a:r>
            <a:endParaRPr lang="en-US" sz="3400" dirty="0"/>
          </a:p>
        </p:txBody>
      </p:sp>
      <p:sp>
        <p:nvSpPr>
          <p:cNvPr id="7" name="Shape 4"/>
          <p:cNvSpPr/>
          <p:nvPr/>
        </p:nvSpPr>
        <p:spPr>
          <a:xfrm>
            <a:off x="457200" y="2834640"/>
            <a:ext cx="2011680" cy="36576"/>
          </a:xfrm>
          <a:prstGeom prst="rect">
            <a:avLst/>
          </a:prstGeom>
          <a:solidFill>
            <a:srgbClr val="D4943A"/>
          </a:solidFill>
          <a:ln w="12700">
            <a:solidFill>
              <a:srgbClr val="D4943A"/>
            </a:solidFill>
            <a:prstDash val="solid"/>
          </a:ln>
        </p:spPr>
      </p:sp>
      <p:sp>
        <p:nvSpPr>
          <p:cNvPr id="8" name="Text 5"/>
          <p:cNvSpPr/>
          <p:nvPr/>
        </p:nvSpPr>
        <p:spPr>
          <a:xfrm>
            <a:off x="457200" y="2944368"/>
            <a:ext cx="8229600" cy="201168"/>
          </a:xfrm>
          <a:prstGeom prst="rect">
            <a:avLst/>
          </a:prstGeom>
          <a:noFill/>
          <a:ln/>
        </p:spPr>
        <p:txBody>
          <a:bodyPr wrap="square" lIns="0" tIns="0" rIns="0" bIns="0" rtlCol="0" anchor="ctr"/>
          <a:lstStyle/>
          <a:p>
            <a:pPr algn="l" indent="0" marL="0">
              <a:buNone/>
            </a:pPr>
            <a:r>
              <a:rPr lang="en-US" sz="900" b="1" spc="150" kern="0" dirty="0">
                <a:solidFill>
                  <a:srgbClr val="D4943A"/>
                </a:solidFill>
                <a:latin typeface="Calibri" pitchFamily="34" charset="0"/>
                <a:ea typeface="Calibri" pitchFamily="34" charset="-122"/>
                <a:cs typeface="Calibri" pitchFamily="34" charset="-120"/>
              </a:rPr>
              <a:t>BIG QUESTION</a:t>
            </a:r>
            <a:endParaRPr lang="en-US" sz="900" dirty="0"/>
          </a:p>
        </p:txBody>
      </p:sp>
      <p:sp>
        <p:nvSpPr>
          <p:cNvPr id="9" name="Text 6"/>
          <p:cNvSpPr/>
          <p:nvPr/>
        </p:nvSpPr>
        <p:spPr>
          <a:xfrm>
            <a:off x="457200" y="3182112"/>
            <a:ext cx="8229600" cy="713232"/>
          </a:xfrm>
          <a:prstGeom prst="rect">
            <a:avLst/>
          </a:prstGeom>
          <a:noFill/>
          <a:ln/>
        </p:spPr>
        <p:txBody>
          <a:bodyPr wrap="square" lIns="0" tIns="0" rIns="0" bIns="0" rtlCol="0" anchor="ctr"/>
          <a:lstStyle/>
          <a:p>
            <a:pPr algn="l" indent="0" marL="0">
              <a:buNone/>
            </a:pPr>
            <a:r>
              <a:rPr lang="en-US" sz="1500" i="1" dirty="0">
                <a:solidFill>
                  <a:srgbClr val="FFFFFF"/>
                </a:solidFill>
                <a:latin typeface="Cambria" pitchFamily="34" charset="0"/>
                <a:ea typeface="Cambria" pitchFamily="34" charset="-122"/>
                <a:cs typeface="Cambria" pitchFamily="34" charset="-120"/>
              </a:rPr>
              <a:t>How do latitude, longitude, scale, and map symbols work together to let a geographer find any place on a Florida map?</a:t>
            </a:r>
            <a:endParaRPr lang="en-US" sz="1500" dirty="0"/>
          </a:p>
        </p:txBody>
      </p:sp>
      <p:sp>
        <p:nvSpPr>
          <p:cNvPr id="10" name="Text 7"/>
          <p:cNvSpPr/>
          <p:nvPr/>
        </p:nvSpPr>
        <p:spPr>
          <a:xfrm>
            <a:off x="457200" y="4736592"/>
            <a:ext cx="8229600" cy="274320"/>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Grade 4 Social Studies  ·  Unit 2  ·  Week 6  ·  The Finale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URGENT MESSAGE FROM THE MAP ROOM</a:t>
            </a:r>
            <a:endParaRPr lang="en-US" sz="1000" dirty="0"/>
          </a:p>
        </p:txBody>
      </p:sp>
      <p:sp>
        <p:nvSpPr>
          <p:cNvPr id="5" name="Shape 3"/>
          <p:cNvSpPr/>
          <p:nvPr/>
        </p:nvSpPr>
        <p:spPr>
          <a:xfrm>
            <a:off x="457200" y="685800"/>
            <a:ext cx="8229600" cy="2194560"/>
          </a:xfrm>
          <a:prstGeom prst="roundRect">
            <a:avLst>
              <a:gd name="adj" fmla="val 6250"/>
            </a:avLst>
          </a:prstGeom>
          <a:solidFill>
            <a:srgbClr val="1A2D5A"/>
          </a:solidFill>
          <a:ln w="19050">
            <a:solidFill>
              <a:srgbClr val="3A5080"/>
            </a:solidFill>
            <a:prstDash val="solid"/>
          </a:ln>
        </p:spPr>
      </p:sp>
      <p:sp>
        <p:nvSpPr>
          <p:cNvPr id="6" name="Text 4"/>
          <p:cNvSpPr/>
          <p:nvPr/>
        </p:nvSpPr>
        <p:spPr>
          <a:xfrm>
            <a:off x="685800" y="822960"/>
            <a:ext cx="7772400" cy="192024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Canvas has locked the Map Room exit — and I can't get out until you prove you can use all four map tools. I need someone who can read latitude and longitude, measure distance with a scale bar, and decode a legend's symbols. Help me finish the quest and the exit opens for both of us.</a:t>
            </a:r>
            <a:endParaRPr lang="en-US" sz="1400" dirty="0"/>
          </a:p>
          <a:p>
            <a:pPr indent="0" marL="0">
              <a:buNone/>
            </a:pPr>
            <a:endParaRPr lang="en-US" sz="1400" dirty="0"/>
          </a:p>
          <a:p>
            <a:pPr indent="0" marL="0">
              <a:buNone/>
            </a:pPr>
            <a:r>
              <a:rPr lang="en-US" sz="1400" i="1" dirty="0">
                <a:solidFill>
                  <a:srgbClr val="FFFFFF"/>
                </a:solidFill>
                <a:latin typeface="Cambria" pitchFamily="34" charset="0"/>
                <a:ea typeface="Cambria" pitchFamily="34" charset="-122"/>
                <a:cs typeface="Cambria" pitchFamily="34" charset="-120"/>
              </a:rPr>
              <a:t>— Your teacher, still inside Module 2</a:t>
            </a:r>
            <a:endParaRPr lang="en-US" sz="1400" dirty="0"/>
          </a:p>
        </p:txBody>
      </p:sp>
      <p:sp>
        <p:nvSpPr>
          <p:cNvPr id="7" name="Text 5"/>
          <p:cNvSpPr/>
          <p:nvPr/>
        </p:nvSpPr>
        <p:spPr>
          <a:xfrm>
            <a:off x="548640" y="306324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THIS IS THE UNIT 2 FINALE</a:t>
            </a:r>
            <a:endParaRPr lang="en-US" sz="1000" dirty="0"/>
          </a:p>
        </p:txBody>
      </p:sp>
      <p:sp>
        <p:nvSpPr>
          <p:cNvPr id="8" name="Text 6"/>
          <p:cNvSpPr/>
          <p:nvPr/>
        </p:nvSpPr>
        <p:spPr>
          <a:xfrm>
            <a:off x="548640" y="3337560"/>
            <a:ext cx="804672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Six lessons of Florida geography. One mission: use all four tools — latitude, longitude, scale, and symbols — to unlock the Map Room.</a:t>
            </a:r>
            <a:endParaRPr lang="en-US" sz="1400" dirty="0"/>
          </a:p>
        </p:txBody>
      </p:sp>
      <p:sp>
        <p:nvSpPr>
          <p:cNvPr id="10" name="Text 7"/>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TODAY'S PATH  ·  THE FOUR TOOLS</a:t>
            </a:r>
            <a:endParaRPr lang="en-US" sz="100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Florida Map Quest: Latitude, Longitude, Scale, and Symbols</a:t>
            </a:r>
            <a:endParaRPr lang="en-US" sz="2000" dirty="0"/>
          </a:p>
        </p:txBody>
      </p:sp>
      <p:sp>
        <p:nvSpPr>
          <p:cNvPr id="5" name="Shape 3"/>
          <p:cNvSpPr/>
          <p:nvPr/>
        </p:nvSpPr>
        <p:spPr>
          <a:xfrm>
            <a:off x="457200" y="1078992"/>
            <a:ext cx="8229600" cy="36576"/>
          </a:xfrm>
          <a:prstGeom prst="rect">
            <a:avLst/>
          </a:prstGeom>
          <a:solidFill>
            <a:srgbClr val="D4943A"/>
          </a:solidFill>
          <a:ln w="12700">
            <a:solidFill>
              <a:srgbClr val="D4943A"/>
            </a:solidFill>
            <a:prstDash val="solid"/>
          </a:ln>
        </p:spPr>
      </p:sp>
      <p:sp>
        <p:nvSpPr>
          <p:cNvPr id="6" name="Shape 4"/>
          <p:cNvSpPr/>
          <p:nvPr/>
        </p:nvSpPr>
        <p:spPr>
          <a:xfrm>
            <a:off x="457200" y="1234440"/>
            <a:ext cx="502920" cy="438912"/>
          </a:xfrm>
          <a:prstGeom prst="roundRect">
            <a:avLst>
              <a:gd name="adj" fmla="val 20833"/>
            </a:avLst>
          </a:prstGeom>
          <a:solidFill>
            <a:srgbClr val="55C8E8"/>
          </a:solidFill>
          <a:ln w="12700">
            <a:solidFill>
              <a:srgbClr val="55C8E8"/>
            </a:solidFill>
            <a:prstDash val="solid"/>
          </a:ln>
        </p:spPr>
      </p:sp>
      <p:sp>
        <p:nvSpPr>
          <p:cNvPr id="7" name="Text 5"/>
          <p:cNvSpPr/>
          <p:nvPr/>
        </p:nvSpPr>
        <p:spPr>
          <a:xfrm>
            <a:off x="457200" y="1234440"/>
            <a:ext cx="502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a:t>
            </a:r>
            <a:endParaRPr lang="en-US" sz="1100" dirty="0"/>
          </a:p>
        </p:txBody>
      </p:sp>
      <p:sp>
        <p:nvSpPr>
          <p:cNvPr id="8" name="Text 6"/>
          <p:cNvSpPr/>
          <p:nvPr/>
        </p:nvSpPr>
        <p:spPr>
          <a:xfrm>
            <a:off x="1097280" y="1280160"/>
            <a:ext cx="740664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Latitude — how far north or south is this place?</a:t>
            </a:r>
            <a:endParaRPr lang="en-US" sz="1400" dirty="0"/>
          </a:p>
        </p:txBody>
      </p:sp>
      <p:sp>
        <p:nvSpPr>
          <p:cNvPr id="9" name="Shape 7"/>
          <p:cNvSpPr/>
          <p:nvPr/>
        </p:nvSpPr>
        <p:spPr>
          <a:xfrm>
            <a:off x="457200" y="1892808"/>
            <a:ext cx="502920" cy="438912"/>
          </a:xfrm>
          <a:prstGeom prst="roundRect">
            <a:avLst>
              <a:gd name="adj" fmla="val 20833"/>
            </a:avLst>
          </a:prstGeom>
          <a:solidFill>
            <a:srgbClr val="D4943A"/>
          </a:solidFill>
          <a:ln w="12700">
            <a:solidFill>
              <a:srgbClr val="D4943A"/>
            </a:solidFill>
            <a:prstDash val="solid"/>
          </a:ln>
        </p:spPr>
      </p:sp>
      <p:sp>
        <p:nvSpPr>
          <p:cNvPr id="10" name="Text 8"/>
          <p:cNvSpPr/>
          <p:nvPr/>
        </p:nvSpPr>
        <p:spPr>
          <a:xfrm>
            <a:off x="457200" y="1892808"/>
            <a:ext cx="502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LON</a:t>
            </a:r>
            <a:endParaRPr lang="en-US" sz="1100" dirty="0"/>
          </a:p>
        </p:txBody>
      </p:sp>
      <p:sp>
        <p:nvSpPr>
          <p:cNvPr id="11" name="Text 9"/>
          <p:cNvSpPr/>
          <p:nvPr/>
        </p:nvSpPr>
        <p:spPr>
          <a:xfrm>
            <a:off x="1097280" y="1938528"/>
            <a:ext cx="740664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Longitude — how far east or west is this place?</a:t>
            </a:r>
            <a:endParaRPr lang="en-US" sz="1400" dirty="0"/>
          </a:p>
        </p:txBody>
      </p:sp>
      <p:sp>
        <p:nvSpPr>
          <p:cNvPr id="12" name="Shape 10"/>
          <p:cNvSpPr/>
          <p:nvPr/>
        </p:nvSpPr>
        <p:spPr>
          <a:xfrm>
            <a:off x="457200" y="2551176"/>
            <a:ext cx="502920" cy="438912"/>
          </a:xfrm>
          <a:prstGeom prst="roundRect">
            <a:avLst>
              <a:gd name="adj" fmla="val 20833"/>
            </a:avLst>
          </a:prstGeom>
          <a:solidFill>
            <a:srgbClr val="34B76F"/>
          </a:solidFill>
          <a:ln w="12700">
            <a:solidFill>
              <a:srgbClr val="34B76F"/>
            </a:solidFill>
            <a:prstDash val="solid"/>
          </a:ln>
        </p:spPr>
      </p:sp>
      <p:sp>
        <p:nvSpPr>
          <p:cNvPr id="13" name="Text 11"/>
          <p:cNvSpPr/>
          <p:nvPr/>
        </p:nvSpPr>
        <p:spPr>
          <a:xfrm>
            <a:off x="457200" y="2551176"/>
            <a:ext cx="502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SCL</a:t>
            </a:r>
            <a:endParaRPr lang="en-US" sz="1100" dirty="0"/>
          </a:p>
        </p:txBody>
      </p:sp>
      <p:sp>
        <p:nvSpPr>
          <p:cNvPr id="14" name="Text 12"/>
          <p:cNvSpPr/>
          <p:nvPr/>
        </p:nvSpPr>
        <p:spPr>
          <a:xfrm>
            <a:off x="1097280" y="2596896"/>
            <a:ext cx="740664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Scale — how far is it in the real world?</a:t>
            </a:r>
            <a:endParaRPr lang="en-US" sz="1400" dirty="0"/>
          </a:p>
        </p:txBody>
      </p:sp>
      <p:sp>
        <p:nvSpPr>
          <p:cNvPr id="15" name="Shape 13"/>
          <p:cNvSpPr/>
          <p:nvPr/>
        </p:nvSpPr>
        <p:spPr>
          <a:xfrm>
            <a:off x="457200" y="3209544"/>
            <a:ext cx="502920" cy="438912"/>
          </a:xfrm>
          <a:prstGeom prst="roundRect">
            <a:avLst>
              <a:gd name="adj" fmla="val 20833"/>
            </a:avLst>
          </a:prstGeom>
          <a:solidFill>
            <a:srgbClr val="8B6FC0"/>
          </a:solidFill>
          <a:ln w="12700">
            <a:solidFill>
              <a:srgbClr val="8B6FC0"/>
            </a:solidFill>
            <a:prstDash val="solid"/>
          </a:ln>
        </p:spPr>
      </p:sp>
      <p:sp>
        <p:nvSpPr>
          <p:cNvPr id="16" name="Text 14"/>
          <p:cNvSpPr/>
          <p:nvPr/>
        </p:nvSpPr>
        <p:spPr>
          <a:xfrm>
            <a:off x="457200" y="3209544"/>
            <a:ext cx="502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SYM</a:t>
            </a:r>
            <a:endParaRPr lang="en-US" sz="1100" dirty="0"/>
          </a:p>
        </p:txBody>
      </p:sp>
      <p:sp>
        <p:nvSpPr>
          <p:cNvPr id="17" name="Text 15"/>
          <p:cNvSpPr/>
          <p:nvPr/>
        </p:nvSpPr>
        <p:spPr>
          <a:xfrm>
            <a:off x="1097280" y="3255264"/>
            <a:ext cx="740664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Symbols — what do the legend marks mean?</a:t>
            </a:r>
            <a:endParaRPr lang="en-US" sz="1400" dirty="0"/>
          </a:p>
        </p:txBody>
      </p:sp>
      <p:sp>
        <p:nvSpPr>
          <p:cNvPr id="18" name="Shape 16"/>
          <p:cNvSpPr/>
          <p:nvPr/>
        </p:nvSpPr>
        <p:spPr>
          <a:xfrm>
            <a:off x="457200" y="3867912"/>
            <a:ext cx="502920" cy="438912"/>
          </a:xfrm>
          <a:prstGeom prst="roundRect">
            <a:avLst>
              <a:gd name="adj" fmla="val 20833"/>
            </a:avLst>
          </a:prstGeom>
          <a:solidFill>
            <a:srgbClr val="E8636B"/>
          </a:solidFill>
          <a:ln w="12700">
            <a:solidFill>
              <a:srgbClr val="E8636B"/>
            </a:solidFill>
            <a:prstDash val="solid"/>
          </a:ln>
        </p:spPr>
      </p:sp>
      <p:sp>
        <p:nvSpPr>
          <p:cNvPr id="19" name="Text 17"/>
          <p:cNvSpPr/>
          <p:nvPr/>
        </p:nvSpPr>
        <p:spPr>
          <a:xfrm>
            <a:off x="457200" y="3867912"/>
            <a:ext cx="50292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a:t>
            </a:r>
            <a:endParaRPr lang="en-US" sz="1100" dirty="0"/>
          </a:p>
        </p:txBody>
      </p:sp>
      <p:sp>
        <p:nvSpPr>
          <p:cNvPr id="20" name="Text 18"/>
          <p:cNvSpPr/>
          <p:nvPr/>
        </p:nvSpPr>
        <p:spPr>
          <a:xfrm>
            <a:off x="1097280" y="3913632"/>
            <a:ext cx="740664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Use all four tools together to find and describe any place</a:t>
            </a:r>
            <a:endParaRPr lang="en-US" sz="1400" dirty="0"/>
          </a:p>
        </p:txBody>
      </p:sp>
      <p:sp>
        <p:nvSpPr>
          <p:cNvPr id="22" name="Text 1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CLUE BOX 1  ·  THE GRID ON THE MAP</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Look at this map. What are these lines? What do they tell you?</a:t>
            </a:r>
            <a:endParaRPr lang="en-US" sz="1600" dirty="0"/>
          </a:p>
        </p:txBody>
      </p:sp>
      <p:sp>
        <p:nvSpPr>
          <p:cNvPr id="5" name="Shape 3"/>
          <p:cNvSpPr/>
          <p:nvPr/>
        </p:nvSpPr>
        <p:spPr>
          <a:xfrm>
            <a:off x="365760" y="868680"/>
            <a:ext cx="5212080" cy="3383280"/>
          </a:xfrm>
          <a:prstGeom prst="roundRect">
            <a:avLst>
              <a:gd name="adj" fmla="val 3243"/>
            </a:avLst>
          </a:prstGeom>
          <a:solidFill>
            <a:srgbClr val="E2E8F4"/>
          </a:solidFill>
          <a:ln w="19050">
            <a:solidFill>
              <a:srgbClr val="B0B8CC"/>
            </a:solidFill>
            <a:prstDash val="dash"/>
          </a:ln>
        </p:spPr>
      </p:sp>
      <p:sp>
        <p:nvSpPr>
          <p:cNvPr id="6" name="Text 4"/>
          <p:cNvSpPr/>
          <p:nvPr/>
        </p:nvSpPr>
        <p:spPr>
          <a:xfrm>
            <a:off x="365760" y="86868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4937760" cy="3017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map with a clear latitude/longitude grid: horizontal lines labeled 25N, 27N, 29N, 31N and vertical lines labeled 87W, 85W, 83W, 81W, 79W. Major cities visible (Miami, Orlando, Tampa, Jacksonville, Tallahassee). The grid lines prominent and labeled in degrees.</a:t>
            </a:r>
            <a:endParaRPr lang="en-US" sz="1100" dirty="0"/>
          </a:p>
        </p:txBody>
      </p:sp>
      <p:sp>
        <p:nvSpPr>
          <p:cNvPr id="8" name="Text 6"/>
          <p:cNvSpPr/>
          <p:nvPr/>
        </p:nvSpPr>
        <p:spPr>
          <a:xfrm>
            <a:off x="365760" y="4315968"/>
            <a:ext cx="5212080" cy="27432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5 seconds — notice the lines before reading the numbers.</a:t>
            </a:r>
            <a:endParaRPr lang="en-US" sz="1000" dirty="0"/>
          </a:p>
        </p:txBody>
      </p:sp>
      <p:sp>
        <p:nvSpPr>
          <p:cNvPr id="9" name="Shape 7"/>
          <p:cNvSpPr/>
          <p:nvPr/>
        </p:nvSpPr>
        <p:spPr>
          <a:xfrm>
            <a:off x="5760720" y="868680"/>
            <a:ext cx="292608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897880" y="9235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112471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lines that run...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lines are used for... because..."</a:t>
            </a:r>
            <a:endParaRPr lang="en-US" sz="1200" dirty="0"/>
          </a:p>
        </p:txBody>
      </p:sp>
      <p:sp>
        <p:nvSpPr>
          <p:cNvPr id="12" name="Shape 10"/>
          <p:cNvSpPr/>
          <p:nvPr/>
        </p:nvSpPr>
        <p:spPr>
          <a:xfrm>
            <a:off x="5760720" y="2834640"/>
            <a:ext cx="2926080" cy="1463040"/>
          </a:xfrm>
          <a:prstGeom prst="roundRect">
            <a:avLst>
              <a:gd name="adj" fmla="val 6250"/>
            </a:avLst>
          </a:prstGeom>
          <a:solidFill>
            <a:srgbClr val="0E1C42"/>
          </a:solidFill>
          <a:ln w="12700">
            <a:solidFill>
              <a:srgbClr val="3A5080"/>
            </a:solidFill>
            <a:prstDash val="solid"/>
          </a:ln>
        </p:spPr>
      </p:sp>
      <p:sp>
        <p:nvSpPr>
          <p:cNvPr id="13" name="Text 11"/>
          <p:cNvSpPr/>
          <p:nvPr/>
        </p:nvSpPr>
        <p:spPr>
          <a:xfrm>
            <a:off x="5852160" y="2907792"/>
            <a:ext cx="2743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OBSERVE + PREDICT</a:t>
            </a:r>
            <a:endParaRPr lang="en-US" sz="900" dirty="0"/>
          </a:p>
        </p:txBody>
      </p:sp>
      <p:sp>
        <p:nvSpPr>
          <p:cNvPr id="14" name="Text 12"/>
          <p:cNvSpPr/>
          <p:nvPr/>
        </p:nvSpPr>
        <p:spPr>
          <a:xfrm>
            <a:off x="5852160" y="3154680"/>
            <a:ext cx="2743200" cy="100584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Why would a mapmaker put a numbered grid on a map?</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What problem does it solve?</a:t>
            </a:r>
            <a:endParaRPr lang="en-US" sz="12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DISCUSSION  ·  WHAT DO THE GRID LINES MEASURE?</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Latitude and longitude — tools for precision</a:t>
            </a:r>
            <a:endParaRPr lang="en-US" sz="22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equator is 0 degrees, why is Florida at about 25-31 degrees NORTH?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historian need exact coordinates — not just 'near Tampa'?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different places have the same latitude? The same longitude?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is stronger evidence for a location: a city name, or coordinates? Why?</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"Knowing exact coordinates matters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historian would use lat/long instead of a city name because..."</a:t>
            </a:r>
            <a:endParaRPr lang="en-US" sz="1200" dirty="0"/>
          </a:p>
        </p:txBody>
      </p:sp>
      <p:sp>
        <p:nvSpPr>
          <p:cNvPr id="11" name="Shape 9"/>
          <p:cNvSpPr/>
          <p:nvPr/>
        </p:nvSpPr>
        <p:spPr>
          <a:xfrm>
            <a:off x="5577840" y="2971800"/>
            <a:ext cx="3108960" cy="1371600"/>
          </a:xfrm>
          <a:prstGeom prst="roundRect">
            <a:avLst>
              <a:gd name="adj" fmla="val 6667"/>
            </a:avLst>
          </a:prstGeom>
          <a:solidFill>
            <a:srgbClr val="55C8E8">
              <a:alpha val="15000"/>
            </a:srgbClr>
          </a:solidFill>
          <a:ln w="19050">
            <a:solidFill>
              <a:srgbClr val="55C8E8"/>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0A4A5A"/>
                </a:solidFill>
                <a:latin typeface="Calibri" pitchFamily="34" charset="0"/>
                <a:ea typeface="Calibri" pitchFamily="34" charset="-122"/>
                <a:cs typeface="Calibri" pitchFamily="34" charset="-120"/>
              </a:rPr>
              <a:t>PRECISION MATTERS</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0A4A5A"/>
                </a:solidFill>
                <a:latin typeface="Calibri" pitchFamily="34" charset="0"/>
                <a:ea typeface="Calibri" pitchFamily="34" charset="-122"/>
                <a:cs typeface="Calibri" pitchFamily="34" charset="-120"/>
              </a:rPr>
              <a:t>Ask: 'Why would a 16th-century Spanish navigator need lat/long more than we do today?' Connect to the history of exploration.</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621792"/>
            <a:ext cx="80467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Two Lines = One Exact Place</a:t>
            </a:r>
            <a:endParaRPr lang="en-US" sz="3600" dirty="0"/>
          </a:p>
        </p:txBody>
      </p:sp>
      <p:sp>
        <p:nvSpPr>
          <p:cNvPr id="5" name="Shape 3"/>
          <p:cNvSpPr/>
          <p:nvPr/>
        </p:nvSpPr>
        <p:spPr>
          <a:xfrm>
            <a:off x="548640" y="1508760"/>
            <a:ext cx="8046720" cy="36576"/>
          </a:xfrm>
          <a:prstGeom prst="rect">
            <a:avLst/>
          </a:prstGeom>
          <a:solidFill>
            <a:srgbClr val="55C8E8"/>
          </a:solidFill>
          <a:ln w="12700">
            <a:solidFill>
              <a:srgbClr val="55C8E8"/>
            </a:solidFill>
            <a:prstDash val="solid"/>
          </a:ln>
        </p:spPr>
      </p:sp>
      <p:sp>
        <p:nvSpPr>
          <p:cNvPr id="6" name="Shape 4"/>
          <p:cNvSpPr/>
          <p:nvPr/>
        </p:nvSpPr>
        <p:spPr>
          <a:xfrm>
            <a:off x="548640" y="1645920"/>
            <a:ext cx="3840480" cy="1645920"/>
          </a:xfrm>
          <a:prstGeom prst="roundRect">
            <a:avLst>
              <a:gd name="adj" fmla="val 6667"/>
            </a:avLst>
          </a:prstGeom>
          <a:solidFill>
            <a:srgbClr val="1A2D5A"/>
          </a:solidFill>
          <a:ln w="19050">
            <a:solidFill>
              <a:srgbClr val="55C8E8"/>
            </a:solidFill>
            <a:prstDash val="solid"/>
          </a:ln>
        </p:spPr>
      </p:sp>
      <p:sp>
        <p:nvSpPr>
          <p:cNvPr id="7" name="Text 5"/>
          <p:cNvSpPr/>
          <p:nvPr/>
        </p:nvSpPr>
        <p:spPr>
          <a:xfrm>
            <a:off x="731520" y="1737360"/>
            <a:ext cx="3474720" cy="256032"/>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LATITUDE</a:t>
            </a:r>
            <a:endParaRPr lang="en-US" sz="1200" dirty="0"/>
          </a:p>
        </p:txBody>
      </p:sp>
      <p:sp>
        <p:nvSpPr>
          <p:cNvPr id="8" name="Text 6"/>
          <p:cNvSpPr/>
          <p:nvPr/>
        </p:nvSpPr>
        <p:spPr>
          <a:xfrm>
            <a:off x="731520" y="2029968"/>
            <a:ext cx="3474720" cy="11430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Lines run EAST-WEST</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Measure how far NORTH or SOUTH</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Equator = 0 degrees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Florida: 25N to 31N</a:t>
            </a:r>
            <a:endParaRPr lang="en-US" sz="1300" dirty="0"/>
          </a:p>
        </p:txBody>
      </p:sp>
      <p:sp>
        <p:nvSpPr>
          <p:cNvPr id="9" name="Shape 7"/>
          <p:cNvSpPr/>
          <p:nvPr/>
        </p:nvSpPr>
        <p:spPr>
          <a:xfrm>
            <a:off x="4663440" y="1645920"/>
            <a:ext cx="3931920" cy="1645920"/>
          </a:xfrm>
          <a:prstGeom prst="roundRect">
            <a:avLst>
              <a:gd name="adj" fmla="val 6667"/>
            </a:avLst>
          </a:prstGeom>
          <a:solidFill>
            <a:srgbClr val="1A2D5A"/>
          </a:solidFill>
          <a:ln w="19050">
            <a:solidFill>
              <a:srgbClr val="D4943A"/>
            </a:solidFill>
            <a:prstDash val="solid"/>
          </a:ln>
        </p:spPr>
      </p:sp>
      <p:sp>
        <p:nvSpPr>
          <p:cNvPr id="10" name="Text 8"/>
          <p:cNvSpPr/>
          <p:nvPr/>
        </p:nvSpPr>
        <p:spPr>
          <a:xfrm>
            <a:off x="4846320" y="1737360"/>
            <a:ext cx="3566160" cy="256032"/>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LONGITUDE</a:t>
            </a:r>
            <a:endParaRPr lang="en-US" sz="1200" dirty="0"/>
          </a:p>
        </p:txBody>
      </p:sp>
      <p:sp>
        <p:nvSpPr>
          <p:cNvPr id="11" name="Text 9"/>
          <p:cNvSpPr/>
          <p:nvPr/>
        </p:nvSpPr>
        <p:spPr>
          <a:xfrm>
            <a:off x="4846320" y="2029968"/>
            <a:ext cx="3566160" cy="11430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Lines run NORTH-SOUTH</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Measure how far EAST or WEST</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Prime Meridian = 0 degrees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Florida: 80W to 87W</a:t>
            </a:r>
            <a:endParaRPr lang="en-US" sz="1300" dirty="0"/>
          </a:p>
        </p:txBody>
      </p:sp>
      <p:sp>
        <p:nvSpPr>
          <p:cNvPr id="12" name="Shape 10"/>
          <p:cNvSpPr/>
          <p:nvPr/>
        </p:nvSpPr>
        <p:spPr>
          <a:xfrm>
            <a:off x="548640" y="3401568"/>
            <a:ext cx="8046720" cy="640080"/>
          </a:xfrm>
          <a:prstGeom prst="roundRect">
            <a:avLst>
              <a:gd name="adj" fmla="val 14286"/>
            </a:avLst>
          </a:prstGeom>
          <a:solidFill>
            <a:srgbClr val="D4943A">
              <a:alpha val="15000"/>
            </a:srgbClr>
          </a:solidFill>
          <a:ln w="12700">
            <a:solidFill>
              <a:srgbClr val="D4943A"/>
            </a:solidFill>
            <a:prstDash val="solid"/>
          </a:ln>
        </p:spPr>
      </p:sp>
      <p:sp>
        <p:nvSpPr>
          <p:cNvPr id="13" name="Text 11"/>
          <p:cNvSpPr/>
          <p:nvPr/>
        </p:nvSpPr>
        <p:spPr>
          <a:xfrm>
            <a:off x="685800" y="3447288"/>
            <a:ext cx="7772400" cy="50292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EXAMPLE: 28N, 81W = near Orlando. Give BOTH numbers to name one exact spot on Earth.</a:t>
            </a:r>
            <a:endParaRPr lang="en-US" sz="1400" dirty="0"/>
          </a:p>
        </p:txBody>
      </p:sp>
      <p:sp>
        <p:nvSpPr>
          <p:cNvPr id="14" name="Shape 12"/>
          <p:cNvSpPr/>
          <p:nvPr/>
        </p:nvSpPr>
        <p:spPr>
          <a:xfrm>
            <a:off x="548640" y="4160520"/>
            <a:ext cx="8046720" cy="685800"/>
          </a:xfrm>
          <a:prstGeom prst="roundRect">
            <a:avLst>
              <a:gd name="adj" fmla="val 13333"/>
            </a:avLst>
          </a:prstGeom>
          <a:solidFill>
            <a:srgbClr val="55C8E8">
              <a:alpha val="12000"/>
            </a:srgbClr>
          </a:solidFill>
          <a:ln w="12700">
            <a:solidFill>
              <a:srgbClr val="55C8E8"/>
            </a:solidFill>
            <a:prstDash val="solid"/>
          </a:ln>
        </p:spPr>
      </p:sp>
      <p:sp>
        <p:nvSpPr>
          <p:cNvPr id="15" name="Text 13"/>
          <p:cNvSpPr/>
          <p:nvPr/>
        </p:nvSpPr>
        <p:spPr>
          <a:xfrm>
            <a:off x="685800" y="4206240"/>
            <a:ext cx="77724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RETRIEVAL: Cover screen. What does latitude measure? What does longitude measure? Name one city and its approximate coordinates.</a:t>
            </a:r>
            <a:endParaRPr lang="en-US" sz="1200" dirty="0"/>
          </a:p>
        </p:txBody>
      </p:sp>
      <p:sp>
        <p:nvSpPr>
          <p:cNvPr id="17" name="Text 14"/>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CLUE BOX 2  ·  THE SCALE BAR</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This small part of the map does one very big job. What is it?</a:t>
            </a:r>
            <a:endParaRPr lang="en-US" sz="1600" dirty="0"/>
          </a:p>
        </p:txBody>
      </p:sp>
      <p:sp>
        <p:nvSpPr>
          <p:cNvPr id="5" name="Shape 3"/>
          <p:cNvSpPr/>
          <p:nvPr/>
        </p:nvSpPr>
        <p:spPr>
          <a:xfrm>
            <a:off x="365760" y="868680"/>
            <a:ext cx="5212080" cy="2468880"/>
          </a:xfrm>
          <a:prstGeom prst="roundRect">
            <a:avLst>
              <a:gd name="adj" fmla="val 4444"/>
            </a:avLst>
          </a:prstGeom>
          <a:solidFill>
            <a:srgbClr val="E2E8F4"/>
          </a:solidFill>
          <a:ln w="19050">
            <a:solidFill>
              <a:srgbClr val="B0B8CC"/>
            </a:solidFill>
            <a:prstDash val="dash"/>
          </a:ln>
        </p:spPr>
      </p:sp>
      <p:sp>
        <p:nvSpPr>
          <p:cNvPr id="6" name="Text 4"/>
          <p:cNvSpPr/>
          <p:nvPr/>
        </p:nvSpPr>
        <p:spPr>
          <a:xfrm>
            <a:off x="365760" y="86868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493776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a map scale bar: labeled '0 — 50 — 100 miles' with the bar clearly divided into segments. The map fragment should show part of Florida's outline so students can see the scale in context.</a:t>
            </a:r>
            <a:endParaRPr lang="en-US" sz="1100" dirty="0"/>
          </a:p>
        </p:txBody>
      </p:sp>
      <p:sp>
        <p:nvSpPr>
          <p:cNvPr id="8" name="Shape 6"/>
          <p:cNvSpPr/>
          <p:nvPr/>
        </p:nvSpPr>
        <p:spPr>
          <a:xfrm>
            <a:off x="365760" y="3429000"/>
            <a:ext cx="5212080" cy="1417320"/>
          </a:xfrm>
          <a:prstGeom prst="roundRect">
            <a:avLst>
              <a:gd name="adj" fmla="val 7742"/>
            </a:avLst>
          </a:prstGeom>
          <a:solidFill>
            <a:srgbClr val="E2E8F4"/>
          </a:solidFill>
          <a:ln w="19050">
            <a:solidFill>
              <a:srgbClr val="B0B8CC"/>
            </a:solidFill>
            <a:prstDash val="dash"/>
          </a:ln>
        </p:spPr>
      </p:sp>
      <p:sp>
        <p:nvSpPr>
          <p:cNvPr id="9" name="Text 7"/>
          <p:cNvSpPr/>
          <p:nvPr/>
        </p:nvSpPr>
        <p:spPr>
          <a:xfrm>
            <a:off x="365760" y="342900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502920" y="3703320"/>
            <a:ext cx="4937760" cy="1051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Full Florida map with the scale bar visible at bottom — showing Miami to Jacksonville distance as roughly 340 miles. Students can visually compare the scale bar to that route.</a:t>
            </a:r>
            <a:endParaRPr lang="en-US" sz="1100" dirty="0"/>
          </a:p>
        </p:txBody>
      </p:sp>
      <p:sp>
        <p:nvSpPr>
          <p:cNvPr id="11" name="Shape 9"/>
          <p:cNvSpPr/>
          <p:nvPr/>
        </p:nvSpPr>
        <p:spPr>
          <a:xfrm>
            <a:off x="5760720" y="868680"/>
            <a:ext cx="292608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897880" y="9235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897880" y="112471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a scale bar is used to...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a scale bar, a map reader couldn't... because..."</a:t>
            </a:r>
            <a:endParaRPr lang="en-US" sz="1200" dirty="0"/>
          </a:p>
        </p:txBody>
      </p:sp>
      <p:sp>
        <p:nvSpPr>
          <p:cNvPr id="14" name="Shape 12"/>
          <p:cNvSpPr/>
          <p:nvPr/>
        </p:nvSpPr>
        <p:spPr>
          <a:xfrm>
            <a:off x="5760720" y="2834640"/>
            <a:ext cx="2926080" cy="2011680"/>
          </a:xfrm>
          <a:prstGeom prst="roundRect">
            <a:avLst>
              <a:gd name="adj" fmla="val 4545"/>
            </a:avLst>
          </a:prstGeom>
          <a:solidFill>
            <a:srgbClr val="0E1C42"/>
          </a:solidFill>
          <a:ln w="12700">
            <a:solidFill>
              <a:srgbClr val="34B76F"/>
            </a:solidFill>
            <a:prstDash val="solid"/>
          </a:ln>
        </p:spPr>
      </p:sp>
      <p:sp>
        <p:nvSpPr>
          <p:cNvPr id="15" name="Text 13"/>
          <p:cNvSpPr/>
          <p:nvPr/>
        </p:nvSpPr>
        <p:spPr>
          <a:xfrm>
            <a:off x="5852160" y="2907792"/>
            <a:ext cx="274320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MEASURE THINKING</a:t>
            </a:r>
            <a:endParaRPr lang="en-US" sz="900" dirty="0"/>
          </a:p>
        </p:txBody>
      </p:sp>
      <p:sp>
        <p:nvSpPr>
          <p:cNvPr id="16" name="Text 14"/>
          <p:cNvSpPr/>
          <p:nvPr/>
        </p:nvSpPr>
        <p:spPr>
          <a:xfrm>
            <a:off x="5852160" y="3154680"/>
            <a:ext cx="2743200" cy="155448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How would you use this bar to estimate the driving distance from Miami to Orlando?</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What is the scale telling you?</a:t>
            </a:r>
            <a:endParaRPr lang="en-US" sz="1200" dirty="0"/>
          </a:p>
        </p:txBody>
      </p:sp>
      <p:sp>
        <p:nvSpPr>
          <p:cNvPr id="18" name="Text 15"/>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DISCUSSION  ·  SCALE AND SYMBOLS</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Two tools that translate the map into real-world meaning</a:t>
            </a:r>
            <a:endParaRPr lang="en-US" sz="21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two Florida maps at different scales show contradictory information? Explain.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map WITHOUT a scale bar force you to do?</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mapmaker choose to show some symbols but not others?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map tool is most important for a historian? Most important for a driver?</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"Two maps could appear to disagree because the scale shows... which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symbol is reliable evidence because... OR not reliable because..."</a:t>
            </a:r>
            <a:endParaRPr lang="en-US" sz="1200" dirty="0"/>
          </a:p>
        </p:txBody>
      </p:sp>
      <p:sp>
        <p:nvSpPr>
          <p:cNvPr id="11" name="Shape 9"/>
          <p:cNvSpPr/>
          <p:nvPr/>
        </p:nvSpPr>
        <p:spPr>
          <a:xfrm>
            <a:off x="5577840" y="2971800"/>
            <a:ext cx="3108960" cy="1371600"/>
          </a:xfrm>
          <a:prstGeom prst="roundRect">
            <a:avLst>
              <a:gd name="adj" fmla="val 6667"/>
            </a:avLst>
          </a:prstGeom>
          <a:solidFill>
            <a:srgbClr val="34B76F">
              <a:alpha val="15000"/>
            </a:srgbClr>
          </a:solidFill>
          <a:ln w="19050">
            <a:solidFill>
              <a:srgbClr val="34B76F"/>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1A5A38"/>
                </a:solidFill>
                <a:latin typeface="Calibri" pitchFamily="34" charset="0"/>
                <a:ea typeface="Calibri" pitchFamily="34" charset="-122"/>
                <a:cs typeface="Calibri" pitchFamily="34" charset="-120"/>
              </a:rPr>
              <a:t>TRICKY SETUP</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1A5A38"/>
                </a:solidFill>
                <a:latin typeface="Calibri" pitchFamily="34" charset="0"/>
                <a:ea typeface="Calibri" pitchFamily="34" charset="-122"/>
                <a:cs typeface="Calibri" pitchFamily="34" charset="-120"/>
              </a:rPr>
              <a:t>Plant this idea now — you'll use it in the Tricky One: two maps of the same area at different scales can look like they show different amounts of detail. Is that a contradiction?</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621792"/>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Scale and Symbols: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The Map's Translation Layer</a:t>
            </a:r>
            <a:endParaRPr lang="en-US" sz="3400" dirty="0"/>
          </a:p>
        </p:txBody>
      </p:sp>
      <p:sp>
        <p:nvSpPr>
          <p:cNvPr id="5" name="Shape 3"/>
          <p:cNvSpPr/>
          <p:nvPr/>
        </p:nvSpPr>
        <p:spPr>
          <a:xfrm>
            <a:off x="548640" y="1874520"/>
            <a:ext cx="8046720" cy="36576"/>
          </a:xfrm>
          <a:prstGeom prst="rect">
            <a:avLst/>
          </a:prstGeom>
          <a:solidFill>
            <a:srgbClr val="34B76F"/>
          </a:solidFill>
          <a:ln w="12700">
            <a:solidFill>
              <a:srgbClr val="34B76F"/>
            </a:solidFill>
            <a:prstDash val="solid"/>
          </a:ln>
        </p:spPr>
      </p:sp>
      <p:sp>
        <p:nvSpPr>
          <p:cNvPr id="6" name="Shape 4"/>
          <p:cNvSpPr/>
          <p:nvPr/>
        </p:nvSpPr>
        <p:spPr>
          <a:xfrm>
            <a:off x="548640" y="2011680"/>
            <a:ext cx="3840480" cy="2011680"/>
          </a:xfrm>
          <a:prstGeom prst="roundRect">
            <a:avLst>
              <a:gd name="adj" fmla="val 5455"/>
            </a:avLst>
          </a:prstGeom>
          <a:solidFill>
            <a:srgbClr val="1A2D5A"/>
          </a:solidFill>
          <a:ln w="19050">
            <a:solidFill>
              <a:srgbClr val="34B76F"/>
            </a:solidFill>
            <a:prstDash val="solid"/>
          </a:ln>
        </p:spPr>
      </p:sp>
      <p:sp>
        <p:nvSpPr>
          <p:cNvPr id="7" name="Text 5"/>
          <p:cNvSpPr/>
          <p:nvPr/>
        </p:nvSpPr>
        <p:spPr>
          <a:xfrm>
            <a:off x="731520" y="2103120"/>
            <a:ext cx="3474720" cy="256032"/>
          </a:xfrm>
          <a:prstGeom prst="rect">
            <a:avLst/>
          </a:prstGeom>
          <a:noFill/>
          <a:ln/>
        </p:spPr>
        <p:txBody>
          <a:bodyPr wrap="square" lIns="0" tIns="0" rIns="0" bIns="0" rtlCol="0" anchor="ctr"/>
          <a:lstStyle/>
          <a:p>
            <a:pPr indent="0" marL="0">
              <a:buNone/>
            </a:pPr>
            <a:r>
              <a:rPr lang="en-US" sz="1200" b="1" spc="150" kern="0" dirty="0">
                <a:solidFill>
                  <a:srgbClr val="34B76F"/>
                </a:solidFill>
                <a:latin typeface="Calibri" pitchFamily="34" charset="0"/>
                <a:ea typeface="Calibri" pitchFamily="34" charset="-122"/>
                <a:cs typeface="Calibri" pitchFamily="34" charset="-120"/>
              </a:rPr>
              <a:t>SCALE BAR</a:t>
            </a:r>
            <a:endParaRPr lang="en-US" sz="1200" dirty="0"/>
          </a:p>
        </p:txBody>
      </p:sp>
      <p:sp>
        <p:nvSpPr>
          <p:cNvPr id="8" name="Text 6"/>
          <p:cNvSpPr/>
          <p:nvPr/>
        </p:nvSpPr>
        <p:spPr>
          <a:xfrm>
            <a:off x="731520" y="2395728"/>
            <a:ext cx="3474720" cy="1463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Tells you how map distance equals real distance.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1 inch = 50 miles (for example).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Let you MEASURE — how far from Miami to Orlando?</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Different scales = different detail level, not different facts.</a:t>
            </a:r>
            <a:endParaRPr lang="en-US" sz="1200" dirty="0"/>
          </a:p>
        </p:txBody>
      </p:sp>
      <p:sp>
        <p:nvSpPr>
          <p:cNvPr id="9" name="Shape 7"/>
          <p:cNvSpPr/>
          <p:nvPr/>
        </p:nvSpPr>
        <p:spPr>
          <a:xfrm>
            <a:off x="4663440" y="2011680"/>
            <a:ext cx="3931920" cy="2011680"/>
          </a:xfrm>
          <a:prstGeom prst="roundRect">
            <a:avLst>
              <a:gd name="adj" fmla="val 5455"/>
            </a:avLst>
          </a:prstGeom>
          <a:solidFill>
            <a:srgbClr val="1A2D5A"/>
          </a:solidFill>
          <a:ln w="19050">
            <a:solidFill>
              <a:srgbClr val="8B6FC0"/>
            </a:solidFill>
            <a:prstDash val="solid"/>
          </a:ln>
        </p:spPr>
      </p:sp>
      <p:sp>
        <p:nvSpPr>
          <p:cNvPr id="10" name="Text 8"/>
          <p:cNvSpPr/>
          <p:nvPr/>
        </p:nvSpPr>
        <p:spPr>
          <a:xfrm>
            <a:off x="4846320" y="2103120"/>
            <a:ext cx="3566160" cy="256032"/>
          </a:xfrm>
          <a:prstGeom prst="rect">
            <a:avLst/>
          </a:prstGeom>
          <a:noFill/>
          <a:ln/>
        </p:spPr>
        <p:txBody>
          <a:bodyPr wrap="square" lIns="0" tIns="0" rIns="0" bIns="0" rtlCol="0" anchor="ctr"/>
          <a:lstStyle/>
          <a:p>
            <a:pPr indent="0" marL="0">
              <a:buNone/>
            </a:pPr>
            <a:r>
              <a:rPr lang="en-US" sz="1200" b="1" spc="150" kern="0" dirty="0">
                <a:solidFill>
                  <a:srgbClr val="8B6FC0"/>
                </a:solidFill>
                <a:latin typeface="Calibri" pitchFamily="34" charset="0"/>
                <a:ea typeface="Calibri" pitchFamily="34" charset="-122"/>
                <a:cs typeface="Calibri" pitchFamily="34" charset="-120"/>
              </a:rPr>
              <a:t>MAP SYMBOLS (LEGEND)</a:t>
            </a:r>
            <a:endParaRPr lang="en-US" sz="1200" dirty="0"/>
          </a:p>
        </p:txBody>
      </p:sp>
      <p:sp>
        <p:nvSpPr>
          <p:cNvPr id="11" name="Text 9"/>
          <p:cNvSpPr/>
          <p:nvPr/>
        </p:nvSpPr>
        <p:spPr>
          <a:xfrm>
            <a:off x="4846320" y="2395728"/>
            <a:ext cx="3566160" cy="1463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Star = state capital</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Dot = city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Blue line = river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Dashed line = border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Shading = park or protected area</a:t>
            </a:r>
            <a:endParaRPr lang="en-US" sz="1200" dirty="0"/>
          </a:p>
        </p:txBody>
      </p:sp>
      <p:sp>
        <p:nvSpPr>
          <p:cNvPr id="12" name="Shape 10"/>
          <p:cNvSpPr/>
          <p:nvPr/>
        </p:nvSpPr>
        <p:spPr>
          <a:xfrm>
            <a:off x="548640" y="4160520"/>
            <a:ext cx="8046720" cy="685800"/>
          </a:xfrm>
          <a:prstGeom prst="roundRect">
            <a:avLst>
              <a:gd name="adj" fmla="val 13333"/>
            </a:avLst>
          </a:prstGeom>
          <a:solidFill>
            <a:srgbClr val="34B76F">
              <a:alpha val="12000"/>
            </a:srgbClr>
          </a:solidFill>
          <a:ln w="12700">
            <a:solidFill>
              <a:srgbClr val="34B76F"/>
            </a:solidFill>
            <a:prstDash val="solid"/>
          </a:ln>
        </p:spPr>
      </p:sp>
      <p:sp>
        <p:nvSpPr>
          <p:cNvPr id="13" name="Text 11"/>
          <p:cNvSpPr/>
          <p:nvPr/>
        </p:nvSpPr>
        <p:spPr>
          <a:xfrm>
            <a:off x="685800" y="4206240"/>
            <a:ext cx="77724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RETRIEVAL: Cover screen. Name the four tools. What does each one do in one word: latitude, longitude, scale, symbol.</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MULTI-SOURCE COMPARE  ·  OLD TOOL VS. NEW TOOL</a:t>
            </a:r>
            <a:endParaRPr lang="en-US" sz="1000" dirty="0"/>
          </a:p>
        </p:txBody>
      </p:sp>
      <p:sp>
        <p:nvSpPr>
          <p:cNvPr id="4" name="Text 2"/>
          <p:cNvSpPr/>
          <p:nvPr/>
        </p:nvSpPr>
        <p:spPr>
          <a:xfrm>
            <a:off x="457200" y="438912"/>
            <a:ext cx="8229600" cy="347472"/>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Two different eras, the same problem: how do you find your location on Earth?</a:t>
            </a:r>
            <a:endParaRPr lang="en-US" sz="1300" dirty="0"/>
          </a:p>
        </p:txBody>
      </p:sp>
      <p:sp>
        <p:nvSpPr>
          <p:cNvPr id="5" name="Shape 3"/>
          <p:cNvSpPr/>
          <p:nvPr/>
        </p:nvSpPr>
        <p:spPr>
          <a:xfrm>
            <a:off x="365760" y="841248"/>
            <a:ext cx="393192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365760" y="841248"/>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15568"/>
            <a:ext cx="36576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historical nautical navigation chart or portolan chart from the 1500s-1600s: compass rose, rhumb lines radiating outward, coastline of Florida region visible but distorted, handwritten labels. Age-of-exploration cartographic style.</a:t>
            </a:r>
            <a:endParaRPr lang="en-US" sz="1100" dirty="0"/>
          </a:p>
        </p:txBody>
      </p:sp>
      <p:sp>
        <p:nvSpPr>
          <p:cNvPr id="8" name="Text 6"/>
          <p:cNvSpPr/>
          <p:nvPr/>
        </p:nvSpPr>
        <p:spPr>
          <a:xfrm>
            <a:off x="365760" y="3822192"/>
            <a:ext cx="3931920" cy="347472"/>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A — Historical Navigation Chart (c. 1600s)</a:t>
            </a:r>
            <a:endParaRPr lang="en-US" sz="1100" dirty="0"/>
          </a:p>
        </p:txBody>
      </p:sp>
      <p:sp>
        <p:nvSpPr>
          <p:cNvPr id="9" name="Shape 7"/>
          <p:cNvSpPr/>
          <p:nvPr/>
        </p:nvSpPr>
        <p:spPr>
          <a:xfrm>
            <a:off x="4663440" y="841248"/>
            <a:ext cx="3931920" cy="2926080"/>
          </a:xfrm>
          <a:prstGeom prst="roundRect">
            <a:avLst>
              <a:gd name="adj" fmla="val 3750"/>
            </a:avLst>
          </a:prstGeom>
          <a:solidFill>
            <a:srgbClr val="E2E8F4"/>
          </a:solidFill>
          <a:ln w="19050">
            <a:solidFill>
              <a:srgbClr val="B0B8CC"/>
            </a:solidFill>
            <a:prstDash val="dash"/>
          </a:ln>
        </p:spPr>
      </p:sp>
      <p:sp>
        <p:nvSpPr>
          <p:cNvPr id="10" name="Text 8"/>
          <p:cNvSpPr/>
          <p:nvPr/>
        </p:nvSpPr>
        <p:spPr>
          <a:xfrm>
            <a:off x="4663440" y="841248"/>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800600" y="1115568"/>
            <a:ext cx="36576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GPS/smartphone map screenshot showing Florida: precise latitude/longitude coordinates displayed, accurate coastline, satellite imagery or modern road map, zoom level visible, current location marker.</a:t>
            </a:r>
            <a:endParaRPr lang="en-US" sz="1100" dirty="0"/>
          </a:p>
        </p:txBody>
      </p:sp>
      <p:sp>
        <p:nvSpPr>
          <p:cNvPr id="12" name="Text 10"/>
          <p:cNvSpPr/>
          <p:nvPr/>
        </p:nvSpPr>
        <p:spPr>
          <a:xfrm>
            <a:off x="4663440" y="3822192"/>
            <a:ext cx="3931920" cy="347472"/>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B — Modern GPS Navigation (2020s)</a:t>
            </a:r>
            <a:endParaRPr lang="en-US" sz="1100" dirty="0"/>
          </a:p>
        </p:txBody>
      </p:sp>
      <p:sp>
        <p:nvSpPr>
          <p:cNvPr id="13" name="Shape 11"/>
          <p:cNvSpPr/>
          <p:nvPr/>
        </p:nvSpPr>
        <p:spPr>
          <a:xfrm>
            <a:off x="365760" y="4206240"/>
            <a:ext cx="8229600" cy="685800"/>
          </a:xfrm>
          <a:prstGeom prst="roundRect">
            <a:avLst>
              <a:gd name="adj" fmla="val 13333"/>
            </a:avLst>
          </a:prstGeom>
          <a:solidFill>
            <a:srgbClr val="FFF3DC"/>
          </a:solidFill>
          <a:ln w="19050">
            <a:solidFill>
              <a:srgbClr val="F5E6C8"/>
            </a:solidFill>
            <a:prstDash val="solid"/>
          </a:ln>
        </p:spPr>
      </p:sp>
      <p:sp>
        <p:nvSpPr>
          <p:cNvPr id="14" name="Text 12"/>
          <p:cNvSpPr/>
          <p:nvPr/>
        </p:nvSpPr>
        <p:spPr>
          <a:xfrm>
            <a:off x="502920" y="4251960"/>
            <a:ext cx="7955280" cy="566928"/>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CHAT: "Both sources are trying to solve the same problem: ___ . They use the same tool (lat/long) differently because..."</a:t>
            </a:r>
            <a:endParaRPr lang="en-US" sz="13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EVALUATE THE SOURCES  ·  RELIABILITY AND PURPOSE</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Same tool, different purposes, different reliability.</a:t>
            </a:r>
            <a:endParaRPr lang="en-US" sz="1600" dirty="0"/>
          </a:p>
        </p:txBody>
      </p:sp>
      <p:sp>
        <p:nvSpPr>
          <p:cNvPr id="5" name="Shape 3"/>
          <p:cNvSpPr/>
          <p:nvPr/>
        </p:nvSpPr>
        <p:spPr>
          <a:xfrm>
            <a:off x="457200" y="914400"/>
            <a:ext cx="502920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0584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640080" y="1261872"/>
            <a:ext cx="466344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each source,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is more accurate? Why — and accurate for what PURPOSE?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from the historical chart?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old chart be more valuable evidence than GPS for a historian? How?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each source tell us that the other one can't?</a:t>
            </a:r>
            <a:endParaRPr lang="en-US" sz="1100" dirty="0"/>
          </a:p>
        </p:txBody>
      </p:sp>
      <p:sp>
        <p:nvSpPr>
          <p:cNvPr id="8" name="Shape 6"/>
          <p:cNvSpPr/>
          <p:nvPr/>
        </p:nvSpPr>
        <p:spPr>
          <a:xfrm>
            <a:off x="5669280" y="914400"/>
            <a:ext cx="3017520" cy="2194560"/>
          </a:xfrm>
          <a:prstGeom prst="roundRect">
            <a:avLst>
              <a:gd name="adj" fmla="val 5000"/>
            </a:avLst>
          </a:prstGeom>
          <a:solidFill>
            <a:srgbClr val="FFF3DC"/>
          </a:solidFill>
          <a:ln w="19050">
            <a:solidFill>
              <a:srgbClr val="F5E6C8"/>
            </a:solidFill>
            <a:prstDash val="solid"/>
          </a:ln>
        </p:spPr>
      </p:sp>
      <p:sp>
        <p:nvSpPr>
          <p:cNvPr id="9" name="Text 7"/>
          <p:cNvSpPr/>
          <p:nvPr/>
        </p:nvSpPr>
        <p:spPr>
          <a:xfrm>
            <a:off x="5806440" y="96926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170432"/>
            <a:ext cx="2743200" cy="1874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Source A more than Source B for...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missing perspective in Source A is... which matters because..."</a:t>
            </a:r>
            <a:endParaRPr lang="en-US" sz="1200" dirty="0"/>
          </a:p>
        </p:txBody>
      </p:sp>
      <p:sp>
        <p:nvSpPr>
          <p:cNvPr id="11" name="Shape 9"/>
          <p:cNvSpPr/>
          <p:nvPr/>
        </p:nvSpPr>
        <p:spPr>
          <a:xfrm>
            <a:off x="5669280" y="3246120"/>
            <a:ext cx="3017520" cy="1051560"/>
          </a:xfrm>
          <a:prstGeom prst="roundRect">
            <a:avLst>
              <a:gd name="adj" fmla="val 8696"/>
            </a:avLst>
          </a:prstGeom>
          <a:solidFill>
            <a:srgbClr val="8B6FC0">
              <a:alpha val="15000"/>
            </a:srgbClr>
          </a:solidFill>
          <a:ln w="19050">
            <a:solidFill>
              <a:srgbClr val="8B6FC0"/>
            </a:solidFill>
            <a:prstDash val="solid"/>
          </a:ln>
        </p:spPr>
      </p:sp>
      <p:sp>
        <p:nvSpPr>
          <p:cNvPr id="12" name="Text 10"/>
          <p:cNvSpPr/>
          <p:nvPr/>
        </p:nvSpPr>
        <p:spPr>
          <a:xfrm>
            <a:off x="5806440" y="3310128"/>
            <a:ext cx="2743200" cy="914400"/>
          </a:xfrm>
          <a:prstGeom prst="rect">
            <a:avLst/>
          </a:prstGeom>
          <a:noFill/>
          <a:ln/>
        </p:spPr>
        <p:txBody>
          <a:bodyPr wrap="square" lIns="0" tIns="0" rIns="0" bIns="0" rtlCol="0" anchor="t"/>
          <a:lstStyle/>
          <a:p>
            <a:pPr indent="0" marL="0">
              <a:buNone/>
            </a:pPr>
            <a:r>
              <a:rPr lang="en-US" sz="1100" i="1" dirty="0">
                <a:solidFill>
                  <a:srgbClr val="3A2A5A"/>
                </a:solidFill>
                <a:latin typeface="Calibri" pitchFamily="34" charset="0"/>
                <a:ea typeface="Calibri" pitchFamily="34" charset="-122"/>
                <a:cs typeface="Calibri" pitchFamily="34" charset="-120"/>
              </a:rPr>
              <a:t>An old chart that's less accurate can still be better historical evidence — it shows what people KNEW and BELIEVED at the time, not just where things actually are.</a:t>
            </a:r>
            <a:endParaRPr lang="en-US" sz="1100" dirty="0"/>
          </a:p>
        </p:txBody>
      </p:sp>
      <p:sp>
        <p:nvSpPr>
          <p:cNvPr id="14" name="Text 1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THE PATTERN</a:t>
            </a:r>
            <a:endParaRPr lang="en-US" sz="1000" dirty="0"/>
          </a:p>
        </p:txBody>
      </p:sp>
      <p:sp>
        <p:nvSpPr>
          <p:cNvPr id="4" name="Text 2"/>
          <p:cNvSpPr/>
          <p:nvPr/>
        </p:nvSpPr>
        <p:spPr>
          <a:xfrm>
            <a:off x="548640" y="658368"/>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All Four Tools Work</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Together or Not at All</a:t>
            </a:r>
            <a:endParaRPr lang="en-US" sz="3400" dirty="0"/>
          </a:p>
        </p:txBody>
      </p:sp>
      <p:sp>
        <p:nvSpPr>
          <p:cNvPr id="5" name="Shape 3"/>
          <p:cNvSpPr/>
          <p:nvPr/>
        </p:nvSpPr>
        <p:spPr>
          <a:xfrm>
            <a:off x="548640" y="1920240"/>
            <a:ext cx="8046720" cy="36576"/>
          </a:xfrm>
          <a:prstGeom prst="rect">
            <a:avLst/>
          </a:prstGeom>
          <a:solidFill>
            <a:srgbClr val="D4943A"/>
          </a:solidFill>
          <a:ln w="12700">
            <a:solidFill>
              <a:srgbClr val="D4943A"/>
            </a:solidFill>
            <a:prstDash val="solid"/>
          </a:ln>
        </p:spPr>
      </p:sp>
      <p:sp>
        <p:nvSpPr>
          <p:cNvPr id="6" name="Text 4"/>
          <p:cNvSpPr/>
          <p:nvPr/>
        </p:nvSpPr>
        <p:spPr>
          <a:xfrm>
            <a:off x="548640" y="2057400"/>
            <a:ext cx="8046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Florida map can be fully read with four tools: latitude (north-south position), longitude (east-west position), scale (real distance), and symbols (legend meaning). A geographer who uses all four can find, measure, and interpret any place on any Florida map.</a:t>
            </a:r>
            <a:endParaRPr lang="en-US" sz="1500" dirty="0"/>
          </a:p>
        </p:txBody>
      </p:sp>
      <p:sp>
        <p:nvSpPr>
          <p:cNvPr id="7" name="Shape 5"/>
          <p:cNvSpPr/>
          <p:nvPr/>
        </p:nvSpPr>
        <p:spPr>
          <a:xfrm>
            <a:off x="548640" y="3182112"/>
            <a:ext cx="8046720" cy="1325880"/>
          </a:xfrm>
          <a:prstGeom prst="roundRect">
            <a:avLst>
              <a:gd name="adj" fmla="val 8276"/>
            </a:avLst>
          </a:prstGeom>
          <a:solidFill>
            <a:srgbClr val="1A2D5A"/>
          </a:solidFill>
          <a:ln w="19050">
            <a:solidFill>
              <a:srgbClr val="D4943A"/>
            </a:solidFill>
            <a:prstDash val="solid"/>
          </a:ln>
        </p:spPr>
      </p:sp>
      <p:sp>
        <p:nvSpPr>
          <p:cNvPr id="8" name="Text 6"/>
          <p:cNvSpPr/>
          <p:nvPr/>
        </p:nvSpPr>
        <p:spPr>
          <a:xfrm>
            <a:off x="731520" y="3273552"/>
            <a:ext cx="768096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CARRY THIS FORWARD:</a:t>
            </a:r>
            <a:endParaRPr lang="en-US" sz="1000" dirty="0"/>
          </a:p>
        </p:txBody>
      </p:sp>
      <p:sp>
        <p:nvSpPr>
          <p:cNvPr id="9" name="Text 7"/>
          <p:cNvSpPr/>
          <p:nvPr/>
        </p:nvSpPr>
        <p:spPr>
          <a:xfrm>
            <a:off x="731520" y="3566160"/>
            <a:ext cx="7680960" cy="8229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Any time you work with a map — historical, modern, geographic, political — ask: can I use all four tools here? Lat/long for precision. Scale for real distance. Symbols for meaning. All four together = complete reading.</a:t>
            </a:r>
            <a:endParaRPr lang="en-US" sz="1300" dirty="0"/>
          </a:p>
        </p:txBody>
      </p:sp>
      <p:sp>
        <p:nvSpPr>
          <p:cNvPr id="11" name="Text 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548640" y="658368"/>
            <a:ext cx="804672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Courage</a:t>
            </a:r>
            <a:endParaRPr lang="en-US" sz="4600" dirty="0"/>
          </a:p>
        </p:txBody>
      </p:sp>
      <p:sp>
        <p:nvSpPr>
          <p:cNvPr id="6" name="Shape 4"/>
          <p:cNvSpPr/>
          <p:nvPr/>
        </p:nvSpPr>
        <p:spPr>
          <a:xfrm>
            <a:off x="548640" y="1536192"/>
            <a:ext cx="3200400" cy="36576"/>
          </a:xfrm>
          <a:prstGeom prst="rect">
            <a:avLst/>
          </a:prstGeom>
          <a:solidFill>
            <a:srgbClr val="D4943A"/>
          </a:solidFill>
          <a:ln w="12700">
            <a:solidFill>
              <a:srgbClr val="D4943A"/>
            </a:solidFill>
            <a:prstDash val="solid"/>
          </a:ln>
        </p:spPr>
      </p:sp>
      <p:sp>
        <p:nvSpPr>
          <p:cNvPr id="7" name="Text 5"/>
          <p:cNvSpPr/>
          <p:nvPr/>
        </p:nvSpPr>
        <p:spPr>
          <a:xfrm>
            <a:off x="548640" y="1664208"/>
            <a:ext cx="804672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Courage in map work means committing to a reading even when you're not 100% sure. You check the legend, you use the scale, you trust the latitude line — and then you make your best call.</a:t>
            </a:r>
            <a:endParaRPr lang="en-US" sz="1600" dirty="0"/>
          </a:p>
        </p:txBody>
      </p:sp>
      <p:sp>
        <p:nvSpPr>
          <p:cNvPr id="8" name="Shape 6"/>
          <p:cNvSpPr/>
          <p:nvPr/>
        </p:nvSpPr>
        <p:spPr>
          <a:xfrm>
            <a:off x="548640" y="2724912"/>
            <a:ext cx="8046720" cy="1645920"/>
          </a:xfrm>
          <a:prstGeom prst="roundRect">
            <a:avLst>
              <a:gd name="adj" fmla="val 6667"/>
            </a:avLst>
          </a:prstGeom>
          <a:solidFill>
            <a:srgbClr val="1A2D5A"/>
          </a:solidFill>
          <a:ln w="19050">
            <a:solidFill>
              <a:srgbClr val="D4943A"/>
            </a:solidFill>
            <a:prstDash val="solid"/>
          </a:ln>
        </p:spPr>
      </p:sp>
      <p:sp>
        <p:nvSpPr>
          <p:cNvPr id="9" name="Text 7"/>
          <p:cNvSpPr/>
          <p:nvPr/>
        </p:nvSpPr>
        <p:spPr>
          <a:xfrm>
            <a:off x="731520" y="2816352"/>
            <a:ext cx="768096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COURAGE IN ACTION TODAY:</a:t>
            </a:r>
            <a:endParaRPr lang="en-US" sz="1000" dirty="0"/>
          </a:p>
        </p:txBody>
      </p:sp>
      <p:sp>
        <p:nvSpPr>
          <p:cNvPr id="10" name="Text 8"/>
          <p:cNvSpPr/>
          <p:nvPr/>
        </p:nvSpPr>
        <p:spPr>
          <a:xfrm>
            <a:off x="731520" y="3108960"/>
            <a:ext cx="7680960" cy="114300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A geographer who hides behind "I don't know" never finishes the quest. Today, give your honest reading and put it on the page. Check your tools, make your best call, and be willing to revise if the evidence asks you to.</a:t>
            </a:r>
            <a:endParaRPr lang="en-US" sz="1400" dirty="0"/>
          </a:p>
        </p:txBody>
      </p:sp>
      <p:sp>
        <p:nvSpPr>
          <p:cNvPr id="12" name="Text 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TEACHER MODELS</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Watch how a geographer uses all four tools at once.</a:t>
            </a:r>
            <a:endParaRPr lang="en-US" sz="1600" dirty="0"/>
          </a:p>
        </p:txBody>
      </p:sp>
      <p:sp>
        <p:nvSpPr>
          <p:cNvPr id="5" name="Shape 3"/>
          <p:cNvSpPr/>
          <p:nvPr/>
        </p:nvSpPr>
        <p:spPr>
          <a:xfrm>
            <a:off x="457200" y="914400"/>
            <a:ext cx="8229600" cy="3520440"/>
          </a:xfrm>
          <a:prstGeom prst="roundRect">
            <a:avLst>
              <a:gd name="adj" fmla="val 3117"/>
            </a:avLst>
          </a:prstGeom>
          <a:solidFill>
            <a:srgbClr val="1A2D5A"/>
          </a:solidFill>
          <a:ln w="19050">
            <a:solidFill>
              <a:srgbClr val="3A5080"/>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THINK-ALOUD — USING ALL FOUR TOOLS</a:t>
            </a:r>
            <a:endParaRPr lang="en-US" sz="900" dirty="0"/>
          </a:p>
        </p:txBody>
      </p:sp>
      <p:sp>
        <p:nvSpPr>
          <p:cNvPr id="7" name="Text 5"/>
          <p:cNvSpPr/>
          <p:nvPr/>
        </p:nvSpPr>
        <p:spPr>
          <a:xfrm>
            <a:off x="640080" y="1325880"/>
            <a:ext cx="7863840" cy="2971800"/>
          </a:xfrm>
          <a:prstGeom prst="rect">
            <a:avLst/>
          </a:prstGeom>
          <a:noFill/>
          <a:ln/>
        </p:spPr>
        <p:txBody>
          <a:bodyPr wrap="square" lIns="0" tIns="0" rIns="0" bIns="0" rtlCol="0" anchor="t"/>
          <a:lstStyle/>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1.  I pick a place: Tallahassee, the state capital.</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2.  LATITUDE: I look at the grid — Tallahassee sits near 30.5 degrees North.</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3.  LONGITUDE: I look at the vertical lines — about 84 degrees West.</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4.  SCALE: I measure from Tallahassee to Jacksonville using the scale bar — about 160 miles.</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5.  SYMBOL: The legend shows a star for the state capital — Tallahassee has a star on the map.</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6.  MY READING: 'Tallahassee is near 30.5N, 84W; approximately 160 miles from Jacksonville; marked with a star as Florida's capital.'</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7.  All four tools used. Quest complete for this city.</a:t>
            </a:r>
            <a:endParaRPr lang="en-US" sz="1200" dirty="0"/>
          </a:p>
        </p:txBody>
      </p:sp>
      <p:sp>
        <p:nvSpPr>
          <p:cNvPr id="9" name="Text 6"/>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INVESTIGATE AND DEFEND</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Your turn: pick a city, use all four tools, then defend your reading.</a:t>
            </a:r>
            <a:endParaRPr lang="en-US" sz="1600" dirty="0"/>
          </a:p>
        </p:txBody>
      </p:sp>
      <p:sp>
        <p:nvSpPr>
          <p:cNvPr id="5" name="Shape 3"/>
          <p:cNvSpPr/>
          <p:nvPr/>
        </p:nvSpPr>
        <p:spPr>
          <a:xfrm>
            <a:off x="457200" y="914400"/>
            <a:ext cx="4937760" cy="3474720"/>
          </a:xfrm>
          <a:prstGeom prst="roundRect">
            <a:avLst>
              <a:gd name="adj" fmla="val 3158"/>
            </a:avLst>
          </a:prstGeom>
          <a:solidFill>
            <a:srgbClr val="F7F9FF"/>
          </a:solidFill>
          <a:ln w="19050">
            <a:solidFill>
              <a:srgbClr val="B0B8CC"/>
            </a:solidFill>
            <a:prstDash val="solid"/>
          </a:ln>
        </p:spPr>
      </p:sp>
      <p:sp>
        <p:nvSpPr>
          <p:cNvPr id="6" name="Text 4"/>
          <p:cNvSpPr/>
          <p:nvPr/>
        </p:nvSpPr>
        <p:spPr>
          <a:xfrm>
            <a:off x="594360" y="1005840"/>
            <a:ext cx="466344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ASSIGNMENT Q1 + Q2 + Q3 — PRACTICE RUN</a:t>
            </a:r>
            <a:endParaRPr lang="en-US" sz="900" dirty="0"/>
          </a:p>
        </p:txBody>
      </p:sp>
      <p:sp>
        <p:nvSpPr>
          <p:cNvPr id="7" name="Shape 5"/>
          <p:cNvSpPr/>
          <p:nvPr/>
        </p:nvSpPr>
        <p:spPr>
          <a:xfrm>
            <a:off x="594360" y="1353312"/>
            <a:ext cx="4663440" cy="384048"/>
          </a:xfrm>
          <a:prstGeom prst="roundRect">
            <a:avLst>
              <a:gd name="adj" fmla="val 19048"/>
            </a:avLst>
          </a:prstGeom>
          <a:solidFill>
            <a:srgbClr val="E2E8F4"/>
          </a:solidFill>
          <a:ln w="12700">
            <a:solidFill>
              <a:srgbClr val="B0B8CC"/>
            </a:solidFill>
            <a:prstDash val="solid"/>
          </a:ln>
        </p:spPr>
      </p:sp>
      <p:sp>
        <p:nvSpPr>
          <p:cNvPr id="8" name="Text 6"/>
          <p:cNvSpPr/>
          <p:nvPr/>
        </p:nvSpPr>
        <p:spPr>
          <a:xfrm>
            <a:off x="731520" y="1380744"/>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Pick a Florida city: _____________</a:t>
            </a:r>
            <a:endParaRPr lang="en-US" sz="1200" dirty="0"/>
          </a:p>
        </p:txBody>
      </p:sp>
      <p:sp>
        <p:nvSpPr>
          <p:cNvPr id="9" name="Shape 7"/>
          <p:cNvSpPr/>
          <p:nvPr/>
        </p:nvSpPr>
        <p:spPr>
          <a:xfrm>
            <a:off x="594360" y="1828800"/>
            <a:ext cx="4663440" cy="384048"/>
          </a:xfrm>
          <a:prstGeom prst="roundRect">
            <a:avLst>
              <a:gd name="adj" fmla="val 19048"/>
            </a:avLst>
          </a:prstGeom>
          <a:solidFill>
            <a:srgbClr val="E2E8F4"/>
          </a:solidFill>
          <a:ln w="12700">
            <a:solidFill>
              <a:srgbClr val="B0B8CC"/>
            </a:solidFill>
            <a:prstDash val="solid"/>
          </a:ln>
        </p:spPr>
      </p:sp>
      <p:sp>
        <p:nvSpPr>
          <p:cNvPr id="10" name="Text 8"/>
          <p:cNvSpPr/>
          <p:nvPr/>
        </p:nvSpPr>
        <p:spPr>
          <a:xfrm>
            <a:off x="731520" y="1856232"/>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LATITUDE: about _______ N</a:t>
            </a:r>
            <a:endParaRPr lang="en-US" sz="1200" dirty="0"/>
          </a:p>
        </p:txBody>
      </p:sp>
      <p:sp>
        <p:nvSpPr>
          <p:cNvPr id="11" name="Shape 9"/>
          <p:cNvSpPr/>
          <p:nvPr/>
        </p:nvSpPr>
        <p:spPr>
          <a:xfrm>
            <a:off x="594360" y="2304288"/>
            <a:ext cx="4663440" cy="384048"/>
          </a:xfrm>
          <a:prstGeom prst="roundRect">
            <a:avLst>
              <a:gd name="adj" fmla="val 19048"/>
            </a:avLst>
          </a:prstGeom>
          <a:solidFill>
            <a:srgbClr val="E2E8F4"/>
          </a:solidFill>
          <a:ln w="12700">
            <a:solidFill>
              <a:srgbClr val="B0B8CC"/>
            </a:solidFill>
            <a:prstDash val="solid"/>
          </a:ln>
        </p:spPr>
      </p:sp>
      <p:sp>
        <p:nvSpPr>
          <p:cNvPr id="12" name="Text 10"/>
          <p:cNvSpPr/>
          <p:nvPr/>
        </p:nvSpPr>
        <p:spPr>
          <a:xfrm>
            <a:off x="731520" y="2331720"/>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LONGITUDE: about _______ W</a:t>
            </a:r>
            <a:endParaRPr lang="en-US" sz="1200" dirty="0"/>
          </a:p>
        </p:txBody>
      </p:sp>
      <p:sp>
        <p:nvSpPr>
          <p:cNvPr id="13" name="Shape 11"/>
          <p:cNvSpPr/>
          <p:nvPr/>
        </p:nvSpPr>
        <p:spPr>
          <a:xfrm>
            <a:off x="594360" y="2779776"/>
            <a:ext cx="4663440" cy="384048"/>
          </a:xfrm>
          <a:prstGeom prst="roundRect">
            <a:avLst>
              <a:gd name="adj" fmla="val 19048"/>
            </a:avLst>
          </a:prstGeom>
          <a:solidFill>
            <a:srgbClr val="E2E8F4"/>
          </a:solidFill>
          <a:ln w="12700">
            <a:solidFill>
              <a:srgbClr val="B0B8CC"/>
            </a:solidFill>
            <a:prstDash val="solid"/>
          </a:ln>
        </p:spPr>
      </p:sp>
      <p:sp>
        <p:nvSpPr>
          <p:cNvPr id="14" name="Text 12"/>
          <p:cNvSpPr/>
          <p:nvPr/>
        </p:nvSpPr>
        <p:spPr>
          <a:xfrm>
            <a:off x="731520" y="2807208"/>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SCALE: distance to another city = ______ miles</a:t>
            </a:r>
            <a:endParaRPr lang="en-US" sz="1200" dirty="0"/>
          </a:p>
        </p:txBody>
      </p:sp>
      <p:sp>
        <p:nvSpPr>
          <p:cNvPr id="15" name="Shape 13"/>
          <p:cNvSpPr/>
          <p:nvPr/>
        </p:nvSpPr>
        <p:spPr>
          <a:xfrm>
            <a:off x="594360" y="3255264"/>
            <a:ext cx="4663440" cy="384048"/>
          </a:xfrm>
          <a:prstGeom prst="roundRect">
            <a:avLst>
              <a:gd name="adj" fmla="val 19048"/>
            </a:avLst>
          </a:prstGeom>
          <a:solidFill>
            <a:srgbClr val="E2E8F4"/>
          </a:solidFill>
          <a:ln w="12700">
            <a:solidFill>
              <a:srgbClr val="B0B8CC"/>
            </a:solidFill>
            <a:prstDash val="solid"/>
          </a:ln>
        </p:spPr>
      </p:sp>
      <p:sp>
        <p:nvSpPr>
          <p:cNvPr id="16" name="Text 14"/>
          <p:cNvSpPr/>
          <p:nvPr/>
        </p:nvSpPr>
        <p:spPr>
          <a:xfrm>
            <a:off x="731520" y="3282696"/>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SYMBOL: one symbol near it in the legend = _____________</a:t>
            </a:r>
            <a:endParaRPr lang="en-US" sz="1200" dirty="0"/>
          </a:p>
        </p:txBody>
      </p:sp>
      <p:sp>
        <p:nvSpPr>
          <p:cNvPr id="17" name="Shape 15"/>
          <p:cNvSpPr/>
          <p:nvPr/>
        </p:nvSpPr>
        <p:spPr>
          <a:xfrm>
            <a:off x="594360" y="3730752"/>
            <a:ext cx="4663440" cy="384048"/>
          </a:xfrm>
          <a:prstGeom prst="roundRect">
            <a:avLst>
              <a:gd name="adj" fmla="val 19048"/>
            </a:avLst>
          </a:prstGeom>
          <a:solidFill>
            <a:srgbClr val="E2E8F4"/>
          </a:solidFill>
          <a:ln w="12700">
            <a:solidFill>
              <a:srgbClr val="B0B8CC"/>
            </a:solidFill>
            <a:prstDash val="solid"/>
          </a:ln>
        </p:spPr>
      </p:sp>
      <p:sp>
        <p:nvSpPr>
          <p:cNvPr id="18" name="Text 16"/>
          <p:cNvSpPr/>
          <p:nvPr/>
        </p:nvSpPr>
        <p:spPr>
          <a:xfrm>
            <a:off x="731520" y="3758184"/>
            <a:ext cx="4389120" cy="29260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Defend: why does knowing these four things matter?</a:t>
            </a:r>
            <a:endParaRPr lang="en-US" sz="1200" dirty="0"/>
          </a:p>
        </p:txBody>
      </p:sp>
      <p:sp>
        <p:nvSpPr>
          <p:cNvPr id="19" name="Shape 17"/>
          <p:cNvSpPr/>
          <p:nvPr/>
        </p:nvSpPr>
        <p:spPr>
          <a:xfrm>
            <a:off x="5577840" y="914400"/>
            <a:ext cx="3108960" cy="3474720"/>
          </a:xfrm>
          <a:prstGeom prst="roundRect">
            <a:avLst>
              <a:gd name="adj" fmla="val 4412"/>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5760720" y="1005840"/>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1" name="Text 19"/>
          <p:cNvSpPr/>
          <p:nvPr/>
        </p:nvSpPr>
        <p:spPr>
          <a:xfrm>
            <a:off x="5760720" y="1261872"/>
            <a:ext cx="2743200" cy="3035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they use all four tools, or skip 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their lat/long reasonable? Would someone disagree with their estimate?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their scale reading supported by the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their defense stronger?</a:t>
            </a:r>
            <a:endParaRPr lang="en-US" sz="1100" dirty="0"/>
          </a:p>
        </p:txBody>
      </p:sp>
      <p:sp>
        <p:nvSpPr>
          <p:cNvPr id="23" name="Text 20"/>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What's strong? What's missing? What would make this complete?</a:t>
            </a:r>
            <a:endParaRPr lang="en-US" sz="1600" dirty="0"/>
          </a:p>
        </p:txBody>
      </p:sp>
      <p:sp>
        <p:nvSpPr>
          <p:cNvPr id="5" name="Shape 3"/>
          <p:cNvSpPr/>
          <p:nvPr/>
        </p:nvSpPr>
        <p:spPr>
          <a:xfrm>
            <a:off x="457200" y="914400"/>
            <a:ext cx="8229600" cy="1554480"/>
          </a:xfrm>
          <a:prstGeom prst="roundRect">
            <a:avLst>
              <a:gd name="adj" fmla="val 7059"/>
            </a:avLst>
          </a:prstGeom>
          <a:solidFill>
            <a:srgbClr val="FFF3DC"/>
          </a:solidFill>
          <a:ln w="19050">
            <a:solidFill>
              <a:srgbClr val="F5E6C8"/>
            </a:solidFill>
            <a:prstDash val="solid"/>
          </a:ln>
        </p:spPr>
      </p:sp>
      <p:sp>
        <p:nvSpPr>
          <p:cNvPr id="6" name="Text 4"/>
          <p:cNvSpPr/>
          <p:nvPr/>
        </p:nvSpPr>
        <p:spPr>
          <a:xfrm>
            <a:off x="640080" y="1005840"/>
            <a:ext cx="786384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SAMPLE RESPONSE TO EVALUATE</a:t>
            </a:r>
            <a:endParaRPr lang="en-US" sz="900" dirty="0"/>
          </a:p>
        </p:txBody>
      </p:sp>
      <p:sp>
        <p:nvSpPr>
          <p:cNvPr id="7" name="Text 5"/>
          <p:cNvSpPr/>
          <p:nvPr/>
        </p:nvSpPr>
        <p:spPr>
          <a:xfrm>
            <a:off x="640080" y="1261872"/>
            <a:ext cx="7863840" cy="1097280"/>
          </a:xfrm>
          <a:prstGeom prst="rect">
            <a:avLst/>
          </a:prstGeom>
          <a:noFill/>
          <a:ln/>
        </p:spPr>
        <p:txBody>
          <a:bodyPr wrap="square" lIns="0" tIns="0" rIns="0" bIns="0" rtlCol="0" anchor="t"/>
          <a:lstStyle/>
          <a:p>
            <a:pPr indent="0" marL="0">
              <a:buNone/>
            </a:pPr>
            <a:r>
              <a:rPr lang="en-US" sz="1400" i="1" dirty="0">
                <a:solidFill>
                  <a:srgbClr val="5A4A3A"/>
                </a:solidFill>
                <a:latin typeface="Cambria" pitchFamily="34" charset="0"/>
                <a:ea typeface="Cambria" pitchFamily="34" charset="-122"/>
                <a:cs typeface="Cambria" pitchFamily="34" charset="-120"/>
              </a:rPr>
              <a:t>"Miami is in Florida. It is near the water. The map shows it has a highway going through it. It is in southern Florida, which is far from Tallahassee."</a:t>
            </a:r>
            <a:endParaRPr lang="en-US" sz="1400" dirty="0"/>
          </a:p>
        </p:txBody>
      </p:sp>
      <p:sp>
        <p:nvSpPr>
          <p:cNvPr id="8" name="Shape 6"/>
          <p:cNvSpPr/>
          <p:nvPr/>
        </p:nvSpPr>
        <p:spPr>
          <a:xfrm>
            <a:off x="457200" y="2606040"/>
            <a:ext cx="493776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6974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953512"/>
            <a:ext cx="4572000" cy="1801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this student use latitude and longitude? What's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they use the scale bar? How do we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they read a symbol from the legend? Is 'near the water' a symbol?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Rate the evidence quality: strong / okay / weak. What's your reasoning?</a:t>
            </a:r>
            <a:endParaRPr lang="en-US" sz="1100" dirty="0"/>
          </a:p>
        </p:txBody>
      </p:sp>
      <p:sp>
        <p:nvSpPr>
          <p:cNvPr id="11" name="Shape 9"/>
          <p:cNvSpPr/>
          <p:nvPr/>
        </p:nvSpPr>
        <p:spPr>
          <a:xfrm>
            <a:off x="5577840" y="2606040"/>
            <a:ext cx="3108960" cy="2240280"/>
          </a:xfrm>
          <a:prstGeom prst="roundRect">
            <a:avLst>
              <a:gd name="adj" fmla="val 4898"/>
            </a:avLst>
          </a:prstGeom>
          <a:solidFill>
            <a:srgbClr val="FFF3DC"/>
          </a:solidFill>
          <a:ln w="19050">
            <a:solidFill>
              <a:srgbClr val="F5E6C8"/>
            </a:solidFill>
            <a:prstDash val="solid"/>
          </a:ln>
        </p:spPr>
      </p:sp>
      <p:sp>
        <p:nvSpPr>
          <p:cNvPr id="12" name="Text 10"/>
          <p:cNvSpPr/>
          <p:nvPr/>
        </p:nvSpPr>
        <p:spPr>
          <a:xfrm>
            <a:off x="5715000" y="26609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862072"/>
            <a:ext cx="283464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is missing... which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earn full marks, the writer should add... because the evidence requires..."</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A genuinely ambiguous question — two defensible answers.</a:t>
            </a:r>
            <a:endParaRPr lang="en-US" sz="1500" dirty="0"/>
          </a:p>
        </p:txBody>
      </p:sp>
      <p:sp>
        <p:nvSpPr>
          <p:cNvPr id="5" name="Shape 3"/>
          <p:cNvSpPr/>
          <p:nvPr/>
        </p:nvSpPr>
        <p:spPr>
          <a:xfrm>
            <a:off x="457200" y="914400"/>
            <a:ext cx="8229600" cy="1371600"/>
          </a:xfrm>
          <a:prstGeom prst="roundRect">
            <a:avLst>
              <a:gd name="adj" fmla="val 8000"/>
            </a:avLst>
          </a:prstGeom>
          <a:solidFill>
            <a:srgbClr val="0E1C42"/>
          </a:solidFill>
          <a:ln w="25400">
            <a:solidFill>
              <a:srgbClr val="E8636B"/>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THE TRICKY ONE</a:t>
            </a:r>
            <a:endParaRPr lang="en-US" sz="900" dirty="0"/>
          </a:p>
        </p:txBody>
      </p:sp>
      <p:sp>
        <p:nvSpPr>
          <p:cNvPr id="7" name="Text 5"/>
          <p:cNvSpPr/>
          <p:nvPr/>
        </p:nvSpPr>
        <p:spPr>
          <a:xfrm>
            <a:off x="640080" y="1298448"/>
            <a:ext cx="786384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Can two different scales on two maps of Florida show contradictory information? Defend your answer.</a:t>
            </a:r>
            <a:endParaRPr lang="en-US" sz="1800" dirty="0"/>
          </a:p>
        </p:txBody>
      </p:sp>
      <p:sp>
        <p:nvSpPr>
          <p:cNvPr id="8" name="Shape 6"/>
          <p:cNvSpPr/>
          <p:nvPr/>
        </p:nvSpPr>
        <p:spPr>
          <a:xfrm>
            <a:off x="457200" y="2423160"/>
            <a:ext cx="4937760"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51460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770632"/>
            <a:ext cx="4572000"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it mean for maps to 'contradict' each other?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large-scale map shows a small lake and a small-scale map doesn't — is that a contradiction?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YES — different scales DO contradict? What's their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NO — they show different details, not different facts? Defend.</a:t>
            </a:r>
            <a:endParaRPr lang="en-US" sz="1100" dirty="0"/>
          </a:p>
        </p:txBody>
      </p:sp>
      <p:sp>
        <p:nvSpPr>
          <p:cNvPr id="11" name="Shape 9"/>
          <p:cNvSpPr/>
          <p:nvPr/>
        </p:nvSpPr>
        <p:spPr>
          <a:xfrm>
            <a:off x="5577840" y="2423160"/>
            <a:ext cx="3108960" cy="2331720"/>
          </a:xfrm>
          <a:prstGeom prst="roundRect">
            <a:avLst>
              <a:gd name="adj" fmla="val 4706"/>
            </a:avLst>
          </a:prstGeom>
          <a:solidFill>
            <a:srgbClr val="FFF3DC"/>
          </a:solidFill>
          <a:ln w="19050">
            <a:solidFill>
              <a:srgbClr val="F5E6C8"/>
            </a:solidFill>
            <a:prstDash val="solid"/>
          </a:ln>
        </p:spPr>
      </p:sp>
      <p:sp>
        <p:nvSpPr>
          <p:cNvPr id="12" name="Text 10"/>
          <p:cNvSpPr/>
          <p:nvPr/>
        </p:nvSpPr>
        <p:spPr>
          <a:xfrm>
            <a:off x="5715000" y="247802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679192"/>
            <a:ext cx="283464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argue that different scales CAN/CANNOT contradict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counterargument is... but I still believe... because..."</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QUICK SELF-CHECK</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Cover your screen after reading — answer from memory.</a:t>
            </a:r>
            <a:endParaRPr lang="en-US" sz="1500" dirty="0"/>
          </a:p>
        </p:txBody>
      </p:sp>
      <p:sp>
        <p:nvSpPr>
          <p:cNvPr id="5" name="Shape 3"/>
          <p:cNvSpPr/>
          <p:nvPr/>
        </p:nvSpPr>
        <p:spPr>
          <a:xfrm>
            <a:off x="457200" y="914400"/>
            <a:ext cx="4114800" cy="1097280"/>
          </a:xfrm>
          <a:prstGeom prst="roundRect">
            <a:avLst>
              <a:gd name="adj" fmla="val 8333"/>
            </a:avLst>
          </a:prstGeom>
          <a:solidFill>
            <a:srgbClr val="F7F9FF"/>
          </a:solidFill>
          <a:ln w="12700">
            <a:solidFill>
              <a:srgbClr val="B0B8CC"/>
            </a:solidFill>
            <a:prstDash val="solid"/>
          </a:ln>
        </p:spPr>
      </p:sp>
      <p:sp>
        <p:nvSpPr>
          <p:cNvPr id="6" name="Text 4"/>
          <p:cNvSpPr/>
          <p:nvPr/>
        </p:nvSpPr>
        <p:spPr>
          <a:xfrm>
            <a:off x="594360" y="98755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594360" y="123444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What do latitude lines tell you?</a:t>
            </a:r>
            <a:endParaRPr lang="en-US" sz="1300" dirty="0"/>
          </a:p>
        </p:txBody>
      </p:sp>
      <p:sp>
        <p:nvSpPr>
          <p:cNvPr id="8" name="Shape 6"/>
          <p:cNvSpPr/>
          <p:nvPr/>
        </p:nvSpPr>
        <p:spPr>
          <a:xfrm>
            <a:off x="4754880" y="914400"/>
            <a:ext cx="3931920" cy="1097280"/>
          </a:xfrm>
          <a:prstGeom prst="roundRect">
            <a:avLst>
              <a:gd name="adj" fmla="val 8333"/>
            </a:avLst>
          </a:prstGeom>
          <a:solidFill>
            <a:srgbClr val="E8F5EF"/>
          </a:solidFill>
          <a:ln w="12700">
            <a:solidFill>
              <a:srgbClr val="34B76F"/>
            </a:solidFill>
            <a:prstDash val="solid"/>
          </a:ln>
        </p:spPr>
      </p:sp>
      <p:sp>
        <p:nvSpPr>
          <p:cNvPr id="9" name="Text 7"/>
          <p:cNvSpPr/>
          <p:nvPr/>
        </p:nvSpPr>
        <p:spPr>
          <a:xfrm>
            <a:off x="4892040" y="98755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0" name="Text 8"/>
          <p:cNvSpPr/>
          <p:nvPr/>
        </p:nvSpPr>
        <p:spPr>
          <a:xfrm>
            <a:off x="4892040" y="123444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How far NORTH or SOUTH — they run east-west like the rungs of a ladder</a:t>
            </a:r>
            <a:endParaRPr lang="en-US" sz="1200" dirty="0"/>
          </a:p>
        </p:txBody>
      </p:sp>
      <p:sp>
        <p:nvSpPr>
          <p:cNvPr id="11" name="Shape 9"/>
          <p:cNvSpPr/>
          <p:nvPr/>
        </p:nvSpPr>
        <p:spPr>
          <a:xfrm>
            <a:off x="457200" y="2194560"/>
            <a:ext cx="4114800" cy="1097280"/>
          </a:xfrm>
          <a:prstGeom prst="roundRect">
            <a:avLst>
              <a:gd name="adj" fmla="val 8333"/>
            </a:avLst>
          </a:prstGeom>
          <a:solidFill>
            <a:srgbClr val="F7F9FF"/>
          </a:solidFill>
          <a:ln w="12700">
            <a:solidFill>
              <a:srgbClr val="B0B8CC"/>
            </a:solidFill>
            <a:prstDash val="solid"/>
          </a:ln>
        </p:spPr>
      </p:sp>
      <p:sp>
        <p:nvSpPr>
          <p:cNvPr id="12" name="Text 10"/>
          <p:cNvSpPr/>
          <p:nvPr/>
        </p:nvSpPr>
        <p:spPr>
          <a:xfrm>
            <a:off x="594360" y="226771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Q2</a:t>
            </a:r>
            <a:endParaRPr lang="en-US" sz="1100" dirty="0"/>
          </a:p>
        </p:txBody>
      </p:sp>
      <p:sp>
        <p:nvSpPr>
          <p:cNvPr id="13" name="Text 11"/>
          <p:cNvSpPr/>
          <p:nvPr/>
        </p:nvSpPr>
        <p:spPr>
          <a:xfrm>
            <a:off x="594360" y="251460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What does a scale bar on a map tell you?</a:t>
            </a:r>
            <a:endParaRPr lang="en-US" sz="1300" dirty="0"/>
          </a:p>
        </p:txBody>
      </p:sp>
      <p:sp>
        <p:nvSpPr>
          <p:cNvPr id="14" name="Shape 12"/>
          <p:cNvSpPr/>
          <p:nvPr/>
        </p:nvSpPr>
        <p:spPr>
          <a:xfrm>
            <a:off x="4754880" y="2194560"/>
            <a:ext cx="3931920" cy="1097280"/>
          </a:xfrm>
          <a:prstGeom prst="roundRect">
            <a:avLst>
              <a:gd name="adj" fmla="val 8333"/>
            </a:avLst>
          </a:prstGeom>
          <a:solidFill>
            <a:srgbClr val="E8F5EF"/>
          </a:solidFill>
          <a:ln w="12700">
            <a:solidFill>
              <a:srgbClr val="34B76F"/>
            </a:solidFill>
            <a:prstDash val="solid"/>
          </a:ln>
        </p:spPr>
      </p:sp>
      <p:sp>
        <p:nvSpPr>
          <p:cNvPr id="15" name="Text 13"/>
          <p:cNvSpPr/>
          <p:nvPr/>
        </p:nvSpPr>
        <p:spPr>
          <a:xfrm>
            <a:off x="4892040" y="226771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6" name="Text 14"/>
          <p:cNvSpPr/>
          <p:nvPr/>
        </p:nvSpPr>
        <p:spPr>
          <a:xfrm>
            <a:off x="4892040" y="251460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How map distance matches real distance — 1 inch might equal 50 miles on the ground</a:t>
            </a:r>
            <a:endParaRPr lang="en-US" sz="1200" dirty="0"/>
          </a:p>
        </p:txBody>
      </p:sp>
      <p:sp>
        <p:nvSpPr>
          <p:cNvPr id="17" name="Shape 15"/>
          <p:cNvSpPr/>
          <p:nvPr/>
        </p:nvSpPr>
        <p:spPr>
          <a:xfrm>
            <a:off x="457200" y="3474720"/>
            <a:ext cx="4114800" cy="1097280"/>
          </a:xfrm>
          <a:prstGeom prst="roundRect">
            <a:avLst>
              <a:gd name="adj" fmla="val 8333"/>
            </a:avLst>
          </a:prstGeom>
          <a:solidFill>
            <a:srgbClr val="F7F9FF"/>
          </a:solidFill>
          <a:ln w="12700">
            <a:solidFill>
              <a:srgbClr val="B0B8CC"/>
            </a:solidFill>
            <a:prstDash val="solid"/>
          </a:ln>
        </p:spPr>
      </p:sp>
      <p:sp>
        <p:nvSpPr>
          <p:cNvPr id="18" name="Text 16"/>
          <p:cNvSpPr/>
          <p:nvPr/>
        </p:nvSpPr>
        <p:spPr>
          <a:xfrm>
            <a:off x="594360" y="354787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Q3</a:t>
            </a:r>
            <a:endParaRPr lang="en-US" sz="1100" dirty="0"/>
          </a:p>
        </p:txBody>
      </p:sp>
      <p:sp>
        <p:nvSpPr>
          <p:cNvPr id="19" name="Text 17"/>
          <p:cNvSpPr/>
          <p:nvPr/>
        </p:nvSpPr>
        <p:spPr>
          <a:xfrm>
            <a:off x="594360" y="3794760"/>
            <a:ext cx="3749040" cy="6858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What is the legend (key) on a map?</a:t>
            </a:r>
            <a:endParaRPr lang="en-US" sz="1300" dirty="0"/>
          </a:p>
        </p:txBody>
      </p:sp>
      <p:sp>
        <p:nvSpPr>
          <p:cNvPr id="20" name="Shape 18"/>
          <p:cNvSpPr/>
          <p:nvPr/>
        </p:nvSpPr>
        <p:spPr>
          <a:xfrm>
            <a:off x="4754880" y="3474720"/>
            <a:ext cx="3931920" cy="1097280"/>
          </a:xfrm>
          <a:prstGeom prst="roundRect">
            <a:avLst>
              <a:gd name="adj" fmla="val 8333"/>
            </a:avLst>
          </a:prstGeom>
          <a:solidFill>
            <a:srgbClr val="E8F5EF"/>
          </a:solidFill>
          <a:ln w="12700">
            <a:solidFill>
              <a:srgbClr val="34B76F"/>
            </a:solidFill>
            <a:prstDash val="solid"/>
          </a:ln>
        </p:spPr>
      </p:sp>
      <p:sp>
        <p:nvSpPr>
          <p:cNvPr id="21" name="Text 19"/>
          <p:cNvSpPr/>
          <p:nvPr/>
        </p:nvSpPr>
        <p:spPr>
          <a:xfrm>
            <a:off x="4892040" y="354787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22" name="Text 20"/>
          <p:cNvSpPr/>
          <p:nvPr/>
        </p:nvSpPr>
        <p:spPr>
          <a:xfrm>
            <a:off x="4892040" y="3794760"/>
            <a:ext cx="3566160" cy="685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key that explains what each symbol means — star = capital, dot = city, etc.</a:t>
            </a:r>
            <a:endParaRPr lang="en-US" sz="1200" dirty="0"/>
          </a:p>
        </p:txBody>
      </p:sp>
      <p:sp>
        <p:nvSpPr>
          <p:cNvPr id="24" name="Text 2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ASSIGNMENT  ·  MAP QUEST — USE ALL FOUR TOOLS</a:t>
            </a:r>
            <a:endParaRPr lang="en-US" sz="1000" dirty="0"/>
          </a:p>
        </p:txBody>
      </p:sp>
      <p:sp>
        <p:nvSpPr>
          <p:cNvPr id="4" name="Text 2"/>
          <p:cNvSpPr/>
          <p:nvPr/>
        </p:nvSpPr>
        <p:spPr>
          <a:xfrm>
            <a:off x="457200" y="438912"/>
            <a:ext cx="8229600" cy="292608"/>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Exact question wording from your Canvas lesson.</a:t>
            </a:r>
            <a:endParaRPr lang="en-US" sz="1300" dirty="0"/>
          </a:p>
        </p:txBody>
      </p:sp>
      <p:sp>
        <p:nvSpPr>
          <p:cNvPr id="5" name="Shape 3"/>
          <p:cNvSpPr/>
          <p:nvPr/>
        </p:nvSpPr>
        <p:spPr>
          <a:xfrm>
            <a:off x="457200" y="804672"/>
            <a:ext cx="8229600" cy="804672"/>
          </a:xfrm>
          <a:prstGeom prst="roundRect">
            <a:avLst>
              <a:gd name="adj" fmla="val 11364"/>
            </a:avLst>
          </a:prstGeom>
          <a:solidFill>
            <a:srgbClr val="FFFFFF"/>
          </a:solidFill>
          <a:ln w="12700">
            <a:solidFill>
              <a:srgbClr val="B0B8CC"/>
            </a:solidFill>
            <a:prstDash val="solid"/>
          </a:ln>
        </p:spPr>
      </p:sp>
      <p:sp>
        <p:nvSpPr>
          <p:cNvPr id="6" name="Text 4"/>
          <p:cNvSpPr/>
          <p:nvPr/>
        </p:nvSpPr>
        <p:spPr>
          <a:xfrm>
            <a:off x="594360" y="8686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594360" y="10972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Pick a Florida city. Use latitude and longitude to give its approximate location.</a:t>
            </a:r>
            <a:endParaRPr lang="en-US" sz="1300" dirty="0"/>
          </a:p>
        </p:txBody>
      </p:sp>
      <p:sp>
        <p:nvSpPr>
          <p:cNvPr id="8" name="Text 6"/>
          <p:cNvSpPr/>
          <p:nvPr/>
        </p:nvSpPr>
        <p:spPr>
          <a:xfrm>
            <a:off x="6675120" y="8686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Look at the grid carefully. Write both numbers — latitude (N) and longitude (W).</a:t>
            </a:r>
            <a:endParaRPr lang="en-US" sz="1000" dirty="0"/>
          </a:p>
        </p:txBody>
      </p:sp>
      <p:sp>
        <p:nvSpPr>
          <p:cNvPr id="9" name="Shape 7"/>
          <p:cNvSpPr/>
          <p:nvPr/>
        </p:nvSpPr>
        <p:spPr>
          <a:xfrm>
            <a:off x="457200" y="1719072"/>
            <a:ext cx="8229600" cy="804672"/>
          </a:xfrm>
          <a:prstGeom prst="roundRect">
            <a:avLst>
              <a:gd name="adj" fmla="val 11364"/>
            </a:avLst>
          </a:prstGeom>
          <a:solidFill>
            <a:srgbClr val="FFFFFF"/>
          </a:solidFill>
          <a:ln w="12700">
            <a:solidFill>
              <a:srgbClr val="B0B8CC"/>
            </a:solidFill>
            <a:prstDash val="solid"/>
          </a:ln>
        </p:spPr>
      </p:sp>
      <p:sp>
        <p:nvSpPr>
          <p:cNvPr id="10" name="Text 8"/>
          <p:cNvSpPr/>
          <p:nvPr/>
        </p:nvSpPr>
        <p:spPr>
          <a:xfrm>
            <a:off x="594360" y="17830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Q2</a:t>
            </a:r>
            <a:endParaRPr lang="en-US" sz="900" dirty="0"/>
          </a:p>
        </p:txBody>
      </p:sp>
      <p:sp>
        <p:nvSpPr>
          <p:cNvPr id="11" name="Text 9"/>
          <p:cNvSpPr/>
          <p:nvPr/>
        </p:nvSpPr>
        <p:spPr>
          <a:xfrm>
            <a:off x="594360" y="20116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Use the scale bar to estimate the distance between two Florida cities. Show your reading.</a:t>
            </a:r>
            <a:endParaRPr lang="en-US" sz="1300" dirty="0"/>
          </a:p>
        </p:txBody>
      </p:sp>
      <p:sp>
        <p:nvSpPr>
          <p:cNvPr id="12" name="Text 10"/>
          <p:cNvSpPr/>
          <p:nvPr/>
        </p:nvSpPr>
        <p:spPr>
          <a:xfrm>
            <a:off x="6675120" y="17830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Name both cities. Say what the scale told you. Give the distance.</a:t>
            </a:r>
            <a:endParaRPr lang="en-US" sz="1000" dirty="0"/>
          </a:p>
        </p:txBody>
      </p:sp>
      <p:sp>
        <p:nvSpPr>
          <p:cNvPr id="13" name="Shape 11"/>
          <p:cNvSpPr/>
          <p:nvPr/>
        </p:nvSpPr>
        <p:spPr>
          <a:xfrm>
            <a:off x="457200" y="2633472"/>
            <a:ext cx="8229600" cy="804672"/>
          </a:xfrm>
          <a:prstGeom prst="roundRect">
            <a:avLst>
              <a:gd name="adj" fmla="val 11364"/>
            </a:avLst>
          </a:prstGeom>
          <a:solidFill>
            <a:srgbClr val="FFFFFF"/>
          </a:solidFill>
          <a:ln w="12700">
            <a:solidFill>
              <a:srgbClr val="B0B8CC"/>
            </a:solidFill>
            <a:prstDash val="solid"/>
          </a:ln>
        </p:spPr>
      </p:sp>
      <p:sp>
        <p:nvSpPr>
          <p:cNvPr id="14" name="Text 12"/>
          <p:cNvSpPr/>
          <p:nvPr/>
        </p:nvSpPr>
        <p:spPr>
          <a:xfrm>
            <a:off x="594360" y="26974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Q3</a:t>
            </a:r>
            <a:endParaRPr lang="en-US" sz="900" dirty="0"/>
          </a:p>
        </p:txBody>
      </p:sp>
      <p:sp>
        <p:nvSpPr>
          <p:cNvPr id="15" name="Text 13"/>
          <p:cNvSpPr/>
          <p:nvPr/>
        </p:nvSpPr>
        <p:spPr>
          <a:xfrm>
            <a:off x="594360" y="2926080"/>
            <a:ext cx="5943600" cy="43891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Pick one map symbol (not a city). What is it, and what does it tell you about Florida?</a:t>
            </a:r>
            <a:endParaRPr lang="en-US" sz="1300" dirty="0"/>
          </a:p>
        </p:txBody>
      </p:sp>
      <p:sp>
        <p:nvSpPr>
          <p:cNvPr id="16" name="Text 14"/>
          <p:cNvSpPr/>
          <p:nvPr/>
        </p:nvSpPr>
        <p:spPr>
          <a:xfrm>
            <a:off x="6675120" y="26974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Use the legend to back up your reading.</a:t>
            </a:r>
            <a:endParaRPr lang="en-US" sz="1000" dirty="0"/>
          </a:p>
        </p:txBody>
      </p:sp>
      <p:sp>
        <p:nvSpPr>
          <p:cNvPr id="17" name="Shape 15"/>
          <p:cNvSpPr/>
          <p:nvPr/>
        </p:nvSpPr>
        <p:spPr>
          <a:xfrm>
            <a:off x="457200" y="3611880"/>
            <a:ext cx="8229600" cy="1234440"/>
          </a:xfrm>
          <a:prstGeom prst="roundRect">
            <a:avLst>
              <a:gd name="adj" fmla="val 8889"/>
            </a:avLst>
          </a:prstGeom>
          <a:solidFill>
            <a:srgbClr val="0E1C42"/>
          </a:solidFill>
          <a:ln w="19050">
            <a:solidFill>
              <a:srgbClr val="D4943A"/>
            </a:solidFill>
            <a:prstDash val="solid"/>
          </a:ln>
        </p:spPr>
      </p:sp>
      <p:sp>
        <p:nvSpPr>
          <p:cNvPr id="18" name="Text 16"/>
          <p:cNvSpPr/>
          <p:nvPr/>
        </p:nvSpPr>
        <p:spPr>
          <a:xfrm>
            <a:off x="640080" y="3703320"/>
            <a:ext cx="786384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 Map Quest Response: The Full Florida Read</a:t>
            </a:r>
            <a:endParaRPr lang="en-US" sz="1000" dirty="0"/>
          </a:p>
        </p:txBody>
      </p:sp>
      <p:sp>
        <p:nvSpPr>
          <p:cNvPr id="19" name="Text 17"/>
          <p:cNvSpPr/>
          <p:nvPr/>
        </p:nvSpPr>
        <p:spPr>
          <a:xfrm>
            <a:off x="640080" y="3986784"/>
            <a:ext cx="7863840" cy="80467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Pick one place in Florida and write 3-4 sentences that include: (1) its approximate latitude and longitude, (2) how far it is from another place using the scale, and (3) at least one symbol from the legend that helps describe it.</a:t>
            </a:r>
            <a:endParaRPr lang="en-US" sz="1200" dirty="0"/>
          </a:p>
        </p:txBody>
      </p:sp>
      <p:sp>
        <p:nvSpPr>
          <p:cNvPr id="21" name="Text 1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457200"/>
            <a:ext cx="8046720" cy="292608"/>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THE MAP ROOM IS OPEN</a:t>
            </a:r>
            <a:endParaRPr lang="en-US" sz="1000" dirty="0"/>
          </a:p>
        </p:txBody>
      </p:sp>
      <p:sp>
        <p:nvSpPr>
          <p:cNvPr id="6" name="Text 3"/>
          <p:cNvSpPr/>
          <p:nvPr/>
        </p:nvSpPr>
        <p:spPr>
          <a:xfrm>
            <a:off x="548640" y="777240"/>
            <a:ext cx="8046720" cy="13716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Florida Geography</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Layer is Fully Online</a:t>
            </a:r>
            <a:endParaRPr lang="en-US" sz="3600" dirty="0"/>
          </a:p>
        </p:txBody>
      </p:sp>
      <p:sp>
        <p:nvSpPr>
          <p:cNvPr id="7" name="Shape 4"/>
          <p:cNvSpPr/>
          <p:nvPr/>
        </p:nvSpPr>
        <p:spPr>
          <a:xfrm>
            <a:off x="548640" y="2212848"/>
            <a:ext cx="3657600" cy="36576"/>
          </a:xfrm>
          <a:prstGeom prst="rect">
            <a:avLst/>
          </a:prstGeom>
          <a:solidFill>
            <a:srgbClr val="D4943A"/>
          </a:solidFill>
          <a:ln w="12700">
            <a:solidFill>
              <a:srgbClr val="D4943A"/>
            </a:solidFill>
            <a:prstDash val="solid"/>
          </a:ln>
        </p:spPr>
      </p:sp>
      <p:sp>
        <p:nvSpPr>
          <p:cNvPr id="8" name="Text 5"/>
          <p:cNvSpPr/>
          <p:nvPr/>
        </p:nvSpPr>
        <p:spPr>
          <a:xfrm>
            <a:off x="548640" y="2331720"/>
            <a:ext cx="8046720" cy="8686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Map tools help readers locate places, measure distance, understand symbols, and explain Florida geography. The Map Room opens. You used all four tools today.</a:t>
            </a:r>
            <a:endParaRPr lang="en-US" sz="1500" dirty="0"/>
          </a:p>
        </p:txBody>
      </p:sp>
      <p:sp>
        <p:nvSpPr>
          <p:cNvPr id="9" name="Shape 6"/>
          <p:cNvSpPr/>
          <p:nvPr/>
        </p:nvSpPr>
        <p:spPr>
          <a:xfrm>
            <a:off x="548640" y="3310128"/>
            <a:ext cx="8046720" cy="1463040"/>
          </a:xfrm>
          <a:prstGeom prst="roundRect">
            <a:avLst>
              <a:gd name="adj" fmla="val 7500"/>
            </a:avLst>
          </a:prstGeom>
          <a:solidFill>
            <a:srgbClr val="1A2D5A"/>
          </a:solidFill>
          <a:ln w="19050">
            <a:solidFill>
              <a:srgbClr val="55C8E8"/>
            </a:solidFill>
            <a:prstDash val="solid"/>
          </a:ln>
        </p:spPr>
      </p:sp>
      <p:sp>
        <p:nvSpPr>
          <p:cNvPr id="10" name="Text 7"/>
          <p:cNvSpPr/>
          <p:nvPr/>
        </p:nvSpPr>
        <p:spPr>
          <a:xfrm>
            <a:off x="731520" y="3401568"/>
            <a:ext cx="7680960" cy="256032"/>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1" name="Text 8"/>
          <p:cNvSpPr/>
          <p:nvPr/>
        </p:nvSpPr>
        <p:spPr>
          <a:xfrm>
            <a:off x="731520" y="3694176"/>
            <a:ext cx="7680960" cy="91440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Lesson 4.03.01 — The people who walked Florida thousands of years before any of those maps existed: The First Peoples. We're opening a new file — and the evidence looks very different from a geography map.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2026-07-13T20:35:34Z</dcterms:created>
  <dcterms:modified xsi:type="dcterms:W3CDTF">2026-07-13T20:35:34Z</dcterms:modified>
</cp:coreProperties>
</file>