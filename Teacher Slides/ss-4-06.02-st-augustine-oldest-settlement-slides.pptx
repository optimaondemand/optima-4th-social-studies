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or harbor view of St. Augustine, Florida — Castillo de San Marcos on the shore, Spanish-colonial architecture, 1565 founding era mood, warm gold sunrise light.Title slide. Open: 'Canvas is showing me a walled city — St. Augustine — but it has grayed out why it matters. Help me prove why this settlement is a big deal, and maybe the door opens.' Introduce the guiding question. Under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Florida Files unlock. Read Ms. Rivera's message aloud. Ask: 'What do you think makes a settlement actually STAY?' Let 2-3 students respond in chat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 Box. Show the image silently for 30 seconds. Students observe the date and place. Ask: 'What do you notice? What might Spain think about this?' Do NOT explain yet. Let them type in chat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discussion. Call on 3-4 students. Push for 'because' clauses. Don't confirm answers yet -- build suspense toward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Study. Show the image. Walk through the Evaluate the Source panel together. Ask: 'This was made by a Spanish artist -- what does that mean for what we can trust?' Emphasize the missing Timucua 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coquina walls of Castillo de San Marcos in St. Augustine, FL -- dramatic angle, warm afternoon light, ancient stone texture.Key concept reveal. Read each event. Emphasize: St. Augustine was a CHAIN, not a random arrival. Stress: Menendez founded it on Timucua land. That matters. End with the retrieval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Multi-Source Compare. Show both images side by side. Walk through: What does each source show? Whose perspective is represented? Which is more complete? Push students to defend their choice with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golden-hour view of the Castillo de San Marcos at sunset -- coquina stone walls, St. Augustine harbor in background. Quiet strength and endurance. Mood: reflective, solemn.Virtue Spotlight: Courage. Read the text. Ask: 'Who showed courage in this story -- and what did it cost them?' Note that courage doesn't always mean winning. Include the Timucua perspective. Under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Models. Read the assignment question exactly as written. Think aloud: start with years, place each event. The key move is anchoring to dates. Students watch and listen -- no typing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 Students choose their own cause-effect pair. Push them past weak answers: 'St. Augustine was founded because Menendez arrived' -- what caused Menendez to arrive? Accept multiple valid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Critique. The sample response has a claim but no specific evidence. Students should notice: 'the French' is vague (Fort Caroline? 1564?), and the Timucua people are completely absent. Push for specific names and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Tricky One. Genuinely ambiguous -- there is no single 'correct' tone. Push students to defend their word choices. The pattern: naming who was already here is a historian's discipline-wide habit, not just a Florida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Read each question aloud. Remind students: use sequence words (first, then, after that) and cause-effect frames (because, led to, as a result). The Timucua must be named.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Night view of St. Augustine city gate illuminated against dark sky -- oldest city gate in the US, warm gold light, quiet dignity. Mood: file unlocked, mission complete.Closing. Celebrate the team. Restate: St. Augustine 1565, Pedro Menendez de Aviles, on Timucua land. Oldest continuously occupied European-founded settlement in the US -- older than Jamestown (1607), older than Plymouth (1620). Tease 4.06.03. Under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3108960"/>
            <a:ext cx="9144000" cy="2034540"/>
          </a:xfrm>
          <a:prstGeom prst="rect">
            <a:avLst/>
          </a:prstGeom>
          <a:solidFill>
            <a:srgbClr val="0E1C42">
              <a:alpha val="80000"/>
            </a:srgbClr>
          </a:solidFill>
          <a:ln/>
        </p:spPr>
      </p:sp>
      <p:sp>
        <p:nvSpPr>
          <p:cNvPr id="6" name="Text 3"/>
          <p:cNvSpPr/>
          <p:nvPr/>
        </p:nvSpPr>
        <p:spPr>
          <a:xfrm>
            <a:off x="365760" y="256032"/>
            <a:ext cx="8412480" cy="292608"/>
          </a:xfrm>
          <a:prstGeom prst="rect">
            <a:avLst/>
          </a:prstGeom>
          <a:noFill/>
          <a:ln/>
        </p:spPr>
        <p:txBody>
          <a:bodyPr wrap="square"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FLORIDA FILES: ESCAPE FROM CANVAS</a:t>
            </a:r>
            <a:endParaRPr lang="en-US" sz="1000" dirty="0"/>
          </a:p>
        </p:txBody>
      </p:sp>
      <p:sp>
        <p:nvSpPr>
          <p:cNvPr id="7" name="Text 4"/>
          <p:cNvSpPr/>
          <p:nvPr/>
        </p:nvSpPr>
        <p:spPr>
          <a:xfrm>
            <a:off x="365760" y="621792"/>
            <a:ext cx="8412480" cy="621792"/>
          </a:xfrm>
          <a:prstGeom prst="rect">
            <a:avLst/>
          </a:prstGeom>
          <a:noFill/>
          <a:ln/>
        </p:spPr>
        <p:txBody>
          <a:bodyPr wrap="square"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St. Augustine:</a:t>
            </a:r>
            <a:endParaRPr lang="en-US" sz="3800" dirty="0"/>
          </a:p>
        </p:txBody>
      </p:sp>
      <p:sp>
        <p:nvSpPr>
          <p:cNvPr id="8" name="Text 5"/>
          <p:cNvSpPr/>
          <p:nvPr/>
        </p:nvSpPr>
        <p:spPr>
          <a:xfrm>
            <a:off x="365760" y="1261872"/>
            <a:ext cx="8412480" cy="475488"/>
          </a:xfrm>
          <a:prstGeom prst="rect">
            <a:avLst/>
          </a:prstGeom>
          <a:noFill/>
          <a:ln/>
        </p:spPr>
        <p:txBody>
          <a:bodyPr wrap="square" rtlCol="0" anchor="ctr"/>
          <a:lstStyle/>
          <a:p>
            <a:pPr algn="l" indent="0" marL="0">
              <a:buNone/>
            </a:pPr>
            <a:r>
              <a:rPr lang="en-US" sz="2800" dirty="0">
                <a:solidFill>
                  <a:srgbClr val="D4943A"/>
                </a:solidFill>
                <a:latin typeface="Cambria" pitchFamily="34" charset="0"/>
                <a:ea typeface="Cambria" pitchFamily="34" charset="-122"/>
                <a:cs typeface="Cambria" pitchFamily="34" charset="-120"/>
              </a:rPr>
              <a:t>Oldest Permanent Settlement</a:t>
            </a:r>
            <a:endParaRPr lang="en-US" sz="2800" dirty="0"/>
          </a:p>
        </p:txBody>
      </p:sp>
      <p:sp>
        <p:nvSpPr>
          <p:cNvPr id="9" name="Text 6"/>
          <p:cNvSpPr/>
          <p:nvPr/>
        </p:nvSpPr>
        <p:spPr>
          <a:xfrm>
            <a:off x="365760" y="1828800"/>
            <a:ext cx="8412480" cy="274320"/>
          </a:xfrm>
          <a:prstGeom prst="rect">
            <a:avLst/>
          </a:prstGeom>
          <a:noFill/>
          <a:ln/>
        </p:spPr>
        <p:txBody>
          <a:bodyPr wrap="square" rtlCol="0" anchor="ctr"/>
          <a:lstStyle/>
          <a:p>
            <a:pPr algn="l" indent="0" marL="0">
              <a:buNone/>
            </a:pPr>
            <a:r>
              <a:rPr lang="en-US" sz="1200" dirty="0">
                <a:solidFill>
                  <a:srgbClr val="B0C0E0"/>
                </a:solidFill>
                <a:latin typeface="Calibri" pitchFamily="34" charset="0"/>
                <a:ea typeface="Calibri" pitchFamily="34" charset="-122"/>
                <a:cs typeface="Calibri" pitchFamily="34" charset="-120"/>
              </a:rPr>
              <a:t>Lesson 4.06.02  |  Florida History Team  |  Grade 4</a:t>
            </a:r>
            <a:endParaRPr lang="en-US" sz="1200" dirty="0"/>
          </a:p>
        </p:txBody>
      </p:sp>
      <p:sp>
        <p:nvSpPr>
          <p:cNvPr id="10" name="Shape 7"/>
          <p:cNvSpPr/>
          <p:nvPr/>
        </p:nvSpPr>
        <p:spPr>
          <a:xfrm>
            <a:off x="365760" y="2212848"/>
            <a:ext cx="3474720" cy="0"/>
          </a:xfrm>
          <a:prstGeom prst="line">
            <a:avLst/>
          </a:prstGeom>
          <a:noFill/>
          <a:ln w="25400">
            <a:solidFill>
              <a:srgbClr val="D4943A"/>
            </a:solidFill>
            <a:prstDash val="solid"/>
          </a:ln>
        </p:spPr>
      </p:sp>
      <p:sp>
        <p:nvSpPr>
          <p:cNvPr id="11" name="Text 8"/>
          <p:cNvSpPr/>
          <p:nvPr/>
        </p:nvSpPr>
        <p:spPr>
          <a:xfrm>
            <a:off x="365760" y="3246120"/>
            <a:ext cx="8412480" cy="777240"/>
          </a:xfrm>
          <a:prstGeom prst="rect">
            <a:avLst/>
          </a:prstGeom>
          <a:noFill/>
          <a:ln/>
        </p:spPr>
        <p:txBody>
          <a:bodyPr wrap="square" rtlCol="0" anchor="t"/>
          <a:lstStyle/>
          <a:p>
            <a:pPr algn="l" indent="0" marL="0">
              <a:buNone/>
            </a:pPr>
            <a:r>
              <a:rPr lang="en-US" sz="1400" i="1" dirty="0">
                <a:solidFill>
                  <a:srgbClr val="E8EEF8"/>
                </a:solidFill>
                <a:latin typeface="Calibri" pitchFamily="34" charset="0"/>
                <a:ea typeface="Calibri" pitchFamily="34" charset="-122"/>
                <a:cs typeface="Calibri" pitchFamily="34" charset="-120"/>
              </a:rPr>
              <a:t>Guiding Question: How did St. Augustine become the first European settlement in Florida that stayed — and what events caused or followed from that?</a:t>
            </a:r>
            <a:endParaRPr lang="en-US" sz="1400" dirty="0"/>
          </a:p>
        </p:txBody>
      </p:sp>
      <p:sp>
        <p:nvSpPr>
          <p:cNvPr id="12" name="Text 9"/>
          <p:cNvSpPr/>
          <p:nvPr/>
        </p:nvSpPr>
        <p:spPr>
          <a:xfrm>
            <a:off x="365760" y="4773168"/>
            <a:ext cx="8412480" cy="201168"/>
          </a:xfrm>
          <a:prstGeom prst="rect">
            <a:avLst/>
          </a:prstGeom>
          <a:noFill/>
          <a:ln/>
        </p:spPr>
        <p:txBody>
          <a:bodyPr wrap="square" rtlCol="0" anchor="ctr"/>
          <a:lstStyle/>
          <a:p>
            <a:pPr algn="l" indent="0" marL="0">
              <a:buNone/>
            </a:pPr>
            <a:r>
              <a:rPr lang="en-US" sz="900" dirty="0">
                <a:solidFill>
                  <a:srgbClr val="7A88A8"/>
                </a:solidFill>
                <a:latin typeface="Calibri" pitchFamily="34" charset="0"/>
                <a:ea typeface="Calibri" pitchFamily="34" charset="-122"/>
                <a:cs typeface="Calibri" pitchFamily="34" charset="-120"/>
              </a:rPr>
              <a:t>SS.4.A.3.2 · SS.4.A.3.3 · SS.4.A.3.4 · SS.4.A.3.6 · SS.4.A.9.1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320040" y="256032"/>
            <a:ext cx="8503920" cy="960120"/>
          </a:xfrm>
          <a:prstGeom prst="roundRect">
            <a:avLst>
              <a:gd name="adj" fmla="val 11429"/>
            </a:avLst>
          </a:prstGeom>
          <a:solidFill>
            <a:srgbClr val="0E1C42"/>
          </a:solidFill>
          <a:ln/>
        </p:spPr>
      </p:sp>
      <p:sp>
        <p:nvSpPr>
          <p:cNvPr id="4" name="Text 2"/>
          <p:cNvSpPr/>
          <p:nvPr/>
        </p:nvSpPr>
        <p:spPr>
          <a:xfrm>
            <a:off x="502920" y="292608"/>
            <a:ext cx="8138160" cy="320040"/>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FLORIDA FILES: MISSION UNLOCKED</a:t>
            </a:r>
            <a:endParaRPr lang="en-US" sz="1000" dirty="0"/>
          </a:p>
        </p:txBody>
      </p:sp>
      <p:sp>
        <p:nvSpPr>
          <p:cNvPr id="5" name="Text 3"/>
          <p:cNvSpPr/>
          <p:nvPr/>
        </p:nvSpPr>
        <p:spPr>
          <a:xfrm>
            <a:off x="502920" y="612648"/>
            <a:ext cx="8138160" cy="384048"/>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File 4.06.02 — St. Augustine: The Settlement That Stayed</a:t>
            </a:r>
            <a:endParaRPr lang="en-US" sz="1600" dirty="0"/>
          </a:p>
        </p:txBody>
      </p:sp>
      <p:sp>
        <p:nvSpPr>
          <p:cNvPr id="6" name="Shape 4"/>
          <p:cNvSpPr/>
          <p:nvPr/>
        </p:nvSpPr>
        <p:spPr>
          <a:xfrm>
            <a:off x="320040" y="1325880"/>
            <a:ext cx="8503920" cy="2377440"/>
          </a:xfrm>
          <a:prstGeom prst="roundRect">
            <a:avLst>
              <a:gd name="adj" fmla="val 5769"/>
            </a:avLst>
          </a:prstGeom>
          <a:solidFill>
            <a:srgbClr val="FFFFFF"/>
          </a:solidFill>
          <a:ln w="25400">
            <a:solidFill>
              <a:srgbClr val="D4943A"/>
            </a:solidFill>
            <a:prstDash val="solid"/>
          </a:ln>
        </p:spPr>
      </p:sp>
      <p:sp>
        <p:nvSpPr>
          <p:cNvPr id="7" name="Text 5"/>
          <p:cNvSpPr/>
          <p:nvPr/>
        </p:nvSpPr>
        <p:spPr>
          <a:xfrm>
            <a:off x="502920" y="1417320"/>
            <a:ext cx="3657600" cy="256032"/>
          </a:xfrm>
          <a:prstGeom prst="rect">
            <a:avLst/>
          </a:prstGeom>
          <a:noFill/>
          <a:ln/>
        </p:spPr>
        <p:txBody>
          <a:bodyPr wrap="square" rtlCol="0" anchor="ctr"/>
          <a:lstStyle/>
          <a:p>
            <a:pPr indent="0" marL="0">
              <a:buNone/>
            </a:pPr>
            <a:r>
              <a:rPr lang="en-US" sz="1000" b="1" spc="120" kern="0" dirty="0">
                <a:solidFill>
                  <a:srgbClr val="D4943A"/>
                </a:solidFill>
                <a:latin typeface="Calibri" pitchFamily="34" charset="0"/>
                <a:ea typeface="Calibri" pitchFamily="34" charset="-122"/>
                <a:cs typeface="Calibri" pitchFamily="34" charset="-120"/>
              </a:rPr>
              <a:t>Message from Ms. Rivera</a:t>
            </a:r>
            <a:endParaRPr lang="en-US" sz="1000" dirty="0"/>
          </a:p>
        </p:txBody>
      </p:sp>
      <p:sp>
        <p:nvSpPr>
          <p:cNvPr id="8" name="Text 6"/>
          <p:cNvSpPr/>
          <p:nvPr/>
        </p:nvSpPr>
        <p:spPr>
          <a:xfrm>
            <a:off x="502920" y="1691640"/>
            <a:ext cx="8138160" cy="1783080"/>
          </a:xfrm>
          <a:prstGeom prst="rect">
            <a:avLst/>
          </a:prstGeom>
          <a:noFill/>
          <a:ln/>
        </p:spPr>
        <p:txBody>
          <a:bodyPr wrap="square"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"Canvas is showing me a walled city — St. Augustine — but it has grayed out why it matters, like the system forgot. I keep hoping one of these doors is the way out. Help me prove why this settlement is a big deal, and maybe it opens."</a:t>
            </a:r>
            <a:endParaRPr lang="en-US" sz="1400" dirty="0"/>
          </a:p>
          <a:p>
            <a:pPr indent="0" marL="0">
              <a:buNone/>
            </a:pPr>
            <a:r>
              <a:rPr lang="en-US" sz="1400" i="1" dirty="0">
                <a:solidFill>
                  <a:srgbClr val="0E1C42"/>
                </a:solidFill>
                <a:latin typeface="Cambria" pitchFamily="34" charset="0"/>
                <a:ea typeface="Cambria" pitchFamily="34" charset="-122"/>
                <a:cs typeface="Cambria" pitchFamily="34" charset="-120"/>
              </a:rPr>
              <a:t>— Ms. Rivera, working down the hallway</a:t>
            </a:r>
            <a:endParaRPr lang="en-US" sz="1400" dirty="0"/>
          </a:p>
        </p:txBody>
      </p:sp>
      <p:sp>
        <p:nvSpPr>
          <p:cNvPr id="9" name="Shape 7"/>
          <p:cNvSpPr/>
          <p:nvPr/>
        </p:nvSpPr>
        <p:spPr>
          <a:xfrm>
            <a:off x="320040" y="3822192"/>
            <a:ext cx="8503920" cy="1005840"/>
          </a:xfrm>
          <a:prstGeom prst="roundRect">
            <a:avLst>
              <a:gd name="adj" fmla="val 10909"/>
            </a:avLst>
          </a:prstGeom>
          <a:solidFill>
            <a:srgbClr val="1A2D5A"/>
          </a:solidFill>
          <a:ln/>
        </p:spPr>
      </p:sp>
      <p:sp>
        <p:nvSpPr>
          <p:cNvPr id="10" name="Text 8"/>
          <p:cNvSpPr/>
          <p:nvPr/>
        </p:nvSpPr>
        <p:spPr>
          <a:xfrm>
            <a:off x="502920" y="3877056"/>
            <a:ext cx="2743200" cy="256032"/>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YOUR MISSION TODAY</a:t>
            </a:r>
            <a:endParaRPr lang="en-US" sz="900" dirty="0"/>
          </a:p>
        </p:txBody>
      </p:sp>
      <p:sp>
        <p:nvSpPr>
          <p:cNvPr id="11" name="Text 9"/>
          <p:cNvSpPr/>
          <p:nvPr/>
        </p:nvSpPr>
        <p:spPr>
          <a:xfrm>
            <a:off x="502920" y="4133088"/>
            <a:ext cx="8138160" cy="566928"/>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Sequence 5 events from 1565. Trace one cause-and-effect link. Name the people whose land it was. Unlock the file.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37160"/>
            <a:ext cx="5486400" cy="27432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BOX -- THE FIRST MOVE</a:t>
            </a:r>
            <a:endParaRPr lang="en-US" sz="900" dirty="0"/>
          </a:p>
        </p:txBody>
      </p:sp>
      <p:sp>
        <p:nvSpPr>
          <p:cNvPr id="4" name="Text 2"/>
          <p:cNvSpPr/>
          <p:nvPr/>
        </p:nvSpPr>
        <p:spPr>
          <a:xfrm>
            <a:off x="320040" y="438912"/>
            <a:ext cx="621792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do you notice about this place and this date?</a:t>
            </a:r>
            <a:endParaRPr lang="en-US" sz="2000" dirty="0"/>
          </a:p>
        </p:txBody>
      </p:sp>
      <p:sp>
        <p:nvSpPr>
          <p:cNvPr id="5" name="Shape 3"/>
          <p:cNvSpPr/>
          <p:nvPr/>
        </p:nvSpPr>
        <p:spPr>
          <a:xfrm>
            <a:off x="320040" y="932688"/>
            <a:ext cx="5029200" cy="3154680"/>
          </a:xfrm>
          <a:prstGeom prst="roundRect">
            <a:avLst>
              <a:gd name="adj" fmla="val 3478"/>
            </a:avLst>
          </a:prstGeom>
          <a:solidFill>
            <a:srgbClr val="E2E8F4"/>
          </a:solidFill>
          <a:ln w="19050">
            <a:solidFill>
              <a:srgbClr val="B0B8CC"/>
            </a:solidFill>
            <a:prstDash val="dash"/>
          </a:ln>
        </p:spPr>
      </p:sp>
      <p:sp>
        <p:nvSpPr>
          <p:cNvPr id="6" name="Text 4"/>
          <p:cNvSpPr/>
          <p:nvPr/>
        </p:nvSpPr>
        <p:spPr>
          <a:xfrm>
            <a:off x="320040" y="932688"/>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207008"/>
            <a:ext cx="4754880" cy="2788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or illustration of Fort Caroline (1564) — French Huguenot settlement near Jacksonville. Wooden fort, St. Johns River, palmetto trees. Source: Florida Memory / LOC.</a:t>
            </a:r>
            <a:endParaRPr lang="en-US" sz="1100" dirty="0"/>
          </a:p>
        </p:txBody>
      </p:sp>
      <p:sp>
        <p:nvSpPr>
          <p:cNvPr id="8" name="Shape 6"/>
          <p:cNvSpPr/>
          <p:nvPr/>
        </p:nvSpPr>
        <p:spPr>
          <a:xfrm>
            <a:off x="5532120" y="932688"/>
            <a:ext cx="3291840" cy="1389888"/>
          </a:xfrm>
          <a:prstGeom prst="roundRect">
            <a:avLst>
              <a:gd name="adj" fmla="val 7895"/>
            </a:avLst>
          </a:prstGeom>
          <a:solidFill>
            <a:srgbClr val="1A2D5A"/>
          </a:solidFill>
          <a:ln/>
        </p:spPr>
      </p:sp>
      <p:sp>
        <p:nvSpPr>
          <p:cNvPr id="9" name="Text 7"/>
          <p:cNvSpPr/>
          <p:nvPr/>
        </p:nvSpPr>
        <p:spPr>
          <a:xfrm>
            <a:off x="5623560" y="1005840"/>
            <a:ext cx="3108960" cy="457200"/>
          </a:xfrm>
          <a:prstGeom prst="rect">
            <a:avLst/>
          </a:prstGeom>
          <a:noFill/>
          <a:ln/>
        </p:spPr>
        <p:txBody>
          <a:bodyPr wrap="square"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1564</a:t>
            </a:r>
            <a:endParaRPr lang="en-US" sz="3600" dirty="0"/>
          </a:p>
        </p:txBody>
      </p:sp>
      <p:sp>
        <p:nvSpPr>
          <p:cNvPr id="10" name="Text 8"/>
          <p:cNvSpPr/>
          <p:nvPr/>
        </p:nvSpPr>
        <p:spPr>
          <a:xfrm>
            <a:off x="5623560" y="1481328"/>
            <a:ext cx="3108960" cy="713232"/>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French settlers build Fort Caroline near the St. Johns River — in land Spain claims as its own.</a:t>
            </a:r>
            <a:endParaRPr lang="en-US" sz="1100" dirty="0"/>
          </a:p>
        </p:txBody>
      </p:sp>
      <p:sp>
        <p:nvSpPr>
          <p:cNvPr id="11" name="Shape 9"/>
          <p:cNvSpPr/>
          <p:nvPr/>
        </p:nvSpPr>
        <p:spPr>
          <a:xfrm>
            <a:off x="5532120" y="2450592"/>
            <a:ext cx="3291840" cy="1463040"/>
          </a:xfrm>
          <a:prstGeom prst="roundRect">
            <a:avLst>
              <a:gd name="adj" fmla="val 7500"/>
            </a:avLst>
          </a:prstGeom>
          <a:solidFill>
            <a:srgbClr val="FFF3DC"/>
          </a:solidFill>
          <a:ln w="19050">
            <a:solidFill>
              <a:srgbClr val="F5E6C8"/>
            </a:solidFill>
            <a:prstDash val="solid"/>
          </a:ln>
        </p:spPr>
      </p:sp>
      <p:sp>
        <p:nvSpPr>
          <p:cNvPr id="12" name="Text 10"/>
          <p:cNvSpPr/>
          <p:nvPr/>
        </p:nvSpPr>
        <p:spPr>
          <a:xfrm>
            <a:off x="5669280" y="2505456"/>
            <a:ext cx="3017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669280" y="2706624"/>
            <a:ext cx="301752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which makes me think..."</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"Spain might respond because..."</a:t>
            </a:r>
            <a:endParaRPr lang="en-US" sz="1200" dirty="0"/>
          </a:p>
        </p:txBody>
      </p:sp>
      <p:sp>
        <p:nvSpPr>
          <p:cNvPr id="14" name="Text 12"/>
          <p:cNvSpPr/>
          <p:nvPr/>
        </p:nvSpPr>
        <p:spPr>
          <a:xfrm>
            <a:off x="320040" y="4187952"/>
            <a:ext cx="5029200" cy="274320"/>
          </a:xfrm>
          <a:prstGeom prst="rect">
            <a:avLst/>
          </a:prstGeom>
          <a:noFill/>
          <a:ln/>
        </p:spPr>
        <p:txBody>
          <a:bodyPr wrap="square"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OBSERVE 30 SECONDS -- then type in chat.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64592"/>
            <a:ext cx="8503920" cy="475488"/>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Why did Spain need to act -- and fast?</a:t>
            </a:r>
            <a:endParaRPr lang="en-US" sz="2400" dirty="0"/>
          </a:p>
        </p:txBody>
      </p:sp>
      <p:sp>
        <p:nvSpPr>
          <p:cNvPr id="4" name="Shape 2"/>
          <p:cNvSpPr/>
          <p:nvPr/>
        </p:nvSpPr>
        <p:spPr>
          <a:xfrm>
            <a:off x="320040" y="749808"/>
            <a:ext cx="5303520" cy="2606040"/>
          </a:xfrm>
          <a:prstGeom prst="roundRect">
            <a:avLst>
              <a:gd name="adj" fmla="val 5263"/>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502920" y="841248"/>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502920" y="1097280"/>
            <a:ext cx="4937760" cy="2167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Spain see Fort Caroline as a threat -- even though it was just a small wooden fort?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were King Philip II in 1565, what would you order -- and why? What evidence supports your decision?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argue Spain had no right to send soldiers to Florida? What would they say, and how would you respond?</a:t>
            </a:r>
            <a:endParaRPr lang="en-US" sz="1100" dirty="0"/>
          </a:p>
        </p:txBody>
      </p:sp>
      <p:sp>
        <p:nvSpPr>
          <p:cNvPr id="7" name="Shape 5"/>
          <p:cNvSpPr/>
          <p:nvPr/>
        </p:nvSpPr>
        <p:spPr>
          <a:xfrm>
            <a:off x="5760720" y="749808"/>
            <a:ext cx="3063240" cy="1828800"/>
          </a:xfrm>
          <a:prstGeom prst="roundRect">
            <a:avLst>
              <a:gd name="adj" fmla="val 6000"/>
            </a:avLst>
          </a:prstGeom>
          <a:solidFill>
            <a:srgbClr val="FFF3DC"/>
          </a:solidFill>
          <a:ln w="19050">
            <a:solidFill>
              <a:srgbClr val="F5E6C8"/>
            </a:solidFill>
            <a:prstDash val="solid"/>
          </a:ln>
        </p:spPr>
      </p:sp>
      <p:sp>
        <p:nvSpPr>
          <p:cNvPr id="8" name="Text 6"/>
          <p:cNvSpPr/>
          <p:nvPr/>
        </p:nvSpPr>
        <p:spPr>
          <a:xfrm>
            <a:off x="5897880" y="804672"/>
            <a:ext cx="2788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5897880" y="1005840"/>
            <a:ext cx="278892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"Spain saw Fort Caroline as a threat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claim is: King Philip II ordered Menendez because... The evidence is..."</a:t>
            </a:r>
            <a:endParaRPr lang="en-US" sz="1200" dirty="0"/>
          </a:p>
        </p:txBody>
      </p:sp>
      <p:sp>
        <p:nvSpPr>
          <p:cNvPr id="10" name="Shape 8"/>
          <p:cNvSpPr/>
          <p:nvPr/>
        </p:nvSpPr>
        <p:spPr>
          <a:xfrm>
            <a:off x="320040" y="3474720"/>
            <a:ext cx="8503920" cy="1371600"/>
          </a:xfrm>
          <a:prstGeom prst="roundRect">
            <a:avLst>
              <a:gd name="adj" fmla="val 8000"/>
            </a:avLst>
          </a:prstGeom>
          <a:solidFill>
            <a:srgbClr val="FFFFFF"/>
          </a:solidFill>
          <a:ln w="12700">
            <a:solidFill>
              <a:srgbClr val="B0B8CC"/>
            </a:solidFill>
            <a:prstDash val="solid"/>
          </a:ln>
        </p:spPr>
      </p:sp>
      <p:sp>
        <p:nvSpPr>
          <p:cNvPr id="11" name="Text 9"/>
          <p:cNvSpPr/>
          <p:nvPr/>
        </p:nvSpPr>
        <p:spPr>
          <a:xfrm>
            <a:off x="502920" y="3547872"/>
            <a:ext cx="1828800" cy="228600"/>
          </a:xfrm>
          <a:prstGeom prst="rect">
            <a:avLst/>
          </a:prstGeom>
          <a:noFill/>
          <a:ln/>
        </p:spPr>
        <p:txBody>
          <a:bodyPr wrap="square"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TEACHER MOVE</a:t>
            </a:r>
            <a:endParaRPr lang="en-US" sz="900" dirty="0"/>
          </a:p>
        </p:txBody>
      </p:sp>
      <p:sp>
        <p:nvSpPr>
          <p:cNvPr id="12" name="Text 10"/>
          <p:cNvSpPr/>
          <p:nvPr/>
        </p:nvSpPr>
        <p:spPr>
          <a:xfrm>
            <a:off x="502920" y="3776472"/>
            <a:ext cx="7955280" cy="914400"/>
          </a:xfrm>
          <a:prstGeom prst="rect">
            <a:avLst/>
          </a:prstGeom>
          <a:noFill/>
          <a:ln/>
        </p:spPr>
        <p:txBody>
          <a:bodyPr wrap="square" rtlCol="0" anchor="t"/>
          <a:lstStyle/>
          <a:p>
            <a:pPr indent="0" marL="0">
              <a:buNone/>
            </a:pPr>
            <a:r>
              <a:rPr lang="en-US" sz="1200" i="1" dirty="0">
                <a:solidFill>
                  <a:srgbClr val="0E1C42"/>
                </a:solidFill>
                <a:latin typeface="Calibri" pitchFamily="34" charset="0"/>
                <a:ea typeface="Calibri" pitchFamily="34" charset="-122"/>
                <a:cs typeface="Calibri" pitchFamily="34" charset="-120"/>
              </a:rPr>
              <a:t>Push past 'Spain was angry.' Ask: What specific evidence supports that claim? Hold space for disagreement -- don't resolve yet.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37160"/>
            <a:ext cx="8503920" cy="27432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SOURCE STUDY -- Spanish Account of the Founding</a:t>
            </a:r>
            <a:endParaRPr lang="en-US" sz="900" dirty="0"/>
          </a:p>
        </p:txBody>
      </p:sp>
      <p:sp>
        <p:nvSpPr>
          <p:cNvPr id="4" name="Text 2"/>
          <p:cNvSpPr/>
          <p:nvPr/>
        </p:nvSpPr>
        <p:spPr>
          <a:xfrm>
            <a:off x="320040" y="457200"/>
            <a:ext cx="850392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A Historical Engraving of St. Augustine, ~1565-1600s</a:t>
            </a:r>
            <a:endParaRPr lang="en-US" sz="2000" dirty="0"/>
          </a:p>
        </p:txBody>
      </p:sp>
      <p:sp>
        <p:nvSpPr>
          <p:cNvPr id="5" name="Shape 3"/>
          <p:cNvSpPr/>
          <p:nvPr/>
        </p:nvSpPr>
        <p:spPr>
          <a:xfrm>
            <a:off x="320040" y="932688"/>
            <a:ext cx="4663440" cy="329184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320040" y="932688"/>
            <a:ext cx="46634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207008"/>
            <a:ext cx="438912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engraving or painting of St. Augustine harbor, 1565-1600s. Ships, small settlement, palmettos, Timucua people or Spanish soldiers. Source: Florida Memory search 'St. Augustine 1565' or LOC / NPS.</a:t>
            </a:r>
            <a:endParaRPr lang="en-US" sz="1100" dirty="0"/>
          </a:p>
        </p:txBody>
      </p:sp>
      <p:sp>
        <p:nvSpPr>
          <p:cNvPr id="8" name="Shape 6"/>
          <p:cNvSpPr/>
          <p:nvPr/>
        </p:nvSpPr>
        <p:spPr>
          <a:xfrm>
            <a:off x="5120640" y="932688"/>
            <a:ext cx="3703320" cy="329184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303520" y="1024128"/>
            <a:ext cx="33375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0" name="Text 8"/>
          <p:cNvSpPr/>
          <p:nvPr/>
        </p:nvSpPr>
        <p:spPr>
          <a:xfrm>
            <a:off x="5303520" y="1280160"/>
            <a:ext cx="3337560" cy="2852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this image, and why? Is this the Spanish perspective, a neutral view, or something else?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MISSING from this image? Who do you NOT see -- and why might they have been left 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we trust this source to tell the whole story? What would make you more or less confident?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92608"/>
            <a:ext cx="8229600" cy="274320"/>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YOU DISCOVERED IT:</a:t>
            </a:r>
            <a:endParaRPr lang="en-US" sz="1000" dirty="0"/>
          </a:p>
        </p:txBody>
      </p:sp>
      <p:sp>
        <p:nvSpPr>
          <p:cNvPr id="6" name="Text 3"/>
          <p:cNvSpPr/>
          <p:nvPr/>
        </p:nvSpPr>
        <p:spPr>
          <a:xfrm>
            <a:off x="457200" y="594360"/>
            <a:ext cx="8229600" cy="5486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Five Events. One Settlement.</a:t>
            </a:r>
            <a:endParaRPr lang="en-US" sz="3400" dirty="0"/>
          </a:p>
        </p:txBody>
      </p:sp>
      <p:sp>
        <p:nvSpPr>
          <p:cNvPr id="7" name="Shape 4"/>
          <p:cNvSpPr/>
          <p:nvPr/>
        </p:nvSpPr>
        <p:spPr>
          <a:xfrm>
            <a:off x="457200" y="1261872"/>
            <a:ext cx="8229600" cy="548640"/>
          </a:xfrm>
          <a:prstGeom prst="roundRect">
            <a:avLst>
              <a:gd name="adj" fmla="val 13333"/>
            </a:avLst>
          </a:prstGeom>
          <a:solidFill>
            <a:srgbClr val="1A2D5A">
              <a:alpha val="80000"/>
            </a:srgbClr>
          </a:solidFill>
          <a:ln/>
        </p:spPr>
      </p:sp>
      <p:sp>
        <p:nvSpPr>
          <p:cNvPr id="8" name="Text 5"/>
          <p:cNvSpPr/>
          <p:nvPr/>
        </p:nvSpPr>
        <p:spPr>
          <a:xfrm>
            <a:off x="548640" y="1353312"/>
            <a:ext cx="365760" cy="347472"/>
          </a:xfrm>
          <a:prstGeom prst="rect">
            <a:avLst/>
          </a:prstGeom>
          <a:noFill/>
          <a:ln/>
        </p:spPr>
        <p:txBody>
          <a:bodyPr wrap="square"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1</a:t>
            </a:r>
            <a:endParaRPr lang="en-US" sz="1600" dirty="0"/>
          </a:p>
        </p:txBody>
      </p:sp>
      <p:sp>
        <p:nvSpPr>
          <p:cNvPr id="9" name="Text 6"/>
          <p:cNvSpPr/>
          <p:nvPr/>
        </p:nvSpPr>
        <p:spPr>
          <a:xfrm>
            <a:off x="1005840" y="1353312"/>
            <a:ext cx="1417320" cy="34747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1564</a:t>
            </a:r>
            <a:endParaRPr lang="en-US" sz="1100" dirty="0"/>
          </a:p>
        </p:txBody>
      </p:sp>
      <p:sp>
        <p:nvSpPr>
          <p:cNvPr id="10" name="Text 7"/>
          <p:cNvSpPr/>
          <p:nvPr/>
        </p:nvSpPr>
        <p:spPr>
          <a:xfrm>
            <a:off x="2514600" y="1353312"/>
            <a:ext cx="59893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French settlers build Fort Caroline -- Spain sees a threat.</a:t>
            </a:r>
            <a:endParaRPr lang="en-US" sz="1200" dirty="0"/>
          </a:p>
        </p:txBody>
      </p:sp>
      <p:sp>
        <p:nvSpPr>
          <p:cNvPr id="11" name="Shape 8"/>
          <p:cNvSpPr/>
          <p:nvPr/>
        </p:nvSpPr>
        <p:spPr>
          <a:xfrm>
            <a:off x="457200" y="1901952"/>
            <a:ext cx="8229600" cy="548640"/>
          </a:xfrm>
          <a:prstGeom prst="roundRect">
            <a:avLst>
              <a:gd name="adj" fmla="val 13333"/>
            </a:avLst>
          </a:prstGeom>
          <a:solidFill>
            <a:srgbClr val="1A2D5A">
              <a:alpha val="80000"/>
            </a:srgbClr>
          </a:solidFill>
          <a:ln/>
        </p:spPr>
      </p:sp>
      <p:sp>
        <p:nvSpPr>
          <p:cNvPr id="12" name="Text 9"/>
          <p:cNvSpPr/>
          <p:nvPr/>
        </p:nvSpPr>
        <p:spPr>
          <a:xfrm>
            <a:off x="548640" y="1993392"/>
            <a:ext cx="365760" cy="347472"/>
          </a:xfrm>
          <a:prstGeom prst="rect">
            <a:avLst/>
          </a:prstGeom>
          <a:noFill/>
          <a:ln/>
        </p:spPr>
        <p:txBody>
          <a:bodyPr wrap="square"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2</a:t>
            </a:r>
            <a:endParaRPr lang="en-US" sz="1600" dirty="0"/>
          </a:p>
        </p:txBody>
      </p:sp>
      <p:sp>
        <p:nvSpPr>
          <p:cNvPr id="13" name="Text 10"/>
          <p:cNvSpPr/>
          <p:nvPr/>
        </p:nvSpPr>
        <p:spPr>
          <a:xfrm>
            <a:off x="1005840" y="1993392"/>
            <a:ext cx="1417320" cy="34747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Summer 1565</a:t>
            </a:r>
            <a:endParaRPr lang="en-US" sz="1100" dirty="0"/>
          </a:p>
        </p:txBody>
      </p:sp>
      <p:sp>
        <p:nvSpPr>
          <p:cNvPr id="14" name="Text 11"/>
          <p:cNvSpPr/>
          <p:nvPr/>
        </p:nvSpPr>
        <p:spPr>
          <a:xfrm>
            <a:off x="2514600" y="1993392"/>
            <a:ext cx="59893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King Philip II orders Pedro Menendez de Aviles to Florida.</a:t>
            </a:r>
            <a:endParaRPr lang="en-US" sz="1200" dirty="0"/>
          </a:p>
        </p:txBody>
      </p:sp>
      <p:sp>
        <p:nvSpPr>
          <p:cNvPr id="15" name="Shape 12"/>
          <p:cNvSpPr/>
          <p:nvPr/>
        </p:nvSpPr>
        <p:spPr>
          <a:xfrm>
            <a:off x="457200" y="2542032"/>
            <a:ext cx="8229600" cy="548640"/>
          </a:xfrm>
          <a:prstGeom prst="roundRect">
            <a:avLst>
              <a:gd name="adj" fmla="val 13333"/>
            </a:avLst>
          </a:prstGeom>
          <a:solidFill>
            <a:srgbClr val="1A2D5A">
              <a:alpha val="80000"/>
            </a:srgbClr>
          </a:solidFill>
          <a:ln/>
        </p:spPr>
      </p:sp>
      <p:sp>
        <p:nvSpPr>
          <p:cNvPr id="16" name="Text 13"/>
          <p:cNvSpPr/>
          <p:nvPr/>
        </p:nvSpPr>
        <p:spPr>
          <a:xfrm>
            <a:off x="548640" y="2633472"/>
            <a:ext cx="365760" cy="347472"/>
          </a:xfrm>
          <a:prstGeom prst="rect">
            <a:avLst/>
          </a:prstGeom>
          <a:noFill/>
          <a:ln/>
        </p:spPr>
        <p:txBody>
          <a:bodyPr wrap="square"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3</a:t>
            </a:r>
            <a:endParaRPr lang="en-US" sz="1600" dirty="0"/>
          </a:p>
        </p:txBody>
      </p:sp>
      <p:sp>
        <p:nvSpPr>
          <p:cNvPr id="17" name="Text 14"/>
          <p:cNvSpPr/>
          <p:nvPr/>
        </p:nvSpPr>
        <p:spPr>
          <a:xfrm>
            <a:off x="1005840" y="2633472"/>
            <a:ext cx="1417320" cy="34747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Sept 8, 1565</a:t>
            </a:r>
            <a:endParaRPr lang="en-US" sz="1100" dirty="0"/>
          </a:p>
        </p:txBody>
      </p:sp>
      <p:sp>
        <p:nvSpPr>
          <p:cNvPr id="18" name="Text 15"/>
          <p:cNvSpPr/>
          <p:nvPr/>
        </p:nvSpPr>
        <p:spPr>
          <a:xfrm>
            <a:off x="2514600" y="2633472"/>
            <a:ext cx="59893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Menendez founds St. Augustine on Timucua land.</a:t>
            </a:r>
            <a:endParaRPr lang="en-US" sz="1200" dirty="0"/>
          </a:p>
        </p:txBody>
      </p:sp>
      <p:sp>
        <p:nvSpPr>
          <p:cNvPr id="19" name="Shape 16"/>
          <p:cNvSpPr/>
          <p:nvPr/>
        </p:nvSpPr>
        <p:spPr>
          <a:xfrm>
            <a:off x="457200" y="3182112"/>
            <a:ext cx="8229600" cy="548640"/>
          </a:xfrm>
          <a:prstGeom prst="roundRect">
            <a:avLst>
              <a:gd name="adj" fmla="val 13333"/>
            </a:avLst>
          </a:prstGeom>
          <a:solidFill>
            <a:srgbClr val="1A2D5A">
              <a:alpha val="80000"/>
            </a:srgbClr>
          </a:solidFill>
          <a:ln/>
        </p:spPr>
      </p:sp>
      <p:sp>
        <p:nvSpPr>
          <p:cNvPr id="20" name="Text 17"/>
          <p:cNvSpPr/>
          <p:nvPr/>
        </p:nvSpPr>
        <p:spPr>
          <a:xfrm>
            <a:off x="548640" y="3273552"/>
            <a:ext cx="365760" cy="347472"/>
          </a:xfrm>
          <a:prstGeom prst="rect">
            <a:avLst/>
          </a:prstGeom>
          <a:noFill/>
          <a:ln/>
        </p:spPr>
        <p:txBody>
          <a:bodyPr wrap="square"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4</a:t>
            </a:r>
            <a:endParaRPr lang="en-US" sz="1600" dirty="0"/>
          </a:p>
        </p:txBody>
      </p:sp>
      <p:sp>
        <p:nvSpPr>
          <p:cNvPr id="21" name="Text 18"/>
          <p:cNvSpPr/>
          <p:nvPr/>
        </p:nvSpPr>
        <p:spPr>
          <a:xfrm>
            <a:off x="1005840" y="3273552"/>
            <a:ext cx="1417320" cy="34747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Late Sept 1565</a:t>
            </a:r>
            <a:endParaRPr lang="en-US" sz="1100" dirty="0"/>
          </a:p>
        </p:txBody>
      </p:sp>
      <p:sp>
        <p:nvSpPr>
          <p:cNvPr id="22" name="Text 19"/>
          <p:cNvSpPr/>
          <p:nvPr/>
        </p:nvSpPr>
        <p:spPr>
          <a:xfrm>
            <a:off x="2514600" y="3273552"/>
            <a:ext cx="59893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Spanish capture Fort Caroline -- France loses Florida.</a:t>
            </a:r>
            <a:endParaRPr lang="en-US" sz="1200" dirty="0"/>
          </a:p>
        </p:txBody>
      </p:sp>
      <p:sp>
        <p:nvSpPr>
          <p:cNvPr id="23" name="Shape 20"/>
          <p:cNvSpPr/>
          <p:nvPr/>
        </p:nvSpPr>
        <p:spPr>
          <a:xfrm>
            <a:off x="457200" y="3822192"/>
            <a:ext cx="8229600" cy="548640"/>
          </a:xfrm>
          <a:prstGeom prst="roundRect">
            <a:avLst>
              <a:gd name="adj" fmla="val 13333"/>
            </a:avLst>
          </a:prstGeom>
          <a:solidFill>
            <a:srgbClr val="1A2D5A">
              <a:alpha val="80000"/>
            </a:srgbClr>
          </a:solidFill>
          <a:ln/>
        </p:spPr>
      </p:sp>
      <p:sp>
        <p:nvSpPr>
          <p:cNvPr id="24" name="Text 21"/>
          <p:cNvSpPr/>
          <p:nvPr/>
        </p:nvSpPr>
        <p:spPr>
          <a:xfrm>
            <a:off x="548640" y="3913632"/>
            <a:ext cx="365760" cy="347472"/>
          </a:xfrm>
          <a:prstGeom prst="rect">
            <a:avLst/>
          </a:prstGeom>
          <a:noFill/>
          <a:ln/>
        </p:spPr>
        <p:txBody>
          <a:bodyPr wrap="square"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5</a:t>
            </a:r>
            <a:endParaRPr lang="en-US" sz="1600" dirty="0"/>
          </a:p>
        </p:txBody>
      </p:sp>
      <p:sp>
        <p:nvSpPr>
          <p:cNvPr id="25" name="Text 22"/>
          <p:cNvSpPr/>
          <p:nvPr/>
        </p:nvSpPr>
        <p:spPr>
          <a:xfrm>
            <a:off x="1005840" y="3913632"/>
            <a:ext cx="1417320" cy="34747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1672+</a:t>
            </a:r>
            <a:endParaRPr lang="en-US" sz="1100" dirty="0"/>
          </a:p>
        </p:txBody>
      </p:sp>
      <p:sp>
        <p:nvSpPr>
          <p:cNvPr id="26" name="Text 23"/>
          <p:cNvSpPr/>
          <p:nvPr/>
        </p:nvSpPr>
        <p:spPr>
          <a:xfrm>
            <a:off x="2514600" y="3913632"/>
            <a:ext cx="598932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Castillo de San Marcos built. St. Augustine survives.</a:t>
            </a:r>
            <a:endParaRPr lang="en-US" sz="1200" dirty="0"/>
          </a:p>
        </p:txBody>
      </p:sp>
      <p:sp>
        <p:nvSpPr>
          <p:cNvPr id="27" name="Shape 24"/>
          <p:cNvSpPr/>
          <p:nvPr/>
        </p:nvSpPr>
        <p:spPr>
          <a:xfrm>
            <a:off x="457200" y="4572000"/>
            <a:ext cx="8229600" cy="347472"/>
          </a:xfrm>
          <a:prstGeom prst="roundRect">
            <a:avLst>
              <a:gd name="adj" fmla="val 21053"/>
            </a:avLst>
          </a:prstGeom>
          <a:solidFill>
            <a:srgbClr val="D4943A">
              <a:alpha val="90000"/>
            </a:srgbClr>
          </a:solidFill>
          <a:ln/>
        </p:spPr>
      </p:sp>
      <p:sp>
        <p:nvSpPr>
          <p:cNvPr id="28" name="Text 25"/>
          <p:cNvSpPr/>
          <p:nvPr/>
        </p:nvSpPr>
        <p:spPr>
          <a:xfrm>
            <a:off x="640080" y="4617720"/>
            <a:ext cx="7863840" cy="237744"/>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RETRIEVAL: Cover your screen. Name all five events in order from memory.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09728"/>
            <a:ext cx="850392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MULTI-SOURCE COMPARE</a:t>
            </a:r>
            <a:endParaRPr lang="en-US" sz="900" dirty="0"/>
          </a:p>
        </p:txBody>
      </p:sp>
      <p:sp>
        <p:nvSpPr>
          <p:cNvPr id="4" name="Text 2"/>
          <p:cNvSpPr/>
          <p:nvPr/>
        </p:nvSpPr>
        <p:spPr>
          <a:xfrm>
            <a:off x="320040" y="384048"/>
            <a:ext cx="850392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Two Views of the Same Moment -- September 1565</a:t>
            </a:r>
            <a:endParaRPr lang="en-US" sz="2000" dirty="0"/>
          </a:p>
        </p:txBody>
      </p:sp>
      <p:sp>
        <p:nvSpPr>
          <p:cNvPr id="5" name="Shape 3"/>
          <p:cNvSpPr/>
          <p:nvPr/>
        </p:nvSpPr>
        <p:spPr>
          <a:xfrm>
            <a:off x="320040" y="868680"/>
            <a:ext cx="3886200" cy="2651760"/>
          </a:xfrm>
          <a:prstGeom prst="roundRect">
            <a:avLst>
              <a:gd name="adj" fmla="val 4138"/>
            </a:avLst>
          </a:prstGeom>
          <a:solidFill>
            <a:srgbClr val="E2E8F4"/>
          </a:solidFill>
          <a:ln w="19050">
            <a:solidFill>
              <a:srgbClr val="B0B8CC"/>
            </a:solidFill>
            <a:prstDash val="dash"/>
          </a:ln>
        </p:spPr>
      </p:sp>
      <p:sp>
        <p:nvSpPr>
          <p:cNvPr id="6" name="Text 4"/>
          <p:cNvSpPr/>
          <p:nvPr/>
        </p:nvSpPr>
        <p:spPr>
          <a:xfrm>
            <a:off x="320040" y="868680"/>
            <a:ext cx="3886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143000"/>
            <a:ext cx="3611880" cy="2286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A: Spanish engraving or account -- Pedro Menendez de Aviles landing in Florida, claiming the harbor for Spain, September 1565. Source: LOC or Florida Memory.</a:t>
            </a:r>
            <a:endParaRPr lang="en-US" sz="1100" dirty="0"/>
          </a:p>
        </p:txBody>
      </p:sp>
      <p:sp>
        <p:nvSpPr>
          <p:cNvPr id="8" name="Text 6"/>
          <p:cNvSpPr/>
          <p:nvPr/>
        </p:nvSpPr>
        <p:spPr>
          <a:xfrm>
            <a:off x="320040" y="3584448"/>
            <a:ext cx="388620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A: Spanish Account of Founding</a:t>
            </a:r>
            <a:endParaRPr lang="en-US" sz="1000" dirty="0"/>
          </a:p>
        </p:txBody>
      </p:sp>
      <p:sp>
        <p:nvSpPr>
          <p:cNvPr id="9" name="Shape 7"/>
          <p:cNvSpPr/>
          <p:nvPr/>
        </p:nvSpPr>
        <p:spPr>
          <a:xfrm>
            <a:off x="4937760" y="868680"/>
            <a:ext cx="3886200" cy="2651760"/>
          </a:xfrm>
          <a:prstGeom prst="roundRect">
            <a:avLst>
              <a:gd name="adj" fmla="val 4138"/>
            </a:avLst>
          </a:prstGeom>
          <a:solidFill>
            <a:srgbClr val="E2E8F4"/>
          </a:solidFill>
          <a:ln w="19050">
            <a:solidFill>
              <a:srgbClr val="B0B8CC"/>
            </a:solidFill>
            <a:prstDash val="dash"/>
          </a:ln>
        </p:spPr>
      </p:sp>
      <p:sp>
        <p:nvSpPr>
          <p:cNvPr id="10" name="Text 8"/>
          <p:cNvSpPr/>
          <p:nvPr/>
        </p:nvSpPr>
        <p:spPr>
          <a:xfrm>
            <a:off x="4937760" y="868680"/>
            <a:ext cx="3886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5074920" y="1143000"/>
            <a:ext cx="3611880" cy="2286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B: Representation of Timucua people on the Florida coast -- their village, canoes, or landscape. Pre-contact or contact era illustration or archaeological evidence. Source: Florida Memory or NPS.</a:t>
            </a:r>
            <a:endParaRPr lang="en-US" sz="1100" dirty="0"/>
          </a:p>
        </p:txBody>
      </p:sp>
      <p:sp>
        <p:nvSpPr>
          <p:cNvPr id="12" name="Text 10"/>
          <p:cNvSpPr/>
          <p:nvPr/>
        </p:nvSpPr>
        <p:spPr>
          <a:xfrm>
            <a:off x="4937760" y="3584448"/>
            <a:ext cx="388620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B: Timucua Perspective / Archaeological Record</a:t>
            </a:r>
            <a:endParaRPr lang="en-US" sz="1000" dirty="0"/>
          </a:p>
        </p:txBody>
      </p:sp>
      <p:sp>
        <p:nvSpPr>
          <p:cNvPr id="13" name="Shape 11"/>
          <p:cNvSpPr/>
          <p:nvPr/>
        </p:nvSpPr>
        <p:spPr>
          <a:xfrm>
            <a:off x="320040" y="3886200"/>
            <a:ext cx="8503920" cy="960120"/>
          </a:xfrm>
          <a:prstGeom prst="roundRect">
            <a:avLst>
              <a:gd name="adj" fmla="val 11429"/>
            </a:avLst>
          </a:prstGeom>
          <a:solidFill>
            <a:srgbClr val="FFF3DC"/>
          </a:solidFill>
          <a:ln w="19050">
            <a:solidFill>
              <a:srgbClr val="F5E6C8"/>
            </a:solidFill>
            <a:prstDash val="solid"/>
          </a:ln>
        </p:spPr>
      </p:sp>
      <p:sp>
        <p:nvSpPr>
          <p:cNvPr id="14" name="Text 12"/>
          <p:cNvSpPr/>
          <p:nvPr/>
        </p:nvSpPr>
        <p:spPr>
          <a:xfrm>
            <a:off x="457200" y="3941064"/>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57200" y="4142232"/>
            <a:ext cx="822960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about... but disagree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source I trust more for the full story is... because the evidence 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526280"/>
          </a:xfrm>
          <a:prstGeom prst="roundRect">
            <a:avLst>
              <a:gd name="adj" fmla="val 3636"/>
            </a:avLst>
          </a:prstGeom>
          <a:solidFill>
            <a:srgbClr val="0E1C42">
              <a:alpha val="75000"/>
            </a:srgbClr>
          </a:solidFill>
          <a:ln/>
        </p:spPr>
      </p:sp>
      <p:sp>
        <p:nvSpPr>
          <p:cNvPr id="6" name="Text 3"/>
          <p:cNvSpPr/>
          <p:nvPr/>
        </p:nvSpPr>
        <p:spPr>
          <a:xfrm>
            <a:off x="640080" y="411480"/>
            <a:ext cx="7863840" cy="27432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7" name="Text 4"/>
          <p:cNvSpPr/>
          <p:nvPr/>
        </p:nvSpPr>
        <p:spPr>
          <a:xfrm>
            <a:off x="640080" y="713232"/>
            <a:ext cx="7863840" cy="6400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Courage</a:t>
            </a:r>
            <a:endParaRPr lang="en-US" sz="4400" dirty="0"/>
          </a:p>
        </p:txBody>
      </p:sp>
      <p:sp>
        <p:nvSpPr>
          <p:cNvPr id="8" name="Shape 5"/>
          <p:cNvSpPr/>
          <p:nvPr/>
        </p:nvSpPr>
        <p:spPr>
          <a:xfrm>
            <a:off x="640080" y="1389888"/>
            <a:ext cx="3108960" cy="0"/>
          </a:xfrm>
          <a:prstGeom prst="line">
            <a:avLst/>
          </a:prstGeom>
          <a:noFill/>
          <a:ln w="25400">
            <a:solidFill>
              <a:srgbClr val="D4943A"/>
            </a:solidFill>
            <a:prstDash val="solid"/>
          </a:ln>
        </p:spPr>
      </p:sp>
      <p:sp>
        <p:nvSpPr>
          <p:cNvPr id="9" name="Text 6"/>
          <p:cNvSpPr/>
          <p:nvPr/>
        </p:nvSpPr>
        <p:spPr>
          <a:xfrm>
            <a:off x="640080" y="1527048"/>
            <a:ext cx="7863840" cy="2011680"/>
          </a:xfrm>
          <a:prstGeom prst="rect">
            <a:avLst/>
          </a:prstGeom>
          <a:noFill/>
          <a:ln/>
        </p:spPr>
        <p:txBody>
          <a:bodyPr wrap="square" rtlCol="0" anchor="t"/>
          <a:lstStyle/>
          <a:p>
            <a:pPr indent="0" marL="0">
              <a:buNone/>
            </a:pPr>
            <a:r>
              <a:rPr lang="en-US" sz="1500" dirty="0">
                <a:solidFill>
                  <a:srgbClr val="E8EEF8"/>
                </a:solidFill>
                <a:latin typeface="Calibri" pitchFamily="34" charset="0"/>
                <a:ea typeface="Calibri" pitchFamily="34" charset="-122"/>
                <a:cs typeface="Calibri" pitchFamily="34" charset="-120"/>
              </a:rPr>
              <a:t>Building or defending a settlement in 1565 took courage from many directions. Spanish settlers faced hurricanes and hunger. French settlers at Fort Caroline faced attack. Timucua people faced strangers arriving in their homeland.</a:t>
            </a:r>
            <a:endParaRPr lang="en-US" sz="1500" dirty="0"/>
          </a:p>
          <a:p>
            <a:pPr indent="0" marL="0">
              <a:buNone/>
            </a:pPr>
            <a:endParaRPr lang="en-US" sz="1500" dirty="0"/>
          </a:p>
          <a:p>
            <a:pPr indent="0" marL="0">
              <a:buNone/>
            </a:pPr>
            <a:r>
              <a:rPr lang="en-US" sz="1500" dirty="0">
                <a:solidFill>
                  <a:srgbClr val="E8EEF8"/>
                </a:solidFill>
                <a:latin typeface="Calibri" pitchFamily="34" charset="0"/>
                <a:ea typeface="Calibri" pitchFamily="34" charset="-122"/>
                <a:cs typeface="Calibri" pitchFamily="34" charset="-120"/>
              </a:rPr>
              <a:t>As you sequence today's events, notice WHOSE courage shows up at each step -- not just the people in command.</a:t>
            </a:r>
            <a:endParaRPr lang="en-US" sz="1500" dirty="0"/>
          </a:p>
        </p:txBody>
      </p:sp>
      <p:sp>
        <p:nvSpPr>
          <p:cNvPr id="10" name="Shape 7"/>
          <p:cNvSpPr/>
          <p:nvPr/>
        </p:nvSpPr>
        <p:spPr>
          <a:xfrm>
            <a:off x="640080" y="3639312"/>
            <a:ext cx="7863840" cy="1005840"/>
          </a:xfrm>
          <a:prstGeom prst="roundRect">
            <a:avLst>
              <a:gd name="adj" fmla="val 10909"/>
            </a:avLst>
          </a:prstGeom>
          <a:solidFill>
            <a:srgbClr val="FFF3DC"/>
          </a:solidFill>
          <a:ln w="19050">
            <a:solidFill>
              <a:srgbClr val="F5E6C8"/>
            </a:solidFill>
            <a:prstDash val="solid"/>
          </a:ln>
        </p:spPr>
      </p:sp>
      <p:sp>
        <p:nvSpPr>
          <p:cNvPr id="11" name="Text 8"/>
          <p:cNvSpPr/>
          <p:nvPr/>
        </p:nvSpPr>
        <p:spPr>
          <a:xfrm>
            <a:off x="777240" y="3694176"/>
            <a:ext cx="7589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9"/>
          <p:cNvSpPr/>
          <p:nvPr/>
        </p:nvSpPr>
        <p:spPr>
          <a:xfrm>
            <a:off x="777240" y="3895344"/>
            <a:ext cx="758952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person in 1565 who showed the most courage was...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"Courage looked different for each group in this story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GUIDED PRACTICE -- TEACHER MODELS</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Sequencing the Evidence: Assignment Question 1</a:t>
            </a:r>
            <a:endParaRPr lang="en-US" sz="2200" dirty="0"/>
          </a:p>
        </p:txBody>
      </p:sp>
      <p:sp>
        <p:nvSpPr>
          <p:cNvPr id="6" name="Shape 4"/>
          <p:cNvSpPr/>
          <p:nvPr/>
        </p:nvSpPr>
        <p:spPr>
          <a:xfrm>
            <a:off x="320040" y="1097280"/>
            <a:ext cx="8503920" cy="1389888"/>
          </a:xfrm>
          <a:prstGeom prst="roundRect">
            <a:avLst>
              <a:gd name="adj" fmla="val 7895"/>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1 (exact wording)</a:t>
            </a:r>
            <a:endParaRPr lang="en-US" sz="900" dirty="0"/>
          </a:p>
        </p:txBody>
      </p:sp>
      <p:sp>
        <p:nvSpPr>
          <p:cNvPr id="8" name="Text 6"/>
          <p:cNvSpPr/>
          <p:nvPr/>
        </p:nvSpPr>
        <p:spPr>
          <a:xfrm>
            <a:off x="502920" y="1389888"/>
            <a:ext cx="8229600" cy="914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Put these three events in the correct order: Castillo de San Marcos is built  French build Fort Caroline  St. Augustine is founded. Write them as 1, 2, 3 -- earliest first.</a:t>
            </a:r>
            <a:endParaRPr lang="en-US" sz="1400" dirty="0"/>
          </a:p>
        </p:txBody>
      </p:sp>
      <p:sp>
        <p:nvSpPr>
          <p:cNvPr id="9" name="Shape 7"/>
          <p:cNvSpPr/>
          <p:nvPr/>
        </p:nvSpPr>
        <p:spPr>
          <a:xfrm>
            <a:off x="320040" y="2606040"/>
            <a:ext cx="8503920" cy="2212848"/>
          </a:xfrm>
          <a:prstGeom prst="roundRect">
            <a:avLst>
              <a:gd name="adj" fmla="val 4959"/>
            </a:avLst>
          </a:prstGeom>
          <a:solidFill>
            <a:srgbClr val="FFFFFF"/>
          </a:solidFill>
          <a:ln w="19050">
            <a:solidFill>
              <a:srgbClr val="D4943A"/>
            </a:solidFill>
            <a:prstDash val="solid"/>
          </a:ln>
        </p:spPr>
      </p:sp>
      <p:sp>
        <p:nvSpPr>
          <p:cNvPr id="10" name="Text 8"/>
          <p:cNvSpPr/>
          <p:nvPr/>
        </p:nvSpPr>
        <p:spPr>
          <a:xfrm>
            <a:off x="502920" y="2679192"/>
            <a:ext cx="2743200" cy="228600"/>
          </a:xfrm>
          <a:prstGeom prst="rect">
            <a:avLst/>
          </a:prstGeom>
          <a:noFill/>
          <a:ln/>
        </p:spPr>
        <p:txBody>
          <a:bodyPr wrap="square"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TEACHER THINK-ALOUD</a:t>
            </a:r>
            <a:endParaRPr lang="en-US" sz="900" dirty="0"/>
          </a:p>
        </p:txBody>
      </p:sp>
      <p:sp>
        <p:nvSpPr>
          <p:cNvPr id="11" name="Text 9"/>
          <p:cNvSpPr/>
          <p:nvPr/>
        </p:nvSpPr>
        <p:spPr>
          <a:xfrm>
            <a:off x="502920" y="2907792"/>
            <a:ext cx="8229600" cy="178308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"I start with the years. Fort Caroline -- 1564, that is the first. Then St. Augustine -- September 8, 1565. That is number 2. Castillo de San Marcos -- they started building in 1672. That is number 3."</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Answer: 1 = French build Fort Caroline (1564), 2 = St. Augustine is founded (1565), 3 = Castillo de San Marcos is built (1672+)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1A8A7D"/>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GUIDED PRACTICE -- DEFEND IT</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Assignment Question 2 -- Cause and Effect</a:t>
            </a:r>
            <a:endParaRPr lang="en-US" sz="2200" dirty="0"/>
          </a:p>
        </p:txBody>
      </p:sp>
      <p:sp>
        <p:nvSpPr>
          <p:cNvPr id="6" name="Shape 4"/>
          <p:cNvSpPr/>
          <p:nvPr/>
        </p:nvSpPr>
        <p:spPr>
          <a:xfrm>
            <a:off x="320040" y="1097280"/>
            <a:ext cx="8503920" cy="804672"/>
          </a:xfrm>
          <a:prstGeom prst="roundRect">
            <a:avLst>
              <a:gd name="adj" fmla="val 13636"/>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2 (exact wording)</a:t>
            </a:r>
            <a:endParaRPr lang="en-US" sz="900" dirty="0"/>
          </a:p>
        </p:txBody>
      </p:sp>
      <p:sp>
        <p:nvSpPr>
          <p:cNvPr id="8" name="Text 6"/>
          <p:cNvSpPr/>
          <p:nvPr/>
        </p:nvSpPr>
        <p:spPr>
          <a:xfrm>
            <a:off x="502920" y="1389888"/>
            <a:ext cx="8229600" cy="420624"/>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Explain one cause-and-effect link from the timeline. Use the frame: "____ happened because ____."</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Pick any two connected events. One sentence is enough.</a:t>
            </a:r>
            <a:endParaRPr lang="en-US" sz="1300" dirty="0"/>
          </a:p>
        </p:txBody>
      </p:sp>
      <p:sp>
        <p:nvSpPr>
          <p:cNvPr id="9" name="Shape 7"/>
          <p:cNvSpPr/>
          <p:nvPr/>
        </p:nvSpPr>
        <p:spPr>
          <a:xfrm>
            <a:off x="320040" y="2011680"/>
            <a:ext cx="5212080" cy="224028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02920" y="2103120"/>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02920" y="2359152"/>
            <a:ext cx="4846320" cy="1801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two events from the timeline are most clearly connected -- one causing the other?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argue your cause-effect link is wrong? What would they say, and how would you respond?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connection strong enough that it would have happened anyway -- or did it only happen BECAUSE of the first event?</a:t>
            </a:r>
            <a:endParaRPr lang="en-US" sz="1100" dirty="0"/>
          </a:p>
        </p:txBody>
      </p:sp>
      <p:sp>
        <p:nvSpPr>
          <p:cNvPr id="12" name="Shape 10"/>
          <p:cNvSpPr/>
          <p:nvPr/>
        </p:nvSpPr>
        <p:spPr>
          <a:xfrm>
            <a:off x="5669280" y="2011680"/>
            <a:ext cx="3154680" cy="2240280"/>
          </a:xfrm>
          <a:prstGeom prst="roundRect">
            <a:avLst>
              <a:gd name="adj" fmla="val 4898"/>
            </a:avLst>
          </a:prstGeom>
          <a:solidFill>
            <a:srgbClr val="FFF3DC"/>
          </a:solidFill>
          <a:ln w="19050">
            <a:solidFill>
              <a:srgbClr val="F5E6C8"/>
            </a:solidFill>
            <a:prstDash val="solid"/>
          </a:ln>
        </p:spPr>
      </p:sp>
      <p:sp>
        <p:nvSpPr>
          <p:cNvPr id="13" name="Text 11"/>
          <p:cNvSpPr/>
          <p:nvPr/>
        </p:nvSpPr>
        <p:spPr>
          <a:xfrm>
            <a:off x="5806440" y="2066544"/>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267712"/>
            <a:ext cx="2880360" cy="1920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"____ happened because 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evidence for my cause-effect link 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8B6FC0"/>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GUIDED PRACTICE -- CRITIQUE THE RESPONSE</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Does this answer earn full credit? Find the weakness.</a:t>
            </a:r>
            <a:endParaRPr lang="en-US" sz="2200" dirty="0"/>
          </a:p>
        </p:txBody>
      </p:sp>
      <p:sp>
        <p:nvSpPr>
          <p:cNvPr id="6" name="Shape 4"/>
          <p:cNvSpPr/>
          <p:nvPr/>
        </p:nvSpPr>
        <p:spPr>
          <a:xfrm>
            <a:off x="320040" y="1097280"/>
            <a:ext cx="8503920" cy="1234440"/>
          </a:xfrm>
          <a:prstGeom prst="roundRect">
            <a:avLst>
              <a:gd name="adj" fmla="val 8889"/>
            </a:avLst>
          </a:prstGeom>
          <a:solidFill>
            <a:srgbClr val="E2E8F4"/>
          </a:solidFill>
          <a:ln w="19050">
            <a:solidFill>
              <a:srgbClr val="B0B8CC"/>
            </a:solidFill>
            <a:prstDash val="solid"/>
          </a:ln>
        </p:spPr>
      </p:sp>
      <p:sp>
        <p:nvSpPr>
          <p:cNvPr id="7" name="Text 5"/>
          <p:cNvSpPr/>
          <p:nvPr/>
        </p:nvSpPr>
        <p:spPr>
          <a:xfrm>
            <a:off x="502920" y="1170432"/>
            <a:ext cx="3657600" cy="228600"/>
          </a:xfrm>
          <a:prstGeom prst="rect">
            <a:avLst/>
          </a:prstGeom>
          <a:noFill/>
          <a:ln/>
        </p:spPr>
        <p:txBody>
          <a:bodyPr wrap="square" rtlCol="0" anchor="ctr"/>
          <a:lstStyle/>
          <a:p>
            <a:pPr indent="0" marL="0">
              <a:buNone/>
            </a:pPr>
            <a:r>
              <a:rPr lang="en-US" sz="900" b="1" spc="120" kern="0" dirty="0">
                <a:solidFill>
                  <a:srgbClr val="8B6FC0"/>
                </a:solidFill>
                <a:latin typeface="Calibri" pitchFamily="34" charset="0"/>
                <a:ea typeface="Calibri" pitchFamily="34" charset="-122"/>
                <a:cs typeface="Calibri" pitchFamily="34" charset="-120"/>
              </a:rPr>
              <a:t>SAMPLE STUDENT RESPONSE</a:t>
            </a:r>
            <a:endParaRPr lang="en-US" sz="900" dirty="0"/>
          </a:p>
        </p:txBody>
      </p:sp>
      <p:sp>
        <p:nvSpPr>
          <p:cNvPr id="8" name="Text 6"/>
          <p:cNvSpPr/>
          <p:nvPr/>
        </p:nvSpPr>
        <p:spPr>
          <a:xfrm>
            <a:off x="502920" y="1389888"/>
            <a:ext cx="8229600" cy="804672"/>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"St. Augustine was founded in 1565 because the Spanish wanted to be in Florida. It happened because of the French. The Castillo was built later."</a:t>
            </a:r>
            <a:endParaRPr lang="en-US" sz="1300" dirty="0"/>
          </a:p>
        </p:txBody>
      </p:sp>
      <p:sp>
        <p:nvSpPr>
          <p:cNvPr id="9" name="Shape 7"/>
          <p:cNvSpPr/>
          <p:nvPr/>
        </p:nvSpPr>
        <p:spPr>
          <a:xfrm>
            <a:off x="320040" y="2450592"/>
            <a:ext cx="5212080" cy="2121408"/>
          </a:xfrm>
          <a:prstGeom prst="roundRect">
            <a:avLst>
              <a:gd name="adj" fmla="val 6466"/>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02920" y="2542032"/>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02920" y="2798064"/>
            <a:ext cx="4846320" cy="168249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this student's claim? What is the evidence? Is it specific enough?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missing -- a specific name, a date, a group that should be named?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improve this response using the cause-effect frame?</a:t>
            </a:r>
            <a:endParaRPr lang="en-US" sz="1100" dirty="0"/>
          </a:p>
        </p:txBody>
      </p:sp>
      <p:sp>
        <p:nvSpPr>
          <p:cNvPr id="12" name="Shape 10"/>
          <p:cNvSpPr/>
          <p:nvPr/>
        </p:nvSpPr>
        <p:spPr>
          <a:xfrm>
            <a:off x="5669280" y="2450592"/>
            <a:ext cx="3154680" cy="2121408"/>
          </a:xfrm>
          <a:prstGeom prst="roundRect">
            <a:avLst>
              <a:gd name="adj" fmla="val 5172"/>
            </a:avLst>
          </a:prstGeom>
          <a:solidFill>
            <a:srgbClr val="FFF3DC"/>
          </a:solidFill>
          <a:ln w="19050">
            <a:solidFill>
              <a:srgbClr val="F5E6C8"/>
            </a:solidFill>
            <a:prstDash val="solid"/>
          </a:ln>
        </p:spPr>
      </p:sp>
      <p:sp>
        <p:nvSpPr>
          <p:cNvPr id="13" name="Text 11"/>
          <p:cNvSpPr/>
          <p:nvPr/>
        </p:nvSpPr>
        <p:spPr>
          <a:xfrm>
            <a:off x="5806440" y="2505456"/>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706624"/>
            <a:ext cx="2880360" cy="18013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response is weak because it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answer would say: ____ happened because ____. The evidence is..."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E8636B"/>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THE TRICKY ONE -- TRANSFERABLE PATTERN</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Assignment Q3 -- Whose Land?</a:t>
            </a:r>
            <a:endParaRPr lang="en-US" sz="2200" dirty="0"/>
          </a:p>
        </p:txBody>
      </p:sp>
      <p:sp>
        <p:nvSpPr>
          <p:cNvPr id="6" name="Shape 4"/>
          <p:cNvSpPr/>
          <p:nvPr/>
        </p:nvSpPr>
        <p:spPr>
          <a:xfrm>
            <a:off x="320040" y="1097280"/>
            <a:ext cx="8503920" cy="749808"/>
          </a:xfrm>
          <a:prstGeom prst="roundRect">
            <a:avLst>
              <a:gd name="adj" fmla="val 14634"/>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3 (exact wording)</a:t>
            </a:r>
            <a:endParaRPr lang="en-US" sz="900" dirty="0"/>
          </a:p>
        </p:txBody>
      </p:sp>
      <p:sp>
        <p:nvSpPr>
          <p:cNvPr id="8" name="Text 6"/>
          <p:cNvSpPr/>
          <p:nvPr/>
        </p:nvSpPr>
        <p:spPr>
          <a:xfrm>
            <a:off x="502920" y="1389888"/>
            <a:ext cx="8229600" cy="36576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Whose land was St. Augustine built on? Why is it important for a historian to name them?</a:t>
            </a:r>
            <a:endParaRPr lang="en-US" sz="1400" dirty="0"/>
          </a:p>
        </p:txBody>
      </p:sp>
      <p:sp>
        <p:nvSpPr>
          <p:cNvPr id="9" name="Shape 7"/>
          <p:cNvSpPr/>
          <p:nvPr/>
        </p:nvSpPr>
        <p:spPr>
          <a:xfrm>
            <a:off x="320040" y="1938528"/>
            <a:ext cx="8503920" cy="932688"/>
          </a:xfrm>
          <a:prstGeom prst="roundRect">
            <a:avLst>
              <a:gd name="adj" fmla="val 11765"/>
            </a:avLst>
          </a:prstGeom>
          <a:solidFill>
            <a:srgbClr val="FFFFFF"/>
          </a:solidFill>
          <a:ln w="25400">
            <a:solidFill>
              <a:srgbClr val="E8636B"/>
            </a:solidFill>
            <a:prstDash val="solid"/>
          </a:ln>
        </p:spPr>
      </p:sp>
      <p:sp>
        <p:nvSpPr>
          <p:cNvPr id="10" name="Text 8"/>
          <p:cNvSpPr/>
          <p:nvPr/>
        </p:nvSpPr>
        <p:spPr>
          <a:xfrm>
            <a:off x="502920" y="2011680"/>
            <a:ext cx="8229600" cy="777240"/>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PATTERN: When studying ANY European settlement, a historian's first question is -- who was already here? Whose story gets told, and whose gets erased? This pattern applies to Jamestown, Plymouth, and every other colonial settlement.</a:t>
            </a:r>
            <a:endParaRPr lang="en-US" sz="1300" dirty="0"/>
          </a:p>
        </p:txBody>
      </p:sp>
      <p:sp>
        <p:nvSpPr>
          <p:cNvPr id="11" name="Shape 9"/>
          <p:cNvSpPr/>
          <p:nvPr/>
        </p:nvSpPr>
        <p:spPr>
          <a:xfrm>
            <a:off x="320040" y="2962656"/>
            <a:ext cx="5212080" cy="1901952"/>
          </a:xfrm>
          <a:prstGeom prst="roundRect">
            <a:avLst>
              <a:gd name="adj" fmla="val 7212"/>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02920" y="3054096"/>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02920" y="3310128"/>
            <a:ext cx="4846320" cy="146304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Some textbooks never mentioned the Timucua people. Why might that have happened -- and why does it matter to correct it 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two people look at the SAME settlement and see it completely differently? What would a Timucua historian write vs. a Spanish historian?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Reasonable people can disagree about how to describe this event. What words would YOU choose?</a:t>
            </a:r>
            <a:endParaRPr lang="en-US" sz="1100" dirty="0"/>
          </a:p>
        </p:txBody>
      </p:sp>
      <p:sp>
        <p:nvSpPr>
          <p:cNvPr id="14" name="Shape 12"/>
          <p:cNvSpPr/>
          <p:nvPr/>
        </p:nvSpPr>
        <p:spPr>
          <a:xfrm>
            <a:off x="5669280" y="2962656"/>
            <a:ext cx="3154680" cy="1901952"/>
          </a:xfrm>
          <a:prstGeom prst="roundRect">
            <a:avLst>
              <a:gd name="adj" fmla="val 5769"/>
            </a:avLst>
          </a:prstGeom>
          <a:solidFill>
            <a:srgbClr val="FFF3DC"/>
          </a:solidFill>
          <a:ln w="19050">
            <a:solidFill>
              <a:srgbClr val="F5E6C8"/>
            </a:solidFill>
            <a:prstDash val="solid"/>
          </a:ln>
        </p:spPr>
      </p:sp>
      <p:sp>
        <p:nvSpPr>
          <p:cNvPr id="15" name="Text 13"/>
          <p:cNvSpPr/>
          <p:nvPr/>
        </p:nvSpPr>
        <p:spPr>
          <a:xfrm>
            <a:off x="5806440" y="3017520"/>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06440" y="3218688"/>
            <a:ext cx="2880360" cy="158191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matters to name the Timucua because... The evidence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historian who left them out would be making the mistake of..."</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ASSIGNMENT PREVIEW -- YOUR TURN</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Sequence the Story -- Cause and Effect</a:t>
            </a:r>
            <a:endParaRPr lang="en-US" sz="2200" dirty="0"/>
          </a:p>
        </p:txBody>
      </p:sp>
      <p:sp>
        <p:nvSpPr>
          <p:cNvPr id="6" name="Shape 4"/>
          <p:cNvSpPr/>
          <p:nvPr/>
        </p:nvSpPr>
        <p:spPr>
          <a:xfrm>
            <a:off x="320040" y="1097280"/>
            <a:ext cx="8503920" cy="932688"/>
          </a:xfrm>
          <a:prstGeom prst="roundRect">
            <a:avLst>
              <a:gd name="adj" fmla="val 9804"/>
            </a:avLst>
          </a:prstGeom>
          <a:solidFill>
            <a:srgbClr val="FFFFFF"/>
          </a:solidFill>
          <a:ln w="19050">
            <a:solidFill>
              <a:srgbClr val="D4943A"/>
            </a:solidFill>
            <a:prstDash val="solid"/>
          </a:ln>
        </p:spPr>
      </p:sp>
      <p:sp>
        <p:nvSpPr>
          <p:cNvPr id="7" name="Text 5"/>
          <p:cNvSpPr/>
          <p:nvPr/>
        </p:nvSpPr>
        <p:spPr>
          <a:xfrm>
            <a:off x="457200" y="1170432"/>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Q1</a:t>
            </a:r>
            <a:endParaRPr lang="en-US" sz="1400" dirty="0"/>
          </a:p>
        </p:txBody>
      </p:sp>
      <p:sp>
        <p:nvSpPr>
          <p:cNvPr id="8" name="Text 6"/>
          <p:cNvSpPr/>
          <p:nvPr/>
        </p:nvSpPr>
        <p:spPr>
          <a:xfrm>
            <a:off x="1005840" y="1170432"/>
            <a:ext cx="7680960" cy="7772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Put these three events in the correct order: Castillo de San Marcos is built  French build Fort Caroline  St. Augustine is founded. Write them as 1, 2, 3 -- earliest first.</a:t>
            </a:r>
            <a:endParaRPr lang="en-US" sz="1200" dirty="0"/>
          </a:p>
        </p:txBody>
      </p:sp>
      <p:sp>
        <p:nvSpPr>
          <p:cNvPr id="9" name="Shape 7"/>
          <p:cNvSpPr/>
          <p:nvPr/>
        </p:nvSpPr>
        <p:spPr>
          <a:xfrm>
            <a:off x="320040" y="2121408"/>
            <a:ext cx="8503920" cy="932688"/>
          </a:xfrm>
          <a:prstGeom prst="roundRect">
            <a:avLst>
              <a:gd name="adj" fmla="val 9804"/>
            </a:avLst>
          </a:prstGeom>
          <a:solidFill>
            <a:srgbClr val="FFFFFF"/>
          </a:solidFill>
          <a:ln w="19050">
            <a:solidFill>
              <a:srgbClr val="D4943A"/>
            </a:solidFill>
            <a:prstDash val="solid"/>
          </a:ln>
        </p:spPr>
      </p:sp>
      <p:sp>
        <p:nvSpPr>
          <p:cNvPr id="10" name="Text 8"/>
          <p:cNvSpPr/>
          <p:nvPr/>
        </p:nvSpPr>
        <p:spPr>
          <a:xfrm>
            <a:off x="457200" y="2194560"/>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Q2</a:t>
            </a:r>
            <a:endParaRPr lang="en-US" sz="1400" dirty="0"/>
          </a:p>
        </p:txBody>
      </p:sp>
      <p:sp>
        <p:nvSpPr>
          <p:cNvPr id="11" name="Text 9"/>
          <p:cNvSpPr/>
          <p:nvPr/>
        </p:nvSpPr>
        <p:spPr>
          <a:xfrm>
            <a:off x="1005840" y="2194560"/>
            <a:ext cx="7680960" cy="7772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Explain one cause-and-effect link from the timeline. Use the frame: "____ happened because ____." Pick any two connected events. One sentence is enough.</a:t>
            </a:r>
            <a:endParaRPr lang="en-US" sz="1200" dirty="0"/>
          </a:p>
        </p:txBody>
      </p:sp>
      <p:sp>
        <p:nvSpPr>
          <p:cNvPr id="12" name="Shape 10"/>
          <p:cNvSpPr/>
          <p:nvPr/>
        </p:nvSpPr>
        <p:spPr>
          <a:xfrm>
            <a:off x="320040" y="3145536"/>
            <a:ext cx="8503920" cy="932688"/>
          </a:xfrm>
          <a:prstGeom prst="roundRect">
            <a:avLst>
              <a:gd name="adj" fmla="val 9804"/>
            </a:avLst>
          </a:prstGeom>
          <a:solidFill>
            <a:srgbClr val="FFFFFF"/>
          </a:solidFill>
          <a:ln w="19050">
            <a:solidFill>
              <a:srgbClr val="D4943A"/>
            </a:solidFill>
            <a:prstDash val="solid"/>
          </a:ln>
        </p:spPr>
      </p:sp>
      <p:sp>
        <p:nvSpPr>
          <p:cNvPr id="13" name="Text 11"/>
          <p:cNvSpPr/>
          <p:nvPr/>
        </p:nvSpPr>
        <p:spPr>
          <a:xfrm>
            <a:off x="457200" y="3218688"/>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Q3</a:t>
            </a:r>
            <a:endParaRPr lang="en-US" sz="1400" dirty="0"/>
          </a:p>
        </p:txBody>
      </p:sp>
      <p:sp>
        <p:nvSpPr>
          <p:cNvPr id="14" name="Text 12"/>
          <p:cNvSpPr/>
          <p:nvPr/>
        </p:nvSpPr>
        <p:spPr>
          <a:xfrm>
            <a:off x="1005840" y="3218688"/>
            <a:ext cx="7680960" cy="7772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Whose land was St. Augustine built on? Why is it important for a historian to name them? Name the group, then give one reason it matters in 1-2 sentences.</a:t>
            </a:r>
            <a:endParaRPr lang="en-US" sz="1200" dirty="0"/>
          </a:p>
        </p:txBody>
      </p:sp>
      <p:sp>
        <p:nvSpPr>
          <p:cNvPr id="15" name="Shape 13"/>
          <p:cNvSpPr/>
          <p:nvPr/>
        </p:nvSpPr>
        <p:spPr>
          <a:xfrm>
            <a:off x="320040" y="4187952"/>
            <a:ext cx="8503920" cy="713232"/>
          </a:xfrm>
          <a:prstGeom prst="roundRect">
            <a:avLst>
              <a:gd name="adj" fmla="val 12821"/>
            </a:avLst>
          </a:prstGeom>
          <a:solidFill>
            <a:srgbClr val="1A2D5A"/>
          </a:solidFill>
          <a:ln/>
        </p:spPr>
      </p:sp>
      <p:sp>
        <p:nvSpPr>
          <p:cNvPr id="16" name="Text 14"/>
          <p:cNvSpPr/>
          <p:nvPr/>
        </p:nvSpPr>
        <p:spPr>
          <a:xfrm>
            <a:off x="502920" y="4251960"/>
            <a:ext cx="82296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TIMELINE THREAD: Write 3-5 sentences -- events in order AND one cause-effect pair -- with at least one specific name, year, or group. Use sequence words AND cause-effect frames.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347472"/>
            <a:ext cx="8229600" cy="4370832"/>
          </a:xfrm>
          <a:prstGeom prst="roundRect">
            <a:avLst>
              <a:gd name="adj" fmla="val 3766"/>
            </a:avLst>
          </a:prstGeom>
          <a:solidFill>
            <a:srgbClr val="0E1C42">
              <a:alpha val="72000"/>
            </a:srgbClr>
          </a:solidFill>
          <a:ln/>
        </p:spPr>
      </p:sp>
      <p:sp>
        <p:nvSpPr>
          <p:cNvPr id="6" name="Text 3"/>
          <p:cNvSpPr/>
          <p:nvPr/>
        </p:nvSpPr>
        <p:spPr>
          <a:xfrm>
            <a:off x="640080" y="502920"/>
            <a:ext cx="7863840" cy="347472"/>
          </a:xfrm>
          <a:prstGeom prst="rect">
            <a:avLst/>
          </a:prstGeom>
          <a:noFill/>
          <a:ln/>
        </p:spPr>
        <p:txBody>
          <a:bodyPr wrap="square" rtlCol="0" anchor="ctr"/>
          <a:lstStyle/>
          <a:p>
            <a:pPr algn="ctr" indent="0" marL="0">
              <a:buNone/>
            </a:pPr>
            <a:r>
              <a:rPr lang="en-US" sz="1200" b="1" spc="250" kern="0" dirty="0">
                <a:solidFill>
                  <a:srgbClr val="D4943A"/>
                </a:solidFill>
                <a:latin typeface="Calibri" pitchFamily="34" charset="0"/>
                <a:ea typeface="Calibri" pitchFamily="34" charset="-122"/>
                <a:cs typeface="Calibri" pitchFamily="34" charset="-120"/>
              </a:rPr>
              <a:t>FILE SAVED</a:t>
            </a:r>
            <a:endParaRPr lang="en-US" sz="1200" dirty="0"/>
          </a:p>
        </p:txBody>
      </p:sp>
      <p:sp>
        <p:nvSpPr>
          <p:cNvPr id="7" name="Text 4"/>
          <p:cNvSpPr/>
          <p:nvPr/>
        </p:nvSpPr>
        <p:spPr>
          <a:xfrm>
            <a:off x="640080" y="868680"/>
            <a:ext cx="7863840" cy="59436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St. Augustine: Locked In</a:t>
            </a:r>
            <a:endParaRPr lang="en-US" sz="3600" dirty="0"/>
          </a:p>
        </p:txBody>
      </p:sp>
      <p:sp>
        <p:nvSpPr>
          <p:cNvPr id="8" name="Shape 5"/>
          <p:cNvSpPr/>
          <p:nvPr/>
        </p:nvSpPr>
        <p:spPr>
          <a:xfrm>
            <a:off x="2286000" y="1508760"/>
            <a:ext cx="4572000" cy="0"/>
          </a:xfrm>
          <a:prstGeom prst="line">
            <a:avLst/>
          </a:prstGeom>
          <a:noFill/>
          <a:ln w="25400">
            <a:solidFill>
              <a:srgbClr val="D4943A"/>
            </a:solidFill>
            <a:prstDash val="solid"/>
          </a:ln>
        </p:spPr>
      </p:sp>
      <p:sp>
        <p:nvSpPr>
          <p:cNvPr id="9" name="Text 6"/>
          <p:cNvSpPr/>
          <p:nvPr/>
        </p:nvSpPr>
        <p:spPr>
          <a:xfrm>
            <a:off x="640080" y="1645920"/>
            <a:ext cx="7863840" cy="1234440"/>
          </a:xfrm>
          <a:prstGeom prst="rect">
            <a:avLst/>
          </a:prstGeom>
          <a:noFill/>
          <a:ln/>
        </p:spPr>
        <p:txBody>
          <a:bodyPr wrap="square" rtlCol="0" anchor="t"/>
          <a:lstStyle/>
          <a:p>
            <a:pPr algn="ctr" indent="0" marL="0">
              <a:buNone/>
            </a:pPr>
            <a:r>
              <a:rPr lang="en-US" sz="1400" i="1" dirty="0">
                <a:solidFill>
                  <a:srgbClr val="E8EEF8"/>
                </a:solidFill>
                <a:latin typeface="Cambria" pitchFamily="34" charset="0"/>
                <a:ea typeface="Cambria" pitchFamily="34" charset="-122"/>
                <a:cs typeface="Cambria" pitchFamily="34" charset="-120"/>
              </a:rPr>
              <a:t>"St. Augustine locked in as the oldest permanent European settlement in what is now the United States. Another stretch of corridor lit. I'm starting to think the exit is at the END of this wing -- so we keep moving." -- Ms. Rivera</a:t>
            </a:r>
            <a:endParaRPr lang="en-US" sz="1400" dirty="0"/>
          </a:p>
        </p:txBody>
      </p:sp>
      <p:sp>
        <p:nvSpPr>
          <p:cNvPr id="10" name="Shape 7"/>
          <p:cNvSpPr/>
          <p:nvPr/>
        </p:nvSpPr>
        <p:spPr>
          <a:xfrm>
            <a:off x="1371600" y="3063240"/>
            <a:ext cx="6400800" cy="777240"/>
          </a:xfrm>
          <a:prstGeom prst="roundRect">
            <a:avLst>
              <a:gd name="adj" fmla="val 14118"/>
            </a:avLst>
          </a:prstGeom>
          <a:solidFill>
            <a:srgbClr val="1A2D5A"/>
          </a:solidFill>
          <a:ln/>
        </p:spPr>
      </p:sp>
      <p:sp>
        <p:nvSpPr>
          <p:cNvPr id="11" name="Text 8"/>
          <p:cNvSpPr/>
          <p:nvPr/>
        </p:nvSpPr>
        <p:spPr>
          <a:xfrm>
            <a:off x="1554480" y="3136392"/>
            <a:ext cx="182880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 PROVED:</a:t>
            </a:r>
            <a:endParaRPr lang="en-US" sz="900" dirty="0"/>
          </a:p>
        </p:txBody>
      </p:sp>
      <p:sp>
        <p:nvSpPr>
          <p:cNvPr id="12" name="Text 9"/>
          <p:cNvSpPr/>
          <p:nvPr/>
        </p:nvSpPr>
        <p:spPr>
          <a:xfrm>
            <a:off x="1554480" y="3364992"/>
            <a:ext cx="603504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 Augustine 1565 -- 5 events sequenced -- Timucua land named -- cause-effect explained</a:t>
            </a:r>
            <a:endParaRPr lang="en-US" sz="1200" dirty="0"/>
          </a:p>
        </p:txBody>
      </p:sp>
      <p:sp>
        <p:nvSpPr>
          <p:cNvPr id="13" name="Shape 10"/>
          <p:cNvSpPr/>
          <p:nvPr/>
        </p:nvSpPr>
        <p:spPr>
          <a:xfrm>
            <a:off x="1371600" y="3977640"/>
            <a:ext cx="6400800" cy="530352"/>
          </a:xfrm>
          <a:prstGeom prst="roundRect">
            <a:avLst>
              <a:gd name="adj" fmla="val 17241"/>
            </a:avLst>
          </a:prstGeom>
          <a:solidFill>
            <a:srgbClr val="D4943A">
              <a:alpha val="85000"/>
            </a:srgbClr>
          </a:solidFill>
          <a:ln/>
        </p:spPr>
      </p:sp>
      <p:sp>
        <p:nvSpPr>
          <p:cNvPr id="14" name="Text 11"/>
          <p:cNvSpPr/>
          <p:nvPr/>
        </p:nvSpPr>
        <p:spPr>
          <a:xfrm>
            <a:off x="1554480" y="4041648"/>
            <a:ext cx="6035040" cy="3657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COMING NEXT -- 4.06.03: Mission San Luis de Talimali -- Two buildings, one plaza, two cultures.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2026-07-14T00:28:21Z</dcterms:created>
  <dcterms:modified xsi:type="dcterms:W3CDTF">2026-07-14T00:28:21Z</dcterms:modified>
</cp:coreProperties>
</file>