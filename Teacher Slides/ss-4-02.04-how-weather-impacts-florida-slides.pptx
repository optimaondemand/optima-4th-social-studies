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Florida from above with a dramatic hurricane swirl visible over the Gulf of Mexico, citrus groves visible in central Florida patchwork, coastal buildings with shutters, golden-hour light, cinematic wide angle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glitchy digital map of Florida showing the outline but with hurricane evacuation routes, citrus grove irrigation lines, and flood zones all blurred out and hidden — locked behind a digital glitch effect, dark moody background, blue and gold data layers partially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slide. Hold briefly. The impact map is the anchor of this lesson — every industry and building choice connects back to a climate cause.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(cause-effect link) and Q2 (industry/climate connection). Give the full 5-second silence. Do NOT explain the zones — let students observe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(cause-effect) and Q3 (honesty of information). Push: 'You named the zone — tell me WHY it exists.' Coach: hold back, let them argue.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Satellite image of a Florida hurricane approaching the coast, dramatic swirling clouds, coastal cities visible below, cinematic wide angle showing the scale of the storm relative to the peninsulaSCAFFOLDS Q1. Frame: 'Every choice on that map — every zone, every route — exists because of a climate cause.' Cause-effect is the transferable pattern for this entire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and Q3. 45 seconds silent comparison. 'Which source would you trust to build a house? To evacuate?' Let them argue.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Q3. Virtue connection — honesty in maps and forecasts saves lives. 'Is omitting a risk the same as lying about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Aerial view of central Florida orange groves — rows of citrus trees in bright green against sandy soil, irrigation lines visible, warm morning light, agricultural landscape stretching to the horizonSCAFFOLDS Q2 (farming + climate). The irrigation detail is key — climate shapes not just WHAT people grow but HOW they grow it. Cause/effect chain models Q1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Q2 (building industry) and Q3 (honesty). Pre-planning is critical — honest information about risk must exist BEFORE disaster, not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Q2 (tourism) and Q3 (honesty). Tourism advertising omits risk. 'Is omission dishonest? Who benefits from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World map or globe showing rivers, coastlines, and mountain ranges — human cities visible along waterways and coasts, aerial or satellite style, deep blue and gold tones, cinematicTransferable pattern. Students have studied Florida — now apply cause-effect anywhere. This is the geography thinking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seconds silent observation. 'What do all four words have in common?' The Florida connection is the point — hydro is everywhere: irrigation, drainage canals, flood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Florida emergency manager briefing residents about an incoming hurricane — large map behind them, serious faces, packed community center, documentary photography style, sense of urgency and trustSCAFFOLDS Q3 exact wording at the bottom. Honesty is not just moral — it is functional. It literally saves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brief — 2 minutes. Read think-aloud aloud as you point to each step. The color-coded structure is the framework for the Unlock Challenge.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Q2. Students choose which evidence to use. Coach: hold back. Let them choose, then ask what a student who chose a different industry would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and Q2. Vague vs. specific evidence. 'Which response would convince a skeptic?'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SCAFFOLDS Q1, Q2, and Q3. Genuine debate — no clean answer. 'Which position has the strongest climate evidence?' Do not resolve.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notes, answer from memory before revealing. Sentence frame previews Historian's Log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 question wording. Q1 scaffolded: slides 4-6 and 15-17. Q2 scaffolded: slides 9-11 and 16-17. Q3 scaffolded: slides 7-8, 14, and 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Florida coastline at golden hour — warm light reflecting off calm water, hurricane shutter homes visible, citrus grove silhouette inland, wide cinematic shot, hopeful and resolved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56032"/>
            <a:ext cx="1554480" cy="320040"/>
          </a:xfrm>
          <a:prstGeom prst="roundRect">
            <a:avLst>
              <a:gd name="adj" fmla="val 22857"/>
            </a:avLst>
          </a:prstGeom>
          <a:solidFill>
            <a:srgbClr val="D4943A"/>
          </a:solidFill>
          <a:ln/>
        </p:spPr>
      </p:sp>
      <p:sp>
        <p:nvSpPr>
          <p:cNvPr id="6" name="Text 3"/>
          <p:cNvSpPr/>
          <p:nvPr/>
        </p:nvSpPr>
        <p:spPr>
          <a:xfrm>
            <a:off x="365760" y="256032"/>
            <a:ext cx="1554480" cy="320040"/>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UNIT 2 | LESSON 4</a:t>
            </a:r>
            <a:endParaRPr lang="en-US" sz="900" dirty="0"/>
          </a:p>
        </p:txBody>
      </p:sp>
      <p:sp>
        <p:nvSpPr>
          <p:cNvPr id="7" name="Text 4"/>
          <p:cNvSpPr/>
          <p:nvPr/>
        </p:nvSpPr>
        <p:spPr>
          <a:xfrm>
            <a:off x="365760" y="676656"/>
            <a:ext cx="2743200" cy="292608"/>
          </a:xfrm>
          <a:prstGeom prst="rect">
            <a:avLst/>
          </a:prstGeom>
          <a:noFill/>
          <a:ln/>
        </p:spPr>
        <p:txBody>
          <a:bodyPr wrap="square" lIns="0" tIns="0" rIns="0" bIns="0" rtlCol="0" anchor="ctr"/>
          <a:lstStyle/>
          <a:p>
            <a:pPr indent="0" marL="0">
              <a:buNone/>
            </a:pPr>
            <a:r>
              <a:rPr lang="en-US" sz="1200" dirty="0">
                <a:solidFill>
                  <a:srgbClr val="55C8E8"/>
                </a:solidFill>
                <a:latin typeface="Calibri" pitchFamily="34" charset="0"/>
                <a:ea typeface="Calibri" pitchFamily="34" charset="-122"/>
                <a:cs typeface="Calibri" pitchFamily="34" charset="-120"/>
              </a:rPr>
              <a:t>4.02.04</a:t>
            </a:r>
            <a:endParaRPr lang="en-US" sz="1200" dirty="0"/>
          </a:p>
        </p:txBody>
      </p:sp>
      <p:sp>
        <p:nvSpPr>
          <p:cNvPr id="8" name="Text 5"/>
          <p:cNvSpPr/>
          <p:nvPr/>
        </p:nvSpPr>
        <p:spPr>
          <a:xfrm>
            <a:off x="365760" y="1005840"/>
            <a:ext cx="8412480" cy="9601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How Weather Impacts Florida</a:t>
            </a:r>
            <a:endParaRPr lang="en-US" sz="4000" dirty="0"/>
          </a:p>
        </p:txBody>
      </p:sp>
      <p:sp>
        <p:nvSpPr>
          <p:cNvPr id="9" name="Text 6"/>
          <p:cNvSpPr/>
          <p:nvPr/>
        </p:nvSpPr>
        <p:spPr>
          <a:xfrm>
            <a:off x="365760" y="1993392"/>
            <a:ext cx="8412480" cy="475488"/>
          </a:xfrm>
          <a:prstGeom prst="rect">
            <a:avLst/>
          </a:prstGeom>
          <a:noFill/>
          <a:ln/>
        </p:spPr>
        <p:txBody>
          <a:bodyPr wrap="square" lIns="0" tIns="0" rIns="0" bIns="0" rtlCol="0" anchor="ctr"/>
          <a:lstStyle/>
          <a:p>
            <a:pPr indent="0" marL="0">
              <a:buNone/>
            </a:pPr>
            <a:r>
              <a:rPr lang="en-US" sz="2000" dirty="0">
                <a:solidFill>
                  <a:srgbClr val="55C8E8"/>
                </a:solidFill>
                <a:latin typeface="Cambria" pitchFamily="34" charset="0"/>
                <a:ea typeface="Cambria" pitchFamily="34" charset="-122"/>
                <a:cs typeface="Cambria" pitchFamily="34" charset="-120"/>
              </a:rPr>
              <a:t>Climate, Choices, and Consequences</a:t>
            </a:r>
            <a:endParaRPr lang="en-US" sz="2000" dirty="0"/>
          </a:p>
        </p:txBody>
      </p:sp>
      <p:sp>
        <p:nvSpPr>
          <p:cNvPr id="10" name="Shape 7"/>
          <p:cNvSpPr/>
          <p:nvPr/>
        </p:nvSpPr>
        <p:spPr>
          <a:xfrm>
            <a:off x="365760" y="2606040"/>
            <a:ext cx="8412480" cy="804672"/>
          </a:xfrm>
          <a:prstGeom prst="roundRect">
            <a:avLst>
              <a:gd name="adj" fmla="val 13636"/>
            </a:avLst>
          </a:prstGeom>
          <a:solidFill>
            <a:srgbClr val="1A2D5A"/>
          </a:solidFill>
          <a:ln/>
        </p:spPr>
      </p:sp>
      <p:sp>
        <p:nvSpPr>
          <p:cNvPr id="11" name="Text 8"/>
          <p:cNvSpPr/>
          <p:nvPr/>
        </p:nvSpPr>
        <p:spPr>
          <a:xfrm>
            <a:off x="548640" y="2651760"/>
            <a:ext cx="8046720" cy="713232"/>
          </a:xfrm>
          <a:prstGeom prst="rect">
            <a:avLst/>
          </a:prstGeom>
          <a:noFill/>
          <a:ln/>
        </p:spPr>
        <p:txBody>
          <a:bodyPr wrap="square" lIns="0" tIns="0" rIns="0" bIns="0" rtlCol="0" anchor="ctr"/>
          <a:lstStyle/>
          <a:p>
            <a:pPr algn="ctr" indent="0" marL="0">
              <a:buNone/>
            </a:pPr>
            <a:r>
              <a:rPr lang="en-US" sz="1500" i="1" dirty="0">
                <a:solidFill>
                  <a:srgbClr val="FFF3DC"/>
                </a:solidFill>
                <a:latin typeface="Cambria" pitchFamily="34" charset="0"/>
                <a:ea typeface="Cambria" pitchFamily="34" charset="-122"/>
                <a:cs typeface="Cambria" pitchFamily="34" charset="-120"/>
              </a:rPr>
              <a:t>How does Florida's climate actually change what people build, grow, and do every day?</a:t>
            </a:r>
            <a:endParaRPr lang="en-US" sz="1500" dirty="0"/>
          </a:p>
        </p:txBody>
      </p:sp>
      <p:sp>
        <p:nvSpPr>
          <p:cNvPr id="12" name="Text 9"/>
          <p:cNvSpPr/>
          <p:nvPr/>
        </p:nvSpPr>
        <p:spPr>
          <a:xfrm>
            <a:off x="365760" y="4572000"/>
            <a:ext cx="8412480" cy="274320"/>
          </a:xfrm>
          <a:prstGeom prst="rect">
            <a:avLst/>
          </a:prstGeom>
          <a:noFill/>
          <a:ln/>
        </p:spPr>
        <p:txBody>
          <a:bodyPr wrap="square" lIns="0" tIns="0" rIns="0" bIns="0" rtlCol="0" anchor="ctr"/>
          <a:lstStyle/>
          <a:p>
            <a:pPr algn="ctr" indent="0" marL="0">
              <a:buNone/>
            </a:pPr>
            <a:r>
              <a:rPr lang="en-US" sz="1000" dirty="0">
                <a:solidFill>
                  <a:srgbClr val="7A88A8"/>
                </a:solidFill>
                <a:latin typeface="Calibri" pitchFamily="34" charset="0"/>
                <a:ea typeface="Calibri" pitchFamily="34" charset="-122"/>
                <a:cs typeface="Calibri" pitchFamily="34" charset="-120"/>
              </a:rPr>
              <a:t>SS.4.G.1.1  |  SS.4.G.1.2  |  SS.4.G.1.4</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1463040" cy="292608"/>
          </a:xfrm>
          <a:prstGeom prst="roundRect">
            <a:avLst>
              <a:gd name="adj" fmla="val 25000"/>
            </a:avLst>
          </a:prstGeom>
          <a:solidFill>
            <a:srgbClr val="E8636B"/>
          </a:solidFill>
          <a:ln/>
        </p:spPr>
      </p:sp>
      <p:sp>
        <p:nvSpPr>
          <p:cNvPr id="6" name="Text 3"/>
          <p:cNvSpPr/>
          <p:nvPr/>
        </p:nvSpPr>
        <p:spPr>
          <a:xfrm>
            <a:off x="365760" y="228600"/>
            <a:ext cx="146304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THE MISSION</a:t>
            </a:r>
            <a:endParaRPr lang="en-US" sz="900" dirty="0"/>
          </a:p>
        </p:txBody>
      </p:sp>
      <p:sp>
        <p:nvSpPr>
          <p:cNvPr id="7" name="Text 4"/>
          <p:cNvSpPr/>
          <p:nvPr/>
        </p:nvSpPr>
        <p:spPr>
          <a:xfrm>
            <a:off x="457200" y="658368"/>
            <a:ext cx="8229600" cy="45720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Canvas has locked the weather-impact layer.</a:t>
            </a:r>
            <a:endParaRPr lang="en-US" sz="2200" dirty="0"/>
          </a:p>
        </p:txBody>
      </p:sp>
      <p:sp>
        <p:nvSpPr>
          <p:cNvPr id="8" name="Text 5"/>
          <p:cNvSpPr/>
          <p:nvPr/>
        </p:nvSpPr>
        <p:spPr>
          <a:xfrm>
            <a:off x="457200" y="1170432"/>
            <a:ext cx="8046720" cy="713232"/>
          </a:xfrm>
          <a:prstGeom prst="rect">
            <a:avLst/>
          </a:prstGeom>
          <a:noFill/>
          <a:ln/>
        </p:spPr>
        <p:txBody>
          <a:bodyPr wrap="square" lIns="0" tIns="0" rIns="0" bIns="0" rtlCol="0" anchor="ctr"/>
          <a:lstStyle/>
          <a:p>
            <a:pPr indent="0" marL="0">
              <a:buNone/>
            </a:pPr>
            <a:r>
              <a:rPr lang="en-US" sz="1400" dirty="0">
                <a:solidFill>
                  <a:srgbClr val="D0D8F0"/>
                </a:solidFill>
                <a:latin typeface="Calibri" pitchFamily="34" charset="0"/>
                <a:ea typeface="Calibri" pitchFamily="34" charset="-122"/>
                <a:cs typeface="Calibri" pitchFamily="34" charset="-120"/>
              </a:rPr>
              <a:t>I can see Florida on the map, but everything that shows how weather shapes human choices is hidden. The hurricane routes, the citrus grove irrigation lines, the flood zones — they're all missing.</a:t>
            </a:r>
            <a:endParaRPr lang="en-US" sz="1400" dirty="0"/>
          </a:p>
        </p:txBody>
      </p:sp>
      <p:sp>
        <p:nvSpPr>
          <p:cNvPr id="9" name="Shape 6"/>
          <p:cNvSpPr/>
          <p:nvPr/>
        </p:nvSpPr>
        <p:spPr>
          <a:xfrm>
            <a:off x="457200" y="1993392"/>
            <a:ext cx="8046720" cy="1051560"/>
          </a:xfrm>
          <a:prstGeom prst="roundRect">
            <a:avLst>
              <a:gd name="adj" fmla="val 10435"/>
            </a:avLst>
          </a:prstGeom>
          <a:solidFill>
            <a:srgbClr val="1A2D5A"/>
          </a:solidFill>
          <a:ln/>
        </p:spPr>
      </p:sp>
      <p:sp>
        <p:nvSpPr>
          <p:cNvPr id="10" name="Text 7"/>
          <p:cNvSpPr/>
          <p:nvPr/>
        </p:nvSpPr>
        <p:spPr>
          <a:xfrm>
            <a:off x="640080" y="2066544"/>
            <a:ext cx="27432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YOUR MISSION</a:t>
            </a:r>
            <a:endParaRPr lang="en-US" sz="900" dirty="0"/>
          </a:p>
        </p:txBody>
      </p:sp>
      <p:sp>
        <p:nvSpPr>
          <p:cNvPr id="11" name="Text 8"/>
          <p:cNvSpPr/>
          <p:nvPr/>
        </p:nvSpPr>
        <p:spPr>
          <a:xfrm>
            <a:off x="640080" y="2350008"/>
            <a:ext cx="7498080" cy="658368"/>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Help restore the impact layer so we can read how Florida's climate drives the decisions people make every day — where to grow crops, how to build homes, when to evacuate.</a:t>
            </a:r>
            <a:endParaRPr lang="en-US" sz="1300" dirty="0"/>
          </a:p>
        </p:txBody>
      </p:sp>
      <p:sp>
        <p:nvSpPr>
          <p:cNvPr id="12" name="Shape 9"/>
          <p:cNvSpPr/>
          <p:nvPr/>
        </p:nvSpPr>
        <p:spPr>
          <a:xfrm>
            <a:off x="457200" y="3154680"/>
            <a:ext cx="8046720" cy="804672"/>
          </a:xfrm>
          <a:prstGeom prst="roundRect">
            <a:avLst>
              <a:gd name="adj" fmla="val 11364"/>
            </a:avLst>
          </a:prstGeom>
          <a:solidFill>
            <a:srgbClr val="0B2830"/>
          </a:solidFill>
          <a:ln w="19050">
            <a:solidFill>
              <a:srgbClr val="1A8A7D"/>
            </a:solidFill>
            <a:prstDash val="solid"/>
          </a:ln>
        </p:spPr>
      </p:sp>
      <p:sp>
        <p:nvSpPr>
          <p:cNvPr id="13" name="Text 10"/>
          <p:cNvSpPr/>
          <p:nvPr/>
        </p:nvSpPr>
        <p:spPr>
          <a:xfrm>
            <a:off x="640080" y="3218688"/>
            <a:ext cx="3200400" cy="228600"/>
          </a:xfrm>
          <a:prstGeom prst="rect">
            <a:avLst/>
          </a:prstGeom>
          <a:noFill/>
          <a:ln/>
        </p:spPr>
        <p:txBody>
          <a:bodyPr wrap="square" lIns="0" tIns="0" rIns="0" bIns="0" rtlCol="0" anchor="ctr"/>
          <a:lstStyle/>
          <a:p>
            <a:pPr indent="0" marL="0">
              <a:buNone/>
            </a:pPr>
            <a:r>
              <a:rPr lang="en-US" sz="1000" b="1" dirty="0">
                <a:solidFill>
                  <a:srgbClr val="1A8A7D"/>
                </a:solidFill>
                <a:latin typeface="Calibri" pitchFamily="34" charset="0"/>
                <a:ea typeface="Calibri" pitchFamily="34" charset="-122"/>
                <a:cs typeface="Calibri" pitchFamily="34" charset="-120"/>
              </a:rPr>
              <a:t>Your teacher, still inside Module 2:</a:t>
            </a:r>
            <a:endParaRPr lang="en-US" sz="1000" dirty="0"/>
          </a:p>
        </p:txBody>
      </p:sp>
      <p:sp>
        <p:nvSpPr>
          <p:cNvPr id="14" name="Text 11"/>
          <p:cNvSpPr/>
          <p:nvPr/>
        </p:nvSpPr>
        <p:spPr>
          <a:xfrm>
            <a:off x="640080" y="3456432"/>
            <a:ext cx="7498080" cy="438912"/>
          </a:xfrm>
          <a:prstGeom prst="rect">
            <a:avLst/>
          </a:prstGeom>
          <a:noFill/>
          <a:ln/>
        </p:spPr>
        <p:txBody>
          <a:bodyPr wrap="square" lIns="0" tIns="0" rIns="0" bIns="0" rtlCol="0" anchor="ctr"/>
          <a:lstStyle/>
          <a:p>
            <a:pPr indent="0" marL="0">
              <a:buNone/>
            </a:pPr>
            <a:r>
              <a:rPr lang="en-US" sz="1200" i="1" dirty="0">
                <a:solidFill>
                  <a:srgbClr val="55C8E8"/>
                </a:solidFill>
                <a:latin typeface="Cambria" pitchFamily="34" charset="0"/>
                <a:ea typeface="Cambria" pitchFamily="34" charset="-122"/>
                <a:cs typeface="Cambria" pitchFamily="34" charset="-120"/>
              </a:rPr>
              <a:t>"Florida's climate isn't a backdrop — it's a force. Every crop, every building, every evacuation route exists because of the weather."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229600" cy="457200"/>
          </a:xfrm>
          <a:prstGeom prst="rect">
            <a:avLst/>
          </a:prstGeom>
          <a:noFill/>
          <a:ln/>
        </p:spPr>
        <p:txBody>
          <a:bodyPr wrap="square" lIns="0" tIns="0" rIns="0" bIns="0" rtlCol="0" anchor="ctr"/>
          <a:lstStyle/>
          <a:p>
            <a:pPr indent="0" marL="0">
              <a:buNone/>
            </a:pPr>
            <a:r>
              <a:rPr lang="en-US" sz="2800" b="1" dirty="0">
                <a:solidFill>
                  <a:srgbClr val="0E1C42"/>
                </a:solidFill>
                <a:latin typeface="Cambria" pitchFamily="34" charset="0"/>
                <a:ea typeface="Cambria" pitchFamily="34" charset="-122"/>
                <a:cs typeface="Cambria" pitchFamily="34" charset="-120"/>
              </a:rPr>
              <a:t>Today's Path</a:t>
            </a:r>
            <a:endParaRPr lang="en-US" sz="2800" dirty="0"/>
          </a:p>
        </p:txBody>
      </p:sp>
      <p:sp>
        <p:nvSpPr>
          <p:cNvPr id="4" name="Shape 2"/>
          <p:cNvSpPr/>
          <p:nvPr/>
        </p:nvSpPr>
        <p:spPr>
          <a:xfrm>
            <a:off x="365760" y="676656"/>
            <a:ext cx="8412480" cy="0"/>
          </a:xfrm>
          <a:prstGeom prst="line">
            <a:avLst/>
          </a:prstGeom>
          <a:noFill/>
          <a:ln w="25400">
            <a:solidFill>
              <a:srgbClr val="D4943A"/>
            </a:solidFill>
            <a:prstDash val="solid"/>
          </a:ln>
        </p:spPr>
      </p:sp>
      <p:sp>
        <p:nvSpPr>
          <p:cNvPr id="5" name="Shape 3"/>
          <p:cNvSpPr/>
          <p:nvPr/>
        </p:nvSpPr>
        <p:spPr>
          <a:xfrm>
            <a:off x="274320" y="841248"/>
            <a:ext cx="2011680" cy="2606040"/>
          </a:xfrm>
          <a:prstGeom prst="roundRect">
            <a:avLst>
              <a:gd name="adj" fmla="val 6818"/>
            </a:avLst>
          </a:prstGeom>
          <a:solidFill>
            <a:srgbClr val="FFFFFF"/>
          </a:solidFill>
          <a:ln/>
          <a:effectLst>
            <a:outerShdw sx="100000" sy="100000" kx="0" ky="0" algn="bl" rotWithShape="0" blurRad="76200" dist="38100" dir="8100000">
              <a:srgbClr val="000000">
                <a:alpha val="10000"/>
              </a:srgbClr>
            </a:outerShdw>
          </a:effectLst>
        </p:spPr>
      </p:sp>
      <p:sp>
        <p:nvSpPr>
          <p:cNvPr id="6" name="Shape 4"/>
          <p:cNvSpPr/>
          <p:nvPr/>
        </p:nvSpPr>
        <p:spPr>
          <a:xfrm>
            <a:off x="1005840" y="932688"/>
            <a:ext cx="548640" cy="548640"/>
          </a:xfrm>
          <a:prstGeom prst="ellipse">
            <a:avLst/>
          </a:prstGeom>
          <a:solidFill>
            <a:srgbClr val="D4943A"/>
          </a:solidFill>
          <a:ln/>
        </p:spPr>
      </p:sp>
      <p:sp>
        <p:nvSpPr>
          <p:cNvPr id="7" name="Text 5"/>
          <p:cNvSpPr/>
          <p:nvPr/>
        </p:nvSpPr>
        <p:spPr>
          <a:xfrm>
            <a:off x="1005840" y="9326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365760" y="1572768"/>
            <a:ext cx="1828800" cy="384048"/>
          </a:xfrm>
          <a:prstGeom prst="rect">
            <a:avLst/>
          </a:prstGeom>
          <a:noFill/>
          <a:ln/>
        </p:spPr>
        <p:txBody>
          <a:bodyPr wrap="square" lIns="0" tIns="0" rIns="0" bIns="0" rtlCol="0" anchor="ctr"/>
          <a:lstStyle/>
          <a:p>
            <a:pPr algn="ctr" indent="0" marL="0">
              <a:buNone/>
            </a:pPr>
            <a:r>
              <a:rPr lang="en-US" sz="1300" b="1" dirty="0">
                <a:solidFill>
                  <a:srgbClr val="0E1C42"/>
                </a:solidFill>
                <a:latin typeface="Cambria" pitchFamily="34" charset="0"/>
                <a:ea typeface="Cambria" pitchFamily="34" charset="-122"/>
                <a:cs typeface="Cambria" pitchFamily="34" charset="-120"/>
              </a:rPr>
              <a:t>Word Root: Hydro</a:t>
            </a:r>
            <a:endParaRPr lang="en-US" sz="1300" dirty="0"/>
          </a:p>
        </p:txBody>
      </p:sp>
      <p:sp>
        <p:nvSpPr>
          <p:cNvPr id="9" name="Text 7"/>
          <p:cNvSpPr/>
          <p:nvPr/>
        </p:nvSpPr>
        <p:spPr>
          <a:xfrm>
            <a:off x="365760" y="1993392"/>
            <a:ext cx="1828800" cy="1389888"/>
          </a:xfrm>
          <a:prstGeom prst="rect">
            <a:avLst/>
          </a:prstGeom>
          <a:noFill/>
          <a:ln/>
        </p:spPr>
        <p:txBody>
          <a:bodyPr wrap="square" lIns="0" tIns="0" rIns="0" bIns="0" rtlCol="0" anchor="t"/>
          <a:lstStyle/>
          <a:p>
            <a:pPr algn="ctr" indent="0" marL="0">
              <a:buNone/>
            </a:pPr>
            <a:r>
              <a:rPr lang="en-US" sz="1050" dirty="0">
                <a:solidFill>
                  <a:srgbClr val="7A88A8"/>
                </a:solidFill>
                <a:latin typeface="Calibri" pitchFamily="34" charset="0"/>
                <a:ea typeface="Calibri" pitchFamily="34" charset="-122"/>
                <a:cs typeface="Calibri" pitchFamily="34" charset="-120"/>
              </a:rPr>
              <a:t>Greek hydro = water. Unlock the vocabulary before exploring the map.</a:t>
            </a:r>
            <a:endParaRPr lang="en-US" sz="1050" dirty="0"/>
          </a:p>
        </p:txBody>
      </p:sp>
      <p:sp>
        <p:nvSpPr>
          <p:cNvPr id="10" name="Shape 8"/>
          <p:cNvSpPr/>
          <p:nvPr/>
        </p:nvSpPr>
        <p:spPr>
          <a:xfrm>
            <a:off x="2423160" y="841248"/>
            <a:ext cx="2011680" cy="2606040"/>
          </a:xfrm>
          <a:prstGeom prst="roundRect">
            <a:avLst>
              <a:gd name="adj" fmla="val 6818"/>
            </a:avLst>
          </a:prstGeom>
          <a:solidFill>
            <a:srgbClr val="FFFFFF"/>
          </a:solidFill>
          <a:ln/>
          <a:effectLst>
            <a:outerShdw sx="100000" sy="100000" kx="0" ky="0" algn="bl" rotWithShape="0" blurRad="76200" dist="38100" dir="8100000">
              <a:srgbClr val="000000">
                <a:alpha val="10000"/>
              </a:srgbClr>
            </a:outerShdw>
          </a:effectLst>
        </p:spPr>
      </p:sp>
      <p:sp>
        <p:nvSpPr>
          <p:cNvPr id="11" name="Shape 9"/>
          <p:cNvSpPr/>
          <p:nvPr/>
        </p:nvSpPr>
        <p:spPr>
          <a:xfrm>
            <a:off x="3154680" y="932688"/>
            <a:ext cx="548640" cy="548640"/>
          </a:xfrm>
          <a:prstGeom prst="ellipse">
            <a:avLst/>
          </a:prstGeom>
          <a:solidFill>
            <a:srgbClr val="D4943A"/>
          </a:solidFill>
          <a:ln/>
        </p:spPr>
      </p:sp>
      <p:sp>
        <p:nvSpPr>
          <p:cNvPr id="12" name="Text 10"/>
          <p:cNvSpPr/>
          <p:nvPr/>
        </p:nvSpPr>
        <p:spPr>
          <a:xfrm>
            <a:off x="3154680" y="9326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2514600" y="1572768"/>
            <a:ext cx="1828800" cy="384048"/>
          </a:xfrm>
          <a:prstGeom prst="rect">
            <a:avLst/>
          </a:prstGeom>
          <a:noFill/>
          <a:ln/>
        </p:spPr>
        <p:txBody>
          <a:bodyPr wrap="square" lIns="0" tIns="0" rIns="0" bIns="0" rtlCol="0" anchor="ctr"/>
          <a:lstStyle/>
          <a:p>
            <a:pPr algn="ctr" indent="0" marL="0">
              <a:buNone/>
            </a:pPr>
            <a:r>
              <a:rPr lang="en-US" sz="1300" b="1" dirty="0">
                <a:solidFill>
                  <a:srgbClr val="0E1C42"/>
                </a:solidFill>
                <a:latin typeface="Cambria" pitchFamily="34" charset="0"/>
                <a:ea typeface="Cambria" pitchFamily="34" charset="-122"/>
                <a:cs typeface="Cambria" pitchFamily="34" charset="-120"/>
              </a:rPr>
              <a:t>The Impact Map</a:t>
            </a:r>
            <a:endParaRPr lang="en-US" sz="1300" dirty="0"/>
          </a:p>
        </p:txBody>
      </p:sp>
      <p:sp>
        <p:nvSpPr>
          <p:cNvPr id="14" name="Text 12"/>
          <p:cNvSpPr/>
          <p:nvPr/>
        </p:nvSpPr>
        <p:spPr>
          <a:xfrm>
            <a:off x="2514600" y="1993392"/>
            <a:ext cx="1828800" cy="1389888"/>
          </a:xfrm>
          <a:prstGeom prst="rect">
            <a:avLst/>
          </a:prstGeom>
          <a:noFill/>
          <a:ln/>
        </p:spPr>
        <p:txBody>
          <a:bodyPr wrap="square" lIns="0" tIns="0" rIns="0" bIns="0" rtlCol="0" anchor="t"/>
          <a:lstStyle/>
          <a:p>
            <a:pPr algn="ctr" indent="0" marL="0">
              <a:buNone/>
            </a:pPr>
            <a:r>
              <a:rPr lang="en-US" sz="1050" dirty="0">
                <a:solidFill>
                  <a:srgbClr val="7A88A8"/>
                </a:solidFill>
                <a:latin typeface="Calibri" pitchFamily="34" charset="0"/>
                <a:ea typeface="Calibri" pitchFamily="34" charset="-122"/>
                <a:cs typeface="Calibri" pitchFamily="34" charset="-120"/>
              </a:rPr>
              <a:t>Read Florida's climate-impact zones as evidence. Cause and effect.</a:t>
            </a:r>
            <a:endParaRPr lang="en-US" sz="1050" dirty="0"/>
          </a:p>
        </p:txBody>
      </p:sp>
      <p:sp>
        <p:nvSpPr>
          <p:cNvPr id="15" name="Shape 13"/>
          <p:cNvSpPr/>
          <p:nvPr/>
        </p:nvSpPr>
        <p:spPr>
          <a:xfrm>
            <a:off x="4572000" y="841248"/>
            <a:ext cx="2011680" cy="2606040"/>
          </a:xfrm>
          <a:prstGeom prst="roundRect">
            <a:avLst>
              <a:gd name="adj" fmla="val 6818"/>
            </a:avLst>
          </a:prstGeom>
          <a:solidFill>
            <a:srgbClr val="FFFFFF"/>
          </a:solidFill>
          <a:ln/>
          <a:effectLst>
            <a:outerShdw sx="100000" sy="100000" kx="0" ky="0" algn="bl" rotWithShape="0" blurRad="76200" dist="38100" dir="8100000">
              <a:srgbClr val="000000">
                <a:alpha val="10000"/>
              </a:srgbClr>
            </a:outerShdw>
          </a:effectLst>
        </p:spPr>
      </p:sp>
      <p:sp>
        <p:nvSpPr>
          <p:cNvPr id="16" name="Shape 14"/>
          <p:cNvSpPr/>
          <p:nvPr/>
        </p:nvSpPr>
        <p:spPr>
          <a:xfrm>
            <a:off x="5303520" y="932688"/>
            <a:ext cx="548640" cy="548640"/>
          </a:xfrm>
          <a:prstGeom prst="ellipse">
            <a:avLst/>
          </a:prstGeom>
          <a:solidFill>
            <a:srgbClr val="D4943A"/>
          </a:solidFill>
          <a:ln/>
        </p:spPr>
      </p:sp>
      <p:sp>
        <p:nvSpPr>
          <p:cNvPr id="17" name="Text 15"/>
          <p:cNvSpPr/>
          <p:nvPr/>
        </p:nvSpPr>
        <p:spPr>
          <a:xfrm>
            <a:off x="5303520" y="9326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4663440" y="1572768"/>
            <a:ext cx="1828800" cy="384048"/>
          </a:xfrm>
          <a:prstGeom prst="rect">
            <a:avLst/>
          </a:prstGeom>
          <a:noFill/>
          <a:ln/>
        </p:spPr>
        <p:txBody>
          <a:bodyPr wrap="square" lIns="0" tIns="0" rIns="0" bIns="0" rtlCol="0" anchor="ctr"/>
          <a:lstStyle/>
          <a:p>
            <a:pPr algn="ctr" indent="0" marL="0">
              <a:buNone/>
            </a:pPr>
            <a:r>
              <a:rPr lang="en-US" sz="1300" b="1" dirty="0">
                <a:solidFill>
                  <a:srgbClr val="0E1C42"/>
                </a:solidFill>
                <a:latin typeface="Cambria" pitchFamily="34" charset="0"/>
                <a:ea typeface="Cambria" pitchFamily="34" charset="-122"/>
                <a:cs typeface="Cambria" pitchFamily="34" charset="-120"/>
              </a:rPr>
              <a:t>Self-Check</a:t>
            </a:r>
            <a:endParaRPr lang="en-US" sz="1300" dirty="0"/>
          </a:p>
        </p:txBody>
      </p:sp>
      <p:sp>
        <p:nvSpPr>
          <p:cNvPr id="19" name="Text 17"/>
          <p:cNvSpPr/>
          <p:nvPr/>
        </p:nvSpPr>
        <p:spPr>
          <a:xfrm>
            <a:off x="4663440" y="1993392"/>
            <a:ext cx="1828800" cy="1389888"/>
          </a:xfrm>
          <a:prstGeom prst="rect">
            <a:avLst/>
          </a:prstGeom>
          <a:noFill/>
          <a:ln/>
        </p:spPr>
        <p:txBody>
          <a:bodyPr wrap="square" lIns="0" tIns="0" rIns="0" bIns="0" rtlCol="0" anchor="t"/>
          <a:lstStyle/>
          <a:p>
            <a:pPr algn="ctr" indent="0" marL="0">
              <a:buNone/>
            </a:pPr>
            <a:r>
              <a:rPr lang="en-US" sz="1050" dirty="0">
                <a:solidFill>
                  <a:srgbClr val="7A88A8"/>
                </a:solidFill>
                <a:latin typeface="Calibri" pitchFamily="34" charset="0"/>
                <a:ea typeface="Calibri" pitchFamily="34" charset="-122"/>
                <a:cs typeface="Calibri" pitchFamily="34" charset="-120"/>
              </a:rPr>
              <a:t>Three quick questions. Cover your notes — answer from what you remember.</a:t>
            </a:r>
            <a:endParaRPr lang="en-US" sz="1050" dirty="0"/>
          </a:p>
        </p:txBody>
      </p:sp>
      <p:sp>
        <p:nvSpPr>
          <p:cNvPr id="20" name="Shape 18"/>
          <p:cNvSpPr/>
          <p:nvPr/>
        </p:nvSpPr>
        <p:spPr>
          <a:xfrm>
            <a:off x="6720840" y="841248"/>
            <a:ext cx="2011680" cy="2606040"/>
          </a:xfrm>
          <a:prstGeom prst="roundRect">
            <a:avLst>
              <a:gd name="adj" fmla="val 6818"/>
            </a:avLst>
          </a:prstGeom>
          <a:solidFill>
            <a:srgbClr val="FFFFFF"/>
          </a:solidFill>
          <a:ln/>
          <a:effectLst>
            <a:outerShdw sx="100000" sy="100000" kx="0" ky="0" algn="bl" rotWithShape="0" blurRad="76200" dist="38100" dir="8100000">
              <a:srgbClr val="000000">
                <a:alpha val="10000"/>
              </a:srgbClr>
            </a:outerShdw>
          </a:effectLst>
        </p:spPr>
      </p:sp>
      <p:sp>
        <p:nvSpPr>
          <p:cNvPr id="21" name="Shape 19"/>
          <p:cNvSpPr/>
          <p:nvPr/>
        </p:nvSpPr>
        <p:spPr>
          <a:xfrm>
            <a:off x="7452360" y="932688"/>
            <a:ext cx="548640" cy="548640"/>
          </a:xfrm>
          <a:prstGeom prst="ellipse">
            <a:avLst/>
          </a:prstGeom>
          <a:solidFill>
            <a:srgbClr val="D4943A"/>
          </a:solidFill>
          <a:ln/>
        </p:spPr>
      </p:sp>
      <p:sp>
        <p:nvSpPr>
          <p:cNvPr id="22" name="Text 20"/>
          <p:cNvSpPr/>
          <p:nvPr/>
        </p:nvSpPr>
        <p:spPr>
          <a:xfrm>
            <a:off x="7452360" y="93268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6812280" y="1572768"/>
            <a:ext cx="1828800" cy="384048"/>
          </a:xfrm>
          <a:prstGeom prst="rect">
            <a:avLst/>
          </a:prstGeom>
          <a:noFill/>
          <a:ln/>
        </p:spPr>
        <p:txBody>
          <a:bodyPr wrap="square" lIns="0" tIns="0" rIns="0" bIns="0" rtlCol="0" anchor="ctr"/>
          <a:lstStyle/>
          <a:p>
            <a:pPr algn="ctr" indent="0" marL="0">
              <a:buNone/>
            </a:pPr>
            <a:r>
              <a:rPr lang="en-US" sz="1300" b="1" dirty="0">
                <a:solidFill>
                  <a:srgbClr val="0E1C42"/>
                </a:solidFill>
                <a:latin typeface="Cambria" pitchFamily="34" charset="0"/>
                <a:ea typeface="Cambria" pitchFamily="34" charset="-122"/>
                <a:cs typeface="Cambria" pitchFamily="34" charset="-120"/>
              </a:rPr>
              <a:t>Lock It In</a:t>
            </a:r>
            <a:endParaRPr lang="en-US" sz="1300" dirty="0"/>
          </a:p>
        </p:txBody>
      </p:sp>
      <p:sp>
        <p:nvSpPr>
          <p:cNvPr id="24" name="Text 22"/>
          <p:cNvSpPr/>
          <p:nvPr/>
        </p:nvSpPr>
        <p:spPr>
          <a:xfrm>
            <a:off x="6812280" y="1993392"/>
            <a:ext cx="1828800" cy="1389888"/>
          </a:xfrm>
          <a:prstGeom prst="rect">
            <a:avLst/>
          </a:prstGeom>
          <a:noFill/>
          <a:ln/>
        </p:spPr>
        <p:txBody>
          <a:bodyPr wrap="square" lIns="0" tIns="0" rIns="0" bIns="0" rtlCol="0" anchor="t"/>
          <a:lstStyle/>
          <a:p>
            <a:pPr algn="ctr" indent="0" marL="0">
              <a:buNone/>
            </a:pPr>
            <a:r>
              <a:rPr lang="en-US" sz="1050" dirty="0">
                <a:solidFill>
                  <a:srgbClr val="7A88A8"/>
                </a:solidFill>
                <a:latin typeface="Calibri" pitchFamily="34" charset="0"/>
                <a:ea typeface="Calibri" pitchFamily="34" charset="-122"/>
                <a:cs typeface="Calibri" pitchFamily="34" charset="-120"/>
              </a:rPr>
              <a:t>Evidence questions + Unlock Challenge. Make the cause-effect link clear.</a:t>
            </a:r>
            <a:endParaRPr lang="en-US" sz="1050" dirty="0"/>
          </a:p>
        </p:txBody>
      </p:sp>
      <p:sp>
        <p:nvSpPr>
          <p:cNvPr id="25" name="Shape 23"/>
          <p:cNvSpPr/>
          <p:nvPr/>
        </p:nvSpPr>
        <p:spPr>
          <a:xfrm>
            <a:off x="274320" y="3566160"/>
            <a:ext cx="8595360" cy="749808"/>
          </a:xfrm>
          <a:prstGeom prst="roundRect">
            <a:avLst>
              <a:gd name="adj" fmla="val 12195"/>
            </a:avLst>
          </a:prstGeom>
          <a:solidFill>
            <a:srgbClr val="FFF3DC"/>
          </a:solidFill>
          <a:ln w="19050">
            <a:solidFill>
              <a:srgbClr val="F5E6C8"/>
            </a:solidFill>
            <a:prstDash val="solid"/>
          </a:ln>
        </p:spPr>
      </p:sp>
      <p:sp>
        <p:nvSpPr>
          <p:cNvPr id="26" name="Text 24"/>
          <p:cNvSpPr/>
          <p:nvPr/>
        </p:nvSpPr>
        <p:spPr>
          <a:xfrm>
            <a:off x="457200" y="3639312"/>
            <a:ext cx="2194560" cy="256032"/>
          </a:xfrm>
          <a:prstGeom prst="rect">
            <a:avLst/>
          </a:prstGeom>
          <a:noFill/>
          <a:ln/>
        </p:spPr>
        <p:txBody>
          <a:bodyPr wrap="square" lIns="0" tIns="0" rIns="0" bIns="0"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Copywork sentence:</a:t>
            </a:r>
            <a:endParaRPr lang="en-US" sz="1000" dirty="0"/>
          </a:p>
        </p:txBody>
      </p:sp>
      <p:sp>
        <p:nvSpPr>
          <p:cNvPr id="27" name="Text 25"/>
          <p:cNvSpPr/>
          <p:nvPr/>
        </p:nvSpPr>
        <p:spPr>
          <a:xfrm>
            <a:off x="457200" y="3913632"/>
            <a:ext cx="8229600" cy="347472"/>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"People build their lives around the weather they cannot control."</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280160" cy="292608"/>
          </a:xfrm>
          <a:prstGeom prst="roundRect">
            <a:avLst>
              <a:gd name="adj" fmla="val 25000"/>
            </a:avLst>
          </a:prstGeom>
          <a:solidFill>
            <a:srgbClr val="1A8A7D"/>
          </a:solidFill>
          <a:ln/>
        </p:spPr>
      </p:sp>
      <p:sp>
        <p:nvSpPr>
          <p:cNvPr id="4" name="Text 2"/>
          <p:cNvSpPr/>
          <p:nvPr/>
        </p:nvSpPr>
        <p:spPr>
          <a:xfrm>
            <a:off x="274320" y="164592"/>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CLUE BOX 1</a:t>
            </a:r>
            <a:endParaRPr lang="en-US" sz="900" dirty="0"/>
          </a:p>
        </p:txBody>
      </p:sp>
      <p:sp>
        <p:nvSpPr>
          <p:cNvPr id="5" name="Text 3"/>
          <p:cNvSpPr/>
          <p:nvPr/>
        </p:nvSpPr>
        <p:spPr>
          <a:xfrm>
            <a:off x="274320" y="530352"/>
            <a:ext cx="5943600" cy="402336"/>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Florida's Climate-Impact Map</a:t>
            </a:r>
            <a:endParaRPr lang="en-US" sz="2400" dirty="0"/>
          </a:p>
        </p:txBody>
      </p:sp>
      <p:sp>
        <p:nvSpPr>
          <p:cNvPr id="6" name="Text 4"/>
          <p:cNvSpPr/>
          <p:nvPr/>
        </p:nvSpPr>
        <p:spPr>
          <a:xfrm>
            <a:off x="274320" y="950976"/>
            <a:ext cx="5943600" cy="256032"/>
          </a:xfrm>
          <a:prstGeom prst="rect">
            <a:avLst/>
          </a:prstGeom>
          <a:noFill/>
          <a:ln/>
        </p:spPr>
        <p:txBody>
          <a:bodyPr wrap="square" lIns="0" tIns="0" rIns="0" bIns="0" rtlCol="0" anchor="ctr"/>
          <a:lstStyle/>
          <a:p>
            <a:pPr indent="0" marL="0">
              <a:buNone/>
            </a:pPr>
            <a:r>
              <a:rPr lang="en-US" sz="1200" i="1" dirty="0">
                <a:solidFill>
                  <a:srgbClr val="7A88A8"/>
                </a:solidFill>
                <a:latin typeface="Calibri" pitchFamily="34" charset="0"/>
                <a:ea typeface="Calibri" pitchFamily="34" charset="-122"/>
                <a:cs typeface="Calibri" pitchFamily="34" charset="-120"/>
              </a:rPr>
              <a:t>5 seconds — just look. What zones or regions do you see?</a:t>
            </a:r>
            <a:endParaRPr lang="en-US" sz="1200" dirty="0"/>
          </a:p>
        </p:txBody>
      </p:sp>
      <p:sp>
        <p:nvSpPr>
          <p:cNvPr id="7" name="Shape 5"/>
          <p:cNvSpPr/>
          <p:nvPr/>
        </p:nvSpPr>
        <p:spPr>
          <a:xfrm>
            <a:off x="274320" y="1261872"/>
            <a:ext cx="5669280" cy="3520440"/>
          </a:xfrm>
          <a:prstGeom prst="roundRect">
            <a:avLst>
              <a:gd name="adj" fmla="val 3117"/>
            </a:avLst>
          </a:prstGeom>
          <a:solidFill>
            <a:srgbClr val="E2E8F4"/>
          </a:solidFill>
          <a:ln w="19050">
            <a:solidFill>
              <a:srgbClr val="B0B8CC"/>
            </a:solidFill>
            <a:prstDash val="dash"/>
          </a:ln>
        </p:spPr>
      </p:sp>
      <p:sp>
        <p:nvSpPr>
          <p:cNvPr id="8" name="Text 6"/>
          <p:cNvSpPr/>
          <p:nvPr/>
        </p:nvSpPr>
        <p:spPr>
          <a:xfrm>
            <a:off x="274320" y="1261872"/>
            <a:ext cx="56692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411480" y="1536192"/>
            <a:ext cx="5394960" cy="31546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climate-impact map showing: hurricane evacuation zones (Zone A closest to coast, Zone B inland) OR citrus growing regions (central Florida highlighted) OR flood-risk zones along coasts. Color-coded regions. Bold labels. Simple legend. No explanatory text.</a:t>
            </a:r>
            <a:endParaRPr lang="en-US" sz="1100" dirty="0"/>
          </a:p>
        </p:txBody>
      </p:sp>
      <p:sp>
        <p:nvSpPr>
          <p:cNvPr id="10" name="Shape 8"/>
          <p:cNvSpPr/>
          <p:nvPr/>
        </p:nvSpPr>
        <p:spPr>
          <a:xfrm>
            <a:off x="6080760" y="1261872"/>
            <a:ext cx="2743200" cy="3520440"/>
          </a:xfrm>
          <a:prstGeom prst="roundRect">
            <a:avLst>
              <a:gd name="adj" fmla="val 4000"/>
            </a:avLst>
          </a:prstGeom>
          <a:solidFill>
            <a:srgbClr val="FFF3DC"/>
          </a:solidFill>
          <a:ln w="19050">
            <a:solidFill>
              <a:srgbClr val="F5E6C8"/>
            </a:solidFill>
            <a:prstDash val="solid"/>
          </a:ln>
        </p:spPr>
      </p:sp>
      <p:sp>
        <p:nvSpPr>
          <p:cNvPr id="11" name="Text 9"/>
          <p:cNvSpPr/>
          <p:nvPr/>
        </p:nvSpPr>
        <p:spPr>
          <a:xfrm>
            <a:off x="6217920" y="1316736"/>
            <a:ext cx="246888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6217920" y="1517904"/>
            <a:ext cx="2468880" cy="32004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 ___ on this map. The cause must be 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zone exists because... which tells me..."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thing that surprises me about this map is..."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412480" cy="438912"/>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Discussion: What Made This Zone Necessary?</a:t>
            </a:r>
            <a:endParaRPr lang="en-US" sz="2100" dirty="0"/>
          </a:p>
        </p:txBody>
      </p:sp>
      <p:sp>
        <p:nvSpPr>
          <p:cNvPr id="4" name="Shape 2"/>
          <p:cNvSpPr/>
          <p:nvPr/>
        </p:nvSpPr>
        <p:spPr>
          <a:xfrm>
            <a:off x="365760" y="658368"/>
            <a:ext cx="8412480" cy="0"/>
          </a:xfrm>
          <a:prstGeom prst="line">
            <a:avLst/>
          </a:prstGeom>
          <a:noFill/>
          <a:ln w="25400">
            <a:solidFill>
              <a:srgbClr val="1A8A7D"/>
            </a:solidFill>
            <a:prstDash val="solid"/>
          </a:ln>
        </p:spPr>
      </p:sp>
      <p:sp>
        <p:nvSpPr>
          <p:cNvPr id="5" name="Shape 3"/>
          <p:cNvSpPr/>
          <p:nvPr/>
        </p:nvSpPr>
        <p:spPr>
          <a:xfrm>
            <a:off x="365760" y="804672"/>
            <a:ext cx="4023360" cy="3063240"/>
          </a:xfrm>
          <a:prstGeom prst="roundRect">
            <a:avLst>
              <a:gd name="adj" fmla="val 3582"/>
            </a:avLst>
          </a:prstGeom>
          <a:solidFill>
            <a:srgbClr val="E2E8F4"/>
          </a:solidFill>
          <a:ln w="19050">
            <a:solidFill>
              <a:srgbClr val="B0B8CC"/>
            </a:solidFill>
            <a:prstDash val="dash"/>
          </a:ln>
        </p:spPr>
      </p:sp>
      <p:sp>
        <p:nvSpPr>
          <p:cNvPr id="6" name="Text 4"/>
          <p:cNvSpPr/>
          <p:nvPr/>
        </p:nvSpPr>
        <p:spPr>
          <a:xfrm>
            <a:off x="365760" y="804672"/>
            <a:ext cx="402336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078992"/>
            <a:ext cx="3749040" cy="26974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Same Florida climate-impact map — zones visible for discussion reference</a:t>
            </a:r>
            <a:endParaRPr lang="en-US" sz="1100" dirty="0"/>
          </a:p>
        </p:txBody>
      </p:sp>
      <p:sp>
        <p:nvSpPr>
          <p:cNvPr id="8" name="Shape 6"/>
          <p:cNvSpPr/>
          <p:nvPr/>
        </p:nvSpPr>
        <p:spPr>
          <a:xfrm>
            <a:off x="4572000" y="804672"/>
            <a:ext cx="4206240" cy="3063240"/>
          </a:xfrm>
          <a:prstGeom prst="roundRect">
            <a:avLst>
              <a:gd name="adj" fmla="val 4478"/>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4754880" y="896112"/>
            <a:ext cx="38404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4754880" y="1152144"/>
            <a:ext cx="3840480" cy="26243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weather pattern made this zone necessary? Name a specific cause.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human choice is visible on this map? Who made that decision —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you build a house anywhere on this map, or does the map tell you something about risk?</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NOT shown on this map that you would want to know before buying a house?</a:t>
            </a:r>
            <a:endParaRPr lang="en-US" sz="1100" dirty="0"/>
          </a:p>
        </p:txBody>
      </p:sp>
      <p:sp>
        <p:nvSpPr>
          <p:cNvPr id="11" name="Shape 9"/>
          <p:cNvSpPr/>
          <p:nvPr/>
        </p:nvSpPr>
        <p:spPr>
          <a:xfrm>
            <a:off x="365760" y="3977640"/>
            <a:ext cx="8412480" cy="841248"/>
          </a:xfrm>
          <a:prstGeom prst="roundRect">
            <a:avLst>
              <a:gd name="adj" fmla="val 13043"/>
            </a:avLst>
          </a:prstGeom>
          <a:solidFill>
            <a:srgbClr val="FFF3DC"/>
          </a:solidFill>
          <a:ln w="19050">
            <a:solidFill>
              <a:srgbClr val="F5E6C8"/>
            </a:solidFill>
            <a:prstDash val="solid"/>
          </a:ln>
        </p:spPr>
      </p:sp>
      <p:sp>
        <p:nvSpPr>
          <p:cNvPr id="12" name="Text 10"/>
          <p:cNvSpPr/>
          <p:nvPr/>
        </p:nvSpPr>
        <p:spPr>
          <a:xfrm>
            <a:off x="502920" y="40325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502920" y="4233672"/>
            <a:ext cx="8138160" cy="52120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zone exists because the weather..."</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map shows a human choice to... because..."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1280160" cy="292608"/>
          </a:xfrm>
          <a:prstGeom prst="roundRect">
            <a:avLst>
              <a:gd name="adj" fmla="val 25000"/>
            </a:avLst>
          </a:prstGeom>
          <a:solidFill>
            <a:srgbClr val="1A8A7D"/>
          </a:solidFill>
          <a:ln/>
        </p:spPr>
      </p:sp>
      <p:sp>
        <p:nvSpPr>
          <p:cNvPr id="6" name="Text 3"/>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REVEAL 1</a:t>
            </a:r>
            <a:endParaRPr lang="en-US" sz="900" dirty="0"/>
          </a:p>
        </p:txBody>
      </p:sp>
      <p:sp>
        <p:nvSpPr>
          <p:cNvPr id="7" name="Text 4"/>
          <p:cNvSpPr/>
          <p:nvPr/>
        </p:nvSpPr>
        <p:spPr>
          <a:xfrm>
            <a:off x="457200" y="658368"/>
            <a:ext cx="8229600" cy="384048"/>
          </a:xfrm>
          <a:prstGeom prst="rect">
            <a:avLst/>
          </a:prstGeom>
          <a:noFill/>
          <a:ln/>
        </p:spPr>
        <p:txBody>
          <a:bodyPr wrap="square" lIns="0" tIns="0" rIns="0" bIns="0" rtlCol="0" anchor="ctr"/>
          <a:lstStyle/>
          <a:p>
            <a:pPr indent="0" marL="0">
              <a:buNone/>
            </a:pPr>
            <a:r>
              <a:rPr lang="en-US" sz="1800" i="1" dirty="0">
                <a:solidFill>
                  <a:srgbClr val="55C8E8"/>
                </a:solidFill>
                <a:latin typeface="Cambria" pitchFamily="34" charset="0"/>
                <a:ea typeface="Cambria" pitchFamily="34" charset="-122"/>
                <a:cs typeface="Cambria" pitchFamily="34" charset="-120"/>
              </a:rPr>
              <a:t>Florida's climate isn't a backdrop.</a:t>
            </a:r>
            <a:endParaRPr lang="en-US" sz="1800" dirty="0"/>
          </a:p>
        </p:txBody>
      </p:sp>
      <p:sp>
        <p:nvSpPr>
          <p:cNvPr id="8" name="Text 5"/>
          <p:cNvSpPr/>
          <p:nvPr/>
        </p:nvSpPr>
        <p:spPr>
          <a:xfrm>
            <a:off x="457200" y="1060704"/>
            <a:ext cx="82296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It's a force that shapes every decision.</a:t>
            </a:r>
            <a:endParaRPr lang="en-US" sz="3400" dirty="0"/>
          </a:p>
        </p:txBody>
      </p:sp>
      <p:sp>
        <p:nvSpPr>
          <p:cNvPr id="9" name="Shape 6"/>
          <p:cNvSpPr/>
          <p:nvPr/>
        </p:nvSpPr>
        <p:spPr>
          <a:xfrm>
            <a:off x="457200" y="1755648"/>
            <a:ext cx="8138160" cy="1389888"/>
          </a:xfrm>
          <a:prstGeom prst="roundRect">
            <a:avLst>
              <a:gd name="adj" fmla="val 7895"/>
            </a:avLst>
          </a:prstGeom>
          <a:solidFill>
            <a:srgbClr val="1A2D5A"/>
          </a:solidFill>
          <a:ln/>
        </p:spPr>
      </p:sp>
      <p:sp>
        <p:nvSpPr>
          <p:cNvPr id="10" name="Text 7"/>
          <p:cNvSpPr/>
          <p:nvPr/>
        </p:nvSpPr>
        <p:spPr>
          <a:xfrm>
            <a:off x="640080" y="1828800"/>
            <a:ext cx="45720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THE PATTERN: CAUSE AND EFFECT</a:t>
            </a:r>
            <a:endParaRPr lang="en-US" sz="900" dirty="0"/>
          </a:p>
        </p:txBody>
      </p:sp>
      <p:sp>
        <p:nvSpPr>
          <p:cNvPr id="11" name="Text 8"/>
          <p:cNvSpPr/>
          <p:nvPr/>
        </p:nvSpPr>
        <p:spPr>
          <a:xfrm>
            <a:off x="640080" y="2121408"/>
            <a:ext cx="7772400" cy="987552"/>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Climate pattern </a:t>
            </a:r>
            <a:pPr indent="0" marL="0">
              <a:buNone/>
            </a:pPr>
            <a:r>
              <a:rPr lang="en-US" sz="1300" i="1" dirty="0">
                <a:solidFill>
                  <a:srgbClr val="55C8E8"/>
                </a:solidFill>
                <a:latin typeface="Calibri" pitchFamily="34" charset="0"/>
                <a:ea typeface="Calibri" pitchFamily="34" charset="-122"/>
                <a:cs typeface="Calibri" pitchFamily="34" charset="-120"/>
              </a:rPr>
              <a:t>(cause)  </a:t>
            </a:r>
            <a:pPr indent="0" marL="0">
              <a:buNone/>
            </a:pPr>
            <a:r>
              <a:rPr lang="en-US" sz="1300" dirty="0">
                <a:solidFill>
                  <a:srgbClr val="FFFFFF"/>
                </a:solidFill>
                <a:latin typeface="Calibri" pitchFamily="34" charset="0"/>
                <a:ea typeface="Calibri" pitchFamily="34" charset="-122"/>
                <a:cs typeface="Calibri" pitchFamily="34" charset="-120"/>
              </a:rPr>
              <a:t>-&gt;  Human response </a:t>
            </a:r>
            <a:pPr indent="0" marL="0">
              <a:buNone/>
            </a:pPr>
            <a:r>
              <a:rPr lang="en-US" sz="1300" i="1" dirty="0">
                <a:solidFill>
                  <a:srgbClr val="55C8E8"/>
                </a:solidFill>
                <a:latin typeface="Calibri" pitchFamily="34" charset="0"/>
                <a:ea typeface="Calibri" pitchFamily="34" charset="-122"/>
                <a:cs typeface="Calibri" pitchFamily="34" charset="-120"/>
              </a:rPr>
              <a:t>(effect)
</a:t>
            </a:r>
            <a:pPr indent="0" marL="0">
              <a:buNone/>
            </a:pPr>
            <a:r>
              <a:rPr lang="en-US" sz="1300" dirty="0">
                <a:solidFill>
                  <a:srgbClr val="D0D8F0"/>
                </a:solidFill>
                <a:latin typeface="Calibri" pitchFamily="34" charset="0"/>
                <a:ea typeface="Calibri" pitchFamily="34" charset="-122"/>
                <a:cs typeface="Calibri" pitchFamily="34" charset="-120"/>
              </a:rPr>
              <a:t>Where to grow.  How to build.  When to leave.  What to protect.</a:t>
            </a:r>
            <a:endParaRPr lang="en-US" sz="1300" dirty="0"/>
          </a:p>
        </p:txBody>
      </p:sp>
      <p:sp>
        <p:nvSpPr>
          <p:cNvPr id="12" name="Shape 9"/>
          <p:cNvSpPr/>
          <p:nvPr/>
        </p:nvSpPr>
        <p:spPr>
          <a:xfrm>
            <a:off x="457200" y="3273552"/>
            <a:ext cx="8138160" cy="685800"/>
          </a:xfrm>
          <a:prstGeom prst="roundRect">
            <a:avLst>
              <a:gd name="adj" fmla="val 13333"/>
            </a:avLst>
          </a:prstGeom>
          <a:solidFill>
            <a:srgbClr val="1A2D5A"/>
          </a:solidFill>
          <a:ln/>
        </p:spPr>
      </p:sp>
      <p:sp>
        <p:nvSpPr>
          <p:cNvPr id="13" name="Text 10"/>
          <p:cNvSpPr/>
          <p:nvPr/>
        </p:nvSpPr>
        <p:spPr>
          <a:xfrm>
            <a:off x="640080" y="3346704"/>
            <a:ext cx="7772400" cy="539496"/>
          </a:xfrm>
          <a:prstGeom prst="rect">
            <a:avLst/>
          </a:prstGeom>
          <a:noFill/>
          <a:ln/>
        </p:spPr>
        <p:txBody>
          <a:bodyPr wrap="square" lIns="0" tIns="0" rIns="0" bIns="0" rtlCol="0" anchor="ctr"/>
          <a:lstStyle/>
          <a:p>
            <a:pPr indent="0" marL="0">
              <a:buNone/>
            </a:pPr>
            <a:r>
              <a:rPr lang="en-US" sz="1200" i="1" dirty="0">
                <a:solidFill>
                  <a:srgbClr val="FFF3DC"/>
                </a:solidFill>
                <a:latin typeface="Cambria" pitchFamily="34" charset="0"/>
                <a:ea typeface="Cambria" pitchFamily="34" charset="-122"/>
                <a:cs typeface="Cambria" pitchFamily="34" charset="-120"/>
              </a:rPr>
              <a:t>Quick check: Name one climate cause you see on the map. What is the human effect? Use the format: cause -&gt; effect.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2011680" cy="292608"/>
          </a:xfrm>
          <a:prstGeom prst="roundRect">
            <a:avLst>
              <a:gd name="adj" fmla="val 25000"/>
            </a:avLst>
          </a:prstGeom>
          <a:solidFill>
            <a:srgbClr val="D4943A"/>
          </a:solidFill>
          <a:ln/>
        </p:spPr>
      </p:sp>
      <p:sp>
        <p:nvSpPr>
          <p:cNvPr id="4" name="Text 2"/>
          <p:cNvSpPr/>
          <p:nvPr/>
        </p:nvSpPr>
        <p:spPr>
          <a:xfrm>
            <a:off x="274320" y="164592"/>
            <a:ext cx="201168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MULTI-SOURCE COMPARE</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Two Ways of Knowing: Map vs. Experience</a:t>
            </a:r>
            <a:endParaRPr lang="en-US" sz="2200" dirty="0"/>
          </a:p>
        </p:txBody>
      </p:sp>
      <p:sp>
        <p:nvSpPr>
          <p:cNvPr id="6" name="Shape 4"/>
          <p:cNvSpPr/>
          <p:nvPr/>
        </p:nvSpPr>
        <p:spPr>
          <a:xfrm>
            <a:off x="274320" y="1005840"/>
            <a:ext cx="4160520" cy="292608"/>
          </a:xfrm>
          <a:prstGeom prst="roundRect">
            <a:avLst>
              <a:gd name="adj" fmla="val 18750"/>
            </a:avLst>
          </a:prstGeom>
          <a:solidFill>
            <a:srgbClr val="1A8A7D"/>
          </a:solidFill>
          <a:ln/>
        </p:spPr>
      </p:sp>
      <p:sp>
        <p:nvSpPr>
          <p:cNvPr id="7" name="Text 5"/>
          <p:cNvSpPr/>
          <p:nvPr/>
        </p:nvSpPr>
        <p:spPr>
          <a:xfrm>
            <a:off x="274320" y="1005840"/>
            <a:ext cx="4160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SOURCE A: Florida Climate-Impact Map</a:t>
            </a:r>
            <a:endParaRPr lang="en-US" sz="1000" dirty="0"/>
          </a:p>
        </p:txBody>
      </p:sp>
      <p:sp>
        <p:nvSpPr>
          <p:cNvPr id="8" name="Shape 6"/>
          <p:cNvSpPr/>
          <p:nvPr/>
        </p:nvSpPr>
        <p:spPr>
          <a:xfrm>
            <a:off x="274320" y="1353312"/>
            <a:ext cx="4160520" cy="2240280"/>
          </a:xfrm>
          <a:prstGeom prst="roundRect">
            <a:avLst>
              <a:gd name="adj" fmla="val 4898"/>
            </a:avLst>
          </a:prstGeom>
          <a:solidFill>
            <a:srgbClr val="E2E8F4"/>
          </a:solidFill>
          <a:ln w="19050">
            <a:solidFill>
              <a:srgbClr val="B0B8CC"/>
            </a:solidFill>
            <a:prstDash val="dash"/>
          </a:ln>
        </p:spPr>
      </p:sp>
      <p:sp>
        <p:nvSpPr>
          <p:cNvPr id="9" name="Text 7"/>
          <p:cNvSpPr/>
          <p:nvPr/>
        </p:nvSpPr>
        <p:spPr>
          <a:xfrm>
            <a:off x="274320" y="1353312"/>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0" name="Text 8"/>
          <p:cNvSpPr/>
          <p:nvPr/>
        </p:nvSpPr>
        <p:spPr>
          <a:xfrm>
            <a:off x="411480" y="1627632"/>
            <a:ext cx="3886200" cy="1874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climate-impact map — color-coded hurricane evacuation zones, citrus farming regions in central Florida, flood-risk zones along coasts. Bold labels, clear legend, cartographic style.</a:t>
            </a:r>
            <a:endParaRPr lang="en-US" sz="1100" dirty="0"/>
          </a:p>
        </p:txBody>
      </p:sp>
      <p:sp>
        <p:nvSpPr>
          <p:cNvPr id="11" name="Shape 9"/>
          <p:cNvSpPr/>
          <p:nvPr/>
        </p:nvSpPr>
        <p:spPr>
          <a:xfrm>
            <a:off x="4663440" y="1005840"/>
            <a:ext cx="4160520" cy="292608"/>
          </a:xfrm>
          <a:prstGeom prst="roundRect">
            <a:avLst>
              <a:gd name="adj" fmla="val 18750"/>
            </a:avLst>
          </a:prstGeom>
          <a:solidFill>
            <a:srgbClr val="E8636B"/>
          </a:solidFill>
          <a:ln/>
        </p:spPr>
      </p:sp>
      <p:sp>
        <p:nvSpPr>
          <p:cNvPr id="12" name="Text 10"/>
          <p:cNvSpPr/>
          <p:nvPr/>
        </p:nvSpPr>
        <p:spPr>
          <a:xfrm>
            <a:off x="4663440" y="1005840"/>
            <a:ext cx="416052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SOURCE B: Firsthand Account or Storm Photo</a:t>
            </a:r>
            <a:endParaRPr lang="en-US" sz="1000" dirty="0"/>
          </a:p>
        </p:txBody>
      </p:sp>
      <p:sp>
        <p:nvSpPr>
          <p:cNvPr id="13" name="Shape 11"/>
          <p:cNvSpPr/>
          <p:nvPr/>
        </p:nvSpPr>
        <p:spPr>
          <a:xfrm>
            <a:off x="4663440" y="1353312"/>
            <a:ext cx="4160520" cy="2240280"/>
          </a:xfrm>
          <a:prstGeom prst="roundRect">
            <a:avLst>
              <a:gd name="adj" fmla="val 4898"/>
            </a:avLst>
          </a:prstGeom>
          <a:solidFill>
            <a:srgbClr val="E2E8F4"/>
          </a:solidFill>
          <a:ln w="19050">
            <a:solidFill>
              <a:srgbClr val="B0B8CC"/>
            </a:solidFill>
            <a:prstDash val="dash"/>
          </a:ln>
        </p:spPr>
      </p:sp>
      <p:sp>
        <p:nvSpPr>
          <p:cNvPr id="14" name="Text 12"/>
          <p:cNvSpPr/>
          <p:nvPr/>
        </p:nvSpPr>
        <p:spPr>
          <a:xfrm>
            <a:off x="4663440" y="1353312"/>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5" name="Text 13"/>
          <p:cNvSpPr/>
          <p:nvPr/>
        </p:nvSpPr>
        <p:spPr>
          <a:xfrm>
            <a:off x="4800600" y="1627632"/>
            <a:ext cx="3886200" cy="18745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Photo or firsthand account of storm damage in Florida — broken hurricane shutters, flooded street, debris from a hurricane, or a resident describing storm aftermath. Documentary or journalistic aesthetic.</a:t>
            </a:r>
            <a:endParaRPr lang="en-US" sz="1100" dirty="0"/>
          </a:p>
        </p:txBody>
      </p:sp>
      <p:sp>
        <p:nvSpPr>
          <p:cNvPr id="16" name="Shape 14"/>
          <p:cNvSpPr/>
          <p:nvPr/>
        </p:nvSpPr>
        <p:spPr>
          <a:xfrm>
            <a:off x="274320" y="3703320"/>
            <a:ext cx="8595360" cy="1143000"/>
          </a:xfrm>
          <a:prstGeom prst="roundRect">
            <a:avLst>
              <a:gd name="adj" fmla="val 12000"/>
            </a:avLst>
          </a:prstGeom>
          <a:solidFill>
            <a:srgbClr val="1A2D5A"/>
          </a:solidFill>
          <a:ln/>
          <a:effectLst>
            <a:outerShdw sx="100000" sy="100000" kx="0" ky="0" algn="bl" rotWithShape="0" blurRad="101600" dist="38100" dir="8100000">
              <a:srgbClr val="000000">
                <a:alpha val="20000"/>
              </a:srgbClr>
            </a:outerShdw>
          </a:effectLst>
        </p:spPr>
      </p:sp>
      <p:sp>
        <p:nvSpPr>
          <p:cNvPr id="17" name="Text 15"/>
          <p:cNvSpPr/>
          <p:nvPr/>
        </p:nvSpPr>
        <p:spPr>
          <a:xfrm>
            <a:off x="457200" y="3794760"/>
            <a:ext cx="82296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8" name="Text 16"/>
          <p:cNvSpPr/>
          <p:nvPr/>
        </p:nvSpPr>
        <p:spPr>
          <a:xfrm>
            <a:off x="457200" y="4050792"/>
            <a:ext cx="8229600" cy="7040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source shows you the PATTERN — the repeating cause-effect across the whole state?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source shows the LIVED EXPERIENCE — what it actually feels like when the pattern hits?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each source leave out? What would a tourism company's map leave out vs. an emergency manager's map?</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Text 1"/>
          <p:cNvSpPr/>
          <p:nvPr/>
        </p:nvSpPr>
        <p:spPr>
          <a:xfrm>
            <a:off x="365760" y="182880"/>
            <a:ext cx="8412480" cy="438912"/>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Discussion: Is This Map Honest?</a:t>
            </a:r>
            <a:endParaRPr lang="en-US" sz="2200" dirty="0"/>
          </a:p>
        </p:txBody>
      </p:sp>
      <p:sp>
        <p:nvSpPr>
          <p:cNvPr id="4" name="Shape 2"/>
          <p:cNvSpPr/>
          <p:nvPr/>
        </p:nvSpPr>
        <p:spPr>
          <a:xfrm>
            <a:off x="365760" y="658368"/>
            <a:ext cx="8412480" cy="0"/>
          </a:xfrm>
          <a:prstGeom prst="line">
            <a:avLst/>
          </a:prstGeom>
          <a:noFill/>
          <a:ln w="25400">
            <a:solidFill>
              <a:srgbClr val="D4943A"/>
            </a:solidFill>
            <a:prstDash val="solid"/>
          </a:ln>
        </p:spPr>
      </p:sp>
      <p:sp>
        <p:nvSpPr>
          <p:cNvPr id="5" name="Shape 3"/>
          <p:cNvSpPr/>
          <p:nvPr/>
        </p:nvSpPr>
        <p:spPr>
          <a:xfrm>
            <a:off x="365760" y="804672"/>
            <a:ext cx="2011680" cy="1417320"/>
          </a:xfrm>
          <a:prstGeom prst="roundRect">
            <a:avLst>
              <a:gd name="adj" fmla="val 7742"/>
            </a:avLst>
          </a:prstGeom>
          <a:solidFill>
            <a:srgbClr val="E2E8F4"/>
          </a:solidFill>
          <a:ln w="19050">
            <a:solidFill>
              <a:srgbClr val="B0B8CC"/>
            </a:solidFill>
            <a:prstDash val="dash"/>
          </a:ln>
        </p:spPr>
      </p:sp>
      <p:sp>
        <p:nvSpPr>
          <p:cNvPr id="6" name="Text 4"/>
          <p:cNvSpPr/>
          <p:nvPr/>
        </p:nvSpPr>
        <p:spPr>
          <a:xfrm>
            <a:off x="365760" y="804672"/>
            <a:ext cx="20116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7" name="Text 5"/>
          <p:cNvSpPr/>
          <p:nvPr/>
        </p:nvSpPr>
        <p:spPr>
          <a:xfrm>
            <a:off x="502920" y="1078992"/>
            <a:ext cx="1737360" cy="10515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Thumbnail: Florida climate-impact map (reference for source discussion)</a:t>
            </a:r>
            <a:endParaRPr lang="en-US" sz="1100" dirty="0"/>
          </a:p>
        </p:txBody>
      </p:sp>
      <p:sp>
        <p:nvSpPr>
          <p:cNvPr id="8" name="Shape 6"/>
          <p:cNvSpPr/>
          <p:nvPr/>
        </p:nvSpPr>
        <p:spPr>
          <a:xfrm>
            <a:off x="2560320" y="804672"/>
            <a:ext cx="6217920" cy="2377440"/>
          </a:xfrm>
          <a:prstGeom prst="roundRect">
            <a:avLst>
              <a:gd name="adj" fmla="val 5769"/>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2743200" y="896112"/>
            <a:ext cx="585216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0" name="Text 8"/>
          <p:cNvSpPr/>
          <p:nvPr/>
        </p:nvSpPr>
        <p:spPr>
          <a:xfrm>
            <a:off x="2743200" y="1152144"/>
            <a:ext cx="5852160" cy="19385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created this impact map and why? Does their purpose shape what they included or left out?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NOT shown on this map? What risks might be hidden?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this map change if made by a tourism company vs. an emergency manager?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this map honest about the risk, or designed to make certain choices look safer than they are?</a:t>
            </a:r>
            <a:endParaRPr lang="en-US" sz="1100" dirty="0"/>
          </a:p>
        </p:txBody>
      </p:sp>
      <p:sp>
        <p:nvSpPr>
          <p:cNvPr id="11" name="Shape 9"/>
          <p:cNvSpPr/>
          <p:nvPr/>
        </p:nvSpPr>
        <p:spPr>
          <a:xfrm>
            <a:off x="365760" y="3273552"/>
            <a:ext cx="8412480" cy="1024128"/>
          </a:xfrm>
          <a:prstGeom prst="roundRect">
            <a:avLst>
              <a:gd name="adj" fmla="val 13393"/>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548640" y="3364992"/>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1"/>
          <p:cNvSpPr/>
          <p:nvPr/>
        </p:nvSpPr>
        <p:spPr>
          <a:xfrm>
            <a:off x="548640" y="3621024"/>
            <a:ext cx="8046720" cy="58521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Can a map be dishonest without lying? How?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you were buying a house in a flood zone, what information would you demand — and who would you trust to give it?</a:t>
            </a:r>
            <a:endParaRPr lang="en-US" sz="1100" dirty="0"/>
          </a:p>
        </p:txBody>
      </p:sp>
      <p:sp>
        <p:nvSpPr>
          <p:cNvPr id="14" name="Shape 12"/>
          <p:cNvSpPr/>
          <p:nvPr/>
        </p:nvSpPr>
        <p:spPr>
          <a:xfrm>
            <a:off x="365760" y="4407408"/>
            <a:ext cx="8412480" cy="594360"/>
          </a:xfrm>
          <a:prstGeom prst="roundRect">
            <a:avLst>
              <a:gd name="adj" fmla="val 18462"/>
            </a:avLst>
          </a:prstGeom>
          <a:solidFill>
            <a:srgbClr val="FFF3DC"/>
          </a:solidFill>
          <a:ln w="19050">
            <a:solidFill>
              <a:srgbClr val="F5E6C8"/>
            </a:solidFill>
            <a:prstDash val="solid"/>
          </a:ln>
        </p:spPr>
      </p:sp>
      <p:sp>
        <p:nvSpPr>
          <p:cNvPr id="15" name="Text 13"/>
          <p:cNvSpPr/>
          <p:nvPr/>
        </p:nvSpPr>
        <p:spPr>
          <a:xfrm>
            <a:off x="502920" y="446227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4"/>
          <p:cNvSpPr/>
          <p:nvPr/>
        </p:nvSpPr>
        <p:spPr>
          <a:xfrm>
            <a:off x="502920" y="4663440"/>
            <a:ext cx="8138160" cy="274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map is / is not fully honest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tourism company would leave out... because..."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1280160" cy="292608"/>
          </a:xfrm>
          <a:prstGeom prst="roundRect">
            <a:avLst>
              <a:gd name="adj" fmla="val 25000"/>
            </a:avLst>
          </a:prstGeom>
          <a:solidFill>
            <a:srgbClr val="34B76F"/>
          </a:solidFill>
          <a:ln/>
        </p:spPr>
      </p:sp>
      <p:sp>
        <p:nvSpPr>
          <p:cNvPr id="6" name="Text 3"/>
          <p:cNvSpPr/>
          <p:nvPr/>
        </p:nvSpPr>
        <p:spPr>
          <a:xfrm>
            <a:off x="365760" y="228600"/>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REVEAL 2</a:t>
            </a:r>
            <a:endParaRPr lang="en-US" sz="900" dirty="0"/>
          </a:p>
        </p:txBody>
      </p:sp>
      <p:sp>
        <p:nvSpPr>
          <p:cNvPr id="7" name="Text 4"/>
          <p:cNvSpPr/>
          <p:nvPr/>
        </p:nvSpPr>
        <p:spPr>
          <a:xfrm>
            <a:off x="457200" y="658368"/>
            <a:ext cx="8229600" cy="47548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Climate made central Florida orange country.</a:t>
            </a:r>
            <a:endParaRPr lang="en-US" sz="2400" dirty="0"/>
          </a:p>
        </p:txBody>
      </p:sp>
      <p:sp>
        <p:nvSpPr>
          <p:cNvPr id="8" name="Shape 5"/>
          <p:cNvSpPr/>
          <p:nvPr/>
        </p:nvSpPr>
        <p:spPr>
          <a:xfrm>
            <a:off x="457200" y="1261872"/>
            <a:ext cx="8138160" cy="1481328"/>
          </a:xfrm>
          <a:prstGeom prst="roundRect">
            <a:avLst>
              <a:gd name="adj" fmla="val 7407"/>
            </a:avLst>
          </a:prstGeom>
          <a:solidFill>
            <a:srgbClr val="1A2D5A"/>
          </a:solidFill>
          <a:ln/>
        </p:spPr>
      </p:sp>
      <p:sp>
        <p:nvSpPr>
          <p:cNvPr id="9" name="Text 6"/>
          <p:cNvSpPr/>
          <p:nvPr/>
        </p:nvSpPr>
        <p:spPr>
          <a:xfrm>
            <a:off x="640080" y="1335024"/>
            <a:ext cx="3657600" cy="2560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THE CAUSE-EFFECT CHAIN</a:t>
            </a:r>
            <a:endParaRPr lang="en-US" sz="900" dirty="0"/>
          </a:p>
        </p:txBody>
      </p:sp>
      <p:sp>
        <p:nvSpPr>
          <p:cNvPr id="10" name="Text 7"/>
          <p:cNvSpPr/>
          <p:nvPr/>
        </p:nvSpPr>
        <p:spPr>
          <a:xfrm>
            <a:off x="640080" y="1627632"/>
            <a:ext cx="7772400" cy="1078992"/>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Warm winters in central Florida </a:t>
            </a:r>
            <a:pPr indent="0" marL="0">
              <a:buNone/>
            </a:pPr>
            <a:r>
              <a:rPr lang="en-US" sz="1200" i="1" dirty="0">
                <a:solidFill>
                  <a:srgbClr val="55C8E8"/>
                </a:solidFill>
                <a:latin typeface="Calibri" pitchFamily="34" charset="0"/>
                <a:ea typeface="Calibri" pitchFamily="34" charset="-122"/>
                <a:cs typeface="Calibri" pitchFamily="34" charset="-120"/>
              </a:rPr>
              <a:t>(cause 1)  +  </a:t>
            </a:r>
            <a:pPr indent="0" marL="0">
              <a:buNone/>
            </a:pPr>
            <a:r>
              <a:rPr lang="en-US" sz="1300" b="1" dirty="0">
                <a:solidFill>
                  <a:srgbClr val="D4943A"/>
                </a:solidFill>
                <a:latin typeface="Calibri" pitchFamily="34" charset="0"/>
                <a:ea typeface="Calibri" pitchFamily="34" charset="-122"/>
                <a:cs typeface="Calibri" pitchFamily="34" charset="-120"/>
              </a:rPr>
              <a:t>well-drained sandy soil </a:t>
            </a:r>
            <a:pPr indent="0" marL="0">
              <a:buNone/>
            </a:pPr>
            <a:r>
              <a:rPr lang="en-US" sz="1200" i="1" dirty="0">
                <a:solidFill>
                  <a:srgbClr val="55C8E8"/>
                </a:solidFill>
                <a:latin typeface="Calibri" pitchFamily="34" charset="0"/>
                <a:ea typeface="Calibri" pitchFamily="34" charset="-122"/>
                <a:cs typeface="Calibri" pitchFamily="34" charset="-120"/>
              </a:rPr>
              <a:t>(cause 2)
</a:t>
            </a:r>
            <a:pPr indent="0" marL="0">
              <a:buNone/>
            </a:pPr>
            <a:r>
              <a:rPr lang="en-US" sz="1300" dirty="0">
                <a:solidFill>
                  <a:srgbClr val="FFFFFF"/>
                </a:solidFill>
                <a:latin typeface="Calibri" pitchFamily="34" charset="0"/>
                <a:ea typeface="Calibri" pitchFamily="34" charset="-122"/>
                <a:cs typeface="Calibri" pitchFamily="34" charset="-120"/>
              </a:rPr>
              <a:t>  -&gt;  Orange groves take over central Florida </a:t>
            </a:r>
            <a:pPr indent="0" marL="0">
              <a:buNone/>
            </a:pPr>
            <a:r>
              <a:rPr lang="en-US" sz="1200" i="1" dirty="0">
                <a:solidFill>
                  <a:srgbClr val="55C8E8"/>
                </a:solidFill>
                <a:latin typeface="Calibri" pitchFamily="34" charset="0"/>
                <a:ea typeface="Calibri" pitchFamily="34" charset="-122"/>
                <a:cs typeface="Calibri" pitchFamily="34" charset="-120"/>
              </a:rPr>
              <a:t>(effect)
</a:t>
            </a:r>
            <a:pPr indent="0" marL="0">
              <a:buNone/>
            </a:pPr>
            <a:r>
              <a:rPr lang="en-US" sz="1200" dirty="0">
                <a:solidFill>
                  <a:srgbClr val="D0D8F0"/>
                </a:solidFill>
                <a:latin typeface="Calibri" pitchFamily="34" charset="0"/>
                <a:ea typeface="Calibri" pitchFamily="34" charset="-122"/>
                <a:cs typeface="Calibri" pitchFamily="34" charset="-120"/>
              </a:rPr>
              <a:t>Frost would destroy the crop. The climate made this industry possible here — and impossible further north.</a:t>
            </a:r>
            <a:endParaRPr lang="en-US" sz="1300" dirty="0"/>
          </a:p>
        </p:txBody>
      </p:sp>
      <p:sp>
        <p:nvSpPr>
          <p:cNvPr id="11" name="Shape 8"/>
          <p:cNvSpPr/>
          <p:nvPr/>
        </p:nvSpPr>
        <p:spPr>
          <a:xfrm>
            <a:off x="457200" y="2852928"/>
            <a:ext cx="8138160" cy="960120"/>
          </a:xfrm>
          <a:prstGeom prst="roundRect">
            <a:avLst>
              <a:gd name="adj" fmla="val 11429"/>
            </a:avLst>
          </a:prstGeom>
          <a:solidFill>
            <a:srgbClr val="0B2830"/>
          </a:solidFill>
          <a:ln w="19050">
            <a:solidFill>
              <a:srgbClr val="34B76F"/>
            </a:solidFill>
            <a:prstDash val="solid"/>
          </a:ln>
        </p:spPr>
      </p:sp>
      <p:sp>
        <p:nvSpPr>
          <p:cNvPr id="12" name="Text 9"/>
          <p:cNvSpPr/>
          <p:nvPr/>
        </p:nvSpPr>
        <p:spPr>
          <a:xfrm>
            <a:off x="640080" y="2926080"/>
            <a:ext cx="2743200" cy="2560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IRRIGATION CONNECTION</a:t>
            </a:r>
            <a:endParaRPr lang="en-US" sz="900" dirty="0"/>
          </a:p>
        </p:txBody>
      </p:sp>
      <p:sp>
        <p:nvSpPr>
          <p:cNvPr id="13" name="Text 10"/>
          <p:cNvSpPr/>
          <p:nvPr/>
        </p:nvSpPr>
        <p:spPr>
          <a:xfrm>
            <a:off x="640080" y="3200400"/>
            <a:ext cx="7772400" cy="566928"/>
          </a:xfrm>
          <a:prstGeom prst="rect">
            <a:avLst/>
          </a:prstGeom>
          <a:noFill/>
          <a:ln/>
        </p:spPr>
        <p:txBody>
          <a:bodyPr wrap="square" lIns="0" tIns="0" rIns="0" bIns="0" rtlCol="0" anchor="ctr"/>
          <a:lstStyle/>
          <a:p>
            <a:pPr indent="0" marL="0">
              <a:buNone/>
            </a:pPr>
            <a:r>
              <a:rPr lang="en-US" sz="1200" dirty="0">
                <a:solidFill>
                  <a:srgbClr val="D0D8F0"/>
                </a:solidFill>
                <a:latin typeface="Calibri" pitchFamily="34" charset="0"/>
                <a:ea typeface="Calibri" pitchFamily="34" charset="-122"/>
                <a:cs typeface="Calibri" pitchFamily="34" charset="-120"/>
              </a:rPr>
              <a:t>During dry weeks, Florida farmers run sprinkler and irrigation systems to keep crops alive. Climate causes both the opportunity (warm winters) and the challenge (dry spells). Farmers respond to both.</a:t>
            </a:r>
            <a:endParaRPr lang="en-US" sz="1200" dirty="0"/>
          </a:p>
        </p:txBody>
      </p:sp>
      <p:sp>
        <p:nvSpPr>
          <p:cNvPr id="14" name="Shape 11"/>
          <p:cNvSpPr/>
          <p:nvPr/>
        </p:nvSpPr>
        <p:spPr>
          <a:xfrm>
            <a:off x="457200" y="3950208"/>
            <a:ext cx="8138160" cy="658368"/>
          </a:xfrm>
          <a:prstGeom prst="roundRect">
            <a:avLst>
              <a:gd name="adj" fmla="val 13889"/>
            </a:avLst>
          </a:prstGeom>
          <a:solidFill>
            <a:srgbClr val="1A2D5A"/>
          </a:solidFill>
          <a:ln/>
        </p:spPr>
      </p:sp>
      <p:sp>
        <p:nvSpPr>
          <p:cNvPr id="15" name="Text 12"/>
          <p:cNvSpPr/>
          <p:nvPr/>
        </p:nvSpPr>
        <p:spPr>
          <a:xfrm>
            <a:off x="640080" y="4023360"/>
            <a:ext cx="7772400" cy="512064"/>
          </a:xfrm>
          <a:prstGeom prst="rect">
            <a:avLst/>
          </a:prstGeom>
          <a:noFill/>
          <a:ln/>
        </p:spPr>
        <p:txBody>
          <a:bodyPr wrap="square" lIns="0" tIns="0" rIns="0" bIns="0" rtlCol="0" anchor="ctr"/>
          <a:lstStyle/>
          <a:p>
            <a:pPr indent="0" marL="0">
              <a:buNone/>
            </a:pPr>
            <a:r>
              <a:rPr lang="en-US" sz="1200" i="1" dirty="0">
                <a:solidFill>
                  <a:srgbClr val="FFF3DC"/>
                </a:solidFill>
                <a:latin typeface="Cambria" pitchFamily="34" charset="0"/>
                <a:ea typeface="Cambria" pitchFamily="34" charset="-122"/>
                <a:cs typeface="Cambria" pitchFamily="34" charset="-120"/>
              </a:rPr>
              <a:t>Retrieval: What two climate/soil causes made central Florida citrus possible? What human choice was the effect?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280160" cy="292608"/>
          </a:xfrm>
          <a:prstGeom prst="roundRect">
            <a:avLst>
              <a:gd name="adj" fmla="val 25000"/>
            </a:avLst>
          </a:prstGeom>
          <a:solidFill>
            <a:srgbClr val="E8636B"/>
          </a:solidFill>
          <a:ln/>
        </p:spPr>
      </p:sp>
      <p:sp>
        <p:nvSpPr>
          <p:cNvPr id="4" name="Text 2"/>
          <p:cNvSpPr/>
          <p:nvPr/>
        </p:nvSpPr>
        <p:spPr>
          <a:xfrm>
            <a:off x="274320" y="164592"/>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CLUE BOX 2</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Built for the Storm: Shutters and Evacuation Routes</a:t>
            </a:r>
            <a:endParaRPr lang="en-US" sz="2100" dirty="0"/>
          </a:p>
        </p:txBody>
      </p:sp>
      <p:sp>
        <p:nvSpPr>
          <p:cNvPr id="6" name="Shape 4"/>
          <p:cNvSpPr/>
          <p:nvPr/>
        </p:nvSpPr>
        <p:spPr>
          <a:xfrm>
            <a:off x="274320" y="960120"/>
            <a:ext cx="8595360" cy="0"/>
          </a:xfrm>
          <a:prstGeom prst="line">
            <a:avLst/>
          </a:prstGeom>
          <a:noFill/>
          <a:ln w="19050">
            <a:solidFill>
              <a:srgbClr val="E8636B"/>
            </a:solidFill>
            <a:prstDash val="solid"/>
          </a:ln>
        </p:spPr>
      </p:sp>
      <p:sp>
        <p:nvSpPr>
          <p:cNvPr id="7" name="Shape 5"/>
          <p:cNvSpPr/>
          <p:nvPr/>
        </p:nvSpPr>
        <p:spPr>
          <a:xfrm>
            <a:off x="274320" y="1097280"/>
            <a:ext cx="4160520" cy="2651760"/>
          </a:xfrm>
          <a:prstGeom prst="roundRect">
            <a:avLst>
              <a:gd name="adj" fmla="val 4138"/>
            </a:avLst>
          </a:prstGeom>
          <a:solidFill>
            <a:srgbClr val="E2E8F4"/>
          </a:solidFill>
          <a:ln w="19050">
            <a:solidFill>
              <a:srgbClr val="B0B8CC"/>
            </a:solidFill>
            <a:prstDash val="dash"/>
          </a:ln>
        </p:spPr>
      </p:sp>
      <p:sp>
        <p:nvSpPr>
          <p:cNvPr id="8" name="Text 6"/>
          <p:cNvSpPr/>
          <p:nvPr/>
        </p:nvSpPr>
        <p:spPr>
          <a:xfrm>
            <a:off x="274320" y="1097280"/>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411480" y="1371600"/>
            <a:ext cx="3886200" cy="22860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coastal home with closed hurricane shutters on all windows OR a road sign showing hurricane evacuation route arrow. Clear, close-up, documentary style.</a:t>
            </a:r>
            <a:endParaRPr lang="en-US" sz="1100" dirty="0"/>
          </a:p>
        </p:txBody>
      </p:sp>
      <p:sp>
        <p:nvSpPr>
          <p:cNvPr id="10" name="Shape 8"/>
          <p:cNvSpPr/>
          <p:nvPr/>
        </p:nvSpPr>
        <p:spPr>
          <a:xfrm>
            <a:off x="4617720" y="1097280"/>
            <a:ext cx="4160520" cy="2651760"/>
          </a:xfrm>
          <a:prstGeom prst="roundRect">
            <a:avLst>
              <a:gd name="adj" fmla="val 5172"/>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4800600" y="1188720"/>
            <a:ext cx="3794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4800600" y="1444752"/>
            <a:ext cx="3794760" cy="22128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weather event are hurricane shutters designed for? What does a hurricane do to windows?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 evacuation routes need to be planned BEFORE a storm — not during it?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it more responsible to build on the Florida coast knowing hurricane risk, or to refuse to build there?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say about honesty if a builder does NOT mention hurricane risk to a buyer?</a:t>
            </a:r>
            <a:endParaRPr lang="en-US" sz="1100" dirty="0"/>
          </a:p>
        </p:txBody>
      </p:sp>
      <p:sp>
        <p:nvSpPr>
          <p:cNvPr id="13" name="Shape 11"/>
          <p:cNvSpPr/>
          <p:nvPr/>
        </p:nvSpPr>
        <p:spPr>
          <a:xfrm>
            <a:off x="274320" y="3858768"/>
            <a:ext cx="8595360" cy="868680"/>
          </a:xfrm>
          <a:prstGeom prst="roundRect">
            <a:avLst>
              <a:gd name="adj" fmla="val 12632"/>
            </a:avLst>
          </a:prstGeom>
          <a:solidFill>
            <a:srgbClr val="FFF3DC"/>
          </a:solidFill>
          <a:ln w="19050">
            <a:solidFill>
              <a:srgbClr val="F5E6C8"/>
            </a:solidFill>
            <a:prstDash val="solid"/>
          </a:ln>
        </p:spPr>
      </p:sp>
      <p:sp>
        <p:nvSpPr>
          <p:cNvPr id="14" name="Text 12"/>
          <p:cNvSpPr/>
          <p:nvPr/>
        </p:nvSpPr>
        <p:spPr>
          <a:xfrm>
            <a:off x="411480" y="3913632"/>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11480" y="4114800"/>
            <a:ext cx="832104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"Hurricane shutters exist because Florida's climate..."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"Evacuation routes must be planned in advance because..."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280160" cy="292608"/>
          </a:xfrm>
          <a:prstGeom prst="roundRect">
            <a:avLst>
              <a:gd name="adj" fmla="val 25000"/>
            </a:avLst>
          </a:prstGeom>
          <a:solidFill>
            <a:srgbClr val="55C8E8"/>
          </a:solidFill>
          <a:ln/>
        </p:spPr>
      </p:sp>
      <p:sp>
        <p:nvSpPr>
          <p:cNvPr id="4" name="Text 2"/>
          <p:cNvSpPr/>
          <p:nvPr/>
        </p:nvSpPr>
        <p:spPr>
          <a:xfrm>
            <a:off x="274320" y="164592"/>
            <a:ext cx="1280160" cy="292608"/>
          </a:xfrm>
          <a:prstGeom prst="rect">
            <a:avLst/>
          </a:prstGeom>
          <a:noFill/>
          <a:ln/>
        </p:spPr>
        <p:txBody>
          <a:bodyPr wrap="square" lIns="0" tIns="0" rIns="0" bIns="0" rtlCol="0" anchor="ctr"/>
          <a:lstStyle/>
          <a:p>
            <a:pPr algn="ctr" indent="0" marL="0">
              <a:buNone/>
            </a:pPr>
            <a:r>
              <a:rPr lang="en-US" sz="900" b="1" spc="120" kern="0" dirty="0">
                <a:solidFill>
                  <a:srgbClr val="0E1C42"/>
                </a:solidFill>
                <a:latin typeface="Calibri" pitchFamily="34" charset="0"/>
                <a:ea typeface="Calibri" pitchFamily="34" charset="-122"/>
                <a:cs typeface="Calibri" pitchFamily="34" charset="-120"/>
              </a:rPr>
              <a:t>CLUE BOX 3</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Tourism: When Climate is the Product</a:t>
            </a:r>
            <a:endParaRPr lang="en-US" sz="2200" dirty="0"/>
          </a:p>
        </p:txBody>
      </p:sp>
      <p:sp>
        <p:nvSpPr>
          <p:cNvPr id="6" name="Shape 4"/>
          <p:cNvSpPr/>
          <p:nvPr/>
        </p:nvSpPr>
        <p:spPr>
          <a:xfrm>
            <a:off x="274320" y="960120"/>
            <a:ext cx="8595360" cy="0"/>
          </a:xfrm>
          <a:prstGeom prst="line">
            <a:avLst/>
          </a:prstGeom>
          <a:noFill/>
          <a:ln w="19050">
            <a:solidFill>
              <a:srgbClr val="55C8E8"/>
            </a:solidFill>
            <a:prstDash val="solid"/>
          </a:ln>
        </p:spPr>
      </p:sp>
      <p:sp>
        <p:nvSpPr>
          <p:cNvPr id="7" name="Shape 5"/>
          <p:cNvSpPr/>
          <p:nvPr/>
        </p:nvSpPr>
        <p:spPr>
          <a:xfrm>
            <a:off x="274320" y="1097280"/>
            <a:ext cx="4160520" cy="2606040"/>
          </a:xfrm>
          <a:prstGeom prst="roundRect">
            <a:avLst>
              <a:gd name="adj" fmla="val 4211"/>
            </a:avLst>
          </a:prstGeom>
          <a:solidFill>
            <a:srgbClr val="E2E8F4"/>
          </a:solidFill>
          <a:ln w="19050">
            <a:solidFill>
              <a:srgbClr val="B0B8CC"/>
            </a:solidFill>
            <a:prstDash val="dash"/>
          </a:ln>
        </p:spPr>
      </p:sp>
      <p:sp>
        <p:nvSpPr>
          <p:cNvPr id="8" name="Text 6"/>
          <p:cNvSpPr/>
          <p:nvPr/>
        </p:nvSpPr>
        <p:spPr>
          <a:xfrm>
            <a:off x="274320" y="1097280"/>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7"/>
          <p:cNvSpPr/>
          <p:nvPr/>
        </p:nvSpPr>
        <p:spPr>
          <a:xfrm>
            <a:off x="411480" y="1371600"/>
            <a:ext cx="3886200" cy="2240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beach in winter with tourists enjoying sunshine — umbrellas, clear water, crowded shoreline — contrasted with a snowy northern city or news headline. Documentary or travel photography style.</a:t>
            </a:r>
            <a:endParaRPr lang="en-US" sz="1100" dirty="0"/>
          </a:p>
        </p:txBody>
      </p:sp>
      <p:sp>
        <p:nvSpPr>
          <p:cNvPr id="10" name="Shape 8"/>
          <p:cNvSpPr/>
          <p:nvPr/>
        </p:nvSpPr>
        <p:spPr>
          <a:xfrm>
            <a:off x="4617720" y="1097280"/>
            <a:ext cx="4160520" cy="2606040"/>
          </a:xfrm>
          <a:prstGeom prst="roundRect">
            <a:avLst>
              <a:gd name="adj" fmla="val 5263"/>
            </a:avLst>
          </a:prstGeom>
          <a:solidFill>
            <a:srgbClr val="1A2D5A"/>
          </a:solidFill>
          <a:ln/>
          <a:effectLst>
            <a:outerShdw sx="100000" sy="100000" kx="0" ky="0" algn="bl" rotWithShape="0" blurRad="101600" dist="38100" dir="8100000">
              <a:srgbClr val="000000">
                <a:alpha val="20000"/>
              </a:srgbClr>
            </a:outerShdw>
          </a:effectLst>
        </p:spPr>
      </p:sp>
      <p:sp>
        <p:nvSpPr>
          <p:cNvPr id="11" name="Text 9"/>
          <p:cNvSpPr/>
          <p:nvPr/>
        </p:nvSpPr>
        <p:spPr>
          <a:xfrm>
            <a:off x="4800600" y="1188720"/>
            <a:ext cx="3794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2" name="Text 10"/>
          <p:cNvSpPr/>
          <p:nvPr/>
        </p:nvSpPr>
        <p:spPr>
          <a:xfrm>
            <a:off x="4800600" y="1444752"/>
            <a:ext cx="3794760" cy="21671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visits Florida in winter and why? Where are they coming from?</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Florida's tourism industry change if Florida's climate got colder?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it honest to advertise Florida beaches without mentioning hurricane season? Who does that silence protect?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Is climate a natural resource for Florida's economy? Defend your position.</a:t>
            </a:r>
            <a:endParaRPr lang="en-US" sz="1100" dirty="0"/>
          </a:p>
        </p:txBody>
      </p:sp>
      <p:sp>
        <p:nvSpPr>
          <p:cNvPr id="13" name="Shape 11"/>
          <p:cNvSpPr/>
          <p:nvPr/>
        </p:nvSpPr>
        <p:spPr>
          <a:xfrm>
            <a:off x="274320" y="3822192"/>
            <a:ext cx="8595360" cy="896112"/>
          </a:xfrm>
          <a:prstGeom prst="roundRect">
            <a:avLst>
              <a:gd name="adj" fmla="val 12245"/>
            </a:avLst>
          </a:prstGeom>
          <a:solidFill>
            <a:srgbClr val="FFF3DC"/>
          </a:solidFill>
          <a:ln w="19050">
            <a:solidFill>
              <a:srgbClr val="F5E6C8"/>
            </a:solidFill>
            <a:prstDash val="solid"/>
          </a:ln>
        </p:spPr>
      </p:sp>
      <p:sp>
        <p:nvSpPr>
          <p:cNvPr id="14" name="Text 12"/>
          <p:cNvSpPr/>
          <p:nvPr/>
        </p:nvSpPr>
        <p:spPr>
          <a:xfrm>
            <a:off x="411480" y="3877056"/>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5" name="Text 13"/>
          <p:cNvSpPr/>
          <p:nvPr/>
        </p:nvSpPr>
        <p:spPr>
          <a:xfrm>
            <a:off x="411480" y="4078224"/>
            <a:ext cx="8321040" cy="57607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"Florida's tourism depends on climate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"If I were a tourism advertiser, I would / would not mention hurricanes because..."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2011680" cy="292608"/>
          </a:xfrm>
          <a:prstGeom prst="roundRect">
            <a:avLst>
              <a:gd name="adj" fmla="val 25000"/>
            </a:avLst>
          </a:prstGeom>
          <a:solidFill>
            <a:srgbClr val="D4943A"/>
          </a:solidFill>
          <a:ln/>
        </p:spPr>
      </p:sp>
      <p:sp>
        <p:nvSpPr>
          <p:cNvPr id="6" name="Text 3"/>
          <p:cNvSpPr/>
          <p:nvPr/>
        </p:nvSpPr>
        <p:spPr>
          <a:xfrm>
            <a:off x="365760" y="228600"/>
            <a:ext cx="201168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TRANSFERABLE PATTERN</a:t>
            </a:r>
            <a:endParaRPr lang="en-US" sz="900" dirty="0"/>
          </a:p>
        </p:txBody>
      </p:sp>
      <p:sp>
        <p:nvSpPr>
          <p:cNvPr id="7" name="Text 4"/>
          <p:cNvSpPr/>
          <p:nvPr/>
        </p:nvSpPr>
        <p:spPr>
          <a:xfrm>
            <a:off x="457200" y="658368"/>
            <a:ext cx="8229600" cy="5029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This is not just Florida.</a:t>
            </a:r>
            <a:endParaRPr lang="en-US" sz="3000" dirty="0"/>
          </a:p>
        </p:txBody>
      </p:sp>
      <p:sp>
        <p:nvSpPr>
          <p:cNvPr id="8" name="Text 5"/>
          <p:cNvSpPr/>
          <p:nvPr/>
        </p:nvSpPr>
        <p:spPr>
          <a:xfrm>
            <a:off x="457200" y="1188720"/>
            <a:ext cx="8229600" cy="438912"/>
          </a:xfrm>
          <a:prstGeom prst="rect">
            <a:avLst/>
          </a:prstGeom>
          <a:noFill/>
          <a:ln/>
        </p:spPr>
        <p:txBody>
          <a:bodyPr wrap="square" lIns="0" tIns="0" rIns="0" bIns="0" rtlCol="0" anchor="ctr"/>
          <a:lstStyle/>
          <a:p>
            <a:pPr indent="0" marL="0">
              <a:buNone/>
            </a:pPr>
            <a:r>
              <a:rPr lang="en-US" sz="1800" i="1" dirty="0">
                <a:solidFill>
                  <a:srgbClr val="D4943A"/>
                </a:solidFill>
                <a:latin typeface="Cambria" pitchFamily="34" charset="0"/>
                <a:ea typeface="Cambria" pitchFamily="34" charset="-122"/>
                <a:cs typeface="Cambria" pitchFamily="34" charset="-120"/>
              </a:rPr>
              <a:t>Geography shapes climate. Climate shapes choices. Everywhere.</a:t>
            </a:r>
            <a:endParaRPr lang="en-US" sz="1800" dirty="0"/>
          </a:p>
        </p:txBody>
      </p:sp>
      <p:sp>
        <p:nvSpPr>
          <p:cNvPr id="9" name="Shape 6"/>
          <p:cNvSpPr/>
          <p:nvPr/>
        </p:nvSpPr>
        <p:spPr>
          <a:xfrm>
            <a:off x="457200" y="1737360"/>
            <a:ext cx="8138160" cy="1444752"/>
          </a:xfrm>
          <a:prstGeom prst="roundRect">
            <a:avLst>
              <a:gd name="adj" fmla="val 7595"/>
            </a:avLst>
          </a:prstGeom>
          <a:solidFill>
            <a:srgbClr val="1A2D5A"/>
          </a:solidFill>
          <a:ln/>
        </p:spPr>
      </p:sp>
      <p:sp>
        <p:nvSpPr>
          <p:cNvPr id="10" name="Text 7"/>
          <p:cNvSpPr/>
          <p:nvPr/>
        </p:nvSpPr>
        <p:spPr>
          <a:xfrm>
            <a:off x="640080" y="1810512"/>
            <a:ext cx="2743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THE PATTERN</a:t>
            </a:r>
            <a:endParaRPr lang="en-US" sz="900" dirty="0"/>
          </a:p>
        </p:txBody>
      </p:sp>
      <p:sp>
        <p:nvSpPr>
          <p:cNvPr id="11" name="Text 8"/>
          <p:cNvSpPr/>
          <p:nvPr/>
        </p:nvSpPr>
        <p:spPr>
          <a:xfrm>
            <a:off x="640080" y="2084832"/>
            <a:ext cx="7772400" cy="10515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Every place where humans have built, they built AROUND the weather they could not control. Cities near rivers? Flood risk. Cities in deserts? Water scarcity. Cities on coasts? Hurricanes and storm surge. Florida is not unique — it is the clearest example of a universal pattern.</a:t>
            </a:r>
            <a:endParaRPr lang="en-US" sz="1300" dirty="0"/>
          </a:p>
        </p:txBody>
      </p:sp>
      <p:sp>
        <p:nvSpPr>
          <p:cNvPr id="12" name="Shape 9"/>
          <p:cNvSpPr/>
          <p:nvPr/>
        </p:nvSpPr>
        <p:spPr>
          <a:xfrm>
            <a:off x="457200" y="3310128"/>
            <a:ext cx="8138160" cy="658368"/>
          </a:xfrm>
          <a:prstGeom prst="roundRect">
            <a:avLst>
              <a:gd name="adj" fmla="val 16667"/>
            </a:avLst>
          </a:prstGeom>
          <a:solidFill>
            <a:srgbClr val="0B2830"/>
          </a:solidFill>
          <a:ln w="19050">
            <a:solidFill>
              <a:srgbClr val="1A8A7D"/>
            </a:solidFill>
            <a:prstDash val="solid"/>
          </a:ln>
        </p:spPr>
      </p:sp>
      <p:sp>
        <p:nvSpPr>
          <p:cNvPr id="13" name="Text 10"/>
          <p:cNvSpPr/>
          <p:nvPr/>
        </p:nvSpPr>
        <p:spPr>
          <a:xfrm>
            <a:off x="640080" y="3383280"/>
            <a:ext cx="7772400" cy="512064"/>
          </a:xfrm>
          <a:prstGeom prst="rect">
            <a:avLst/>
          </a:prstGeom>
          <a:noFill/>
          <a:ln/>
        </p:spPr>
        <p:txBody>
          <a:bodyPr wrap="square" lIns="0" tIns="0" rIns="0" bIns="0" rtlCol="0" anchor="ctr"/>
          <a:lstStyle/>
          <a:p>
            <a:pPr indent="0" marL="0">
              <a:buNone/>
            </a:pPr>
            <a:r>
              <a:rPr lang="en-US" sz="1300" i="1" dirty="0">
                <a:solidFill>
                  <a:srgbClr val="55C8E8"/>
                </a:solidFill>
                <a:latin typeface="Cambria" pitchFamily="34" charset="0"/>
                <a:ea typeface="Cambria" pitchFamily="34" charset="-122"/>
                <a:cs typeface="Cambria" pitchFamily="34" charset="-120"/>
              </a:rPr>
              <a:t>This is how humans and geography negotiate. The weather doesn't move. People adapt.</a:t>
            </a:r>
            <a:endParaRPr lang="en-US" sz="1300" dirty="0"/>
          </a:p>
        </p:txBody>
      </p:sp>
      <p:sp>
        <p:nvSpPr>
          <p:cNvPr id="14" name="Shape 11"/>
          <p:cNvSpPr/>
          <p:nvPr/>
        </p:nvSpPr>
        <p:spPr>
          <a:xfrm>
            <a:off x="457200" y="4096512"/>
            <a:ext cx="8138160" cy="658368"/>
          </a:xfrm>
          <a:prstGeom prst="roundRect">
            <a:avLst>
              <a:gd name="adj" fmla="val 13889"/>
            </a:avLst>
          </a:prstGeom>
          <a:solidFill>
            <a:srgbClr val="1A2D5A"/>
          </a:solidFill>
          <a:ln/>
        </p:spPr>
      </p:sp>
      <p:sp>
        <p:nvSpPr>
          <p:cNvPr id="15" name="Text 12"/>
          <p:cNvSpPr/>
          <p:nvPr/>
        </p:nvSpPr>
        <p:spPr>
          <a:xfrm>
            <a:off x="640080" y="4169664"/>
            <a:ext cx="7772400" cy="512064"/>
          </a:xfrm>
          <a:prstGeom prst="rect">
            <a:avLst/>
          </a:prstGeom>
          <a:noFill/>
          <a:ln/>
        </p:spPr>
        <p:txBody>
          <a:bodyPr wrap="square" lIns="0" tIns="0" rIns="0" bIns="0" rtlCol="0" anchor="ctr"/>
          <a:lstStyle/>
          <a:p>
            <a:pPr indent="0" marL="0">
              <a:buNone/>
            </a:pPr>
            <a:r>
              <a:rPr lang="en-US" sz="1200" i="1" dirty="0">
                <a:solidFill>
                  <a:srgbClr val="FFF3DC"/>
                </a:solidFill>
                <a:latin typeface="Cambria" pitchFamily="34" charset="0"/>
                <a:ea typeface="Cambria" pitchFamily="34" charset="-122"/>
                <a:cs typeface="Cambria" pitchFamily="34" charset="-120"/>
              </a:rPr>
              <a:t>Name one place outside Florida where climate shapes a human choice. Use the pattern: cause (climate) -&gt; effect (human response).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280160" cy="292608"/>
          </a:xfrm>
          <a:prstGeom prst="roundRect">
            <a:avLst>
              <a:gd name="adj" fmla="val 25000"/>
            </a:avLst>
          </a:prstGeom>
          <a:solidFill>
            <a:srgbClr val="8B6FC0"/>
          </a:solidFill>
          <a:ln/>
        </p:spPr>
      </p:sp>
      <p:sp>
        <p:nvSpPr>
          <p:cNvPr id="4" name="Text 2"/>
          <p:cNvSpPr/>
          <p:nvPr/>
        </p:nvSpPr>
        <p:spPr>
          <a:xfrm>
            <a:off x="274320" y="164592"/>
            <a:ext cx="12801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WORD ROOT</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Greek: hydro = water</a:t>
            </a:r>
            <a:endParaRPr lang="en-US" sz="2600" dirty="0"/>
          </a:p>
        </p:txBody>
      </p:sp>
      <p:sp>
        <p:nvSpPr>
          <p:cNvPr id="6" name="Shape 4"/>
          <p:cNvSpPr/>
          <p:nvPr/>
        </p:nvSpPr>
        <p:spPr>
          <a:xfrm>
            <a:off x="274320" y="969264"/>
            <a:ext cx="8595360" cy="0"/>
          </a:xfrm>
          <a:prstGeom prst="line">
            <a:avLst/>
          </a:prstGeom>
          <a:noFill/>
          <a:ln w="19050">
            <a:solidFill>
              <a:srgbClr val="8B6FC0"/>
            </a:solidFill>
            <a:prstDash val="solid"/>
          </a:ln>
        </p:spPr>
      </p:sp>
      <p:sp>
        <p:nvSpPr>
          <p:cNvPr id="7" name="Shape 5"/>
          <p:cNvSpPr/>
          <p:nvPr/>
        </p:nvSpPr>
        <p:spPr>
          <a:xfrm>
            <a:off x="274320" y="1097280"/>
            <a:ext cx="4114800" cy="1481328"/>
          </a:xfrm>
          <a:prstGeom prst="roundRect">
            <a:avLst>
              <a:gd name="adj" fmla="val 7407"/>
            </a:avLst>
          </a:prstGeom>
          <a:solidFill>
            <a:srgbClr val="FFFFFF"/>
          </a:solidFill>
          <a:ln/>
          <a:effectLst>
            <a:outerShdw sx="100000" sy="100000" kx="0" ky="0" algn="bl" rotWithShape="0" blurRad="63500" dist="25400" dir="8100000">
              <a:srgbClr val="000000">
                <a:alpha val="10000"/>
              </a:srgbClr>
            </a:outerShdw>
          </a:effectLst>
        </p:spPr>
      </p:sp>
      <p:sp>
        <p:nvSpPr>
          <p:cNvPr id="8" name="Shape 6"/>
          <p:cNvSpPr/>
          <p:nvPr/>
        </p:nvSpPr>
        <p:spPr>
          <a:xfrm>
            <a:off x="411480" y="1188720"/>
            <a:ext cx="658368" cy="329184"/>
          </a:xfrm>
          <a:prstGeom prst="roundRect">
            <a:avLst>
              <a:gd name="adj" fmla="val 16667"/>
            </a:avLst>
          </a:prstGeom>
          <a:solidFill>
            <a:srgbClr val="8B6FC0"/>
          </a:solidFill>
          <a:ln/>
        </p:spPr>
      </p:sp>
      <p:sp>
        <p:nvSpPr>
          <p:cNvPr id="9" name="Text 7"/>
          <p:cNvSpPr/>
          <p:nvPr/>
        </p:nvSpPr>
        <p:spPr>
          <a:xfrm>
            <a:off x="411480" y="1188720"/>
            <a:ext cx="658368"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hydro</a:t>
            </a:r>
            <a:endParaRPr lang="en-US" sz="800" dirty="0"/>
          </a:p>
        </p:txBody>
      </p:sp>
      <p:sp>
        <p:nvSpPr>
          <p:cNvPr id="10" name="Text 8"/>
          <p:cNvSpPr/>
          <p:nvPr/>
        </p:nvSpPr>
        <p:spPr>
          <a:xfrm>
            <a:off x="1143000" y="1170432"/>
            <a:ext cx="3108960" cy="36576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hydrate</a:t>
            </a:r>
            <a:endParaRPr lang="en-US" sz="1500" dirty="0"/>
          </a:p>
        </p:txBody>
      </p:sp>
      <p:sp>
        <p:nvSpPr>
          <p:cNvPr id="11" name="Text 9"/>
          <p:cNvSpPr/>
          <p:nvPr/>
        </p:nvSpPr>
        <p:spPr>
          <a:xfrm>
            <a:off x="411480" y="1572768"/>
            <a:ext cx="3840480" cy="438912"/>
          </a:xfrm>
          <a:prstGeom prst="rect">
            <a:avLst/>
          </a:prstGeom>
          <a:noFill/>
          <a:ln/>
        </p:spPr>
        <p:txBody>
          <a:bodyPr wrap="square" lIns="0" tIns="0" rIns="0" bIns="0" rtlCol="0" anchor="t"/>
          <a:lstStyle/>
          <a:p>
            <a:pPr indent="0" marL="0">
              <a:buNone/>
            </a:pPr>
            <a:r>
              <a:rPr lang="en-US" sz="1050" dirty="0">
                <a:solidFill>
                  <a:srgbClr val="7A88A8"/>
                </a:solidFill>
                <a:latin typeface="Calibri" pitchFamily="34" charset="0"/>
                <a:ea typeface="Calibri" pitchFamily="34" charset="-122"/>
                <a:cs typeface="Calibri" pitchFamily="34" charset="-120"/>
              </a:rPr>
              <a:t>to add water to (the body or a substance)</a:t>
            </a:r>
            <a:endParaRPr lang="en-US" sz="1050" dirty="0"/>
          </a:p>
        </p:txBody>
      </p:sp>
      <p:sp>
        <p:nvSpPr>
          <p:cNvPr id="12" name="Shape 10"/>
          <p:cNvSpPr/>
          <p:nvPr/>
        </p:nvSpPr>
        <p:spPr>
          <a:xfrm>
            <a:off x="411480" y="2029968"/>
            <a:ext cx="3840480" cy="0"/>
          </a:xfrm>
          <a:prstGeom prst="line">
            <a:avLst/>
          </a:prstGeom>
          <a:noFill/>
          <a:ln w="12700">
            <a:solidFill>
              <a:srgbClr val="E2E8F4"/>
            </a:solidFill>
            <a:prstDash val="solid"/>
          </a:ln>
        </p:spPr>
      </p:sp>
      <p:sp>
        <p:nvSpPr>
          <p:cNvPr id="13" name="Text 11"/>
          <p:cNvSpPr/>
          <p:nvPr/>
        </p:nvSpPr>
        <p:spPr>
          <a:xfrm>
            <a:off x="411480" y="2084832"/>
            <a:ext cx="3840480" cy="438912"/>
          </a:xfrm>
          <a:prstGeom prst="rect">
            <a:avLst/>
          </a:prstGeom>
          <a:noFill/>
          <a:ln/>
        </p:spPr>
        <p:txBody>
          <a:bodyPr wrap="square" lIns="0" tIns="0" rIns="0" bIns="0" rtlCol="0" anchor="t"/>
          <a:lstStyle/>
          <a:p>
            <a:pPr indent="0" marL="0">
              <a:buNone/>
            </a:pPr>
            <a:r>
              <a:rPr lang="en-US" sz="950" i="1" dirty="0">
                <a:solidFill>
                  <a:srgbClr val="8B6FC0"/>
                </a:solidFill>
                <a:latin typeface="Calibri" pitchFamily="34" charset="0"/>
                <a:ea typeface="Calibri" pitchFamily="34" charset="-122"/>
                <a:cs typeface="Calibri" pitchFamily="34" charset="-120"/>
              </a:rPr>
              <a:t>Florida farmers hydrate orange trees during dry weeks using irrigation.</a:t>
            </a:r>
            <a:endParaRPr lang="en-US" sz="950" dirty="0"/>
          </a:p>
        </p:txBody>
      </p:sp>
      <p:sp>
        <p:nvSpPr>
          <p:cNvPr id="14" name="Shape 12"/>
          <p:cNvSpPr/>
          <p:nvPr/>
        </p:nvSpPr>
        <p:spPr>
          <a:xfrm>
            <a:off x="4617720" y="1097280"/>
            <a:ext cx="4114800" cy="1481328"/>
          </a:xfrm>
          <a:prstGeom prst="roundRect">
            <a:avLst>
              <a:gd name="adj" fmla="val 7407"/>
            </a:avLst>
          </a:prstGeom>
          <a:solidFill>
            <a:srgbClr val="FFFFFF"/>
          </a:solidFill>
          <a:ln/>
          <a:effectLst>
            <a:outerShdw sx="100000" sy="100000" kx="0" ky="0" algn="bl" rotWithShape="0" blurRad="63500" dist="25400" dir="8100000">
              <a:srgbClr val="000000">
                <a:alpha val="10000"/>
              </a:srgbClr>
            </a:outerShdw>
          </a:effectLst>
        </p:spPr>
      </p:sp>
      <p:sp>
        <p:nvSpPr>
          <p:cNvPr id="15" name="Shape 13"/>
          <p:cNvSpPr/>
          <p:nvPr/>
        </p:nvSpPr>
        <p:spPr>
          <a:xfrm>
            <a:off x="4754880" y="1188720"/>
            <a:ext cx="658368" cy="329184"/>
          </a:xfrm>
          <a:prstGeom prst="roundRect">
            <a:avLst>
              <a:gd name="adj" fmla="val 16667"/>
            </a:avLst>
          </a:prstGeom>
          <a:solidFill>
            <a:srgbClr val="8B6FC0"/>
          </a:solidFill>
          <a:ln/>
        </p:spPr>
      </p:sp>
      <p:sp>
        <p:nvSpPr>
          <p:cNvPr id="16" name="Text 14"/>
          <p:cNvSpPr/>
          <p:nvPr/>
        </p:nvSpPr>
        <p:spPr>
          <a:xfrm>
            <a:off x="4754880" y="1188720"/>
            <a:ext cx="658368"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hydro</a:t>
            </a:r>
            <a:endParaRPr lang="en-US" sz="800" dirty="0"/>
          </a:p>
        </p:txBody>
      </p:sp>
      <p:sp>
        <p:nvSpPr>
          <p:cNvPr id="17" name="Text 15"/>
          <p:cNvSpPr/>
          <p:nvPr/>
        </p:nvSpPr>
        <p:spPr>
          <a:xfrm>
            <a:off x="5486400" y="1170432"/>
            <a:ext cx="3108960" cy="36576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dehydrate</a:t>
            </a:r>
            <a:endParaRPr lang="en-US" sz="1500" dirty="0"/>
          </a:p>
        </p:txBody>
      </p:sp>
      <p:sp>
        <p:nvSpPr>
          <p:cNvPr id="18" name="Text 16"/>
          <p:cNvSpPr/>
          <p:nvPr/>
        </p:nvSpPr>
        <p:spPr>
          <a:xfrm>
            <a:off x="4754880" y="1572768"/>
            <a:ext cx="3840480" cy="438912"/>
          </a:xfrm>
          <a:prstGeom prst="rect">
            <a:avLst/>
          </a:prstGeom>
          <a:noFill/>
          <a:ln/>
        </p:spPr>
        <p:txBody>
          <a:bodyPr wrap="square" lIns="0" tIns="0" rIns="0" bIns="0" rtlCol="0" anchor="t"/>
          <a:lstStyle/>
          <a:p>
            <a:pPr indent="0" marL="0">
              <a:buNone/>
            </a:pPr>
            <a:r>
              <a:rPr lang="en-US" sz="1050" dirty="0">
                <a:solidFill>
                  <a:srgbClr val="7A88A8"/>
                </a:solidFill>
                <a:latin typeface="Calibri" pitchFamily="34" charset="0"/>
                <a:ea typeface="Calibri" pitchFamily="34" charset="-122"/>
                <a:cs typeface="Calibri" pitchFamily="34" charset="-120"/>
              </a:rPr>
              <a:t>to remove water; to lose dangerous amounts of water</a:t>
            </a:r>
            <a:endParaRPr lang="en-US" sz="1050" dirty="0"/>
          </a:p>
        </p:txBody>
      </p:sp>
      <p:sp>
        <p:nvSpPr>
          <p:cNvPr id="19" name="Shape 17"/>
          <p:cNvSpPr/>
          <p:nvPr/>
        </p:nvSpPr>
        <p:spPr>
          <a:xfrm>
            <a:off x="4754880" y="2029968"/>
            <a:ext cx="3840480" cy="0"/>
          </a:xfrm>
          <a:prstGeom prst="line">
            <a:avLst/>
          </a:prstGeom>
          <a:noFill/>
          <a:ln w="12700">
            <a:solidFill>
              <a:srgbClr val="E2E8F4"/>
            </a:solidFill>
            <a:prstDash val="solid"/>
          </a:ln>
        </p:spPr>
      </p:sp>
      <p:sp>
        <p:nvSpPr>
          <p:cNvPr id="20" name="Text 18"/>
          <p:cNvSpPr/>
          <p:nvPr/>
        </p:nvSpPr>
        <p:spPr>
          <a:xfrm>
            <a:off x="4754880" y="2084832"/>
            <a:ext cx="3840480" cy="438912"/>
          </a:xfrm>
          <a:prstGeom prst="rect">
            <a:avLst/>
          </a:prstGeom>
          <a:noFill/>
          <a:ln/>
        </p:spPr>
        <p:txBody>
          <a:bodyPr wrap="square" lIns="0" tIns="0" rIns="0" bIns="0" rtlCol="0" anchor="t"/>
          <a:lstStyle/>
          <a:p>
            <a:pPr indent="0" marL="0">
              <a:buNone/>
            </a:pPr>
            <a:r>
              <a:rPr lang="en-US" sz="950" i="1" dirty="0">
                <a:solidFill>
                  <a:srgbClr val="8B6FC0"/>
                </a:solidFill>
                <a:latin typeface="Calibri" pitchFamily="34" charset="0"/>
                <a:ea typeface="Calibri" pitchFamily="34" charset="-122"/>
                <a:cs typeface="Calibri" pitchFamily="34" charset="-120"/>
              </a:rPr>
              <a:t>Working outdoors in Florida's summer heat causes dehydration rapidly.</a:t>
            </a:r>
            <a:endParaRPr lang="en-US" sz="950" dirty="0"/>
          </a:p>
        </p:txBody>
      </p:sp>
      <p:sp>
        <p:nvSpPr>
          <p:cNvPr id="21" name="Shape 19"/>
          <p:cNvSpPr/>
          <p:nvPr/>
        </p:nvSpPr>
        <p:spPr>
          <a:xfrm>
            <a:off x="274320" y="2724912"/>
            <a:ext cx="4114800" cy="1481328"/>
          </a:xfrm>
          <a:prstGeom prst="roundRect">
            <a:avLst>
              <a:gd name="adj" fmla="val 7407"/>
            </a:avLst>
          </a:prstGeom>
          <a:solidFill>
            <a:srgbClr val="FFFFFF"/>
          </a:solidFill>
          <a:ln/>
          <a:effectLst>
            <a:outerShdw sx="100000" sy="100000" kx="0" ky="0" algn="bl" rotWithShape="0" blurRad="63500" dist="25400" dir="8100000">
              <a:srgbClr val="000000">
                <a:alpha val="10000"/>
              </a:srgbClr>
            </a:outerShdw>
          </a:effectLst>
        </p:spPr>
      </p:sp>
      <p:sp>
        <p:nvSpPr>
          <p:cNvPr id="22" name="Shape 20"/>
          <p:cNvSpPr/>
          <p:nvPr/>
        </p:nvSpPr>
        <p:spPr>
          <a:xfrm>
            <a:off x="411480" y="2816352"/>
            <a:ext cx="658368" cy="329184"/>
          </a:xfrm>
          <a:prstGeom prst="roundRect">
            <a:avLst>
              <a:gd name="adj" fmla="val 16667"/>
            </a:avLst>
          </a:prstGeom>
          <a:solidFill>
            <a:srgbClr val="8B6FC0"/>
          </a:solidFill>
          <a:ln/>
        </p:spPr>
      </p:sp>
      <p:sp>
        <p:nvSpPr>
          <p:cNvPr id="23" name="Text 21"/>
          <p:cNvSpPr/>
          <p:nvPr/>
        </p:nvSpPr>
        <p:spPr>
          <a:xfrm>
            <a:off x="411480" y="2816352"/>
            <a:ext cx="658368"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hydro</a:t>
            </a:r>
            <a:endParaRPr lang="en-US" sz="800" dirty="0"/>
          </a:p>
        </p:txBody>
      </p:sp>
      <p:sp>
        <p:nvSpPr>
          <p:cNvPr id="24" name="Text 22"/>
          <p:cNvSpPr/>
          <p:nvPr/>
        </p:nvSpPr>
        <p:spPr>
          <a:xfrm>
            <a:off x="1143000" y="2798064"/>
            <a:ext cx="3108960" cy="36576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hydrant</a:t>
            </a:r>
            <a:endParaRPr lang="en-US" sz="1500" dirty="0"/>
          </a:p>
        </p:txBody>
      </p:sp>
      <p:sp>
        <p:nvSpPr>
          <p:cNvPr id="25" name="Text 23"/>
          <p:cNvSpPr/>
          <p:nvPr/>
        </p:nvSpPr>
        <p:spPr>
          <a:xfrm>
            <a:off x="411480" y="3200400"/>
            <a:ext cx="3840480" cy="438912"/>
          </a:xfrm>
          <a:prstGeom prst="rect">
            <a:avLst/>
          </a:prstGeom>
          <a:noFill/>
          <a:ln/>
        </p:spPr>
        <p:txBody>
          <a:bodyPr wrap="square" lIns="0" tIns="0" rIns="0" bIns="0" rtlCol="0" anchor="t"/>
          <a:lstStyle/>
          <a:p>
            <a:pPr indent="0" marL="0">
              <a:buNone/>
            </a:pPr>
            <a:r>
              <a:rPr lang="en-US" sz="1050" dirty="0">
                <a:solidFill>
                  <a:srgbClr val="7A88A8"/>
                </a:solidFill>
                <a:latin typeface="Calibri" pitchFamily="34" charset="0"/>
                <a:ea typeface="Calibri" pitchFamily="34" charset="-122"/>
                <a:cs typeface="Calibri" pitchFamily="34" charset="-120"/>
              </a:rPr>
              <a:t>a pipe in the street that connects to the water supply</a:t>
            </a:r>
            <a:endParaRPr lang="en-US" sz="1050" dirty="0"/>
          </a:p>
        </p:txBody>
      </p:sp>
      <p:sp>
        <p:nvSpPr>
          <p:cNvPr id="26" name="Shape 24"/>
          <p:cNvSpPr/>
          <p:nvPr/>
        </p:nvSpPr>
        <p:spPr>
          <a:xfrm>
            <a:off x="411480" y="3657600"/>
            <a:ext cx="3840480" cy="0"/>
          </a:xfrm>
          <a:prstGeom prst="line">
            <a:avLst/>
          </a:prstGeom>
          <a:noFill/>
          <a:ln w="12700">
            <a:solidFill>
              <a:srgbClr val="E2E8F4"/>
            </a:solidFill>
            <a:prstDash val="solid"/>
          </a:ln>
        </p:spPr>
      </p:sp>
      <p:sp>
        <p:nvSpPr>
          <p:cNvPr id="27" name="Text 25"/>
          <p:cNvSpPr/>
          <p:nvPr/>
        </p:nvSpPr>
        <p:spPr>
          <a:xfrm>
            <a:off x="411480" y="3712464"/>
            <a:ext cx="3840480" cy="438912"/>
          </a:xfrm>
          <a:prstGeom prst="rect">
            <a:avLst/>
          </a:prstGeom>
          <a:noFill/>
          <a:ln/>
        </p:spPr>
        <p:txBody>
          <a:bodyPr wrap="square" lIns="0" tIns="0" rIns="0" bIns="0" rtlCol="0" anchor="t"/>
          <a:lstStyle/>
          <a:p>
            <a:pPr indent="0" marL="0">
              <a:buNone/>
            </a:pPr>
            <a:r>
              <a:rPr lang="en-US" sz="950" i="1" dirty="0">
                <a:solidFill>
                  <a:srgbClr val="8B6FC0"/>
                </a:solidFill>
                <a:latin typeface="Calibri" pitchFamily="34" charset="0"/>
                <a:ea typeface="Calibri" pitchFamily="34" charset="-122"/>
                <a:cs typeface="Calibri" pitchFamily="34" charset="-120"/>
              </a:rPr>
              <a:t>Fire hydrants tap underground water lines — named for the Greek root.</a:t>
            </a:r>
            <a:endParaRPr lang="en-US" sz="950" dirty="0"/>
          </a:p>
        </p:txBody>
      </p:sp>
      <p:sp>
        <p:nvSpPr>
          <p:cNvPr id="28" name="Shape 26"/>
          <p:cNvSpPr/>
          <p:nvPr/>
        </p:nvSpPr>
        <p:spPr>
          <a:xfrm>
            <a:off x="4617720" y="2724912"/>
            <a:ext cx="4114800" cy="1481328"/>
          </a:xfrm>
          <a:prstGeom prst="roundRect">
            <a:avLst>
              <a:gd name="adj" fmla="val 7407"/>
            </a:avLst>
          </a:prstGeom>
          <a:solidFill>
            <a:srgbClr val="FFFFFF"/>
          </a:solidFill>
          <a:ln/>
          <a:effectLst>
            <a:outerShdw sx="100000" sy="100000" kx="0" ky="0" algn="bl" rotWithShape="0" blurRad="63500" dist="25400" dir="8100000">
              <a:srgbClr val="000000">
                <a:alpha val="10000"/>
              </a:srgbClr>
            </a:outerShdw>
          </a:effectLst>
        </p:spPr>
      </p:sp>
      <p:sp>
        <p:nvSpPr>
          <p:cNvPr id="29" name="Shape 27"/>
          <p:cNvSpPr/>
          <p:nvPr/>
        </p:nvSpPr>
        <p:spPr>
          <a:xfrm>
            <a:off x="4754880" y="2816352"/>
            <a:ext cx="658368" cy="329184"/>
          </a:xfrm>
          <a:prstGeom prst="roundRect">
            <a:avLst>
              <a:gd name="adj" fmla="val 16667"/>
            </a:avLst>
          </a:prstGeom>
          <a:solidFill>
            <a:srgbClr val="8B6FC0"/>
          </a:solidFill>
          <a:ln/>
        </p:spPr>
      </p:sp>
      <p:sp>
        <p:nvSpPr>
          <p:cNvPr id="30" name="Text 28"/>
          <p:cNvSpPr/>
          <p:nvPr/>
        </p:nvSpPr>
        <p:spPr>
          <a:xfrm>
            <a:off x="4754880" y="2816352"/>
            <a:ext cx="658368" cy="329184"/>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hydro</a:t>
            </a:r>
            <a:endParaRPr lang="en-US" sz="800" dirty="0"/>
          </a:p>
        </p:txBody>
      </p:sp>
      <p:sp>
        <p:nvSpPr>
          <p:cNvPr id="31" name="Text 29"/>
          <p:cNvSpPr/>
          <p:nvPr/>
        </p:nvSpPr>
        <p:spPr>
          <a:xfrm>
            <a:off x="5486400" y="2798064"/>
            <a:ext cx="3108960" cy="365760"/>
          </a:xfrm>
          <a:prstGeom prst="rect">
            <a:avLst/>
          </a:prstGeom>
          <a:noFill/>
          <a:ln/>
        </p:spPr>
        <p:txBody>
          <a:bodyPr wrap="square" lIns="0" tIns="0" rIns="0" bIns="0" rtlCol="0" anchor="ctr"/>
          <a:lstStyle/>
          <a:p>
            <a:pPr indent="0" marL="0">
              <a:buNone/>
            </a:pPr>
            <a:r>
              <a:rPr lang="en-US" sz="1500" b="1" dirty="0">
                <a:solidFill>
                  <a:srgbClr val="0E1C42"/>
                </a:solidFill>
                <a:latin typeface="Cambria" pitchFamily="34" charset="0"/>
                <a:ea typeface="Cambria" pitchFamily="34" charset="-122"/>
                <a:cs typeface="Cambria" pitchFamily="34" charset="-120"/>
              </a:rPr>
              <a:t>hydroelectric</a:t>
            </a:r>
            <a:endParaRPr lang="en-US" sz="1500" dirty="0"/>
          </a:p>
        </p:txBody>
      </p:sp>
      <p:sp>
        <p:nvSpPr>
          <p:cNvPr id="32" name="Text 30"/>
          <p:cNvSpPr/>
          <p:nvPr/>
        </p:nvSpPr>
        <p:spPr>
          <a:xfrm>
            <a:off x="4754880" y="3200400"/>
            <a:ext cx="3840480" cy="438912"/>
          </a:xfrm>
          <a:prstGeom prst="rect">
            <a:avLst/>
          </a:prstGeom>
          <a:noFill/>
          <a:ln/>
        </p:spPr>
        <p:txBody>
          <a:bodyPr wrap="square" lIns="0" tIns="0" rIns="0" bIns="0" rtlCol="0" anchor="t"/>
          <a:lstStyle/>
          <a:p>
            <a:pPr indent="0" marL="0">
              <a:buNone/>
            </a:pPr>
            <a:r>
              <a:rPr lang="en-US" sz="1050" dirty="0">
                <a:solidFill>
                  <a:srgbClr val="7A88A8"/>
                </a:solidFill>
                <a:latin typeface="Calibri" pitchFamily="34" charset="0"/>
                <a:ea typeface="Calibri" pitchFamily="34" charset="-122"/>
                <a:cs typeface="Calibri" pitchFamily="34" charset="-120"/>
              </a:rPr>
              <a:t>electricity generated by moving water</a:t>
            </a:r>
            <a:endParaRPr lang="en-US" sz="1050" dirty="0"/>
          </a:p>
        </p:txBody>
      </p:sp>
      <p:sp>
        <p:nvSpPr>
          <p:cNvPr id="33" name="Shape 31"/>
          <p:cNvSpPr/>
          <p:nvPr/>
        </p:nvSpPr>
        <p:spPr>
          <a:xfrm>
            <a:off x="4754880" y="3657600"/>
            <a:ext cx="3840480" cy="0"/>
          </a:xfrm>
          <a:prstGeom prst="line">
            <a:avLst/>
          </a:prstGeom>
          <a:noFill/>
          <a:ln w="12700">
            <a:solidFill>
              <a:srgbClr val="E2E8F4"/>
            </a:solidFill>
            <a:prstDash val="solid"/>
          </a:ln>
        </p:spPr>
      </p:sp>
      <p:sp>
        <p:nvSpPr>
          <p:cNvPr id="34" name="Text 32"/>
          <p:cNvSpPr/>
          <p:nvPr/>
        </p:nvSpPr>
        <p:spPr>
          <a:xfrm>
            <a:off x="4754880" y="3712464"/>
            <a:ext cx="3840480" cy="438912"/>
          </a:xfrm>
          <a:prstGeom prst="rect">
            <a:avLst/>
          </a:prstGeom>
          <a:noFill/>
          <a:ln/>
        </p:spPr>
        <p:txBody>
          <a:bodyPr wrap="square" lIns="0" tIns="0" rIns="0" bIns="0" rtlCol="0" anchor="t"/>
          <a:lstStyle/>
          <a:p>
            <a:pPr indent="0" marL="0">
              <a:buNone/>
            </a:pPr>
            <a:r>
              <a:rPr lang="en-US" sz="950" i="1" dirty="0">
                <a:solidFill>
                  <a:srgbClr val="8B6FC0"/>
                </a:solidFill>
                <a:latin typeface="Calibri" pitchFamily="34" charset="0"/>
                <a:ea typeface="Calibri" pitchFamily="34" charset="-122"/>
                <a:cs typeface="Calibri" pitchFamily="34" charset="-120"/>
              </a:rPr>
              <a:t>Dams on rivers use hydro power — water as energy source.</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2011680" cy="292608"/>
          </a:xfrm>
          <a:prstGeom prst="roundRect">
            <a:avLst>
              <a:gd name="adj" fmla="val 25000"/>
            </a:avLst>
          </a:prstGeom>
          <a:solidFill>
            <a:srgbClr val="D4943A"/>
          </a:solidFill>
          <a:ln/>
        </p:spPr>
      </p:sp>
      <p:sp>
        <p:nvSpPr>
          <p:cNvPr id="6" name="Text 3"/>
          <p:cNvSpPr/>
          <p:nvPr/>
        </p:nvSpPr>
        <p:spPr>
          <a:xfrm>
            <a:off x="365760" y="228600"/>
            <a:ext cx="201168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VIRTUE SPOTLIGHT</a:t>
            </a:r>
            <a:endParaRPr lang="en-US" sz="900" dirty="0"/>
          </a:p>
        </p:txBody>
      </p:sp>
      <p:sp>
        <p:nvSpPr>
          <p:cNvPr id="7" name="Text 4"/>
          <p:cNvSpPr/>
          <p:nvPr/>
        </p:nvSpPr>
        <p:spPr>
          <a:xfrm>
            <a:off x="457200" y="658368"/>
            <a:ext cx="8229600" cy="7772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Honesty</a:t>
            </a:r>
            <a:endParaRPr lang="en-US" sz="4600" dirty="0"/>
          </a:p>
        </p:txBody>
      </p:sp>
      <p:sp>
        <p:nvSpPr>
          <p:cNvPr id="8" name="Text 5"/>
          <p:cNvSpPr/>
          <p:nvPr/>
        </p:nvSpPr>
        <p:spPr>
          <a:xfrm>
            <a:off x="457200" y="1481328"/>
            <a:ext cx="8229600" cy="438912"/>
          </a:xfrm>
          <a:prstGeom prst="rect">
            <a:avLst/>
          </a:prstGeom>
          <a:noFill/>
          <a:ln/>
        </p:spPr>
        <p:txBody>
          <a:bodyPr wrap="square" lIns="0" tIns="0" rIns="0" bIns="0" rtlCol="0" anchor="ctr"/>
          <a:lstStyle/>
          <a:p>
            <a:pPr indent="0" marL="0">
              <a:buNone/>
            </a:pPr>
            <a:r>
              <a:rPr lang="en-US" sz="1700" i="1" dirty="0">
                <a:solidFill>
                  <a:srgbClr val="D4943A"/>
                </a:solidFill>
                <a:latin typeface="Cambria" pitchFamily="34" charset="0"/>
                <a:ea typeface="Cambria" pitchFamily="34" charset="-122"/>
                <a:cs typeface="Cambria" pitchFamily="34" charset="-120"/>
              </a:rPr>
              <a:t>Telling the truth about the weather — even when it's scary.</a:t>
            </a:r>
            <a:endParaRPr lang="en-US" sz="1700" dirty="0"/>
          </a:p>
        </p:txBody>
      </p:sp>
      <p:sp>
        <p:nvSpPr>
          <p:cNvPr id="9" name="Shape 6"/>
          <p:cNvSpPr/>
          <p:nvPr/>
        </p:nvSpPr>
        <p:spPr>
          <a:xfrm>
            <a:off x="457200" y="2057400"/>
            <a:ext cx="8138160" cy="1572768"/>
          </a:xfrm>
          <a:prstGeom prst="roundRect">
            <a:avLst>
              <a:gd name="adj" fmla="val 6977"/>
            </a:avLst>
          </a:prstGeom>
          <a:solidFill>
            <a:srgbClr val="1A2D5A"/>
          </a:solidFill>
          <a:ln/>
        </p:spPr>
      </p:sp>
      <p:sp>
        <p:nvSpPr>
          <p:cNvPr id="10" name="Text 7"/>
          <p:cNvSpPr/>
          <p:nvPr/>
        </p:nvSpPr>
        <p:spPr>
          <a:xfrm>
            <a:off x="640080" y="2130552"/>
            <a:ext cx="274320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IN THIS LESSON:</a:t>
            </a:r>
            <a:endParaRPr lang="en-US" sz="900" dirty="0"/>
          </a:p>
        </p:txBody>
      </p:sp>
      <p:sp>
        <p:nvSpPr>
          <p:cNvPr id="11" name="Text 8"/>
          <p:cNvSpPr/>
          <p:nvPr/>
        </p:nvSpPr>
        <p:spPr>
          <a:xfrm>
            <a:off x="640080" y="2423160"/>
            <a:ext cx="7772400" cy="11430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Honesty in Florida means not pretending hurricanes won't come. Not promising a sunny day to a worried neighbor. Maps, forecasts, and warnings only work when the people making them are honest about the risks.</a:t>
            </a:r>
            <a:endParaRPr lang="en-US" sz="1250" dirty="0"/>
          </a:p>
          <a:p>
            <a:pPr indent="0" marL="0">
              <a:buNone/>
            </a:pPr>
            <a:endParaRPr lang="en-US" sz="1250" dirty="0"/>
          </a:p>
          <a:p>
            <a:pPr indent="0" marL="0">
              <a:buNone/>
            </a:pPr>
            <a:r>
              <a:rPr lang="en-US" sz="1250" dirty="0">
                <a:solidFill>
                  <a:srgbClr val="FFFFFF"/>
                </a:solidFill>
                <a:latin typeface="Calibri" pitchFamily="34" charset="0"/>
                <a:ea typeface="Calibri" pitchFamily="34" charset="-122"/>
                <a:cs typeface="Calibri" pitchFamily="34" charset="-120"/>
              </a:rPr>
              <a:t>Every good decision about Florida's weather — where to build, when to evacuate, what crops to plant — starts with honest information.</a:t>
            </a:r>
            <a:endParaRPr lang="en-US" sz="1250" dirty="0"/>
          </a:p>
        </p:txBody>
      </p:sp>
      <p:sp>
        <p:nvSpPr>
          <p:cNvPr id="12" name="Shape 9"/>
          <p:cNvSpPr/>
          <p:nvPr/>
        </p:nvSpPr>
        <p:spPr>
          <a:xfrm>
            <a:off x="457200" y="3749040"/>
            <a:ext cx="8138160" cy="713232"/>
          </a:xfrm>
          <a:prstGeom prst="roundRect">
            <a:avLst>
              <a:gd name="adj" fmla="val 12821"/>
            </a:avLst>
          </a:prstGeom>
          <a:solidFill>
            <a:srgbClr val="0B2830"/>
          </a:solidFill>
          <a:ln w="19050">
            <a:solidFill>
              <a:srgbClr val="1A8A7D"/>
            </a:solidFill>
            <a:prstDash val="solid"/>
          </a:ln>
        </p:spPr>
      </p:sp>
      <p:sp>
        <p:nvSpPr>
          <p:cNvPr id="13" name="Text 10"/>
          <p:cNvSpPr/>
          <p:nvPr/>
        </p:nvSpPr>
        <p:spPr>
          <a:xfrm>
            <a:off x="640080" y="3822192"/>
            <a:ext cx="7772400" cy="566928"/>
          </a:xfrm>
          <a:prstGeom prst="rect">
            <a:avLst/>
          </a:prstGeom>
          <a:noFill/>
          <a:ln/>
        </p:spPr>
        <p:txBody>
          <a:bodyPr wrap="square" lIns="0" tIns="0" rIns="0" bIns="0" rtlCol="0" anchor="ctr"/>
          <a:lstStyle/>
          <a:p>
            <a:pPr indent="0" marL="0">
              <a:buNone/>
            </a:pPr>
            <a:r>
              <a:rPr lang="en-US" sz="1200" i="1" dirty="0">
                <a:solidFill>
                  <a:srgbClr val="55C8E8"/>
                </a:solidFill>
                <a:latin typeface="Cambria" pitchFamily="34" charset="0"/>
                <a:ea typeface="Cambria" pitchFamily="34" charset="-122"/>
                <a:cs typeface="Cambria" pitchFamily="34" charset="-120"/>
              </a:rPr>
              <a:t>"Why does honest information about Florida's weather save lives? Connect honesty to forecasts, evacuation maps, or warnings."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2011680" cy="292608"/>
          </a:xfrm>
          <a:prstGeom prst="roundRect">
            <a:avLst>
              <a:gd name="adj" fmla="val 25000"/>
            </a:avLst>
          </a:prstGeom>
          <a:solidFill>
            <a:srgbClr val="0E1C42"/>
          </a:solidFill>
          <a:ln/>
        </p:spPr>
      </p:sp>
      <p:sp>
        <p:nvSpPr>
          <p:cNvPr id="4" name="Text 2"/>
          <p:cNvSpPr/>
          <p:nvPr/>
        </p:nvSpPr>
        <p:spPr>
          <a:xfrm>
            <a:off x="274320" y="164592"/>
            <a:ext cx="2011680" cy="292608"/>
          </a:xfrm>
          <a:prstGeom prst="rect">
            <a:avLst/>
          </a:prstGeom>
          <a:noFill/>
          <a:ln/>
        </p:spPr>
        <p:txBody>
          <a:bodyPr wrap="square" lIns="0" tIns="0" rIns="0" bIns="0" rtlCol="0" anchor="ctr"/>
          <a:lstStyle/>
          <a:p>
            <a:pPr algn="ctr" indent="0" marL="0">
              <a:buNone/>
            </a:pPr>
            <a:r>
              <a:rPr lang="en-US" sz="900" b="1" spc="120" kern="0" dirty="0">
                <a:solidFill>
                  <a:srgbClr val="55C8E8"/>
                </a:solidFill>
                <a:latin typeface="Calibri" pitchFamily="34" charset="0"/>
                <a:ea typeface="Calibri" pitchFamily="34" charset="-122"/>
                <a:cs typeface="Calibri" pitchFamily="34" charset="-120"/>
              </a:rPr>
              <a:t>GUIDED PRACTICE 1</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Teacher Models: Cause and Effect from the Map</a:t>
            </a:r>
            <a:endParaRPr lang="en-US" sz="2100" dirty="0"/>
          </a:p>
        </p:txBody>
      </p:sp>
      <p:sp>
        <p:nvSpPr>
          <p:cNvPr id="6" name="Shape 4"/>
          <p:cNvSpPr/>
          <p:nvPr/>
        </p:nvSpPr>
        <p:spPr>
          <a:xfrm>
            <a:off x="274320" y="960120"/>
            <a:ext cx="8595360" cy="0"/>
          </a:xfrm>
          <a:prstGeom prst="line">
            <a:avLst/>
          </a:prstGeom>
          <a:noFill/>
          <a:ln w="19050">
            <a:solidFill>
              <a:srgbClr val="0E1C42"/>
            </a:solidFill>
            <a:prstDash val="solid"/>
          </a:ln>
        </p:spPr>
      </p:sp>
      <p:sp>
        <p:nvSpPr>
          <p:cNvPr id="7" name="Shape 5"/>
          <p:cNvSpPr/>
          <p:nvPr/>
        </p:nvSpPr>
        <p:spPr>
          <a:xfrm>
            <a:off x="274320" y="1078992"/>
            <a:ext cx="8595360" cy="2834640"/>
          </a:xfrm>
          <a:prstGeom prst="roundRect">
            <a:avLst>
              <a:gd name="adj" fmla="val 3871"/>
            </a:avLst>
          </a:prstGeom>
          <a:solidFill>
            <a:srgbClr val="FFFFFF"/>
          </a:solidFill>
          <a:ln/>
          <a:effectLst>
            <a:outerShdw sx="100000" sy="100000" kx="0" ky="0" algn="bl" rotWithShape="0" blurRad="63500" dist="25400" dir="8100000">
              <a:srgbClr val="000000">
                <a:alpha val="8000"/>
              </a:srgbClr>
            </a:outerShdw>
          </a:effectLst>
        </p:spPr>
      </p:sp>
      <p:sp>
        <p:nvSpPr>
          <p:cNvPr id="8" name="Text 6"/>
          <p:cNvSpPr/>
          <p:nvPr/>
        </p:nvSpPr>
        <p:spPr>
          <a:xfrm>
            <a:off x="457200" y="1152144"/>
            <a:ext cx="3657600" cy="256032"/>
          </a:xfrm>
          <a:prstGeom prst="rect">
            <a:avLst/>
          </a:prstGeom>
          <a:noFill/>
          <a:ln/>
        </p:spPr>
        <p:txBody>
          <a:bodyPr wrap="square" lIns="0" tIns="0" rIns="0" bIns="0" rtlCol="0" anchor="ctr"/>
          <a:lstStyle/>
          <a:p>
            <a:pPr indent="0" marL="0">
              <a:buNone/>
            </a:pPr>
            <a:r>
              <a:rPr lang="en-US" sz="900" b="1" spc="150" kern="0" dirty="0">
                <a:solidFill>
                  <a:srgbClr val="0E1C42"/>
                </a:solidFill>
                <a:latin typeface="Calibri" pitchFamily="34" charset="0"/>
                <a:ea typeface="Calibri" pitchFamily="34" charset="-122"/>
                <a:cs typeface="Calibri" pitchFamily="34" charset="-120"/>
              </a:rPr>
              <a:t>TEACHER THINK-ALOUD</a:t>
            </a:r>
            <a:endParaRPr lang="en-US" sz="900" dirty="0"/>
          </a:p>
        </p:txBody>
      </p:sp>
      <p:sp>
        <p:nvSpPr>
          <p:cNvPr id="9" name="Text 7"/>
          <p:cNvSpPr/>
          <p:nvPr/>
        </p:nvSpPr>
        <p:spPr>
          <a:xfrm>
            <a:off x="457200" y="1444752"/>
            <a:ext cx="8229600" cy="310896"/>
          </a:xfrm>
          <a:prstGeom prst="rect">
            <a:avLst/>
          </a:prstGeom>
          <a:noFill/>
          <a:ln/>
        </p:spPr>
        <p:txBody>
          <a:bodyPr wrap="square" lIns="0" tIns="0" rIns="0" bIns="0" rtlCol="0" anchor="ctr"/>
          <a:lstStyle/>
          <a:p>
            <a:pPr indent="0" marL="0">
              <a:buNone/>
            </a:pPr>
            <a:r>
              <a:rPr lang="en-US" sz="1400" b="1" dirty="0">
                <a:solidFill>
                  <a:srgbClr val="D4943A"/>
                </a:solidFill>
                <a:latin typeface="Cambria" pitchFamily="34" charset="0"/>
                <a:ea typeface="Cambria" pitchFamily="34" charset="-122"/>
                <a:cs typeface="Cambria" pitchFamily="34" charset="-120"/>
              </a:rPr>
              <a:t>Evidence: Hurricane evacuation zones on the Florida coast</a:t>
            </a:r>
            <a:endParaRPr lang="en-US" sz="1400" dirty="0"/>
          </a:p>
        </p:txBody>
      </p:sp>
      <p:sp>
        <p:nvSpPr>
          <p:cNvPr id="10" name="Shape 8"/>
          <p:cNvSpPr/>
          <p:nvPr/>
        </p:nvSpPr>
        <p:spPr>
          <a:xfrm>
            <a:off x="457200" y="1847088"/>
            <a:ext cx="1078992" cy="365760"/>
          </a:xfrm>
          <a:prstGeom prst="roundRect">
            <a:avLst>
              <a:gd name="adj" fmla="val 15000"/>
            </a:avLst>
          </a:prstGeom>
          <a:solidFill>
            <a:srgbClr val="1A8A7D"/>
          </a:solidFill>
          <a:ln/>
        </p:spPr>
      </p:sp>
      <p:sp>
        <p:nvSpPr>
          <p:cNvPr id="11" name="Text 9"/>
          <p:cNvSpPr/>
          <p:nvPr/>
        </p:nvSpPr>
        <p:spPr>
          <a:xfrm>
            <a:off x="457200" y="1847088"/>
            <a:ext cx="1078992"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CLAIM</a:t>
            </a:r>
            <a:endParaRPr lang="en-US" sz="800" dirty="0"/>
          </a:p>
        </p:txBody>
      </p:sp>
      <p:sp>
        <p:nvSpPr>
          <p:cNvPr id="12" name="Text 10"/>
          <p:cNvSpPr/>
          <p:nvPr/>
        </p:nvSpPr>
        <p:spPr>
          <a:xfrm>
            <a:off x="1627632" y="1865376"/>
            <a:ext cx="7086600" cy="347472"/>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The evacuation route exists because Florida's hurricane season brings powerful storms to the coast.</a:t>
            </a:r>
            <a:endParaRPr lang="en-US" sz="1050" dirty="0"/>
          </a:p>
        </p:txBody>
      </p:sp>
      <p:sp>
        <p:nvSpPr>
          <p:cNvPr id="13" name="Shape 11"/>
          <p:cNvSpPr/>
          <p:nvPr/>
        </p:nvSpPr>
        <p:spPr>
          <a:xfrm>
            <a:off x="457200" y="2350008"/>
            <a:ext cx="1078992" cy="365760"/>
          </a:xfrm>
          <a:prstGeom prst="roundRect">
            <a:avLst>
              <a:gd name="adj" fmla="val 15000"/>
            </a:avLst>
          </a:prstGeom>
          <a:solidFill>
            <a:srgbClr val="D4943A"/>
          </a:solidFill>
          <a:ln/>
        </p:spPr>
      </p:sp>
      <p:sp>
        <p:nvSpPr>
          <p:cNvPr id="14" name="Text 12"/>
          <p:cNvSpPr/>
          <p:nvPr/>
        </p:nvSpPr>
        <p:spPr>
          <a:xfrm>
            <a:off x="457200" y="2350008"/>
            <a:ext cx="1078992"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EVIDENCE</a:t>
            </a:r>
            <a:endParaRPr lang="en-US" sz="800" dirty="0"/>
          </a:p>
        </p:txBody>
      </p:sp>
      <p:sp>
        <p:nvSpPr>
          <p:cNvPr id="15" name="Text 13"/>
          <p:cNvSpPr/>
          <p:nvPr/>
        </p:nvSpPr>
        <p:spPr>
          <a:xfrm>
            <a:off x="1627632" y="2368296"/>
            <a:ext cx="7086600" cy="347472"/>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The map shows Zone A closest to the coast, Zone B inland — the closer to the water, the higher the risk, so those residents must leave first.</a:t>
            </a:r>
            <a:endParaRPr lang="en-US" sz="1050" dirty="0"/>
          </a:p>
        </p:txBody>
      </p:sp>
      <p:sp>
        <p:nvSpPr>
          <p:cNvPr id="16" name="Shape 14"/>
          <p:cNvSpPr/>
          <p:nvPr/>
        </p:nvSpPr>
        <p:spPr>
          <a:xfrm>
            <a:off x="457200" y="2852928"/>
            <a:ext cx="1078992" cy="365760"/>
          </a:xfrm>
          <a:prstGeom prst="roundRect">
            <a:avLst>
              <a:gd name="adj" fmla="val 15000"/>
            </a:avLst>
          </a:prstGeom>
          <a:solidFill>
            <a:srgbClr val="8B6FC0"/>
          </a:solidFill>
          <a:ln/>
        </p:spPr>
      </p:sp>
      <p:sp>
        <p:nvSpPr>
          <p:cNvPr id="17" name="Text 15"/>
          <p:cNvSpPr/>
          <p:nvPr/>
        </p:nvSpPr>
        <p:spPr>
          <a:xfrm>
            <a:off x="457200" y="2852928"/>
            <a:ext cx="1078992"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EXPLAIN</a:t>
            </a:r>
            <a:endParaRPr lang="en-US" sz="800" dirty="0"/>
          </a:p>
        </p:txBody>
      </p:sp>
      <p:sp>
        <p:nvSpPr>
          <p:cNvPr id="18" name="Text 16"/>
          <p:cNvSpPr/>
          <p:nvPr/>
        </p:nvSpPr>
        <p:spPr>
          <a:xfrm>
            <a:off x="1627632" y="2871216"/>
            <a:ext cx="7086600" cy="347472"/>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Hurricanes bring flooding, high winds, and storm surge to coastal areas. Routes must be established BEFORE the storm so residents know where to go when there is no time to plan.</a:t>
            </a:r>
            <a:endParaRPr lang="en-US" sz="1050" dirty="0"/>
          </a:p>
        </p:txBody>
      </p:sp>
      <p:sp>
        <p:nvSpPr>
          <p:cNvPr id="19" name="Shape 17"/>
          <p:cNvSpPr/>
          <p:nvPr/>
        </p:nvSpPr>
        <p:spPr>
          <a:xfrm>
            <a:off x="457200" y="3355848"/>
            <a:ext cx="1078992" cy="365760"/>
          </a:xfrm>
          <a:prstGeom prst="roundRect">
            <a:avLst>
              <a:gd name="adj" fmla="val 15000"/>
            </a:avLst>
          </a:prstGeom>
          <a:solidFill>
            <a:srgbClr val="E8636B"/>
          </a:solidFill>
          <a:ln/>
        </p:spPr>
      </p:sp>
      <p:sp>
        <p:nvSpPr>
          <p:cNvPr id="20" name="Text 18"/>
          <p:cNvSpPr/>
          <p:nvPr/>
        </p:nvSpPr>
        <p:spPr>
          <a:xfrm>
            <a:off x="457200" y="3355848"/>
            <a:ext cx="1078992" cy="36576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CONNECT</a:t>
            </a:r>
            <a:endParaRPr lang="en-US" sz="800" dirty="0"/>
          </a:p>
        </p:txBody>
      </p:sp>
      <p:sp>
        <p:nvSpPr>
          <p:cNvPr id="21" name="Text 19"/>
          <p:cNvSpPr/>
          <p:nvPr/>
        </p:nvSpPr>
        <p:spPr>
          <a:xfrm>
            <a:off x="1627632" y="3374136"/>
            <a:ext cx="7086600" cy="347472"/>
          </a:xfrm>
          <a:prstGeom prst="rect">
            <a:avLst/>
          </a:prstGeom>
          <a:noFill/>
          <a:ln/>
        </p:spPr>
        <p:txBody>
          <a:bodyPr wrap="square" lIns="0" tIns="0" rIns="0" bIns="0" rtlCol="0" anchor="ctr"/>
          <a:lstStyle/>
          <a:p>
            <a:pPr indent="0" marL="0">
              <a:buNone/>
            </a:pPr>
            <a:r>
              <a:rPr lang="en-US" sz="1050" dirty="0">
                <a:solidFill>
                  <a:srgbClr val="0E1C42"/>
                </a:solidFill>
                <a:latin typeface="Calibri" pitchFamily="34" charset="0"/>
                <a:ea typeface="Calibri" pitchFamily="34" charset="-122"/>
                <a:cs typeface="Calibri" pitchFamily="34" charset="-120"/>
              </a:rPr>
              <a:t>Cause-effect confirmed: Florida's hurricane season (cause) -&gt; state plans evacuation routes in advance (effect). Honest advance planning saves lives.</a:t>
            </a:r>
            <a:endParaRPr lang="en-US" sz="1050" dirty="0"/>
          </a:p>
        </p:txBody>
      </p:sp>
      <p:sp>
        <p:nvSpPr>
          <p:cNvPr id="22" name="Shape 20"/>
          <p:cNvSpPr/>
          <p:nvPr/>
        </p:nvSpPr>
        <p:spPr>
          <a:xfrm>
            <a:off x="274320" y="4005072"/>
            <a:ext cx="8595360" cy="749808"/>
          </a:xfrm>
          <a:prstGeom prst="roundRect">
            <a:avLst>
              <a:gd name="adj" fmla="val 12195"/>
            </a:avLst>
          </a:prstGeom>
          <a:solidFill>
            <a:srgbClr val="1A2D5A"/>
          </a:solidFill>
          <a:ln/>
        </p:spPr>
      </p:sp>
      <p:sp>
        <p:nvSpPr>
          <p:cNvPr id="23" name="Text 21"/>
          <p:cNvSpPr/>
          <p:nvPr/>
        </p:nvSpPr>
        <p:spPr>
          <a:xfrm>
            <a:off x="457200" y="4078224"/>
            <a:ext cx="8229600" cy="603504"/>
          </a:xfrm>
          <a:prstGeom prst="rect">
            <a:avLst/>
          </a:prstGeom>
          <a:noFill/>
          <a:ln/>
        </p:spPr>
        <p:txBody>
          <a:bodyPr wrap="square" lIns="0" tIns="0" rIns="0" bIns="0" rtlCol="0" anchor="ctr"/>
          <a:lstStyle/>
          <a:p>
            <a:pPr indent="0" marL="0">
              <a:buNone/>
            </a:pPr>
            <a:r>
              <a:rPr lang="en-US" sz="1200" i="1" dirty="0">
                <a:solidFill>
                  <a:srgbClr val="FFF3DC"/>
                </a:solidFill>
                <a:latin typeface="Cambria" pitchFamily="34" charset="0"/>
                <a:ea typeface="Cambria" pitchFamily="34" charset="-122"/>
                <a:cs typeface="Cambria" pitchFamily="34" charset="-120"/>
              </a:rPr>
              <a:t>Your turn: same 4 moves — Claim -&gt; Evidence -&gt; Explain -&gt; Connect. Pick any zone or feature on the impact map.</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2011680" cy="292608"/>
          </a:xfrm>
          <a:prstGeom prst="roundRect">
            <a:avLst>
              <a:gd name="adj" fmla="val 25000"/>
            </a:avLst>
          </a:prstGeom>
          <a:solidFill>
            <a:srgbClr val="0E1C42"/>
          </a:solidFill>
          <a:ln/>
        </p:spPr>
      </p:sp>
      <p:sp>
        <p:nvSpPr>
          <p:cNvPr id="4" name="Text 2"/>
          <p:cNvSpPr/>
          <p:nvPr/>
        </p:nvSpPr>
        <p:spPr>
          <a:xfrm>
            <a:off x="274320" y="164592"/>
            <a:ext cx="2011680" cy="292608"/>
          </a:xfrm>
          <a:prstGeom prst="rect">
            <a:avLst/>
          </a:prstGeom>
          <a:noFill/>
          <a:ln/>
        </p:spPr>
        <p:txBody>
          <a:bodyPr wrap="square" lIns="0" tIns="0" rIns="0" bIns="0" rtlCol="0" anchor="ctr"/>
          <a:lstStyle/>
          <a:p>
            <a:pPr algn="ctr" indent="0" marL="0">
              <a:buNone/>
            </a:pPr>
            <a:r>
              <a:rPr lang="en-US" sz="900" b="1" spc="120" kern="0" dirty="0">
                <a:solidFill>
                  <a:srgbClr val="55C8E8"/>
                </a:solidFill>
                <a:latin typeface="Calibri" pitchFamily="34" charset="0"/>
                <a:ea typeface="Calibri" pitchFamily="34" charset="-122"/>
                <a:cs typeface="Calibri" pitchFamily="34" charset="-120"/>
              </a:rPr>
              <a:t>GUIDED PRACTICE 2</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Investigate and Defend</a:t>
            </a:r>
            <a:endParaRPr lang="en-US" sz="2200" dirty="0"/>
          </a:p>
        </p:txBody>
      </p:sp>
      <p:sp>
        <p:nvSpPr>
          <p:cNvPr id="6" name="Shape 4"/>
          <p:cNvSpPr/>
          <p:nvPr/>
        </p:nvSpPr>
        <p:spPr>
          <a:xfrm>
            <a:off x="274320" y="960120"/>
            <a:ext cx="8595360" cy="0"/>
          </a:xfrm>
          <a:prstGeom prst="line">
            <a:avLst/>
          </a:prstGeom>
          <a:noFill/>
          <a:ln w="19050">
            <a:solidFill>
              <a:srgbClr val="34B76F"/>
            </a:solidFill>
            <a:prstDash val="solid"/>
          </a:ln>
        </p:spPr>
      </p:sp>
      <p:sp>
        <p:nvSpPr>
          <p:cNvPr id="7" name="Shape 5"/>
          <p:cNvSpPr/>
          <p:nvPr/>
        </p:nvSpPr>
        <p:spPr>
          <a:xfrm>
            <a:off x="274320" y="1078992"/>
            <a:ext cx="4983480" cy="2487168"/>
          </a:xfrm>
          <a:prstGeom prst="roundRect">
            <a:avLst>
              <a:gd name="adj" fmla="val 4412"/>
            </a:avLst>
          </a:prstGeom>
          <a:solidFill>
            <a:srgbClr val="FFFFFF"/>
          </a:solidFill>
          <a:ln/>
          <a:effectLst>
            <a:outerShdw sx="100000" sy="100000" kx="0" ky="0" algn="bl" rotWithShape="0" blurRad="63500" dist="25400" dir="8100000">
              <a:srgbClr val="000000">
                <a:alpha val="10000"/>
              </a:srgbClr>
            </a:outerShdw>
          </a:effectLst>
        </p:spPr>
      </p:sp>
      <p:sp>
        <p:nvSpPr>
          <p:cNvPr id="8" name="Text 6"/>
          <p:cNvSpPr/>
          <p:nvPr/>
        </p:nvSpPr>
        <p:spPr>
          <a:xfrm>
            <a:off x="457200" y="1152144"/>
            <a:ext cx="4617720" cy="256032"/>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YOUR INVESTIGATION</a:t>
            </a:r>
            <a:endParaRPr lang="en-US" sz="900" dirty="0"/>
          </a:p>
        </p:txBody>
      </p:sp>
      <p:sp>
        <p:nvSpPr>
          <p:cNvPr id="9" name="Text 7"/>
          <p:cNvSpPr/>
          <p:nvPr/>
        </p:nvSpPr>
        <p:spPr>
          <a:xfrm>
            <a:off x="457200" y="1444752"/>
            <a:ext cx="4617720" cy="292608"/>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Pick ONE Florida industry:</a:t>
            </a:r>
            <a:endParaRPr lang="en-US" sz="1300" dirty="0"/>
          </a:p>
        </p:txBody>
      </p:sp>
      <p:sp>
        <p:nvSpPr>
          <p:cNvPr id="10" name="Text 8"/>
          <p:cNvSpPr/>
          <p:nvPr/>
        </p:nvSpPr>
        <p:spPr>
          <a:xfrm>
            <a:off x="457200" y="1755648"/>
            <a:ext cx="4617720" cy="512064"/>
          </a:xfrm>
          <a:prstGeom prst="rect">
            <a:avLst/>
          </a:prstGeom>
          <a:noFill/>
          <a:ln/>
        </p:spPr>
        <p:txBody>
          <a:bodyPr wrap="square" lIns="0" tIns="0" rIns="0" bIns="0" rtlCol="0" anchor="ctr"/>
          <a:lstStyle/>
          <a:p>
            <a:pPr indent="0" marL="0">
              <a:buNone/>
            </a:pPr>
            <a:r>
              <a:rPr lang="en-US" sz="1150" dirty="0">
                <a:solidFill>
                  <a:srgbClr val="7A88A8"/>
                </a:solidFill>
                <a:latin typeface="Calibri" pitchFamily="34" charset="0"/>
                <a:ea typeface="Calibri" pitchFamily="34" charset="-122"/>
                <a:cs typeface="Calibri" pitchFamily="34" charset="-120"/>
              </a:rPr>
              <a:t>Farming (citrus / cattle)  |  Tourism (beaches / winter visitors)  |  Building (coastal homes / hurricane shutters)</a:t>
            </a:r>
            <a:endParaRPr lang="en-US" sz="1150" dirty="0"/>
          </a:p>
        </p:txBody>
      </p:sp>
      <p:sp>
        <p:nvSpPr>
          <p:cNvPr id="11" name="Text 9"/>
          <p:cNvSpPr/>
          <p:nvPr/>
        </p:nvSpPr>
        <p:spPr>
          <a:xfrm>
            <a:off x="457200" y="2331720"/>
            <a:ext cx="4617720" cy="1170432"/>
          </a:xfrm>
          <a:prstGeom prst="rect">
            <a:avLst/>
          </a:prstGeom>
          <a:noFill/>
          <a:ln/>
        </p:spPr>
        <p:txBody>
          <a:bodyPr wrap="square" lIns="0" tIns="0" rIns="0" bIns="0" rtlCol="0" anchor="ctr"/>
          <a:lstStyle/>
          <a:p>
            <a:pPr indent="0" marL="0">
              <a:buNone/>
            </a:pPr>
            <a:r>
              <a:rPr lang="en-US" sz="1100" dirty="0">
                <a:solidFill>
                  <a:srgbClr val="0E1C42"/>
                </a:solidFill>
                <a:latin typeface="Calibri" pitchFamily="34" charset="0"/>
                <a:ea typeface="Calibri" pitchFamily="34" charset="-122"/>
                <a:cs typeface="Calibri" pitchFamily="34" charset="-120"/>
              </a:rPr>
              <a:t>Write 2-3 sentences:</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1. Name the climate cause that shapes this industry.</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2. Name the human choice or response (the effect).</a:t>
            </a:r>
            <a:endParaRPr lang="en-US" sz="1100" dirty="0"/>
          </a:p>
          <a:p>
            <a:pPr indent="0" marL="0">
              <a:buNone/>
            </a:pPr>
            <a:r>
              <a:rPr lang="en-US" sz="1100" dirty="0">
                <a:solidFill>
                  <a:srgbClr val="0E1C42"/>
                </a:solidFill>
                <a:latin typeface="Calibri" pitchFamily="34" charset="0"/>
                <a:ea typeface="Calibri" pitchFamily="34" charset="-122"/>
                <a:cs typeface="Calibri" pitchFamily="34" charset="-120"/>
              </a:rPr>
              <a:t>3. One specific example: sprinklers, shutters, evacuation routes, beach season, cattle ranching location.</a:t>
            </a:r>
            <a:endParaRPr lang="en-US" sz="1100" dirty="0"/>
          </a:p>
        </p:txBody>
      </p:sp>
      <p:sp>
        <p:nvSpPr>
          <p:cNvPr id="12" name="Shape 10"/>
          <p:cNvSpPr/>
          <p:nvPr/>
        </p:nvSpPr>
        <p:spPr>
          <a:xfrm>
            <a:off x="5440680" y="1078992"/>
            <a:ext cx="3401568" cy="2487168"/>
          </a:xfrm>
          <a:prstGeom prst="roundRect">
            <a:avLst>
              <a:gd name="adj" fmla="val 5515"/>
            </a:avLst>
          </a:prstGeom>
          <a:solidFill>
            <a:srgbClr val="1A2D5A"/>
          </a:solidFill>
          <a:ln/>
          <a:effectLst>
            <a:outerShdw sx="100000" sy="100000" kx="0" ky="0" algn="bl" rotWithShape="0" blurRad="101600" dist="38100" dir="8100000">
              <a:srgbClr val="000000">
                <a:alpha val="20000"/>
              </a:srgbClr>
            </a:outerShdw>
          </a:effectLst>
        </p:spPr>
      </p:sp>
      <p:sp>
        <p:nvSpPr>
          <p:cNvPr id="13" name="Text 11"/>
          <p:cNvSpPr/>
          <p:nvPr/>
        </p:nvSpPr>
        <p:spPr>
          <a:xfrm>
            <a:off x="5623560" y="1170432"/>
            <a:ext cx="3035808"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2"/>
          <p:cNvSpPr/>
          <p:nvPr/>
        </p:nvSpPr>
        <p:spPr>
          <a:xfrm>
            <a:off x="5623560" y="1426464"/>
            <a:ext cx="3035808" cy="204825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specific climate evidence supports your industry choice?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someone argue if they chose a different industry? How would you respond?</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human preference drive your industry more than climate? How would you disprove that?</a:t>
            </a:r>
            <a:endParaRPr lang="en-US" sz="1100" dirty="0"/>
          </a:p>
        </p:txBody>
      </p:sp>
      <p:sp>
        <p:nvSpPr>
          <p:cNvPr id="15" name="Shape 13"/>
          <p:cNvSpPr/>
          <p:nvPr/>
        </p:nvSpPr>
        <p:spPr>
          <a:xfrm>
            <a:off x="274320" y="3675888"/>
            <a:ext cx="8595360" cy="868680"/>
          </a:xfrm>
          <a:prstGeom prst="roundRect">
            <a:avLst>
              <a:gd name="adj" fmla="val 12632"/>
            </a:avLst>
          </a:prstGeom>
          <a:solidFill>
            <a:srgbClr val="FFF3DC"/>
          </a:solidFill>
          <a:ln w="19050">
            <a:solidFill>
              <a:srgbClr val="F5E6C8"/>
            </a:solidFill>
            <a:prstDash val="solid"/>
          </a:ln>
        </p:spPr>
      </p:sp>
      <p:sp>
        <p:nvSpPr>
          <p:cNvPr id="16" name="Text 14"/>
          <p:cNvSpPr/>
          <p:nvPr/>
        </p:nvSpPr>
        <p:spPr>
          <a:xfrm>
            <a:off x="411480" y="3730752"/>
            <a:ext cx="83210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411480" y="3931920"/>
            <a:ext cx="8321040" cy="5486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chose [industry] because the climate causes..., which means people respond by..."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specific example is... because without it, [climate cause] would..."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2011680" cy="292608"/>
          </a:xfrm>
          <a:prstGeom prst="roundRect">
            <a:avLst>
              <a:gd name="adj" fmla="val 25000"/>
            </a:avLst>
          </a:prstGeom>
          <a:solidFill>
            <a:srgbClr val="0E1C42"/>
          </a:solidFill>
          <a:ln/>
        </p:spPr>
      </p:sp>
      <p:sp>
        <p:nvSpPr>
          <p:cNvPr id="4" name="Text 2"/>
          <p:cNvSpPr/>
          <p:nvPr/>
        </p:nvSpPr>
        <p:spPr>
          <a:xfrm>
            <a:off x="274320" y="164592"/>
            <a:ext cx="2011680" cy="292608"/>
          </a:xfrm>
          <a:prstGeom prst="rect">
            <a:avLst/>
          </a:prstGeom>
          <a:noFill/>
          <a:ln/>
        </p:spPr>
        <p:txBody>
          <a:bodyPr wrap="square" lIns="0" tIns="0" rIns="0" bIns="0" rtlCol="0" anchor="ctr"/>
          <a:lstStyle/>
          <a:p>
            <a:pPr algn="ctr" indent="0" marL="0">
              <a:buNone/>
            </a:pPr>
            <a:r>
              <a:rPr lang="en-US" sz="900" b="1" spc="120" kern="0" dirty="0">
                <a:solidFill>
                  <a:srgbClr val="55C8E8"/>
                </a:solidFill>
                <a:latin typeface="Calibri" pitchFamily="34" charset="0"/>
                <a:ea typeface="Calibri" pitchFamily="34" charset="-122"/>
                <a:cs typeface="Calibri" pitchFamily="34" charset="-120"/>
              </a:rPr>
              <a:t>GUIDED PRACTICE 3</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100" b="1" dirty="0">
                <a:solidFill>
                  <a:srgbClr val="0E1C42"/>
                </a:solidFill>
                <a:latin typeface="Cambria" pitchFamily="34" charset="0"/>
                <a:ea typeface="Cambria" pitchFamily="34" charset="-122"/>
                <a:cs typeface="Cambria" pitchFamily="34" charset="-120"/>
              </a:rPr>
              <a:t>Critique: What's Missing From This Response?</a:t>
            </a:r>
            <a:endParaRPr lang="en-US" sz="2100" dirty="0"/>
          </a:p>
        </p:txBody>
      </p:sp>
      <p:sp>
        <p:nvSpPr>
          <p:cNvPr id="6" name="Shape 4"/>
          <p:cNvSpPr/>
          <p:nvPr/>
        </p:nvSpPr>
        <p:spPr>
          <a:xfrm>
            <a:off x="274320" y="960120"/>
            <a:ext cx="8595360" cy="0"/>
          </a:xfrm>
          <a:prstGeom prst="line">
            <a:avLst/>
          </a:prstGeom>
          <a:noFill/>
          <a:ln w="19050">
            <a:solidFill>
              <a:srgbClr val="E8636B"/>
            </a:solidFill>
            <a:prstDash val="solid"/>
          </a:ln>
        </p:spPr>
      </p:sp>
      <p:sp>
        <p:nvSpPr>
          <p:cNvPr id="7" name="Shape 5"/>
          <p:cNvSpPr/>
          <p:nvPr/>
        </p:nvSpPr>
        <p:spPr>
          <a:xfrm>
            <a:off x="274320" y="1078992"/>
            <a:ext cx="4160520" cy="2852928"/>
          </a:xfrm>
          <a:prstGeom prst="roundRect">
            <a:avLst>
              <a:gd name="adj" fmla="val 3846"/>
            </a:avLst>
          </a:prstGeom>
          <a:solidFill>
            <a:srgbClr val="FFFFFF"/>
          </a:solidFill>
          <a:ln w="19050">
            <a:solidFill>
              <a:srgbClr val="E8636B"/>
            </a:solidFill>
            <a:prstDash val="solid"/>
          </a:ln>
        </p:spPr>
      </p:sp>
      <p:sp>
        <p:nvSpPr>
          <p:cNvPr id="8" name="Shape 6"/>
          <p:cNvSpPr/>
          <p:nvPr/>
        </p:nvSpPr>
        <p:spPr>
          <a:xfrm>
            <a:off x="274320" y="1078992"/>
            <a:ext cx="4160520" cy="329184"/>
          </a:xfrm>
          <a:prstGeom prst="roundRect">
            <a:avLst>
              <a:gd name="adj" fmla="val 33333"/>
            </a:avLst>
          </a:prstGeom>
          <a:solidFill>
            <a:srgbClr val="E8636B"/>
          </a:solidFill>
          <a:ln/>
        </p:spPr>
      </p:sp>
      <p:sp>
        <p:nvSpPr>
          <p:cNvPr id="9" name="Text 7"/>
          <p:cNvSpPr/>
          <p:nvPr/>
        </p:nvSpPr>
        <p:spPr>
          <a:xfrm>
            <a:off x="274320" y="1078992"/>
            <a:ext cx="416052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SAMPLE RESPONSE</a:t>
            </a:r>
            <a:endParaRPr lang="en-US" sz="1000" dirty="0"/>
          </a:p>
        </p:txBody>
      </p:sp>
      <p:sp>
        <p:nvSpPr>
          <p:cNvPr id="10" name="Text 8"/>
          <p:cNvSpPr/>
          <p:nvPr/>
        </p:nvSpPr>
        <p:spPr>
          <a:xfrm>
            <a:off x="438912" y="1481328"/>
            <a:ext cx="3822192" cy="804672"/>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"Florida farmers use irrigation because it's hot."</a:t>
            </a:r>
            <a:endParaRPr lang="en-US" sz="1300" dirty="0"/>
          </a:p>
        </p:txBody>
      </p:sp>
      <p:sp>
        <p:nvSpPr>
          <p:cNvPr id="11" name="Text 9"/>
          <p:cNvSpPr/>
          <p:nvPr/>
        </p:nvSpPr>
        <p:spPr>
          <a:xfrm>
            <a:off x="438912" y="2340864"/>
            <a:ext cx="3822192" cy="1536192"/>
          </a:xfrm>
          <a:prstGeom prst="rect">
            <a:avLst/>
          </a:prstGeom>
          <a:noFill/>
          <a:ln/>
        </p:spPr>
        <p:txBody>
          <a:bodyPr wrap="square" lIns="0" tIns="0" rIns="0" bIns="0" rtlCol="0" anchor="ctr"/>
          <a:lstStyle/>
          <a:p>
            <a:pPr indent="0" marL="0">
              <a:buNone/>
            </a:pPr>
            <a:r>
              <a:rPr lang="en-US" sz="1100" dirty="0">
                <a:solidFill>
                  <a:srgbClr val="E8636B"/>
                </a:solidFill>
                <a:latin typeface="Calibri" pitchFamily="34" charset="0"/>
                <a:ea typeface="Calibri" pitchFamily="34" charset="-122"/>
                <a:cs typeface="Calibri" pitchFamily="34" charset="-120"/>
              </a:rPr>
              <a:t>Students: What is missing?</a:t>
            </a:r>
            <a:endParaRPr lang="en-US" sz="1100" dirty="0"/>
          </a:p>
          <a:p>
            <a:pPr indent="0" marL="0">
              <a:buNone/>
            </a:pPr>
            <a:endParaRPr lang="en-US" sz="1100" dirty="0"/>
          </a:p>
          <a:p>
            <a:pPr indent="0" marL="0">
              <a:buNone/>
            </a:pPr>
            <a:r>
              <a:rPr lang="en-US" sz="1100" dirty="0">
                <a:solidFill>
                  <a:srgbClr val="E8636B"/>
                </a:solidFill>
                <a:latin typeface="Calibri" pitchFamily="34" charset="0"/>
                <a:ea typeface="Calibri" pitchFamily="34" charset="-122"/>
                <a:cs typeface="Calibri" pitchFamily="34" charset="-120"/>
              </a:rPr>
              <a:t>- Which farmers? Which crops?</a:t>
            </a:r>
            <a:endParaRPr lang="en-US" sz="1100" dirty="0"/>
          </a:p>
          <a:p>
            <a:pPr indent="0" marL="0">
              <a:buNone/>
            </a:pPr>
            <a:r>
              <a:rPr lang="en-US" sz="1100" dirty="0">
                <a:solidFill>
                  <a:srgbClr val="E8636B"/>
                </a:solidFill>
                <a:latin typeface="Calibri" pitchFamily="34" charset="0"/>
                <a:ea typeface="Calibri" pitchFamily="34" charset="-122"/>
                <a:cs typeface="Calibri" pitchFamily="34" charset="-120"/>
              </a:rPr>
              <a:t>- Why does heat require irrigation specifically?</a:t>
            </a:r>
            <a:endParaRPr lang="en-US" sz="1100" dirty="0"/>
          </a:p>
          <a:p>
            <a:pPr indent="0" marL="0">
              <a:buNone/>
            </a:pPr>
            <a:r>
              <a:rPr lang="en-US" sz="1100" dirty="0">
                <a:solidFill>
                  <a:srgbClr val="E8636B"/>
                </a:solidFill>
                <a:latin typeface="Calibri" pitchFamily="34" charset="0"/>
                <a:ea typeface="Calibri" pitchFamily="34" charset="-122"/>
                <a:cs typeface="Calibri" pitchFamily="34" charset="-120"/>
              </a:rPr>
              <a:t>- What is the climate cause? The effect?</a:t>
            </a:r>
            <a:endParaRPr lang="en-US" sz="1100" dirty="0"/>
          </a:p>
          <a:p>
            <a:pPr indent="0" marL="0">
              <a:buNone/>
            </a:pPr>
            <a:r>
              <a:rPr lang="en-US" sz="1100" dirty="0">
                <a:solidFill>
                  <a:srgbClr val="E8636B"/>
                </a:solidFill>
                <a:latin typeface="Calibri" pitchFamily="34" charset="0"/>
                <a:ea typeface="Calibri" pitchFamily="34" charset="-122"/>
                <a:cs typeface="Calibri" pitchFamily="34" charset="-120"/>
              </a:rPr>
              <a:t>- What specific evidence supports this?</a:t>
            </a:r>
            <a:endParaRPr lang="en-US" sz="1100" dirty="0"/>
          </a:p>
        </p:txBody>
      </p:sp>
      <p:sp>
        <p:nvSpPr>
          <p:cNvPr id="12" name="Shape 10"/>
          <p:cNvSpPr/>
          <p:nvPr/>
        </p:nvSpPr>
        <p:spPr>
          <a:xfrm>
            <a:off x="4663440" y="1078992"/>
            <a:ext cx="4160520" cy="2852928"/>
          </a:xfrm>
          <a:prstGeom prst="roundRect">
            <a:avLst>
              <a:gd name="adj" fmla="val 3846"/>
            </a:avLst>
          </a:prstGeom>
          <a:solidFill>
            <a:srgbClr val="FFFFFF"/>
          </a:solidFill>
          <a:ln w="19050">
            <a:solidFill>
              <a:srgbClr val="34B76F"/>
            </a:solidFill>
            <a:prstDash val="solid"/>
          </a:ln>
        </p:spPr>
      </p:sp>
      <p:sp>
        <p:nvSpPr>
          <p:cNvPr id="13" name="Shape 11"/>
          <p:cNvSpPr/>
          <p:nvPr/>
        </p:nvSpPr>
        <p:spPr>
          <a:xfrm>
            <a:off x="4663440" y="1078992"/>
            <a:ext cx="4160520" cy="329184"/>
          </a:xfrm>
          <a:prstGeom prst="roundRect">
            <a:avLst>
              <a:gd name="adj" fmla="val 33333"/>
            </a:avLst>
          </a:prstGeom>
          <a:solidFill>
            <a:srgbClr val="34B76F"/>
          </a:solidFill>
          <a:ln/>
        </p:spPr>
      </p:sp>
      <p:sp>
        <p:nvSpPr>
          <p:cNvPr id="14" name="Text 12"/>
          <p:cNvSpPr/>
          <p:nvPr/>
        </p:nvSpPr>
        <p:spPr>
          <a:xfrm>
            <a:off x="4663440" y="1078992"/>
            <a:ext cx="4160520" cy="329184"/>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STRENGTHEN IT</a:t>
            </a:r>
            <a:endParaRPr lang="en-US" sz="1000" dirty="0"/>
          </a:p>
        </p:txBody>
      </p:sp>
      <p:sp>
        <p:nvSpPr>
          <p:cNvPr id="15" name="Text 13"/>
          <p:cNvSpPr/>
          <p:nvPr/>
        </p:nvSpPr>
        <p:spPr>
          <a:xfrm>
            <a:off x="4828032" y="1481328"/>
            <a:ext cx="3822192" cy="1444752"/>
          </a:xfrm>
          <a:prstGeom prst="rect">
            <a:avLst/>
          </a:prstGeom>
          <a:noFill/>
          <a:ln/>
        </p:spPr>
        <p:txBody>
          <a:bodyPr wrap="square" lIns="0" tIns="0" rIns="0" bIns="0" rtlCol="0" anchor="ctr"/>
          <a:lstStyle/>
          <a:p>
            <a:pPr indent="0" marL="0">
              <a:buNone/>
            </a:pPr>
            <a:r>
              <a:rPr lang="en-US" sz="1150" i="1" dirty="0">
                <a:solidFill>
                  <a:srgbClr val="5A4A3A"/>
                </a:solidFill>
                <a:latin typeface="Cambria" pitchFamily="34" charset="0"/>
                <a:ea typeface="Cambria" pitchFamily="34" charset="-122"/>
                <a:cs typeface="Cambria" pitchFamily="34" charset="-120"/>
              </a:rPr>
              <a:t>What ONE specific detail would make the evidence clearer?</a:t>
            </a:r>
            <a:endParaRPr lang="en-US" sz="1150" dirty="0"/>
          </a:p>
          <a:p>
            <a:pPr indent="0" marL="0">
              <a:buNone/>
            </a:pPr>
            <a:endParaRPr lang="en-US" sz="1150" dirty="0"/>
          </a:p>
          <a:p>
            <a:pPr indent="0" marL="0">
              <a:buNone/>
            </a:pPr>
            <a:r>
              <a:rPr lang="en-US" sz="1150" i="1" dirty="0">
                <a:solidFill>
                  <a:srgbClr val="5A4A3A"/>
                </a:solidFill>
                <a:latin typeface="Cambria" pitchFamily="34" charset="0"/>
                <a:ea typeface="Cambria" pitchFamily="34" charset="-122"/>
                <a:cs typeface="Cambria" pitchFamily="34" charset="-120"/>
              </a:rPr>
              <a:t>Try: "Central Florida citrus farmers run sprinkler systems during dry weeks because..."</a:t>
            </a:r>
            <a:endParaRPr lang="en-US" sz="1150" dirty="0"/>
          </a:p>
        </p:txBody>
      </p:sp>
      <p:sp>
        <p:nvSpPr>
          <p:cNvPr id="16" name="Text 14"/>
          <p:cNvSpPr/>
          <p:nvPr/>
        </p:nvSpPr>
        <p:spPr>
          <a:xfrm>
            <a:off x="4828032" y="2999232"/>
            <a:ext cx="3822192" cy="877824"/>
          </a:xfrm>
          <a:prstGeom prst="rect">
            <a:avLst/>
          </a:prstGeom>
          <a:noFill/>
          <a:ln/>
        </p:spPr>
        <p:txBody>
          <a:bodyPr wrap="square" lIns="0" tIns="0" rIns="0" bIns="0" rtlCol="0" anchor="ctr"/>
          <a:lstStyle/>
          <a:p>
            <a:pPr indent="0" marL="0">
              <a:buNone/>
            </a:pPr>
            <a:r>
              <a:rPr lang="en-US" sz="1100" dirty="0">
                <a:solidFill>
                  <a:srgbClr val="34B76F"/>
                </a:solidFill>
                <a:latin typeface="Calibri" pitchFamily="34" charset="0"/>
                <a:ea typeface="Calibri" pitchFamily="34" charset="-122"/>
                <a:cs typeface="Calibri" pitchFamily="34" charset="-120"/>
              </a:rPr>
              <a:t>Strong evidence must name:</a:t>
            </a:r>
            <a:endParaRPr lang="en-US" sz="1100" dirty="0"/>
          </a:p>
          <a:p>
            <a:pPr indent="0" marL="0">
              <a:buNone/>
            </a:pPr>
            <a:r>
              <a:rPr lang="en-US" sz="1100" dirty="0">
                <a:solidFill>
                  <a:srgbClr val="34B76F"/>
                </a:solidFill>
                <a:latin typeface="Calibri" pitchFamily="34" charset="0"/>
                <a:ea typeface="Calibri" pitchFamily="34" charset="-122"/>
                <a:cs typeface="Calibri" pitchFamily="34" charset="-120"/>
              </a:rPr>
              <a:t>- The climate cause (heat + dry weeks)</a:t>
            </a:r>
            <a:endParaRPr lang="en-US" sz="1100" dirty="0"/>
          </a:p>
          <a:p>
            <a:pPr indent="0" marL="0">
              <a:buNone/>
            </a:pPr>
            <a:r>
              <a:rPr lang="en-US" sz="1100" dirty="0">
                <a:solidFill>
                  <a:srgbClr val="34B76F"/>
                </a:solidFill>
                <a:latin typeface="Calibri" pitchFamily="34" charset="0"/>
                <a:ea typeface="Calibri" pitchFamily="34" charset="-122"/>
                <a:cs typeface="Calibri" pitchFamily="34" charset="-120"/>
              </a:rPr>
              <a:t>- The specific effect (irrigation / sprinklers)</a:t>
            </a:r>
            <a:endParaRPr lang="en-US" sz="1100" dirty="0"/>
          </a:p>
          <a:p>
            <a:pPr indent="0" marL="0">
              <a:buNone/>
            </a:pPr>
            <a:r>
              <a:rPr lang="en-US" sz="1100" dirty="0">
                <a:solidFill>
                  <a:srgbClr val="34B76F"/>
                </a:solidFill>
                <a:latin typeface="Calibri" pitchFamily="34" charset="0"/>
                <a:ea typeface="Calibri" pitchFamily="34" charset="-122"/>
                <a:cs typeface="Calibri" pitchFamily="34" charset="-120"/>
              </a:rPr>
              <a:t>- WHY the cause requires that response</a:t>
            </a:r>
            <a:endParaRPr lang="en-US" sz="1100" dirty="0"/>
          </a:p>
        </p:txBody>
      </p:sp>
      <p:sp>
        <p:nvSpPr>
          <p:cNvPr id="17" name="Shape 15"/>
          <p:cNvSpPr/>
          <p:nvPr/>
        </p:nvSpPr>
        <p:spPr>
          <a:xfrm>
            <a:off x="274320" y="4023360"/>
            <a:ext cx="8595360" cy="804672"/>
          </a:xfrm>
          <a:prstGeom prst="roundRect">
            <a:avLst>
              <a:gd name="adj" fmla="val 11364"/>
            </a:avLst>
          </a:prstGeom>
          <a:solidFill>
            <a:srgbClr val="1A2D5A"/>
          </a:solidFill>
          <a:ln/>
        </p:spPr>
      </p:sp>
      <p:sp>
        <p:nvSpPr>
          <p:cNvPr id="18" name="Text 16"/>
          <p:cNvSpPr/>
          <p:nvPr/>
        </p:nvSpPr>
        <p:spPr>
          <a:xfrm>
            <a:off x="457200" y="4096512"/>
            <a:ext cx="8229600" cy="658368"/>
          </a:xfrm>
          <a:prstGeom prst="rect">
            <a:avLst/>
          </a:prstGeom>
          <a:noFill/>
          <a:ln/>
        </p:spPr>
        <p:txBody>
          <a:bodyPr wrap="square" lIns="0" tIns="0" rIns="0" bIns="0" rtlCol="0" anchor="ctr"/>
          <a:lstStyle/>
          <a:p>
            <a:pPr indent="0" marL="0">
              <a:buNone/>
            </a:pPr>
            <a:r>
              <a:rPr lang="en-US" sz="1200" i="1" dirty="0">
                <a:solidFill>
                  <a:srgbClr val="FFF3DC"/>
                </a:solidFill>
                <a:latin typeface="Cambria" pitchFamily="34" charset="0"/>
                <a:ea typeface="Cambria" pitchFamily="34" charset="-122"/>
                <a:cs typeface="Cambria" pitchFamily="34" charset="-120"/>
              </a:rPr>
              <a:t>Go back to your Slide 16 response. Find one place to add a specific climate cause or human response. Type your revision in chat.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828800" cy="292608"/>
          </a:xfrm>
          <a:prstGeom prst="roundRect">
            <a:avLst>
              <a:gd name="adj" fmla="val 25000"/>
            </a:avLst>
          </a:prstGeom>
          <a:solidFill>
            <a:srgbClr val="E8636B"/>
          </a:solidFill>
          <a:ln/>
        </p:spPr>
      </p:sp>
      <p:sp>
        <p:nvSpPr>
          <p:cNvPr id="4" name="Text 2"/>
          <p:cNvSpPr/>
          <p:nvPr/>
        </p:nvSpPr>
        <p:spPr>
          <a:xfrm>
            <a:off x="274320" y="164592"/>
            <a:ext cx="182880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THE TRICKY ONE</a:t>
            </a:r>
            <a:endParaRPr lang="en-US" sz="900" dirty="0"/>
          </a:p>
        </p:txBody>
      </p:sp>
      <p:sp>
        <p:nvSpPr>
          <p:cNvPr id="5" name="Text 3"/>
          <p:cNvSpPr/>
          <p:nvPr/>
        </p:nvSpPr>
        <p:spPr>
          <a:xfrm>
            <a:off x="274320" y="530352"/>
            <a:ext cx="8595360" cy="475488"/>
          </a:xfrm>
          <a:prstGeom prst="rect">
            <a:avLst/>
          </a:prstGeom>
          <a:noFill/>
          <a:ln/>
        </p:spPr>
        <p:txBody>
          <a:bodyPr wrap="square" lIns="0" tIns="0" rIns="0" bIns="0" rtlCol="0" anchor="ctr"/>
          <a:lstStyle/>
          <a:p>
            <a:pPr indent="0" marL="0">
              <a:buNone/>
            </a:pPr>
            <a:r>
              <a:rPr lang="en-US" sz="2600" b="1" dirty="0">
                <a:solidFill>
                  <a:srgbClr val="0E1C42"/>
                </a:solidFill>
                <a:latin typeface="Cambria" pitchFamily="34" charset="0"/>
                <a:ea typeface="Cambria" pitchFamily="34" charset="-122"/>
                <a:cs typeface="Cambria" pitchFamily="34" charset="-120"/>
              </a:rPr>
              <a:t>Is anywhere in Florida truly safe?</a:t>
            </a:r>
            <a:endParaRPr lang="en-US" sz="2600" dirty="0"/>
          </a:p>
        </p:txBody>
      </p:sp>
      <p:sp>
        <p:nvSpPr>
          <p:cNvPr id="6" name="Shape 4"/>
          <p:cNvSpPr/>
          <p:nvPr/>
        </p:nvSpPr>
        <p:spPr>
          <a:xfrm>
            <a:off x="274320" y="1042416"/>
            <a:ext cx="8595360" cy="0"/>
          </a:xfrm>
          <a:prstGeom prst="line">
            <a:avLst/>
          </a:prstGeom>
          <a:noFill/>
          <a:ln w="19050">
            <a:solidFill>
              <a:srgbClr val="E8636B"/>
            </a:solidFill>
            <a:prstDash val="solid"/>
          </a:ln>
        </p:spPr>
      </p:sp>
      <p:sp>
        <p:nvSpPr>
          <p:cNvPr id="7" name="Shape 5"/>
          <p:cNvSpPr/>
          <p:nvPr/>
        </p:nvSpPr>
        <p:spPr>
          <a:xfrm>
            <a:off x="274320" y="1170432"/>
            <a:ext cx="8595360" cy="1261872"/>
          </a:xfrm>
          <a:prstGeom prst="roundRect">
            <a:avLst>
              <a:gd name="adj" fmla="val 8696"/>
            </a:avLst>
          </a:prstGeom>
          <a:solidFill>
            <a:srgbClr val="1A2D5A"/>
          </a:solidFill>
          <a:ln/>
        </p:spPr>
      </p:sp>
      <p:sp>
        <p:nvSpPr>
          <p:cNvPr id="8" name="Text 6"/>
          <p:cNvSpPr/>
          <p:nvPr/>
        </p:nvSpPr>
        <p:spPr>
          <a:xfrm>
            <a:off x="457200" y="1243584"/>
            <a:ext cx="22860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THE SCENARIO</a:t>
            </a:r>
            <a:endParaRPr lang="en-US" sz="900" dirty="0"/>
          </a:p>
        </p:txBody>
      </p:sp>
      <p:sp>
        <p:nvSpPr>
          <p:cNvPr id="9" name="Text 7"/>
          <p:cNvSpPr/>
          <p:nvPr/>
        </p:nvSpPr>
        <p:spPr>
          <a:xfrm>
            <a:off x="457200" y="1517904"/>
            <a:ext cx="8229600" cy="86868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 family is choosing between two houses: one in an inland city, one on the Florida coast. The coastal house is cheaper right now. Using what you know about Florida's climate and the impact map, advise them. Tricky part: the inland city has flood-risk zones too. Is anywhere in Florida truly safe from weather risk?</a:t>
            </a:r>
            <a:endParaRPr lang="en-US" sz="1250" dirty="0"/>
          </a:p>
        </p:txBody>
      </p:sp>
      <p:sp>
        <p:nvSpPr>
          <p:cNvPr id="10" name="Shape 8"/>
          <p:cNvSpPr/>
          <p:nvPr/>
        </p:nvSpPr>
        <p:spPr>
          <a:xfrm>
            <a:off x="274320" y="2542032"/>
            <a:ext cx="4160520" cy="2304288"/>
          </a:xfrm>
          <a:prstGeom prst="roundRect">
            <a:avLst>
              <a:gd name="adj" fmla="val 4762"/>
            </a:avLst>
          </a:prstGeom>
          <a:solidFill>
            <a:srgbClr val="E2E8F4"/>
          </a:solidFill>
          <a:ln w="19050">
            <a:solidFill>
              <a:srgbClr val="B0B8CC"/>
            </a:solidFill>
            <a:prstDash val="dash"/>
          </a:ln>
        </p:spPr>
      </p:sp>
      <p:sp>
        <p:nvSpPr>
          <p:cNvPr id="11" name="Text 9"/>
          <p:cNvSpPr/>
          <p:nvPr/>
        </p:nvSpPr>
        <p:spPr>
          <a:xfrm>
            <a:off x="274320" y="2542032"/>
            <a:ext cx="41605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2" name="Text 10"/>
          <p:cNvSpPr/>
          <p:nvPr/>
        </p:nvSpPr>
        <p:spPr>
          <a:xfrm>
            <a:off x="411480" y="2816352"/>
            <a:ext cx="3886200" cy="1938528"/>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Florida climate-impact map showing both coastal hurricane zones AND inland flood-risk zones — for reference during the tricky-one discussion</a:t>
            </a:r>
            <a:endParaRPr lang="en-US" sz="1100" dirty="0"/>
          </a:p>
        </p:txBody>
      </p:sp>
      <p:sp>
        <p:nvSpPr>
          <p:cNvPr id="13" name="Shape 11"/>
          <p:cNvSpPr/>
          <p:nvPr/>
        </p:nvSpPr>
        <p:spPr>
          <a:xfrm>
            <a:off x="4617720" y="2542032"/>
            <a:ext cx="4160520" cy="2304288"/>
          </a:xfrm>
          <a:prstGeom prst="roundRect">
            <a:avLst>
              <a:gd name="adj" fmla="val 5952"/>
            </a:avLst>
          </a:prstGeom>
          <a:solidFill>
            <a:srgbClr val="1A2D5A"/>
          </a:solidFill>
          <a:ln/>
          <a:effectLst>
            <a:outerShdw sx="100000" sy="100000" kx="0" ky="0" algn="bl" rotWithShape="0" blurRad="101600" dist="38100" dir="8100000">
              <a:srgbClr val="000000">
                <a:alpha val="20000"/>
              </a:srgbClr>
            </a:outerShdw>
          </a:effectLst>
        </p:spPr>
      </p:sp>
      <p:sp>
        <p:nvSpPr>
          <p:cNvPr id="14" name="Text 12"/>
          <p:cNvSpPr/>
          <p:nvPr/>
        </p:nvSpPr>
        <p:spPr>
          <a:xfrm>
            <a:off x="4800600" y="2633472"/>
            <a:ext cx="379476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5" name="Text 13"/>
          <p:cNvSpPr/>
          <p:nvPr/>
        </p:nvSpPr>
        <p:spPr>
          <a:xfrm>
            <a:off x="4800600" y="2889504"/>
            <a:ext cx="3794760" cy="1865376"/>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climate risk applies to the COASTAL house? Name it specifically.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climate risk applies to the INLAND house? Is it different or just less visible?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a cheaper price reflect higher climate risk? Is that honest to the buyer?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Defend your position: Is anywhere in Florida safe, or is it only a question of which risk you accept?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463040" cy="292608"/>
          </a:xfrm>
          <a:prstGeom prst="roundRect">
            <a:avLst>
              <a:gd name="adj" fmla="val 25000"/>
            </a:avLst>
          </a:prstGeom>
          <a:solidFill>
            <a:srgbClr val="34B76F"/>
          </a:solidFill>
          <a:ln/>
        </p:spPr>
      </p:sp>
      <p:sp>
        <p:nvSpPr>
          <p:cNvPr id="4" name="Text 2"/>
          <p:cNvSpPr/>
          <p:nvPr/>
        </p:nvSpPr>
        <p:spPr>
          <a:xfrm>
            <a:off x="274320" y="164592"/>
            <a:ext cx="146304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SELF-CHECK</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Did You Unlock Today?</a:t>
            </a:r>
            <a:endParaRPr lang="en-US" sz="2400" dirty="0"/>
          </a:p>
        </p:txBody>
      </p:sp>
      <p:sp>
        <p:nvSpPr>
          <p:cNvPr id="6" name="Shape 4"/>
          <p:cNvSpPr/>
          <p:nvPr/>
        </p:nvSpPr>
        <p:spPr>
          <a:xfrm>
            <a:off x="274320" y="960120"/>
            <a:ext cx="8595360" cy="0"/>
          </a:xfrm>
          <a:prstGeom prst="line">
            <a:avLst/>
          </a:prstGeom>
          <a:noFill/>
          <a:ln w="19050">
            <a:solidFill>
              <a:srgbClr val="34B76F"/>
            </a:solidFill>
            <a:prstDash val="solid"/>
          </a:ln>
        </p:spPr>
      </p:sp>
      <p:sp>
        <p:nvSpPr>
          <p:cNvPr id="7" name="Shape 5"/>
          <p:cNvSpPr/>
          <p:nvPr/>
        </p:nvSpPr>
        <p:spPr>
          <a:xfrm>
            <a:off x="274320" y="1078992"/>
            <a:ext cx="8595360" cy="932688"/>
          </a:xfrm>
          <a:prstGeom prst="roundRect">
            <a:avLst>
              <a:gd name="adj" fmla="val 9804"/>
            </a:avLst>
          </a:prstGeom>
          <a:solidFill>
            <a:srgbClr val="FFFFFF"/>
          </a:solidFill>
          <a:ln/>
          <a:effectLst>
            <a:outerShdw sx="100000" sy="100000" kx="0" ky="0" algn="bl" rotWithShape="0" blurRad="50800" dist="25400" dir="8100000">
              <a:srgbClr val="000000">
                <a:alpha val="8000"/>
              </a:srgbClr>
            </a:outerShdw>
          </a:effectLst>
        </p:spPr>
      </p:sp>
      <p:sp>
        <p:nvSpPr>
          <p:cNvPr id="8" name="Text 6"/>
          <p:cNvSpPr/>
          <p:nvPr/>
        </p:nvSpPr>
        <p:spPr>
          <a:xfrm>
            <a:off x="457200" y="1152144"/>
            <a:ext cx="8229600" cy="347472"/>
          </a:xfrm>
          <a:prstGeom prst="rect">
            <a:avLst/>
          </a:prstGeom>
          <a:noFill/>
          <a:ln/>
        </p:spPr>
        <p:txBody>
          <a:bodyPr wrap="square" lIns="0" tIns="0" rIns="0" bIns="0" rtlCol="0" anchor="ctr"/>
          <a:lstStyle/>
          <a:p>
            <a:pPr indent="0" marL="0">
              <a:buNone/>
            </a:pPr>
            <a:r>
              <a:rPr lang="en-US" sz="1250" b="1" dirty="0">
                <a:solidFill>
                  <a:srgbClr val="0E1C42"/>
                </a:solidFill>
                <a:latin typeface="Cambria" pitchFamily="34" charset="0"/>
                <a:ea typeface="Cambria" pitchFamily="34" charset="-122"/>
                <a:cs typeface="Cambria" pitchFamily="34" charset="-120"/>
              </a:rPr>
              <a:t>1.  What are hurricane shutters designed to do? Name the specific storm effect they protect against.</a:t>
            </a:r>
            <a:endParaRPr lang="en-US" sz="1250" dirty="0"/>
          </a:p>
        </p:txBody>
      </p:sp>
      <p:sp>
        <p:nvSpPr>
          <p:cNvPr id="9" name="Text 7"/>
          <p:cNvSpPr/>
          <p:nvPr/>
        </p:nvSpPr>
        <p:spPr>
          <a:xfrm>
            <a:off x="457200" y="1536192"/>
            <a:ext cx="8229600" cy="420624"/>
          </a:xfrm>
          <a:prstGeom prst="rect">
            <a:avLst/>
          </a:prstGeom>
          <a:noFill/>
          <a:ln/>
        </p:spPr>
        <p:txBody>
          <a:bodyPr wrap="square" lIns="0" tIns="0" rIns="0" bIns="0" rtlCol="0" anchor="ctr"/>
          <a:lstStyle/>
          <a:p>
            <a:pPr indent="0" marL="0">
              <a:buNone/>
            </a:pPr>
            <a:r>
              <a:rPr lang="en-US" sz="1100" dirty="0">
                <a:solidFill>
                  <a:srgbClr val="34B76F"/>
                </a:solidFill>
                <a:latin typeface="Calibri" pitchFamily="34" charset="0"/>
                <a:ea typeface="Calibri" pitchFamily="34" charset="-122"/>
                <a:cs typeface="Calibri" pitchFamily="34" charset="-120"/>
              </a:rPr>
              <a:t>Hurricane shutters protect windows from high winds and flying debris during storms.</a:t>
            </a:r>
            <a:endParaRPr lang="en-US" sz="1100" dirty="0"/>
          </a:p>
        </p:txBody>
      </p:sp>
      <p:sp>
        <p:nvSpPr>
          <p:cNvPr id="10" name="Shape 8"/>
          <p:cNvSpPr/>
          <p:nvPr/>
        </p:nvSpPr>
        <p:spPr>
          <a:xfrm>
            <a:off x="274320" y="2103120"/>
            <a:ext cx="8595360" cy="932688"/>
          </a:xfrm>
          <a:prstGeom prst="roundRect">
            <a:avLst>
              <a:gd name="adj" fmla="val 9804"/>
            </a:avLst>
          </a:prstGeom>
          <a:solidFill>
            <a:srgbClr val="FFFFFF"/>
          </a:solidFill>
          <a:ln/>
          <a:effectLst>
            <a:outerShdw sx="100000" sy="100000" kx="0" ky="0" algn="bl" rotWithShape="0" blurRad="50800" dist="25400" dir="8100000">
              <a:srgbClr val="000000">
                <a:alpha val="8000"/>
              </a:srgbClr>
            </a:outerShdw>
          </a:effectLst>
        </p:spPr>
      </p:sp>
      <p:sp>
        <p:nvSpPr>
          <p:cNvPr id="11" name="Text 9"/>
          <p:cNvSpPr/>
          <p:nvPr/>
        </p:nvSpPr>
        <p:spPr>
          <a:xfrm>
            <a:off x="457200" y="2176272"/>
            <a:ext cx="8229600" cy="347472"/>
          </a:xfrm>
          <a:prstGeom prst="rect">
            <a:avLst/>
          </a:prstGeom>
          <a:noFill/>
          <a:ln/>
        </p:spPr>
        <p:txBody>
          <a:bodyPr wrap="square" lIns="0" tIns="0" rIns="0" bIns="0" rtlCol="0" anchor="ctr"/>
          <a:lstStyle/>
          <a:p>
            <a:pPr indent="0" marL="0">
              <a:buNone/>
            </a:pPr>
            <a:r>
              <a:rPr lang="en-US" sz="1250" b="1" dirty="0">
                <a:solidFill>
                  <a:srgbClr val="0E1C42"/>
                </a:solidFill>
                <a:latin typeface="Cambria" pitchFamily="34" charset="0"/>
                <a:ea typeface="Cambria" pitchFamily="34" charset="-122"/>
                <a:cs typeface="Cambria" pitchFamily="34" charset="-120"/>
              </a:rPr>
              <a:t>2.  Why can citrus farming thrive in central Florida? Name two climate or soil conditions.</a:t>
            </a:r>
            <a:endParaRPr lang="en-US" sz="1250" dirty="0"/>
          </a:p>
        </p:txBody>
      </p:sp>
      <p:sp>
        <p:nvSpPr>
          <p:cNvPr id="12" name="Text 10"/>
          <p:cNvSpPr/>
          <p:nvPr/>
        </p:nvSpPr>
        <p:spPr>
          <a:xfrm>
            <a:off x="457200" y="2560320"/>
            <a:ext cx="8229600" cy="420624"/>
          </a:xfrm>
          <a:prstGeom prst="rect">
            <a:avLst/>
          </a:prstGeom>
          <a:noFill/>
          <a:ln/>
        </p:spPr>
        <p:txBody>
          <a:bodyPr wrap="square" lIns="0" tIns="0" rIns="0" bIns="0" rtlCol="0" anchor="ctr"/>
          <a:lstStyle/>
          <a:p>
            <a:pPr indent="0" marL="0">
              <a:buNone/>
            </a:pPr>
            <a:r>
              <a:rPr lang="en-US" sz="1100" dirty="0">
                <a:solidFill>
                  <a:srgbClr val="34B76F"/>
                </a:solidFill>
                <a:latin typeface="Calibri" pitchFamily="34" charset="0"/>
                <a:ea typeface="Calibri" pitchFamily="34" charset="-122"/>
                <a:cs typeface="Calibri" pitchFamily="34" charset="-120"/>
              </a:rPr>
              <a:t>Frost is rare in central Florida and the soil drains well (well-drained sandy soil) — both conditions support orange groves.</a:t>
            </a:r>
            <a:endParaRPr lang="en-US" sz="1100" dirty="0"/>
          </a:p>
        </p:txBody>
      </p:sp>
      <p:sp>
        <p:nvSpPr>
          <p:cNvPr id="13" name="Shape 11"/>
          <p:cNvSpPr/>
          <p:nvPr/>
        </p:nvSpPr>
        <p:spPr>
          <a:xfrm>
            <a:off x="274320" y="3127248"/>
            <a:ext cx="8595360" cy="932688"/>
          </a:xfrm>
          <a:prstGeom prst="roundRect">
            <a:avLst>
              <a:gd name="adj" fmla="val 9804"/>
            </a:avLst>
          </a:prstGeom>
          <a:solidFill>
            <a:srgbClr val="FFFFFF"/>
          </a:solidFill>
          <a:ln/>
          <a:effectLst>
            <a:outerShdw sx="100000" sy="100000" kx="0" ky="0" algn="bl" rotWithShape="0" blurRad="50800" dist="25400" dir="8100000">
              <a:srgbClr val="000000">
                <a:alpha val="8000"/>
              </a:srgbClr>
            </a:outerShdw>
          </a:effectLst>
        </p:spPr>
      </p:sp>
      <p:sp>
        <p:nvSpPr>
          <p:cNvPr id="14" name="Text 12"/>
          <p:cNvSpPr/>
          <p:nvPr/>
        </p:nvSpPr>
        <p:spPr>
          <a:xfrm>
            <a:off x="457200" y="3200400"/>
            <a:ext cx="8229600" cy="347472"/>
          </a:xfrm>
          <a:prstGeom prst="rect">
            <a:avLst/>
          </a:prstGeom>
          <a:noFill/>
          <a:ln/>
        </p:spPr>
        <p:txBody>
          <a:bodyPr wrap="square" lIns="0" tIns="0" rIns="0" bIns="0" rtlCol="0" anchor="ctr"/>
          <a:lstStyle/>
          <a:p>
            <a:pPr indent="0" marL="0">
              <a:buNone/>
            </a:pPr>
            <a:r>
              <a:rPr lang="en-US" sz="1250" b="1" dirty="0">
                <a:solidFill>
                  <a:srgbClr val="0E1C42"/>
                </a:solidFill>
                <a:latin typeface="Cambria" pitchFamily="34" charset="0"/>
                <a:ea typeface="Cambria" pitchFamily="34" charset="-122"/>
                <a:cs typeface="Cambria" pitchFamily="34" charset="-120"/>
              </a:rPr>
              <a:t>3.  Hurricane season is a cause. Name one human effect — one response Floridians make because of it.</a:t>
            </a:r>
            <a:endParaRPr lang="en-US" sz="1250" dirty="0"/>
          </a:p>
        </p:txBody>
      </p:sp>
      <p:sp>
        <p:nvSpPr>
          <p:cNvPr id="15" name="Text 13"/>
          <p:cNvSpPr/>
          <p:nvPr/>
        </p:nvSpPr>
        <p:spPr>
          <a:xfrm>
            <a:off x="457200" y="3584448"/>
            <a:ext cx="8229600" cy="420624"/>
          </a:xfrm>
          <a:prstGeom prst="rect">
            <a:avLst/>
          </a:prstGeom>
          <a:noFill/>
          <a:ln/>
        </p:spPr>
        <p:txBody>
          <a:bodyPr wrap="square" lIns="0" tIns="0" rIns="0" bIns="0" rtlCol="0" anchor="ctr"/>
          <a:lstStyle/>
          <a:p>
            <a:pPr indent="0" marL="0">
              <a:buNone/>
            </a:pPr>
            <a:r>
              <a:rPr lang="en-US" sz="1100" dirty="0">
                <a:solidFill>
                  <a:srgbClr val="34B76F"/>
                </a:solidFill>
                <a:latin typeface="Calibri" pitchFamily="34" charset="0"/>
                <a:ea typeface="Calibri" pitchFamily="34" charset="-122"/>
                <a:cs typeface="Calibri" pitchFamily="34" charset="-120"/>
              </a:rPr>
              <a:t>Evacuation routes are planned in advance (before the storm) because hurricane season brings powerful coastal storms every year.</a:t>
            </a:r>
            <a:endParaRPr lang="en-US" sz="1100" dirty="0"/>
          </a:p>
        </p:txBody>
      </p:sp>
      <p:sp>
        <p:nvSpPr>
          <p:cNvPr id="16" name="Shape 14"/>
          <p:cNvSpPr/>
          <p:nvPr/>
        </p:nvSpPr>
        <p:spPr>
          <a:xfrm>
            <a:off x="274320" y="4160520"/>
            <a:ext cx="8595360" cy="594360"/>
          </a:xfrm>
          <a:prstGeom prst="roundRect">
            <a:avLst>
              <a:gd name="adj" fmla="val 15385"/>
            </a:avLst>
          </a:prstGeom>
          <a:solidFill>
            <a:srgbClr val="FFF3DC"/>
          </a:solidFill>
          <a:ln w="19050">
            <a:solidFill>
              <a:srgbClr val="F5E6C8"/>
            </a:solidFill>
            <a:prstDash val="solid"/>
          </a:ln>
        </p:spPr>
      </p:sp>
      <p:sp>
        <p:nvSpPr>
          <p:cNvPr id="17" name="Text 15"/>
          <p:cNvSpPr/>
          <p:nvPr/>
        </p:nvSpPr>
        <p:spPr>
          <a:xfrm>
            <a:off x="457200" y="4215384"/>
            <a:ext cx="8229600" cy="475488"/>
          </a:xfrm>
          <a:prstGeom prst="rect">
            <a:avLst/>
          </a:prstGeom>
          <a:noFill/>
          <a:ln/>
        </p:spPr>
        <p:txBody>
          <a:bodyPr wrap="square" lIns="0" tIns="0" rIns="0" bIns="0" rtlCol="0" anchor="ctr"/>
          <a:lstStyle/>
          <a:p>
            <a:pPr indent="0" marL="0">
              <a:buNone/>
            </a:pPr>
            <a:r>
              <a:rPr lang="en-US" sz="1300" i="1" dirty="0">
                <a:solidFill>
                  <a:srgbClr val="5A4A3A"/>
                </a:solidFill>
                <a:latin typeface="Cambria" pitchFamily="34" charset="0"/>
                <a:ea typeface="Cambria" pitchFamily="34" charset="-122"/>
                <a:cs typeface="Cambria" pitchFamily="34" charset="-120"/>
              </a:rPr>
              <a:t>"In this lesson, I learned that ______ because ______."</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p:spPr>
      </p:sp>
      <p:sp>
        <p:nvSpPr>
          <p:cNvPr id="3" name="Shape 1"/>
          <p:cNvSpPr/>
          <p:nvPr/>
        </p:nvSpPr>
        <p:spPr>
          <a:xfrm>
            <a:off x="274320" y="164592"/>
            <a:ext cx="1463040" cy="292608"/>
          </a:xfrm>
          <a:prstGeom prst="roundRect">
            <a:avLst>
              <a:gd name="adj" fmla="val 25000"/>
            </a:avLst>
          </a:prstGeom>
          <a:solidFill>
            <a:srgbClr val="D4943A"/>
          </a:solidFill>
          <a:ln/>
        </p:spPr>
      </p:sp>
      <p:sp>
        <p:nvSpPr>
          <p:cNvPr id="4" name="Text 2"/>
          <p:cNvSpPr/>
          <p:nvPr/>
        </p:nvSpPr>
        <p:spPr>
          <a:xfrm>
            <a:off x="274320" y="164592"/>
            <a:ext cx="146304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ASSIGNMENT</a:t>
            </a:r>
            <a:endParaRPr lang="en-US" sz="900" dirty="0"/>
          </a:p>
        </p:txBody>
      </p:sp>
      <p:sp>
        <p:nvSpPr>
          <p:cNvPr id="5" name="Text 3"/>
          <p:cNvSpPr/>
          <p:nvPr/>
        </p:nvSpPr>
        <p:spPr>
          <a:xfrm>
            <a:off x="274320" y="530352"/>
            <a:ext cx="8595360" cy="402336"/>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4.02.04: How Weather Impacts Florida</a:t>
            </a:r>
            <a:endParaRPr lang="en-US" sz="2000" dirty="0"/>
          </a:p>
        </p:txBody>
      </p:sp>
      <p:sp>
        <p:nvSpPr>
          <p:cNvPr id="6" name="Shape 4"/>
          <p:cNvSpPr/>
          <p:nvPr/>
        </p:nvSpPr>
        <p:spPr>
          <a:xfrm>
            <a:off x="274320" y="960120"/>
            <a:ext cx="8595360" cy="0"/>
          </a:xfrm>
          <a:prstGeom prst="line">
            <a:avLst/>
          </a:prstGeom>
          <a:noFill/>
          <a:ln w="25400">
            <a:solidFill>
              <a:srgbClr val="D4943A"/>
            </a:solidFill>
            <a:prstDash val="solid"/>
          </a:ln>
        </p:spPr>
      </p:sp>
      <p:sp>
        <p:nvSpPr>
          <p:cNvPr id="7" name="Shape 5"/>
          <p:cNvSpPr/>
          <p:nvPr/>
        </p:nvSpPr>
        <p:spPr>
          <a:xfrm>
            <a:off x="274320" y="1078992"/>
            <a:ext cx="8595360" cy="713232"/>
          </a:xfrm>
          <a:prstGeom prst="roundRect">
            <a:avLst>
              <a:gd name="adj" fmla="val 12821"/>
            </a:avLst>
          </a:prstGeom>
          <a:solidFill>
            <a:srgbClr val="FFFFFF"/>
          </a:solidFill>
          <a:ln/>
          <a:effectLst>
            <a:outerShdw sx="100000" sy="100000" kx="0" ky="0" algn="bl" rotWithShape="0" blurRad="50800" dist="25400" dir="8100000">
              <a:srgbClr val="000000">
                <a:alpha val="8000"/>
              </a:srgbClr>
            </a:outerShdw>
          </a:effectLst>
        </p:spPr>
      </p:sp>
      <p:sp>
        <p:nvSpPr>
          <p:cNvPr id="8" name="Shape 6"/>
          <p:cNvSpPr/>
          <p:nvPr/>
        </p:nvSpPr>
        <p:spPr>
          <a:xfrm>
            <a:off x="347472" y="1207008"/>
            <a:ext cx="457200" cy="457200"/>
          </a:xfrm>
          <a:prstGeom prst="ellipse">
            <a:avLst/>
          </a:prstGeom>
          <a:solidFill>
            <a:srgbClr val="D4943A"/>
          </a:solidFill>
          <a:ln/>
        </p:spPr>
      </p:sp>
      <p:sp>
        <p:nvSpPr>
          <p:cNvPr id="9" name="Text 7"/>
          <p:cNvSpPr/>
          <p:nvPr/>
        </p:nvSpPr>
        <p:spPr>
          <a:xfrm>
            <a:off x="347472" y="12070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p:nvPr/>
        </p:nvSpPr>
        <p:spPr>
          <a:xfrm>
            <a:off x="932688" y="1152144"/>
            <a:ext cx="7818120" cy="566928"/>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Name one cause-and-effect link between Florida's climate and a human choice. Use the map or the explore section. Make the cause and the effect clear.</a:t>
            </a:r>
            <a:endParaRPr lang="en-US" sz="1150" dirty="0"/>
          </a:p>
        </p:txBody>
      </p:sp>
      <p:sp>
        <p:nvSpPr>
          <p:cNvPr id="11" name="Shape 9"/>
          <p:cNvSpPr/>
          <p:nvPr/>
        </p:nvSpPr>
        <p:spPr>
          <a:xfrm>
            <a:off x="274320" y="1883664"/>
            <a:ext cx="8595360" cy="713232"/>
          </a:xfrm>
          <a:prstGeom prst="roundRect">
            <a:avLst>
              <a:gd name="adj" fmla="val 12821"/>
            </a:avLst>
          </a:prstGeom>
          <a:solidFill>
            <a:srgbClr val="FFFFFF"/>
          </a:solidFill>
          <a:ln/>
          <a:effectLst>
            <a:outerShdw sx="100000" sy="100000" kx="0" ky="0" algn="bl" rotWithShape="0" blurRad="50800" dist="25400" dir="8100000">
              <a:srgbClr val="000000">
                <a:alpha val="8000"/>
              </a:srgbClr>
            </a:outerShdw>
          </a:effectLst>
        </p:spPr>
      </p:sp>
      <p:sp>
        <p:nvSpPr>
          <p:cNvPr id="12" name="Shape 10"/>
          <p:cNvSpPr/>
          <p:nvPr/>
        </p:nvSpPr>
        <p:spPr>
          <a:xfrm>
            <a:off x="347472" y="2011680"/>
            <a:ext cx="457200" cy="457200"/>
          </a:xfrm>
          <a:prstGeom prst="ellipse">
            <a:avLst/>
          </a:prstGeom>
          <a:solidFill>
            <a:srgbClr val="D4943A"/>
          </a:solidFill>
          <a:ln/>
        </p:spPr>
      </p:sp>
      <p:sp>
        <p:nvSpPr>
          <p:cNvPr id="13" name="Text 11"/>
          <p:cNvSpPr/>
          <p:nvPr/>
        </p:nvSpPr>
        <p:spPr>
          <a:xfrm>
            <a:off x="347472" y="20116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p:nvPr/>
        </p:nvSpPr>
        <p:spPr>
          <a:xfrm>
            <a:off x="932688" y="1956816"/>
            <a:ext cx="7818120" cy="566928"/>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Pick one Florida industry — farming, tourism, or building. How does climate shape it? Use specific examples (sprinklers, shutters, evacuation routes, beach season, etc.).</a:t>
            </a:r>
            <a:endParaRPr lang="en-US" sz="1150" dirty="0"/>
          </a:p>
        </p:txBody>
      </p:sp>
      <p:sp>
        <p:nvSpPr>
          <p:cNvPr id="15" name="Shape 13"/>
          <p:cNvSpPr/>
          <p:nvPr/>
        </p:nvSpPr>
        <p:spPr>
          <a:xfrm>
            <a:off x="274320" y="2688336"/>
            <a:ext cx="8595360" cy="713232"/>
          </a:xfrm>
          <a:prstGeom prst="roundRect">
            <a:avLst>
              <a:gd name="adj" fmla="val 12821"/>
            </a:avLst>
          </a:prstGeom>
          <a:solidFill>
            <a:srgbClr val="FFFFFF"/>
          </a:solidFill>
          <a:ln/>
          <a:effectLst>
            <a:outerShdw sx="100000" sy="100000" kx="0" ky="0" algn="bl" rotWithShape="0" blurRad="50800" dist="25400" dir="8100000">
              <a:srgbClr val="000000">
                <a:alpha val="8000"/>
              </a:srgbClr>
            </a:outerShdw>
          </a:effectLst>
        </p:spPr>
      </p:sp>
      <p:sp>
        <p:nvSpPr>
          <p:cNvPr id="16" name="Shape 14"/>
          <p:cNvSpPr/>
          <p:nvPr/>
        </p:nvSpPr>
        <p:spPr>
          <a:xfrm>
            <a:off x="347472" y="2816352"/>
            <a:ext cx="457200" cy="457200"/>
          </a:xfrm>
          <a:prstGeom prst="ellipse">
            <a:avLst/>
          </a:prstGeom>
          <a:solidFill>
            <a:srgbClr val="D4943A"/>
          </a:solidFill>
          <a:ln/>
        </p:spPr>
      </p:sp>
      <p:sp>
        <p:nvSpPr>
          <p:cNvPr id="17" name="Text 15"/>
          <p:cNvSpPr/>
          <p:nvPr/>
        </p:nvSpPr>
        <p:spPr>
          <a:xfrm>
            <a:off x="347472" y="281635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p:nvPr/>
        </p:nvSpPr>
        <p:spPr>
          <a:xfrm>
            <a:off x="932688" y="2761488"/>
            <a:ext cx="7818120" cy="566928"/>
          </a:xfrm>
          <a:prstGeom prst="rect">
            <a:avLst/>
          </a:prstGeom>
          <a:noFill/>
          <a:ln/>
        </p:spPr>
        <p:txBody>
          <a:bodyPr wrap="square" lIns="0" tIns="0" rIns="0" bIns="0" rtlCol="0" anchor="ctr"/>
          <a:lstStyle/>
          <a:p>
            <a:pPr indent="0" marL="0">
              <a:buNone/>
            </a:pPr>
            <a:r>
              <a:rPr lang="en-US" sz="1150" dirty="0">
                <a:solidFill>
                  <a:srgbClr val="0E1C42"/>
                </a:solidFill>
                <a:latin typeface="Calibri" pitchFamily="34" charset="0"/>
                <a:ea typeface="Calibri" pitchFamily="34" charset="-122"/>
                <a:cs typeface="Calibri" pitchFamily="34" charset="-120"/>
              </a:rPr>
              <a:t>Why does honest information about Florida's weather save lives? Connect honesty to forecasts, evacuation maps, or warnings.</a:t>
            </a:r>
            <a:endParaRPr lang="en-US" sz="1150" dirty="0"/>
          </a:p>
        </p:txBody>
      </p:sp>
      <p:sp>
        <p:nvSpPr>
          <p:cNvPr id="19" name="Shape 17"/>
          <p:cNvSpPr/>
          <p:nvPr/>
        </p:nvSpPr>
        <p:spPr>
          <a:xfrm>
            <a:off x="274320" y="3511296"/>
            <a:ext cx="5577840" cy="1298448"/>
          </a:xfrm>
          <a:prstGeom prst="roundRect">
            <a:avLst>
              <a:gd name="adj" fmla="val 7042"/>
            </a:avLst>
          </a:prstGeom>
          <a:solidFill>
            <a:srgbClr val="1A2D5A"/>
          </a:solidFill>
          <a:ln/>
        </p:spPr>
      </p:sp>
      <p:sp>
        <p:nvSpPr>
          <p:cNvPr id="20" name="Text 18"/>
          <p:cNvSpPr/>
          <p:nvPr/>
        </p:nvSpPr>
        <p:spPr>
          <a:xfrm>
            <a:off x="457200" y="3584448"/>
            <a:ext cx="27432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UNLOCK CHALLENGE</a:t>
            </a:r>
            <a:endParaRPr lang="en-US" sz="900" dirty="0"/>
          </a:p>
        </p:txBody>
      </p:sp>
      <p:sp>
        <p:nvSpPr>
          <p:cNvPr id="21" name="Text 19"/>
          <p:cNvSpPr/>
          <p:nvPr/>
        </p:nvSpPr>
        <p:spPr>
          <a:xfrm>
            <a:off x="457200" y="3858768"/>
            <a:ext cx="5257800" cy="896112"/>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Pick one zone, region, or feature on the climate-impact map. Write 3-4 sentences: name the climate pattern (cause), name the human choice (effect), explain how the two connect. Cause -&gt; effect. Use real evidence from the map or the explore section.</a:t>
            </a:r>
            <a:endParaRPr lang="en-US" sz="1050" dirty="0"/>
          </a:p>
        </p:txBody>
      </p:sp>
      <p:sp>
        <p:nvSpPr>
          <p:cNvPr id="22" name="Shape 20"/>
          <p:cNvSpPr/>
          <p:nvPr/>
        </p:nvSpPr>
        <p:spPr>
          <a:xfrm>
            <a:off x="5989320" y="3511296"/>
            <a:ext cx="2834640" cy="1298448"/>
          </a:xfrm>
          <a:prstGeom prst="roundRect">
            <a:avLst>
              <a:gd name="adj" fmla="val 7042"/>
            </a:avLst>
          </a:prstGeom>
          <a:solidFill>
            <a:srgbClr val="FFF3DC"/>
          </a:solidFill>
          <a:ln w="19050">
            <a:solidFill>
              <a:srgbClr val="F5E6C8"/>
            </a:solidFill>
            <a:prstDash val="solid"/>
          </a:ln>
        </p:spPr>
      </p:sp>
      <p:sp>
        <p:nvSpPr>
          <p:cNvPr id="23" name="Text 21"/>
          <p:cNvSpPr/>
          <p:nvPr/>
        </p:nvSpPr>
        <p:spPr>
          <a:xfrm>
            <a:off x="6144768" y="3584448"/>
            <a:ext cx="2578608" cy="256032"/>
          </a:xfrm>
          <a:prstGeom prst="rect">
            <a:avLst/>
          </a:prstGeom>
          <a:noFill/>
          <a:ln/>
        </p:spPr>
        <p:txBody>
          <a:bodyPr wrap="square" lIns="0" tIns="0" rIns="0" bIns="0" rtlCol="0" anchor="ctr"/>
          <a:lstStyle/>
          <a:p>
            <a:pPr indent="0" marL="0">
              <a:buNone/>
            </a:pPr>
            <a:r>
              <a:rPr lang="en-US" sz="900" b="1" dirty="0">
                <a:solidFill>
                  <a:srgbClr val="D4943A"/>
                </a:solidFill>
                <a:latin typeface="Calibri" pitchFamily="34" charset="0"/>
                <a:ea typeface="Calibri" pitchFamily="34" charset="-122"/>
                <a:cs typeface="Calibri" pitchFamily="34" charset="-120"/>
              </a:rPr>
              <a:t>Historian's Sentence:</a:t>
            </a:r>
            <a:endParaRPr lang="en-US" sz="900" dirty="0"/>
          </a:p>
        </p:txBody>
      </p:sp>
      <p:sp>
        <p:nvSpPr>
          <p:cNvPr id="24" name="Text 22"/>
          <p:cNvSpPr/>
          <p:nvPr/>
        </p:nvSpPr>
        <p:spPr>
          <a:xfrm>
            <a:off x="6144768" y="3858768"/>
            <a:ext cx="2578608" cy="530352"/>
          </a:xfrm>
          <a:prstGeom prst="rect">
            <a:avLst/>
          </a:prstGeom>
          <a:noFill/>
          <a:ln/>
        </p:spPr>
        <p:txBody>
          <a:bodyPr wrap="square" lIns="0" tIns="0" rIns="0" bIns="0" rtlCol="0" anchor="t"/>
          <a:lstStyle/>
          <a:p>
            <a:pPr indent="0" marL="0">
              <a:buNone/>
            </a:pPr>
            <a:r>
              <a:rPr lang="en-US" sz="1000" i="1" dirty="0">
                <a:solidFill>
                  <a:srgbClr val="5A4A3A"/>
                </a:solidFill>
                <a:latin typeface="Cambria" pitchFamily="34" charset="0"/>
                <a:ea typeface="Cambria" pitchFamily="34" charset="-122"/>
                <a:cs typeface="Cambria" pitchFamily="34" charset="-120"/>
              </a:rPr>
              <a:t>"In this lesson, I learned that ______ because ______."</a:t>
            </a:r>
            <a:endParaRPr lang="en-US" sz="1000" dirty="0"/>
          </a:p>
        </p:txBody>
      </p:sp>
      <p:sp>
        <p:nvSpPr>
          <p:cNvPr id="25" name="Text 23"/>
          <p:cNvSpPr/>
          <p:nvPr/>
        </p:nvSpPr>
        <p:spPr>
          <a:xfrm>
            <a:off x="6144768" y="4407408"/>
            <a:ext cx="2578608" cy="347472"/>
          </a:xfrm>
          <a:prstGeom prst="rect">
            <a:avLst/>
          </a:prstGeom>
          <a:noFill/>
          <a:ln/>
        </p:spPr>
        <p:txBody>
          <a:bodyPr wrap="square" lIns="0" tIns="0" rIns="0" bIns="0" rtlCol="0" anchor="ctr"/>
          <a:lstStyle/>
          <a:p>
            <a:pPr indent="0" marL="0">
              <a:buNone/>
            </a:pPr>
            <a:r>
              <a:rPr lang="en-US" sz="900" b="1" dirty="0">
                <a:solidFill>
                  <a:srgbClr val="D4943A"/>
                </a:solidFill>
                <a:latin typeface="Calibri" pitchFamily="34" charset="0"/>
                <a:ea typeface="Calibri" pitchFamily="34" charset="-122"/>
                <a:cs typeface="Calibri" pitchFamily="34" charset="-120"/>
              </a:rPr>
              <a:t>Turn-in: Q1 + Q2 + Q3 + Unlock Challenge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28600"/>
            <a:ext cx="2194560" cy="292608"/>
          </a:xfrm>
          <a:prstGeom prst="roundRect">
            <a:avLst>
              <a:gd name="adj" fmla="val 25000"/>
            </a:avLst>
          </a:prstGeom>
          <a:solidFill>
            <a:srgbClr val="34B76F"/>
          </a:solidFill>
          <a:ln/>
        </p:spPr>
      </p:sp>
      <p:sp>
        <p:nvSpPr>
          <p:cNvPr id="6" name="Text 3"/>
          <p:cNvSpPr/>
          <p:nvPr/>
        </p:nvSpPr>
        <p:spPr>
          <a:xfrm>
            <a:off x="365760" y="228600"/>
            <a:ext cx="2194560" cy="292608"/>
          </a:xfrm>
          <a:prstGeom prst="rect">
            <a:avLst/>
          </a:prstGeom>
          <a:noFill/>
          <a:ln/>
        </p:spPr>
        <p:txBody>
          <a:bodyPr wrap="square" lIns="0" tIns="0" rIns="0" bIns="0" rtlCol="0" anchor="ctr"/>
          <a:lstStyle/>
          <a:p>
            <a:pPr algn="ctr" indent="0" marL="0">
              <a:buNone/>
            </a:pPr>
            <a:r>
              <a:rPr lang="en-US" sz="900" b="1" spc="120" kern="0" dirty="0">
                <a:solidFill>
                  <a:srgbClr val="FFFFFF"/>
                </a:solidFill>
                <a:latin typeface="Calibri" pitchFamily="34" charset="0"/>
                <a:ea typeface="Calibri" pitchFamily="34" charset="-122"/>
                <a:cs typeface="Calibri" pitchFamily="34" charset="-120"/>
              </a:rPr>
              <a:t>IMPACT LAYER UNLOCKED</a:t>
            </a:r>
            <a:endParaRPr lang="en-US" sz="900" dirty="0"/>
          </a:p>
        </p:txBody>
      </p:sp>
      <p:sp>
        <p:nvSpPr>
          <p:cNvPr id="7" name="Text 4"/>
          <p:cNvSpPr/>
          <p:nvPr/>
        </p:nvSpPr>
        <p:spPr>
          <a:xfrm>
            <a:off x="457200" y="658368"/>
            <a:ext cx="8229600" cy="9601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Florida's weather shapes the choices</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people make every day.</a:t>
            </a:r>
            <a:endParaRPr lang="en-US" sz="3600" dirty="0"/>
          </a:p>
        </p:txBody>
      </p:sp>
      <p:sp>
        <p:nvSpPr>
          <p:cNvPr id="8" name="Text 5"/>
          <p:cNvSpPr/>
          <p:nvPr/>
        </p:nvSpPr>
        <p:spPr>
          <a:xfrm>
            <a:off x="457200" y="1664208"/>
            <a:ext cx="8229600" cy="438912"/>
          </a:xfrm>
          <a:prstGeom prst="rect">
            <a:avLst/>
          </a:prstGeom>
          <a:noFill/>
          <a:ln/>
        </p:spPr>
        <p:txBody>
          <a:bodyPr wrap="square" lIns="0" tIns="0" rIns="0" bIns="0" rtlCol="0" anchor="ctr"/>
          <a:lstStyle/>
          <a:p>
            <a:pPr indent="0" marL="0">
              <a:buNone/>
            </a:pPr>
            <a:r>
              <a:rPr lang="en-US" sz="1800" i="1" dirty="0">
                <a:solidFill>
                  <a:srgbClr val="D4943A"/>
                </a:solidFill>
                <a:latin typeface="Cambria" pitchFamily="34" charset="0"/>
                <a:ea typeface="Cambria" pitchFamily="34" charset="-122"/>
                <a:cs typeface="Cambria" pitchFamily="34" charset="-120"/>
              </a:rPr>
              <a:t>Where to build. What to grow. How to prepare.</a:t>
            </a:r>
            <a:endParaRPr lang="en-US" sz="1800" dirty="0"/>
          </a:p>
        </p:txBody>
      </p:sp>
      <p:sp>
        <p:nvSpPr>
          <p:cNvPr id="9" name="Shape 6"/>
          <p:cNvSpPr/>
          <p:nvPr/>
        </p:nvSpPr>
        <p:spPr>
          <a:xfrm>
            <a:off x="457200" y="2212848"/>
            <a:ext cx="8138160" cy="1170432"/>
          </a:xfrm>
          <a:prstGeom prst="roundRect">
            <a:avLst>
              <a:gd name="adj" fmla="val 9375"/>
            </a:avLst>
          </a:prstGeom>
          <a:solidFill>
            <a:srgbClr val="1A2D5A"/>
          </a:solidFill>
          <a:ln/>
        </p:spPr>
      </p:sp>
      <p:sp>
        <p:nvSpPr>
          <p:cNvPr id="10" name="Text 7"/>
          <p:cNvSpPr/>
          <p:nvPr/>
        </p:nvSpPr>
        <p:spPr>
          <a:xfrm>
            <a:off x="640080" y="2286000"/>
            <a:ext cx="7772400" cy="274320"/>
          </a:xfrm>
          <a:prstGeom prst="rect">
            <a:avLst/>
          </a:prstGeom>
          <a:noFill/>
          <a:ln/>
        </p:spPr>
        <p:txBody>
          <a:bodyPr wrap="square" lIns="0" tIns="0" rIns="0" bIns="0" rtlCol="0" anchor="ctr"/>
          <a:lstStyle/>
          <a:p>
            <a:pPr indent="0" marL="0">
              <a:buNone/>
            </a:pPr>
            <a:r>
              <a:rPr lang="en-US" sz="1100" b="1" dirty="0">
                <a:solidFill>
                  <a:srgbClr val="55C8E8"/>
                </a:solidFill>
                <a:latin typeface="Calibri" pitchFamily="34" charset="0"/>
                <a:ea typeface="Calibri" pitchFamily="34" charset="-122"/>
                <a:cs typeface="Calibri" pitchFamily="34" charset="-120"/>
              </a:rPr>
              <a:t>What you proved today:</a:t>
            </a:r>
            <a:endParaRPr lang="en-US" sz="1100" dirty="0"/>
          </a:p>
        </p:txBody>
      </p:sp>
      <p:sp>
        <p:nvSpPr>
          <p:cNvPr id="11" name="Text 8"/>
          <p:cNvSpPr/>
          <p:nvPr/>
        </p:nvSpPr>
        <p:spPr>
          <a:xfrm>
            <a:off x="640080" y="2596896"/>
            <a:ext cx="7772400" cy="749808"/>
          </a:xfrm>
          <a:prstGeom prst="rect">
            <a:avLst/>
          </a:prstGeom>
          <a:noFill/>
          <a:ln/>
        </p:spPr>
        <p:txBody>
          <a:bodyPr wrap="square" lIns="0" tIns="0" rIns="0" bIns="0" rtlCol="0" anchor="t"/>
          <a:lstStyle/>
          <a:p>
            <a:pPr indent="0" marL="0">
              <a:buNone/>
            </a:pPr>
            <a:r>
              <a:rPr lang="en-US" sz="1300" b="1" dirty="0">
                <a:solidFill>
                  <a:srgbClr val="D4943A"/>
                </a:solidFill>
                <a:latin typeface="Calibri" pitchFamily="34" charset="0"/>
                <a:ea typeface="Calibri" pitchFamily="34" charset="-122"/>
                <a:cs typeface="Calibri" pitchFamily="34" charset="-120"/>
              </a:rPr>
              <a:t>Climate causes -&gt; human effects.</a:t>
            </a:r>
            <a:pPr indent="0" marL="0">
              <a:buNone/>
            </a:pPr>
            <a:r>
              <a:rPr lang="en-US" sz="1300" dirty="0">
                <a:solidFill>
                  <a:srgbClr val="FFFFFF"/>
                </a:solidFill>
                <a:latin typeface="Calibri" pitchFamily="34" charset="0"/>
                <a:ea typeface="Calibri" pitchFamily="34" charset="-122"/>
                <a:cs typeface="Calibri" pitchFamily="34" charset="-120"/>
              </a:rPr>
              <a:t> Orange groves, hurricane shutters, evacuation routes, beach tourism — none of these are random. Every one is a response to a climate pattern. </a:t>
            </a:r>
            <a:pPr indent="0" marL="0">
              <a:buNone/>
            </a:pPr>
            <a:r>
              <a:rPr lang="en-US" sz="1300" b="1" dirty="0">
                <a:solidFill>
                  <a:srgbClr val="55C8E8"/>
                </a:solidFill>
                <a:latin typeface="Calibri" pitchFamily="34" charset="0"/>
                <a:ea typeface="Calibri" pitchFamily="34" charset="-122"/>
                <a:cs typeface="Calibri" pitchFamily="34" charset="-120"/>
              </a:rPr>
              <a:t>Honest information makes those responses possible.</a:t>
            </a:r>
            <a:endParaRPr lang="en-US" sz="1300" dirty="0"/>
          </a:p>
        </p:txBody>
      </p:sp>
      <p:sp>
        <p:nvSpPr>
          <p:cNvPr id="12" name="Shape 9"/>
          <p:cNvSpPr/>
          <p:nvPr/>
        </p:nvSpPr>
        <p:spPr>
          <a:xfrm>
            <a:off x="457200" y="3520440"/>
            <a:ext cx="8138160" cy="932688"/>
          </a:xfrm>
          <a:prstGeom prst="roundRect">
            <a:avLst>
              <a:gd name="adj" fmla="val 9804"/>
            </a:avLst>
          </a:prstGeom>
          <a:solidFill>
            <a:srgbClr val="0B2830"/>
          </a:solidFill>
          <a:ln w="19050">
            <a:solidFill>
              <a:srgbClr val="1A8A7D"/>
            </a:solidFill>
            <a:prstDash val="solid"/>
          </a:ln>
        </p:spPr>
      </p:sp>
      <p:sp>
        <p:nvSpPr>
          <p:cNvPr id="13" name="Text 10"/>
          <p:cNvSpPr/>
          <p:nvPr/>
        </p:nvSpPr>
        <p:spPr>
          <a:xfrm>
            <a:off x="640080" y="3593592"/>
            <a:ext cx="1828800" cy="256032"/>
          </a:xfrm>
          <a:prstGeom prst="rect">
            <a:avLst/>
          </a:prstGeom>
          <a:noFill/>
          <a:ln/>
        </p:spPr>
        <p:txBody>
          <a:bodyPr wrap="square" lIns="0" tIns="0" rIns="0" bIns="0" rtlCol="0" anchor="ctr"/>
          <a:lstStyle/>
          <a:p>
            <a:pPr indent="0" marL="0">
              <a:buNone/>
            </a:pPr>
            <a:r>
              <a:rPr lang="en-US" sz="900" b="1" spc="150" kern="0" dirty="0">
                <a:solidFill>
                  <a:srgbClr val="1A8A7D"/>
                </a:solidFill>
                <a:latin typeface="Calibri" pitchFamily="34" charset="0"/>
                <a:ea typeface="Calibri" pitchFamily="34" charset="-122"/>
                <a:cs typeface="Calibri" pitchFamily="34" charset="-120"/>
              </a:rPr>
              <a:t>COMING NEXT:</a:t>
            </a:r>
            <a:endParaRPr lang="en-US" sz="900" dirty="0"/>
          </a:p>
        </p:txBody>
      </p:sp>
      <p:sp>
        <p:nvSpPr>
          <p:cNvPr id="14" name="Text 11"/>
          <p:cNvSpPr/>
          <p:nvPr/>
        </p:nvSpPr>
        <p:spPr>
          <a:xfrm>
            <a:off x="640080" y="3858768"/>
            <a:ext cx="7772400" cy="548640"/>
          </a:xfrm>
          <a:prstGeom prst="rect">
            <a:avLst/>
          </a:prstGeom>
          <a:noFill/>
          <a:ln/>
        </p:spPr>
        <p:txBody>
          <a:bodyPr wrap="square" lIns="0" tIns="0" rIns="0" bIns="0" rtlCol="0" anchor="ctr"/>
          <a:lstStyle/>
          <a:p>
            <a:pPr indent="0" marL="0">
              <a:buNone/>
            </a:pPr>
            <a:r>
              <a:rPr lang="en-US" sz="1300" i="1" dirty="0">
                <a:solidFill>
                  <a:srgbClr val="D0D8F0"/>
                </a:solidFill>
                <a:latin typeface="Cambria" pitchFamily="34" charset="0"/>
                <a:ea typeface="Cambria" pitchFamily="34" charset="-122"/>
                <a:cs typeface="Cambria" pitchFamily="34" charset="-120"/>
              </a:rPr>
              <a:t>Next session: political and physical maps together — seeing Florida whole. Where climate patterns meet government boundaries and human decisions on the same map.</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2026-07-13T20:39:22Z</dcterms:created>
  <dcterms:modified xsi:type="dcterms:W3CDTF">2026-07-13T20:39:22Z</dcterms:modified>
</cp:coreProperties>
</file>