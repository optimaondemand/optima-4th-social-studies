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landscape split: inland forest with deer on left, coastal mangroves with fish/ocean on right. Warm sunrise light. No human figures. Dramatic and respectful.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Split map of Florida showing two distinct regions: northeast pine forests (Timucua territory) and southwest coastal mangroves (Calusa territory). Rich, detailed illustration style.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overview: 5 sections, 35 minutes. Remind students this lesson is about two real peoples with living descendants. Use present-tense references where applicable: 'The Timucua were / Timucua descendants today...' The Calusa and Timucua cultures have modern connections and should be treated with care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observe for 5 full seconds in silence before calling on anyone. The goal is visual evidence collection, not instant answers. Push for specifics: 'What in the picture makes you say that?' This is Timucua territory — northeastern Florida, inland forests and rivers. Do not introduce vocabulary yet — discovery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the Socratic panel as a full class discussion before advancing. Expect 3-4 minutes here. Challenge students who give vague answers: 'You said they hunted — what specifically in that picture makes you think that?' The palisade question is the richest — push students to think about defense, community organization, and shared effort. Remind students: the Timucua are a real nation with descendants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should feel like a payoff after their discovery work. Say: 'You were right about most of this — let's confirm.' The retrieval prompt is intentional — 30 seconds, cover notes, name from memory. This locks in the content before they meet the Calusa. Speaker note: Timucua communities persist — descendants are recognized; use present-aware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lesson — two communities side by side, evidence in hand. Ask students to scan both cards before anyone speaks. Then: 'Point to one thing that is the same. Point to one thing that is different.' Chat frame follows. Remind: both peoples lived in Florida for thousands of years; their different choices reflect their different environments, not one being 'better.' Calusa descendants and relatives exist in Florida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highest-rigor moments in the lesson. Don't resolve the tension — let students sit with the discomfort that most early sources about Native peoples were written by Europeans. Push hard on: 'What would a Calusa-written record include that this one doesn't?' Some students may feel this makes all sources useless — push back: 'Limited doesn't mean worthless. It means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transferable pattern slide. The key idea: environment creates the options; culture and choice determine what people do with those options. This should be a moment of genuine intellectual tension — resist giving students the 'answer.' Both forces (environment AND human agency) are real. Let students debate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5-7 seconds to look before calling on anyone. The source card information should NOT be revealed yet — cover it or reveal it gradually. The key observation tasks: count the houses (6-8 round structures visible), note the palisade wall and narrow entrance, note the central open plaza. These details prepare them for the source evaluation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prepares students for Assignment Q3 (exact wording: 'What is one thing the de Bry engraving does not show — but would help us understand the Timucua better?'). Get students thinking about it NOW, not just during the assignment. Good answers: daily life, clothing in detail, sounds, ceremonies, the people themselves. Validate: a historian who notices what is missing is doing real historical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Transferable pattern for this slide: every primary source is partly true and partly limited. This applies to newspapers, photographs, diaries — not just 16th century engravings. Ask: 'Can you think of a source you trust today that might also have limits?' Good bridge to media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60-90 seconds here. This virtue connects directly to the lesson content. Ask: 'Where in today's lesson did you show courtesy to the Timucua and Calusa?' Make it concrete. This is not abstract character education — it's about how we do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think-aloud out loud, slowly. Students should copy the three-step pattern into their notebooks. Emphasize: 'Step 3 — cite the source — is what separates a historian's answer from a guess.' Spend about 2 minutes here, then pass control to students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to think and type their comparison in the chat. Then cold-call 2-3 students to defend their answer against a counterargument you plant: 'I could argue food is totally different — they don't share anything. Challenge my claim.' Hold back from validating too quickly. Let students argue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answer is factually accurate but analytically empty. Students need to name WHY it's weak: no specific evidence, the 'difference' isn't actually a difference (both lived in Florida). This is a common pattern in 4th grade writing. Don't fix it for them — ask: 'What one sentence would make this dramatically stronger?' Expected response: a specific detail (palisade, canoe, fishing vs. farming) with a because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high-value discussion moment. Do NOT resolve it. The takeaway should be: 'Reasonable historians can disagree here, as long as they use evidence.' If class is running short, this can be posed as a chat-only question. Key facilitation move: 'I hear two different answers — can someone explain why both might be partly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type their answers in chat BEFORE revealing the answers. Reveal one at a time. Students who got all 3 right — they are ready for the assignment. Students who missed one: ask them to look back at their notes and find the evidence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assignment questions from the Canvas lesson. Read each one aloud. Model one strong answer (Q1: observe detail → connect to life → cite source). Walk through the turn-in process: complete all 3 questions + unlock challenge + historian's sentence → copy/download →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landscape at golden hour: left half shows northern pine forest and river (Timucua country), right half shows southwestern coast with mangroves and open water (Calusa country). Warm, respectful, celebratory light.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65760"/>
            <a:ext cx="8229600" cy="32004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4.03.02</a:t>
            </a:r>
            <a:endParaRPr lang="en-US" sz="1300" dirty="0"/>
          </a:p>
        </p:txBody>
      </p:sp>
      <p:sp>
        <p:nvSpPr>
          <p:cNvPr id="6" name="Text 3"/>
          <p:cNvSpPr/>
          <p:nvPr/>
        </p:nvSpPr>
        <p:spPr>
          <a:xfrm>
            <a:off x="457200" y="731520"/>
            <a:ext cx="8229600" cy="13716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Compare Native American</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Tribes in Florida</a:t>
            </a:r>
            <a:endParaRPr lang="en-US" sz="3800" dirty="0"/>
          </a:p>
        </p:txBody>
      </p:sp>
      <p:sp>
        <p:nvSpPr>
          <p:cNvPr id="7" name="Shape 4"/>
          <p:cNvSpPr/>
          <p:nvPr/>
        </p:nvSpPr>
        <p:spPr>
          <a:xfrm>
            <a:off x="3200400" y="2240280"/>
            <a:ext cx="2743200" cy="54864"/>
          </a:xfrm>
          <a:prstGeom prst="rect">
            <a:avLst/>
          </a:prstGeom>
          <a:solidFill>
            <a:srgbClr val="D4943A"/>
          </a:solidFill>
          <a:ln w="12700">
            <a:solidFill>
              <a:srgbClr val="D4943A"/>
            </a:solidFill>
            <a:prstDash val="solid"/>
          </a:ln>
        </p:spPr>
      </p:sp>
      <p:sp>
        <p:nvSpPr>
          <p:cNvPr id="8" name="Text 5"/>
          <p:cNvSpPr/>
          <p:nvPr/>
        </p:nvSpPr>
        <p:spPr>
          <a:xfrm>
            <a:off x="731520" y="2377440"/>
            <a:ext cx="7680960" cy="640080"/>
          </a:xfrm>
          <a:prstGeom prst="rect">
            <a:avLst/>
          </a:prstGeom>
          <a:noFill/>
          <a:ln/>
        </p:spPr>
        <p:txBody>
          <a:bodyPr wrap="square" rtlCol="0" anchor="ctr"/>
          <a:lstStyle/>
          <a:p>
            <a:pPr algn="ctr" indent="0" marL="0">
              <a:buNone/>
            </a:pPr>
            <a:r>
              <a:rPr lang="en-US" sz="1700" i="1" dirty="0">
                <a:solidFill>
                  <a:srgbClr val="F0F2F8"/>
                </a:solidFill>
                <a:latin typeface="Cambria" pitchFamily="34" charset="0"/>
                <a:ea typeface="Cambria" pitchFamily="34" charset="-122"/>
                <a:cs typeface="Cambria" pitchFamily="34" charset="-120"/>
              </a:rPr>
              <a:t>How were the Timucua and the Calusa alike and different — and how do we know?</a:t>
            </a:r>
            <a:endParaRPr lang="en-US" sz="1700" dirty="0"/>
          </a:p>
        </p:txBody>
      </p:sp>
      <p:sp>
        <p:nvSpPr>
          <p:cNvPr id="9" name="Text 6"/>
          <p:cNvSpPr/>
          <p:nvPr/>
        </p:nvSpPr>
        <p:spPr>
          <a:xfrm>
            <a:off x="457200" y="4663440"/>
            <a:ext cx="8229600" cy="274320"/>
          </a:xfrm>
          <a:prstGeom prst="rect">
            <a:avLst/>
          </a:prstGeom>
          <a:noFill/>
          <a:ln/>
        </p:spPr>
        <p:txBody>
          <a:bodyPr wrap="square"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Grade 4 Social Studies · First Floridians · Week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20040"/>
            <a:ext cx="8229600" cy="4206240"/>
          </a:xfrm>
          <a:prstGeom prst="roundRect">
            <a:avLst>
              <a:gd name="adj" fmla="val 3913"/>
            </a:avLst>
          </a:prstGeom>
          <a:solidFill>
            <a:srgbClr val="1A2D5A">
              <a:alpha val="80000"/>
            </a:srgbClr>
          </a:solidFill>
          <a:ln w="19050">
            <a:solidFill>
              <a:srgbClr val="55C8E8"/>
            </a:solidFill>
            <a:prstDash val="solid"/>
          </a:ln>
        </p:spPr>
      </p:sp>
      <p:sp>
        <p:nvSpPr>
          <p:cNvPr id="6" name="Text 3"/>
          <p:cNvSpPr/>
          <p:nvPr/>
        </p:nvSpPr>
        <p:spPr>
          <a:xfrm>
            <a:off x="731520" y="457200"/>
            <a:ext cx="7680960" cy="2743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7" name="Text 4"/>
          <p:cNvSpPr/>
          <p:nvPr/>
        </p:nvSpPr>
        <p:spPr>
          <a:xfrm>
            <a:off x="822960" y="822960"/>
            <a:ext cx="7498080" cy="502920"/>
          </a:xfrm>
          <a:prstGeom prst="rect">
            <a:avLst/>
          </a:prstGeom>
          <a:noFill/>
          <a:ln/>
        </p:spPr>
        <p:txBody>
          <a:bodyPr wrap="square"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Canvas has placed several community cards side by side, but the labels are incomplete.</a:t>
            </a:r>
            <a:endParaRPr lang="en-US" sz="1600" dirty="0"/>
          </a:p>
        </p:txBody>
      </p:sp>
      <p:sp>
        <p:nvSpPr>
          <p:cNvPr id="8" name="Text 5"/>
          <p:cNvSpPr/>
          <p:nvPr/>
        </p:nvSpPr>
        <p:spPr>
          <a:xfrm>
            <a:off x="822960" y="1371600"/>
            <a:ext cx="7498080" cy="685800"/>
          </a:xfrm>
          <a:prstGeom prst="rect">
            <a:avLst/>
          </a:prstGeom>
          <a:noFill/>
          <a:ln/>
        </p:spPr>
        <p:txBody>
          <a:bodyPr wrap="square" rtlCol="0" anchor="ctr"/>
          <a:lstStyle/>
          <a:p>
            <a:pPr algn="ctr" indent="0" marL="0">
              <a:buNone/>
            </a:pPr>
            <a:r>
              <a:rPr lang="en-US" sz="1500" i="1" dirty="0">
                <a:solidFill>
                  <a:srgbClr val="F0F2F8"/>
                </a:solidFill>
                <a:latin typeface="Cambria" pitchFamily="34" charset="0"/>
                <a:ea typeface="Cambria" pitchFamily="34" charset="-122"/>
                <a:cs typeface="Cambria" pitchFamily="34" charset="-120"/>
              </a:rPr>
              <a:t>I need you to look carefully at both the Timucua and the Calusa and fill in the missing details with accuracy and respect.</a:t>
            </a:r>
            <a:endParaRPr lang="en-US" sz="1500" dirty="0"/>
          </a:p>
        </p:txBody>
      </p:sp>
      <p:sp>
        <p:nvSpPr>
          <p:cNvPr id="9" name="Text 6"/>
          <p:cNvSpPr/>
          <p:nvPr/>
        </p:nvSpPr>
        <p:spPr>
          <a:xfrm>
            <a:off x="822960" y="2148840"/>
            <a:ext cx="7498080" cy="457200"/>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These are real peoples — their differences matter, and so does getting them right.</a:t>
            </a:r>
            <a:endParaRPr lang="en-US" sz="1400" dirty="0"/>
          </a:p>
        </p:txBody>
      </p:sp>
      <p:sp>
        <p:nvSpPr>
          <p:cNvPr id="10" name="Text 7"/>
          <p:cNvSpPr/>
          <p:nvPr/>
        </p:nvSpPr>
        <p:spPr>
          <a:xfrm>
            <a:off x="822960" y="2697480"/>
            <a:ext cx="7498080" cy="502920"/>
          </a:xfrm>
          <a:prstGeom prst="rect">
            <a:avLst/>
          </a:prstGeom>
          <a:noFill/>
          <a:ln/>
        </p:spPr>
        <p:txBody>
          <a:bodyPr wrap="square" rtlCol="0" anchor="ctr"/>
          <a:lstStyle/>
          <a:p>
            <a:pPr algn="ctr" indent="0" marL="0">
              <a:buNone/>
            </a:pPr>
            <a:r>
              <a:rPr lang="en-US" sz="1400" i="1" dirty="0">
                <a:solidFill>
                  <a:srgbClr val="F0F2F8"/>
                </a:solidFill>
                <a:latin typeface="Cambria" pitchFamily="34" charset="0"/>
                <a:ea typeface="Cambria" pitchFamily="34" charset="-122"/>
                <a:cs typeface="Cambria" pitchFamily="34" charset="-120"/>
              </a:rPr>
              <a:t>Take your time with the sources. A Florida historian's job is to notice what's there — and what's still missing.</a:t>
            </a:r>
            <a:endParaRPr lang="en-US" sz="1400" dirty="0"/>
          </a:p>
        </p:txBody>
      </p:sp>
      <p:sp>
        <p:nvSpPr>
          <p:cNvPr id="11" name="Text 8"/>
          <p:cNvSpPr/>
          <p:nvPr/>
        </p:nvSpPr>
        <p:spPr>
          <a:xfrm>
            <a:off x="822960" y="3291840"/>
            <a:ext cx="7498080" cy="365760"/>
          </a:xfrm>
          <a:prstGeom prst="rect">
            <a:avLst/>
          </a:prstGeom>
          <a:noFill/>
          <a:ln/>
        </p:spPr>
        <p:txBody>
          <a:bodyPr wrap="square"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Your teacher, still inside Module 3 · Episode 3 of 13</a:t>
            </a:r>
            <a:endParaRPr lang="en-US" sz="1300" dirty="0"/>
          </a:p>
        </p:txBody>
      </p:sp>
      <p:sp>
        <p:nvSpPr>
          <p:cNvPr id="12" name="Text 9"/>
          <p:cNvSpPr/>
          <p:nvPr/>
        </p:nvSpPr>
        <p:spPr>
          <a:xfrm>
            <a:off x="822960" y="3794760"/>
            <a:ext cx="7498080" cy="320040"/>
          </a:xfrm>
          <a:prstGeom prst="rect">
            <a:avLst/>
          </a:prstGeom>
          <a:noFill/>
          <a:ln/>
        </p:spPr>
        <p:txBody>
          <a:bodyPr wrap="square" rtlCol="0" anchor="ctr"/>
          <a:lstStyle/>
          <a:p>
            <a:pPr algn="ctr" indent="0" marL="0">
              <a:buNone/>
            </a:pPr>
            <a:r>
              <a:rPr lang="en-US" sz="1300" b="1" dirty="0">
                <a:solidFill>
                  <a:srgbClr val="55C8E8"/>
                </a:solidFill>
                <a:latin typeface="Calibri" pitchFamily="34" charset="0"/>
                <a:ea typeface="Calibri" pitchFamily="34" charset="-122"/>
                <a:cs typeface="Calibri" pitchFamily="34" charset="-120"/>
              </a:rPr>
              <a:t>Your role: Florida Historian · Student Research Team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228600"/>
            <a:ext cx="8412480" cy="320040"/>
          </a:xfrm>
          <a:prstGeom prst="rect">
            <a:avLst/>
          </a:prstGeom>
          <a:noFill/>
          <a:ln/>
        </p:spPr>
        <p:txBody>
          <a:bodyPr wrap="square" rtlCol="0" anchor="ctr"/>
          <a:lstStyle/>
          <a:p>
            <a:pPr indent="0" marL="0">
              <a:buNone/>
            </a:pPr>
            <a:r>
              <a:rPr lang="en-US" sz="1100" b="1" spc="200" kern="0" dirty="0">
                <a:solidFill>
                  <a:srgbClr val="7A88A8"/>
                </a:solidFill>
                <a:latin typeface="Calibri" pitchFamily="34" charset="0"/>
                <a:ea typeface="Calibri" pitchFamily="34" charset="-122"/>
                <a:cs typeface="Calibri" pitchFamily="34" charset="-120"/>
              </a:rPr>
              <a:t>TODAY'S PATH</a:t>
            </a:r>
            <a:endParaRPr lang="en-US" sz="1100" dirty="0"/>
          </a:p>
        </p:txBody>
      </p:sp>
      <p:sp>
        <p:nvSpPr>
          <p:cNvPr id="4" name="Text 2"/>
          <p:cNvSpPr/>
          <p:nvPr/>
        </p:nvSpPr>
        <p:spPr>
          <a:xfrm>
            <a:off x="365760" y="548640"/>
            <a:ext cx="8412480" cy="59436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How Were the Timucua and Calusa Different?</a:t>
            </a:r>
            <a:endParaRPr lang="en-US" sz="2600" dirty="0"/>
          </a:p>
        </p:txBody>
      </p:sp>
      <p:sp>
        <p:nvSpPr>
          <p:cNvPr id="5" name="Shape 3"/>
          <p:cNvSpPr/>
          <p:nvPr/>
        </p:nvSpPr>
        <p:spPr>
          <a:xfrm>
            <a:off x="365760" y="1280160"/>
            <a:ext cx="457200" cy="457200"/>
          </a:xfrm>
          <a:prstGeom prst="roundRect">
            <a:avLst>
              <a:gd name="adj" fmla="val 20000"/>
            </a:avLst>
          </a:prstGeom>
          <a:solidFill>
            <a:srgbClr val="D4943A"/>
          </a:solidFill>
          <a:ln w="12700">
            <a:solidFill>
              <a:srgbClr val="D4943A"/>
            </a:solidFill>
            <a:prstDash val="solid"/>
          </a:ln>
        </p:spPr>
      </p:sp>
      <p:sp>
        <p:nvSpPr>
          <p:cNvPr id="6" name="Text 4"/>
          <p:cNvSpPr/>
          <p:nvPr/>
        </p:nvSpPr>
        <p:spPr>
          <a:xfrm>
            <a:off x="365760" y="1325880"/>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60120" y="1298448"/>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Meet the Timucua</a:t>
            </a:r>
            <a:endParaRPr lang="en-US" sz="1400" dirty="0"/>
          </a:p>
        </p:txBody>
      </p:sp>
      <p:sp>
        <p:nvSpPr>
          <p:cNvPr id="8" name="Text 6"/>
          <p:cNvSpPr/>
          <p:nvPr/>
        </p:nvSpPr>
        <p:spPr>
          <a:xfrm>
            <a:off x="960120" y="1527048"/>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Food, shelter, and community in the forest and rivers</a:t>
            </a:r>
            <a:endParaRPr lang="en-US" sz="1100" dirty="0"/>
          </a:p>
        </p:txBody>
      </p:sp>
      <p:sp>
        <p:nvSpPr>
          <p:cNvPr id="9" name="Shape 7"/>
          <p:cNvSpPr/>
          <p:nvPr/>
        </p:nvSpPr>
        <p:spPr>
          <a:xfrm>
            <a:off x="365760" y="1938528"/>
            <a:ext cx="457200" cy="457200"/>
          </a:xfrm>
          <a:prstGeom prst="roundRect">
            <a:avLst>
              <a:gd name="adj" fmla="val 20000"/>
            </a:avLst>
          </a:prstGeom>
          <a:solidFill>
            <a:srgbClr val="D4943A"/>
          </a:solidFill>
          <a:ln w="12700">
            <a:solidFill>
              <a:srgbClr val="D4943A"/>
            </a:solidFill>
            <a:prstDash val="solid"/>
          </a:ln>
        </p:spPr>
      </p:sp>
      <p:sp>
        <p:nvSpPr>
          <p:cNvPr id="10" name="Text 8"/>
          <p:cNvSpPr/>
          <p:nvPr/>
        </p:nvSpPr>
        <p:spPr>
          <a:xfrm>
            <a:off x="365760" y="1984248"/>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960120" y="1956816"/>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Meet the Calusa</a:t>
            </a:r>
            <a:endParaRPr lang="en-US" sz="1400" dirty="0"/>
          </a:p>
        </p:txBody>
      </p:sp>
      <p:sp>
        <p:nvSpPr>
          <p:cNvPr id="12" name="Text 10"/>
          <p:cNvSpPr/>
          <p:nvPr/>
        </p:nvSpPr>
        <p:spPr>
          <a:xfrm>
            <a:off x="960120" y="2185416"/>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Food, shelter, and community on the coast and sea</a:t>
            </a:r>
            <a:endParaRPr lang="en-US" sz="1100" dirty="0"/>
          </a:p>
        </p:txBody>
      </p:sp>
      <p:sp>
        <p:nvSpPr>
          <p:cNvPr id="13" name="Shape 11"/>
          <p:cNvSpPr/>
          <p:nvPr/>
        </p:nvSpPr>
        <p:spPr>
          <a:xfrm>
            <a:off x="365760" y="2596896"/>
            <a:ext cx="457200" cy="457200"/>
          </a:xfrm>
          <a:prstGeom prst="roundRect">
            <a:avLst>
              <a:gd name="adj" fmla="val 20000"/>
            </a:avLst>
          </a:prstGeom>
          <a:solidFill>
            <a:srgbClr val="D4943A"/>
          </a:solidFill>
          <a:ln w="12700">
            <a:solidFill>
              <a:srgbClr val="D4943A"/>
            </a:solidFill>
            <a:prstDash val="solid"/>
          </a:ln>
        </p:spPr>
      </p:sp>
      <p:sp>
        <p:nvSpPr>
          <p:cNvPr id="14" name="Text 12"/>
          <p:cNvSpPr/>
          <p:nvPr/>
        </p:nvSpPr>
        <p:spPr>
          <a:xfrm>
            <a:off x="365760" y="2642616"/>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960120" y="2615184"/>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Side-by-Side Compare</a:t>
            </a:r>
            <a:endParaRPr lang="en-US" sz="1400" dirty="0"/>
          </a:p>
        </p:txBody>
      </p:sp>
      <p:sp>
        <p:nvSpPr>
          <p:cNvPr id="16" name="Text 14"/>
          <p:cNvSpPr/>
          <p:nvPr/>
        </p:nvSpPr>
        <p:spPr>
          <a:xfrm>
            <a:off x="960120" y="2843784"/>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Two sources, same Florida, two very different worlds</a:t>
            </a:r>
            <a:endParaRPr lang="en-US" sz="1100" dirty="0"/>
          </a:p>
        </p:txBody>
      </p:sp>
      <p:sp>
        <p:nvSpPr>
          <p:cNvPr id="17" name="Shape 15"/>
          <p:cNvSpPr/>
          <p:nvPr/>
        </p:nvSpPr>
        <p:spPr>
          <a:xfrm>
            <a:off x="365760" y="3255264"/>
            <a:ext cx="457200" cy="457200"/>
          </a:xfrm>
          <a:prstGeom prst="roundRect">
            <a:avLst>
              <a:gd name="adj" fmla="val 20000"/>
            </a:avLst>
          </a:prstGeom>
          <a:solidFill>
            <a:srgbClr val="D4943A"/>
          </a:solidFill>
          <a:ln w="12700">
            <a:solidFill>
              <a:srgbClr val="D4943A"/>
            </a:solidFill>
            <a:prstDash val="solid"/>
          </a:ln>
        </p:spPr>
      </p:sp>
      <p:sp>
        <p:nvSpPr>
          <p:cNvPr id="18" name="Text 16"/>
          <p:cNvSpPr/>
          <p:nvPr/>
        </p:nvSpPr>
        <p:spPr>
          <a:xfrm>
            <a:off x="365760" y="3300984"/>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960120" y="3273552"/>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Source Study</a:t>
            </a:r>
            <a:endParaRPr lang="en-US" sz="1400" dirty="0"/>
          </a:p>
        </p:txBody>
      </p:sp>
      <p:sp>
        <p:nvSpPr>
          <p:cNvPr id="20" name="Text 18"/>
          <p:cNvSpPr/>
          <p:nvPr/>
        </p:nvSpPr>
        <p:spPr>
          <a:xfrm>
            <a:off x="960120" y="3502152"/>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Investigate the de Bry engraving — useful but limited</a:t>
            </a:r>
            <a:endParaRPr lang="en-US" sz="1100" dirty="0"/>
          </a:p>
        </p:txBody>
      </p:sp>
      <p:sp>
        <p:nvSpPr>
          <p:cNvPr id="21" name="Shape 19"/>
          <p:cNvSpPr/>
          <p:nvPr/>
        </p:nvSpPr>
        <p:spPr>
          <a:xfrm>
            <a:off x="365760" y="3913632"/>
            <a:ext cx="457200" cy="457200"/>
          </a:xfrm>
          <a:prstGeom prst="roundRect">
            <a:avLst>
              <a:gd name="adj" fmla="val 20000"/>
            </a:avLst>
          </a:prstGeom>
          <a:solidFill>
            <a:srgbClr val="D4943A"/>
          </a:solidFill>
          <a:ln w="12700">
            <a:solidFill>
              <a:srgbClr val="D4943A"/>
            </a:solidFill>
            <a:prstDash val="solid"/>
          </a:ln>
        </p:spPr>
      </p:sp>
      <p:sp>
        <p:nvSpPr>
          <p:cNvPr id="22" name="Text 20"/>
          <p:cNvSpPr/>
          <p:nvPr/>
        </p:nvSpPr>
        <p:spPr>
          <a:xfrm>
            <a:off x="365760" y="3959352"/>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960120" y="3931920"/>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Guided Practice + Assignment</a:t>
            </a:r>
            <a:endParaRPr lang="en-US" sz="1400" dirty="0"/>
          </a:p>
        </p:txBody>
      </p:sp>
      <p:sp>
        <p:nvSpPr>
          <p:cNvPr id="24" name="Text 22"/>
          <p:cNvSpPr/>
          <p:nvPr/>
        </p:nvSpPr>
        <p:spPr>
          <a:xfrm>
            <a:off x="960120" y="4160520"/>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Build your comparison report with evidence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0292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TIMUCUA</a:t>
            </a:r>
            <a:endParaRPr lang="en-US" sz="1000" dirty="0"/>
          </a:p>
        </p:txBody>
      </p:sp>
      <p:sp>
        <p:nvSpPr>
          <p:cNvPr id="4" name="Text 2"/>
          <p:cNvSpPr/>
          <p:nvPr/>
        </p:nvSpPr>
        <p:spPr>
          <a:xfrm>
            <a:off x="365760" y="457200"/>
            <a:ext cx="502920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Look Before You Label</a:t>
            </a:r>
            <a:endParaRPr lang="en-US" sz="2200" dirty="0"/>
          </a:p>
        </p:txBody>
      </p:sp>
      <p:sp>
        <p:nvSpPr>
          <p:cNvPr id="5" name="Shape 3"/>
          <p:cNvSpPr/>
          <p:nvPr/>
        </p:nvSpPr>
        <p:spPr>
          <a:xfrm>
            <a:off x="365760" y="1051560"/>
            <a:ext cx="475488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10515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48056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Timucua village scene: inland forest, round thatched houses inside palisade wall, freshwater river nearby, deer in background. Respectful illustration, no human figures.</a:t>
            </a:r>
            <a:endParaRPr lang="en-US" sz="1100" dirty="0"/>
          </a:p>
        </p:txBody>
      </p:sp>
      <p:sp>
        <p:nvSpPr>
          <p:cNvPr id="8" name="Text 6"/>
          <p:cNvSpPr/>
          <p:nvPr/>
        </p:nvSpPr>
        <p:spPr>
          <a:xfrm>
            <a:off x="365760" y="4572000"/>
            <a:ext cx="4754880" cy="25603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5 seconds — look carefully. What do you notice?</a:t>
            </a:r>
            <a:endParaRPr lang="en-US" sz="1100" dirty="0"/>
          </a:p>
        </p:txBody>
      </p:sp>
      <p:sp>
        <p:nvSpPr>
          <p:cNvPr id="9" name="Shape 7"/>
          <p:cNvSpPr/>
          <p:nvPr/>
        </p:nvSpPr>
        <p:spPr>
          <a:xfrm>
            <a:off x="5303520" y="182880"/>
            <a:ext cx="3566160" cy="201168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5440680" y="237744"/>
            <a:ext cx="32918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440680" y="438912"/>
            <a:ext cx="329184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Timucua...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environment suggests they probably... because..."</a:t>
            </a:r>
            <a:endParaRPr lang="en-US" sz="1200" dirty="0"/>
          </a:p>
        </p:txBody>
      </p:sp>
      <p:sp>
        <p:nvSpPr>
          <p:cNvPr id="12" name="Shape 10"/>
          <p:cNvSpPr/>
          <p:nvPr/>
        </p:nvSpPr>
        <p:spPr>
          <a:xfrm>
            <a:off x="5303520" y="2331720"/>
            <a:ext cx="3566160" cy="2194560"/>
          </a:xfrm>
          <a:prstGeom prst="roundRect">
            <a:avLst>
              <a:gd name="adj" fmla="val 5000"/>
            </a:avLst>
          </a:prstGeom>
          <a:solidFill>
            <a:srgbClr val="FFFFFF"/>
          </a:solidFill>
          <a:ln w="12700">
            <a:solidFill>
              <a:srgbClr val="D4943A"/>
            </a:solidFill>
            <a:prstDash val="solid"/>
          </a:ln>
        </p:spPr>
      </p:sp>
      <p:sp>
        <p:nvSpPr>
          <p:cNvPr id="13" name="Text 11"/>
          <p:cNvSpPr/>
          <p:nvPr/>
        </p:nvSpPr>
        <p:spPr>
          <a:xfrm>
            <a:off x="5486400" y="2423160"/>
            <a:ext cx="320040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NOTICE + WONDER</a:t>
            </a:r>
            <a:endParaRPr lang="en-US" sz="900" dirty="0"/>
          </a:p>
        </p:txBody>
      </p:sp>
      <p:sp>
        <p:nvSpPr>
          <p:cNvPr id="14" name="Text 12"/>
          <p:cNvSpPr/>
          <p:nvPr/>
        </p:nvSpPr>
        <p:spPr>
          <a:xfrm>
            <a:off x="5486400" y="2697480"/>
            <a:ext cx="3200400" cy="1645920"/>
          </a:xfrm>
          <a:prstGeom prst="rect">
            <a:avLst/>
          </a:prstGeom>
          <a:noFill/>
          <a:ln/>
        </p:spPr>
        <p:txBody>
          <a:bodyPr wrap="square"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What food might be nearby?</a:t>
            </a:r>
            <a:endParaRPr lang="en-US" sz="1200" dirty="0"/>
          </a:p>
          <a:p>
            <a:pPr indent="0" marL="0">
              <a:buNone/>
            </a:pPr>
            <a:r>
              <a:rPr lang="en-US" sz="1200" i="1" dirty="0">
                <a:solidFill>
                  <a:srgbClr val="0E1C42"/>
                </a:solidFill>
                <a:latin typeface="Calibri" pitchFamily="34" charset="0"/>
                <a:ea typeface="Calibri" pitchFamily="34" charset="-122"/>
                <a:cs typeface="Calibri" pitchFamily="34" charset="-120"/>
              </a:rPr>
              <a:t>What does the wall tell you?</a:t>
            </a:r>
            <a:endParaRPr lang="en-US" sz="1200" dirty="0"/>
          </a:p>
          <a:p>
            <a:pPr indent="0" marL="0">
              <a:buNone/>
            </a:pPr>
            <a:r>
              <a:rPr lang="en-US" sz="1200" i="1" dirty="0">
                <a:solidFill>
                  <a:srgbClr val="0E1C42"/>
                </a:solidFill>
                <a:latin typeface="Calibri" pitchFamily="34" charset="0"/>
                <a:ea typeface="Calibri" pitchFamily="34" charset="-122"/>
                <a:cs typeface="Calibri" pitchFamily="34" charset="-120"/>
              </a:rPr>
              <a:t>Who built this — and why here?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DISCUSSION — TIMUCUA</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the Land Tell Them to Do?</a:t>
            </a:r>
            <a:endParaRPr lang="en-US" sz="2400" dirty="0"/>
          </a:p>
        </p:txBody>
      </p:sp>
      <p:sp>
        <p:nvSpPr>
          <p:cNvPr id="5" name="Shape 3"/>
          <p:cNvSpPr/>
          <p:nvPr/>
        </p:nvSpPr>
        <p:spPr>
          <a:xfrm>
            <a:off x="365760" y="114300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344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49047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You can see a palisade (tall fence) around the village. Why would people build a wall around their homes?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Timucua lived near forests and rivers. What food sources does that environment offer?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were a Timucua child, what skill would be most important to learn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looking at this image disagree about what it shows? What might they miss?</a:t>
            </a:r>
            <a:endParaRPr lang="en-US" sz="1100" dirty="0"/>
          </a:p>
        </p:txBody>
      </p:sp>
      <p:sp>
        <p:nvSpPr>
          <p:cNvPr id="8" name="Shape 6"/>
          <p:cNvSpPr/>
          <p:nvPr/>
        </p:nvSpPr>
        <p:spPr>
          <a:xfrm>
            <a:off x="5669280" y="114300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978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9903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Timucua built a palisade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"Living near forests and rivers means they probably... because..."</a:t>
            </a:r>
            <a:endParaRPr lang="en-US" sz="1200" dirty="0"/>
          </a:p>
        </p:txBody>
      </p:sp>
      <p:sp>
        <p:nvSpPr>
          <p:cNvPr id="11" name="Shape 9"/>
          <p:cNvSpPr/>
          <p:nvPr/>
        </p:nvSpPr>
        <p:spPr>
          <a:xfrm>
            <a:off x="5669280" y="3566160"/>
            <a:ext cx="3200400" cy="1143000"/>
          </a:xfrm>
          <a:prstGeom prst="roundRect">
            <a:avLst>
              <a:gd name="adj" fmla="val 8000"/>
            </a:avLst>
          </a:prstGeom>
          <a:solidFill>
            <a:srgbClr val="FFFFFF"/>
          </a:solidFill>
          <a:ln w="12700">
            <a:solidFill>
              <a:srgbClr val="1A8A7D"/>
            </a:solidFill>
            <a:prstDash val="solid"/>
          </a:ln>
        </p:spPr>
      </p:sp>
      <p:sp>
        <p:nvSpPr>
          <p:cNvPr id="12" name="Text 10"/>
          <p:cNvSpPr/>
          <p:nvPr/>
        </p:nvSpPr>
        <p:spPr>
          <a:xfrm>
            <a:off x="5852160" y="3657600"/>
            <a:ext cx="2834640" cy="201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VOCABULARY PREVIEW</a:t>
            </a:r>
            <a:endParaRPr lang="en-US" sz="900" dirty="0"/>
          </a:p>
        </p:txBody>
      </p:sp>
      <p:sp>
        <p:nvSpPr>
          <p:cNvPr id="13" name="Text 11"/>
          <p:cNvSpPr/>
          <p:nvPr/>
        </p:nvSpPr>
        <p:spPr>
          <a:xfrm>
            <a:off x="5852160" y="3886200"/>
            <a:ext cx="2834640" cy="7315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Palisade: a tall fence of wooden posts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Cacique: a Timucua community leader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YOU DISCOVERED: THE TIMUCUA</a:t>
            </a:r>
            <a:endParaRPr lang="en-US" sz="1100" dirty="0"/>
          </a:p>
        </p:txBody>
      </p:sp>
      <p:sp>
        <p:nvSpPr>
          <p:cNvPr id="5" name="Text 3"/>
          <p:cNvSpPr/>
          <p:nvPr/>
        </p:nvSpPr>
        <p:spPr>
          <a:xfrm>
            <a:off x="457200" y="502920"/>
            <a:ext cx="8229600" cy="5943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Inland Florida: Rivers, Forests, and Cornfields</a:t>
            </a:r>
            <a:endParaRPr lang="en-US" sz="2600" dirty="0"/>
          </a:p>
        </p:txBody>
      </p:sp>
      <p:sp>
        <p:nvSpPr>
          <p:cNvPr id="6" name="Shape 4"/>
          <p:cNvSpPr/>
          <p:nvPr/>
        </p:nvSpPr>
        <p:spPr>
          <a:xfrm>
            <a:off x="365760" y="1234440"/>
            <a:ext cx="1280160" cy="457200"/>
          </a:xfrm>
          <a:prstGeom prst="roundRect">
            <a:avLst>
              <a:gd name="adj" fmla="val 20000"/>
            </a:avLst>
          </a:prstGeom>
          <a:solidFill>
            <a:srgbClr val="D4943A"/>
          </a:solidFill>
          <a:ln w="12700">
            <a:solidFill>
              <a:srgbClr val="D4943A"/>
            </a:solidFill>
            <a:prstDash val="solid"/>
          </a:ln>
        </p:spPr>
      </p:sp>
      <p:sp>
        <p:nvSpPr>
          <p:cNvPr id="7" name="Text 5"/>
          <p:cNvSpPr/>
          <p:nvPr/>
        </p:nvSpPr>
        <p:spPr>
          <a:xfrm>
            <a:off x="365760" y="1325880"/>
            <a:ext cx="12801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FOOD</a:t>
            </a:r>
            <a:endParaRPr lang="en-US" sz="1200" dirty="0"/>
          </a:p>
        </p:txBody>
      </p:sp>
      <p:sp>
        <p:nvSpPr>
          <p:cNvPr id="8" name="Text 6"/>
          <p:cNvSpPr/>
          <p:nvPr/>
        </p:nvSpPr>
        <p:spPr>
          <a:xfrm>
            <a:off x="1828800" y="1280160"/>
            <a:ext cx="6949440" cy="50292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Hunted deer, fished freshwater rivers, gathered plants, grew corn, beans, and squash — the 'Three Sisters.'</a:t>
            </a:r>
            <a:endParaRPr lang="en-US" sz="1300" dirty="0"/>
          </a:p>
        </p:txBody>
      </p:sp>
      <p:sp>
        <p:nvSpPr>
          <p:cNvPr id="9" name="Shape 7"/>
          <p:cNvSpPr/>
          <p:nvPr/>
        </p:nvSpPr>
        <p:spPr>
          <a:xfrm>
            <a:off x="365760" y="2011680"/>
            <a:ext cx="1280160" cy="457200"/>
          </a:xfrm>
          <a:prstGeom prst="roundRect">
            <a:avLst>
              <a:gd name="adj" fmla="val 20000"/>
            </a:avLst>
          </a:prstGeom>
          <a:solidFill>
            <a:srgbClr val="D4943A"/>
          </a:solidFill>
          <a:ln w="12700">
            <a:solidFill>
              <a:srgbClr val="D4943A"/>
            </a:solidFill>
            <a:prstDash val="solid"/>
          </a:ln>
        </p:spPr>
      </p:sp>
      <p:sp>
        <p:nvSpPr>
          <p:cNvPr id="10" name="Text 8"/>
          <p:cNvSpPr/>
          <p:nvPr/>
        </p:nvSpPr>
        <p:spPr>
          <a:xfrm>
            <a:off x="365760" y="2103120"/>
            <a:ext cx="12801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SHELTER</a:t>
            </a:r>
            <a:endParaRPr lang="en-US" sz="1200" dirty="0"/>
          </a:p>
        </p:txBody>
      </p:sp>
      <p:sp>
        <p:nvSpPr>
          <p:cNvPr id="11" name="Text 9"/>
          <p:cNvSpPr/>
          <p:nvPr/>
        </p:nvSpPr>
        <p:spPr>
          <a:xfrm>
            <a:off x="1828800" y="2057400"/>
            <a:ext cx="6949440" cy="50292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Round houses of wooden poles and palm thatch inside a palisade (tall fence wall) for protection.</a:t>
            </a:r>
            <a:endParaRPr lang="en-US" sz="1300" dirty="0"/>
          </a:p>
        </p:txBody>
      </p:sp>
      <p:sp>
        <p:nvSpPr>
          <p:cNvPr id="12" name="Shape 10"/>
          <p:cNvSpPr/>
          <p:nvPr/>
        </p:nvSpPr>
        <p:spPr>
          <a:xfrm>
            <a:off x="365760" y="2788920"/>
            <a:ext cx="1280160" cy="457200"/>
          </a:xfrm>
          <a:prstGeom prst="roundRect">
            <a:avLst>
              <a:gd name="adj" fmla="val 20000"/>
            </a:avLst>
          </a:prstGeom>
          <a:solidFill>
            <a:srgbClr val="D4943A"/>
          </a:solidFill>
          <a:ln w="12700">
            <a:solidFill>
              <a:srgbClr val="D4943A"/>
            </a:solidFill>
            <a:prstDash val="solid"/>
          </a:ln>
        </p:spPr>
      </p:sp>
      <p:sp>
        <p:nvSpPr>
          <p:cNvPr id="13" name="Text 11"/>
          <p:cNvSpPr/>
          <p:nvPr/>
        </p:nvSpPr>
        <p:spPr>
          <a:xfrm>
            <a:off x="365760" y="2880360"/>
            <a:ext cx="12801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COMMUNITY</a:t>
            </a:r>
            <a:endParaRPr lang="en-US" sz="1200" dirty="0"/>
          </a:p>
        </p:txBody>
      </p:sp>
      <p:sp>
        <p:nvSpPr>
          <p:cNvPr id="14" name="Text 12"/>
          <p:cNvSpPr/>
          <p:nvPr/>
        </p:nvSpPr>
        <p:spPr>
          <a:xfrm>
            <a:off x="1828800" y="2834640"/>
            <a:ext cx="6949440" cy="50292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Led by caciques. Villages with central plazas. Strong community organization.</a:t>
            </a:r>
            <a:endParaRPr lang="en-US" sz="1300" dirty="0"/>
          </a:p>
        </p:txBody>
      </p:sp>
      <p:sp>
        <p:nvSpPr>
          <p:cNvPr id="15" name="Shape 13"/>
          <p:cNvSpPr/>
          <p:nvPr/>
        </p:nvSpPr>
        <p:spPr>
          <a:xfrm>
            <a:off x="365760" y="3566160"/>
            <a:ext cx="1280160" cy="457200"/>
          </a:xfrm>
          <a:prstGeom prst="roundRect">
            <a:avLst>
              <a:gd name="adj" fmla="val 20000"/>
            </a:avLst>
          </a:prstGeom>
          <a:solidFill>
            <a:srgbClr val="D4943A"/>
          </a:solidFill>
          <a:ln w="12700">
            <a:solidFill>
              <a:srgbClr val="D4943A"/>
            </a:solidFill>
            <a:prstDash val="solid"/>
          </a:ln>
        </p:spPr>
      </p:sp>
      <p:sp>
        <p:nvSpPr>
          <p:cNvPr id="16" name="Text 14"/>
          <p:cNvSpPr/>
          <p:nvPr/>
        </p:nvSpPr>
        <p:spPr>
          <a:xfrm>
            <a:off x="365760" y="3657600"/>
            <a:ext cx="128016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LOCATION</a:t>
            </a:r>
            <a:endParaRPr lang="en-US" sz="1200" dirty="0"/>
          </a:p>
        </p:txBody>
      </p:sp>
      <p:sp>
        <p:nvSpPr>
          <p:cNvPr id="17" name="Text 15"/>
          <p:cNvSpPr/>
          <p:nvPr/>
        </p:nvSpPr>
        <p:spPr>
          <a:xfrm>
            <a:off x="1828800" y="3611880"/>
            <a:ext cx="6949440" cy="50292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Northeast and central Florida — forests, rivers, and productive growing land.</a:t>
            </a:r>
            <a:endParaRPr lang="en-US" sz="1300" dirty="0"/>
          </a:p>
        </p:txBody>
      </p:sp>
      <p:sp>
        <p:nvSpPr>
          <p:cNvPr id="18" name="Shape 16"/>
          <p:cNvSpPr/>
          <p:nvPr/>
        </p:nvSpPr>
        <p:spPr>
          <a:xfrm>
            <a:off x="365760" y="4434840"/>
            <a:ext cx="8412480" cy="411480"/>
          </a:xfrm>
          <a:prstGeom prst="roundRect">
            <a:avLst>
              <a:gd name="adj" fmla="val 22222"/>
            </a:avLst>
          </a:prstGeom>
          <a:solidFill>
            <a:srgbClr val="1A2D5A"/>
          </a:solidFill>
          <a:ln w="12700">
            <a:solidFill>
              <a:srgbClr val="55C8E8"/>
            </a:solidFill>
            <a:prstDash val="solid"/>
          </a:ln>
        </p:spPr>
      </p:sp>
      <p:sp>
        <p:nvSpPr>
          <p:cNvPr id="19" name="Text 17"/>
          <p:cNvSpPr/>
          <p:nvPr/>
        </p:nvSpPr>
        <p:spPr>
          <a:xfrm>
            <a:off x="548640" y="4480560"/>
            <a:ext cx="8046720" cy="320040"/>
          </a:xfrm>
          <a:prstGeom prst="rect">
            <a:avLst/>
          </a:prstGeom>
          <a:noFill/>
          <a:ln/>
        </p:spPr>
        <p:txBody>
          <a:bodyPr wrap="square" rtlCol="0" anchor="ctr"/>
          <a:lstStyle/>
          <a:p>
            <a:pPr indent="0" marL="0">
              <a:buNone/>
            </a:pPr>
            <a:r>
              <a:rPr lang="en-US" sz="1200" b="1" dirty="0">
                <a:solidFill>
                  <a:srgbClr val="55C8E8"/>
                </a:solidFill>
                <a:latin typeface="Calibri" pitchFamily="34" charset="0"/>
                <a:ea typeface="Calibri" pitchFamily="34" charset="-122"/>
                <a:cs typeface="Calibri" pitchFamily="34" charset="-120"/>
              </a:rPr>
              <a:t>QUICK RETRIEVAL: Cover your notes. Name two Timucua food sources and one shelter feature from memory.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37160"/>
            <a:ext cx="8412480" cy="256032"/>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MULTI-SOURCE COMPARE</a:t>
            </a:r>
            <a:endParaRPr lang="en-US" sz="1000" dirty="0"/>
          </a:p>
        </p:txBody>
      </p:sp>
      <p:sp>
        <p:nvSpPr>
          <p:cNvPr id="4" name="Text 2"/>
          <p:cNvSpPr/>
          <p:nvPr/>
        </p:nvSpPr>
        <p:spPr>
          <a:xfrm>
            <a:off x="365760" y="393192"/>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Same Florida — Two Different Worlds</a:t>
            </a:r>
            <a:endParaRPr lang="en-US" sz="2200" dirty="0"/>
          </a:p>
        </p:txBody>
      </p:sp>
      <p:sp>
        <p:nvSpPr>
          <p:cNvPr id="5" name="Shape 3"/>
          <p:cNvSpPr/>
          <p:nvPr/>
        </p:nvSpPr>
        <p:spPr>
          <a:xfrm>
            <a:off x="274320" y="960120"/>
            <a:ext cx="3931920" cy="3886200"/>
          </a:xfrm>
          <a:prstGeom prst="roundRect">
            <a:avLst>
              <a:gd name="adj" fmla="val 3529"/>
            </a:avLst>
          </a:prstGeom>
          <a:solidFill>
            <a:srgbClr val="FFFFFF"/>
          </a:solidFill>
          <a:ln w="25400">
            <a:solidFill>
              <a:srgbClr val="1A8A7D"/>
            </a:solidFill>
            <a:prstDash val="solid"/>
          </a:ln>
        </p:spPr>
      </p:sp>
      <p:sp>
        <p:nvSpPr>
          <p:cNvPr id="6" name="Text 4"/>
          <p:cNvSpPr/>
          <p:nvPr/>
        </p:nvSpPr>
        <p:spPr>
          <a:xfrm>
            <a:off x="457200" y="1051560"/>
            <a:ext cx="3566160" cy="274320"/>
          </a:xfrm>
          <a:prstGeom prst="rect">
            <a:avLst/>
          </a:prstGeom>
          <a:noFill/>
          <a:ln/>
        </p:spPr>
        <p:txBody>
          <a:bodyPr wrap="square" rtlCol="0" anchor="ctr"/>
          <a:lstStyle/>
          <a:p>
            <a:pPr algn="ctr" indent="0" marL="0">
              <a:buNone/>
            </a:pPr>
            <a:r>
              <a:rPr lang="en-US" sz="1400" b="1" spc="100" kern="0" dirty="0">
                <a:solidFill>
                  <a:srgbClr val="1A8A7D"/>
                </a:solidFill>
                <a:latin typeface="Calibri" pitchFamily="34" charset="0"/>
                <a:ea typeface="Calibri" pitchFamily="34" charset="-122"/>
                <a:cs typeface="Calibri" pitchFamily="34" charset="-120"/>
              </a:rPr>
              <a:t>TIMUCUA</a:t>
            </a:r>
            <a:endParaRPr lang="en-US" sz="1400" dirty="0"/>
          </a:p>
        </p:txBody>
      </p:sp>
      <p:sp>
        <p:nvSpPr>
          <p:cNvPr id="7" name="Shape 5"/>
          <p:cNvSpPr/>
          <p:nvPr/>
        </p:nvSpPr>
        <p:spPr>
          <a:xfrm>
            <a:off x="411480" y="1371600"/>
            <a:ext cx="3611880" cy="1554480"/>
          </a:xfrm>
          <a:prstGeom prst="roundRect">
            <a:avLst>
              <a:gd name="adj" fmla="val 7059"/>
            </a:avLst>
          </a:prstGeom>
          <a:solidFill>
            <a:srgbClr val="E2E8F4"/>
          </a:solidFill>
          <a:ln w="19050">
            <a:solidFill>
              <a:srgbClr val="B0B8CC"/>
            </a:solidFill>
            <a:prstDash val="dash"/>
          </a:ln>
        </p:spPr>
      </p:sp>
      <p:sp>
        <p:nvSpPr>
          <p:cNvPr id="8" name="Text 6"/>
          <p:cNvSpPr/>
          <p:nvPr/>
        </p:nvSpPr>
        <p:spPr>
          <a:xfrm>
            <a:off x="411480" y="1371600"/>
            <a:ext cx="3611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48640" y="1645920"/>
            <a:ext cx="3337560" cy="1188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Timucua inland village with palisade, round thatched houses, forest and river visible. No human figures.</a:t>
            </a:r>
            <a:endParaRPr lang="en-US" sz="1100" dirty="0"/>
          </a:p>
        </p:txBody>
      </p:sp>
      <p:sp>
        <p:nvSpPr>
          <p:cNvPr id="10" name="Text 8"/>
          <p:cNvSpPr/>
          <p:nvPr/>
        </p:nvSpPr>
        <p:spPr>
          <a:xfrm>
            <a:off x="457200" y="3017520"/>
            <a:ext cx="3566160" cy="16002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Food: deer, fish, corn, beans, squash</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Shelter: round pole-and-thatch houses inside palisade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Location: forests and rivers, northeast Florida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Leaders: caciques</a:t>
            </a:r>
            <a:endParaRPr lang="en-US" sz="1100" dirty="0"/>
          </a:p>
        </p:txBody>
      </p:sp>
      <p:sp>
        <p:nvSpPr>
          <p:cNvPr id="11" name="Shape 9"/>
          <p:cNvSpPr/>
          <p:nvPr/>
        </p:nvSpPr>
        <p:spPr>
          <a:xfrm>
            <a:off x="4617720" y="960120"/>
            <a:ext cx="3931920" cy="3886200"/>
          </a:xfrm>
          <a:prstGeom prst="roundRect">
            <a:avLst>
              <a:gd name="adj" fmla="val 3529"/>
            </a:avLst>
          </a:prstGeom>
          <a:solidFill>
            <a:srgbClr val="FFFFFF"/>
          </a:solidFill>
          <a:ln w="25400">
            <a:solidFill>
              <a:srgbClr val="D4943A"/>
            </a:solidFill>
            <a:prstDash val="solid"/>
          </a:ln>
        </p:spPr>
      </p:sp>
      <p:sp>
        <p:nvSpPr>
          <p:cNvPr id="12" name="Text 10"/>
          <p:cNvSpPr/>
          <p:nvPr/>
        </p:nvSpPr>
        <p:spPr>
          <a:xfrm>
            <a:off x="4800600" y="1051560"/>
            <a:ext cx="3566160" cy="274320"/>
          </a:xfrm>
          <a:prstGeom prst="rect">
            <a:avLst/>
          </a:prstGeom>
          <a:noFill/>
          <a:ln/>
        </p:spPr>
        <p:txBody>
          <a:bodyPr wrap="square" rtlCol="0" anchor="ctr"/>
          <a:lstStyle/>
          <a:p>
            <a:pPr algn="ctr" indent="0" marL="0">
              <a:buNone/>
            </a:pPr>
            <a:r>
              <a:rPr lang="en-US" sz="1400" b="1" spc="100" kern="0" dirty="0">
                <a:solidFill>
                  <a:srgbClr val="D4943A"/>
                </a:solidFill>
                <a:latin typeface="Calibri" pitchFamily="34" charset="0"/>
                <a:ea typeface="Calibri" pitchFamily="34" charset="-122"/>
                <a:cs typeface="Calibri" pitchFamily="34" charset="-120"/>
              </a:rPr>
              <a:t>CALUSA</a:t>
            </a:r>
            <a:endParaRPr lang="en-US" sz="1400" dirty="0"/>
          </a:p>
        </p:txBody>
      </p:sp>
      <p:sp>
        <p:nvSpPr>
          <p:cNvPr id="13" name="Shape 11"/>
          <p:cNvSpPr/>
          <p:nvPr/>
        </p:nvSpPr>
        <p:spPr>
          <a:xfrm>
            <a:off x="4754880" y="1371600"/>
            <a:ext cx="3611880" cy="1554480"/>
          </a:xfrm>
          <a:prstGeom prst="roundRect">
            <a:avLst>
              <a:gd name="adj" fmla="val 7059"/>
            </a:avLst>
          </a:prstGeom>
          <a:solidFill>
            <a:srgbClr val="E2E8F4"/>
          </a:solidFill>
          <a:ln w="19050">
            <a:solidFill>
              <a:srgbClr val="B0B8CC"/>
            </a:solidFill>
            <a:prstDash val="dash"/>
          </a:ln>
        </p:spPr>
      </p:sp>
      <p:sp>
        <p:nvSpPr>
          <p:cNvPr id="14" name="Text 12"/>
          <p:cNvSpPr/>
          <p:nvPr/>
        </p:nvSpPr>
        <p:spPr>
          <a:xfrm>
            <a:off x="4754880" y="1371600"/>
            <a:ext cx="3611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892040" y="1645920"/>
            <a:ext cx="3337560" cy="1188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Calusa coastal village on shell mound island, mangroves, canoes on water, fish drying racks. Southwestern Florida coast. No human figures.</a:t>
            </a:r>
            <a:endParaRPr lang="en-US" sz="1100" dirty="0"/>
          </a:p>
        </p:txBody>
      </p:sp>
      <p:sp>
        <p:nvSpPr>
          <p:cNvPr id="16" name="Text 14"/>
          <p:cNvSpPr/>
          <p:nvPr/>
        </p:nvSpPr>
        <p:spPr>
          <a:xfrm>
            <a:off x="4800600" y="3017520"/>
            <a:ext cx="3566160" cy="16002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Food: fish, oysters, conch, sea turtle, manatee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Shelter: shell-platform houses above water</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Location: islands and coasts, southwest Florida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Leaders: powerful chiefs controlling wide network</a:t>
            </a:r>
            <a:endParaRPr lang="en-US" sz="1100" dirty="0"/>
          </a:p>
        </p:txBody>
      </p:sp>
      <p:sp>
        <p:nvSpPr>
          <p:cNvPr id="17" name="Shape 15"/>
          <p:cNvSpPr/>
          <p:nvPr/>
        </p:nvSpPr>
        <p:spPr>
          <a:xfrm>
            <a:off x="4297680" y="1097280"/>
            <a:ext cx="182880" cy="3566160"/>
          </a:xfrm>
          <a:prstGeom prst="rect">
            <a:avLst/>
          </a:prstGeom>
          <a:solidFill>
            <a:srgbClr val="E2E8F4"/>
          </a:solidFill>
          <a:ln w="12700">
            <a:solidFill>
              <a:srgbClr val="E2E8F4"/>
            </a:solidFill>
            <a:prstDash val="solid"/>
          </a:ln>
        </p:spPr>
      </p:sp>
      <p:sp>
        <p:nvSpPr>
          <p:cNvPr id="18" name="Text 16"/>
          <p:cNvSpPr/>
          <p:nvPr/>
        </p:nvSpPr>
        <p:spPr>
          <a:xfrm>
            <a:off x="4160520" y="2606040"/>
            <a:ext cx="457200" cy="365760"/>
          </a:xfrm>
          <a:prstGeom prst="rect">
            <a:avLst/>
          </a:prstGeom>
          <a:noFill/>
          <a:ln/>
        </p:spPr>
        <p:txBody>
          <a:bodyPr wrap="square" rtlCol="0" anchor="ctr"/>
          <a:lstStyle/>
          <a:p>
            <a:pPr algn="ctr" indent="0" marL="0">
              <a:buNone/>
            </a:pPr>
            <a:r>
              <a:rPr lang="en-US" sz="1600" b="1" dirty="0">
                <a:solidFill>
                  <a:srgbClr val="7A88A8"/>
                </a:solidFill>
                <a:latin typeface="Cambria" pitchFamily="34" charset="0"/>
                <a:ea typeface="Cambria" pitchFamily="34" charset="-122"/>
                <a:cs typeface="Cambria" pitchFamily="34" charset="-120"/>
              </a:rPr>
              <a:t>vs.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SOURCE EVALUATION</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Whose Story Is Being Told?</a:t>
            </a:r>
            <a:endParaRPr lang="en-US" sz="2400" dirty="0"/>
          </a:p>
        </p:txBody>
      </p:sp>
      <p:sp>
        <p:nvSpPr>
          <p:cNvPr id="5" name="Shape 3"/>
          <p:cNvSpPr/>
          <p:nvPr/>
        </p:nvSpPr>
        <p:spPr>
          <a:xfrm>
            <a:off x="365760" y="109728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188720"/>
            <a:ext cx="475488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548640" y="144475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wrote the records we used to build these comparison cards?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Whose story is being told? Who is NOT represented in our sources?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these cards look different if the Timucua or Calusa had written them? How?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possible to compare two communities fairly when most of our sources come from outsiders?</a:t>
            </a:r>
            <a:endParaRPr lang="en-US" sz="1100" dirty="0"/>
          </a:p>
        </p:txBody>
      </p:sp>
      <p:sp>
        <p:nvSpPr>
          <p:cNvPr id="8" name="Shape 6"/>
          <p:cNvSpPr/>
          <p:nvPr/>
        </p:nvSpPr>
        <p:spPr>
          <a:xfrm>
            <a:off x="5669280" y="109728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5214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5331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that... but disagree about..."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 / not trust this comparison because..."</a:t>
            </a:r>
            <a:endParaRPr lang="en-US" sz="1200" dirty="0"/>
          </a:p>
        </p:txBody>
      </p:sp>
      <p:sp>
        <p:nvSpPr>
          <p:cNvPr id="11" name="Shape 9"/>
          <p:cNvSpPr/>
          <p:nvPr/>
        </p:nvSpPr>
        <p:spPr>
          <a:xfrm>
            <a:off x="5669280" y="3520440"/>
            <a:ext cx="3200400" cy="1188720"/>
          </a:xfrm>
          <a:prstGeom prst="roundRect">
            <a:avLst>
              <a:gd name="adj" fmla="val 7692"/>
            </a:avLst>
          </a:prstGeom>
          <a:solidFill>
            <a:srgbClr val="FFFFFF"/>
          </a:solidFill>
          <a:ln w="12700">
            <a:solidFill>
              <a:srgbClr val="D4943A"/>
            </a:solidFill>
            <a:prstDash val="solid"/>
          </a:ln>
        </p:spPr>
      </p:sp>
      <p:sp>
        <p:nvSpPr>
          <p:cNvPr id="12" name="Text 10"/>
          <p:cNvSpPr/>
          <p:nvPr/>
        </p:nvSpPr>
        <p:spPr>
          <a:xfrm>
            <a:off x="5852160" y="3611880"/>
            <a:ext cx="283464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TRANSFERABLE IDEA</a:t>
            </a:r>
            <a:endParaRPr lang="en-US" sz="900" dirty="0"/>
          </a:p>
        </p:txBody>
      </p:sp>
      <p:sp>
        <p:nvSpPr>
          <p:cNvPr id="13" name="Text 11"/>
          <p:cNvSpPr/>
          <p:nvPr/>
        </p:nvSpPr>
        <p:spPr>
          <a:xfrm>
            <a:off x="5852160" y="3886200"/>
            <a:ext cx="2834640" cy="685800"/>
          </a:xfrm>
          <a:prstGeom prst="rect">
            <a:avLst/>
          </a:prstGeom>
          <a:noFill/>
          <a:ln/>
        </p:spPr>
        <p:txBody>
          <a:bodyPr wrap="square"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Whose voice is in the source shapes what the source can tell us.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1A8A7D"/>
          </a:solidFill>
          <a:ln w="12700">
            <a:solidFill>
              <a:srgbClr val="1A8A7D"/>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YOU DISCOVERED: THE PATTERN</a:t>
            </a:r>
            <a:endParaRPr lang="en-US" sz="1100" dirty="0"/>
          </a:p>
        </p:txBody>
      </p:sp>
      <p:sp>
        <p:nvSpPr>
          <p:cNvPr id="5" name="Text 3"/>
          <p:cNvSpPr/>
          <p:nvPr/>
        </p:nvSpPr>
        <p:spPr>
          <a:xfrm>
            <a:off x="457200" y="548640"/>
            <a:ext cx="8229600" cy="59436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Same Florida. Two Very Different Worlds.</a:t>
            </a:r>
            <a:endParaRPr lang="en-US" sz="2800" dirty="0"/>
          </a:p>
        </p:txBody>
      </p:sp>
      <p:sp>
        <p:nvSpPr>
          <p:cNvPr id="6" name="Shape 4"/>
          <p:cNvSpPr/>
          <p:nvPr/>
        </p:nvSpPr>
        <p:spPr>
          <a:xfrm>
            <a:off x="548640" y="1280160"/>
            <a:ext cx="8046720" cy="1005840"/>
          </a:xfrm>
          <a:prstGeom prst="roundRect">
            <a:avLst>
              <a:gd name="adj" fmla="val 13636"/>
            </a:avLst>
          </a:prstGeom>
          <a:solidFill>
            <a:srgbClr val="1A2D5A"/>
          </a:solidFill>
          <a:ln w="19050">
            <a:solidFill>
              <a:srgbClr val="55C8E8"/>
            </a:solidFill>
            <a:prstDash val="solid"/>
          </a:ln>
        </p:spPr>
      </p:sp>
      <p:sp>
        <p:nvSpPr>
          <p:cNvPr id="7" name="Text 5"/>
          <p:cNvSpPr/>
          <p:nvPr/>
        </p:nvSpPr>
        <p:spPr>
          <a:xfrm>
            <a:off x="777240" y="1371600"/>
            <a:ext cx="7589520" cy="822960"/>
          </a:xfrm>
          <a:prstGeom prst="rect">
            <a:avLst/>
          </a:prstGeom>
          <a:noFill/>
          <a:ln/>
        </p:spPr>
        <p:txBody>
          <a:bodyPr wrap="square"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The Timucua and the Calusa shared a homeland but built very different lives — because their land was different. One world built around rivers, fields, and forests. The other built around the open sea.</a:t>
            </a:r>
            <a:endParaRPr lang="en-US" sz="1500" dirty="0"/>
          </a:p>
        </p:txBody>
      </p:sp>
      <p:sp>
        <p:nvSpPr>
          <p:cNvPr id="8" name="Text 6"/>
          <p:cNvSpPr/>
          <p:nvPr/>
        </p:nvSpPr>
        <p:spPr>
          <a:xfrm>
            <a:off x="548640" y="2423160"/>
            <a:ext cx="8046720" cy="274320"/>
          </a:xfrm>
          <a:prstGeom prst="rect">
            <a:avLst/>
          </a:prstGeom>
          <a:noFill/>
          <a:ln/>
        </p:spPr>
        <p:txBody>
          <a:bodyPr wrap="square"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TRANSFERABLE PATTERN:</a:t>
            </a:r>
            <a:endParaRPr lang="en-US" sz="1200" dirty="0"/>
          </a:p>
        </p:txBody>
      </p:sp>
      <p:sp>
        <p:nvSpPr>
          <p:cNvPr id="9" name="Text 7"/>
          <p:cNvSpPr/>
          <p:nvPr/>
        </p:nvSpPr>
        <p:spPr>
          <a:xfrm>
            <a:off x="548640" y="2697480"/>
            <a:ext cx="8046720" cy="548640"/>
          </a:xfrm>
          <a:prstGeom prst="rect">
            <a:avLst/>
          </a:prstGeom>
          <a:noFill/>
          <a:ln/>
        </p:spPr>
        <p:txBody>
          <a:bodyPr wrap="square" rtlCol="0" anchor="ctr"/>
          <a:lstStyle/>
          <a:p>
            <a:pPr indent="0" marL="0">
              <a:buNone/>
            </a:pPr>
            <a:r>
              <a:rPr lang="en-US" sz="1400" i="1" dirty="0">
                <a:solidFill>
                  <a:srgbClr val="F0F2F8"/>
                </a:solidFill>
                <a:latin typeface="Cambria" pitchFamily="34" charset="0"/>
                <a:ea typeface="Cambria" pitchFamily="34" charset="-122"/>
                <a:cs typeface="Cambria" pitchFamily="34" charset="-120"/>
              </a:rPr>
              <a:t>Environment shapes culture. But culture is not determined by environment — people made choices, and those choices define them.</a:t>
            </a:r>
            <a:endParaRPr lang="en-US" sz="1400" dirty="0"/>
          </a:p>
        </p:txBody>
      </p:sp>
      <p:sp>
        <p:nvSpPr>
          <p:cNvPr id="10" name="Shape 8"/>
          <p:cNvSpPr/>
          <p:nvPr/>
        </p:nvSpPr>
        <p:spPr>
          <a:xfrm>
            <a:off x="548640" y="3383280"/>
            <a:ext cx="8046720" cy="1325880"/>
          </a:xfrm>
          <a:prstGeom prst="roundRect">
            <a:avLst>
              <a:gd name="adj" fmla="val 8276"/>
            </a:avLst>
          </a:prstGeom>
          <a:solidFill>
            <a:srgbClr val="0B1835"/>
          </a:solidFill>
          <a:ln w="12700">
            <a:solidFill>
              <a:srgbClr val="D4943A"/>
            </a:solidFill>
            <a:prstDash val="solid"/>
          </a:ln>
        </p:spPr>
      </p:sp>
      <p:sp>
        <p:nvSpPr>
          <p:cNvPr id="11" name="Text 9"/>
          <p:cNvSpPr/>
          <p:nvPr/>
        </p:nvSpPr>
        <p:spPr>
          <a:xfrm>
            <a:off x="777240" y="3493008"/>
            <a:ext cx="7589520" cy="256032"/>
          </a:xfrm>
          <a:prstGeom prst="rect">
            <a:avLst/>
          </a:prstGeom>
          <a:noFill/>
          <a:ln/>
        </p:spPr>
        <p:txBody>
          <a:bodyPr wrap="square"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THINK BIGGER:</a:t>
            </a:r>
            <a:endParaRPr lang="en-US" sz="1100" dirty="0"/>
          </a:p>
        </p:txBody>
      </p:sp>
      <p:sp>
        <p:nvSpPr>
          <p:cNvPr id="12" name="Text 10"/>
          <p:cNvSpPr/>
          <p:nvPr/>
        </p:nvSpPr>
        <p:spPr>
          <a:xfrm>
            <a:off x="777240" y="3749040"/>
            <a:ext cx="7589520" cy="868680"/>
          </a:xfrm>
          <a:prstGeom prst="rect">
            <a:avLst/>
          </a:prstGeom>
          <a:noFill/>
          <a:ln/>
        </p:spPr>
        <p:txBody>
          <a:bodyPr wrap="square" rtlCol="0" anchor="t"/>
          <a:lstStyle/>
          <a:p>
            <a:pPr indent="0" marL="0">
              <a:buNone/>
            </a:pPr>
            <a:r>
              <a:rPr lang="en-US" sz="1200" i="1" dirty="0">
                <a:solidFill>
                  <a:srgbClr val="F0F2F8"/>
                </a:solidFill>
                <a:latin typeface="Calibri" pitchFamily="34" charset="0"/>
                <a:ea typeface="Calibri" pitchFamily="34" charset="-122"/>
                <a:cs typeface="Calibri" pitchFamily="34" charset="-120"/>
              </a:rPr>
              <a:t>Two tribes lived in very different environments but made some similar choices (strong community leadership, careful food strategies, skilled construction). Does that prove geography determines culture — or could something else explain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4864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PRIMARY SOURCE</a:t>
            </a:r>
            <a:endParaRPr lang="en-US" sz="1000" dirty="0"/>
          </a:p>
        </p:txBody>
      </p:sp>
      <p:sp>
        <p:nvSpPr>
          <p:cNvPr id="4" name="Text 2"/>
          <p:cNvSpPr/>
          <p:nvPr/>
        </p:nvSpPr>
        <p:spPr>
          <a:xfrm>
            <a:off x="365760" y="457200"/>
            <a:ext cx="548640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de Bry Engraving (1591)</a:t>
            </a:r>
            <a:endParaRPr lang="en-US" sz="2200" dirty="0"/>
          </a:p>
        </p:txBody>
      </p:sp>
      <p:sp>
        <p:nvSpPr>
          <p:cNvPr id="5" name="Shape 3"/>
          <p:cNvSpPr/>
          <p:nvPr/>
        </p:nvSpPr>
        <p:spPr>
          <a:xfrm>
            <a:off x="365760" y="1051560"/>
            <a:ext cx="502920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1051560"/>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75488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Theodor de Bry engraving (1591): 'A Fortified Village' — circular palisade, round thatched houses inside, central plaza, narrow entrance. Based on Jacques Le Moyne drawing of Timucua village from 1560s. Black and white engraving style.</a:t>
            </a:r>
            <a:endParaRPr lang="en-US" sz="1100" dirty="0"/>
          </a:p>
        </p:txBody>
      </p:sp>
      <p:sp>
        <p:nvSpPr>
          <p:cNvPr id="8" name="Text 6"/>
          <p:cNvSpPr/>
          <p:nvPr/>
        </p:nvSpPr>
        <p:spPr>
          <a:xfrm>
            <a:off x="365760" y="4590288"/>
            <a:ext cx="5029200" cy="228600"/>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Source: Theodor de Bry after Le Moyne, 1591. Library of Congress.</a:t>
            </a:r>
            <a:endParaRPr lang="en-US" sz="1000" dirty="0"/>
          </a:p>
        </p:txBody>
      </p:sp>
      <p:sp>
        <p:nvSpPr>
          <p:cNvPr id="9" name="Shape 7"/>
          <p:cNvSpPr/>
          <p:nvPr/>
        </p:nvSpPr>
        <p:spPr>
          <a:xfrm>
            <a:off x="5577840" y="1051560"/>
            <a:ext cx="3246120" cy="201168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5715000" y="110642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715000" y="1307592"/>
            <a:ext cx="297180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I think this means..."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I'm not sure about is... because..."</a:t>
            </a:r>
            <a:endParaRPr lang="en-US" sz="1200" dirty="0"/>
          </a:p>
        </p:txBody>
      </p:sp>
      <p:sp>
        <p:nvSpPr>
          <p:cNvPr id="12" name="Shape 10"/>
          <p:cNvSpPr/>
          <p:nvPr/>
        </p:nvSpPr>
        <p:spPr>
          <a:xfrm>
            <a:off x="5577840" y="3200400"/>
            <a:ext cx="3246120" cy="1600200"/>
          </a:xfrm>
          <a:prstGeom prst="roundRect">
            <a:avLst>
              <a:gd name="adj" fmla="val 6857"/>
            </a:avLst>
          </a:prstGeom>
          <a:solidFill>
            <a:srgbClr val="FFFFFF"/>
          </a:solidFill>
          <a:ln w="12700">
            <a:solidFill>
              <a:srgbClr val="B0B8CC"/>
            </a:solidFill>
            <a:prstDash val="solid"/>
          </a:ln>
        </p:spPr>
      </p:sp>
      <p:sp>
        <p:nvSpPr>
          <p:cNvPr id="13" name="Text 11"/>
          <p:cNvSpPr/>
          <p:nvPr/>
        </p:nvSpPr>
        <p:spPr>
          <a:xfrm>
            <a:off x="5760720" y="3291840"/>
            <a:ext cx="2880360" cy="228600"/>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SOURCE CARD</a:t>
            </a:r>
            <a:endParaRPr lang="en-US" sz="900" dirty="0"/>
          </a:p>
        </p:txBody>
      </p:sp>
      <p:sp>
        <p:nvSpPr>
          <p:cNvPr id="14" name="Text 12"/>
          <p:cNvSpPr/>
          <p:nvPr/>
        </p:nvSpPr>
        <p:spPr>
          <a:xfrm>
            <a:off x="5760720" y="3566160"/>
            <a:ext cx="2880360" cy="114300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Type: Primary Source</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Creator: Theodor de Bry (European engraver)</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Date: Published 1591</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Based on: Jacques Le Moyne drawing, 1560s</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Note: Engraver had never been to Florida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EVALUATE THE SOURCE — de Bry 1591</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Useful But Not Perfect</a:t>
            </a:r>
            <a:endParaRPr lang="en-US" sz="2400" dirty="0"/>
          </a:p>
        </p:txBody>
      </p:sp>
      <p:sp>
        <p:nvSpPr>
          <p:cNvPr id="5" name="Shape 3"/>
          <p:cNvSpPr/>
          <p:nvPr/>
        </p:nvSpPr>
        <p:spPr>
          <a:xfrm>
            <a:off x="365760" y="1097280"/>
            <a:ext cx="502920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18872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548640" y="1444752"/>
            <a:ext cx="466344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this engraving, and had they ever been to Florida?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engraving show that is probably accurate —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the European artist have changed, added, or gotten wrong?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source be both useful AND limited? How do historians handle that?</a:t>
            </a:r>
            <a:endParaRPr lang="en-US" sz="1100" dirty="0"/>
          </a:p>
        </p:txBody>
      </p:sp>
      <p:sp>
        <p:nvSpPr>
          <p:cNvPr id="8" name="Shape 6"/>
          <p:cNvSpPr/>
          <p:nvPr/>
        </p:nvSpPr>
        <p:spPr>
          <a:xfrm>
            <a:off x="5577840" y="1097280"/>
            <a:ext cx="3200400" cy="2468880"/>
          </a:xfrm>
          <a:prstGeom prst="roundRect">
            <a:avLst>
              <a:gd name="adj" fmla="val 5556"/>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760720" y="1188720"/>
            <a:ext cx="28346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760720" y="1444752"/>
            <a:ext cx="2834640" cy="20299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Look at the narrow entrance. Is that observation or inference — that it was built for safety?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one thing the de Bry engraving does NOT show — but would help us understand the Timucua better?</a:t>
            </a:r>
            <a:endParaRPr lang="en-US" sz="1100" dirty="0"/>
          </a:p>
        </p:txBody>
      </p:sp>
      <p:sp>
        <p:nvSpPr>
          <p:cNvPr id="11" name="Shape 9"/>
          <p:cNvSpPr/>
          <p:nvPr/>
        </p:nvSpPr>
        <p:spPr>
          <a:xfrm>
            <a:off x="5577840" y="3657600"/>
            <a:ext cx="3200400" cy="1051560"/>
          </a:xfrm>
          <a:prstGeom prst="roundRect">
            <a:avLst>
              <a:gd name="adj" fmla="val 8696"/>
            </a:avLst>
          </a:prstGeom>
          <a:solidFill>
            <a:srgbClr val="FFF3DC"/>
          </a:solidFill>
          <a:ln w="19050">
            <a:solidFill>
              <a:srgbClr val="F5E6C8"/>
            </a:solidFill>
            <a:prstDash val="solid"/>
          </a:ln>
        </p:spPr>
      </p:sp>
      <p:sp>
        <p:nvSpPr>
          <p:cNvPr id="12" name="Text 10"/>
          <p:cNvSpPr/>
          <p:nvPr/>
        </p:nvSpPr>
        <p:spPr>
          <a:xfrm>
            <a:off x="5760720" y="3749040"/>
            <a:ext cx="283464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PREVIEW</a:t>
            </a:r>
            <a:endParaRPr lang="en-US" sz="900" dirty="0"/>
          </a:p>
        </p:txBody>
      </p:sp>
      <p:sp>
        <p:nvSpPr>
          <p:cNvPr id="13" name="Text 11"/>
          <p:cNvSpPr/>
          <p:nvPr/>
        </p:nvSpPr>
        <p:spPr>
          <a:xfrm>
            <a:off x="5760720" y="4023360"/>
            <a:ext cx="2834640" cy="59436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Q3 later: What does the engraving NOT show that would help us understand the Timucua?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55C8E8"/>
          </a:solidFill>
          <a:ln w="12700">
            <a:solidFill>
              <a:srgbClr val="55C8E8"/>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YOU DISCOVERED: SOURCE EVALUATION</a:t>
            </a:r>
            <a:endParaRPr lang="en-US" sz="1100" dirty="0"/>
          </a:p>
        </p:txBody>
      </p:sp>
      <p:sp>
        <p:nvSpPr>
          <p:cNvPr id="5" name="Text 3"/>
          <p:cNvSpPr/>
          <p:nvPr/>
        </p:nvSpPr>
        <p:spPr>
          <a:xfrm>
            <a:off x="457200" y="530352"/>
            <a:ext cx="8229600" cy="594360"/>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Every Primary Source Is Both Useful and Limited</a:t>
            </a:r>
            <a:endParaRPr lang="en-US" sz="2400" dirty="0"/>
          </a:p>
        </p:txBody>
      </p:sp>
      <p:sp>
        <p:nvSpPr>
          <p:cNvPr id="6" name="Shape 4"/>
          <p:cNvSpPr/>
          <p:nvPr/>
        </p:nvSpPr>
        <p:spPr>
          <a:xfrm>
            <a:off x="365760" y="1325880"/>
            <a:ext cx="1645920" cy="502920"/>
          </a:xfrm>
          <a:prstGeom prst="roundRect">
            <a:avLst>
              <a:gd name="adj" fmla="val 18182"/>
            </a:avLst>
          </a:prstGeom>
          <a:solidFill>
            <a:srgbClr val="D4943A"/>
          </a:solidFill>
          <a:ln w="12700">
            <a:solidFill>
              <a:srgbClr val="D4943A"/>
            </a:solidFill>
            <a:prstDash val="solid"/>
          </a:ln>
        </p:spPr>
      </p:sp>
      <p:sp>
        <p:nvSpPr>
          <p:cNvPr id="7" name="Text 5"/>
          <p:cNvSpPr/>
          <p:nvPr/>
        </p:nvSpPr>
        <p:spPr>
          <a:xfrm>
            <a:off x="365760" y="1417320"/>
            <a:ext cx="164592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IT SHOWS</a:t>
            </a:r>
            <a:endParaRPr lang="en-US" sz="1000" dirty="0"/>
          </a:p>
        </p:txBody>
      </p:sp>
      <p:sp>
        <p:nvSpPr>
          <p:cNvPr id="8" name="Text 6"/>
          <p:cNvSpPr/>
          <p:nvPr/>
        </p:nvSpPr>
        <p:spPr>
          <a:xfrm>
            <a:off x="2194560" y="1371600"/>
            <a:ext cx="6583680" cy="54864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The Timucua built fortified villages with palisades, round houses, and a central plaza.</a:t>
            </a:r>
            <a:endParaRPr lang="en-US" sz="1300" dirty="0"/>
          </a:p>
        </p:txBody>
      </p:sp>
      <p:sp>
        <p:nvSpPr>
          <p:cNvPr id="9" name="Shape 7"/>
          <p:cNvSpPr/>
          <p:nvPr/>
        </p:nvSpPr>
        <p:spPr>
          <a:xfrm>
            <a:off x="365760" y="2103120"/>
            <a:ext cx="1645920" cy="502920"/>
          </a:xfrm>
          <a:prstGeom prst="roundRect">
            <a:avLst>
              <a:gd name="adj" fmla="val 18182"/>
            </a:avLst>
          </a:prstGeom>
          <a:solidFill>
            <a:srgbClr val="E8636B"/>
          </a:solidFill>
          <a:ln w="12700">
            <a:solidFill>
              <a:srgbClr val="E8636B"/>
            </a:solidFill>
            <a:prstDash val="solid"/>
          </a:ln>
        </p:spPr>
      </p:sp>
      <p:sp>
        <p:nvSpPr>
          <p:cNvPr id="10" name="Text 8"/>
          <p:cNvSpPr/>
          <p:nvPr/>
        </p:nvSpPr>
        <p:spPr>
          <a:xfrm>
            <a:off x="365760" y="2194560"/>
            <a:ext cx="164592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WHO MADE IT</a:t>
            </a:r>
            <a:endParaRPr lang="en-US" sz="1000" dirty="0"/>
          </a:p>
        </p:txBody>
      </p:sp>
      <p:sp>
        <p:nvSpPr>
          <p:cNvPr id="11" name="Text 9"/>
          <p:cNvSpPr/>
          <p:nvPr/>
        </p:nvSpPr>
        <p:spPr>
          <a:xfrm>
            <a:off x="2194560" y="2148840"/>
            <a:ext cx="6583680" cy="54864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Theodor de Bry — a European engraver who had never been to Florida.</a:t>
            </a:r>
            <a:endParaRPr lang="en-US" sz="1300" dirty="0"/>
          </a:p>
        </p:txBody>
      </p:sp>
      <p:sp>
        <p:nvSpPr>
          <p:cNvPr id="12" name="Shape 10"/>
          <p:cNvSpPr/>
          <p:nvPr/>
        </p:nvSpPr>
        <p:spPr>
          <a:xfrm>
            <a:off x="365760" y="2880360"/>
            <a:ext cx="1645920" cy="502920"/>
          </a:xfrm>
          <a:prstGeom prst="roundRect">
            <a:avLst>
              <a:gd name="adj" fmla="val 18182"/>
            </a:avLst>
          </a:prstGeom>
          <a:solidFill>
            <a:srgbClr val="7A88A8"/>
          </a:solidFill>
          <a:ln w="12700">
            <a:solidFill>
              <a:srgbClr val="7A88A8"/>
            </a:solidFill>
            <a:prstDash val="solid"/>
          </a:ln>
        </p:spPr>
      </p:sp>
      <p:sp>
        <p:nvSpPr>
          <p:cNvPr id="13" name="Text 11"/>
          <p:cNvSpPr/>
          <p:nvPr/>
        </p:nvSpPr>
        <p:spPr>
          <a:xfrm>
            <a:off x="365760" y="2971800"/>
            <a:ext cx="164592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LIMIT</a:t>
            </a:r>
            <a:endParaRPr lang="en-US" sz="1000" dirty="0"/>
          </a:p>
        </p:txBody>
      </p:sp>
      <p:sp>
        <p:nvSpPr>
          <p:cNvPr id="14" name="Text 12"/>
          <p:cNvSpPr/>
          <p:nvPr/>
        </p:nvSpPr>
        <p:spPr>
          <a:xfrm>
            <a:off x="2194560" y="2926080"/>
            <a:ext cx="6583680" cy="54864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He worked from someone else's sketch and changed details. The picture is useful, not perfect.</a:t>
            </a:r>
            <a:endParaRPr lang="en-US" sz="1300" dirty="0"/>
          </a:p>
        </p:txBody>
      </p:sp>
      <p:sp>
        <p:nvSpPr>
          <p:cNvPr id="15" name="Shape 13"/>
          <p:cNvSpPr/>
          <p:nvPr/>
        </p:nvSpPr>
        <p:spPr>
          <a:xfrm>
            <a:off x="365760" y="3657600"/>
            <a:ext cx="1645920" cy="502920"/>
          </a:xfrm>
          <a:prstGeom prst="roundRect">
            <a:avLst>
              <a:gd name="adj" fmla="val 18182"/>
            </a:avLst>
          </a:prstGeom>
          <a:solidFill>
            <a:srgbClr val="34B76F"/>
          </a:solidFill>
          <a:ln w="12700">
            <a:solidFill>
              <a:srgbClr val="34B76F"/>
            </a:solidFill>
            <a:prstDash val="solid"/>
          </a:ln>
        </p:spPr>
      </p:sp>
      <p:sp>
        <p:nvSpPr>
          <p:cNvPr id="16" name="Text 14"/>
          <p:cNvSpPr/>
          <p:nvPr/>
        </p:nvSpPr>
        <p:spPr>
          <a:xfrm>
            <a:off x="365760" y="3749040"/>
            <a:ext cx="164592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RULE</a:t>
            </a:r>
            <a:endParaRPr lang="en-US" sz="1000" dirty="0"/>
          </a:p>
        </p:txBody>
      </p:sp>
      <p:sp>
        <p:nvSpPr>
          <p:cNvPr id="17" name="Text 15"/>
          <p:cNvSpPr/>
          <p:nvPr/>
        </p:nvSpPr>
        <p:spPr>
          <a:xfrm>
            <a:off x="2194560" y="3703320"/>
            <a:ext cx="6583680" cy="548640"/>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A careful historian uses this source AND notices what it cannot show.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228600"/>
            <a:ext cx="8229600" cy="2743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5" name="Text 3"/>
          <p:cNvSpPr/>
          <p:nvPr/>
        </p:nvSpPr>
        <p:spPr>
          <a:xfrm>
            <a:off x="457200" y="548640"/>
            <a:ext cx="8229600" cy="82296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Courtesy</a:t>
            </a:r>
            <a:endParaRPr lang="en-US" sz="4800" dirty="0"/>
          </a:p>
        </p:txBody>
      </p:sp>
      <p:sp>
        <p:nvSpPr>
          <p:cNvPr id="6" name="Shape 4"/>
          <p:cNvSpPr/>
          <p:nvPr/>
        </p:nvSpPr>
        <p:spPr>
          <a:xfrm>
            <a:off x="731520" y="1463040"/>
            <a:ext cx="7680960" cy="2286000"/>
          </a:xfrm>
          <a:prstGeom prst="roundRect">
            <a:avLst>
              <a:gd name="adj" fmla="val 7200"/>
            </a:avLst>
          </a:prstGeom>
          <a:solidFill>
            <a:srgbClr val="1A2D5A"/>
          </a:solidFill>
          <a:ln w="19050">
            <a:solidFill>
              <a:srgbClr val="D4943A"/>
            </a:solidFill>
            <a:prstDash val="solid"/>
          </a:ln>
        </p:spPr>
      </p:sp>
      <p:sp>
        <p:nvSpPr>
          <p:cNvPr id="7" name="Text 5"/>
          <p:cNvSpPr/>
          <p:nvPr/>
        </p:nvSpPr>
        <p:spPr>
          <a:xfrm>
            <a:off x="960120" y="1600200"/>
            <a:ext cx="7223760" cy="822960"/>
          </a:xfrm>
          <a:prstGeom prst="rect">
            <a:avLst/>
          </a:prstGeom>
          <a:noFill/>
          <a:ln/>
        </p:spPr>
        <p:txBody>
          <a:bodyPr wrap="square" rtlCol="0" anchor="t"/>
          <a:lstStyle/>
          <a:p>
            <a:pPr indent="0" marL="0">
              <a:buNone/>
            </a:pPr>
            <a:r>
              <a:rPr lang="en-US" sz="1500" i="1" dirty="0">
                <a:solidFill>
                  <a:srgbClr val="FFFFFF"/>
                </a:solidFill>
                <a:latin typeface="Cambria" pitchFamily="34" charset="0"/>
                <a:ea typeface="Cambria" pitchFamily="34" charset="-122"/>
                <a:cs typeface="Cambria" pitchFamily="34" charset="-120"/>
              </a:rPr>
              <a:t>Studying another community's way of life calls for courtesy. That means using each people's real name, taking their choices seriously, and not lumping every Native group together.</a:t>
            </a:r>
            <a:endParaRPr lang="en-US" sz="1500" dirty="0"/>
          </a:p>
        </p:txBody>
      </p:sp>
      <p:sp>
        <p:nvSpPr>
          <p:cNvPr id="8" name="Text 6"/>
          <p:cNvSpPr/>
          <p:nvPr/>
        </p:nvSpPr>
        <p:spPr>
          <a:xfrm>
            <a:off x="960120" y="2468880"/>
            <a:ext cx="7223760" cy="548640"/>
          </a:xfrm>
          <a:prstGeom prst="rect">
            <a:avLst/>
          </a:prstGeom>
          <a:noFill/>
          <a:ln/>
        </p:spPr>
        <p:txBody>
          <a:bodyPr wrap="square" rtlCol="0" anchor="t"/>
          <a:lstStyle/>
          <a:p>
            <a:pPr indent="0" marL="0">
              <a:buNone/>
            </a:pPr>
            <a:r>
              <a:rPr lang="en-US" sz="1400" dirty="0">
                <a:solidFill>
                  <a:srgbClr val="F0F2F8"/>
                </a:solidFill>
                <a:latin typeface="Calibri" pitchFamily="34" charset="0"/>
                <a:ea typeface="Calibri" pitchFamily="34" charset="-122"/>
                <a:cs typeface="Calibri" pitchFamily="34" charset="-120"/>
              </a:rPr>
              <a:t>Courtesy isn't just politeness — for a historian, it is a habit of careful, respectful attention.</a:t>
            </a:r>
            <a:endParaRPr lang="en-US" sz="1400" dirty="0"/>
          </a:p>
        </p:txBody>
      </p:sp>
      <p:sp>
        <p:nvSpPr>
          <p:cNvPr id="9" name="Shape 7"/>
          <p:cNvSpPr/>
          <p:nvPr/>
        </p:nvSpPr>
        <p:spPr>
          <a:xfrm>
            <a:off x="731520" y="3840480"/>
            <a:ext cx="7680960" cy="1005840"/>
          </a:xfrm>
          <a:prstGeom prst="roundRect">
            <a:avLst>
              <a:gd name="adj" fmla="val 10909"/>
            </a:avLst>
          </a:prstGeom>
          <a:solidFill>
            <a:srgbClr val="0B1835"/>
          </a:solidFill>
          <a:ln w="12700">
            <a:solidFill>
              <a:srgbClr val="55C8E8"/>
            </a:solidFill>
            <a:prstDash val="solid"/>
          </a:ln>
        </p:spPr>
      </p:sp>
      <p:sp>
        <p:nvSpPr>
          <p:cNvPr id="10" name="Text 8"/>
          <p:cNvSpPr/>
          <p:nvPr/>
        </p:nvSpPr>
        <p:spPr>
          <a:xfrm>
            <a:off x="914400" y="3931920"/>
            <a:ext cx="7315200" cy="777240"/>
          </a:xfrm>
          <a:prstGeom prst="rect">
            <a:avLst/>
          </a:prstGeom>
          <a:noFill/>
          <a:ln/>
        </p:spPr>
        <p:txBody>
          <a:bodyPr wrap="square"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Today's courtesy check: did you use the name 'Timucua' — not 'those tribe people'? Did you treat the Calusa's sea-based choices as just as smart as farming? That's historian courtesy in action.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1A8A7D"/>
          </a:solidFill>
          <a:ln w="12700">
            <a:solidFill>
              <a:srgbClr val="1A8A7D"/>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TEACHER MODELS</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How a Florida Historian Answers This</a:t>
            </a:r>
            <a:endParaRPr lang="en-US" sz="2200" dirty="0"/>
          </a:p>
        </p:txBody>
      </p:sp>
      <p:sp>
        <p:nvSpPr>
          <p:cNvPr id="6" name="Shape 4"/>
          <p:cNvSpPr/>
          <p:nvPr/>
        </p:nvSpPr>
        <p:spPr>
          <a:xfrm>
            <a:off x="365760" y="1051560"/>
            <a:ext cx="8412480" cy="502920"/>
          </a:xfrm>
          <a:prstGeom prst="roundRect">
            <a:avLst>
              <a:gd name="adj" fmla="val 21818"/>
            </a:avLst>
          </a:prstGeom>
          <a:solidFill>
            <a:srgbClr val="E2F4F0"/>
          </a:solidFill>
          <a:ln w="19050">
            <a:solidFill>
              <a:srgbClr val="1A8A7D"/>
            </a:solidFill>
            <a:prstDash val="solid"/>
          </a:ln>
        </p:spPr>
      </p:sp>
      <p:sp>
        <p:nvSpPr>
          <p:cNvPr id="7" name="Text 5"/>
          <p:cNvSpPr/>
          <p:nvPr/>
        </p:nvSpPr>
        <p:spPr>
          <a:xfrm>
            <a:off x="548640" y="1115568"/>
            <a:ext cx="804672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Assignment Q1: Use the de Bry engraving as evidence. What is one thing it tells you about how the Timucua lived?</a:t>
            </a:r>
            <a:endParaRPr lang="en-US" sz="1200" dirty="0"/>
          </a:p>
        </p:txBody>
      </p:sp>
      <p:sp>
        <p:nvSpPr>
          <p:cNvPr id="8" name="Shape 6"/>
          <p:cNvSpPr/>
          <p:nvPr/>
        </p:nvSpPr>
        <p:spPr>
          <a:xfrm>
            <a:off x="365760" y="1691640"/>
            <a:ext cx="8412480" cy="2286000"/>
          </a:xfrm>
          <a:prstGeom prst="roundRect">
            <a:avLst>
              <a:gd name="adj" fmla="val 6000"/>
            </a:avLst>
          </a:prstGeom>
          <a:solidFill>
            <a:srgbClr val="FFFFFF"/>
          </a:solidFill>
          <a:ln w="12700">
            <a:solidFill>
              <a:srgbClr val="1A8A7D"/>
            </a:solidFill>
            <a:prstDash val="solid"/>
          </a:ln>
        </p:spPr>
      </p:sp>
      <p:sp>
        <p:nvSpPr>
          <p:cNvPr id="9" name="Text 7"/>
          <p:cNvSpPr/>
          <p:nvPr/>
        </p:nvSpPr>
        <p:spPr>
          <a:xfrm>
            <a:off x="594360" y="1801368"/>
            <a:ext cx="795528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THINK-ALOUD (Teacher says aloud):</a:t>
            </a:r>
            <a:endParaRPr lang="en-US" sz="1000" dirty="0"/>
          </a:p>
        </p:txBody>
      </p:sp>
      <p:sp>
        <p:nvSpPr>
          <p:cNvPr id="10" name="Text 8"/>
          <p:cNvSpPr/>
          <p:nvPr/>
        </p:nvSpPr>
        <p:spPr>
          <a:xfrm>
            <a:off x="594360" y="2084832"/>
            <a:ext cx="7955280" cy="178308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Step 1 — Observe: 'I can see in the engraving a circular wooden palisade with a narrow entrance and round thatched houses arranged inside.'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Step 2 — Connect to life: 'The narrow entrance and tall wall tell me the Timucua valued security and community protection — people worked together to build this defense.'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Step 3 — Cite the source: 'According to the de Bry engraving (1591)...'</a:t>
            </a:r>
            <a:endParaRPr lang="en-US" sz="1200" dirty="0"/>
          </a:p>
        </p:txBody>
      </p:sp>
      <p:sp>
        <p:nvSpPr>
          <p:cNvPr id="11" name="Shape 9"/>
          <p:cNvSpPr/>
          <p:nvPr/>
        </p:nvSpPr>
        <p:spPr>
          <a:xfrm>
            <a:off x="365760" y="4114800"/>
            <a:ext cx="8412480" cy="685800"/>
          </a:xfrm>
          <a:prstGeom prst="roundRect">
            <a:avLst>
              <a:gd name="adj" fmla="val 13333"/>
            </a:avLst>
          </a:prstGeom>
          <a:solidFill>
            <a:srgbClr val="FFF3DC"/>
          </a:solidFill>
          <a:ln w="12700">
            <a:solidFill>
              <a:srgbClr val="D4943A"/>
            </a:solidFill>
            <a:prstDash val="solid"/>
          </a:ln>
        </p:spPr>
      </p:sp>
      <p:sp>
        <p:nvSpPr>
          <p:cNvPr id="12" name="Text 10"/>
          <p:cNvSpPr/>
          <p:nvPr/>
        </p:nvSpPr>
        <p:spPr>
          <a:xfrm>
            <a:off x="594360" y="4224528"/>
            <a:ext cx="7955280" cy="45720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Notice the pattern: Observe the source detail → Connect to daily life → Cite the source. Use this structure for all three assignment questions.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INVESTIGATE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Turn: Choose Your Evidence</a:t>
            </a:r>
            <a:endParaRPr lang="en-US" sz="2200" dirty="0"/>
          </a:p>
        </p:txBody>
      </p:sp>
      <p:sp>
        <p:nvSpPr>
          <p:cNvPr id="5" name="Shape 3"/>
          <p:cNvSpPr/>
          <p:nvPr/>
        </p:nvSpPr>
        <p:spPr>
          <a:xfrm>
            <a:off x="365760" y="1051560"/>
            <a:ext cx="8412480" cy="502920"/>
          </a:xfrm>
          <a:prstGeom prst="roundRect">
            <a:avLst>
              <a:gd name="adj" fmla="val 21818"/>
            </a:avLst>
          </a:prstGeom>
          <a:solidFill>
            <a:srgbClr val="E8F4FF"/>
          </a:solidFill>
          <a:ln w="19050">
            <a:solidFill>
              <a:srgbClr val="55C8E8"/>
            </a:solidFill>
            <a:prstDash val="solid"/>
          </a:ln>
        </p:spPr>
      </p:sp>
      <p:sp>
        <p:nvSpPr>
          <p:cNvPr id="6" name="Text 4"/>
          <p:cNvSpPr/>
          <p:nvPr/>
        </p:nvSpPr>
        <p:spPr>
          <a:xfrm>
            <a:off x="548640" y="1115568"/>
            <a:ext cx="804672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Assignment Q2: Name one big similarity AND one big difference between the Timucua and the Calusa.</a:t>
            </a:r>
            <a:endParaRPr lang="en-US" sz="1200" dirty="0"/>
          </a:p>
        </p:txBody>
      </p:sp>
      <p:sp>
        <p:nvSpPr>
          <p:cNvPr id="7" name="Shape 5"/>
          <p:cNvSpPr/>
          <p:nvPr/>
        </p:nvSpPr>
        <p:spPr>
          <a:xfrm>
            <a:off x="365760" y="1691640"/>
            <a:ext cx="5029200" cy="3108960"/>
          </a:xfrm>
          <a:prstGeom prst="roundRect">
            <a:avLst>
              <a:gd name="adj" fmla="val 4412"/>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17830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039112"/>
            <a:ext cx="4663440" cy="2670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comparison feels strongest — food, shelter, or community? Why that one?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disagrees with your similarity say? Can you defend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similarity actually a similarity, or just a coincidence? How can you tell?</a:t>
            </a:r>
            <a:endParaRPr lang="en-US" sz="1100" dirty="0"/>
          </a:p>
        </p:txBody>
      </p:sp>
      <p:sp>
        <p:nvSpPr>
          <p:cNvPr id="10" name="Shape 8"/>
          <p:cNvSpPr/>
          <p:nvPr/>
        </p:nvSpPr>
        <p:spPr>
          <a:xfrm>
            <a:off x="5577840" y="1691640"/>
            <a:ext cx="3246120" cy="1828800"/>
          </a:xfrm>
          <a:prstGeom prst="roundRect">
            <a:avLst>
              <a:gd name="adj" fmla="val 6000"/>
            </a:avLst>
          </a:prstGeom>
          <a:solidFill>
            <a:srgbClr val="FFF3DC"/>
          </a:solidFill>
          <a:ln w="19050">
            <a:solidFill>
              <a:srgbClr val="F5E6C8"/>
            </a:solidFill>
            <a:prstDash val="solid"/>
          </a:ln>
        </p:spPr>
      </p:sp>
      <p:sp>
        <p:nvSpPr>
          <p:cNvPr id="11" name="Text 9"/>
          <p:cNvSpPr/>
          <p:nvPr/>
        </p:nvSpPr>
        <p:spPr>
          <a:xfrm>
            <a:off x="5715000" y="174650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1947672"/>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similarity is... because both peoples..."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difference is... The Timucua... while the Calusa..."</a:t>
            </a:r>
            <a:endParaRPr lang="en-US" sz="1200" dirty="0"/>
          </a:p>
        </p:txBody>
      </p:sp>
      <p:sp>
        <p:nvSpPr>
          <p:cNvPr id="13" name="Shape 11"/>
          <p:cNvSpPr/>
          <p:nvPr/>
        </p:nvSpPr>
        <p:spPr>
          <a:xfrm>
            <a:off x="5577840" y="3657600"/>
            <a:ext cx="3246120" cy="1143000"/>
          </a:xfrm>
          <a:prstGeom prst="roundRect">
            <a:avLst>
              <a:gd name="adj" fmla="val 8000"/>
            </a:avLst>
          </a:prstGeom>
          <a:solidFill>
            <a:srgbClr val="FFFFFF"/>
          </a:solidFill>
          <a:ln w="12700">
            <a:solidFill>
              <a:srgbClr val="1A8A7D"/>
            </a:solidFill>
            <a:prstDash val="solid"/>
          </a:ln>
        </p:spPr>
      </p:sp>
      <p:sp>
        <p:nvSpPr>
          <p:cNvPr id="14" name="Text 12"/>
          <p:cNvSpPr/>
          <p:nvPr/>
        </p:nvSpPr>
        <p:spPr>
          <a:xfrm>
            <a:off x="5760720" y="3749040"/>
            <a:ext cx="288036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a:t>
            </a:r>
            <a:endParaRPr lang="en-US" sz="900" dirty="0"/>
          </a:p>
        </p:txBody>
      </p:sp>
      <p:sp>
        <p:nvSpPr>
          <p:cNvPr id="15" name="Text 13"/>
          <p:cNvSpPr/>
          <p:nvPr/>
        </p:nvSpPr>
        <p:spPr>
          <a:xfrm>
            <a:off x="5760720" y="4023360"/>
            <a:ext cx="2880360" cy="68580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Pick ONE category: food / shelter / community. Find one thing that matches AND one thing that differs.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Find the Weak Evidence</a:t>
            </a:r>
            <a:endParaRPr lang="en-US" sz="2200" dirty="0"/>
          </a:p>
        </p:txBody>
      </p:sp>
      <p:sp>
        <p:nvSpPr>
          <p:cNvPr id="5" name="Shape 3"/>
          <p:cNvSpPr/>
          <p:nvPr/>
        </p:nvSpPr>
        <p:spPr>
          <a:xfrm>
            <a:off x="365760" y="1051560"/>
            <a:ext cx="8412480" cy="1463040"/>
          </a:xfrm>
          <a:prstGeom prst="roundRect">
            <a:avLst>
              <a:gd name="adj" fmla="val 9375"/>
            </a:avLst>
          </a:prstGeom>
          <a:solidFill>
            <a:srgbClr val="FFFFFF"/>
          </a:solidFill>
          <a:ln w="25400">
            <a:solidFill>
              <a:srgbClr val="E8636B"/>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SAMPLE STUDENT ANSWER (find what's weak):</a:t>
            </a:r>
            <a:endParaRPr lang="en-US" sz="1000" dirty="0"/>
          </a:p>
        </p:txBody>
      </p:sp>
      <p:sp>
        <p:nvSpPr>
          <p:cNvPr id="7" name="Text 5"/>
          <p:cNvSpPr/>
          <p:nvPr/>
        </p:nvSpPr>
        <p:spPr>
          <a:xfrm>
            <a:off x="594360" y="1444752"/>
            <a:ext cx="7955280" cy="914400"/>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"The Timucua and the Calusa were different. The Timucua had houses. The Calusa also had houses. One difference is that the Timucua lived in Florida and the Calusa also lived in Florida."</a:t>
            </a:r>
            <a:endParaRPr lang="en-US" sz="1300" dirty="0"/>
          </a:p>
        </p:txBody>
      </p:sp>
      <p:sp>
        <p:nvSpPr>
          <p:cNvPr id="8" name="Shape 6"/>
          <p:cNvSpPr/>
          <p:nvPr/>
        </p:nvSpPr>
        <p:spPr>
          <a:xfrm>
            <a:off x="365760" y="2651760"/>
            <a:ext cx="5029200" cy="2194560"/>
          </a:xfrm>
          <a:prstGeom prst="roundRect">
            <a:avLst>
              <a:gd name="adj" fmla="val 6250"/>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74320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999232"/>
            <a:ext cx="4663440" cy="17556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answer factually wrong — or just weak? What's the difference?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detail from the lesson is missing that would make this stronger?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student said both lived in Florida. Is that really a meaningful similarity? Why or why not?</a:t>
            </a:r>
            <a:endParaRPr lang="en-US" sz="1100" dirty="0"/>
          </a:p>
        </p:txBody>
      </p:sp>
      <p:sp>
        <p:nvSpPr>
          <p:cNvPr id="11" name="Shape 9"/>
          <p:cNvSpPr/>
          <p:nvPr/>
        </p:nvSpPr>
        <p:spPr>
          <a:xfrm>
            <a:off x="5577840" y="2651760"/>
            <a:ext cx="324612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715000" y="270662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907792"/>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answer is weak because it doesn't..."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similarity would be... because..."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Genuine Disagreement Welcome</a:t>
            </a:r>
            <a:endParaRPr lang="en-US" sz="2200" dirty="0"/>
          </a:p>
        </p:txBody>
      </p:sp>
      <p:sp>
        <p:nvSpPr>
          <p:cNvPr id="5" name="Shape 3"/>
          <p:cNvSpPr/>
          <p:nvPr/>
        </p:nvSpPr>
        <p:spPr>
          <a:xfrm>
            <a:off x="365760" y="1051560"/>
            <a:ext cx="8412480" cy="1143000"/>
          </a:xfrm>
          <a:prstGeom prst="roundRect">
            <a:avLst>
              <a:gd name="adj" fmla="val 12000"/>
            </a:avLst>
          </a:prstGeom>
          <a:solidFill>
            <a:srgbClr val="1A2D5A"/>
          </a:solidFill>
          <a:ln w="25400">
            <a:solidFill>
              <a:srgbClr val="8B6FC0"/>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8B6FC0"/>
                </a:solidFill>
                <a:latin typeface="Calibri" pitchFamily="34" charset="0"/>
                <a:ea typeface="Calibri" pitchFamily="34" charset="-122"/>
                <a:cs typeface="Calibri" pitchFamily="34" charset="-120"/>
              </a:rPr>
              <a:t>THE TRICKY ONE:</a:t>
            </a:r>
            <a:endParaRPr lang="en-US" sz="1000" dirty="0"/>
          </a:p>
        </p:txBody>
      </p:sp>
      <p:sp>
        <p:nvSpPr>
          <p:cNvPr id="7" name="Text 5"/>
          <p:cNvSpPr/>
          <p:nvPr/>
        </p:nvSpPr>
        <p:spPr>
          <a:xfrm>
            <a:off x="594360" y="1417320"/>
            <a:ext cx="7955280" cy="68580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"Two tribes lived in very different environments but made similar choices — both built strong communities with organized leadership. Does that prove geography determines culture, or could something else explain it?"</a:t>
            </a:r>
            <a:endParaRPr lang="en-US" sz="1300" dirty="0"/>
          </a:p>
        </p:txBody>
      </p:sp>
      <p:sp>
        <p:nvSpPr>
          <p:cNvPr id="8" name="Shape 6"/>
          <p:cNvSpPr/>
          <p:nvPr/>
        </p:nvSpPr>
        <p:spPr>
          <a:xfrm>
            <a:off x="365760" y="2331720"/>
            <a:ext cx="5029200" cy="2514600"/>
          </a:xfrm>
          <a:prstGeom prst="roundRect">
            <a:avLst>
              <a:gd name="adj" fmla="val 545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2316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679192"/>
            <a:ext cx="4663440" cy="2075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supports: 'geography determines culture'?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challenges that claim?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both be true? Is that a valid answer in history?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a Timucua elder say? What would a Calusa leader say?</a:t>
            </a:r>
            <a:endParaRPr lang="en-US" sz="1100" dirty="0"/>
          </a:p>
        </p:txBody>
      </p:sp>
      <p:sp>
        <p:nvSpPr>
          <p:cNvPr id="11" name="Shape 9"/>
          <p:cNvSpPr/>
          <p:nvPr/>
        </p:nvSpPr>
        <p:spPr>
          <a:xfrm>
            <a:off x="5577840" y="2331720"/>
            <a:ext cx="3246120" cy="1828800"/>
          </a:xfrm>
          <a:prstGeom prst="roundRect">
            <a:avLst>
              <a:gd name="adj" fmla="val 6000"/>
            </a:avLst>
          </a:prstGeom>
          <a:solidFill>
            <a:srgbClr val="FFF3DC"/>
          </a:solidFill>
          <a:ln w="19050">
            <a:solidFill>
              <a:srgbClr val="F5E6C8"/>
            </a:solidFill>
            <a:prstDash val="solid"/>
          </a:ln>
        </p:spPr>
      </p:sp>
      <p:sp>
        <p:nvSpPr>
          <p:cNvPr id="12" name="Text 10"/>
          <p:cNvSpPr/>
          <p:nvPr/>
        </p:nvSpPr>
        <p:spPr>
          <a:xfrm>
            <a:off x="5715000" y="238658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587752"/>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geography explains... but it doesn't explain...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"Reasonable people could disagree here because..."</a:t>
            </a:r>
            <a:endParaRPr lang="en-US" sz="1200" dirty="0"/>
          </a:p>
        </p:txBody>
      </p:sp>
      <p:sp>
        <p:nvSpPr>
          <p:cNvPr id="14" name="Shape 12"/>
          <p:cNvSpPr/>
          <p:nvPr/>
        </p:nvSpPr>
        <p:spPr>
          <a:xfrm>
            <a:off x="5577840" y="4251960"/>
            <a:ext cx="3246120" cy="594360"/>
          </a:xfrm>
          <a:prstGeom prst="roundRect">
            <a:avLst>
              <a:gd name="adj" fmla="val 15385"/>
            </a:avLst>
          </a:prstGeom>
          <a:solidFill>
            <a:srgbClr val="FFF3DC"/>
          </a:solidFill>
          <a:ln w="12700">
            <a:solidFill>
              <a:srgbClr val="D4943A"/>
            </a:solidFill>
            <a:prstDash val="solid"/>
          </a:ln>
        </p:spPr>
      </p:sp>
      <p:sp>
        <p:nvSpPr>
          <p:cNvPr id="15" name="Text 13"/>
          <p:cNvSpPr/>
          <p:nvPr/>
        </p:nvSpPr>
        <p:spPr>
          <a:xfrm>
            <a:off x="5760720" y="4325112"/>
            <a:ext cx="2880360" cy="457200"/>
          </a:xfrm>
          <a:prstGeom prst="rect">
            <a:avLst/>
          </a:prstGeom>
          <a:noFill/>
          <a:ln/>
        </p:spPr>
        <p:txBody>
          <a:bodyPr wrap="square" rtlCol="0" anchor="ctr"/>
          <a:lstStyle/>
          <a:p>
            <a:pPr indent="0" marL="0">
              <a:buNone/>
            </a:pPr>
            <a:r>
              <a:rPr lang="en-US" sz="1000" i="1" dirty="0">
                <a:solidFill>
                  <a:srgbClr val="5A4A3A"/>
                </a:solidFill>
                <a:latin typeface="Calibri" pitchFamily="34" charset="0"/>
                <a:ea typeface="Calibri" pitchFamily="34" charset="-122"/>
                <a:cs typeface="Calibri" pitchFamily="34" charset="-120"/>
              </a:rPr>
              <a:t>This question has no single correct answer. That's the point. Defend a position.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Quick Questions — Cover Your Notes</a:t>
            </a:r>
            <a:endParaRPr lang="en-US" sz="2200" dirty="0"/>
          </a:p>
        </p:txBody>
      </p:sp>
      <p:sp>
        <p:nvSpPr>
          <p:cNvPr id="5" name="Shape 3"/>
          <p:cNvSpPr/>
          <p:nvPr/>
        </p:nvSpPr>
        <p:spPr>
          <a:xfrm>
            <a:off x="365760" y="1097280"/>
            <a:ext cx="8412480" cy="1097280"/>
          </a:xfrm>
          <a:prstGeom prst="roundRect">
            <a:avLst>
              <a:gd name="adj" fmla="val 10000"/>
            </a:avLst>
          </a:prstGeom>
          <a:solidFill>
            <a:srgbClr val="FFFFFF"/>
          </a:solidFill>
          <a:ln w="12700">
            <a:solidFill>
              <a:srgbClr val="B0B8CC"/>
            </a:solidFill>
            <a:prstDash val="solid"/>
          </a:ln>
        </p:spPr>
      </p:sp>
      <p:sp>
        <p:nvSpPr>
          <p:cNvPr id="6" name="Shape 4"/>
          <p:cNvSpPr/>
          <p:nvPr/>
        </p:nvSpPr>
        <p:spPr>
          <a:xfrm>
            <a:off x="502920" y="1188720"/>
            <a:ext cx="457200" cy="457200"/>
          </a:xfrm>
          <a:prstGeom prst="roundRect">
            <a:avLst>
              <a:gd name="adj" fmla="val 20000"/>
            </a:avLst>
          </a:prstGeom>
          <a:solidFill>
            <a:srgbClr val="0E1C42"/>
          </a:solidFill>
          <a:ln w="12700">
            <a:solidFill>
              <a:srgbClr val="0E1C42"/>
            </a:solidFill>
            <a:prstDash val="solid"/>
          </a:ln>
        </p:spPr>
      </p:sp>
      <p:sp>
        <p:nvSpPr>
          <p:cNvPr id="7" name="Text 5"/>
          <p:cNvSpPr/>
          <p:nvPr/>
        </p:nvSpPr>
        <p:spPr>
          <a:xfrm>
            <a:off x="502920" y="123444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170432"/>
            <a:ext cx="740664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Which sentence best compares Timucua and Calusa food?</a:t>
            </a:r>
            <a:endParaRPr lang="en-US" sz="1200" dirty="0"/>
          </a:p>
        </p:txBody>
      </p:sp>
      <p:sp>
        <p:nvSpPr>
          <p:cNvPr id="9" name="Text 7"/>
          <p:cNvSpPr/>
          <p:nvPr/>
        </p:nvSpPr>
        <p:spPr>
          <a:xfrm>
            <a:off x="1097280" y="1536192"/>
            <a:ext cx="7406640" cy="5486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The Timucua hunted, fished, and farmed; the Calusa relied mostly on the sea.</a:t>
            </a:r>
            <a:endParaRPr lang="en-US" sz="1100" dirty="0"/>
          </a:p>
        </p:txBody>
      </p:sp>
      <p:sp>
        <p:nvSpPr>
          <p:cNvPr id="10" name="Shape 8"/>
          <p:cNvSpPr/>
          <p:nvPr/>
        </p:nvSpPr>
        <p:spPr>
          <a:xfrm>
            <a:off x="365760" y="2286000"/>
            <a:ext cx="8412480" cy="1097280"/>
          </a:xfrm>
          <a:prstGeom prst="roundRect">
            <a:avLst>
              <a:gd name="adj" fmla="val 10000"/>
            </a:avLst>
          </a:prstGeom>
          <a:solidFill>
            <a:srgbClr val="FFFFFF"/>
          </a:solidFill>
          <a:ln w="12700">
            <a:solidFill>
              <a:srgbClr val="B0B8CC"/>
            </a:solidFill>
            <a:prstDash val="solid"/>
          </a:ln>
        </p:spPr>
      </p:sp>
      <p:sp>
        <p:nvSpPr>
          <p:cNvPr id="11" name="Shape 9"/>
          <p:cNvSpPr/>
          <p:nvPr/>
        </p:nvSpPr>
        <p:spPr>
          <a:xfrm>
            <a:off x="502920" y="2377440"/>
            <a:ext cx="457200" cy="457200"/>
          </a:xfrm>
          <a:prstGeom prst="roundRect">
            <a:avLst>
              <a:gd name="adj" fmla="val 20000"/>
            </a:avLst>
          </a:prstGeom>
          <a:solidFill>
            <a:srgbClr val="0E1C42"/>
          </a:solidFill>
          <a:ln w="12700">
            <a:solidFill>
              <a:srgbClr val="0E1C42"/>
            </a:solidFill>
            <a:prstDash val="solid"/>
          </a:ln>
        </p:spPr>
      </p:sp>
      <p:sp>
        <p:nvSpPr>
          <p:cNvPr id="12" name="Text 10"/>
          <p:cNvSpPr/>
          <p:nvPr/>
        </p:nvSpPr>
        <p:spPr>
          <a:xfrm>
            <a:off x="502920" y="242316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097280" y="2359152"/>
            <a:ext cx="740664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Why do historians treat the de Bry engraving carefully?</a:t>
            </a:r>
            <a:endParaRPr lang="en-US" sz="1200" dirty="0"/>
          </a:p>
        </p:txBody>
      </p:sp>
      <p:sp>
        <p:nvSpPr>
          <p:cNvPr id="14" name="Text 12"/>
          <p:cNvSpPr/>
          <p:nvPr/>
        </p:nvSpPr>
        <p:spPr>
          <a:xfrm>
            <a:off x="1097280" y="2724912"/>
            <a:ext cx="7406640" cy="5486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The European engraver had never been to Florida and may have changed details.</a:t>
            </a:r>
            <a:endParaRPr lang="en-US" sz="1100" dirty="0"/>
          </a:p>
        </p:txBody>
      </p:sp>
      <p:sp>
        <p:nvSpPr>
          <p:cNvPr id="15" name="Shape 13"/>
          <p:cNvSpPr/>
          <p:nvPr/>
        </p:nvSpPr>
        <p:spPr>
          <a:xfrm>
            <a:off x="365760" y="3474720"/>
            <a:ext cx="8412480" cy="1097280"/>
          </a:xfrm>
          <a:prstGeom prst="roundRect">
            <a:avLst>
              <a:gd name="adj" fmla="val 10000"/>
            </a:avLst>
          </a:prstGeom>
          <a:solidFill>
            <a:srgbClr val="FFFFFF"/>
          </a:solidFill>
          <a:ln w="12700">
            <a:solidFill>
              <a:srgbClr val="B0B8CC"/>
            </a:solidFill>
            <a:prstDash val="solid"/>
          </a:ln>
        </p:spPr>
      </p:sp>
      <p:sp>
        <p:nvSpPr>
          <p:cNvPr id="16" name="Shape 14"/>
          <p:cNvSpPr/>
          <p:nvPr/>
        </p:nvSpPr>
        <p:spPr>
          <a:xfrm>
            <a:off x="502920" y="3566160"/>
            <a:ext cx="457200" cy="457200"/>
          </a:xfrm>
          <a:prstGeom prst="roundRect">
            <a:avLst>
              <a:gd name="adj" fmla="val 20000"/>
            </a:avLst>
          </a:prstGeom>
          <a:solidFill>
            <a:srgbClr val="0E1C42"/>
          </a:solidFill>
          <a:ln w="12700">
            <a:solidFill>
              <a:srgbClr val="0E1C42"/>
            </a:solidFill>
            <a:prstDash val="solid"/>
          </a:ln>
        </p:spPr>
      </p:sp>
      <p:sp>
        <p:nvSpPr>
          <p:cNvPr id="17" name="Text 15"/>
          <p:cNvSpPr/>
          <p:nvPr/>
        </p:nvSpPr>
        <p:spPr>
          <a:xfrm>
            <a:off x="502920" y="361188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97280" y="3547872"/>
            <a:ext cx="740664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does studying another community with courtesy look like?</a:t>
            </a:r>
            <a:endParaRPr lang="en-US" sz="1200" dirty="0"/>
          </a:p>
        </p:txBody>
      </p:sp>
      <p:sp>
        <p:nvSpPr>
          <p:cNvPr id="19" name="Text 17"/>
          <p:cNvSpPr/>
          <p:nvPr/>
        </p:nvSpPr>
        <p:spPr>
          <a:xfrm>
            <a:off x="1097280" y="3913632"/>
            <a:ext cx="7406640" cy="5486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Using each people's real name, taking their choices seriously, not lumping groups together.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ASSIGNMENT</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Source Study Report</a:t>
            </a:r>
            <a:endParaRPr lang="en-US" sz="2200" dirty="0"/>
          </a:p>
        </p:txBody>
      </p:sp>
      <p:sp>
        <p:nvSpPr>
          <p:cNvPr id="6" name="Shape 4"/>
          <p:cNvSpPr/>
          <p:nvPr/>
        </p:nvSpPr>
        <p:spPr>
          <a:xfrm>
            <a:off x="365760" y="1097280"/>
            <a:ext cx="8412480" cy="685800"/>
          </a:xfrm>
          <a:prstGeom prst="roundRect">
            <a:avLst>
              <a:gd name="adj" fmla="val 13333"/>
            </a:avLst>
          </a:prstGeom>
          <a:solidFill>
            <a:srgbClr val="FFFFFF"/>
          </a:solidFill>
          <a:ln w="19050">
            <a:solidFill>
              <a:srgbClr val="D4943A"/>
            </a:solidFill>
            <a:prstDash val="solid"/>
          </a:ln>
        </p:spPr>
      </p:sp>
      <p:sp>
        <p:nvSpPr>
          <p:cNvPr id="7" name="Text 5"/>
          <p:cNvSpPr/>
          <p:nvPr/>
        </p:nvSpPr>
        <p:spPr>
          <a:xfrm>
            <a:off x="594360" y="1188720"/>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 Use the de Bry engraving as evidence. What is one thing it tells you about how the Timucua lived?</a:t>
            </a:r>
            <a:endParaRPr lang="en-US" sz="1200" dirty="0"/>
          </a:p>
        </p:txBody>
      </p:sp>
      <p:sp>
        <p:nvSpPr>
          <p:cNvPr id="8" name="Shape 6"/>
          <p:cNvSpPr/>
          <p:nvPr/>
        </p:nvSpPr>
        <p:spPr>
          <a:xfrm>
            <a:off x="365760" y="1847088"/>
            <a:ext cx="8412480" cy="685800"/>
          </a:xfrm>
          <a:prstGeom prst="roundRect">
            <a:avLst>
              <a:gd name="adj" fmla="val 13333"/>
            </a:avLst>
          </a:prstGeom>
          <a:solidFill>
            <a:srgbClr val="FFFFFF"/>
          </a:solidFill>
          <a:ln w="19050">
            <a:solidFill>
              <a:srgbClr val="D4943A"/>
            </a:solidFill>
            <a:prstDash val="solid"/>
          </a:ln>
        </p:spPr>
      </p:sp>
      <p:sp>
        <p:nvSpPr>
          <p:cNvPr id="9" name="Text 7"/>
          <p:cNvSpPr/>
          <p:nvPr/>
        </p:nvSpPr>
        <p:spPr>
          <a:xfrm>
            <a:off x="594360" y="1938528"/>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2. Name one big similarity and one big difference between the Timucua and the Calusa.</a:t>
            </a:r>
            <a:endParaRPr lang="en-US" sz="1200" dirty="0"/>
          </a:p>
        </p:txBody>
      </p:sp>
      <p:sp>
        <p:nvSpPr>
          <p:cNvPr id="10" name="Shape 8"/>
          <p:cNvSpPr/>
          <p:nvPr/>
        </p:nvSpPr>
        <p:spPr>
          <a:xfrm>
            <a:off x="365760" y="2596896"/>
            <a:ext cx="8412480" cy="685800"/>
          </a:xfrm>
          <a:prstGeom prst="roundRect">
            <a:avLst>
              <a:gd name="adj" fmla="val 13333"/>
            </a:avLst>
          </a:prstGeom>
          <a:solidFill>
            <a:srgbClr val="FFFFFF"/>
          </a:solidFill>
          <a:ln w="19050">
            <a:solidFill>
              <a:srgbClr val="D4943A"/>
            </a:solidFill>
            <a:prstDash val="solid"/>
          </a:ln>
        </p:spPr>
      </p:sp>
      <p:sp>
        <p:nvSpPr>
          <p:cNvPr id="11" name="Text 9"/>
          <p:cNvSpPr/>
          <p:nvPr/>
        </p:nvSpPr>
        <p:spPr>
          <a:xfrm>
            <a:off x="594360" y="2688336"/>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3. What is one thing the de Bry engraving does not show — but would help us understand the Timucua better?</a:t>
            </a:r>
            <a:endParaRPr lang="en-US" sz="1200" dirty="0"/>
          </a:p>
        </p:txBody>
      </p:sp>
      <p:sp>
        <p:nvSpPr>
          <p:cNvPr id="12" name="Shape 10"/>
          <p:cNvSpPr/>
          <p:nvPr/>
        </p:nvSpPr>
        <p:spPr>
          <a:xfrm>
            <a:off x="365760" y="3383280"/>
            <a:ext cx="8412480" cy="960120"/>
          </a:xfrm>
          <a:prstGeom prst="roundRect">
            <a:avLst>
              <a:gd name="adj" fmla="val 11429"/>
            </a:avLst>
          </a:prstGeom>
          <a:solidFill>
            <a:srgbClr val="FFF3DC"/>
          </a:solidFill>
          <a:ln w="19050">
            <a:solidFill>
              <a:srgbClr val="D4943A"/>
            </a:solidFill>
            <a:prstDash val="solid"/>
          </a:ln>
        </p:spPr>
      </p:sp>
      <p:sp>
        <p:nvSpPr>
          <p:cNvPr id="13" name="Text 11"/>
          <p:cNvSpPr/>
          <p:nvPr/>
        </p:nvSpPr>
        <p:spPr>
          <a:xfrm>
            <a:off x="594360" y="3474720"/>
            <a:ext cx="795528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 Source Study Report:</a:t>
            </a:r>
            <a:endParaRPr lang="en-US" sz="1000" dirty="0"/>
          </a:p>
        </p:txBody>
      </p:sp>
      <p:sp>
        <p:nvSpPr>
          <p:cNvPr id="14" name="Text 12"/>
          <p:cNvSpPr/>
          <p:nvPr/>
        </p:nvSpPr>
        <p:spPr>
          <a:xfrm>
            <a:off x="594360" y="3749040"/>
            <a:ext cx="7955280" cy="50292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4–5 sentences: (1) one similarity, (2) one clear difference, (3) one specific detail from the de Bry engraving, (4) one honest note about what we still don't know from these sources alone.</a:t>
            </a:r>
            <a:endParaRPr lang="en-US" sz="1100" dirty="0"/>
          </a:p>
        </p:txBody>
      </p:sp>
      <p:sp>
        <p:nvSpPr>
          <p:cNvPr id="15" name="Shape 13"/>
          <p:cNvSpPr/>
          <p:nvPr/>
        </p:nvSpPr>
        <p:spPr>
          <a:xfrm>
            <a:off x="365760" y="4434840"/>
            <a:ext cx="8412480" cy="411480"/>
          </a:xfrm>
          <a:prstGeom prst="roundRect">
            <a:avLst>
              <a:gd name="adj" fmla="val 22222"/>
            </a:avLst>
          </a:prstGeom>
          <a:solidFill>
            <a:srgbClr val="E2F4F0"/>
          </a:solidFill>
          <a:ln w="12700">
            <a:solidFill>
              <a:srgbClr val="1A8A7D"/>
            </a:solidFill>
            <a:prstDash val="solid"/>
          </a:ln>
        </p:spPr>
      </p:sp>
      <p:sp>
        <p:nvSpPr>
          <p:cNvPr id="16" name="Text 14"/>
          <p:cNvSpPr/>
          <p:nvPr/>
        </p:nvSpPr>
        <p:spPr>
          <a:xfrm>
            <a:off x="594360" y="4480560"/>
            <a:ext cx="7955280" cy="3200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Historian's Sentence: 'Today I learned that ______ because ______.'</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548640"/>
            <a:ext cx="8229600" cy="365760"/>
          </a:xfrm>
          <a:prstGeom prst="rect">
            <a:avLst/>
          </a:prstGeom>
          <a:noFill/>
          <a:ln/>
        </p:spPr>
        <p:txBody>
          <a:bodyPr wrap="square" rtlCol="0" anchor="ctr"/>
          <a:lstStyle/>
          <a:p>
            <a:pPr algn="ctr" indent="0" marL="0">
              <a:buNone/>
            </a:pPr>
            <a:r>
              <a:rPr lang="en-US" sz="1400" b="1" spc="300" kern="0" dirty="0">
                <a:solidFill>
                  <a:srgbClr val="D4943A"/>
                </a:solidFill>
                <a:latin typeface="Calibri" pitchFamily="34" charset="0"/>
                <a:ea typeface="Calibri" pitchFamily="34" charset="-122"/>
                <a:cs typeface="Calibri" pitchFamily="34" charset="-120"/>
              </a:rPr>
              <a:t>FILE UNLOCKED</a:t>
            </a:r>
            <a:endParaRPr lang="en-US" sz="1400" dirty="0"/>
          </a:p>
        </p:txBody>
      </p:sp>
      <p:sp>
        <p:nvSpPr>
          <p:cNvPr id="6" name="Text 3"/>
          <p:cNvSpPr/>
          <p:nvPr/>
        </p:nvSpPr>
        <p:spPr>
          <a:xfrm>
            <a:off x="457200" y="1005840"/>
            <a:ext cx="8229600" cy="12801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Great Work,</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Florida Historian.</a:t>
            </a:r>
            <a:endParaRPr lang="en-US" sz="4000" dirty="0"/>
          </a:p>
        </p:txBody>
      </p:sp>
      <p:sp>
        <p:nvSpPr>
          <p:cNvPr id="7" name="Shape 4"/>
          <p:cNvSpPr/>
          <p:nvPr/>
        </p:nvSpPr>
        <p:spPr>
          <a:xfrm>
            <a:off x="914400" y="2423160"/>
            <a:ext cx="7315200" cy="1188720"/>
          </a:xfrm>
          <a:prstGeom prst="roundRect">
            <a:avLst>
              <a:gd name="adj" fmla="val 13846"/>
            </a:avLst>
          </a:prstGeom>
          <a:solidFill>
            <a:srgbClr val="1A2D5A">
              <a:alpha val="85000"/>
            </a:srgbClr>
          </a:solidFill>
          <a:ln w="19050">
            <a:solidFill>
              <a:srgbClr val="55C8E8"/>
            </a:solidFill>
            <a:prstDash val="solid"/>
          </a:ln>
        </p:spPr>
      </p:sp>
      <p:sp>
        <p:nvSpPr>
          <p:cNvPr id="8" name="Text 5"/>
          <p:cNvSpPr/>
          <p:nvPr/>
        </p:nvSpPr>
        <p:spPr>
          <a:xfrm>
            <a:off x="1143000" y="2542032"/>
            <a:ext cx="6858000" cy="96012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Comparing groups helps historians notice similarities and differences without treating cultures as all the same. You looked at real evidence, named what each people chose and why, and used sources carefully. That is the Florida historian's standard.</a:t>
            </a:r>
            <a:endParaRPr lang="en-US" sz="1300" dirty="0"/>
          </a:p>
        </p:txBody>
      </p:sp>
      <p:sp>
        <p:nvSpPr>
          <p:cNvPr id="9" name="Text 6"/>
          <p:cNvSpPr/>
          <p:nvPr/>
        </p:nvSpPr>
        <p:spPr>
          <a:xfrm>
            <a:off x="914400" y="3749040"/>
            <a:ext cx="7315200" cy="256032"/>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COMING UP NEXT:</a:t>
            </a:r>
            <a:endParaRPr lang="en-US" sz="1100" dirty="0"/>
          </a:p>
        </p:txBody>
      </p:sp>
      <p:sp>
        <p:nvSpPr>
          <p:cNvPr id="10" name="Text 7"/>
          <p:cNvSpPr/>
          <p:nvPr/>
        </p:nvSpPr>
        <p:spPr>
          <a:xfrm>
            <a:off x="914400" y="4023360"/>
            <a:ext cx="7315200" cy="411480"/>
          </a:xfrm>
          <a:prstGeom prst="rect">
            <a:avLst/>
          </a:prstGeom>
          <a:noFill/>
          <a:ln/>
        </p:spPr>
        <p:txBody>
          <a:bodyPr wrap="square" rtlCol="0" anchor="ctr"/>
          <a:lstStyle/>
          <a:p>
            <a:pPr algn="ctr" indent="0" marL="0">
              <a:buNone/>
            </a:pPr>
            <a:r>
              <a:rPr lang="en-US" sz="1400" i="1" dirty="0">
                <a:solidFill>
                  <a:srgbClr val="F0F2F8"/>
                </a:solidFill>
                <a:latin typeface="Cambria" pitchFamily="34" charset="0"/>
                <a:ea typeface="Cambria" pitchFamily="34" charset="-122"/>
                <a:cs typeface="Cambria" pitchFamily="34" charset="-120"/>
              </a:rPr>
              <a:t>Lesson 4.03.03 — Food, shelter, tools, and the resources Florida's first peoples used every day.</a:t>
            </a:r>
            <a:endParaRPr lang="en-US" sz="1400" dirty="0"/>
          </a:p>
        </p:txBody>
      </p:sp>
      <p:sp>
        <p:nvSpPr>
          <p:cNvPr id="11" name="Text 8"/>
          <p:cNvSpPr/>
          <p:nvPr/>
        </p:nvSpPr>
        <p:spPr>
          <a:xfrm>
            <a:off x="914400" y="4526280"/>
            <a:ext cx="7315200" cy="320040"/>
          </a:xfrm>
          <a:prstGeom prst="rect">
            <a:avLst/>
          </a:prstGeom>
          <a:noFill/>
          <a:ln/>
        </p:spPr>
        <p:txBody>
          <a:bodyPr wrap="square"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Remember to copy/download your answers and submit to Canvas!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2026-07-13T20:42:45Z</dcterms:created>
  <dcterms:modified xsi:type="dcterms:W3CDTF">2026-07-13T20:42:45Z</dcterms:modified>
</cp:coreProperties>
</file>