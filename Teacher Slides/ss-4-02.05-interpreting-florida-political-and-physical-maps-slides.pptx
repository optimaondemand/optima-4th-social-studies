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map split-screen: left side political (borders, cities), right side physical (coastlines, rivers, Everglades) — saturated blues and greens, dramatic cartographic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read the teacher message aloud dramatically. 'Someone's in trouble and they need our help — the two map layers are scrambled and only we can sort them.' Set the stakes: the file stays locked until we can read both maps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path preview — 60 seconds. Point to each step, build anticipation. 'We're going to work like geographers today — two sources, two layers, one bigger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silence first. Do NOT explain the map — let students look. Then open the chat: 'Type one thing you notice. Just one thing. Then tell me why it caught your eye.' Collect 3-4 responses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confirm or deny yet. Keep asking 'How do you know?' and 'What's your evidence?' Let students build the definition from observation before you name it. Target: 2-3 minutes of student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'That's exactly what you figured out from the map.' Frame it as their discovery. Then do the retrieval — cover the screen, name three. Check answers as a class.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another 5 seconds of silence. Students should notice immediately: no city names, no county lines, but rivers and coasts have much more detail. Ask: 'What DID nature put here that people couldn't decide?' Build toward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reliability question is intentionally Grade 4 hard. Neither map is MORE true — they show different kinds of truth. If students land on that idea on their own, celebrate it. Do not rush to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it: 'Physical maps show what nature put there — before any human made a decision.' Retrieval: give 30 seconds of quiet think time, then open chat. Collect 3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both maps of the same Tampa Bay area. Ask: 'Why is Tampa where it is? Can Source A alone answer that?' The political map shows the city; the physical map shows the natural harbor. Only together do they explain WHY the city is there. This is the key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reliability + perspective layer. Push students past 'both are useful' — ask them to commit to one use case and defend it. 'What would change your mind?' is a strong follow-up if they're hedging.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pattern: this applies beyond Florida. Next time students see any map — geography, history, science — they'll ask 'what's the partner map?' Frame it as a thinking tool, not a Florida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illustration of two maps side by side on a desk, warm lamp light, pencil, open notebook — patient, careful study scene.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90 seconds max. Your job is to model the thinking pattern, not to explain everything. Move quickly to the student practice steps. The worked example should feel like a quick demonstration,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choose a place and fill in the four-part scaffold. Then share out. For each response, ask the class: 'Is their evidence strong enough?' Do not evaluate yourself — hold back and let students evaluate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response is intentionally weak — it lists two features but doesn't explain what BOTH layers together help you understand. Students should find the gap and name it. Do not tell them what's wrong — ask 'what's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Both are defensible. Political map: you need roads, cities, routes. Physical map: you need terrain, coasts, elevation for driving conditions. The goal is for students to commit to a position AND acknowledge the cost of their choice. If anyone says 'both,' push: 'But you only have ONE.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questions, hide the answers (cover or pause), let students type their answers in chat, THEN reveal. Celebrate correct answers warmly. For any misses: re-explain briefly — 30 seconds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Point out that Q2 is exactly what we practiced on Slides 15-16. For Q3, remind them of the Virtue Spotlight on Slide 13 — courtesy means giving each map its turn. Walk through the turn-in process.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Both Florida maps side by side — political layer dissolving into physical layer — dramatic visual showing the two maps as partners, rich blues and greens, cartographic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200400"/>
            <a:ext cx="9144000" cy="1943100"/>
          </a:xfrm>
          <a:prstGeom prst="rect">
            <a:avLst/>
          </a:prstGeom>
          <a:solidFill>
            <a:srgbClr val="0B1835">
              <a:alpha val="80000"/>
            </a:srgbClr>
          </a:solidFill>
          <a:ln w="12700">
            <a:solidFill>
              <a:srgbClr val="0B1835"/>
            </a:solidFill>
            <a:prstDash val="solid"/>
          </a:ln>
        </p:spPr>
      </p:sp>
      <p:sp>
        <p:nvSpPr>
          <p:cNvPr id="6" name="Text 3"/>
          <p:cNvSpPr/>
          <p:nvPr/>
        </p:nvSpPr>
        <p:spPr>
          <a:xfrm>
            <a:off x="457200" y="502920"/>
            <a:ext cx="8229600" cy="274320"/>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LESSON 4.02.05  ·  FLORIDA FILES</a:t>
            </a:r>
            <a:endParaRPr lang="en-US" sz="1000" dirty="0"/>
          </a:p>
        </p:txBody>
      </p:sp>
      <p:sp>
        <p:nvSpPr>
          <p:cNvPr id="7" name="Text 4"/>
          <p:cNvSpPr/>
          <p:nvPr/>
        </p:nvSpPr>
        <p:spPr>
          <a:xfrm>
            <a:off x="457200" y="822960"/>
            <a:ext cx="8229600" cy="15544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Interpreting Florida</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Political and Physical Maps</a:t>
            </a:r>
            <a:endParaRPr lang="en-US" sz="3600" dirty="0"/>
          </a:p>
        </p:txBody>
      </p:sp>
      <p:sp>
        <p:nvSpPr>
          <p:cNvPr id="8" name="Shape 5"/>
          <p:cNvSpPr/>
          <p:nvPr/>
        </p:nvSpPr>
        <p:spPr>
          <a:xfrm>
            <a:off x="457200" y="2468880"/>
            <a:ext cx="1645920" cy="36576"/>
          </a:xfrm>
          <a:prstGeom prst="rect">
            <a:avLst/>
          </a:prstGeom>
          <a:solidFill>
            <a:srgbClr val="D4943A"/>
          </a:solidFill>
          <a:ln w="12700">
            <a:solidFill>
              <a:srgbClr val="D4943A"/>
            </a:solidFill>
            <a:prstDash val="solid"/>
          </a:ln>
        </p:spPr>
      </p:sp>
      <p:sp>
        <p:nvSpPr>
          <p:cNvPr id="9" name="Text 6"/>
          <p:cNvSpPr/>
          <p:nvPr/>
        </p:nvSpPr>
        <p:spPr>
          <a:xfrm>
            <a:off x="457200" y="2578608"/>
            <a:ext cx="8229600" cy="201168"/>
          </a:xfrm>
          <a:prstGeom prst="rect">
            <a:avLst/>
          </a:prstGeom>
          <a:noFill/>
          <a:ln/>
        </p:spPr>
        <p:txBody>
          <a:bodyPr wrap="square" lIns="0" tIns="0" rIns="0" bIns="0" rtlCol="0" anchor="ctr"/>
          <a:lstStyle/>
          <a:p>
            <a:pPr algn="l" indent="0" marL="0">
              <a:buNone/>
            </a:pPr>
            <a:r>
              <a:rPr lang="en-US" sz="900" b="1" spc="150" kern="0" dirty="0">
                <a:solidFill>
                  <a:srgbClr val="D4943A"/>
                </a:solidFill>
                <a:latin typeface="Calibri" pitchFamily="34" charset="0"/>
                <a:ea typeface="Calibri" pitchFamily="34" charset="-122"/>
                <a:cs typeface="Calibri" pitchFamily="34" charset="-120"/>
              </a:rPr>
              <a:t>BIG QUESTION</a:t>
            </a:r>
            <a:endParaRPr lang="en-US" sz="900" dirty="0"/>
          </a:p>
        </p:txBody>
      </p:sp>
      <p:sp>
        <p:nvSpPr>
          <p:cNvPr id="10" name="Text 7"/>
          <p:cNvSpPr/>
          <p:nvPr/>
        </p:nvSpPr>
        <p:spPr>
          <a:xfrm>
            <a:off x="457200" y="2816352"/>
            <a:ext cx="8229600" cy="640080"/>
          </a:xfrm>
          <a:prstGeom prst="rect">
            <a:avLst/>
          </a:prstGeom>
          <a:noFill/>
          <a:ln/>
        </p:spPr>
        <p:txBody>
          <a:bodyPr wrap="square" lIns="0" tIns="0" rIns="0" bIns="0" rtlCol="0" anchor="ctr"/>
          <a:lstStyle/>
          <a:p>
            <a:pPr algn="l" indent="0" marL="0">
              <a:buNone/>
            </a:pPr>
            <a:r>
              <a:rPr lang="en-US" sz="1600" i="1" dirty="0">
                <a:solidFill>
                  <a:srgbClr val="FFFFFF"/>
                </a:solidFill>
                <a:latin typeface="Cambria" pitchFamily="34" charset="0"/>
                <a:ea typeface="Cambria" pitchFamily="34" charset="-122"/>
                <a:cs typeface="Cambria" pitchFamily="34" charset="-120"/>
              </a:rPr>
              <a:t>How do two kinds of Florida maps work together to tell a bigger story than either one can tell alone?</a:t>
            </a:r>
            <a:endParaRPr lang="en-US" sz="1600" dirty="0"/>
          </a:p>
        </p:txBody>
      </p:sp>
      <p:sp>
        <p:nvSpPr>
          <p:cNvPr id="11" name="Text 8"/>
          <p:cNvSpPr/>
          <p:nvPr/>
        </p:nvSpPr>
        <p:spPr>
          <a:xfrm>
            <a:off x="457200" y="4709160"/>
            <a:ext cx="8229600" cy="274320"/>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Grade 4 Social Studies  ·  Unit 2  ·  Week 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5" name="Shape 3"/>
          <p:cNvSpPr/>
          <p:nvPr/>
        </p:nvSpPr>
        <p:spPr>
          <a:xfrm>
            <a:off x="457200" y="685800"/>
            <a:ext cx="8229600" cy="2377440"/>
          </a:xfrm>
          <a:prstGeom prst="roundRect">
            <a:avLst>
              <a:gd name="adj" fmla="val 5769"/>
            </a:avLst>
          </a:prstGeom>
          <a:solidFill>
            <a:srgbClr val="1A2D5A"/>
          </a:solidFill>
          <a:ln w="19050">
            <a:solidFill>
              <a:srgbClr val="3A5080"/>
            </a:solidFill>
            <a:prstDash val="solid"/>
          </a:ln>
        </p:spPr>
      </p:sp>
      <p:sp>
        <p:nvSpPr>
          <p:cNvPr id="6" name="Text 4"/>
          <p:cNvSpPr/>
          <p:nvPr/>
        </p:nvSpPr>
        <p:spPr>
          <a:xfrm>
            <a:off x="685800" y="868680"/>
            <a:ext cx="7772400" cy="201168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Canvas has blended two map types together on my screen and I can't separate them — the political layer and the physical layer are all mixed up. I need your help figuring out which features belong to each kind of map. The file stays locked until we can tell them apart.</a:t>
            </a:r>
            <a:endParaRPr lang="en-US" sz="1400" dirty="0"/>
          </a:p>
          <a:p>
            <a:pPr indent="0" marL="0">
              <a:buNone/>
            </a:pPr>
            <a:endParaRPr lang="en-US" sz="1400" dirty="0"/>
          </a:p>
          <a:p>
            <a:pPr indent="0" marL="0">
              <a:buNone/>
            </a:pPr>
            <a:r>
              <a:rPr lang="en-US" sz="1400" i="1" dirty="0">
                <a:solidFill>
                  <a:srgbClr val="FFFFFF"/>
                </a:solidFill>
                <a:latin typeface="Cambria" pitchFamily="34" charset="0"/>
                <a:ea typeface="Cambria" pitchFamily="34" charset="-122"/>
                <a:cs typeface="Cambria" pitchFamily="34" charset="-120"/>
              </a:rPr>
              <a:t>— Your teacher, still inside Module 2</a:t>
            </a:r>
            <a:endParaRPr lang="en-US" sz="1400" dirty="0"/>
          </a:p>
        </p:txBody>
      </p:sp>
      <p:sp>
        <p:nvSpPr>
          <p:cNvPr id="7" name="Text 5"/>
          <p:cNvSpPr/>
          <p:nvPr/>
        </p:nvSpPr>
        <p:spPr>
          <a:xfrm>
            <a:off x="548640" y="324612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YOUR MISSION</a:t>
            </a:r>
            <a:endParaRPr lang="en-US" sz="1000" dirty="0"/>
          </a:p>
        </p:txBody>
      </p:sp>
      <p:sp>
        <p:nvSpPr>
          <p:cNvPr id="8" name="Text 6"/>
          <p:cNvSpPr/>
          <p:nvPr/>
        </p:nvSpPr>
        <p:spPr>
          <a:xfrm>
            <a:off x="548640" y="3547872"/>
            <a:ext cx="804672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Sort the layers. Name which features belong on a political map and which belong on a physical map — then explain what you learn by reading both together.</a:t>
            </a:r>
            <a:endParaRPr lang="en-US" sz="1400" dirty="0"/>
          </a:p>
        </p:txBody>
      </p:sp>
      <p:sp>
        <p:nvSpPr>
          <p:cNvPr id="10" name="Text 7"/>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TODAY'S PATH</a:t>
            </a:r>
            <a:endParaRPr lang="en-US" sz="100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Interpreting Florida Political and Physical Maps</a:t>
            </a:r>
            <a:endParaRPr lang="en-US" sz="2200" dirty="0"/>
          </a:p>
        </p:txBody>
      </p:sp>
      <p:sp>
        <p:nvSpPr>
          <p:cNvPr id="5" name="Shape 3"/>
          <p:cNvSpPr/>
          <p:nvPr/>
        </p:nvSpPr>
        <p:spPr>
          <a:xfrm>
            <a:off x="457200" y="1078992"/>
            <a:ext cx="8229600" cy="36576"/>
          </a:xfrm>
          <a:prstGeom prst="rect">
            <a:avLst/>
          </a:prstGeom>
          <a:solidFill>
            <a:srgbClr val="D4943A"/>
          </a:solidFill>
          <a:ln w="12700">
            <a:solidFill>
              <a:srgbClr val="D4943A"/>
            </a:solidFill>
            <a:prstDash val="solid"/>
          </a:ln>
        </p:spPr>
      </p:sp>
      <p:sp>
        <p:nvSpPr>
          <p:cNvPr id="6" name="Shape 4"/>
          <p:cNvSpPr/>
          <p:nvPr/>
        </p:nvSpPr>
        <p:spPr>
          <a:xfrm>
            <a:off x="457200" y="1234440"/>
            <a:ext cx="411480" cy="411480"/>
          </a:xfrm>
          <a:prstGeom prst="roundRect">
            <a:avLst>
              <a:gd name="adj" fmla="val 22222"/>
            </a:avLst>
          </a:prstGeom>
          <a:solidFill>
            <a:srgbClr val="D4943A"/>
          </a:solidFill>
          <a:ln w="12700">
            <a:solidFill>
              <a:srgbClr val="D4943A"/>
            </a:solidFill>
            <a:prstDash val="solid"/>
          </a:ln>
        </p:spPr>
      </p:sp>
      <p:sp>
        <p:nvSpPr>
          <p:cNvPr id="7" name="Text 5"/>
          <p:cNvSpPr/>
          <p:nvPr/>
        </p:nvSpPr>
        <p:spPr>
          <a:xfrm>
            <a:off x="457200" y="1234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005840" y="1271016"/>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Observe a political map of Florida — what do you see?</a:t>
            </a:r>
            <a:endParaRPr lang="en-US" sz="1400" dirty="0"/>
          </a:p>
        </p:txBody>
      </p:sp>
      <p:sp>
        <p:nvSpPr>
          <p:cNvPr id="9" name="Shape 7"/>
          <p:cNvSpPr/>
          <p:nvPr/>
        </p:nvSpPr>
        <p:spPr>
          <a:xfrm>
            <a:off x="457200" y="1892808"/>
            <a:ext cx="411480" cy="411480"/>
          </a:xfrm>
          <a:prstGeom prst="roundRect">
            <a:avLst>
              <a:gd name="adj" fmla="val 22222"/>
            </a:avLst>
          </a:prstGeom>
          <a:solidFill>
            <a:srgbClr val="D4943A"/>
          </a:solidFill>
          <a:ln w="12700">
            <a:solidFill>
              <a:srgbClr val="D4943A"/>
            </a:solidFill>
            <a:prstDash val="solid"/>
          </a:ln>
        </p:spPr>
      </p:sp>
      <p:sp>
        <p:nvSpPr>
          <p:cNvPr id="10" name="Text 8"/>
          <p:cNvSpPr/>
          <p:nvPr/>
        </p:nvSpPr>
        <p:spPr>
          <a:xfrm>
            <a:off x="457200" y="18928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1005840" y="1929384"/>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Observe a physical map of Florida — what's different?</a:t>
            </a:r>
            <a:endParaRPr lang="en-US" sz="1400" dirty="0"/>
          </a:p>
        </p:txBody>
      </p:sp>
      <p:sp>
        <p:nvSpPr>
          <p:cNvPr id="12" name="Shape 10"/>
          <p:cNvSpPr/>
          <p:nvPr/>
        </p:nvSpPr>
        <p:spPr>
          <a:xfrm>
            <a:off x="457200" y="2551176"/>
            <a:ext cx="411480" cy="411480"/>
          </a:xfrm>
          <a:prstGeom prst="roundRect">
            <a:avLst>
              <a:gd name="adj" fmla="val 22222"/>
            </a:avLst>
          </a:prstGeom>
          <a:solidFill>
            <a:srgbClr val="D4943A"/>
          </a:solidFill>
          <a:ln w="12700">
            <a:solidFill>
              <a:srgbClr val="D4943A"/>
            </a:solidFill>
            <a:prstDash val="solid"/>
          </a:ln>
        </p:spPr>
      </p:sp>
      <p:sp>
        <p:nvSpPr>
          <p:cNvPr id="13" name="Text 11"/>
          <p:cNvSpPr/>
          <p:nvPr/>
        </p:nvSpPr>
        <p:spPr>
          <a:xfrm>
            <a:off x="457200" y="255117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005840" y="2587752"/>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Compare both maps side by side — ask what only BOTH can answer</a:t>
            </a:r>
            <a:endParaRPr lang="en-US" sz="1400" dirty="0"/>
          </a:p>
        </p:txBody>
      </p:sp>
      <p:sp>
        <p:nvSpPr>
          <p:cNvPr id="15" name="Shape 13"/>
          <p:cNvSpPr/>
          <p:nvPr/>
        </p:nvSpPr>
        <p:spPr>
          <a:xfrm>
            <a:off x="457200" y="3209544"/>
            <a:ext cx="411480" cy="411480"/>
          </a:xfrm>
          <a:prstGeom prst="roundRect">
            <a:avLst>
              <a:gd name="adj" fmla="val 22222"/>
            </a:avLst>
          </a:prstGeom>
          <a:solidFill>
            <a:srgbClr val="D4943A"/>
          </a:solidFill>
          <a:ln w="12700">
            <a:solidFill>
              <a:srgbClr val="D4943A"/>
            </a:solidFill>
            <a:prstDash val="solid"/>
          </a:ln>
        </p:spPr>
      </p:sp>
      <p:sp>
        <p:nvSpPr>
          <p:cNvPr id="16" name="Text 14"/>
          <p:cNvSpPr/>
          <p:nvPr/>
        </p:nvSpPr>
        <p:spPr>
          <a:xfrm>
            <a:off x="457200" y="3209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7" name="Text 15"/>
          <p:cNvSpPr/>
          <p:nvPr/>
        </p:nvSpPr>
        <p:spPr>
          <a:xfrm>
            <a:off x="1005840" y="3246120"/>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Guided practice — defend a claim using evidence from two layers</a:t>
            </a:r>
            <a:endParaRPr lang="en-US" sz="1400" dirty="0"/>
          </a:p>
        </p:txBody>
      </p:sp>
      <p:sp>
        <p:nvSpPr>
          <p:cNvPr id="18" name="Shape 16"/>
          <p:cNvSpPr/>
          <p:nvPr/>
        </p:nvSpPr>
        <p:spPr>
          <a:xfrm>
            <a:off x="457200" y="3867912"/>
            <a:ext cx="411480" cy="411480"/>
          </a:xfrm>
          <a:prstGeom prst="roundRect">
            <a:avLst>
              <a:gd name="adj" fmla="val 22222"/>
            </a:avLst>
          </a:prstGeom>
          <a:solidFill>
            <a:srgbClr val="D4943A"/>
          </a:solidFill>
          <a:ln w="12700">
            <a:solidFill>
              <a:srgbClr val="D4943A"/>
            </a:solidFill>
            <a:prstDash val="solid"/>
          </a:ln>
        </p:spPr>
      </p:sp>
      <p:sp>
        <p:nvSpPr>
          <p:cNvPr id="19" name="Text 17"/>
          <p:cNvSpPr/>
          <p:nvPr/>
        </p:nvSpPr>
        <p:spPr>
          <a:xfrm>
            <a:off x="457200" y="3867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0" name="Text 18"/>
          <p:cNvSpPr/>
          <p:nvPr/>
        </p:nvSpPr>
        <p:spPr>
          <a:xfrm>
            <a:off x="1005840" y="3904488"/>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Assignment — Map Quest Response using both map layers</a:t>
            </a:r>
            <a:endParaRPr lang="en-US" sz="1400" dirty="0"/>
          </a:p>
        </p:txBody>
      </p:sp>
      <p:sp>
        <p:nvSpPr>
          <p:cNvPr id="22" name="Text 1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CLUE BOX 1  ·  POLITICAL MAP</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Study this map. Don't say anything yet — just look.</a:t>
            </a:r>
            <a:endParaRPr lang="en-US" sz="1600" dirty="0"/>
          </a:p>
        </p:txBody>
      </p:sp>
      <p:sp>
        <p:nvSpPr>
          <p:cNvPr id="5" name="Shape 3"/>
          <p:cNvSpPr/>
          <p:nvPr/>
        </p:nvSpPr>
        <p:spPr>
          <a:xfrm>
            <a:off x="365760" y="868680"/>
            <a:ext cx="5212080" cy="3383280"/>
          </a:xfrm>
          <a:prstGeom prst="roundRect">
            <a:avLst>
              <a:gd name="adj" fmla="val 3243"/>
            </a:avLst>
          </a:prstGeom>
          <a:solidFill>
            <a:srgbClr val="E2E8F4"/>
          </a:solidFill>
          <a:ln w="19050">
            <a:solidFill>
              <a:srgbClr val="B0B8CC"/>
            </a:solidFill>
            <a:prstDash val="dash"/>
          </a:ln>
        </p:spPr>
      </p:sp>
      <p:sp>
        <p:nvSpPr>
          <p:cNvPr id="6" name="Text 4"/>
          <p:cNvSpPr/>
          <p:nvPr/>
        </p:nvSpPr>
        <p:spPr>
          <a:xfrm>
            <a:off x="365760" y="86868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4937760" cy="3017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Political map of Florida: state border, county lines, cities (Tampa, Miami, Orlando, Jacksonville), state capital (Tallahassee) marked with a star, major highways. Clean, labeled, no terrain shown.</a:t>
            </a:r>
            <a:endParaRPr lang="en-US" sz="1100" dirty="0"/>
          </a:p>
        </p:txBody>
      </p:sp>
      <p:sp>
        <p:nvSpPr>
          <p:cNvPr id="8" name="Text 6"/>
          <p:cNvSpPr/>
          <p:nvPr/>
        </p:nvSpPr>
        <p:spPr>
          <a:xfrm>
            <a:off x="365760" y="4315968"/>
            <a:ext cx="5212080" cy="27432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5 seconds — look carefully before typing.</a:t>
            </a:r>
            <a:endParaRPr lang="en-US" sz="1000" dirty="0"/>
          </a:p>
        </p:txBody>
      </p:sp>
      <p:sp>
        <p:nvSpPr>
          <p:cNvPr id="9" name="Shape 7"/>
          <p:cNvSpPr/>
          <p:nvPr/>
        </p:nvSpPr>
        <p:spPr>
          <a:xfrm>
            <a:off x="5760720" y="868680"/>
            <a:ext cx="292608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897880" y="9235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112471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map shows... but it doesn't show..."</a:t>
            </a:r>
            <a:endParaRPr lang="en-US" sz="1200" dirty="0"/>
          </a:p>
        </p:txBody>
      </p:sp>
      <p:sp>
        <p:nvSpPr>
          <p:cNvPr id="12" name="Shape 10"/>
          <p:cNvSpPr/>
          <p:nvPr/>
        </p:nvSpPr>
        <p:spPr>
          <a:xfrm>
            <a:off x="5760720" y="2834640"/>
            <a:ext cx="2926080" cy="1463040"/>
          </a:xfrm>
          <a:prstGeom prst="roundRect">
            <a:avLst>
              <a:gd name="adj" fmla="val 6250"/>
            </a:avLst>
          </a:prstGeom>
          <a:solidFill>
            <a:srgbClr val="0E1C42"/>
          </a:solidFill>
          <a:ln w="12700">
            <a:solidFill>
              <a:srgbClr val="3A5080"/>
            </a:solidFill>
            <a:prstDash val="solid"/>
          </a:ln>
        </p:spPr>
      </p:sp>
      <p:sp>
        <p:nvSpPr>
          <p:cNvPr id="13" name="Text 11"/>
          <p:cNvSpPr/>
          <p:nvPr/>
        </p:nvSpPr>
        <p:spPr>
          <a:xfrm>
            <a:off x="5852160" y="2907792"/>
            <a:ext cx="2743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OBSERVE</a:t>
            </a:r>
            <a:endParaRPr lang="en-US" sz="900" dirty="0"/>
          </a:p>
        </p:txBody>
      </p:sp>
      <p:sp>
        <p:nvSpPr>
          <p:cNvPr id="14" name="Text 12"/>
          <p:cNvSpPr/>
          <p:nvPr/>
        </p:nvSpPr>
        <p:spPr>
          <a:xfrm>
            <a:off x="5852160" y="3154680"/>
            <a:ext cx="2743200" cy="100584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What specific features can you name?</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What is this map trying to help you do?</a:t>
            </a:r>
            <a:endParaRPr lang="en-US" sz="12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DISCUSSION  ·  WHAT IS THIS MAP SHOWING?</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political map of Florida</a:t>
            </a:r>
            <a:endParaRPr lang="en-US" sz="22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people have to DECIDE to put these things on the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Would a river show up on this map?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evidence best supports calling this a 'political'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only had THIS map be unable to figure out?</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is a political map because the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map can't show... because..."</a:t>
            </a:r>
            <a:endParaRPr lang="en-US" sz="1200" dirty="0"/>
          </a:p>
        </p:txBody>
      </p:sp>
      <p:sp>
        <p:nvSpPr>
          <p:cNvPr id="11" name="Shape 9"/>
          <p:cNvSpPr/>
          <p:nvPr/>
        </p:nvSpPr>
        <p:spPr>
          <a:xfrm>
            <a:off x="5577840" y="2971800"/>
            <a:ext cx="3108960" cy="1371600"/>
          </a:xfrm>
          <a:prstGeom prst="roundRect">
            <a:avLst>
              <a:gd name="adj" fmla="val 6667"/>
            </a:avLst>
          </a:prstGeom>
          <a:solidFill>
            <a:srgbClr val="34B76F">
              <a:alpha val="20000"/>
            </a:srgbClr>
          </a:solidFill>
          <a:ln w="19050">
            <a:solidFill>
              <a:srgbClr val="34B76F"/>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1A5A38"/>
                </a:solidFill>
                <a:latin typeface="Calibri" pitchFamily="34" charset="0"/>
                <a:ea typeface="Calibri" pitchFamily="34" charset="-122"/>
                <a:cs typeface="Calibri" pitchFamily="34" charset="-120"/>
              </a:rPr>
              <a:t>CLAIM + BECAUSE</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1A5A38"/>
                </a:solidFill>
                <a:latin typeface="Calibri" pitchFamily="34" charset="0"/>
                <a:ea typeface="Calibri" pitchFamily="34" charset="-122"/>
                <a:cs typeface="Calibri" pitchFamily="34" charset="-120"/>
              </a:rPr>
              <a:t>Push students to complete the sentence: 'This is a political map because...' before revealing the definition.</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594360"/>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Political Maps Show</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What PEOPLE Drew</a:t>
            </a:r>
            <a:endParaRPr lang="en-US" sz="3400" dirty="0"/>
          </a:p>
        </p:txBody>
      </p:sp>
      <p:sp>
        <p:nvSpPr>
          <p:cNvPr id="5" name="Shape 3"/>
          <p:cNvSpPr/>
          <p:nvPr/>
        </p:nvSpPr>
        <p:spPr>
          <a:xfrm>
            <a:off x="548640" y="1828800"/>
            <a:ext cx="8046720" cy="36576"/>
          </a:xfrm>
          <a:prstGeom prst="rect">
            <a:avLst/>
          </a:prstGeom>
          <a:solidFill>
            <a:srgbClr val="D4943A"/>
          </a:solidFill>
          <a:ln w="12700">
            <a:solidFill>
              <a:srgbClr val="D4943A"/>
            </a:solidFill>
            <a:prstDash val="solid"/>
          </a:ln>
        </p:spPr>
      </p:sp>
      <p:sp>
        <p:nvSpPr>
          <p:cNvPr id="6" name="Shape 4"/>
          <p:cNvSpPr/>
          <p:nvPr/>
        </p:nvSpPr>
        <p:spPr>
          <a:xfrm>
            <a:off x="548640" y="1965960"/>
            <a:ext cx="3840480" cy="960120"/>
          </a:xfrm>
          <a:prstGeom prst="roundRect">
            <a:avLst>
              <a:gd name="adj" fmla="val 9524"/>
            </a:avLst>
          </a:prstGeom>
          <a:solidFill>
            <a:srgbClr val="1A2D5A"/>
          </a:solidFill>
          <a:ln w="12700">
            <a:solidFill>
              <a:srgbClr val="3A5080"/>
            </a:solidFill>
            <a:prstDash val="solid"/>
          </a:ln>
        </p:spPr>
      </p:sp>
      <p:sp>
        <p:nvSpPr>
          <p:cNvPr id="7" name="Text 5"/>
          <p:cNvSpPr/>
          <p:nvPr/>
        </p:nvSpPr>
        <p:spPr>
          <a:xfrm>
            <a:off x="685800" y="2057400"/>
            <a:ext cx="3566160" cy="256032"/>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State borders</a:t>
            </a:r>
            <a:endParaRPr lang="en-US" sz="1300" dirty="0"/>
          </a:p>
        </p:txBody>
      </p:sp>
      <p:sp>
        <p:nvSpPr>
          <p:cNvPr id="8" name="Text 6"/>
          <p:cNvSpPr/>
          <p:nvPr/>
        </p:nvSpPr>
        <p:spPr>
          <a:xfrm>
            <a:off x="685800" y="233172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Lines humans agreed on — no river or mountain made them</a:t>
            </a:r>
            <a:endParaRPr lang="en-US" sz="1100" dirty="0"/>
          </a:p>
        </p:txBody>
      </p:sp>
      <p:sp>
        <p:nvSpPr>
          <p:cNvPr id="9" name="Shape 7"/>
          <p:cNvSpPr/>
          <p:nvPr/>
        </p:nvSpPr>
        <p:spPr>
          <a:xfrm>
            <a:off x="548640" y="3063240"/>
            <a:ext cx="3840480" cy="960120"/>
          </a:xfrm>
          <a:prstGeom prst="roundRect">
            <a:avLst>
              <a:gd name="adj" fmla="val 9524"/>
            </a:avLst>
          </a:prstGeom>
          <a:solidFill>
            <a:srgbClr val="1A2D5A"/>
          </a:solidFill>
          <a:ln w="12700">
            <a:solidFill>
              <a:srgbClr val="3A5080"/>
            </a:solidFill>
            <a:prstDash val="solid"/>
          </a:ln>
        </p:spPr>
      </p:sp>
      <p:sp>
        <p:nvSpPr>
          <p:cNvPr id="10" name="Text 8"/>
          <p:cNvSpPr/>
          <p:nvPr/>
        </p:nvSpPr>
        <p:spPr>
          <a:xfrm>
            <a:off x="685800" y="3154680"/>
            <a:ext cx="3566160" cy="256032"/>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County lines</a:t>
            </a:r>
            <a:endParaRPr lang="en-US" sz="1300" dirty="0"/>
          </a:p>
        </p:txBody>
      </p:sp>
      <p:sp>
        <p:nvSpPr>
          <p:cNvPr id="11" name="Text 9"/>
          <p:cNvSpPr/>
          <p:nvPr/>
        </p:nvSpPr>
        <p:spPr>
          <a:xfrm>
            <a:off x="685800" y="342900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Political divisions people voted on or drew by law</a:t>
            </a:r>
            <a:endParaRPr lang="en-US" sz="1100" dirty="0"/>
          </a:p>
        </p:txBody>
      </p:sp>
      <p:sp>
        <p:nvSpPr>
          <p:cNvPr id="12" name="Shape 10"/>
          <p:cNvSpPr/>
          <p:nvPr/>
        </p:nvSpPr>
        <p:spPr>
          <a:xfrm>
            <a:off x="4754880" y="1965960"/>
            <a:ext cx="3840480" cy="960120"/>
          </a:xfrm>
          <a:prstGeom prst="roundRect">
            <a:avLst>
              <a:gd name="adj" fmla="val 9524"/>
            </a:avLst>
          </a:prstGeom>
          <a:solidFill>
            <a:srgbClr val="1A2D5A"/>
          </a:solidFill>
          <a:ln w="12700">
            <a:solidFill>
              <a:srgbClr val="3A5080"/>
            </a:solidFill>
            <a:prstDash val="solid"/>
          </a:ln>
        </p:spPr>
      </p:sp>
      <p:sp>
        <p:nvSpPr>
          <p:cNvPr id="13" name="Text 11"/>
          <p:cNvSpPr/>
          <p:nvPr/>
        </p:nvSpPr>
        <p:spPr>
          <a:xfrm>
            <a:off x="4892040" y="2057400"/>
            <a:ext cx="3566160" cy="256032"/>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Cities and capitals</a:t>
            </a:r>
            <a:endParaRPr lang="en-US" sz="1300" dirty="0"/>
          </a:p>
        </p:txBody>
      </p:sp>
      <p:sp>
        <p:nvSpPr>
          <p:cNvPr id="14" name="Text 12"/>
          <p:cNvSpPr/>
          <p:nvPr/>
        </p:nvSpPr>
        <p:spPr>
          <a:xfrm>
            <a:off x="4892040" y="233172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Locations people chose to build and name</a:t>
            </a:r>
            <a:endParaRPr lang="en-US" sz="1100" dirty="0"/>
          </a:p>
        </p:txBody>
      </p:sp>
      <p:sp>
        <p:nvSpPr>
          <p:cNvPr id="15" name="Shape 13"/>
          <p:cNvSpPr/>
          <p:nvPr/>
        </p:nvSpPr>
        <p:spPr>
          <a:xfrm>
            <a:off x="4754880" y="3063240"/>
            <a:ext cx="3840480" cy="960120"/>
          </a:xfrm>
          <a:prstGeom prst="roundRect">
            <a:avLst>
              <a:gd name="adj" fmla="val 9524"/>
            </a:avLst>
          </a:prstGeom>
          <a:solidFill>
            <a:srgbClr val="1A2D5A"/>
          </a:solidFill>
          <a:ln w="12700">
            <a:solidFill>
              <a:srgbClr val="3A5080"/>
            </a:solidFill>
            <a:prstDash val="solid"/>
          </a:ln>
        </p:spPr>
      </p:sp>
      <p:sp>
        <p:nvSpPr>
          <p:cNvPr id="16" name="Text 14"/>
          <p:cNvSpPr/>
          <p:nvPr/>
        </p:nvSpPr>
        <p:spPr>
          <a:xfrm>
            <a:off x="4892040" y="3154680"/>
            <a:ext cx="3566160" cy="256032"/>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Highways</a:t>
            </a:r>
            <a:endParaRPr lang="en-US" sz="1300" dirty="0"/>
          </a:p>
        </p:txBody>
      </p:sp>
      <p:sp>
        <p:nvSpPr>
          <p:cNvPr id="17" name="Text 15"/>
          <p:cNvSpPr/>
          <p:nvPr/>
        </p:nvSpPr>
        <p:spPr>
          <a:xfrm>
            <a:off x="4892040" y="342900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Routes humans constructed and mapped</a:t>
            </a:r>
            <a:endParaRPr lang="en-US" sz="1100" dirty="0"/>
          </a:p>
        </p:txBody>
      </p:sp>
      <p:sp>
        <p:nvSpPr>
          <p:cNvPr id="18" name="Shape 16"/>
          <p:cNvSpPr/>
          <p:nvPr/>
        </p:nvSpPr>
        <p:spPr>
          <a:xfrm>
            <a:off x="548640" y="4251960"/>
            <a:ext cx="8046720" cy="640080"/>
          </a:xfrm>
          <a:prstGeom prst="roundRect">
            <a:avLst>
              <a:gd name="adj" fmla="val 14286"/>
            </a:avLst>
          </a:prstGeom>
          <a:solidFill>
            <a:srgbClr val="D4943A">
              <a:alpha val="15000"/>
            </a:srgbClr>
          </a:solidFill>
          <a:ln w="12700">
            <a:solidFill>
              <a:srgbClr val="D4943A"/>
            </a:solidFill>
            <a:prstDash val="solid"/>
          </a:ln>
        </p:spPr>
      </p:sp>
      <p:sp>
        <p:nvSpPr>
          <p:cNvPr id="19" name="Text 17"/>
          <p:cNvSpPr/>
          <p:nvPr/>
        </p:nvSpPr>
        <p:spPr>
          <a:xfrm>
            <a:off x="685800" y="4297680"/>
            <a:ext cx="77724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RETRIEVAL: Cover your screen. Name THREE things that belong on a political map.</a:t>
            </a:r>
            <a:endParaRPr lang="en-US" sz="1300" dirty="0"/>
          </a:p>
        </p:txBody>
      </p:sp>
      <p:sp>
        <p:nvSpPr>
          <p:cNvPr id="21" name="Text 1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CLUE BOX 2  ·  PHYSICAL MAP</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Same state. Different layer. What changed?</a:t>
            </a:r>
            <a:endParaRPr lang="en-US" sz="1600" dirty="0"/>
          </a:p>
        </p:txBody>
      </p:sp>
      <p:sp>
        <p:nvSpPr>
          <p:cNvPr id="5" name="Shape 3"/>
          <p:cNvSpPr/>
          <p:nvPr/>
        </p:nvSpPr>
        <p:spPr>
          <a:xfrm>
            <a:off x="365760" y="868680"/>
            <a:ext cx="5212080" cy="3383280"/>
          </a:xfrm>
          <a:prstGeom prst="roundRect">
            <a:avLst>
              <a:gd name="adj" fmla="val 3243"/>
            </a:avLst>
          </a:prstGeom>
          <a:solidFill>
            <a:srgbClr val="E2E8F4"/>
          </a:solidFill>
          <a:ln w="19050">
            <a:solidFill>
              <a:srgbClr val="B0B8CC"/>
            </a:solidFill>
            <a:prstDash val="dash"/>
          </a:ln>
        </p:spPr>
      </p:sp>
      <p:sp>
        <p:nvSpPr>
          <p:cNvPr id="6" name="Text 4"/>
          <p:cNvSpPr/>
          <p:nvPr/>
        </p:nvSpPr>
        <p:spPr>
          <a:xfrm>
            <a:off x="365760" y="86868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4937760" cy="3017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Florida: terrain colors showing lowlands and highlands, coastline detail, major rivers (Suwannee, St. Johns, Kissimmee), Lake Okeechobee, the Everglades wetlands in the south, Gulf vs Atlantic coast contrast. No political borders shown.</a:t>
            </a:r>
            <a:endParaRPr lang="en-US" sz="1100" dirty="0"/>
          </a:p>
        </p:txBody>
      </p:sp>
      <p:sp>
        <p:nvSpPr>
          <p:cNvPr id="8" name="Text 6"/>
          <p:cNvSpPr/>
          <p:nvPr/>
        </p:nvSpPr>
        <p:spPr>
          <a:xfrm>
            <a:off x="365760" y="4315968"/>
            <a:ext cx="5212080" cy="27432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Same area as Slide 4 — no borders, no city names.</a:t>
            </a:r>
            <a:endParaRPr lang="en-US" sz="1000" dirty="0"/>
          </a:p>
        </p:txBody>
      </p:sp>
      <p:sp>
        <p:nvSpPr>
          <p:cNvPr id="9" name="Shape 7"/>
          <p:cNvSpPr/>
          <p:nvPr/>
        </p:nvSpPr>
        <p:spPr>
          <a:xfrm>
            <a:off x="5760720" y="868680"/>
            <a:ext cx="292608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897880" y="9235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112471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map shows... but NOT..."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biggest difference I notice is... because..."</a:t>
            </a:r>
            <a:endParaRPr lang="en-US" sz="1200" dirty="0"/>
          </a:p>
        </p:txBody>
      </p:sp>
      <p:sp>
        <p:nvSpPr>
          <p:cNvPr id="12" name="Shape 10"/>
          <p:cNvSpPr/>
          <p:nvPr/>
        </p:nvSpPr>
        <p:spPr>
          <a:xfrm>
            <a:off x="5760720" y="2834640"/>
            <a:ext cx="2926080" cy="1463040"/>
          </a:xfrm>
          <a:prstGeom prst="roundRect">
            <a:avLst>
              <a:gd name="adj" fmla="val 6250"/>
            </a:avLst>
          </a:prstGeom>
          <a:solidFill>
            <a:srgbClr val="0E1C42"/>
          </a:solidFill>
          <a:ln w="12700">
            <a:solidFill>
              <a:srgbClr val="3A5080"/>
            </a:solidFill>
            <a:prstDash val="solid"/>
          </a:ln>
        </p:spPr>
      </p:sp>
      <p:sp>
        <p:nvSpPr>
          <p:cNvPr id="13" name="Text 11"/>
          <p:cNvSpPr/>
          <p:nvPr/>
        </p:nvSpPr>
        <p:spPr>
          <a:xfrm>
            <a:off x="5852160" y="2907792"/>
            <a:ext cx="2743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COMPARE</a:t>
            </a:r>
            <a:endParaRPr lang="en-US" sz="900" dirty="0"/>
          </a:p>
        </p:txBody>
      </p:sp>
      <p:sp>
        <p:nvSpPr>
          <p:cNvPr id="14" name="Text 12"/>
          <p:cNvSpPr/>
          <p:nvPr/>
        </p:nvSpPr>
        <p:spPr>
          <a:xfrm>
            <a:off x="5852160" y="3154680"/>
            <a:ext cx="2743200" cy="100584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What's missing that was on the last map?</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What's here that wasn't there?</a:t>
            </a:r>
            <a:endParaRPr lang="en-US" sz="12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DISCUSSION  ·  WHAT IS THIS MAP SHOWING?</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physical map of Florida</a:t>
            </a:r>
            <a:endParaRPr lang="en-US" sz="22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nature have put the Everglades somewhere else? Could people?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a physical map show MORE coastline detail than a political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is more reliable for understanding where to build a city near water?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physical map more or less 'true' than a political map? Defend your answer.</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physical map is more reliable for... because the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"Nature cannot decide... but people can decide..."</a:t>
            </a:r>
            <a:endParaRPr lang="en-US" sz="1200" dirty="0"/>
          </a:p>
        </p:txBody>
      </p:sp>
      <p:sp>
        <p:nvSpPr>
          <p:cNvPr id="11" name="Shape 9"/>
          <p:cNvSpPr/>
          <p:nvPr/>
        </p:nvSpPr>
        <p:spPr>
          <a:xfrm>
            <a:off x="5577840" y="2971800"/>
            <a:ext cx="3108960" cy="1371600"/>
          </a:xfrm>
          <a:prstGeom prst="roundRect">
            <a:avLst>
              <a:gd name="adj" fmla="val 6667"/>
            </a:avLst>
          </a:prstGeom>
          <a:solidFill>
            <a:srgbClr val="1A8A7D">
              <a:alpha val="20000"/>
            </a:srgbClr>
          </a:solidFill>
          <a:ln w="19050">
            <a:solidFill>
              <a:srgbClr val="1A8A7D"/>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0E4A44"/>
                </a:solidFill>
                <a:latin typeface="Calibri" pitchFamily="34" charset="0"/>
                <a:ea typeface="Calibri" pitchFamily="34" charset="-122"/>
                <a:cs typeface="Calibri" pitchFamily="34" charset="-120"/>
              </a:rPr>
              <a:t>PUSH THE THINKING</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0E4A44"/>
                </a:solidFill>
                <a:latin typeface="Calibri" pitchFamily="34" charset="0"/>
                <a:ea typeface="Calibri" pitchFamily="34" charset="-122"/>
                <a:cs typeface="Calibri" pitchFamily="34" charset="-120"/>
              </a:rPr>
              <a:t>Ask: 'Could someone disagree about whether the Everglades is a physical or political feature?' (Some might argue — wetlands are partly managed.) Honor the complexity.</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594360"/>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Physical Maps Show</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What NATURE Made</a:t>
            </a:r>
            <a:endParaRPr lang="en-US" sz="3400" dirty="0"/>
          </a:p>
        </p:txBody>
      </p:sp>
      <p:sp>
        <p:nvSpPr>
          <p:cNvPr id="5" name="Shape 3"/>
          <p:cNvSpPr/>
          <p:nvPr/>
        </p:nvSpPr>
        <p:spPr>
          <a:xfrm>
            <a:off x="548640" y="1828800"/>
            <a:ext cx="8046720" cy="36576"/>
          </a:xfrm>
          <a:prstGeom prst="rect">
            <a:avLst/>
          </a:prstGeom>
          <a:solidFill>
            <a:srgbClr val="1A8A7D"/>
          </a:solidFill>
          <a:ln w="12700">
            <a:solidFill>
              <a:srgbClr val="1A8A7D"/>
            </a:solidFill>
            <a:prstDash val="solid"/>
          </a:ln>
        </p:spPr>
      </p:sp>
      <p:sp>
        <p:nvSpPr>
          <p:cNvPr id="6" name="Shape 4"/>
          <p:cNvSpPr/>
          <p:nvPr/>
        </p:nvSpPr>
        <p:spPr>
          <a:xfrm>
            <a:off x="548640" y="1965960"/>
            <a:ext cx="3840480" cy="960120"/>
          </a:xfrm>
          <a:prstGeom prst="roundRect">
            <a:avLst>
              <a:gd name="adj" fmla="val 9524"/>
            </a:avLst>
          </a:prstGeom>
          <a:solidFill>
            <a:srgbClr val="1A2D5A"/>
          </a:solidFill>
          <a:ln w="12700">
            <a:solidFill>
              <a:srgbClr val="1A8A7D"/>
            </a:solidFill>
            <a:prstDash val="solid"/>
          </a:ln>
        </p:spPr>
      </p:sp>
      <p:sp>
        <p:nvSpPr>
          <p:cNvPr id="7" name="Text 5"/>
          <p:cNvSpPr/>
          <p:nvPr/>
        </p:nvSpPr>
        <p:spPr>
          <a:xfrm>
            <a:off x="685800" y="2057400"/>
            <a:ext cx="3566160" cy="256032"/>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Coastlines</a:t>
            </a:r>
            <a:endParaRPr lang="en-US" sz="1300" dirty="0"/>
          </a:p>
        </p:txBody>
      </p:sp>
      <p:sp>
        <p:nvSpPr>
          <p:cNvPr id="8" name="Text 6"/>
          <p:cNvSpPr/>
          <p:nvPr/>
        </p:nvSpPr>
        <p:spPr>
          <a:xfrm>
            <a:off x="685800" y="233172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Where land meets water — made by ocean, not by law</a:t>
            </a:r>
            <a:endParaRPr lang="en-US" sz="1100" dirty="0"/>
          </a:p>
        </p:txBody>
      </p:sp>
      <p:sp>
        <p:nvSpPr>
          <p:cNvPr id="9" name="Shape 7"/>
          <p:cNvSpPr/>
          <p:nvPr/>
        </p:nvSpPr>
        <p:spPr>
          <a:xfrm>
            <a:off x="548640" y="3063240"/>
            <a:ext cx="3840480" cy="960120"/>
          </a:xfrm>
          <a:prstGeom prst="roundRect">
            <a:avLst>
              <a:gd name="adj" fmla="val 9524"/>
            </a:avLst>
          </a:prstGeom>
          <a:solidFill>
            <a:srgbClr val="1A2D5A"/>
          </a:solidFill>
          <a:ln w="12700">
            <a:solidFill>
              <a:srgbClr val="1A8A7D"/>
            </a:solidFill>
            <a:prstDash val="solid"/>
          </a:ln>
        </p:spPr>
      </p:sp>
      <p:sp>
        <p:nvSpPr>
          <p:cNvPr id="10" name="Text 8"/>
          <p:cNvSpPr/>
          <p:nvPr/>
        </p:nvSpPr>
        <p:spPr>
          <a:xfrm>
            <a:off x="685800" y="3154680"/>
            <a:ext cx="3566160" cy="256032"/>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Rivers and lakes</a:t>
            </a:r>
            <a:endParaRPr lang="en-US" sz="1300" dirty="0"/>
          </a:p>
        </p:txBody>
      </p:sp>
      <p:sp>
        <p:nvSpPr>
          <p:cNvPr id="11" name="Text 9"/>
          <p:cNvSpPr/>
          <p:nvPr/>
        </p:nvSpPr>
        <p:spPr>
          <a:xfrm>
            <a:off x="685800" y="342900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Natural water routes and bodies — no human drew them</a:t>
            </a:r>
            <a:endParaRPr lang="en-US" sz="1100" dirty="0"/>
          </a:p>
        </p:txBody>
      </p:sp>
      <p:sp>
        <p:nvSpPr>
          <p:cNvPr id="12" name="Shape 10"/>
          <p:cNvSpPr/>
          <p:nvPr/>
        </p:nvSpPr>
        <p:spPr>
          <a:xfrm>
            <a:off x="4754880" y="1965960"/>
            <a:ext cx="3840480" cy="960120"/>
          </a:xfrm>
          <a:prstGeom prst="roundRect">
            <a:avLst>
              <a:gd name="adj" fmla="val 9524"/>
            </a:avLst>
          </a:prstGeom>
          <a:solidFill>
            <a:srgbClr val="1A2D5A"/>
          </a:solidFill>
          <a:ln w="12700">
            <a:solidFill>
              <a:srgbClr val="1A8A7D"/>
            </a:solidFill>
            <a:prstDash val="solid"/>
          </a:ln>
        </p:spPr>
      </p:sp>
      <p:sp>
        <p:nvSpPr>
          <p:cNvPr id="13" name="Text 11"/>
          <p:cNvSpPr/>
          <p:nvPr/>
        </p:nvSpPr>
        <p:spPr>
          <a:xfrm>
            <a:off x="4892040" y="2057400"/>
            <a:ext cx="3566160" cy="256032"/>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Wetlands (Everglades)</a:t>
            </a:r>
            <a:endParaRPr lang="en-US" sz="1300" dirty="0"/>
          </a:p>
        </p:txBody>
      </p:sp>
      <p:sp>
        <p:nvSpPr>
          <p:cNvPr id="14" name="Text 12"/>
          <p:cNvSpPr/>
          <p:nvPr/>
        </p:nvSpPr>
        <p:spPr>
          <a:xfrm>
            <a:off x="4892040" y="233172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Low, wet land shaped by climate and drainage</a:t>
            </a:r>
            <a:endParaRPr lang="en-US" sz="1100" dirty="0"/>
          </a:p>
        </p:txBody>
      </p:sp>
      <p:sp>
        <p:nvSpPr>
          <p:cNvPr id="15" name="Shape 13"/>
          <p:cNvSpPr/>
          <p:nvPr/>
        </p:nvSpPr>
        <p:spPr>
          <a:xfrm>
            <a:off x="4754880" y="3063240"/>
            <a:ext cx="3840480" cy="960120"/>
          </a:xfrm>
          <a:prstGeom prst="roundRect">
            <a:avLst>
              <a:gd name="adj" fmla="val 9524"/>
            </a:avLst>
          </a:prstGeom>
          <a:solidFill>
            <a:srgbClr val="1A2D5A"/>
          </a:solidFill>
          <a:ln w="12700">
            <a:solidFill>
              <a:srgbClr val="1A8A7D"/>
            </a:solidFill>
            <a:prstDash val="solid"/>
          </a:ln>
        </p:spPr>
      </p:sp>
      <p:sp>
        <p:nvSpPr>
          <p:cNvPr id="16" name="Text 14"/>
          <p:cNvSpPr/>
          <p:nvPr/>
        </p:nvSpPr>
        <p:spPr>
          <a:xfrm>
            <a:off x="4892040" y="3154680"/>
            <a:ext cx="3566160" cy="256032"/>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Terrain elevation</a:t>
            </a:r>
            <a:endParaRPr lang="en-US" sz="1300" dirty="0"/>
          </a:p>
        </p:txBody>
      </p:sp>
      <p:sp>
        <p:nvSpPr>
          <p:cNvPr id="17" name="Text 15"/>
          <p:cNvSpPr/>
          <p:nvPr/>
        </p:nvSpPr>
        <p:spPr>
          <a:xfrm>
            <a:off x="4892040" y="3429000"/>
            <a:ext cx="3566160" cy="5029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Hills, plains, swamps — the land nature built</a:t>
            </a:r>
            <a:endParaRPr lang="en-US" sz="1100" dirty="0"/>
          </a:p>
        </p:txBody>
      </p:sp>
      <p:sp>
        <p:nvSpPr>
          <p:cNvPr id="18" name="Shape 16"/>
          <p:cNvSpPr/>
          <p:nvPr/>
        </p:nvSpPr>
        <p:spPr>
          <a:xfrm>
            <a:off x="548640" y="4251960"/>
            <a:ext cx="8046720" cy="640080"/>
          </a:xfrm>
          <a:prstGeom prst="roundRect">
            <a:avLst>
              <a:gd name="adj" fmla="val 14286"/>
            </a:avLst>
          </a:prstGeom>
          <a:solidFill>
            <a:srgbClr val="1A8A7D">
              <a:alpha val="15000"/>
            </a:srgbClr>
          </a:solidFill>
          <a:ln w="12700">
            <a:solidFill>
              <a:srgbClr val="1A8A7D"/>
            </a:solidFill>
            <a:prstDash val="solid"/>
          </a:ln>
        </p:spPr>
      </p:sp>
      <p:sp>
        <p:nvSpPr>
          <p:cNvPr id="19" name="Text 17"/>
          <p:cNvSpPr/>
          <p:nvPr/>
        </p:nvSpPr>
        <p:spPr>
          <a:xfrm>
            <a:off x="685800" y="4297680"/>
            <a:ext cx="77724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RETRIEVAL: Name ONE thing that goes on a physical map but NOT a political map, and explain why.</a:t>
            </a:r>
            <a:endParaRPr lang="en-US" sz="1300" dirty="0"/>
          </a:p>
        </p:txBody>
      </p:sp>
      <p:sp>
        <p:nvSpPr>
          <p:cNvPr id="21" name="Text 1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MULTI-SOURCE COMPARE  ·  SAME PLACE, TWO LAYERS</a:t>
            </a:r>
            <a:endParaRPr lang="en-US" sz="1000" dirty="0"/>
          </a:p>
        </p:txBody>
      </p:sp>
      <p:sp>
        <p:nvSpPr>
          <p:cNvPr id="4" name="Text 2"/>
          <p:cNvSpPr/>
          <p:nvPr/>
        </p:nvSpPr>
        <p:spPr>
          <a:xfrm>
            <a:off x="457200" y="438912"/>
            <a:ext cx="8229600" cy="347472"/>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What does ONLY one map show? What does ONLY the other show? What question do BOTH together answer?</a:t>
            </a:r>
            <a:endParaRPr lang="en-US" sz="1300" dirty="0"/>
          </a:p>
        </p:txBody>
      </p:sp>
      <p:sp>
        <p:nvSpPr>
          <p:cNvPr id="5" name="Shape 3"/>
          <p:cNvSpPr/>
          <p:nvPr/>
        </p:nvSpPr>
        <p:spPr>
          <a:xfrm>
            <a:off x="365760" y="841248"/>
            <a:ext cx="393192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365760" y="841248"/>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15568"/>
            <a:ext cx="36576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Political map of the Tampa Bay region: city labels (Tampa, St. Petersburg, Clearwater), county borders, highways, bridges. NO terrain shading.</a:t>
            </a:r>
            <a:endParaRPr lang="en-US" sz="1100" dirty="0"/>
          </a:p>
        </p:txBody>
      </p:sp>
      <p:sp>
        <p:nvSpPr>
          <p:cNvPr id="8" name="Text 6"/>
          <p:cNvSpPr/>
          <p:nvPr/>
        </p:nvSpPr>
        <p:spPr>
          <a:xfrm>
            <a:off x="365760" y="3794760"/>
            <a:ext cx="3931920" cy="2743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A — Political Map</a:t>
            </a:r>
            <a:endParaRPr lang="en-US" sz="1100" dirty="0"/>
          </a:p>
        </p:txBody>
      </p:sp>
      <p:sp>
        <p:nvSpPr>
          <p:cNvPr id="9" name="Shape 7"/>
          <p:cNvSpPr/>
          <p:nvPr/>
        </p:nvSpPr>
        <p:spPr>
          <a:xfrm>
            <a:off x="4663440" y="841248"/>
            <a:ext cx="3931920" cy="2926080"/>
          </a:xfrm>
          <a:prstGeom prst="roundRect">
            <a:avLst>
              <a:gd name="adj" fmla="val 3750"/>
            </a:avLst>
          </a:prstGeom>
          <a:solidFill>
            <a:srgbClr val="E2E8F4"/>
          </a:solidFill>
          <a:ln w="19050">
            <a:solidFill>
              <a:srgbClr val="B0B8CC"/>
            </a:solidFill>
            <a:prstDash val="dash"/>
          </a:ln>
        </p:spPr>
      </p:sp>
      <p:sp>
        <p:nvSpPr>
          <p:cNvPr id="10" name="Text 8"/>
          <p:cNvSpPr/>
          <p:nvPr/>
        </p:nvSpPr>
        <p:spPr>
          <a:xfrm>
            <a:off x="4663440" y="841248"/>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800600" y="1115568"/>
            <a:ext cx="36576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the same Tampa Bay region: the bay clearly shown as a large natural harbor, Hillsborough River labeled, low coastal terrain visible, wetlands. NO city names or borders.</a:t>
            </a:r>
            <a:endParaRPr lang="en-US" sz="1100" dirty="0"/>
          </a:p>
        </p:txBody>
      </p:sp>
      <p:sp>
        <p:nvSpPr>
          <p:cNvPr id="12" name="Text 10"/>
          <p:cNvSpPr/>
          <p:nvPr/>
        </p:nvSpPr>
        <p:spPr>
          <a:xfrm>
            <a:off x="4663440" y="3794760"/>
            <a:ext cx="3931920" cy="2743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B — Physical Map</a:t>
            </a:r>
            <a:endParaRPr lang="en-US" sz="1100" dirty="0"/>
          </a:p>
        </p:txBody>
      </p:sp>
      <p:sp>
        <p:nvSpPr>
          <p:cNvPr id="13" name="Shape 11"/>
          <p:cNvSpPr/>
          <p:nvPr/>
        </p:nvSpPr>
        <p:spPr>
          <a:xfrm>
            <a:off x="365760" y="4114800"/>
            <a:ext cx="8229600" cy="777240"/>
          </a:xfrm>
          <a:prstGeom prst="roundRect">
            <a:avLst>
              <a:gd name="adj" fmla="val 11765"/>
            </a:avLst>
          </a:prstGeom>
          <a:solidFill>
            <a:srgbClr val="FFF3DC"/>
          </a:solidFill>
          <a:ln w="19050">
            <a:solidFill>
              <a:srgbClr val="F5E6C8"/>
            </a:solidFill>
            <a:prstDash val="solid"/>
          </a:ln>
        </p:spPr>
      </p:sp>
      <p:sp>
        <p:nvSpPr>
          <p:cNvPr id="14" name="Text 12"/>
          <p:cNvSpPr/>
          <p:nvPr/>
        </p:nvSpPr>
        <p:spPr>
          <a:xfrm>
            <a:off x="502920" y="4160520"/>
            <a:ext cx="7955280" cy="658368"/>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CHAT: "Source A and Source B agree about... but only BOTH together help me understand why..."</a:t>
            </a:r>
            <a:endParaRPr lang="en-US" sz="13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EVALUATE THE SOURCES  ·  RELIABILITY AND PERSPECTIVE</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Every map is a choice — someone decided what to show and what to leave out.</a:t>
            </a:r>
            <a:endParaRPr lang="en-US" sz="1600" dirty="0"/>
          </a:p>
        </p:txBody>
      </p:sp>
      <p:sp>
        <p:nvSpPr>
          <p:cNvPr id="5" name="Shape 3"/>
          <p:cNvSpPr/>
          <p:nvPr/>
        </p:nvSpPr>
        <p:spPr>
          <a:xfrm>
            <a:off x="457200" y="914400"/>
            <a:ext cx="502920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0584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640080" y="1261872"/>
            <a:ext cx="466344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each map, and what was their PURPOSE?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from a political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from a physical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either map be 'wrong'? Or are they incomplete in different ways?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map would you trust more for planning a hiking route? A city council meeting? Why?</a:t>
            </a:r>
            <a:endParaRPr lang="en-US" sz="1100" dirty="0"/>
          </a:p>
        </p:txBody>
      </p:sp>
      <p:sp>
        <p:nvSpPr>
          <p:cNvPr id="8" name="Shape 6"/>
          <p:cNvSpPr/>
          <p:nvPr/>
        </p:nvSpPr>
        <p:spPr>
          <a:xfrm>
            <a:off x="5669280" y="914400"/>
            <a:ext cx="3017520" cy="2194560"/>
          </a:xfrm>
          <a:prstGeom prst="roundRect">
            <a:avLst>
              <a:gd name="adj" fmla="val 5000"/>
            </a:avLst>
          </a:prstGeom>
          <a:solidFill>
            <a:srgbClr val="FFF3DC"/>
          </a:solidFill>
          <a:ln w="19050">
            <a:solidFill>
              <a:srgbClr val="F5E6C8"/>
            </a:solidFill>
            <a:prstDash val="solid"/>
          </a:ln>
        </p:spPr>
      </p:sp>
      <p:sp>
        <p:nvSpPr>
          <p:cNvPr id="9" name="Text 7"/>
          <p:cNvSpPr/>
          <p:nvPr/>
        </p:nvSpPr>
        <p:spPr>
          <a:xfrm>
            <a:off x="5806440" y="96926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170432"/>
            <a:ext cx="2743200" cy="1874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this source for...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missing perspective in a political map is... because..."</a:t>
            </a:r>
            <a:endParaRPr lang="en-US" sz="1200" dirty="0"/>
          </a:p>
        </p:txBody>
      </p:sp>
      <p:sp>
        <p:nvSpPr>
          <p:cNvPr id="11" name="Shape 9"/>
          <p:cNvSpPr/>
          <p:nvPr/>
        </p:nvSpPr>
        <p:spPr>
          <a:xfrm>
            <a:off x="5669280" y="3246120"/>
            <a:ext cx="3017520" cy="1051560"/>
          </a:xfrm>
          <a:prstGeom prst="roundRect">
            <a:avLst>
              <a:gd name="adj" fmla="val 8696"/>
            </a:avLst>
          </a:prstGeom>
          <a:solidFill>
            <a:srgbClr val="8B6FC0">
              <a:alpha val="15000"/>
            </a:srgbClr>
          </a:solidFill>
          <a:ln w="19050">
            <a:solidFill>
              <a:srgbClr val="8B6FC0"/>
            </a:solidFill>
            <a:prstDash val="solid"/>
          </a:ln>
        </p:spPr>
      </p:sp>
      <p:sp>
        <p:nvSpPr>
          <p:cNvPr id="12" name="Text 10"/>
          <p:cNvSpPr/>
          <p:nvPr/>
        </p:nvSpPr>
        <p:spPr>
          <a:xfrm>
            <a:off x="5806440" y="3310128"/>
            <a:ext cx="2743200" cy="914400"/>
          </a:xfrm>
          <a:prstGeom prst="rect">
            <a:avLst/>
          </a:prstGeom>
          <a:noFill/>
          <a:ln/>
        </p:spPr>
        <p:txBody>
          <a:bodyPr wrap="square" lIns="0" tIns="0" rIns="0" bIns="0" rtlCol="0" anchor="t"/>
          <a:lstStyle/>
          <a:p>
            <a:pPr indent="0" marL="0">
              <a:buNone/>
            </a:pPr>
            <a:r>
              <a:rPr lang="en-US" sz="1100" i="1" dirty="0">
                <a:solidFill>
                  <a:srgbClr val="3A2A5A"/>
                </a:solidFill>
                <a:latin typeface="Calibri" pitchFamily="34" charset="0"/>
                <a:ea typeface="Calibri" pitchFamily="34" charset="-122"/>
                <a:cs typeface="Calibri" pitchFamily="34" charset="-120"/>
              </a:rPr>
              <a:t>Maps are not neutral — they reflect the choices of the people who made them. A geographer reads the map AND questions the mapmaker.</a:t>
            </a:r>
            <a:endParaRPr lang="en-US" sz="1100" dirty="0"/>
          </a:p>
        </p:txBody>
      </p:sp>
      <p:sp>
        <p:nvSpPr>
          <p:cNvPr id="14" name="Text 1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THE PATTERN</a:t>
            </a:r>
            <a:endParaRPr lang="en-US" sz="1000" dirty="0"/>
          </a:p>
        </p:txBody>
      </p:sp>
      <p:sp>
        <p:nvSpPr>
          <p:cNvPr id="4" name="Text 2"/>
          <p:cNvSpPr/>
          <p:nvPr/>
        </p:nvSpPr>
        <p:spPr>
          <a:xfrm>
            <a:off x="548640" y="658368"/>
            <a:ext cx="804672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Maps Are Partners,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Not Rivals</a:t>
            </a:r>
            <a:endParaRPr lang="en-US" sz="3600" dirty="0"/>
          </a:p>
        </p:txBody>
      </p:sp>
      <p:sp>
        <p:nvSpPr>
          <p:cNvPr id="5" name="Shape 3"/>
          <p:cNvSpPr/>
          <p:nvPr/>
        </p:nvSpPr>
        <p:spPr>
          <a:xfrm>
            <a:off x="548640" y="1920240"/>
            <a:ext cx="8046720" cy="36576"/>
          </a:xfrm>
          <a:prstGeom prst="rect">
            <a:avLst/>
          </a:prstGeom>
          <a:solidFill>
            <a:srgbClr val="D4943A"/>
          </a:solidFill>
          <a:ln w="12700">
            <a:solidFill>
              <a:srgbClr val="D4943A"/>
            </a:solidFill>
            <a:prstDash val="solid"/>
          </a:ln>
        </p:spPr>
      </p:sp>
      <p:sp>
        <p:nvSpPr>
          <p:cNvPr id="6" name="Text 4"/>
          <p:cNvSpPr/>
          <p:nvPr/>
        </p:nvSpPr>
        <p:spPr>
          <a:xfrm>
            <a:off x="548640" y="2057400"/>
            <a:ext cx="8046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Florida is one place, but it takes two maps to read it well. Physical features show what nature gave; political features show what people drew. Geographers read BOTH layers at the same time so they can ask better questions about the land and the people on it.</a:t>
            </a:r>
            <a:endParaRPr lang="en-US" sz="1500" dirty="0"/>
          </a:p>
        </p:txBody>
      </p:sp>
      <p:sp>
        <p:nvSpPr>
          <p:cNvPr id="7" name="Shape 5"/>
          <p:cNvSpPr/>
          <p:nvPr/>
        </p:nvSpPr>
        <p:spPr>
          <a:xfrm>
            <a:off x="548640" y="3200400"/>
            <a:ext cx="8046720" cy="1280160"/>
          </a:xfrm>
          <a:prstGeom prst="roundRect">
            <a:avLst>
              <a:gd name="adj" fmla="val 8571"/>
            </a:avLst>
          </a:prstGeom>
          <a:solidFill>
            <a:srgbClr val="1A2D5A"/>
          </a:solidFill>
          <a:ln w="19050">
            <a:solidFill>
              <a:srgbClr val="D4943A"/>
            </a:solidFill>
            <a:prstDash val="solid"/>
          </a:ln>
        </p:spPr>
      </p:sp>
      <p:sp>
        <p:nvSpPr>
          <p:cNvPr id="8" name="Text 6"/>
          <p:cNvSpPr/>
          <p:nvPr/>
        </p:nvSpPr>
        <p:spPr>
          <a:xfrm>
            <a:off x="731520" y="3291840"/>
            <a:ext cx="768096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CARRY THIS FORWARD:</a:t>
            </a:r>
            <a:endParaRPr lang="en-US" sz="1000" dirty="0"/>
          </a:p>
        </p:txBody>
      </p:sp>
      <p:sp>
        <p:nvSpPr>
          <p:cNvPr id="9" name="Text 7"/>
          <p:cNvSpPr/>
          <p:nvPr/>
        </p:nvSpPr>
        <p:spPr>
          <a:xfrm>
            <a:off x="731520" y="3566160"/>
            <a:ext cx="7680960" cy="804672"/>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Any time you look at a map — of Florida, your city, or the world — ask: 'What is the OTHER map I'd need to really understand this place?' That second question is what geographers always ask.</a:t>
            </a:r>
            <a:endParaRPr lang="en-US" sz="1300" dirty="0"/>
          </a:p>
        </p:txBody>
      </p:sp>
      <p:sp>
        <p:nvSpPr>
          <p:cNvPr id="11" name="Text 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548640" y="658368"/>
            <a:ext cx="804672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Courtesy</a:t>
            </a:r>
            <a:endParaRPr lang="en-US" sz="4600" dirty="0"/>
          </a:p>
        </p:txBody>
      </p:sp>
      <p:sp>
        <p:nvSpPr>
          <p:cNvPr id="6" name="Shape 4"/>
          <p:cNvSpPr/>
          <p:nvPr/>
        </p:nvSpPr>
        <p:spPr>
          <a:xfrm>
            <a:off x="548640" y="1536192"/>
            <a:ext cx="3200400" cy="36576"/>
          </a:xfrm>
          <a:prstGeom prst="rect">
            <a:avLst/>
          </a:prstGeom>
          <a:solidFill>
            <a:srgbClr val="D4943A"/>
          </a:solidFill>
          <a:ln w="12700">
            <a:solidFill>
              <a:srgbClr val="D4943A"/>
            </a:solidFill>
            <a:prstDash val="solid"/>
          </a:ln>
        </p:spPr>
      </p:sp>
      <p:sp>
        <p:nvSpPr>
          <p:cNvPr id="7" name="Text 5"/>
          <p:cNvSpPr/>
          <p:nvPr/>
        </p:nvSpPr>
        <p:spPr>
          <a:xfrm>
            <a:off x="548640" y="1664208"/>
            <a:ext cx="804672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Reading two maps at once takes courtesy — slowing down, giving each map its turn, listening to what each layer says before jumping to a conclusion.</a:t>
            </a:r>
            <a:endParaRPr lang="en-US" sz="1600" dirty="0"/>
          </a:p>
        </p:txBody>
      </p:sp>
      <p:sp>
        <p:nvSpPr>
          <p:cNvPr id="8" name="Shape 6"/>
          <p:cNvSpPr/>
          <p:nvPr/>
        </p:nvSpPr>
        <p:spPr>
          <a:xfrm>
            <a:off x="548640" y="2724912"/>
            <a:ext cx="8046720" cy="1645920"/>
          </a:xfrm>
          <a:prstGeom prst="roundRect">
            <a:avLst>
              <a:gd name="adj" fmla="val 6667"/>
            </a:avLst>
          </a:prstGeom>
          <a:solidFill>
            <a:srgbClr val="1A2D5A"/>
          </a:solidFill>
          <a:ln w="19050">
            <a:solidFill>
              <a:srgbClr val="D4943A"/>
            </a:solidFill>
            <a:prstDash val="solid"/>
          </a:ln>
        </p:spPr>
      </p:sp>
      <p:sp>
        <p:nvSpPr>
          <p:cNvPr id="9" name="Text 7"/>
          <p:cNvSpPr/>
          <p:nvPr/>
        </p:nvSpPr>
        <p:spPr>
          <a:xfrm>
            <a:off x="731520" y="2816352"/>
            <a:ext cx="768096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COURTESY IN ACTION TODAY:</a:t>
            </a:r>
            <a:endParaRPr lang="en-US" sz="1000" dirty="0"/>
          </a:p>
        </p:txBody>
      </p:sp>
      <p:sp>
        <p:nvSpPr>
          <p:cNvPr id="10" name="Text 8"/>
          <p:cNvSpPr/>
          <p:nvPr/>
        </p:nvSpPr>
        <p:spPr>
          <a:xfrm>
            <a:off x="731520" y="3108960"/>
            <a:ext cx="7680960" cy="114300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Give the physical map its full attention. Then give the political map its full attention. Only THEN put them together. A courteous reader doesn't shout over the evidence — they listen first.</a:t>
            </a:r>
            <a:endParaRPr lang="en-US" sz="1400" dirty="0"/>
          </a:p>
        </p:txBody>
      </p:sp>
      <p:sp>
        <p:nvSpPr>
          <p:cNvPr id="12" name="Text 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TEACHER MODELS</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Watch how a geographer reads two layers together.</a:t>
            </a:r>
            <a:endParaRPr lang="en-US" sz="1600" dirty="0"/>
          </a:p>
        </p:txBody>
      </p:sp>
      <p:sp>
        <p:nvSpPr>
          <p:cNvPr id="5" name="Shape 3"/>
          <p:cNvSpPr/>
          <p:nvPr/>
        </p:nvSpPr>
        <p:spPr>
          <a:xfrm>
            <a:off x="457200" y="914400"/>
            <a:ext cx="8229600" cy="3474720"/>
          </a:xfrm>
          <a:prstGeom prst="roundRect">
            <a:avLst>
              <a:gd name="adj" fmla="val 3158"/>
            </a:avLst>
          </a:prstGeom>
          <a:solidFill>
            <a:srgbClr val="1A2D5A"/>
          </a:solidFill>
          <a:ln w="19050">
            <a:solidFill>
              <a:srgbClr val="3A5080"/>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THINK-ALOUD SCRIPT</a:t>
            </a:r>
            <a:endParaRPr lang="en-US" sz="900" dirty="0"/>
          </a:p>
        </p:txBody>
      </p:sp>
      <p:sp>
        <p:nvSpPr>
          <p:cNvPr id="7" name="Text 5"/>
          <p:cNvSpPr/>
          <p:nvPr/>
        </p:nvSpPr>
        <p:spPr>
          <a:xfrm>
            <a:off x="640080" y="1325880"/>
            <a:ext cx="7863840" cy="2926080"/>
          </a:xfrm>
          <a:prstGeom prst="rect">
            <a:avLst/>
          </a:prstGeom>
          <a:noFill/>
          <a:ln/>
        </p:spPr>
        <p:txBody>
          <a:bodyPr wrap="square" lIns="0" tIns="0" rIns="0" bIns="0" rtlCol="0" anchor="t"/>
          <a:lstStyle/>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1.  I pick a place on the dual map — I'll choose Miami.</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2.  On the PHYSICAL layer: I see Biscayne Bay (natural harbor) and the Everglades to the west.</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3.  On the POLITICAL layer: I see the city of Miami, Dade County border, and major highways.</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4.  My claim: Miami is where it is because the natural harbor made it a good place to build a port city.</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5.  My evidence: physical map shows the bay; political map shows the city right next to it.</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6.  What both layers together tell me: location + why the location matters.</a:t>
            </a:r>
            <a:endParaRPr lang="en-US" sz="1200" dirty="0"/>
          </a:p>
        </p:txBody>
      </p:sp>
      <p:sp>
        <p:nvSpPr>
          <p:cNvPr id="9" name="Text 6"/>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INVESTIGATE AND DEFEND</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Your turn: pick a place, read both layers, make a claim.</a:t>
            </a:r>
            <a:endParaRPr lang="en-US" sz="1600" dirty="0"/>
          </a:p>
        </p:txBody>
      </p:sp>
      <p:sp>
        <p:nvSpPr>
          <p:cNvPr id="5" name="Shape 3"/>
          <p:cNvSpPr/>
          <p:nvPr/>
        </p:nvSpPr>
        <p:spPr>
          <a:xfrm>
            <a:off x="457200" y="914400"/>
            <a:ext cx="4937760" cy="3200400"/>
          </a:xfrm>
          <a:prstGeom prst="roundRect">
            <a:avLst>
              <a:gd name="adj" fmla="val 3429"/>
            </a:avLst>
          </a:prstGeom>
          <a:solidFill>
            <a:srgbClr val="F7F9FF"/>
          </a:solidFill>
          <a:ln w="19050">
            <a:solidFill>
              <a:srgbClr val="B0B8CC"/>
            </a:solidFill>
            <a:prstDash val="solid"/>
          </a:ln>
        </p:spPr>
      </p:sp>
      <p:sp>
        <p:nvSpPr>
          <p:cNvPr id="6" name="Text 4"/>
          <p:cNvSpPr/>
          <p:nvPr/>
        </p:nvSpPr>
        <p:spPr>
          <a:xfrm>
            <a:off x="594360" y="1005840"/>
            <a:ext cx="466344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ASSIGNMENT Q2 — PRACTICE RUN</a:t>
            </a:r>
            <a:endParaRPr lang="en-US" sz="900" dirty="0"/>
          </a:p>
        </p:txBody>
      </p:sp>
      <p:sp>
        <p:nvSpPr>
          <p:cNvPr id="7" name="Text 5"/>
          <p:cNvSpPr/>
          <p:nvPr/>
        </p:nvSpPr>
        <p:spPr>
          <a:xfrm>
            <a:off x="594360" y="1298448"/>
            <a:ext cx="4663440" cy="54864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Find a place on the map where a physical and political feature meet.</a:t>
            </a:r>
            <a:endParaRPr lang="en-US" sz="1400" dirty="0"/>
          </a:p>
        </p:txBody>
      </p:sp>
      <p:sp>
        <p:nvSpPr>
          <p:cNvPr id="8" name="Shape 6"/>
          <p:cNvSpPr/>
          <p:nvPr/>
        </p:nvSpPr>
        <p:spPr>
          <a:xfrm>
            <a:off x="594360" y="1938528"/>
            <a:ext cx="4663440" cy="411480"/>
          </a:xfrm>
          <a:prstGeom prst="roundRect">
            <a:avLst>
              <a:gd name="adj" fmla="val 17778"/>
            </a:avLst>
          </a:prstGeom>
          <a:solidFill>
            <a:srgbClr val="E2E8F4"/>
          </a:solidFill>
          <a:ln w="12700">
            <a:solidFill>
              <a:srgbClr val="B0B8CC"/>
            </a:solidFill>
            <a:prstDash val="solid"/>
          </a:ln>
        </p:spPr>
      </p:sp>
      <p:sp>
        <p:nvSpPr>
          <p:cNvPr id="9" name="Text 7"/>
          <p:cNvSpPr/>
          <p:nvPr/>
        </p:nvSpPr>
        <p:spPr>
          <a:xfrm>
            <a:off x="731520" y="1965960"/>
            <a:ext cx="4389120" cy="3200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  Name the PLACE</a:t>
            </a:r>
            <a:endParaRPr lang="en-US" sz="1200" dirty="0"/>
          </a:p>
        </p:txBody>
      </p:sp>
      <p:sp>
        <p:nvSpPr>
          <p:cNvPr id="10" name="Shape 8"/>
          <p:cNvSpPr/>
          <p:nvPr/>
        </p:nvSpPr>
        <p:spPr>
          <a:xfrm>
            <a:off x="594360" y="2441448"/>
            <a:ext cx="4663440" cy="411480"/>
          </a:xfrm>
          <a:prstGeom prst="roundRect">
            <a:avLst>
              <a:gd name="adj" fmla="val 17778"/>
            </a:avLst>
          </a:prstGeom>
          <a:solidFill>
            <a:srgbClr val="E2E8F4"/>
          </a:solidFill>
          <a:ln w="12700">
            <a:solidFill>
              <a:srgbClr val="B0B8CC"/>
            </a:solidFill>
            <a:prstDash val="solid"/>
          </a:ln>
        </p:spPr>
      </p:sp>
      <p:sp>
        <p:nvSpPr>
          <p:cNvPr id="11" name="Text 9"/>
          <p:cNvSpPr/>
          <p:nvPr/>
        </p:nvSpPr>
        <p:spPr>
          <a:xfrm>
            <a:off x="731520" y="2468880"/>
            <a:ext cx="4389120" cy="3200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2.  Name the PHYSICAL feature nearby</a:t>
            </a:r>
            <a:endParaRPr lang="en-US" sz="1200" dirty="0"/>
          </a:p>
        </p:txBody>
      </p:sp>
      <p:sp>
        <p:nvSpPr>
          <p:cNvPr id="12" name="Shape 10"/>
          <p:cNvSpPr/>
          <p:nvPr/>
        </p:nvSpPr>
        <p:spPr>
          <a:xfrm>
            <a:off x="594360" y="2944368"/>
            <a:ext cx="4663440" cy="411480"/>
          </a:xfrm>
          <a:prstGeom prst="roundRect">
            <a:avLst>
              <a:gd name="adj" fmla="val 17778"/>
            </a:avLst>
          </a:prstGeom>
          <a:solidFill>
            <a:srgbClr val="E2E8F4"/>
          </a:solidFill>
          <a:ln w="12700">
            <a:solidFill>
              <a:srgbClr val="B0B8CC"/>
            </a:solidFill>
            <a:prstDash val="solid"/>
          </a:ln>
        </p:spPr>
      </p:sp>
      <p:sp>
        <p:nvSpPr>
          <p:cNvPr id="13" name="Text 11"/>
          <p:cNvSpPr/>
          <p:nvPr/>
        </p:nvSpPr>
        <p:spPr>
          <a:xfrm>
            <a:off x="731520" y="2971800"/>
            <a:ext cx="4389120" cy="3200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3.  Name the POLITICAL feature nearby</a:t>
            </a:r>
            <a:endParaRPr lang="en-US" sz="1200" dirty="0"/>
          </a:p>
        </p:txBody>
      </p:sp>
      <p:sp>
        <p:nvSpPr>
          <p:cNvPr id="14" name="Shape 12"/>
          <p:cNvSpPr/>
          <p:nvPr/>
        </p:nvSpPr>
        <p:spPr>
          <a:xfrm>
            <a:off x="594360" y="3447288"/>
            <a:ext cx="4663440" cy="411480"/>
          </a:xfrm>
          <a:prstGeom prst="roundRect">
            <a:avLst>
              <a:gd name="adj" fmla="val 17778"/>
            </a:avLst>
          </a:prstGeom>
          <a:solidFill>
            <a:srgbClr val="E2E8F4"/>
          </a:solidFill>
          <a:ln w="12700">
            <a:solidFill>
              <a:srgbClr val="B0B8CC"/>
            </a:solidFill>
            <a:prstDash val="solid"/>
          </a:ln>
        </p:spPr>
      </p:sp>
      <p:sp>
        <p:nvSpPr>
          <p:cNvPr id="15" name="Text 13"/>
          <p:cNvSpPr/>
          <p:nvPr/>
        </p:nvSpPr>
        <p:spPr>
          <a:xfrm>
            <a:off x="731520" y="3474720"/>
            <a:ext cx="4389120" cy="3200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4.  Write 1 sentence: what do BOTH together help you understand?</a:t>
            </a:r>
            <a:endParaRPr lang="en-US" sz="1200" dirty="0"/>
          </a:p>
        </p:txBody>
      </p:sp>
      <p:sp>
        <p:nvSpPr>
          <p:cNvPr id="16" name="Shape 14"/>
          <p:cNvSpPr/>
          <p:nvPr/>
        </p:nvSpPr>
        <p:spPr>
          <a:xfrm>
            <a:off x="5577840" y="914400"/>
            <a:ext cx="3108960" cy="3200400"/>
          </a:xfrm>
          <a:prstGeom prst="roundRect">
            <a:avLst>
              <a:gd name="adj" fmla="val 4412"/>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760720" y="1005840"/>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760720" y="1261872"/>
            <a:ext cx="274320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anyone disagree with your classmate's choice of place?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only had the political map say about that location?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evidence strong enough to defend the claim?</a:t>
            </a:r>
            <a:endParaRPr lang="en-US" sz="1100" dirty="0"/>
          </a:p>
        </p:txBody>
      </p:sp>
      <p:sp>
        <p:nvSpPr>
          <p:cNvPr id="20" name="Text 17"/>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What's strong? What needs stronger evidence?</a:t>
            </a:r>
            <a:endParaRPr lang="en-US" sz="1600" dirty="0"/>
          </a:p>
        </p:txBody>
      </p:sp>
      <p:sp>
        <p:nvSpPr>
          <p:cNvPr id="5" name="Shape 3"/>
          <p:cNvSpPr/>
          <p:nvPr/>
        </p:nvSpPr>
        <p:spPr>
          <a:xfrm>
            <a:off x="457200" y="914400"/>
            <a:ext cx="8229600" cy="1645920"/>
          </a:xfrm>
          <a:prstGeom prst="roundRect">
            <a:avLst>
              <a:gd name="adj" fmla="val 6667"/>
            </a:avLst>
          </a:prstGeom>
          <a:solidFill>
            <a:srgbClr val="FFF3DC"/>
          </a:solidFill>
          <a:ln w="19050">
            <a:solidFill>
              <a:srgbClr val="F5E6C8"/>
            </a:solidFill>
            <a:prstDash val="solid"/>
          </a:ln>
        </p:spPr>
      </p:sp>
      <p:sp>
        <p:nvSpPr>
          <p:cNvPr id="6" name="Text 4"/>
          <p:cNvSpPr/>
          <p:nvPr/>
        </p:nvSpPr>
        <p:spPr>
          <a:xfrm>
            <a:off x="640080" y="1005840"/>
            <a:ext cx="786384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SAMPLE RESPONSE TO EVALUATE</a:t>
            </a:r>
            <a:endParaRPr lang="en-US" sz="900" dirty="0"/>
          </a:p>
        </p:txBody>
      </p:sp>
      <p:sp>
        <p:nvSpPr>
          <p:cNvPr id="7" name="Text 5"/>
          <p:cNvSpPr/>
          <p:nvPr/>
        </p:nvSpPr>
        <p:spPr>
          <a:xfrm>
            <a:off x="640080" y="1261872"/>
            <a:ext cx="7863840" cy="1097280"/>
          </a:xfrm>
          <a:prstGeom prst="rect">
            <a:avLst/>
          </a:prstGeom>
          <a:noFill/>
          <a:ln/>
        </p:spPr>
        <p:txBody>
          <a:bodyPr wrap="square" lIns="0" tIns="0" rIns="0" bIns="0" rtlCol="0" anchor="t"/>
          <a:lstStyle/>
          <a:p>
            <a:pPr indent="0" marL="0">
              <a:buNone/>
            </a:pPr>
            <a:r>
              <a:rPr lang="en-US" sz="1400" i="1" dirty="0">
                <a:solidFill>
                  <a:srgbClr val="5A4A3A"/>
                </a:solidFill>
                <a:latin typeface="Cambria" pitchFamily="34" charset="0"/>
                <a:ea typeface="Cambria" pitchFamily="34" charset="-122"/>
                <a:cs typeface="Cambria" pitchFamily="34" charset="-120"/>
              </a:rPr>
              <a:t>"I picked Orlando. The physical map shows wetlands nearby and the political map shows the city. Both maps together show that Orlando is in the middle of Florida."</a:t>
            </a:r>
            <a:endParaRPr lang="en-US" sz="1400" dirty="0"/>
          </a:p>
        </p:txBody>
      </p:sp>
      <p:sp>
        <p:nvSpPr>
          <p:cNvPr id="8" name="Shape 6"/>
          <p:cNvSpPr/>
          <p:nvPr/>
        </p:nvSpPr>
        <p:spPr>
          <a:xfrm>
            <a:off x="457200" y="2743200"/>
            <a:ext cx="4937760" cy="210312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83464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3090672"/>
            <a:ext cx="4572000" cy="1664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response name a physical and political feature? Specifically?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it explain what BOTH TOGETHER tell us — or just list two things?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one sentence would make this response significantly stronger?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Would you say this evidence is strong, okay, or weak? Defend your rating.</a:t>
            </a:r>
            <a:endParaRPr lang="en-US" sz="1100" dirty="0"/>
          </a:p>
        </p:txBody>
      </p:sp>
      <p:sp>
        <p:nvSpPr>
          <p:cNvPr id="11" name="Shape 9"/>
          <p:cNvSpPr/>
          <p:nvPr/>
        </p:nvSpPr>
        <p:spPr>
          <a:xfrm>
            <a:off x="5577840" y="2743200"/>
            <a:ext cx="3108960" cy="2103120"/>
          </a:xfrm>
          <a:prstGeom prst="roundRect">
            <a:avLst>
              <a:gd name="adj" fmla="val 5217"/>
            </a:avLst>
          </a:prstGeom>
          <a:solidFill>
            <a:srgbClr val="FFF3DC"/>
          </a:solidFill>
          <a:ln w="19050">
            <a:solidFill>
              <a:srgbClr val="F5E6C8"/>
            </a:solidFill>
            <a:prstDash val="solid"/>
          </a:ln>
        </p:spPr>
      </p:sp>
      <p:sp>
        <p:nvSpPr>
          <p:cNvPr id="12" name="Text 10"/>
          <p:cNvSpPr/>
          <p:nvPr/>
        </p:nvSpPr>
        <p:spPr>
          <a:xfrm>
            <a:off x="5715000" y="279806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999232"/>
            <a:ext cx="2834640" cy="1783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is strong/weak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improve it, I would add... because..."</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A genuinely ambiguous question — there is more than one defensible answer.</a:t>
            </a:r>
            <a:endParaRPr lang="en-US" sz="1500" dirty="0"/>
          </a:p>
        </p:txBody>
      </p:sp>
      <p:sp>
        <p:nvSpPr>
          <p:cNvPr id="5" name="Shape 3"/>
          <p:cNvSpPr/>
          <p:nvPr/>
        </p:nvSpPr>
        <p:spPr>
          <a:xfrm>
            <a:off x="457200" y="914400"/>
            <a:ext cx="8229600" cy="1371600"/>
          </a:xfrm>
          <a:prstGeom prst="roundRect">
            <a:avLst>
              <a:gd name="adj" fmla="val 8000"/>
            </a:avLst>
          </a:prstGeom>
          <a:solidFill>
            <a:srgbClr val="0E1C42"/>
          </a:solidFill>
          <a:ln w="25400">
            <a:solidFill>
              <a:srgbClr val="E8636B"/>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THE TRICKY ONE</a:t>
            </a:r>
            <a:endParaRPr lang="en-US" sz="900" dirty="0"/>
          </a:p>
        </p:txBody>
      </p:sp>
      <p:sp>
        <p:nvSpPr>
          <p:cNvPr id="7" name="Text 5"/>
          <p:cNvSpPr/>
          <p:nvPr/>
        </p:nvSpPr>
        <p:spPr>
          <a:xfrm>
            <a:off x="640080" y="1280160"/>
            <a:ext cx="7863840" cy="8686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If you had to choose ONLY ONE map to plan a road trip in Florida, which would you choose and why?</a:t>
            </a:r>
            <a:endParaRPr lang="en-US" sz="1800" dirty="0"/>
          </a:p>
        </p:txBody>
      </p:sp>
      <p:sp>
        <p:nvSpPr>
          <p:cNvPr id="8" name="Shape 6"/>
          <p:cNvSpPr/>
          <p:nvPr/>
        </p:nvSpPr>
        <p:spPr>
          <a:xfrm>
            <a:off x="457200" y="2423160"/>
            <a:ext cx="4937760" cy="22860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51460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770632"/>
            <a:ext cx="4572000" cy="1847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information would you need that only ONE map provides?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be giving up by choosing that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reasonably argue for the other choice? What would they say?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a case where NEITHER map alone is good enough?</a:t>
            </a:r>
            <a:endParaRPr lang="en-US" sz="1100" dirty="0"/>
          </a:p>
        </p:txBody>
      </p:sp>
      <p:sp>
        <p:nvSpPr>
          <p:cNvPr id="11" name="Shape 9"/>
          <p:cNvSpPr/>
          <p:nvPr/>
        </p:nvSpPr>
        <p:spPr>
          <a:xfrm>
            <a:off x="5577840" y="2423160"/>
            <a:ext cx="3108960" cy="2286000"/>
          </a:xfrm>
          <a:prstGeom prst="roundRect">
            <a:avLst>
              <a:gd name="adj" fmla="val 4800"/>
            </a:avLst>
          </a:prstGeom>
          <a:solidFill>
            <a:srgbClr val="FFF3DC"/>
          </a:solidFill>
          <a:ln w="19050">
            <a:solidFill>
              <a:srgbClr val="F5E6C8"/>
            </a:solidFill>
            <a:prstDash val="solid"/>
          </a:ln>
        </p:spPr>
      </p:sp>
      <p:sp>
        <p:nvSpPr>
          <p:cNvPr id="12" name="Text 10"/>
          <p:cNvSpPr/>
          <p:nvPr/>
        </p:nvSpPr>
        <p:spPr>
          <a:xfrm>
            <a:off x="5715000" y="247802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679192"/>
            <a:ext cx="283464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the... map because the most important evidence for a road trip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cost of that choice is... but I still think it's better because..."</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QUICK SELF-CHECK</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Cover your screen after reading — answer from memory.</a:t>
            </a:r>
            <a:endParaRPr lang="en-US" sz="1500" dirty="0"/>
          </a:p>
        </p:txBody>
      </p:sp>
      <p:sp>
        <p:nvSpPr>
          <p:cNvPr id="5" name="Shape 3"/>
          <p:cNvSpPr/>
          <p:nvPr/>
        </p:nvSpPr>
        <p:spPr>
          <a:xfrm>
            <a:off x="457200" y="914400"/>
            <a:ext cx="4114800" cy="1097280"/>
          </a:xfrm>
          <a:prstGeom prst="roundRect">
            <a:avLst>
              <a:gd name="adj" fmla="val 8333"/>
            </a:avLst>
          </a:prstGeom>
          <a:solidFill>
            <a:srgbClr val="F7F9FF"/>
          </a:solidFill>
          <a:ln w="12700">
            <a:solidFill>
              <a:srgbClr val="B0B8CC"/>
            </a:solidFill>
            <a:prstDash val="solid"/>
          </a:ln>
        </p:spPr>
      </p:sp>
      <p:sp>
        <p:nvSpPr>
          <p:cNvPr id="6" name="Text 4"/>
          <p:cNvSpPr/>
          <p:nvPr/>
        </p:nvSpPr>
        <p:spPr>
          <a:xfrm>
            <a:off x="594360" y="98755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594360" y="123444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Which belongs on a physical map?</a:t>
            </a:r>
            <a:endParaRPr lang="en-US" sz="1300" dirty="0"/>
          </a:p>
        </p:txBody>
      </p:sp>
      <p:sp>
        <p:nvSpPr>
          <p:cNvPr id="8" name="Shape 6"/>
          <p:cNvSpPr/>
          <p:nvPr/>
        </p:nvSpPr>
        <p:spPr>
          <a:xfrm>
            <a:off x="4754880" y="914400"/>
            <a:ext cx="3931920" cy="1097280"/>
          </a:xfrm>
          <a:prstGeom prst="roundRect">
            <a:avLst>
              <a:gd name="adj" fmla="val 8333"/>
            </a:avLst>
          </a:prstGeom>
          <a:solidFill>
            <a:srgbClr val="E8F5EF"/>
          </a:solidFill>
          <a:ln w="12700">
            <a:solidFill>
              <a:srgbClr val="34B76F"/>
            </a:solidFill>
            <a:prstDash val="solid"/>
          </a:ln>
        </p:spPr>
      </p:sp>
      <p:sp>
        <p:nvSpPr>
          <p:cNvPr id="9" name="Text 7"/>
          <p:cNvSpPr/>
          <p:nvPr/>
        </p:nvSpPr>
        <p:spPr>
          <a:xfrm>
            <a:off x="4892040" y="98755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0" name="Text 8"/>
          <p:cNvSpPr/>
          <p:nvPr/>
        </p:nvSpPr>
        <p:spPr>
          <a:xfrm>
            <a:off x="4892040" y="123444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 coastline — natural feature made by water, not human decision</a:t>
            </a:r>
            <a:endParaRPr lang="en-US" sz="1200" dirty="0"/>
          </a:p>
        </p:txBody>
      </p:sp>
      <p:sp>
        <p:nvSpPr>
          <p:cNvPr id="11" name="Shape 9"/>
          <p:cNvSpPr/>
          <p:nvPr/>
        </p:nvSpPr>
        <p:spPr>
          <a:xfrm>
            <a:off x="457200" y="2194560"/>
            <a:ext cx="4114800" cy="1097280"/>
          </a:xfrm>
          <a:prstGeom prst="roundRect">
            <a:avLst>
              <a:gd name="adj" fmla="val 8333"/>
            </a:avLst>
          </a:prstGeom>
          <a:solidFill>
            <a:srgbClr val="F7F9FF"/>
          </a:solidFill>
          <a:ln w="12700">
            <a:solidFill>
              <a:srgbClr val="B0B8CC"/>
            </a:solidFill>
            <a:prstDash val="solid"/>
          </a:ln>
        </p:spPr>
      </p:sp>
      <p:sp>
        <p:nvSpPr>
          <p:cNvPr id="12" name="Text 10"/>
          <p:cNvSpPr/>
          <p:nvPr/>
        </p:nvSpPr>
        <p:spPr>
          <a:xfrm>
            <a:off x="594360" y="226771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Q2</a:t>
            </a:r>
            <a:endParaRPr lang="en-US" sz="1100" dirty="0"/>
          </a:p>
        </p:txBody>
      </p:sp>
      <p:sp>
        <p:nvSpPr>
          <p:cNvPr id="13" name="Text 11"/>
          <p:cNvSpPr/>
          <p:nvPr/>
        </p:nvSpPr>
        <p:spPr>
          <a:xfrm>
            <a:off x="594360" y="251460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Which belongs on a political map?</a:t>
            </a:r>
            <a:endParaRPr lang="en-US" sz="1300" dirty="0"/>
          </a:p>
        </p:txBody>
      </p:sp>
      <p:sp>
        <p:nvSpPr>
          <p:cNvPr id="14" name="Shape 12"/>
          <p:cNvSpPr/>
          <p:nvPr/>
        </p:nvSpPr>
        <p:spPr>
          <a:xfrm>
            <a:off x="4754880" y="2194560"/>
            <a:ext cx="3931920" cy="1097280"/>
          </a:xfrm>
          <a:prstGeom prst="roundRect">
            <a:avLst>
              <a:gd name="adj" fmla="val 8333"/>
            </a:avLst>
          </a:prstGeom>
          <a:solidFill>
            <a:srgbClr val="E8F5EF"/>
          </a:solidFill>
          <a:ln w="12700">
            <a:solidFill>
              <a:srgbClr val="34B76F"/>
            </a:solidFill>
            <a:prstDash val="solid"/>
          </a:ln>
        </p:spPr>
      </p:sp>
      <p:sp>
        <p:nvSpPr>
          <p:cNvPr id="15" name="Text 13"/>
          <p:cNvSpPr/>
          <p:nvPr/>
        </p:nvSpPr>
        <p:spPr>
          <a:xfrm>
            <a:off x="4892040" y="226771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6" name="Text 14"/>
          <p:cNvSpPr/>
          <p:nvPr/>
        </p:nvSpPr>
        <p:spPr>
          <a:xfrm>
            <a:off x="4892040" y="251460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Florida-Georgia border — a line humans agreed on, not nature</a:t>
            </a:r>
            <a:endParaRPr lang="en-US" sz="1200" dirty="0"/>
          </a:p>
        </p:txBody>
      </p:sp>
      <p:sp>
        <p:nvSpPr>
          <p:cNvPr id="17" name="Shape 15"/>
          <p:cNvSpPr/>
          <p:nvPr/>
        </p:nvSpPr>
        <p:spPr>
          <a:xfrm>
            <a:off x="457200" y="3474720"/>
            <a:ext cx="4114800" cy="1097280"/>
          </a:xfrm>
          <a:prstGeom prst="roundRect">
            <a:avLst>
              <a:gd name="adj" fmla="val 8333"/>
            </a:avLst>
          </a:prstGeom>
          <a:solidFill>
            <a:srgbClr val="F7F9FF"/>
          </a:solidFill>
          <a:ln w="12700">
            <a:solidFill>
              <a:srgbClr val="B0B8CC"/>
            </a:solidFill>
            <a:prstDash val="solid"/>
          </a:ln>
        </p:spPr>
      </p:sp>
      <p:sp>
        <p:nvSpPr>
          <p:cNvPr id="18" name="Text 16"/>
          <p:cNvSpPr/>
          <p:nvPr/>
        </p:nvSpPr>
        <p:spPr>
          <a:xfrm>
            <a:off x="594360" y="354787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Q3</a:t>
            </a:r>
            <a:endParaRPr lang="en-US" sz="1100" dirty="0"/>
          </a:p>
        </p:txBody>
      </p:sp>
      <p:sp>
        <p:nvSpPr>
          <p:cNvPr id="19" name="Text 17"/>
          <p:cNvSpPr/>
          <p:nvPr/>
        </p:nvSpPr>
        <p:spPr>
          <a:xfrm>
            <a:off x="594360" y="379476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Why do geographers read both maps together?</a:t>
            </a:r>
            <a:endParaRPr lang="en-US" sz="1300" dirty="0"/>
          </a:p>
        </p:txBody>
      </p:sp>
      <p:sp>
        <p:nvSpPr>
          <p:cNvPr id="20" name="Shape 18"/>
          <p:cNvSpPr/>
          <p:nvPr/>
        </p:nvSpPr>
        <p:spPr>
          <a:xfrm>
            <a:off x="4754880" y="3474720"/>
            <a:ext cx="3931920" cy="1097280"/>
          </a:xfrm>
          <a:prstGeom prst="roundRect">
            <a:avLst>
              <a:gd name="adj" fmla="val 8333"/>
            </a:avLst>
          </a:prstGeom>
          <a:solidFill>
            <a:srgbClr val="E8F5EF"/>
          </a:solidFill>
          <a:ln w="12700">
            <a:solidFill>
              <a:srgbClr val="34B76F"/>
            </a:solidFill>
            <a:prstDash val="solid"/>
          </a:ln>
        </p:spPr>
      </p:sp>
      <p:sp>
        <p:nvSpPr>
          <p:cNvPr id="21" name="Text 19"/>
          <p:cNvSpPr/>
          <p:nvPr/>
        </p:nvSpPr>
        <p:spPr>
          <a:xfrm>
            <a:off x="4892040" y="354787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22" name="Text 20"/>
          <p:cNvSpPr/>
          <p:nvPr/>
        </p:nvSpPr>
        <p:spPr>
          <a:xfrm>
            <a:off x="4892040" y="379476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Because each map only tells part of the story — together they let you ask questions neither one alone can answer</a:t>
            </a:r>
            <a:endParaRPr lang="en-US" sz="1200" dirty="0"/>
          </a:p>
        </p:txBody>
      </p:sp>
      <p:sp>
        <p:nvSpPr>
          <p:cNvPr id="24" name="Text 2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ASSIGNMENT  ·  MAP QUEST — READ BOTH LAYERS</a:t>
            </a:r>
            <a:endParaRPr lang="en-US" sz="1000" dirty="0"/>
          </a:p>
        </p:txBody>
      </p:sp>
      <p:sp>
        <p:nvSpPr>
          <p:cNvPr id="4" name="Text 2"/>
          <p:cNvSpPr/>
          <p:nvPr/>
        </p:nvSpPr>
        <p:spPr>
          <a:xfrm>
            <a:off x="457200" y="438912"/>
            <a:ext cx="8229600" cy="292608"/>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Answer using details from the lesson. Exact wording from your Canvas lesson.</a:t>
            </a:r>
            <a:endParaRPr lang="en-US" sz="1300" dirty="0"/>
          </a:p>
        </p:txBody>
      </p:sp>
      <p:sp>
        <p:nvSpPr>
          <p:cNvPr id="5" name="Shape 3"/>
          <p:cNvSpPr/>
          <p:nvPr/>
        </p:nvSpPr>
        <p:spPr>
          <a:xfrm>
            <a:off x="457200" y="804672"/>
            <a:ext cx="8229600" cy="804672"/>
          </a:xfrm>
          <a:prstGeom prst="roundRect">
            <a:avLst>
              <a:gd name="adj" fmla="val 11364"/>
            </a:avLst>
          </a:prstGeom>
          <a:solidFill>
            <a:srgbClr val="FFFFFF"/>
          </a:solidFill>
          <a:ln w="12700">
            <a:solidFill>
              <a:srgbClr val="B0B8CC"/>
            </a:solidFill>
            <a:prstDash val="solid"/>
          </a:ln>
        </p:spPr>
      </p:sp>
      <p:sp>
        <p:nvSpPr>
          <p:cNvPr id="6" name="Text 4"/>
          <p:cNvSpPr/>
          <p:nvPr/>
        </p:nvSpPr>
        <p:spPr>
          <a:xfrm>
            <a:off x="594360" y="8686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594360" y="10972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Name one PHYSICAL feature and one POLITICAL feature that you saw on Florida's dual map.</a:t>
            </a:r>
            <a:endParaRPr lang="en-US" sz="1300" dirty="0"/>
          </a:p>
        </p:txBody>
      </p:sp>
      <p:sp>
        <p:nvSpPr>
          <p:cNvPr id="8" name="Text 6"/>
          <p:cNvSpPr/>
          <p:nvPr/>
        </p:nvSpPr>
        <p:spPr>
          <a:xfrm>
            <a:off x="6675120" y="8686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Pull both from the same map. Don't mix them up.</a:t>
            </a:r>
            <a:endParaRPr lang="en-US" sz="1000" dirty="0"/>
          </a:p>
        </p:txBody>
      </p:sp>
      <p:sp>
        <p:nvSpPr>
          <p:cNvPr id="9" name="Shape 7"/>
          <p:cNvSpPr/>
          <p:nvPr/>
        </p:nvSpPr>
        <p:spPr>
          <a:xfrm>
            <a:off x="457200" y="1719072"/>
            <a:ext cx="8229600" cy="804672"/>
          </a:xfrm>
          <a:prstGeom prst="roundRect">
            <a:avLst>
              <a:gd name="adj" fmla="val 11364"/>
            </a:avLst>
          </a:prstGeom>
          <a:solidFill>
            <a:srgbClr val="FFFFFF"/>
          </a:solidFill>
          <a:ln w="12700">
            <a:solidFill>
              <a:srgbClr val="B0B8CC"/>
            </a:solidFill>
            <a:prstDash val="solid"/>
          </a:ln>
        </p:spPr>
      </p:sp>
      <p:sp>
        <p:nvSpPr>
          <p:cNvPr id="10" name="Text 8"/>
          <p:cNvSpPr/>
          <p:nvPr/>
        </p:nvSpPr>
        <p:spPr>
          <a:xfrm>
            <a:off x="594360" y="17830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Q2</a:t>
            </a:r>
            <a:endParaRPr lang="en-US" sz="900" dirty="0"/>
          </a:p>
        </p:txBody>
      </p:sp>
      <p:sp>
        <p:nvSpPr>
          <p:cNvPr id="11" name="Text 9"/>
          <p:cNvSpPr/>
          <p:nvPr/>
        </p:nvSpPr>
        <p:spPr>
          <a:xfrm>
            <a:off x="594360" y="20116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Find a place on the map where a physical and political feature meet. What does looking at both help you understand?</a:t>
            </a:r>
            <a:endParaRPr lang="en-US" sz="1300" dirty="0"/>
          </a:p>
        </p:txBody>
      </p:sp>
      <p:sp>
        <p:nvSpPr>
          <p:cNvPr id="12" name="Text 10"/>
          <p:cNvSpPr/>
          <p:nvPr/>
        </p:nvSpPr>
        <p:spPr>
          <a:xfrm>
            <a:off x="6675120" y="17830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Use specific names from the map.</a:t>
            </a:r>
            <a:endParaRPr lang="en-US" sz="1000" dirty="0"/>
          </a:p>
        </p:txBody>
      </p:sp>
      <p:sp>
        <p:nvSpPr>
          <p:cNvPr id="13" name="Shape 11"/>
          <p:cNvSpPr/>
          <p:nvPr/>
        </p:nvSpPr>
        <p:spPr>
          <a:xfrm>
            <a:off x="457200" y="2633472"/>
            <a:ext cx="8229600" cy="804672"/>
          </a:xfrm>
          <a:prstGeom prst="roundRect">
            <a:avLst>
              <a:gd name="adj" fmla="val 11364"/>
            </a:avLst>
          </a:prstGeom>
          <a:solidFill>
            <a:srgbClr val="FFFFFF"/>
          </a:solidFill>
          <a:ln w="12700">
            <a:solidFill>
              <a:srgbClr val="B0B8CC"/>
            </a:solidFill>
            <a:prstDash val="solid"/>
          </a:ln>
        </p:spPr>
      </p:sp>
      <p:sp>
        <p:nvSpPr>
          <p:cNvPr id="14" name="Text 12"/>
          <p:cNvSpPr/>
          <p:nvPr/>
        </p:nvSpPr>
        <p:spPr>
          <a:xfrm>
            <a:off x="594360" y="26974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Q3</a:t>
            </a:r>
            <a:endParaRPr lang="en-US" sz="900" dirty="0"/>
          </a:p>
        </p:txBody>
      </p:sp>
      <p:sp>
        <p:nvSpPr>
          <p:cNvPr id="15" name="Text 13"/>
          <p:cNvSpPr/>
          <p:nvPr/>
        </p:nvSpPr>
        <p:spPr>
          <a:xfrm>
            <a:off x="594360" y="29260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Why does courtesy matter when reading two maps at once?</a:t>
            </a:r>
            <a:endParaRPr lang="en-US" sz="1300" dirty="0"/>
          </a:p>
        </p:txBody>
      </p:sp>
      <p:sp>
        <p:nvSpPr>
          <p:cNvPr id="16" name="Text 14"/>
          <p:cNvSpPr/>
          <p:nvPr/>
        </p:nvSpPr>
        <p:spPr>
          <a:xfrm>
            <a:off x="6675120" y="26974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Connect courtesy to the careful, patient work of comparing.</a:t>
            </a:r>
            <a:endParaRPr lang="en-US" sz="1000" dirty="0"/>
          </a:p>
        </p:txBody>
      </p:sp>
      <p:sp>
        <p:nvSpPr>
          <p:cNvPr id="17" name="Shape 15"/>
          <p:cNvSpPr/>
          <p:nvPr/>
        </p:nvSpPr>
        <p:spPr>
          <a:xfrm>
            <a:off x="457200" y="3611880"/>
            <a:ext cx="8229600" cy="1188720"/>
          </a:xfrm>
          <a:prstGeom prst="roundRect">
            <a:avLst>
              <a:gd name="adj" fmla="val 9231"/>
            </a:avLst>
          </a:prstGeom>
          <a:solidFill>
            <a:srgbClr val="0E1C42"/>
          </a:solidFill>
          <a:ln w="19050">
            <a:solidFill>
              <a:srgbClr val="D4943A"/>
            </a:solidFill>
            <a:prstDash val="solid"/>
          </a:ln>
        </p:spPr>
      </p:sp>
      <p:sp>
        <p:nvSpPr>
          <p:cNvPr id="18" name="Text 16"/>
          <p:cNvSpPr/>
          <p:nvPr/>
        </p:nvSpPr>
        <p:spPr>
          <a:xfrm>
            <a:off x="640080" y="3703320"/>
            <a:ext cx="786384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 Map Quest Response: Two Maps, One Florida</a:t>
            </a:r>
            <a:endParaRPr lang="en-US" sz="1000" dirty="0"/>
          </a:p>
        </p:txBody>
      </p:sp>
      <p:sp>
        <p:nvSpPr>
          <p:cNvPr id="19" name="Text 17"/>
          <p:cNvSpPr/>
          <p:nvPr/>
        </p:nvSpPr>
        <p:spPr>
          <a:xfrm>
            <a:off x="640080" y="3977640"/>
            <a:ext cx="7863840" cy="75895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Pick one place in Florida where a physical feature and a political feature are close to each other. Write 3-4 sentences naming both features and explaining what the two layers together tell you that one alone could not.</a:t>
            </a:r>
            <a:endParaRPr lang="en-US" sz="1200" dirty="0"/>
          </a:p>
        </p:txBody>
      </p:sp>
      <p:sp>
        <p:nvSpPr>
          <p:cNvPr id="21" name="Text 1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457200"/>
            <a:ext cx="8046720" cy="292608"/>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FILE UNLOCKED</a:t>
            </a:r>
            <a:endParaRPr lang="en-US" sz="1000" dirty="0"/>
          </a:p>
        </p:txBody>
      </p:sp>
      <p:sp>
        <p:nvSpPr>
          <p:cNvPr id="6" name="Text 3"/>
          <p:cNvSpPr/>
          <p:nvPr/>
        </p:nvSpPr>
        <p:spPr>
          <a:xfrm>
            <a:off x="548640" y="777240"/>
            <a:ext cx="804672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Both Layers, Locked In</a:t>
            </a:r>
            <a:endParaRPr lang="en-US" sz="3800" dirty="0"/>
          </a:p>
        </p:txBody>
      </p:sp>
      <p:sp>
        <p:nvSpPr>
          <p:cNvPr id="7" name="Shape 4"/>
          <p:cNvSpPr/>
          <p:nvPr/>
        </p:nvSpPr>
        <p:spPr>
          <a:xfrm>
            <a:off x="548640" y="1920240"/>
            <a:ext cx="3657600" cy="36576"/>
          </a:xfrm>
          <a:prstGeom prst="rect">
            <a:avLst/>
          </a:prstGeom>
          <a:solidFill>
            <a:srgbClr val="D4943A"/>
          </a:solidFill>
          <a:ln w="12700">
            <a:solidFill>
              <a:srgbClr val="D4943A"/>
            </a:solidFill>
            <a:prstDash val="solid"/>
          </a:ln>
        </p:spPr>
      </p:sp>
      <p:sp>
        <p:nvSpPr>
          <p:cNvPr id="8" name="Text 5"/>
          <p:cNvSpPr/>
          <p:nvPr/>
        </p:nvSpPr>
        <p:spPr>
          <a:xfrm>
            <a:off x="548640" y="2029968"/>
            <a:ext cx="8046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Political maps show boundaries and human-made places. Physical maps show natural features of the land and water. Both maps are now sorted — the file is open.</a:t>
            </a:r>
            <a:endParaRPr lang="en-US" sz="1500" dirty="0"/>
          </a:p>
        </p:txBody>
      </p:sp>
      <p:sp>
        <p:nvSpPr>
          <p:cNvPr id="9" name="Shape 6"/>
          <p:cNvSpPr/>
          <p:nvPr/>
        </p:nvSpPr>
        <p:spPr>
          <a:xfrm>
            <a:off x="548640" y="3154680"/>
            <a:ext cx="8046720" cy="1280160"/>
          </a:xfrm>
          <a:prstGeom prst="roundRect">
            <a:avLst>
              <a:gd name="adj" fmla="val 8571"/>
            </a:avLst>
          </a:prstGeom>
          <a:solidFill>
            <a:srgbClr val="1A2D5A"/>
          </a:solidFill>
          <a:ln w="19050">
            <a:solidFill>
              <a:srgbClr val="55C8E8"/>
            </a:solidFill>
            <a:prstDash val="solid"/>
          </a:ln>
        </p:spPr>
      </p:sp>
      <p:sp>
        <p:nvSpPr>
          <p:cNvPr id="10" name="Text 7"/>
          <p:cNvSpPr/>
          <p:nvPr/>
        </p:nvSpPr>
        <p:spPr>
          <a:xfrm>
            <a:off x="731520" y="3246120"/>
            <a:ext cx="768096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1" name="Text 8"/>
          <p:cNvSpPr/>
          <p:nvPr/>
        </p:nvSpPr>
        <p:spPr>
          <a:xfrm>
            <a:off x="731520" y="3529584"/>
            <a:ext cx="7680960" cy="804672"/>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Lesson 4.02.06 — The Unit 2 Finale. You'll use latitude, longitude, scale, AND symbols together on a real Florida map. Bring everything you've learned. The Map Room opens only when all four tools work together.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2026-07-13T20:35:32Z</dcterms:created>
  <dcterms:modified xsi:type="dcterms:W3CDTF">2026-07-13T20:35:32Z</dcterms:modified>
</cp:coreProperties>
</file>