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Horizontal Florida history timeline graphic — markers at 1513, 1565, 1821, 1845, 1865 with connecting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message aloud together. Ask: 'What does it mean for events to be out of order? Why would that block the path?' Build the need for chronology before teaching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four steps. Today's key move: use 'because' to connect two events on the timeline — that's cause and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60 seconds to look at the scrambled events. Coach: 'Don't fix it yet — which one feels earliest to you and why?' Let them attempt to sequence by instinct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back. Let students wrestle with why order produces meaning, not just organization. Push: 'Give me one thing you literally could NOT explain if these events were in the wrong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events top to bottom. Then cover the dates and ask students to recall the order. Cold-call: 'What's the connection between 1821 and 1845?' Wait before explaining.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minute with the timeline source before the evaluate panel. Point to specific dates. Ask: 'How many years total? What's the biggest gap and why might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accept vague connections. Require the full 'because' sentence. If a student says '1821 connects to 1845,' push: 'Say the whole thing. Start with: Because Spain ceded...'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chain out loud. Stress: the 'because' sentence IS the cause/effect evidence. Transferable Pattern: they will do this for every timeline they ever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meaningful discussion point. First Peoples at the start of the timeline is not just accurate — it's an act of courtesy. What message does it send about who Florida's history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word-root fun. Ask: 'Where else do you hear chron-?' Accept chronometer, chronic illness, anachronism in movies. Then: 'So if an anachronism is something in the wrong time — why does a historian hate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five-step move. Say the 'because' sentence slowly and fully. Then students practice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 full 'because' sentences. Pair B is hardest — was being a state a cause of being in the Civil War? Yes. Pair C: 52 years — what happened in between? Let students speculate.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'because' — but push students to explain why 'because' is doing more work than just connecting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clean answer — that's the point. Events can have legitimate start-date disagreements depending on how you define the 'start.' A courteous historian acknowledges both and shows their sources. Let students sit with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answer first, then reveal one at a time. Q3 (courtesy) is the synthesis question. Celebrate any student who connects courtesy to the virtue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Q1 out loud: '1513 — Ponce de León names La Florida, 1565 — St. Augustine, 1821 — Spain cedes Florida, 1845 — statehood, 1865 — Reconstruction.' Walk through the 'because' sentence structure before students complete in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history timeline banner — horizontal thread connecting five era markers, warm archival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64008"/>
          </a:xfrm>
          <a:prstGeom prst="rect">
            <a:avLst/>
          </a:prstGeom>
          <a:solidFill>
            <a:srgbClr val="D4943A"/>
          </a:solidFill>
          <a:ln/>
        </p:spPr>
      </p:sp>
      <p:sp>
        <p:nvSpPr>
          <p:cNvPr id="6" name="Shape 3"/>
          <p:cNvSpPr/>
          <p:nvPr/>
        </p:nvSpPr>
        <p:spPr>
          <a:xfrm>
            <a:off x="457200" y="228600"/>
            <a:ext cx="2194560" cy="365760"/>
          </a:xfrm>
          <a:prstGeom prst="roundRect">
            <a:avLst>
              <a:gd name="adj" fmla="val 45000"/>
            </a:avLst>
          </a:prstGeom>
          <a:solidFill>
            <a:srgbClr val="D4943A"/>
          </a:solidFill>
          <a:ln/>
        </p:spPr>
      </p:sp>
      <p:sp>
        <p:nvSpPr>
          <p:cNvPr id="7" name="Text 4"/>
          <p:cNvSpPr/>
          <p:nvPr/>
        </p:nvSpPr>
        <p:spPr>
          <a:xfrm>
            <a:off x="457200" y="228600"/>
            <a:ext cx="21945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LESSON 4.01.04</a:t>
            </a:r>
            <a:endParaRPr lang="en-US" sz="1100" dirty="0"/>
          </a:p>
        </p:txBody>
      </p:sp>
      <p:sp>
        <p:nvSpPr>
          <p:cNvPr id="8" name="Text 5"/>
          <p:cNvSpPr/>
          <p:nvPr/>
        </p:nvSpPr>
        <p:spPr>
          <a:xfrm>
            <a:off x="457200" y="731520"/>
            <a:ext cx="8229600" cy="6858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Timeline</a:t>
            </a:r>
            <a:endParaRPr lang="en-US" sz="5000" dirty="0"/>
          </a:p>
        </p:txBody>
      </p:sp>
      <p:sp>
        <p:nvSpPr>
          <p:cNvPr id="9" name="Text 6"/>
          <p:cNvSpPr/>
          <p:nvPr/>
        </p:nvSpPr>
        <p:spPr>
          <a:xfrm>
            <a:off x="457200" y="1389888"/>
            <a:ext cx="8229600" cy="685800"/>
          </a:xfrm>
          <a:prstGeom prst="rect">
            <a:avLst/>
          </a:prstGeom>
          <a:noFill/>
          <a:ln/>
        </p:spPr>
        <p:txBody>
          <a:bodyPr wrap="square" lIns="0" tIns="0" rIns="0" bIns="0" rtlCol="0" anchor="ctr"/>
          <a:lstStyle/>
          <a:p>
            <a:pPr indent="0" marL="0">
              <a:buNone/>
            </a:pPr>
            <a:r>
              <a:rPr lang="en-US" sz="5000" b="1" dirty="0">
                <a:solidFill>
                  <a:srgbClr val="D4943A"/>
                </a:solidFill>
                <a:latin typeface="Cambria" pitchFamily="34" charset="0"/>
                <a:ea typeface="Cambria" pitchFamily="34" charset="-122"/>
                <a:cs typeface="Cambria" pitchFamily="34" charset="-120"/>
              </a:rPr>
              <a:t>Thread</a:t>
            </a:r>
            <a:endParaRPr lang="en-US" sz="5000" dirty="0"/>
          </a:p>
        </p:txBody>
      </p:sp>
      <p:sp>
        <p:nvSpPr>
          <p:cNvPr id="10" name="Text 7"/>
          <p:cNvSpPr/>
          <p:nvPr/>
        </p:nvSpPr>
        <p:spPr>
          <a:xfrm>
            <a:off x="457200" y="2176272"/>
            <a:ext cx="8229600" cy="347472"/>
          </a:xfrm>
          <a:prstGeom prst="rect">
            <a:avLst/>
          </a:prstGeom>
          <a:noFill/>
          <a:ln/>
        </p:spPr>
        <p:txBody>
          <a:bodyPr wrap="square" lIns="0" tIns="0" rIns="0" bIns="0" rtlCol="0" anchor="ctr"/>
          <a:lstStyle/>
          <a:p>
            <a:pPr indent="0" marL="0">
              <a:buNone/>
            </a:pPr>
            <a:r>
              <a:rPr lang="en-US" sz="1800" i="1" dirty="0">
                <a:solidFill>
                  <a:srgbClr val="55C8E8"/>
                </a:solidFill>
                <a:latin typeface="Calibri" pitchFamily="34" charset="0"/>
                <a:ea typeface="Calibri" pitchFamily="34" charset="-122"/>
                <a:cs typeface="Calibri" pitchFamily="34" charset="-120"/>
              </a:rPr>
              <a:t>Sequencing Florida History</a:t>
            </a:r>
            <a:endParaRPr lang="en-US" sz="1800" dirty="0"/>
          </a:p>
        </p:txBody>
      </p:sp>
      <p:sp>
        <p:nvSpPr>
          <p:cNvPr id="11" name="Shape 8"/>
          <p:cNvSpPr/>
          <p:nvPr/>
        </p:nvSpPr>
        <p:spPr>
          <a:xfrm>
            <a:off x="457200" y="2606040"/>
            <a:ext cx="3657600" cy="45720"/>
          </a:xfrm>
          <a:prstGeom prst="rect">
            <a:avLst/>
          </a:prstGeom>
          <a:solidFill>
            <a:srgbClr val="D4943A"/>
          </a:solidFill>
          <a:ln/>
        </p:spPr>
      </p:sp>
      <p:sp>
        <p:nvSpPr>
          <p:cNvPr id="12" name="Text 9"/>
          <p:cNvSpPr/>
          <p:nvPr/>
        </p:nvSpPr>
        <p:spPr>
          <a:xfrm>
            <a:off x="457200" y="2724912"/>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ESSENTIAL QUESTION</a:t>
            </a:r>
            <a:endParaRPr lang="en-US" sz="900" dirty="0"/>
          </a:p>
        </p:txBody>
      </p:sp>
      <p:sp>
        <p:nvSpPr>
          <p:cNvPr id="13" name="Text 10"/>
          <p:cNvSpPr/>
          <p:nvPr/>
        </p:nvSpPr>
        <p:spPr>
          <a:xfrm>
            <a:off x="457200" y="2999232"/>
            <a:ext cx="8046720" cy="914400"/>
          </a:xfrm>
          <a:prstGeom prst="rect">
            <a:avLst/>
          </a:prstGeom>
          <a:noFill/>
          <a:ln/>
        </p:spPr>
        <p:txBody>
          <a:bodyPr wrap="square" lIns="0" tIns="0" rIns="0" bIns="0" rtlCol="0" anchor="ctr"/>
          <a:lstStyle/>
          <a:p>
            <a:pPr indent="0" marL="0">
              <a:buNone/>
            </a:pPr>
            <a:r>
              <a:rPr lang="en-US" sz="1600" i="1" dirty="0">
                <a:solidFill>
                  <a:srgbClr val="FFFFFF"/>
                </a:solidFill>
                <a:latin typeface="Cambria" pitchFamily="34" charset="0"/>
                <a:ea typeface="Cambria" pitchFamily="34" charset="-122"/>
                <a:cs typeface="Cambria" pitchFamily="34" charset="-120"/>
              </a:rPr>
              <a:t>How does putting Florida history events in the right order help us understand WHY things happened — and why one moment led to the next?</a:t>
            </a:r>
            <a:endParaRPr lang="en-US" sz="1600" dirty="0"/>
          </a:p>
        </p:txBody>
      </p:sp>
      <p:sp>
        <p:nvSpPr>
          <p:cNvPr id="14" name="Text 11"/>
          <p:cNvSpPr/>
          <p:nvPr/>
        </p:nvSpPr>
        <p:spPr>
          <a:xfrm>
            <a:off x="457200" y="4663440"/>
            <a:ext cx="8229600" cy="292608"/>
          </a:xfrm>
          <a:prstGeom prst="rect">
            <a:avLst/>
          </a:prstGeom>
          <a:noFill/>
          <a:ln/>
        </p:spPr>
        <p:txBody>
          <a:bodyPr wrap="square" lIns="0" tIns="0" rIns="0" bIns="0" rtlCol="0" anchor="ctr"/>
          <a:lstStyle/>
          <a:p>
            <a:pPr indent="0" marL="0">
              <a:buNone/>
            </a:pPr>
            <a:r>
              <a:rPr lang="en-US" sz="1000" dirty="0">
                <a:solidFill>
                  <a:srgbClr val="7A88A8"/>
                </a:solidFill>
                <a:latin typeface="Calibri" pitchFamily="34" charset="0"/>
                <a:ea typeface="Calibri" pitchFamily="34" charset="-122"/>
                <a:cs typeface="Calibri" pitchFamily="34" charset="-120"/>
              </a:rPr>
              <a:t>SS.4.A.1.1 · SS.4.A.1.2 · SS.4.A.9.1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64008"/>
          </a:xfrm>
          <a:prstGeom prst="rect">
            <a:avLst/>
          </a:prstGeom>
          <a:solidFill>
            <a:srgbClr val="D4943A"/>
          </a:solidFill>
          <a:ln/>
        </p:spPr>
      </p:sp>
      <p:sp>
        <p:nvSpPr>
          <p:cNvPr id="4" name="Text 2"/>
          <p:cNvSpPr/>
          <p:nvPr/>
        </p:nvSpPr>
        <p:spPr>
          <a:xfrm>
            <a:off x="457200" y="164592"/>
            <a:ext cx="8229600" cy="32004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FLORIDA FILES: ESCAPE FROM CANVAS</a:t>
            </a:r>
            <a:endParaRPr lang="en-US" sz="1000" dirty="0"/>
          </a:p>
        </p:txBody>
      </p:sp>
      <p:sp>
        <p:nvSpPr>
          <p:cNvPr id="5" name="Shape 3"/>
          <p:cNvSpPr/>
          <p:nvPr/>
        </p:nvSpPr>
        <p:spPr>
          <a:xfrm>
            <a:off x="640080" y="594360"/>
            <a:ext cx="7863840" cy="3337560"/>
          </a:xfrm>
          <a:prstGeom prst="roundRect">
            <a:avLst>
              <a:gd name="adj" fmla="val 4932"/>
            </a:avLst>
          </a:prstGeom>
          <a:solidFill>
            <a:srgbClr val="1A2D5A"/>
          </a:solidFill>
          <a:ln w="25400">
            <a:solidFill>
              <a:srgbClr val="D4943A"/>
            </a:solidFill>
            <a:prstDash val="solid"/>
          </a:ln>
        </p:spPr>
      </p:sp>
      <p:sp>
        <p:nvSpPr>
          <p:cNvPr id="6" name="Text 4"/>
          <p:cNvSpPr/>
          <p:nvPr/>
        </p:nvSpPr>
        <p:spPr>
          <a:xfrm>
            <a:off x="914400" y="777240"/>
            <a:ext cx="7132320" cy="32004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Message from Inside Canvas</a:t>
            </a:r>
            <a:endParaRPr lang="en-US" sz="1300" dirty="0"/>
          </a:p>
        </p:txBody>
      </p:sp>
      <p:sp>
        <p:nvSpPr>
          <p:cNvPr id="7" name="Text 5"/>
          <p:cNvSpPr/>
          <p:nvPr/>
        </p:nvSpPr>
        <p:spPr>
          <a:xfrm>
            <a:off x="914400" y="1170432"/>
            <a:ext cx="7315200" cy="1828800"/>
          </a:xfrm>
          <a:prstGeom prst="rect">
            <a:avLst/>
          </a:prstGeom>
          <a:noFill/>
          <a:ln/>
        </p:spPr>
        <p:txBody>
          <a:bodyPr wrap="square" lIns="0" tIns="0" rIns="0" bIns="0"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I'm stuck inside Module 1 and the Florida Files are completely scrambled — Canvas dropped all the events out of order, so the path forward is totally blocked. I need your help to sort them out. Can you put the key Florida history events back in the right sequence so I can find my way through? Once the timeline is in order, the course path will open up again!</a:t>
            </a:r>
            <a:endParaRPr lang="en-US" sz="1400" dirty="0"/>
          </a:p>
        </p:txBody>
      </p:sp>
      <p:sp>
        <p:nvSpPr>
          <p:cNvPr id="8" name="Text 6"/>
          <p:cNvSpPr/>
          <p:nvPr/>
        </p:nvSpPr>
        <p:spPr>
          <a:xfrm>
            <a:off x="914400" y="3072384"/>
            <a:ext cx="7315200" cy="347472"/>
          </a:xfrm>
          <a:prstGeom prst="rect">
            <a:avLst/>
          </a:prstGeom>
          <a:noFill/>
          <a:ln/>
        </p:spPr>
        <p:txBody>
          <a:bodyPr wrap="square" lIns="0" tIns="0" rIns="0" bIns="0" rtlCol="0" anchor="ctr"/>
          <a:lstStyle/>
          <a:p>
            <a:pPr indent="0" marL="0">
              <a:buNone/>
            </a:pPr>
            <a:r>
              <a:rPr lang="en-US" sz="1200" i="1" dirty="0">
                <a:solidFill>
                  <a:srgbClr val="55C8E8"/>
                </a:solidFill>
                <a:latin typeface="Calibri" pitchFamily="34" charset="0"/>
                <a:ea typeface="Calibri" pitchFamily="34" charset="-122"/>
                <a:cs typeface="Calibri" pitchFamily="34" charset="-120"/>
              </a:rPr>
              <a:t>— Your teacher, still inside Module 1</a:t>
            </a:r>
            <a:endParaRPr lang="en-US" sz="1200" dirty="0"/>
          </a:p>
        </p:txBody>
      </p:sp>
      <p:sp>
        <p:nvSpPr>
          <p:cNvPr id="9" name="Text 7"/>
          <p:cNvSpPr/>
          <p:nvPr/>
        </p:nvSpPr>
        <p:spPr>
          <a:xfrm>
            <a:off x="457200" y="4069080"/>
            <a:ext cx="8229600" cy="365760"/>
          </a:xfrm>
          <a:prstGeom prst="rect">
            <a:avLst/>
          </a:prstGeom>
          <a:noFill/>
          <a:ln/>
        </p:spPr>
        <p:txBody>
          <a:bodyPr wrap="square" lIns="0" tIns="0" rIns="0" bIns="0"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Your mission: Put the Florida timeline back in order before the path stays blocked.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28016"/>
            <a:ext cx="8229600" cy="3657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TODAY'S PATH</a:t>
            </a:r>
            <a:endParaRPr lang="en-US" sz="2200" dirty="0"/>
          </a:p>
        </p:txBody>
      </p:sp>
      <p:sp>
        <p:nvSpPr>
          <p:cNvPr id="5" name="Shape 3"/>
          <p:cNvSpPr/>
          <p:nvPr/>
        </p:nvSpPr>
        <p:spPr>
          <a:xfrm>
            <a:off x="365760" y="749808"/>
            <a:ext cx="8412480" cy="896112"/>
          </a:xfrm>
          <a:prstGeom prst="roundRect">
            <a:avLst>
              <a:gd name="adj" fmla="val 12245"/>
            </a:avLst>
          </a:prstGeom>
          <a:solidFill>
            <a:srgbClr val="FFFFFF"/>
          </a:solidFill>
          <a:ln w="12700">
            <a:solidFill>
              <a:srgbClr val="B0B8CC"/>
            </a:solidFill>
            <a:prstDash val="solid"/>
          </a:ln>
        </p:spPr>
      </p:sp>
      <p:sp>
        <p:nvSpPr>
          <p:cNvPr id="6" name="Shape 4"/>
          <p:cNvSpPr/>
          <p:nvPr/>
        </p:nvSpPr>
        <p:spPr>
          <a:xfrm>
            <a:off x="548640" y="932688"/>
            <a:ext cx="502920" cy="502920"/>
          </a:xfrm>
          <a:prstGeom prst="ellipse">
            <a:avLst/>
          </a:prstGeom>
          <a:solidFill>
            <a:srgbClr val="D4943A"/>
          </a:solidFill>
          <a:ln/>
        </p:spPr>
      </p:sp>
      <p:sp>
        <p:nvSpPr>
          <p:cNvPr id="7" name="Text 5"/>
          <p:cNvSpPr/>
          <p:nvPr/>
        </p:nvSpPr>
        <p:spPr>
          <a:xfrm>
            <a:off x="548640" y="93268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88720" y="841248"/>
            <a:ext cx="1828800" cy="27432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LEARN</a:t>
            </a:r>
            <a:endParaRPr lang="en-US" sz="1000" dirty="0"/>
          </a:p>
        </p:txBody>
      </p:sp>
      <p:sp>
        <p:nvSpPr>
          <p:cNvPr id="9" name="Text 7"/>
          <p:cNvSpPr/>
          <p:nvPr/>
        </p:nvSpPr>
        <p:spPr>
          <a:xfrm>
            <a:off x="1188720" y="1133856"/>
            <a:ext cx="7315200" cy="4114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Chronology and cause and effect — how sequence turns dates into a story</a:t>
            </a:r>
            <a:endParaRPr lang="en-US" sz="1300" dirty="0"/>
          </a:p>
        </p:txBody>
      </p:sp>
      <p:sp>
        <p:nvSpPr>
          <p:cNvPr id="10" name="Shape 8"/>
          <p:cNvSpPr/>
          <p:nvPr/>
        </p:nvSpPr>
        <p:spPr>
          <a:xfrm>
            <a:off x="365760" y="1755648"/>
            <a:ext cx="8412480" cy="896112"/>
          </a:xfrm>
          <a:prstGeom prst="roundRect">
            <a:avLst>
              <a:gd name="adj" fmla="val 12245"/>
            </a:avLst>
          </a:prstGeom>
          <a:solidFill>
            <a:srgbClr val="FFFFFF"/>
          </a:solidFill>
          <a:ln w="12700">
            <a:solidFill>
              <a:srgbClr val="B0B8CC"/>
            </a:solidFill>
            <a:prstDash val="solid"/>
          </a:ln>
        </p:spPr>
      </p:sp>
      <p:sp>
        <p:nvSpPr>
          <p:cNvPr id="11" name="Shape 9"/>
          <p:cNvSpPr/>
          <p:nvPr/>
        </p:nvSpPr>
        <p:spPr>
          <a:xfrm>
            <a:off x="548640" y="1938528"/>
            <a:ext cx="502920" cy="502920"/>
          </a:xfrm>
          <a:prstGeom prst="ellipse">
            <a:avLst/>
          </a:prstGeom>
          <a:solidFill>
            <a:srgbClr val="D4943A"/>
          </a:solidFill>
          <a:ln/>
        </p:spPr>
      </p:sp>
      <p:sp>
        <p:nvSpPr>
          <p:cNvPr id="12" name="Text 10"/>
          <p:cNvSpPr/>
          <p:nvPr/>
        </p:nvSpPr>
        <p:spPr>
          <a:xfrm>
            <a:off x="548640" y="193852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188720" y="1847088"/>
            <a:ext cx="1828800" cy="27432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EXPLORE</a:t>
            </a:r>
            <a:endParaRPr lang="en-US" sz="1000" dirty="0"/>
          </a:p>
        </p:txBody>
      </p:sp>
      <p:sp>
        <p:nvSpPr>
          <p:cNvPr id="14" name="Text 12"/>
          <p:cNvSpPr/>
          <p:nvPr/>
        </p:nvSpPr>
        <p:spPr>
          <a:xfrm>
            <a:off x="1188720" y="2139696"/>
            <a:ext cx="7315200" cy="4114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Sequence five key Florida events and find one cause/effect link</a:t>
            </a:r>
            <a:endParaRPr lang="en-US" sz="1300" dirty="0"/>
          </a:p>
        </p:txBody>
      </p:sp>
      <p:sp>
        <p:nvSpPr>
          <p:cNvPr id="15" name="Shape 13"/>
          <p:cNvSpPr/>
          <p:nvPr/>
        </p:nvSpPr>
        <p:spPr>
          <a:xfrm>
            <a:off x="365760" y="2761488"/>
            <a:ext cx="8412480" cy="896112"/>
          </a:xfrm>
          <a:prstGeom prst="roundRect">
            <a:avLst>
              <a:gd name="adj" fmla="val 12245"/>
            </a:avLst>
          </a:prstGeom>
          <a:solidFill>
            <a:srgbClr val="FFFFFF"/>
          </a:solidFill>
          <a:ln w="12700">
            <a:solidFill>
              <a:srgbClr val="B0B8CC"/>
            </a:solidFill>
            <a:prstDash val="solid"/>
          </a:ln>
        </p:spPr>
      </p:sp>
      <p:sp>
        <p:nvSpPr>
          <p:cNvPr id="16" name="Shape 14"/>
          <p:cNvSpPr/>
          <p:nvPr/>
        </p:nvSpPr>
        <p:spPr>
          <a:xfrm>
            <a:off x="548640" y="2944368"/>
            <a:ext cx="502920" cy="502920"/>
          </a:xfrm>
          <a:prstGeom prst="ellipse">
            <a:avLst/>
          </a:prstGeom>
          <a:solidFill>
            <a:srgbClr val="D4943A"/>
          </a:solidFill>
          <a:ln/>
        </p:spPr>
      </p:sp>
      <p:sp>
        <p:nvSpPr>
          <p:cNvPr id="17" name="Text 15"/>
          <p:cNvSpPr/>
          <p:nvPr/>
        </p:nvSpPr>
        <p:spPr>
          <a:xfrm>
            <a:off x="548640" y="29443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188720" y="2852928"/>
            <a:ext cx="1828800" cy="27432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CHECK</a:t>
            </a:r>
            <a:endParaRPr lang="en-US" sz="1000" dirty="0"/>
          </a:p>
        </p:txBody>
      </p:sp>
      <p:sp>
        <p:nvSpPr>
          <p:cNvPr id="19" name="Text 17"/>
          <p:cNvSpPr/>
          <p:nvPr/>
        </p:nvSpPr>
        <p:spPr>
          <a:xfrm>
            <a:off x="1188720" y="3145536"/>
            <a:ext cx="7315200" cy="4114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Quick self-check: order the events and name the connection</a:t>
            </a:r>
            <a:endParaRPr lang="en-US" sz="1300" dirty="0"/>
          </a:p>
        </p:txBody>
      </p:sp>
      <p:sp>
        <p:nvSpPr>
          <p:cNvPr id="20" name="Shape 18"/>
          <p:cNvSpPr/>
          <p:nvPr/>
        </p:nvSpPr>
        <p:spPr>
          <a:xfrm>
            <a:off x="365760" y="3767328"/>
            <a:ext cx="8412480" cy="896112"/>
          </a:xfrm>
          <a:prstGeom prst="roundRect">
            <a:avLst>
              <a:gd name="adj" fmla="val 12245"/>
            </a:avLst>
          </a:prstGeom>
          <a:solidFill>
            <a:srgbClr val="FFFFFF"/>
          </a:solidFill>
          <a:ln w="12700">
            <a:solidFill>
              <a:srgbClr val="B0B8CC"/>
            </a:solidFill>
            <a:prstDash val="solid"/>
          </a:ln>
        </p:spPr>
      </p:sp>
      <p:sp>
        <p:nvSpPr>
          <p:cNvPr id="21" name="Shape 19"/>
          <p:cNvSpPr/>
          <p:nvPr/>
        </p:nvSpPr>
        <p:spPr>
          <a:xfrm>
            <a:off x="548640" y="3950208"/>
            <a:ext cx="502920" cy="502920"/>
          </a:xfrm>
          <a:prstGeom prst="ellipse">
            <a:avLst/>
          </a:prstGeom>
          <a:solidFill>
            <a:srgbClr val="D4943A"/>
          </a:solidFill>
          <a:ln/>
        </p:spPr>
      </p:sp>
      <p:sp>
        <p:nvSpPr>
          <p:cNvPr id="22" name="Text 20"/>
          <p:cNvSpPr/>
          <p:nvPr/>
        </p:nvSpPr>
        <p:spPr>
          <a:xfrm>
            <a:off x="548640" y="395020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1188720" y="3858768"/>
            <a:ext cx="1828800" cy="27432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a:t>
            </a:r>
            <a:endParaRPr lang="en-US" sz="1000" dirty="0"/>
          </a:p>
        </p:txBody>
      </p:sp>
      <p:sp>
        <p:nvSpPr>
          <p:cNvPr id="24" name="Text 22"/>
          <p:cNvSpPr/>
          <p:nvPr/>
        </p:nvSpPr>
        <p:spPr>
          <a:xfrm>
            <a:off x="1188720" y="4151376"/>
            <a:ext cx="7315200" cy="4114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Complete Timeline Source Study and submit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CLUE BOX — CANVAS SCRAMBLED THE TIMELINE</a:t>
            </a:r>
            <a:endParaRPr lang="en-US" sz="1400" dirty="0"/>
          </a:p>
        </p:txBody>
      </p:sp>
      <p:sp>
        <p:nvSpPr>
          <p:cNvPr id="5" name="Shape 3"/>
          <p:cNvSpPr/>
          <p:nvPr/>
        </p:nvSpPr>
        <p:spPr>
          <a:xfrm>
            <a:off x="365760" y="685800"/>
            <a:ext cx="4434840" cy="3063240"/>
          </a:xfrm>
          <a:prstGeom prst="roundRect">
            <a:avLst>
              <a:gd name="adj" fmla="val 3582"/>
            </a:avLst>
          </a:prstGeom>
          <a:solidFill>
            <a:srgbClr val="E2E8F4"/>
          </a:solidFill>
          <a:ln w="19050">
            <a:solidFill>
              <a:srgbClr val="B0B8CC"/>
            </a:solidFill>
            <a:prstDash val="dash"/>
          </a:ln>
        </p:spPr>
      </p:sp>
      <p:sp>
        <p:nvSpPr>
          <p:cNvPr id="6" name="Text 4"/>
          <p:cNvSpPr/>
          <p:nvPr/>
        </p:nvSpPr>
        <p:spPr>
          <a:xfrm>
            <a:off x="365760" y="685800"/>
            <a:ext cx="44348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960120"/>
            <a:ext cx="4160520" cy="2697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Five Florida history event cards shown OUT OF ORDER — e.g., Florida statehood 1845, then 1513 Ponce de Leon, then 1821 Spain cedes Florida, then 1565 St. Augustine, then 1865 Reconstruction. Scrambled deliberately.</a:t>
            </a:r>
            <a:endParaRPr lang="en-US" sz="1100" dirty="0"/>
          </a:p>
        </p:txBody>
      </p:sp>
      <p:sp>
        <p:nvSpPr>
          <p:cNvPr id="8" name="Shape 6"/>
          <p:cNvSpPr/>
          <p:nvPr/>
        </p:nvSpPr>
        <p:spPr>
          <a:xfrm>
            <a:off x="4983480" y="685800"/>
            <a:ext cx="3749040" cy="3063240"/>
          </a:xfrm>
          <a:prstGeom prst="roundRect">
            <a:avLst>
              <a:gd name="adj" fmla="val 3582"/>
            </a:avLst>
          </a:prstGeom>
          <a:solidFill>
            <a:srgbClr val="FFF3DC"/>
          </a:solidFill>
          <a:ln w="19050">
            <a:solidFill>
              <a:srgbClr val="F5E6C8"/>
            </a:solidFill>
            <a:prstDash val="solid"/>
          </a:ln>
        </p:spPr>
      </p:sp>
      <p:sp>
        <p:nvSpPr>
          <p:cNvPr id="9" name="Text 7"/>
          <p:cNvSpPr/>
          <p:nvPr/>
        </p:nvSpPr>
        <p:spPr>
          <a:xfrm>
            <a:off x="5120640" y="740664"/>
            <a:ext cx="3474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120640" y="941832"/>
            <a:ext cx="3474720" cy="2743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event came FIRST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can tell these two events are connected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the order were wrong, it would be confusing because..."</a:t>
            </a:r>
            <a:endParaRPr lang="en-US" sz="1200" dirty="0"/>
          </a:p>
        </p:txBody>
      </p:sp>
      <p:sp>
        <p:nvSpPr>
          <p:cNvPr id="11" name="Text 9"/>
          <p:cNvSpPr/>
          <p:nvPr/>
        </p:nvSpPr>
        <p:spPr>
          <a:xfrm>
            <a:off x="365760" y="3886200"/>
            <a:ext cx="8412480" cy="384048"/>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Look at the scrambled events. Before discussing — write your first reaction in the chat frame.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55C8E8"/>
                </a:solidFill>
                <a:latin typeface="Calibri" pitchFamily="34" charset="0"/>
                <a:ea typeface="Calibri" pitchFamily="34" charset="-122"/>
                <a:cs typeface="Calibri" pitchFamily="34" charset="-120"/>
              </a:rPr>
              <a:t>DISCUSSION — WHY DOES ORDER MATTER?</a:t>
            </a:r>
            <a:endParaRPr lang="en-US" sz="1500" dirty="0"/>
          </a:p>
        </p:txBody>
      </p:sp>
      <p:sp>
        <p:nvSpPr>
          <p:cNvPr id="5" name="Shape 3"/>
          <p:cNvSpPr/>
          <p:nvPr/>
        </p:nvSpPr>
        <p:spPr>
          <a:xfrm>
            <a:off x="365760" y="749808"/>
            <a:ext cx="8412480" cy="3749040"/>
          </a:xfrm>
          <a:prstGeom prst="roundRect">
            <a:avLst>
              <a:gd name="adj" fmla="val 3659"/>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841248"/>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1097280"/>
            <a:ext cx="8046720" cy="33101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only had a pile of dates with no order, what could you NOT understand about Florida history?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ever know WHY something happened if you don't know WHEN it happened relative to something else?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Florida became a state in 1845, does it matter that Spain ceded it in 1821 first? What would break without that order?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the same event mean different things to different groups? Does that change the timeline — or just how we read it?</a:t>
            </a:r>
            <a:endParaRPr lang="en-US" sz="1100" dirty="0"/>
          </a:p>
        </p:txBody>
      </p:sp>
      <p:sp>
        <p:nvSpPr>
          <p:cNvPr id="8" name="Text 6"/>
          <p:cNvSpPr/>
          <p:nvPr/>
        </p:nvSpPr>
        <p:spPr>
          <a:xfrm>
            <a:off x="365760" y="4617720"/>
            <a:ext cx="8412480" cy="292608"/>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Push toward cause and effect — don't accept 'we'd be confused.' Ask: what specifically couldn't you explain?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64008"/>
          </a:xfrm>
          <a:prstGeom prst="rect">
            <a:avLst/>
          </a:prstGeom>
          <a:solidFill>
            <a:srgbClr val="1A8A7D"/>
          </a:solidFill>
          <a:ln/>
        </p:spPr>
      </p:sp>
      <p:sp>
        <p:nvSpPr>
          <p:cNvPr id="4" name="Text 2"/>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REVEAL 1 — FLORIDA'S TIMELINE IN ORDER</a:t>
            </a:r>
            <a:endParaRPr lang="en-US" sz="1000" dirty="0"/>
          </a:p>
        </p:txBody>
      </p:sp>
      <p:sp>
        <p:nvSpPr>
          <p:cNvPr id="5" name="Shape 3"/>
          <p:cNvSpPr/>
          <p:nvPr/>
        </p:nvSpPr>
        <p:spPr>
          <a:xfrm>
            <a:off x="1371600" y="658368"/>
            <a:ext cx="45720" cy="4160520"/>
          </a:xfrm>
          <a:prstGeom prst="rect">
            <a:avLst/>
          </a:prstGeom>
          <a:solidFill>
            <a:srgbClr val="3A5080"/>
          </a:solidFill>
          <a:ln/>
        </p:spPr>
      </p:sp>
      <p:sp>
        <p:nvSpPr>
          <p:cNvPr id="6" name="Shape 4"/>
          <p:cNvSpPr/>
          <p:nvPr/>
        </p:nvSpPr>
        <p:spPr>
          <a:xfrm>
            <a:off x="1143000" y="768096"/>
            <a:ext cx="502920" cy="502920"/>
          </a:xfrm>
          <a:prstGeom prst="ellipse">
            <a:avLst/>
          </a:prstGeom>
          <a:solidFill>
            <a:srgbClr val="55C8E8"/>
          </a:solidFill>
          <a:ln/>
        </p:spPr>
      </p:sp>
      <p:sp>
        <p:nvSpPr>
          <p:cNvPr id="7" name="Shape 5"/>
          <p:cNvSpPr/>
          <p:nvPr/>
        </p:nvSpPr>
        <p:spPr>
          <a:xfrm>
            <a:off x="1783080" y="658368"/>
            <a:ext cx="6995160" cy="749808"/>
          </a:xfrm>
          <a:prstGeom prst="roundRect">
            <a:avLst>
              <a:gd name="adj" fmla="val 12195"/>
            </a:avLst>
          </a:prstGeom>
          <a:solidFill>
            <a:srgbClr val="1A2D5A"/>
          </a:solidFill>
          <a:ln w="12700">
            <a:solidFill>
              <a:srgbClr val="55C8E8"/>
            </a:solidFill>
            <a:prstDash val="solid"/>
          </a:ln>
        </p:spPr>
      </p:sp>
      <p:sp>
        <p:nvSpPr>
          <p:cNvPr id="8" name="Text 6"/>
          <p:cNvSpPr/>
          <p:nvPr/>
        </p:nvSpPr>
        <p:spPr>
          <a:xfrm>
            <a:off x="1810512" y="731520"/>
            <a:ext cx="822960" cy="274320"/>
          </a:xfrm>
          <a:prstGeom prst="rect">
            <a:avLst/>
          </a:prstGeom>
          <a:noFill/>
          <a:ln/>
        </p:spPr>
        <p:txBody>
          <a:bodyPr wrap="square" lIns="0" tIns="0" rIns="0" bIns="0" rtlCol="0" anchor="ctr"/>
          <a:lstStyle/>
          <a:p>
            <a:pPr indent="0" marL="0">
              <a:buNone/>
            </a:pPr>
            <a:r>
              <a:rPr lang="en-US" sz="1300" b="1" dirty="0">
                <a:solidFill>
                  <a:srgbClr val="55C8E8"/>
                </a:solidFill>
                <a:latin typeface="Cambria" pitchFamily="34" charset="0"/>
                <a:ea typeface="Cambria" pitchFamily="34" charset="-122"/>
                <a:cs typeface="Cambria" pitchFamily="34" charset="-120"/>
              </a:rPr>
              <a:t>1513</a:t>
            </a:r>
            <a:endParaRPr lang="en-US" sz="1300" dirty="0"/>
          </a:p>
        </p:txBody>
      </p:sp>
      <p:sp>
        <p:nvSpPr>
          <p:cNvPr id="9" name="Text 7"/>
          <p:cNvSpPr/>
          <p:nvPr/>
        </p:nvSpPr>
        <p:spPr>
          <a:xfrm>
            <a:off x="2651760" y="713232"/>
            <a:ext cx="603504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Juan Ponce de León names the peninsula La Florida. First Peoples — Calusa, Timucua, Tequesta, Apalachee — already living here.</a:t>
            </a:r>
            <a:endParaRPr lang="en-US" sz="1200" dirty="0"/>
          </a:p>
        </p:txBody>
      </p:sp>
      <p:sp>
        <p:nvSpPr>
          <p:cNvPr id="10" name="Shape 8"/>
          <p:cNvSpPr/>
          <p:nvPr/>
        </p:nvSpPr>
        <p:spPr>
          <a:xfrm>
            <a:off x="1143000" y="1591056"/>
            <a:ext cx="502920" cy="502920"/>
          </a:xfrm>
          <a:prstGeom prst="ellipse">
            <a:avLst/>
          </a:prstGeom>
          <a:solidFill>
            <a:srgbClr val="D4943A"/>
          </a:solidFill>
          <a:ln/>
        </p:spPr>
      </p:sp>
      <p:sp>
        <p:nvSpPr>
          <p:cNvPr id="11" name="Shape 9"/>
          <p:cNvSpPr/>
          <p:nvPr/>
        </p:nvSpPr>
        <p:spPr>
          <a:xfrm>
            <a:off x="1783080" y="1481328"/>
            <a:ext cx="6995160" cy="749808"/>
          </a:xfrm>
          <a:prstGeom prst="roundRect">
            <a:avLst>
              <a:gd name="adj" fmla="val 12195"/>
            </a:avLst>
          </a:prstGeom>
          <a:solidFill>
            <a:srgbClr val="1A2D5A"/>
          </a:solidFill>
          <a:ln w="12700">
            <a:solidFill>
              <a:srgbClr val="D4943A"/>
            </a:solidFill>
            <a:prstDash val="solid"/>
          </a:ln>
        </p:spPr>
      </p:sp>
      <p:sp>
        <p:nvSpPr>
          <p:cNvPr id="12" name="Text 10"/>
          <p:cNvSpPr/>
          <p:nvPr/>
        </p:nvSpPr>
        <p:spPr>
          <a:xfrm>
            <a:off x="1810512" y="1554480"/>
            <a:ext cx="822960" cy="274320"/>
          </a:xfrm>
          <a:prstGeom prst="rect">
            <a:avLst/>
          </a:prstGeom>
          <a:noFill/>
          <a:ln/>
        </p:spPr>
        <p:txBody>
          <a:bodyPr wrap="square" lIns="0" tIns="0" rIns="0" bIns="0" rtlCol="0" anchor="ctr"/>
          <a:lstStyle/>
          <a:p>
            <a:pPr indent="0" marL="0">
              <a:buNone/>
            </a:pPr>
            <a:r>
              <a:rPr lang="en-US" sz="1300" b="1" dirty="0">
                <a:solidFill>
                  <a:srgbClr val="D4943A"/>
                </a:solidFill>
                <a:latin typeface="Cambria" pitchFamily="34" charset="0"/>
                <a:ea typeface="Cambria" pitchFamily="34" charset="-122"/>
                <a:cs typeface="Cambria" pitchFamily="34" charset="-120"/>
              </a:rPr>
              <a:t>1565</a:t>
            </a:r>
            <a:endParaRPr lang="en-US" sz="1300" dirty="0"/>
          </a:p>
        </p:txBody>
      </p:sp>
      <p:sp>
        <p:nvSpPr>
          <p:cNvPr id="13" name="Text 11"/>
          <p:cNvSpPr/>
          <p:nvPr/>
        </p:nvSpPr>
        <p:spPr>
          <a:xfrm>
            <a:off x="2651760" y="1536192"/>
            <a:ext cx="603504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Pedro Menéndez de Avilés founds St. Augustine — oldest continuously occupied European settlement in what is now the U.S.</a:t>
            </a:r>
            <a:endParaRPr lang="en-US" sz="1200" dirty="0"/>
          </a:p>
        </p:txBody>
      </p:sp>
      <p:sp>
        <p:nvSpPr>
          <p:cNvPr id="14" name="Shape 12"/>
          <p:cNvSpPr/>
          <p:nvPr/>
        </p:nvSpPr>
        <p:spPr>
          <a:xfrm>
            <a:off x="1143000" y="2414016"/>
            <a:ext cx="502920" cy="502920"/>
          </a:xfrm>
          <a:prstGeom prst="ellipse">
            <a:avLst/>
          </a:prstGeom>
          <a:solidFill>
            <a:srgbClr val="34B76F"/>
          </a:solidFill>
          <a:ln/>
        </p:spPr>
      </p:sp>
      <p:sp>
        <p:nvSpPr>
          <p:cNvPr id="15" name="Shape 13"/>
          <p:cNvSpPr/>
          <p:nvPr/>
        </p:nvSpPr>
        <p:spPr>
          <a:xfrm>
            <a:off x="1783080" y="2304288"/>
            <a:ext cx="6995160" cy="749808"/>
          </a:xfrm>
          <a:prstGeom prst="roundRect">
            <a:avLst>
              <a:gd name="adj" fmla="val 12195"/>
            </a:avLst>
          </a:prstGeom>
          <a:solidFill>
            <a:srgbClr val="1A2D5A"/>
          </a:solidFill>
          <a:ln w="12700">
            <a:solidFill>
              <a:srgbClr val="34B76F"/>
            </a:solidFill>
            <a:prstDash val="solid"/>
          </a:ln>
        </p:spPr>
      </p:sp>
      <p:sp>
        <p:nvSpPr>
          <p:cNvPr id="16" name="Text 14"/>
          <p:cNvSpPr/>
          <p:nvPr/>
        </p:nvSpPr>
        <p:spPr>
          <a:xfrm>
            <a:off x="1810512" y="2377440"/>
            <a:ext cx="822960" cy="274320"/>
          </a:xfrm>
          <a:prstGeom prst="rect">
            <a:avLst/>
          </a:prstGeom>
          <a:noFill/>
          <a:ln/>
        </p:spPr>
        <p:txBody>
          <a:bodyPr wrap="square" lIns="0" tIns="0" rIns="0" bIns="0" rtlCol="0" anchor="ctr"/>
          <a:lstStyle/>
          <a:p>
            <a:pPr indent="0" marL="0">
              <a:buNone/>
            </a:pPr>
            <a:r>
              <a:rPr lang="en-US" sz="1300" b="1" dirty="0">
                <a:solidFill>
                  <a:srgbClr val="34B76F"/>
                </a:solidFill>
                <a:latin typeface="Cambria" pitchFamily="34" charset="0"/>
                <a:ea typeface="Cambria" pitchFamily="34" charset="-122"/>
                <a:cs typeface="Cambria" pitchFamily="34" charset="-120"/>
              </a:rPr>
              <a:t>1821</a:t>
            </a:r>
            <a:endParaRPr lang="en-US" sz="1300" dirty="0"/>
          </a:p>
        </p:txBody>
      </p:sp>
      <p:sp>
        <p:nvSpPr>
          <p:cNvPr id="17" name="Text 15"/>
          <p:cNvSpPr/>
          <p:nvPr/>
        </p:nvSpPr>
        <p:spPr>
          <a:xfrm>
            <a:off x="2651760" y="2359152"/>
            <a:ext cx="603504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Spain cedes Florida to the United States. Florida becomes a U.S. territory.</a:t>
            </a:r>
            <a:endParaRPr lang="en-US" sz="1200" dirty="0"/>
          </a:p>
        </p:txBody>
      </p:sp>
      <p:sp>
        <p:nvSpPr>
          <p:cNvPr id="18" name="Shape 16"/>
          <p:cNvSpPr/>
          <p:nvPr/>
        </p:nvSpPr>
        <p:spPr>
          <a:xfrm>
            <a:off x="1143000" y="3236976"/>
            <a:ext cx="502920" cy="502920"/>
          </a:xfrm>
          <a:prstGeom prst="ellipse">
            <a:avLst/>
          </a:prstGeom>
          <a:solidFill>
            <a:srgbClr val="8B6FC0"/>
          </a:solidFill>
          <a:ln/>
        </p:spPr>
      </p:sp>
      <p:sp>
        <p:nvSpPr>
          <p:cNvPr id="19" name="Shape 17"/>
          <p:cNvSpPr/>
          <p:nvPr/>
        </p:nvSpPr>
        <p:spPr>
          <a:xfrm>
            <a:off x="1783080" y="3127248"/>
            <a:ext cx="6995160" cy="749808"/>
          </a:xfrm>
          <a:prstGeom prst="roundRect">
            <a:avLst>
              <a:gd name="adj" fmla="val 12195"/>
            </a:avLst>
          </a:prstGeom>
          <a:solidFill>
            <a:srgbClr val="1A2D5A"/>
          </a:solidFill>
          <a:ln w="12700">
            <a:solidFill>
              <a:srgbClr val="8B6FC0"/>
            </a:solidFill>
            <a:prstDash val="solid"/>
          </a:ln>
        </p:spPr>
      </p:sp>
      <p:sp>
        <p:nvSpPr>
          <p:cNvPr id="20" name="Text 18"/>
          <p:cNvSpPr/>
          <p:nvPr/>
        </p:nvSpPr>
        <p:spPr>
          <a:xfrm>
            <a:off x="1810512" y="3200400"/>
            <a:ext cx="822960" cy="274320"/>
          </a:xfrm>
          <a:prstGeom prst="rect">
            <a:avLst/>
          </a:prstGeom>
          <a:noFill/>
          <a:ln/>
        </p:spPr>
        <p:txBody>
          <a:bodyPr wrap="square" lIns="0" tIns="0" rIns="0" bIns="0"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1845</a:t>
            </a:r>
            <a:endParaRPr lang="en-US" sz="1300" dirty="0"/>
          </a:p>
        </p:txBody>
      </p:sp>
      <p:sp>
        <p:nvSpPr>
          <p:cNvPr id="21" name="Text 19"/>
          <p:cNvSpPr/>
          <p:nvPr/>
        </p:nvSpPr>
        <p:spPr>
          <a:xfrm>
            <a:off x="2651760" y="3182112"/>
            <a:ext cx="603504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Florida becomes the 27th state of the United States.</a:t>
            </a:r>
            <a:endParaRPr lang="en-US" sz="1200" dirty="0"/>
          </a:p>
        </p:txBody>
      </p:sp>
      <p:sp>
        <p:nvSpPr>
          <p:cNvPr id="22" name="Shape 20"/>
          <p:cNvSpPr/>
          <p:nvPr/>
        </p:nvSpPr>
        <p:spPr>
          <a:xfrm>
            <a:off x="1143000" y="4059936"/>
            <a:ext cx="502920" cy="502920"/>
          </a:xfrm>
          <a:prstGeom prst="ellipse">
            <a:avLst/>
          </a:prstGeom>
          <a:solidFill>
            <a:srgbClr val="E8636B"/>
          </a:solidFill>
          <a:ln/>
        </p:spPr>
      </p:sp>
      <p:sp>
        <p:nvSpPr>
          <p:cNvPr id="23" name="Shape 21"/>
          <p:cNvSpPr/>
          <p:nvPr/>
        </p:nvSpPr>
        <p:spPr>
          <a:xfrm>
            <a:off x="1783080" y="3950208"/>
            <a:ext cx="6995160" cy="749808"/>
          </a:xfrm>
          <a:prstGeom prst="roundRect">
            <a:avLst>
              <a:gd name="adj" fmla="val 12195"/>
            </a:avLst>
          </a:prstGeom>
          <a:solidFill>
            <a:srgbClr val="1A2D5A"/>
          </a:solidFill>
          <a:ln w="12700">
            <a:solidFill>
              <a:srgbClr val="E8636B"/>
            </a:solidFill>
            <a:prstDash val="solid"/>
          </a:ln>
        </p:spPr>
      </p:sp>
      <p:sp>
        <p:nvSpPr>
          <p:cNvPr id="24" name="Text 22"/>
          <p:cNvSpPr/>
          <p:nvPr/>
        </p:nvSpPr>
        <p:spPr>
          <a:xfrm>
            <a:off x="1810512" y="4023360"/>
            <a:ext cx="822960" cy="274320"/>
          </a:xfrm>
          <a:prstGeom prst="rect">
            <a:avLst/>
          </a:prstGeom>
          <a:noFill/>
          <a:ln/>
        </p:spPr>
        <p:txBody>
          <a:bodyPr wrap="square" lIns="0" tIns="0" rIns="0" bIns="0" rtlCol="0" anchor="ctr"/>
          <a:lstStyle/>
          <a:p>
            <a:pPr indent="0" marL="0">
              <a:buNone/>
            </a:pPr>
            <a:r>
              <a:rPr lang="en-US" sz="1300" b="1" dirty="0">
                <a:solidFill>
                  <a:srgbClr val="E8636B"/>
                </a:solidFill>
                <a:latin typeface="Cambria" pitchFamily="34" charset="0"/>
                <a:ea typeface="Cambria" pitchFamily="34" charset="-122"/>
                <a:cs typeface="Cambria" pitchFamily="34" charset="-120"/>
              </a:rPr>
              <a:t>1865</a:t>
            </a:r>
            <a:endParaRPr lang="en-US" sz="1300" dirty="0"/>
          </a:p>
        </p:txBody>
      </p:sp>
      <p:sp>
        <p:nvSpPr>
          <p:cNvPr id="25" name="Text 23"/>
          <p:cNvSpPr/>
          <p:nvPr/>
        </p:nvSpPr>
        <p:spPr>
          <a:xfrm>
            <a:off x="2651760" y="4005072"/>
            <a:ext cx="603504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The Civil War ends and Reconstruction begins in Florida.</a:t>
            </a:r>
            <a:endParaRPr lang="en-US" sz="1200" dirty="0"/>
          </a:p>
        </p:txBody>
      </p:sp>
      <p:sp>
        <p:nvSpPr>
          <p:cNvPr id="26" name="Text 24"/>
          <p:cNvSpPr/>
          <p:nvPr/>
        </p:nvSpPr>
        <p:spPr>
          <a:xfrm>
            <a:off x="457200" y="4617720"/>
            <a:ext cx="8412480" cy="320040"/>
          </a:xfrm>
          <a:prstGeom prst="rect">
            <a:avLst/>
          </a:prstGeom>
          <a:noFill/>
          <a:ln/>
        </p:spPr>
        <p:txBody>
          <a:bodyPr wrap="square" lIns="0" tIns="0" rIns="0" bIns="0" rtlCol="0" anchor="ctr"/>
          <a:lstStyle/>
          <a:p>
            <a:pPr algn="ctr" indent="0" marL="0">
              <a:buNone/>
            </a:pPr>
            <a:r>
              <a:rPr lang="en-US" sz="1100" b="1" dirty="0">
                <a:solidFill>
                  <a:srgbClr val="D4943A"/>
                </a:solidFill>
                <a:latin typeface="Calibri" pitchFamily="34" charset="0"/>
                <a:ea typeface="Calibri" pitchFamily="34" charset="-122"/>
                <a:cs typeface="Calibri" pitchFamily="34" charset="-120"/>
              </a:rPr>
              <a:t>RETRIEVAL CHALLENGE: Cover the dates. Can you recall all five events from earliest to latest?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CLUE BOX 2 — FLORIDA HISTORY TIMELINE SOURCE</a:t>
            </a:r>
            <a:endParaRPr lang="en-US" sz="1400" dirty="0"/>
          </a:p>
        </p:txBody>
      </p:sp>
      <p:sp>
        <p:nvSpPr>
          <p:cNvPr id="5" name="Shape 3"/>
          <p:cNvSpPr/>
          <p:nvPr/>
        </p:nvSpPr>
        <p:spPr>
          <a:xfrm>
            <a:off x="365760" y="685800"/>
            <a:ext cx="4754880" cy="3063240"/>
          </a:xfrm>
          <a:prstGeom prst="roundRect">
            <a:avLst>
              <a:gd name="adj" fmla="val 3582"/>
            </a:avLst>
          </a:prstGeom>
          <a:solidFill>
            <a:srgbClr val="E2E8F4"/>
          </a:solidFill>
          <a:ln w="19050">
            <a:solidFill>
              <a:srgbClr val="B0B8CC"/>
            </a:solidFill>
            <a:prstDash val="dash"/>
          </a:ln>
        </p:spPr>
      </p:sp>
      <p:sp>
        <p:nvSpPr>
          <p:cNvPr id="6" name="Text 4"/>
          <p:cNvSpPr/>
          <p:nvPr/>
        </p:nvSpPr>
        <p:spPr>
          <a:xfrm>
            <a:off x="365760" y="685800"/>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960120"/>
            <a:ext cx="4480560" cy="2697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Clean Florida history timeline running left to right: 1513 (ship icon — Ponce de Leon names La Florida), 1565 (fort icon — St. Augustine founded), 1821 (flag icon — Spain cedes Florida), 1845 (star icon — Florida becomes 27th state), 1865 (open book icon — Civil War ends, Reconstruction). Source: Florida Memory / Library of Congress / custom illustration.</a:t>
            </a:r>
            <a:endParaRPr lang="en-US" sz="1100" dirty="0"/>
          </a:p>
        </p:txBody>
      </p:sp>
      <p:sp>
        <p:nvSpPr>
          <p:cNvPr id="8" name="Shape 6"/>
          <p:cNvSpPr/>
          <p:nvPr/>
        </p:nvSpPr>
        <p:spPr>
          <a:xfrm>
            <a:off x="5257800" y="685800"/>
            <a:ext cx="3520440" cy="3063240"/>
          </a:xfrm>
          <a:prstGeom prst="roundRect">
            <a:avLst>
              <a:gd name="adj" fmla="val 4478"/>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40680" y="777240"/>
            <a:ext cx="315468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0" name="Text 8"/>
          <p:cNvSpPr/>
          <p:nvPr/>
        </p:nvSpPr>
        <p:spPr>
          <a:xfrm>
            <a:off x="5440680" y="1033272"/>
            <a:ext cx="3154680" cy="26243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event is earliest? What event is latest?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many years pass between the FIRST and LAST event on this timeline?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Pick any two neighboring events — how did the earlier one make the later one possible?</a:t>
            </a:r>
            <a:endParaRPr lang="en-US" sz="1100" dirty="0"/>
          </a:p>
        </p:txBody>
      </p:sp>
      <p:sp>
        <p:nvSpPr>
          <p:cNvPr id="11" name="Text 9"/>
          <p:cNvSpPr/>
          <p:nvPr/>
        </p:nvSpPr>
        <p:spPr>
          <a:xfrm>
            <a:off x="365760" y="3886200"/>
            <a:ext cx="8412480" cy="384048"/>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Study the timeline. Run the three source questions on the right before discussing.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55C8E8"/>
                </a:solidFill>
                <a:latin typeface="Calibri" pitchFamily="34" charset="0"/>
                <a:ea typeface="Calibri" pitchFamily="34" charset="-122"/>
                <a:cs typeface="Calibri" pitchFamily="34" charset="-120"/>
              </a:rPr>
              <a:t>DISCUSSION — CAUSE AND EFFECT ON THE TIMELINE</a:t>
            </a:r>
            <a:endParaRPr lang="en-US" sz="1500" dirty="0"/>
          </a:p>
        </p:txBody>
      </p:sp>
      <p:sp>
        <p:nvSpPr>
          <p:cNvPr id="5" name="Shape 3"/>
          <p:cNvSpPr/>
          <p:nvPr/>
        </p:nvSpPr>
        <p:spPr>
          <a:xfrm>
            <a:off x="365760" y="749808"/>
            <a:ext cx="8412480" cy="3749040"/>
          </a:xfrm>
          <a:prstGeom prst="roundRect">
            <a:avLst>
              <a:gd name="adj" fmla="val 3659"/>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841248"/>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1097280"/>
            <a:ext cx="8046720" cy="33101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Use 'because' to connect 1821 and 1845. Say the whole sentence out loud.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had to happen before St. Augustine could be founded in 1565? What made it possible?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Florida's First Peoples were already here in 1513 — how does putting that at the START of the timeline change the story?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Reconstruction began because the Civil War ended, what does that show about cause and effect on timelines?</a:t>
            </a:r>
            <a:endParaRPr lang="en-US" sz="1100" dirty="0"/>
          </a:p>
        </p:txBody>
      </p:sp>
      <p:sp>
        <p:nvSpPr>
          <p:cNvPr id="8" name="Text 6"/>
          <p:cNvSpPr/>
          <p:nvPr/>
        </p:nvSpPr>
        <p:spPr>
          <a:xfrm>
            <a:off x="365760" y="4617720"/>
            <a:ext cx="8412480" cy="292608"/>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Push for full 'because' sentences — not just 'they're connected.' The sentence is the evidence.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64008"/>
          </a:xfrm>
          <a:prstGeom prst="rect">
            <a:avLst/>
          </a:prstGeom>
          <a:solidFill>
            <a:srgbClr val="D4943A"/>
          </a:solidFill>
          <a:ln/>
        </p:spPr>
      </p:sp>
      <p:sp>
        <p:nvSpPr>
          <p:cNvPr id="4" name="Text 2"/>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REVEAL 2 — CAUSE AND EFFECT ON THE TIMELINE</a:t>
            </a:r>
            <a:endParaRPr lang="en-US" sz="1000" dirty="0"/>
          </a:p>
        </p:txBody>
      </p:sp>
      <p:sp>
        <p:nvSpPr>
          <p:cNvPr id="5" name="Shape 3"/>
          <p:cNvSpPr/>
          <p:nvPr/>
        </p:nvSpPr>
        <p:spPr>
          <a:xfrm>
            <a:off x="457200" y="530352"/>
            <a:ext cx="8229600" cy="1024128"/>
          </a:xfrm>
          <a:prstGeom prst="roundRect">
            <a:avLst>
              <a:gd name="adj" fmla="val 12500"/>
            </a:avLst>
          </a:prstGeom>
          <a:solidFill>
            <a:srgbClr val="1A2D5A"/>
          </a:solidFill>
          <a:ln w="25400">
            <a:solidFill>
              <a:srgbClr val="D4943A"/>
            </a:solidFill>
            <a:prstDash val="solid"/>
          </a:ln>
        </p:spPr>
      </p:sp>
      <p:sp>
        <p:nvSpPr>
          <p:cNvPr id="6" name="Text 4"/>
          <p:cNvSpPr/>
          <p:nvPr/>
        </p:nvSpPr>
        <p:spPr>
          <a:xfrm>
            <a:off x="640080" y="621792"/>
            <a:ext cx="3657600" cy="292608"/>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CHRONOLOGY</a:t>
            </a:r>
            <a:endParaRPr lang="en-US" sz="1200" dirty="0"/>
          </a:p>
        </p:txBody>
      </p:sp>
      <p:sp>
        <p:nvSpPr>
          <p:cNvPr id="7" name="Text 5"/>
          <p:cNvSpPr/>
          <p:nvPr/>
        </p:nvSpPr>
        <p:spPr>
          <a:xfrm>
            <a:off x="640080" y="932688"/>
            <a:ext cx="7863840" cy="521208"/>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Putting events in the right order turns a pile of dates into a story. The right sequence shows us cause and effect — how one event made the next one possible.</a:t>
            </a:r>
            <a:endParaRPr lang="en-US" sz="1500" dirty="0"/>
          </a:p>
        </p:txBody>
      </p:sp>
      <p:sp>
        <p:nvSpPr>
          <p:cNvPr id="8" name="Text 6"/>
          <p:cNvSpPr/>
          <p:nvPr/>
        </p:nvSpPr>
        <p:spPr>
          <a:xfrm>
            <a:off x="457200" y="1719072"/>
            <a:ext cx="8229600" cy="274320"/>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Cause/Effect Chain</a:t>
            </a:r>
            <a:endParaRPr lang="en-US" sz="1100" dirty="0"/>
          </a:p>
        </p:txBody>
      </p:sp>
      <p:sp>
        <p:nvSpPr>
          <p:cNvPr id="9" name="Shape 7"/>
          <p:cNvSpPr/>
          <p:nvPr/>
        </p:nvSpPr>
        <p:spPr>
          <a:xfrm>
            <a:off x="457200" y="2029968"/>
            <a:ext cx="8229600" cy="493776"/>
          </a:xfrm>
          <a:prstGeom prst="roundRect">
            <a:avLst>
              <a:gd name="adj" fmla="val 18519"/>
            </a:avLst>
          </a:prstGeom>
          <a:solidFill>
            <a:srgbClr val="1A2D5A"/>
          </a:solidFill>
          <a:ln w="12700">
            <a:solidFill>
              <a:srgbClr val="2A4080"/>
            </a:solidFill>
            <a:prstDash val="solid"/>
          </a:ln>
        </p:spPr>
      </p:sp>
      <p:sp>
        <p:nvSpPr>
          <p:cNvPr id="10" name="Text 8"/>
          <p:cNvSpPr/>
          <p:nvPr/>
        </p:nvSpPr>
        <p:spPr>
          <a:xfrm>
            <a:off x="594360" y="2029968"/>
            <a:ext cx="1371600" cy="493776"/>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1821 →</a:t>
            </a:r>
            <a:endParaRPr lang="en-US" sz="1100" dirty="0"/>
          </a:p>
        </p:txBody>
      </p:sp>
      <p:sp>
        <p:nvSpPr>
          <p:cNvPr id="11" name="Text 9"/>
          <p:cNvSpPr/>
          <p:nvPr/>
        </p:nvSpPr>
        <p:spPr>
          <a:xfrm>
            <a:off x="2011680" y="2029968"/>
            <a:ext cx="6492240" cy="49377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Spain cedes Florida to U.S.</a:t>
            </a:r>
            <a:endParaRPr lang="en-US" sz="1300" dirty="0"/>
          </a:p>
        </p:txBody>
      </p:sp>
      <p:sp>
        <p:nvSpPr>
          <p:cNvPr id="12" name="Shape 10"/>
          <p:cNvSpPr/>
          <p:nvPr/>
        </p:nvSpPr>
        <p:spPr>
          <a:xfrm>
            <a:off x="457200" y="2596896"/>
            <a:ext cx="8229600" cy="493776"/>
          </a:xfrm>
          <a:prstGeom prst="roundRect">
            <a:avLst>
              <a:gd name="adj" fmla="val 18519"/>
            </a:avLst>
          </a:prstGeom>
          <a:solidFill>
            <a:srgbClr val="1A2D5A"/>
          </a:solidFill>
          <a:ln w="12700">
            <a:solidFill>
              <a:srgbClr val="2A4080"/>
            </a:solidFill>
            <a:prstDash val="solid"/>
          </a:ln>
        </p:spPr>
      </p:sp>
      <p:sp>
        <p:nvSpPr>
          <p:cNvPr id="13" name="Text 11"/>
          <p:cNvSpPr/>
          <p:nvPr/>
        </p:nvSpPr>
        <p:spPr>
          <a:xfrm>
            <a:off x="594360" y="2596896"/>
            <a:ext cx="1371600" cy="493776"/>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BECAUSE →</a:t>
            </a:r>
            <a:endParaRPr lang="en-US" sz="1100" dirty="0"/>
          </a:p>
        </p:txBody>
      </p:sp>
      <p:sp>
        <p:nvSpPr>
          <p:cNvPr id="14" name="Text 12"/>
          <p:cNvSpPr/>
          <p:nvPr/>
        </p:nvSpPr>
        <p:spPr>
          <a:xfrm>
            <a:off x="2011680" y="2596896"/>
            <a:ext cx="6492240" cy="49377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Florida could become a state in 1845</a:t>
            </a:r>
            <a:endParaRPr lang="en-US" sz="1300" dirty="0"/>
          </a:p>
        </p:txBody>
      </p:sp>
      <p:sp>
        <p:nvSpPr>
          <p:cNvPr id="15" name="Shape 13"/>
          <p:cNvSpPr/>
          <p:nvPr/>
        </p:nvSpPr>
        <p:spPr>
          <a:xfrm>
            <a:off x="457200" y="3163824"/>
            <a:ext cx="8229600" cy="493776"/>
          </a:xfrm>
          <a:prstGeom prst="roundRect">
            <a:avLst>
              <a:gd name="adj" fmla="val 18519"/>
            </a:avLst>
          </a:prstGeom>
          <a:solidFill>
            <a:srgbClr val="1A2D5A"/>
          </a:solidFill>
          <a:ln w="12700">
            <a:solidFill>
              <a:srgbClr val="2A4080"/>
            </a:solidFill>
            <a:prstDash val="solid"/>
          </a:ln>
        </p:spPr>
      </p:sp>
      <p:sp>
        <p:nvSpPr>
          <p:cNvPr id="16" name="Text 14"/>
          <p:cNvSpPr/>
          <p:nvPr/>
        </p:nvSpPr>
        <p:spPr>
          <a:xfrm>
            <a:off x="594360" y="3163824"/>
            <a:ext cx="1371600" cy="493776"/>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BECAUSE →</a:t>
            </a:r>
            <a:endParaRPr lang="en-US" sz="1100" dirty="0"/>
          </a:p>
        </p:txBody>
      </p:sp>
      <p:sp>
        <p:nvSpPr>
          <p:cNvPr id="17" name="Text 15"/>
          <p:cNvSpPr/>
          <p:nvPr/>
        </p:nvSpPr>
        <p:spPr>
          <a:xfrm>
            <a:off x="2011680" y="3163824"/>
            <a:ext cx="6492240" cy="49377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Florida was part of the U.S. during the Civil War</a:t>
            </a:r>
            <a:endParaRPr lang="en-US" sz="1300" dirty="0"/>
          </a:p>
        </p:txBody>
      </p:sp>
      <p:sp>
        <p:nvSpPr>
          <p:cNvPr id="18" name="Shape 16"/>
          <p:cNvSpPr/>
          <p:nvPr/>
        </p:nvSpPr>
        <p:spPr>
          <a:xfrm>
            <a:off x="457200" y="3730752"/>
            <a:ext cx="8229600" cy="493776"/>
          </a:xfrm>
          <a:prstGeom prst="roundRect">
            <a:avLst>
              <a:gd name="adj" fmla="val 18519"/>
            </a:avLst>
          </a:prstGeom>
          <a:solidFill>
            <a:srgbClr val="1A2D5A"/>
          </a:solidFill>
          <a:ln w="12700">
            <a:solidFill>
              <a:srgbClr val="2A4080"/>
            </a:solidFill>
            <a:prstDash val="solid"/>
          </a:ln>
        </p:spPr>
      </p:sp>
      <p:sp>
        <p:nvSpPr>
          <p:cNvPr id="19" name="Text 17"/>
          <p:cNvSpPr/>
          <p:nvPr/>
        </p:nvSpPr>
        <p:spPr>
          <a:xfrm>
            <a:off x="594360" y="3730752"/>
            <a:ext cx="1371600" cy="493776"/>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THEREFORE →</a:t>
            </a:r>
            <a:endParaRPr lang="en-US" sz="1100" dirty="0"/>
          </a:p>
        </p:txBody>
      </p:sp>
      <p:sp>
        <p:nvSpPr>
          <p:cNvPr id="20" name="Text 18"/>
          <p:cNvSpPr/>
          <p:nvPr/>
        </p:nvSpPr>
        <p:spPr>
          <a:xfrm>
            <a:off x="2011680" y="3730752"/>
            <a:ext cx="6492240" cy="49377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Reconstruction began in Florida after 1865</a:t>
            </a:r>
            <a:endParaRPr lang="en-US" sz="1300" dirty="0"/>
          </a:p>
        </p:txBody>
      </p:sp>
      <p:sp>
        <p:nvSpPr>
          <p:cNvPr id="21" name="Shape 19"/>
          <p:cNvSpPr/>
          <p:nvPr/>
        </p:nvSpPr>
        <p:spPr>
          <a:xfrm>
            <a:off x="457200" y="4315968"/>
            <a:ext cx="8229600" cy="566928"/>
          </a:xfrm>
          <a:prstGeom prst="roundRect">
            <a:avLst>
              <a:gd name="adj" fmla="val 19355"/>
            </a:avLst>
          </a:prstGeom>
          <a:solidFill>
            <a:srgbClr val="1A2D5A"/>
          </a:solidFill>
          <a:ln w="19050">
            <a:solidFill>
              <a:srgbClr val="55C8E8"/>
            </a:solidFill>
            <a:prstDash val="solid"/>
          </a:ln>
        </p:spPr>
      </p:sp>
      <p:sp>
        <p:nvSpPr>
          <p:cNvPr id="22" name="Text 20"/>
          <p:cNvSpPr/>
          <p:nvPr/>
        </p:nvSpPr>
        <p:spPr>
          <a:xfrm>
            <a:off x="594360" y="4343400"/>
            <a:ext cx="7955280" cy="521208"/>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TRANSFERABLE PATTERN: Every time you read a timeline, ask — what had to come first? Use 'because' to connect any two events. That sentence is your cause/effect evidence.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64008"/>
          </a:xfrm>
          <a:prstGeom prst="rect">
            <a:avLst/>
          </a:prstGeom>
          <a:solidFill>
            <a:srgbClr val="D4943A"/>
          </a:solidFill>
          <a:ln/>
        </p:spPr>
      </p:sp>
      <p:sp>
        <p:nvSpPr>
          <p:cNvPr id="4" name="Text 2"/>
          <p:cNvSpPr/>
          <p:nvPr/>
        </p:nvSpPr>
        <p:spPr>
          <a:xfrm>
            <a:off x="457200" y="182880"/>
            <a:ext cx="8229600" cy="292608"/>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5" name="Text 3"/>
          <p:cNvSpPr/>
          <p:nvPr/>
        </p:nvSpPr>
        <p:spPr>
          <a:xfrm>
            <a:off x="457200" y="548640"/>
            <a:ext cx="8229600" cy="658368"/>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Courtesy</a:t>
            </a:r>
            <a:endParaRPr lang="en-US" sz="5000" dirty="0"/>
          </a:p>
        </p:txBody>
      </p:sp>
      <p:sp>
        <p:nvSpPr>
          <p:cNvPr id="6" name="Shape 4"/>
          <p:cNvSpPr/>
          <p:nvPr/>
        </p:nvSpPr>
        <p:spPr>
          <a:xfrm>
            <a:off x="457200" y="1261872"/>
            <a:ext cx="2743200" cy="45720"/>
          </a:xfrm>
          <a:prstGeom prst="rect">
            <a:avLst/>
          </a:prstGeom>
          <a:solidFill>
            <a:srgbClr val="D4943A"/>
          </a:solidFill>
          <a:ln/>
        </p:spPr>
      </p:sp>
      <p:sp>
        <p:nvSpPr>
          <p:cNvPr id="7" name="Text 5"/>
          <p:cNvSpPr/>
          <p:nvPr/>
        </p:nvSpPr>
        <p:spPr>
          <a:xfrm>
            <a:off x="457200" y="1417320"/>
            <a:ext cx="8229600" cy="1188720"/>
          </a:xfrm>
          <a:prstGeom prst="rect">
            <a:avLst/>
          </a:prstGeom>
          <a:noFill/>
          <a:ln/>
        </p:spPr>
        <p:txBody>
          <a:bodyPr wrap="square" lIns="0" tIns="0" rIns="0" bIns="0" rtlCol="0" anchor="t"/>
          <a:lstStyle/>
          <a:p>
            <a:pPr indent="0" marL="0">
              <a:buNone/>
            </a:pPr>
            <a:r>
              <a:rPr lang="en-US" sz="1500" i="1" dirty="0">
                <a:solidFill>
                  <a:srgbClr val="FFFFFF"/>
                </a:solidFill>
                <a:latin typeface="Cambria" pitchFamily="34" charset="0"/>
                <a:ea typeface="Cambria" pitchFamily="34" charset="-122"/>
                <a:cs typeface="Cambria" pitchFamily="34" charset="-120"/>
              </a:rPr>
              <a:t>When many people share a timeline, every event has to be listed with courtesy — care, respect, and accurate names. Florida's timeline holds events that mattered to different groups: First Peoples, Spanish settlers, the Seminole, enslaved people who escaped to freedom, Floridians of every era.</a:t>
            </a:r>
            <a:endParaRPr lang="en-US" sz="1500" dirty="0"/>
          </a:p>
        </p:txBody>
      </p:sp>
      <p:sp>
        <p:nvSpPr>
          <p:cNvPr id="8" name="Text 6"/>
          <p:cNvSpPr/>
          <p:nvPr/>
        </p:nvSpPr>
        <p:spPr>
          <a:xfrm>
            <a:off x="457200" y="2697480"/>
            <a:ext cx="8229600" cy="1005840"/>
          </a:xfrm>
          <a:prstGeom prst="rect">
            <a:avLst/>
          </a:prstGeom>
          <a:noFill/>
          <a:ln/>
        </p:spPr>
        <p:txBody>
          <a:bodyPr wrap="square" lIns="0" tIns="0" rIns="0" bIns="0" rtlCol="0" anchor="t"/>
          <a:lstStyle/>
          <a:p>
            <a:pPr indent="0" marL="0">
              <a:buNone/>
            </a:pPr>
            <a:r>
              <a:rPr lang="en-US" sz="1500" dirty="0">
                <a:solidFill>
                  <a:srgbClr val="D4943A"/>
                </a:solidFill>
                <a:latin typeface="Cambria" pitchFamily="34" charset="0"/>
                <a:ea typeface="Cambria" pitchFamily="34" charset="-122"/>
                <a:cs typeface="Cambria" pitchFamily="34" charset="-120"/>
              </a:rPr>
              <a:t>A courteous historian uses the name each group used for itself, lists what really happened on each side, and doesn't shrink one event to make another look bigger. Sequencing is also an act of respect.</a:t>
            </a:r>
            <a:endParaRPr lang="en-US" sz="1500" dirty="0"/>
          </a:p>
        </p:txBody>
      </p:sp>
      <p:sp>
        <p:nvSpPr>
          <p:cNvPr id="9" name="Shape 7"/>
          <p:cNvSpPr/>
          <p:nvPr/>
        </p:nvSpPr>
        <p:spPr>
          <a:xfrm>
            <a:off x="457200" y="3822192"/>
            <a:ext cx="8229600" cy="749808"/>
          </a:xfrm>
          <a:prstGeom prst="roundRect">
            <a:avLst>
              <a:gd name="adj" fmla="val 14634"/>
            </a:avLst>
          </a:prstGeom>
          <a:solidFill>
            <a:srgbClr val="1A2D5A"/>
          </a:solidFill>
          <a:ln w="19050">
            <a:solidFill>
              <a:srgbClr val="D4943A"/>
            </a:solidFill>
            <a:prstDash val="solid"/>
          </a:ln>
        </p:spPr>
      </p:sp>
      <p:sp>
        <p:nvSpPr>
          <p:cNvPr id="10" name="Text 8"/>
          <p:cNvSpPr/>
          <p:nvPr/>
        </p:nvSpPr>
        <p:spPr>
          <a:xfrm>
            <a:off x="594360" y="3849624"/>
            <a:ext cx="7955280" cy="713232"/>
          </a:xfrm>
          <a:prstGeom prst="rect">
            <a:avLst/>
          </a:prstGeom>
          <a:noFill/>
          <a:ln/>
        </p:spPr>
        <p:txBody>
          <a:bodyPr wrap="square" lIns="0" tIns="0" rIns="0" bIns="0"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Discuss: Why does it matter to include First Peoples at the START of Florida's timeline — not just at the point when Europeans arrived?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D4943A"/>
                </a:solidFill>
                <a:latin typeface="Calibri" pitchFamily="34" charset="0"/>
                <a:ea typeface="Calibri" pitchFamily="34" charset="-122"/>
                <a:cs typeface="Calibri" pitchFamily="34" charset="-120"/>
              </a:rPr>
              <a:t>WORD ROOT — GREEK: chron- (TIME)</a:t>
            </a:r>
            <a:endParaRPr lang="en-US" sz="1500" dirty="0"/>
          </a:p>
        </p:txBody>
      </p:sp>
      <p:sp>
        <p:nvSpPr>
          <p:cNvPr id="5" name="Shape 3"/>
          <p:cNvSpPr/>
          <p:nvPr/>
        </p:nvSpPr>
        <p:spPr>
          <a:xfrm>
            <a:off x="365760" y="713232"/>
            <a:ext cx="8412480" cy="932688"/>
          </a:xfrm>
          <a:prstGeom prst="roundRect">
            <a:avLst>
              <a:gd name="adj" fmla="val 13725"/>
            </a:avLst>
          </a:prstGeom>
          <a:solidFill>
            <a:srgbClr val="0E1C42"/>
          </a:solidFill>
          <a:ln/>
        </p:spPr>
      </p:sp>
      <p:sp>
        <p:nvSpPr>
          <p:cNvPr id="6" name="Text 4"/>
          <p:cNvSpPr/>
          <p:nvPr/>
        </p:nvSpPr>
        <p:spPr>
          <a:xfrm>
            <a:off x="594360" y="786384"/>
            <a:ext cx="2194560" cy="502920"/>
          </a:xfrm>
          <a:prstGeom prst="rect">
            <a:avLst/>
          </a:prstGeom>
          <a:noFill/>
          <a:ln/>
        </p:spPr>
        <p:txBody>
          <a:bodyPr wrap="square" lIns="0" tIns="0" rIns="0" bIns="0" rtlCol="0" anchor="ctr"/>
          <a:lstStyle/>
          <a:p>
            <a:pPr indent="0" marL="0">
              <a:buNone/>
            </a:pPr>
            <a:r>
              <a:rPr lang="en-US" sz="3400" b="1" dirty="0">
                <a:solidFill>
                  <a:srgbClr val="D4943A"/>
                </a:solidFill>
                <a:latin typeface="Cambria" pitchFamily="34" charset="0"/>
                <a:ea typeface="Cambria" pitchFamily="34" charset="-122"/>
                <a:cs typeface="Cambria" pitchFamily="34" charset="-120"/>
              </a:rPr>
              <a:t>chron-</a:t>
            </a:r>
            <a:endParaRPr lang="en-US" sz="3400" dirty="0"/>
          </a:p>
        </p:txBody>
      </p:sp>
      <p:sp>
        <p:nvSpPr>
          <p:cNvPr id="7" name="Text 5"/>
          <p:cNvSpPr/>
          <p:nvPr/>
        </p:nvSpPr>
        <p:spPr>
          <a:xfrm>
            <a:off x="2880360" y="877824"/>
            <a:ext cx="5669280" cy="438912"/>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Greek for "time" — hiding inside chronology, chronicle, chronic, anachronism</a:t>
            </a:r>
            <a:endParaRPr lang="en-US" sz="1400" dirty="0"/>
          </a:p>
        </p:txBody>
      </p:sp>
      <p:sp>
        <p:nvSpPr>
          <p:cNvPr id="8" name="Shape 6"/>
          <p:cNvSpPr/>
          <p:nvPr/>
        </p:nvSpPr>
        <p:spPr>
          <a:xfrm>
            <a:off x="365760" y="1755648"/>
            <a:ext cx="8412480" cy="621792"/>
          </a:xfrm>
          <a:prstGeom prst="roundRect">
            <a:avLst>
              <a:gd name="adj" fmla="val 14706"/>
            </a:avLst>
          </a:prstGeom>
          <a:solidFill>
            <a:srgbClr val="FFFFFF"/>
          </a:solidFill>
          <a:ln w="12700">
            <a:solidFill>
              <a:srgbClr val="B0B8CC"/>
            </a:solidFill>
            <a:prstDash val="solid"/>
          </a:ln>
        </p:spPr>
      </p:sp>
      <p:sp>
        <p:nvSpPr>
          <p:cNvPr id="9" name="Text 7"/>
          <p:cNvSpPr/>
          <p:nvPr/>
        </p:nvSpPr>
        <p:spPr>
          <a:xfrm>
            <a:off x="548640" y="1755648"/>
            <a:ext cx="2286000" cy="621792"/>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chronology</a:t>
            </a:r>
            <a:endParaRPr lang="en-US" sz="1500" dirty="0"/>
          </a:p>
        </p:txBody>
      </p:sp>
      <p:sp>
        <p:nvSpPr>
          <p:cNvPr id="10" name="Text 8"/>
          <p:cNvSpPr/>
          <p:nvPr/>
        </p:nvSpPr>
        <p:spPr>
          <a:xfrm>
            <a:off x="2926080" y="1755648"/>
            <a:ext cx="5760720" cy="621792"/>
          </a:xfrm>
          <a:prstGeom prst="rect">
            <a:avLst/>
          </a:prstGeom>
          <a:noFill/>
          <a:ln/>
        </p:spPr>
        <p:txBody>
          <a:bodyPr wrap="square" lIns="0" tIns="0" rIns="0" bIns="0" rtlCol="0" anchor="ctr"/>
          <a:lstStyle/>
          <a:p>
            <a:pPr indent="0" marL="0">
              <a:buNone/>
            </a:pPr>
            <a:r>
              <a:rPr lang="en-US" sz="1200" dirty="0">
                <a:solidFill>
                  <a:srgbClr val="7A88A8"/>
                </a:solidFill>
                <a:latin typeface="Calibri" pitchFamily="34" charset="0"/>
                <a:ea typeface="Calibri" pitchFamily="34" charset="-122"/>
                <a:cs typeface="Calibri" pitchFamily="34" charset="-120"/>
              </a:rPr>
              <a:t>the study of time — a list of events in the order they happened</a:t>
            </a:r>
            <a:endParaRPr lang="en-US" sz="1200" dirty="0"/>
          </a:p>
        </p:txBody>
      </p:sp>
      <p:sp>
        <p:nvSpPr>
          <p:cNvPr id="11" name="Shape 9"/>
          <p:cNvSpPr/>
          <p:nvPr/>
        </p:nvSpPr>
        <p:spPr>
          <a:xfrm>
            <a:off x="365760" y="2459736"/>
            <a:ext cx="8412480" cy="621792"/>
          </a:xfrm>
          <a:prstGeom prst="roundRect">
            <a:avLst>
              <a:gd name="adj" fmla="val 14706"/>
            </a:avLst>
          </a:prstGeom>
          <a:solidFill>
            <a:srgbClr val="FFFFFF"/>
          </a:solidFill>
          <a:ln w="12700">
            <a:solidFill>
              <a:srgbClr val="B0B8CC"/>
            </a:solidFill>
            <a:prstDash val="solid"/>
          </a:ln>
        </p:spPr>
      </p:sp>
      <p:sp>
        <p:nvSpPr>
          <p:cNvPr id="12" name="Text 10"/>
          <p:cNvSpPr/>
          <p:nvPr/>
        </p:nvSpPr>
        <p:spPr>
          <a:xfrm>
            <a:off x="548640" y="2459736"/>
            <a:ext cx="2286000" cy="621792"/>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chronicle</a:t>
            </a:r>
            <a:endParaRPr lang="en-US" sz="1500" dirty="0"/>
          </a:p>
        </p:txBody>
      </p:sp>
      <p:sp>
        <p:nvSpPr>
          <p:cNvPr id="13" name="Text 11"/>
          <p:cNvSpPr/>
          <p:nvPr/>
        </p:nvSpPr>
        <p:spPr>
          <a:xfrm>
            <a:off x="2926080" y="2459736"/>
            <a:ext cx="5760720" cy="621792"/>
          </a:xfrm>
          <a:prstGeom prst="rect">
            <a:avLst/>
          </a:prstGeom>
          <a:noFill/>
          <a:ln/>
        </p:spPr>
        <p:txBody>
          <a:bodyPr wrap="square" lIns="0" tIns="0" rIns="0" bIns="0" rtlCol="0" anchor="ctr"/>
          <a:lstStyle/>
          <a:p>
            <a:pPr indent="0" marL="0">
              <a:buNone/>
            </a:pPr>
            <a:r>
              <a:rPr lang="en-US" sz="1200" dirty="0">
                <a:solidFill>
                  <a:srgbClr val="7A88A8"/>
                </a:solidFill>
                <a:latin typeface="Calibri" pitchFamily="34" charset="0"/>
                <a:ea typeface="Calibri" pitchFamily="34" charset="-122"/>
                <a:cs typeface="Calibri" pitchFamily="34" charset="-120"/>
              </a:rPr>
              <a:t>a written record of events in time order</a:t>
            </a:r>
            <a:endParaRPr lang="en-US" sz="1200" dirty="0"/>
          </a:p>
        </p:txBody>
      </p:sp>
      <p:sp>
        <p:nvSpPr>
          <p:cNvPr id="14" name="Shape 12"/>
          <p:cNvSpPr/>
          <p:nvPr/>
        </p:nvSpPr>
        <p:spPr>
          <a:xfrm>
            <a:off x="365760" y="3163824"/>
            <a:ext cx="8412480" cy="621792"/>
          </a:xfrm>
          <a:prstGeom prst="roundRect">
            <a:avLst>
              <a:gd name="adj" fmla="val 14706"/>
            </a:avLst>
          </a:prstGeom>
          <a:solidFill>
            <a:srgbClr val="FFFFFF"/>
          </a:solidFill>
          <a:ln w="12700">
            <a:solidFill>
              <a:srgbClr val="B0B8CC"/>
            </a:solidFill>
            <a:prstDash val="solid"/>
          </a:ln>
        </p:spPr>
      </p:sp>
      <p:sp>
        <p:nvSpPr>
          <p:cNvPr id="15" name="Text 13"/>
          <p:cNvSpPr/>
          <p:nvPr/>
        </p:nvSpPr>
        <p:spPr>
          <a:xfrm>
            <a:off x="548640" y="3163824"/>
            <a:ext cx="2286000" cy="621792"/>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chronic</a:t>
            </a:r>
            <a:endParaRPr lang="en-US" sz="1500" dirty="0"/>
          </a:p>
        </p:txBody>
      </p:sp>
      <p:sp>
        <p:nvSpPr>
          <p:cNvPr id="16" name="Text 14"/>
          <p:cNvSpPr/>
          <p:nvPr/>
        </p:nvSpPr>
        <p:spPr>
          <a:xfrm>
            <a:off x="2926080" y="3163824"/>
            <a:ext cx="5760720" cy="621792"/>
          </a:xfrm>
          <a:prstGeom prst="rect">
            <a:avLst/>
          </a:prstGeom>
          <a:noFill/>
          <a:ln/>
        </p:spPr>
        <p:txBody>
          <a:bodyPr wrap="square" lIns="0" tIns="0" rIns="0" bIns="0" rtlCol="0" anchor="ctr"/>
          <a:lstStyle/>
          <a:p>
            <a:pPr indent="0" marL="0">
              <a:buNone/>
            </a:pPr>
            <a:r>
              <a:rPr lang="en-US" sz="1200" dirty="0">
                <a:solidFill>
                  <a:srgbClr val="7A88A8"/>
                </a:solidFill>
                <a:latin typeface="Calibri" pitchFamily="34" charset="0"/>
                <a:ea typeface="Calibri" pitchFamily="34" charset="-122"/>
                <a:cs typeface="Calibri" pitchFamily="34" charset="-120"/>
              </a:rPr>
              <a:t>lasting a long time — something that keeps going</a:t>
            </a:r>
            <a:endParaRPr lang="en-US" sz="1200" dirty="0"/>
          </a:p>
        </p:txBody>
      </p:sp>
      <p:sp>
        <p:nvSpPr>
          <p:cNvPr id="17" name="Shape 15"/>
          <p:cNvSpPr/>
          <p:nvPr/>
        </p:nvSpPr>
        <p:spPr>
          <a:xfrm>
            <a:off x="365760" y="3867912"/>
            <a:ext cx="8412480" cy="621792"/>
          </a:xfrm>
          <a:prstGeom prst="roundRect">
            <a:avLst>
              <a:gd name="adj" fmla="val 14706"/>
            </a:avLst>
          </a:prstGeom>
          <a:solidFill>
            <a:srgbClr val="FFFFFF"/>
          </a:solidFill>
          <a:ln w="12700">
            <a:solidFill>
              <a:srgbClr val="B0B8CC"/>
            </a:solidFill>
            <a:prstDash val="solid"/>
          </a:ln>
        </p:spPr>
      </p:sp>
      <p:sp>
        <p:nvSpPr>
          <p:cNvPr id="18" name="Text 16"/>
          <p:cNvSpPr/>
          <p:nvPr/>
        </p:nvSpPr>
        <p:spPr>
          <a:xfrm>
            <a:off x="548640" y="3867912"/>
            <a:ext cx="2286000" cy="621792"/>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anachronism</a:t>
            </a:r>
            <a:endParaRPr lang="en-US" sz="1500" dirty="0"/>
          </a:p>
        </p:txBody>
      </p:sp>
      <p:sp>
        <p:nvSpPr>
          <p:cNvPr id="19" name="Text 17"/>
          <p:cNvSpPr/>
          <p:nvPr/>
        </p:nvSpPr>
        <p:spPr>
          <a:xfrm>
            <a:off x="2926080" y="3867912"/>
            <a:ext cx="5760720" cy="621792"/>
          </a:xfrm>
          <a:prstGeom prst="rect">
            <a:avLst/>
          </a:prstGeom>
          <a:noFill/>
          <a:ln/>
        </p:spPr>
        <p:txBody>
          <a:bodyPr wrap="square" lIns="0" tIns="0" rIns="0" bIns="0" rtlCol="0" anchor="ctr"/>
          <a:lstStyle/>
          <a:p>
            <a:pPr indent="0" marL="0">
              <a:buNone/>
            </a:pPr>
            <a:r>
              <a:rPr lang="en-US" sz="1200" dirty="0">
                <a:solidFill>
                  <a:srgbClr val="7A88A8"/>
                </a:solidFill>
                <a:latin typeface="Calibri" pitchFamily="34" charset="0"/>
                <a:ea typeface="Calibri" pitchFamily="34" charset="-122"/>
                <a:cs typeface="Calibri" pitchFamily="34" charset="-120"/>
              </a:rPr>
              <a:t>something placed in the wrong time period</a:t>
            </a:r>
            <a:endParaRPr lang="en-US" sz="1200" dirty="0"/>
          </a:p>
        </p:txBody>
      </p:sp>
      <p:sp>
        <p:nvSpPr>
          <p:cNvPr id="20" name="Text 18"/>
          <p:cNvSpPr/>
          <p:nvPr/>
        </p:nvSpPr>
        <p:spPr>
          <a:xfrm>
            <a:off x="365760" y="4645152"/>
            <a:ext cx="8412480" cy="32004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Discovery: chronology = chron- (time) + -ology (study of) — literally 'the study of time.' You practice it every time you sequence events.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55C8E8"/>
                </a:solidFill>
                <a:latin typeface="Calibri" pitchFamily="34" charset="0"/>
                <a:ea typeface="Calibri" pitchFamily="34" charset="-122"/>
                <a:cs typeface="Calibri" pitchFamily="34" charset="-120"/>
              </a:rPr>
              <a:t>GUIDED PRACTICE — TEACHER MODELS</a:t>
            </a:r>
            <a:endParaRPr lang="en-US" sz="1500" dirty="0"/>
          </a:p>
        </p:txBody>
      </p:sp>
      <p:sp>
        <p:nvSpPr>
          <p:cNvPr id="5" name="Shape 3"/>
          <p:cNvSpPr/>
          <p:nvPr/>
        </p:nvSpPr>
        <p:spPr>
          <a:xfrm>
            <a:off x="365760" y="713232"/>
            <a:ext cx="8412480" cy="2103120"/>
          </a:xfrm>
          <a:prstGeom prst="roundRect">
            <a:avLst>
              <a:gd name="adj" fmla="val 6087"/>
            </a:avLst>
          </a:prstGeom>
          <a:solidFill>
            <a:srgbClr val="FFFFFF"/>
          </a:solidFill>
          <a:ln w="12700">
            <a:solidFill>
              <a:srgbClr val="B0B8CC"/>
            </a:solidFill>
            <a:prstDash val="solid"/>
          </a:ln>
        </p:spPr>
      </p:sp>
      <p:sp>
        <p:nvSpPr>
          <p:cNvPr id="6" name="Text 4"/>
          <p:cNvSpPr/>
          <p:nvPr/>
        </p:nvSpPr>
        <p:spPr>
          <a:xfrm>
            <a:off x="548640" y="822960"/>
            <a:ext cx="3657600" cy="274320"/>
          </a:xfrm>
          <a:prstGeom prst="rect">
            <a:avLst/>
          </a:prstGeom>
          <a:noFill/>
          <a:ln/>
        </p:spPr>
        <p:txBody>
          <a:bodyPr wrap="square" lIns="0" tIns="0" rIns="0" bIns="0" rtlCol="0" anchor="ctr"/>
          <a:lstStyle/>
          <a:p>
            <a:pPr indent="0" marL="0">
              <a:buNone/>
            </a:pPr>
            <a:r>
              <a:rPr lang="en-US" sz="1100" b="1" spc="100" kern="0" dirty="0">
                <a:solidFill>
                  <a:srgbClr val="D4943A"/>
                </a:solidFill>
                <a:latin typeface="Calibri" pitchFamily="34" charset="0"/>
                <a:ea typeface="Calibri" pitchFamily="34" charset="-122"/>
                <a:cs typeface="Calibri" pitchFamily="34" charset="-120"/>
              </a:rPr>
              <a:t>Teacher Think-Aloud</a:t>
            </a:r>
            <a:endParaRPr lang="en-US" sz="1100" dirty="0"/>
          </a:p>
        </p:txBody>
      </p:sp>
      <p:sp>
        <p:nvSpPr>
          <p:cNvPr id="7" name="Text 5"/>
          <p:cNvSpPr/>
          <p:nvPr/>
        </p:nvSpPr>
        <p:spPr>
          <a:xfrm>
            <a:off x="548640" y="1133856"/>
            <a:ext cx="8046720" cy="1572768"/>
          </a:xfrm>
          <a:prstGeom prst="rect">
            <a:avLst/>
          </a:prstGeom>
          <a:noFill/>
          <a:ln/>
        </p:spPr>
        <p:txBody>
          <a:bodyPr wrap="square" lIns="0" tIns="0" rIns="0" bIns="0" rtlCol="0" anchor="t"/>
          <a:lstStyle/>
          <a:p>
            <a:pPr indent="0" marL="0">
              <a:buNone/>
            </a:pPr>
            <a:r>
              <a:rPr lang="en-US" sz="1400" i="1" dirty="0">
                <a:solidFill>
                  <a:srgbClr val="0E1C42"/>
                </a:solidFill>
                <a:latin typeface="Cambria" pitchFamily="34" charset="0"/>
                <a:ea typeface="Cambria" pitchFamily="34" charset="-122"/>
                <a:cs typeface="Cambria" pitchFamily="34" charset="-120"/>
              </a:rPr>
              <a:t>"I need to connect 1821 and 1845 using cause and effect. Let me think out loud: In 1821, Spain ceded Florida to the United States — Florida became a U.S. territory. For Florida to become a state, it first had to be a territory. So: 'Because Spain ceded Florida to the U.S. in 1821, Florida could later become the 27th state in 1845.' The word 'because' is doing the work — it shows me the cause and the effect."</a:t>
            </a:r>
            <a:endParaRPr lang="en-US" sz="1400" dirty="0"/>
          </a:p>
        </p:txBody>
      </p:sp>
      <p:sp>
        <p:nvSpPr>
          <p:cNvPr id="8" name="Shape 6"/>
          <p:cNvSpPr/>
          <p:nvPr/>
        </p:nvSpPr>
        <p:spPr>
          <a:xfrm>
            <a:off x="365760" y="2926080"/>
            <a:ext cx="8412480" cy="1005840"/>
          </a:xfrm>
          <a:prstGeom prst="roundRect">
            <a:avLst>
              <a:gd name="adj" fmla="val 12727"/>
            </a:avLst>
          </a:prstGeom>
          <a:solidFill>
            <a:srgbClr val="1A2D5A"/>
          </a:solidFill>
          <a:ln w="19050">
            <a:solidFill>
              <a:srgbClr val="55C8E8"/>
            </a:solidFill>
            <a:prstDash val="solid"/>
          </a:ln>
        </p:spPr>
      </p:sp>
      <p:sp>
        <p:nvSpPr>
          <p:cNvPr id="9" name="Text 7"/>
          <p:cNvSpPr/>
          <p:nvPr/>
        </p:nvSpPr>
        <p:spPr>
          <a:xfrm>
            <a:off x="548640" y="3017520"/>
            <a:ext cx="36576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NOTICE THE MOVE</a:t>
            </a:r>
            <a:endParaRPr lang="en-US" sz="900" dirty="0"/>
          </a:p>
        </p:txBody>
      </p:sp>
      <p:sp>
        <p:nvSpPr>
          <p:cNvPr id="10" name="Text 8"/>
          <p:cNvSpPr/>
          <p:nvPr/>
        </p:nvSpPr>
        <p:spPr>
          <a:xfrm>
            <a:off x="548640" y="3291840"/>
            <a:ext cx="8046720"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1) Identify the two events and their dates.  2) State the earlier event (the cause).  3) Use 'because' to connect.  4) State the later event (the effect).  5) Explain what had to happen first.</a:t>
            </a:r>
            <a:endParaRPr lang="en-US" sz="1300" dirty="0"/>
          </a:p>
        </p:txBody>
      </p:sp>
      <p:sp>
        <p:nvSpPr>
          <p:cNvPr id="11" name="Text 9"/>
          <p:cNvSpPr/>
          <p:nvPr/>
        </p:nvSpPr>
        <p:spPr>
          <a:xfrm>
            <a:off x="365760" y="4069080"/>
            <a:ext cx="8412480" cy="32004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Think aloud slowly — the 'because' sentence is the whole skill.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55C8E8"/>
                </a:solidFill>
                <a:latin typeface="Calibri" pitchFamily="34" charset="0"/>
                <a:ea typeface="Calibri" pitchFamily="34" charset="-122"/>
                <a:cs typeface="Calibri" pitchFamily="34" charset="-120"/>
              </a:rPr>
              <a:t>GUIDED PRACTICE — INVESTIGATE + DEFEND</a:t>
            </a:r>
            <a:endParaRPr lang="en-US" sz="1500" dirty="0"/>
          </a:p>
        </p:txBody>
      </p:sp>
      <p:sp>
        <p:nvSpPr>
          <p:cNvPr id="5" name="Shape 3"/>
          <p:cNvSpPr/>
          <p:nvPr/>
        </p:nvSpPr>
        <p:spPr>
          <a:xfrm>
            <a:off x="365760" y="731520"/>
            <a:ext cx="8412480" cy="1170432"/>
          </a:xfrm>
          <a:prstGeom prst="roundRect">
            <a:avLst>
              <a:gd name="adj" fmla="val 9375"/>
            </a:avLst>
          </a:prstGeom>
          <a:solidFill>
            <a:srgbClr val="FFFFFF"/>
          </a:solidFill>
          <a:ln w="12700">
            <a:solidFill>
              <a:srgbClr val="B0B8CC"/>
            </a:solidFill>
            <a:prstDash val="solid"/>
          </a:ln>
        </p:spPr>
      </p:sp>
      <p:sp>
        <p:nvSpPr>
          <p:cNvPr id="6" name="Text 4"/>
          <p:cNvSpPr/>
          <p:nvPr/>
        </p:nvSpPr>
        <p:spPr>
          <a:xfrm>
            <a:off x="548640" y="804672"/>
            <a:ext cx="1645920" cy="256032"/>
          </a:xfrm>
          <a:prstGeom prst="rect">
            <a:avLst/>
          </a:prstGeom>
          <a:noFill/>
          <a:ln/>
        </p:spPr>
        <p:txBody>
          <a:bodyPr wrap="square" lIns="0" tIns="0" rIns="0" bIns="0"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Pair A</a:t>
            </a:r>
            <a:endParaRPr lang="en-US" sz="1000" dirty="0"/>
          </a:p>
        </p:txBody>
      </p:sp>
      <p:sp>
        <p:nvSpPr>
          <p:cNvPr id="7" name="Text 5"/>
          <p:cNvSpPr/>
          <p:nvPr/>
        </p:nvSpPr>
        <p:spPr>
          <a:xfrm>
            <a:off x="548640" y="1078992"/>
            <a:ext cx="8046720" cy="34747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1565 — St. Augustine founded  |  1821 — Spain cedes Florida to U.S.</a:t>
            </a:r>
            <a:endParaRPr lang="en-US" sz="1300" dirty="0"/>
          </a:p>
        </p:txBody>
      </p:sp>
      <p:sp>
        <p:nvSpPr>
          <p:cNvPr id="8" name="Text 6"/>
          <p:cNvSpPr/>
          <p:nvPr/>
        </p:nvSpPr>
        <p:spPr>
          <a:xfrm>
            <a:off x="548640" y="1490472"/>
            <a:ext cx="8046720" cy="32004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Write a 'because' sentence connecting these two. What had to happen between them?</a:t>
            </a:r>
            <a:endParaRPr lang="en-US" sz="1100" dirty="0"/>
          </a:p>
        </p:txBody>
      </p:sp>
      <p:sp>
        <p:nvSpPr>
          <p:cNvPr id="9" name="Shape 7"/>
          <p:cNvSpPr/>
          <p:nvPr/>
        </p:nvSpPr>
        <p:spPr>
          <a:xfrm>
            <a:off x="365760" y="2011680"/>
            <a:ext cx="8412480" cy="1170432"/>
          </a:xfrm>
          <a:prstGeom prst="roundRect">
            <a:avLst>
              <a:gd name="adj" fmla="val 9375"/>
            </a:avLst>
          </a:prstGeom>
          <a:solidFill>
            <a:srgbClr val="FFFFFF"/>
          </a:solidFill>
          <a:ln w="12700">
            <a:solidFill>
              <a:srgbClr val="B0B8CC"/>
            </a:solidFill>
            <a:prstDash val="solid"/>
          </a:ln>
        </p:spPr>
      </p:sp>
      <p:sp>
        <p:nvSpPr>
          <p:cNvPr id="10" name="Text 8"/>
          <p:cNvSpPr/>
          <p:nvPr/>
        </p:nvSpPr>
        <p:spPr>
          <a:xfrm>
            <a:off x="548640" y="2084832"/>
            <a:ext cx="1645920" cy="256032"/>
          </a:xfrm>
          <a:prstGeom prst="rect">
            <a:avLst/>
          </a:prstGeom>
          <a:noFill/>
          <a:ln/>
        </p:spPr>
        <p:txBody>
          <a:bodyPr wrap="square" lIns="0" tIns="0" rIns="0" bIns="0"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Pair B</a:t>
            </a:r>
            <a:endParaRPr lang="en-US" sz="1000" dirty="0"/>
          </a:p>
        </p:txBody>
      </p:sp>
      <p:sp>
        <p:nvSpPr>
          <p:cNvPr id="11" name="Text 9"/>
          <p:cNvSpPr/>
          <p:nvPr/>
        </p:nvSpPr>
        <p:spPr>
          <a:xfrm>
            <a:off x="548640" y="2359152"/>
            <a:ext cx="8046720" cy="34747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1845 — Florida becomes the 27th state  |  1865 — Civil War ends, Reconstruction begins</a:t>
            </a:r>
            <a:endParaRPr lang="en-US" sz="1300" dirty="0"/>
          </a:p>
        </p:txBody>
      </p:sp>
      <p:sp>
        <p:nvSpPr>
          <p:cNvPr id="12" name="Text 10"/>
          <p:cNvSpPr/>
          <p:nvPr/>
        </p:nvSpPr>
        <p:spPr>
          <a:xfrm>
            <a:off x="548640" y="2770632"/>
            <a:ext cx="8046720" cy="32004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Use 'because' to connect these. Was Florida's statehood a cause here? Defend it.</a:t>
            </a:r>
            <a:endParaRPr lang="en-US" sz="1100" dirty="0"/>
          </a:p>
        </p:txBody>
      </p:sp>
      <p:sp>
        <p:nvSpPr>
          <p:cNvPr id="13" name="Shape 11"/>
          <p:cNvSpPr/>
          <p:nvPr/>
        </p:nvSpPr>
        <p:spPr>
          <a:xfrm>
            <a:off x="365760" y="3291840"/>
            <a:ext cx="8412480" cy="1170432"/>
          </a:xfrm>
          <a:prstGeom prst="roundRect">
            <a:avLst>
              <a:gd name="adj" fmla="val 9375"/>
            </a:avLst>
          </a:prstGeom>
          <a:solidFill>
            <a:srgbClr val="FFFFFF"/>
          </a:solidFill>
          <a:ln w="12700">
            <a:solidFill>
              <a:srgbClr val="B0B8CC"/>
            </a:solidFill>
            <a:prstDash val="solid"/>
          </a:ln>
        </p:spPr>
      </p:sp>
      <p:sp>
        <p:nvSpPr>
          <p:cNvPr id="14" name="Text 12"/>
          <p:cNvSpPr/>
          <p:nvPr/>
        </p:nvSpPr>
        <p:spPr>
          <a:xfrm>
            <a:off x="548640" y="3364992"/>
            <a:ext cx="1645920" cy="256032"/>
          </a:xfrm>
          <a:prstGeom prst="rect">
            <a:avLst/>
          </a:prstGeom>
          <a:noFill/>
          <a:ln/>
        </p:spPr>
        <p:txBody>
          <a:bodyPr wrap="square" lIns="0" tIns="0" rIns="0" bIns="0"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Pair C</a:t>
            </a:r>
            <a:endParaRPr lang="en-US" sz="1000" dirty="0"/>
          </a:p>
        </p:txBody>
      </p:sp>
      <p:sp>
        <p:nvSpPr>
          <p:cNvPr id="15" name="Text 13"/>
          <p:cNvSpPr/>
          <p:nvPr/>
        </p:nvSpPr>
        <p:spPr>
          <a:xfrm>
            <a:off x="548640" y="3639312"/>
            <a:ext cx="8046720" cy="34747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1513 — Ponce de León names La Florida  |  1565 — St. Augustine is founded</a:t>
            </a:r>
            <a:endParaRPr lang="en-US" sz="1300" dirty="0"/>
          </a:p>
        </p:txBody>
      </p:sp>
      <p:sp>
        <p:nvSpPr>
          <p:cNvPr id="16" name="Text 14"/>
          <p:cNvSpPr/>
          <p:nvPr/>
        </p:nvSpPr>
        <p:spPr>
          <a:xfrm>
            <a:off x="548640" y="4050792"/>
            <a:ext cx="8046720" cy="32004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Connect these two. What does it mean that 52 years passed between them? Use 'because.'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55C8E8"/>
                </a:solidFill>
                <a:latin typeface="Calibri" pitchFamily="34" charset="0"/>
                <a:ea typeface="Calibri" pitchFamily="34" charset="-122"/>
                <a:cs typeface="Calibri" pitchFamily="34" charset="-120"/>
              </a:rPr>
              <a:t>GUIDED PRACTICE — CRITIQUE: WEAK VS. STRONG</a:t>
            </a:r>
            <a:endParaRPr lang="en-US" sz="1500" dirty="0"/>
          </a:p>
        </p:txBody>
      </p:sp>
      <p:sp>
        <p:nvSpPr>
          <p:cNvPr id="5" name="Shape 3"/>
          <p:cNvSpPr/>
          <p:nvPr/>
        </p:nvSpPr>
        <p:spPr>
          <a:xfrm>
            <a:off x="365760" y="713232"/>
            <a:ext cx="4114800" cy="3246120"/>
          </a:xfrm>
          <a:prstGeom prst="roundRect">
            <a:avLst>
              <a:gd name="adj" fmla="val 3944"/>
            </a:avLst>
          </a:prstGeom>
          <a:solidFill>
            <a:srgbClr val="FFFFFF"/>
          </a:solidFill>
          <a:ln w="25400">
            <a:solidFill>
              <a:srgbClr val="E8636B"/>
            </a:solidFill>
            <a:prstDash val="solid"/>
          </a:ln>
        </p:spPr>
      </p:sp>
      <p:sp>
        <p:nvSpPr>
          <p:cNvPr id="6" name="Shape 4"/>
          <p:cNvSpPr/>
          <p:nvPr/>
        </p:nvSpPr>
        <p:spPr>
          <a:xfrm>
            <a:off x="365760" y="713232"/>
            <a:ext cx="4114800" cy="384048"/>
          </a:xfrm>
          <a:prstGeom prst="roundRect">
            <a:avLst>
              <a:gd name="adj" fmla="val 33333"/>
            </a:avLst>
          </a:prstGeom>
          <a:solidFill>
            <a:srgbClr val="E8636B"/>
          </a:solidFill>
          <a:ln/>
        </p:spPr>
      </p:sp>
      <p:sp>
        <p:nvSpPr>
          <p:cNvPr id="7" name="Text 5"/>
          <p:cNvSpPr/>
          <p:nvPr/>
        </p:nvSpPr>
        <p:spPr>
          <a:xfrm>
            <a:off x="365760" y="713232"/>
            <a:ext cx="4114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WEAK RESPONSE</a:t>
            </a:r>
            <a:endParaRPr lang="en-US" sz="1100" dirty="0"/>
          </a:p>
        </p:txBody>
      </p:sp>
      <p:sp>
        <p:nvSpPr>
          <p:cNvPr id="8" name="Text 6"/>
          <p:cNvSpPr/>
          <p:nvPr/>
        </p:nvSpPr>
        <p:spPr>
          <a:xfrm>
            <a:off x="502920" y="1170432"/>
            <a:ext cx="3840480" cy="914400"/>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"1821 and 1845 are connected because both happened in the 1800s and are about Florida."</a:t>
            </a:r>
            <a:endParaRPr lang="en-US" sz="1300" dirty="0"/>
          </a:p>
        </p:txBody>
      </p:sp>
      <p:sp>
        <p:nvSpPr>
          <p:cNvPr id="9" name="Text 7"/>
          <p:cNvSpPr/>
          <p:nvPr/>
        </p:nvSpPr>
        <p:spPr>
          <a:xfrm>
            <a:off x="502920" y="2148840"/>
            <a:ext cx="3840480" cy="1691640"/>
          </a:xfrm>
          <a:prstGeom prst="rect">
            <a:avLst/>
          </a:prstGeom>
          <a:noFill/>
          <a:ln/>
        </p:spPr>
        <p:txBody>
          <a:bodyPr wrap="square" lIns="0" tIns="0" rIns="0" bIns="0" rtlCol="0" anchor="t"/>
          <a:lstStyle/>
          <a:p>
            <a:pPr indent="0" marL="0">
              <a:buNone/>
            </a:pPr>
            <a:r>
              <a:rPr lang="en-US" sz="1200" dirty="0">
                <a:solidFill>
                  <a:srgbClr val="7A88A8"/>
                </a:solidFill>
                <a:latin typeface="Calibri" pitchFamily="34" charset="0"/>
                <a:ea typeface="Calibri" pitchFamily="34" charset="-122"/>
                <a:cs typeface="Calibri" pitchFamily="34" charset="-120"/>
              </a:rPr>
              <a:t>What is missing?</a:t>
            </a:r>
            <a:endParaRPr lang="en-US" sz="1200" dirty="0"/>
          </a:p>
          <a:p>
            <a:pPr indent="0" marL="0">
              <a:buNone/>
            </a:pPr>
            <a:r>
              <a:rPr lang="en-US" sz="1200" dirty="0">
                <a:solidFill>
                  <a:srgbClr val="7A88A8"/>
                </a:solidFill>
                <a:latin typeface="Calibri" pitchFamily="34" charset="0"/>
                <a:ea typeface="Calibri" pitchFamily="34" charset="-122"/>
                <a:cs typeface="Calibri" pitchFamily="34" charset="-120"/>
              </a:rPr>
              <a:t>• 'Same century' is not cause/effect</a:t>
            </a:r>
            <a:endParaRPr lang="en-US" sz="1200" dirty="0"/>
          </a:p>
          <a:p>
            <a:pPr indent="0" marL="0">
              <a:buNone/>
            </a:pPr>
            <a:r>
              <a:rPr lang="en-US" sz="1200" dirty="0">
                <a:solidFill>
                  <a:srgbClr val="7A88A8"/>
                </a:solidFill>
                <a:latin typeface="Calibri" pitchFamily="34" charset="0"/>
                <a:ea typeface="Calibri" pitchFamily="34" charset="-122"/>
                <a:cs typeface="Calibri" pitchFamily="34" charset="-120"/>
              </a:rPr>
              <a:t>• No explanation of what 1821 made possible</a:t>
            </a:r>
            <a:endParaRPr lang="en-US" sz="1200" dirty="0"/>
          </a:p>
          <a:p>
            <a:pPr indent="0" marL="0">
              <a:buNone/>
            </a:pPr>
            <a:r>
              <a:rPr lang="en-US" sz="1200" dirty="0">
                <a:solidFill>
                  <a:srgbClr val="7A88A8"/>
                </a:solidFill>
                <a:latin typeface="Calibri" pitchFamily="34" charset="0"/>
                <a:ea typeface="Calibri" pitchFamily="34" charset="-122"/>
                <a:cs typeface="Calibri" pitchFamily="34" charset="-120"/>
              </a:rPr>
              <a:t>• No 'because' doing real work</a:t>
            </a:r>
            <a:endParaRPr lang="en-US" sz="1200" dirty="0"/>
          </a:p>
          <a:p>
            <a:pPr indent="0" marL="0">
              <a:buNone/>
            </a:pPr>
            <a:r>
              <a:rPr lang="en-US" sz="1200" dirty="0">
                <a:solidFill>
                  <a:srgbClr val="7A88A8"/>
                </a:solidFill>
                <a:latin typeface="Calibri" pitchFamily="34" charset="0"/>
                <a:ea typeface="Calibri" pitchFamily="34" charset="-122"/>
                <a:cs typeface="Calibri" pitchFamily="34" charset="-120"/>
              </a:rPr>
              <a:t>• Could describe ANY two events</a:t>
            </a:r>
            <a:endParaRPr lang="en-US" sz="1200" dirty="0"/>
          </a:p>
          <a:p>
            <a:pPr indent="0" marL="0">
              <a:buNone/>
            </a:pPr>
            <a:r>
              <a:rPr lang="en-US" sz="1200" dirty="0">
                <a:solidFill>
                  <a:srgbClr val="7A88A8"/>
                </a:solidFill>
                <a:latin typeface="Calibri" pitchFamily="34" charset="0"/>
                <a:ea typeface="Calibri" pitchFamily="34" charset="-122"/>
                <a:cs typeface="Calibri" pitchFamily="34" charset="-120"/>
              </a:rPr>
              <a:t>• No historical reasoning</a:t>
            </a:r>
            <a:endParaRPr lang="en-US" sz="1200" dirty="0"/>
          </a:p>
        </p:txBody>
      </p:sp>
      <p:sp>
        <p:nvSpPr>
          <p:cNvPr id="10" name="Shape 8"/>
          <p:cNvSpPr/>
          <p:nvPr/>
        </p:nvSpPr>
        <p:spPr>
          <a:xfrm>
            <a:off x="4663440" y="713232"/>
            <a:ext cx="4114800" cy="3246120"/>
          </a:xfrm>
          <a:prstGeom prst="roundRect">
            <a:avLst>
              <a:gd name="adj" fmla="val 3944"/>
            </a:avLst>
          </a:prstGeom>
          <a:solidFill>
            <a:srgbClr val="FFFFFF"/>
          </a:solidFill>
          <a:ln w="25400">
            <a:solidFill>
              <a:srgbClr val="34B76F"/>
            </a:solidFill>
            <a:prstDash val="solid"/>
          </a:ln>
        </p:spPr>
      </p:sp>
      <p:sp>
        <p:nvSpPr>
          <p:cNvPr id="11" name="Shape 9"/>
          <p:cNvSpPr/>
          <p:nvPr/>
        </p:nvSpPr>
        <p:spPr>
          <a:xfrm>
            <a:off x="4663440" y="713232"/>
            <a:ext cx="4114800" cy="384048"/>
          </a:xfrm>
          <a:prstGeom prst="roundRect">
            <a:avLst>
              <a:gd name="adj" fmla="val 33333"/>
            </a:avLst>
          </a:prstGeom>
          <a:solidFill>
            <a:srgbClr val="34B76F"/>
          </a:solidFill>
          <a:ln/>
        </p:spPr>
      </p:sp>
      <p:sp>
        <p:nvSpPr>
          <p:cNvPr id="12" name="Text 10"/>
          <p:cNvSpPr/>
          <p:nvPr/>
        </p:nvSpPr>
        <p:spPr>
          <a:xfrm>
            <a:off x="4663440" y="713232"/>
            <a:ext cx="4114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STRONG RESPONSE</a:t>
            </a:r>
            <a:endParaRPr lang="en-US" sz="1100" dirty="0"/>
          </a:p>
        </p:txBody>
      </p:sp>
      <p:sp>
        <p:nvSpPr>
          <p:cNvPr id="13" name="Text 11"/>
          <p:cNvSpPr/>
          <p:nvPr/>
        </p:nvSpPr>
        <p:spPr>
          <a:xfrm>
            <a:off x="4800600" y="1170432"/>
            <a:ext cx="3840480" cy="1371600"/>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"Because Spain ceded Florida to the United States in 1821, Florida was now a U.S. territory — which meant it could later apply to become a state. That is why Florida became the 27th state in 1845."</a:t>
            </a:r>
            <a:endParaRPr lang="en-US" sz="1300" dirty="0"/>
          </a:p>
        </p:txBody>
      </p:sp>
      <p:sp>
        <p:nvSpPr>
          <p:cNvPr id="14" name="Text 12"/>
          <p:cNvSpPr/>
          <p:nvPr/>
        </p:nvSpPr>
        <p:spPr>
          <a:xfrm>
            <a:off x="4800600" y="2606040"/>
            <a:ext cx="3840480" cy="1234440"/>
          </a:xfrm>
          <a:prstGeom prst="rect">
            <a:avLst/>
          </a:prstGeom>
          <a:noFill/>
          <a:ln/>
        </p:spPr>
        <p:txBody>
          <a:bodyPr wrap="square" lIns="0" tIns="0" rIns="0" bIns="0" rtlCol="0" anchor="t"/>
          <a:lstStyle/>
          <a:p>
            <a:pPr indent="0" marL="0">
              <a:buNone/>
            </a:pPr>
            <a:r>
              <a:rPr lang="en-US" sz="1200" dirty="0">
                <a:solidFill>
                  <a:srgbClr val="34B76F"/>
                </a:solidFill>
                <a:latin typeface="Calibri" pitchFamily="34" charset="0"/>
                <a:ea typeface="Calibri" pitchFamily="34" charset="-122"/>
                <a:cs typeface="Calibri" pitchFamily="34" charset="-120"/>
              </a:rPr>
              <a:t>What works:</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 'Because' connects the actual events</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 Names what 1821 made possible (territory status)</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 Explains WHY 1845 could happen</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 Historical reasoning, not just timing</a:t>
            </a:r>
            <a:endParaRPr lang="en-US" sz="1200" dirty="0"/>
          </a:p>
        </p:txBody>
      </p:sp>
      <p:sp>
        <p:nvSpPr>
          <p:cNvPr id="15" name="Text 13"/>
          <p:cNvSpPr/>
          <p:nvPr/>
        </p:nvSpPr>
        <p:spPr>
          <a:xfrm>
            <a:off x="365760" y="4069080"/>
            <a:ext cx="8412480" cy="384048"/>
          </a:xfrm>
          <a:prstGeom prst="rect">
            <a:avLst/>
          </a:prstGeom>
          <a:noFill/>
          <a:ln/>
        </p:spPr>
        <p:txBody>
          <a:bodyPr wrap="square" lIns="0" tIns="0" rIns="0" bIns="0" rtlCol="0" anchor="ctr"/>
          <a:lstStyle/>
          <a:p>
            <a:pPr indent="0" marL="0">
              <a:buNone/>
            </a:pPr>
            <a:r>
              <a:rPr lang="en-US" sz="1200" b="1" i="1" dirty="0">
                <a:solidFill>
                  <a:srgbClr val="0E1C42"/>
                </a:solidFill>
                <a:latin typeface="Calibri" pitchFamily="34" charset="0"/>
                <a:ea typeface="Calibri" pitchFamily="34" charset="-122"/>
                <a:cs typeface="Calibri" pitchFamily="34" charset="-120"/>
              </a:rPr>
              <a:t>Ask: What ONE word makes the strong response work that the weak one is missing?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D4943A"/>
                </a:solidFill>
                <a:latin typeface="Calibri" pitchFamily="34" charset="0"/>
                <a:ea typeface="Calibri" pitchFamily="34" charset="-122"/>
                <a:cs typeface="Calibri" pitchFamily="34" charset="-120"/>
              </a:rPr>
              <a:t>GUIDED PRACTICE — THE TRICKY ONE</a:t>
            </a:r>
            <a:endParaRPr lang="en-US" sz="1500" dirty="0"/>
          </a:p>
        </p:txBody>
      </p:sp>
      <p:sp>
        <p:nvSpPr>
          <p:cNvPr id="5" name="Shape 3"/>
          <p:cNvSpPr/>
          <p:nvPr/>
        </p:nvSpPr>
        <p:spPr>
          <a:xfrm>
            <a:off x="365760" y="713232"/>
            <a:ext cx="8412480" cy="1417320"/>
          </a:xfrm>
          <a:prstGeom prst="roundRect">
            <a:avLst>
              <a:gd name="adj" fmla="val 9032"/>
            </a:avLst>
          </a:prstGeom>
          <a:solidFill>
            <a:srgbClr val="0E1C42"/>
          </a:solidFill>
          <a:ln w="25400">
            <a:solidFill>
              <a:srgbClr val="D4943A"/>
            </a:solidFill>
            <a:prstDash val="solid"/>
          </a:ln>
        </p:spPr>
      </p:sp>
      <p:sp>
        <p:nvSpPr>
          <p:cNvPr id="6" name="Text 4"/>
          <p:cNvSpPr/>
          <p:nvPr/>
        </p:nvSpPr>
        <p:spPr>
          <a:xfrm>
            <a:off x="548640" y="804672"/>
            <a:ext cx="27432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SCENARIO</a:t>
            </a:r>
            <a:endParaRPr lang="en-US" sz="900" dirty="0"/>
          </a:p>
        </p:txBody>
      </p:sp>
      <p:sp>
        <p:nvSpPr>
          <p:cNvPr id="7" name="Text 5"/>
          <p:cNvSpPr/>
          <p:nvPr/>
        </p:nvSpPr>
        <p:spPr>
          <a:xfrm>
            <a:off x="548640" y="1097280"/>
            <a:ext cx="8046720" cy="960120"/>
          </a:xfrm>
          <a:prstGeom prst="rect">
            <a:avLst/>
          </a:prstGeom>
          <a:noFill/>
          <a:ln/>
        </p:spPr>
        <p:txBody>
          <a:bodyPr wrap="square" lIns="0" tIns="0" rIns="0" bIns="0" rtlCol="0" anchor="t"/>
          <a:lstStyle/>
          <a:p>
            <a:pPr indent="0" marL="0">
              <a:buNone/>
            </a:pPr>
            <a:r>
              <a:rPr lang="en-US" sz="1500" i="1" dirty="0">
                <a:solidFill>
                  <a:srgbClr val="FFFFFF"/>
                </a:solidFill>
                <a:latin typeface="Cambria" pitchFamily="34" charset="0"/>
                <a:ea typeface="Cambria" pitchFamily="34" charset="-122"/>
                <a:cs typeface="Cambria" pitchFamily="34" charset="-120"/>
              </a:rPr>
              <a:t>Two different historians both studied the same set of Florida events from the 1800s. Historian A put the Seminole Wars starting in 1817. Historian B put them starting in 1835. Both showed their primary source evidence. Both timelines are different. Can both historians be right?</a:t>
            </a:r>
            <a:endParaRPr lang="en-US" sz="1500" dirty="0"/>
          </a:p>
        </p:txBody>
      </p:sp>
      <p:sp>
        <p:nvSpPr>
          <p:cNvPr id="8" name="Shape 6"/>
          <p:cNvSpPr/>
          <p:nvPr/>
        </p:nvSpPr>
        <p:spPr>
          <a:xfrm>
            <a:off x="365760" y="2249424"/>
            <a:ext cx="8412480" cy="2304288"/>
          </a:xfrm>
          <a:prstGeom prst="roundRect">
            <a:avLst>
              <a:gd name="adj" fmla="val 5952"/>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340864"/>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596896"/>
            <a:ext cx="8046720" cy="186537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a historical event have more than one 'start date' depending on how you define it? Give a reason.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both historians showed their sources, does that mean both timelines are equally valid?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should a courteous historian present this disagreement — pick one and ignore the other, or show both?</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need to know before you could decide which timeline is more accurate?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1A8A7D"/>
                </a:solidFill>
                <a:latin typeface="Calibri" pitchFamily="34" charset="0"/>
                <a:ea typeface="Calibri" pitchFamily="34" charset="-122"/>
                <a:cs typeface="Calibri" pitchFamily="34" charset="-120"/>
              </a:rPr>
              <a:t>QUICK SELF-CHECK (NOT GRADED)</a:t>
            </a:r>
            <a:endParaRPr lang="en-US" sz="1500" dirty="0"/>
          </a:p>
        </p:txBody>
      </p:sp>
      <p:sp>
        <p:nvSpPr>
          <p:cNvPr id="5" name="Shape 3"/>
          <p:cNvSpPr/>
          <p:nvPr/>
        </p:nvSpPr>
        <p:spPr>
          <a:xfrm>
            <a:off x="365760" y="713232"/>
            <a:ext cx="8412480" cy="1252728"/>
          </a:xfrm>
          <a:prstGeom prst="roundRect">
            <a:avLst>
              <a:gd name="adj" fmla="val 8759"/>
            </a:avLst>
          </a:prstGeom>
          <a:solidFill>
            <a:srgbClr val="FFFFFF"/>
          </a:solidFill>
          <a:ln w="12700">
            <a:solidFill>
              <a:srgbClr val="B0B8CC"/>
            </a:solidFill>
            <a:prstDash val="solid"/>
          </a:ln>
        </p:spPr>
      </p:sp>
      <p:sp>
        <p:nvSpPr>
          <p:cNvPr id="6" name="Text 4"/>
          <p:cNvSpPr/>
          <p:nvPr/>
        </p:nvSpPr>
        <p:spPr>
          <a:xfrm>
            <a:off x="502920" y="786384"/>
            <a:ext cx="457200" cy="274320"/>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960120" y="768096"/>
            <a:ext cx="7589520" cy="53035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Put these three Florida events in the correct chronological order: (A) Florida becomes the 27th state · (B) Ponce de León names La Florida · (C) St. Augustine is founded</a:t>
            </a:r>
            <a:endParaRPr lang="en-US" sz="1200" dirty="0"/>
          </a:p>
        </p:txBody>
      </p:sp>
      <p:sp>
        <p:nvSpPr>
          <p:cNvPr id="8" name="Shape 6"/>
          <p:cNvSpPr/>
          <p:nvPr/>
        </p:nvSpPr>
        <p:spPr>
          <a:xfrm>
            <a:off x="502920" y="1335024"/>
            <a:ext cx="8138160" cy="530352"/>
          </a:xfrm>
          <a:prstGeom prst="roundRect">
            <a:avLst>
              <a:gd name="adj" fmla="val 13793"/>
            </a:avLst>
          </a:prstGeom>
          <a:solidFill>
            <a:srgbClr val="E8F5EE"/>
          </a:solidFill>
          <a:ln w="12700">
            <a:solidFill>
              <a:srgbClr val="34B76F"/>
            </a:solidFill>
            <a:prstDash val="solid"/>
          </a:ln>
        </p:spPr>
      </p:sp>
      <p:sp>
        <p:nvSpPr>
          <p:cNvPr id="9" name="Text 7"/>
          <p:cNvSpPr/>
          <p:nvPr/>
        </p:nvSpPr>
        <p:spPr>
          <a:xfrm>
            <a:off x="640080" y="1335024"/>
            <a:ext cx="7863840" cy="530352"/>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B → C → A. Ponce de León names La Florida in 1513, St. Augustine is founded in 1565, Florida becomes a state in 1845.</a:t>
            </a:r>
            <a:endParaRPr lang="en-US" sz="1100" dirty="0"/>
          </a:p>
        </p:txBody>
      </p:sp>
      <p:sp>
        <p:nvSpPr>
          <p:cNvPr id="10" name="Shape 8"/>
          <p:cNvSpPr/>
          <p:nvPr/>
        </p:nvSpPr>
        <p:spPr>
          <a:xfrm>
            <a:off x="365760" y="2057400"/>
            <a:ext cx="8412480" cy="1252728"/>
          </a:xfrm>
          <a:prstGeom prst="roundRect">
            <a:avLst>
              <a:gd name="adj" fmla="val 8759"/>
            </a:avLst>
          </a:prstGeom>
          <a:solidFill>
            <a:srgbClr val="FFFFFF"/>
          </a:solidFill>
          <a:ln w="12700">
            <a:solidFill>
              <a:srgbClr val="B0B8CC"/>
            </a:solidFill>
            <a:prstDash val="solid"/>
          </a:ln>
        </p:spPr>
      </p:sp>
      <p:sp>
        <p:nvSpPr>
          <p:cNvPr id="11" name="Text 9"/>
          <p:cNvSpPr/>
          <p:nvPr/>
        </p:nvSpPr>
        <p:spPr>
          <a:xfrm>
            <a:off x="502920" y="2130552"/>
            <a:ext cx="457200" cy="274320"/>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Q2</a:t>
            </a:r>
            <a:endParaRPr lang="en-US" sz="1100" dirty="0"/>
          </a:p>
        </p:txBody>
      </p:sp>
      <p:sp>
        <p:nvSpPr>
          <p:cNvPr id="12" name="Text 10"/>
          <p:cNvSpPr/>
          <p:nvPr/>
        </p:nvSpPr>
        <p:spPr>
          <a:xfrm>
            <a:off x="960120" y="2112264"/>
            <a:ext cx="7589520" cy="53035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Which sentence shows CAUSE AND EFFECT on the Florida timeline?</a:t>
            </a:r>
            <a:endParaRPr lang="en-US" sz="1200" dirty="0"/>
          </a:p>
        </p:txBody>
      </p:sp>
      <p:sp>
        <p:nvSpPr>
          <p:cNvPr id="13" name="Shape 11"/>
          <p:cNvSpPr/>
          <p:nvPr/>
        </p:nvSpPr>
        <p:spPr>
          <a:xfrm>
            <a:off x="502920" y="2679192"/>
            <a:ext cx="8138160" cy="530352"/>
          </a:xfrm>
          <a:prstGeom prst="roundRect">
            <a:avLst>
              <a:gd name="adj" fmla="val 13793"/>
            </a:avLst>
          </a:prstGeom>
          <a:solidFill>
            <a:srgbClr val="E8F5EE"/>
          </a:solidFill>
          <a:ln w="12700">
            <a:solidFill>
              <a:srgbClr val="34B76F"/>
            </a:solidFill>
            <a:prstDash val="solid"/>
          </a:ln>
        </p:spPr>
      </p:sp>
      <p:sp>
        <p:nvSpPr>
          <p:cNvPr id="14" name="Text 12"/>
          <p:cNvSpPr/>
          <p:nvPr/>
        </p:nvSpPr>
        <p:spPr>
          <a:xfrm>
            <a:off x="640080" y="2679192"/>
            <a:ext cx="7863840" cy="530352"/>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'Because Spain ceded Florida to the U.S. in 1821, Florida could later become a state in 1845.' The word 'because' connects cause to effect.</a:t>
            </a:r>
            <a:endParaRPr lang="en-US" sz="1100" dirty="0"/>
          </a:p>
        </p:txBody>
      </p:sp>
      <p:sp>
        <p:nvSpPr>
          <p:cNvPr id="15" name="Shape 13"/>
          <p:cNvSpPr/>
          <p:nvPr/>
        </p:nvSpPr>
        <p:spPr>
          <a:xfrm>
            <a:off x="365760" y="3401568"/>
            <a:ext cx="8412480" cy="1252728"/>
          </a:xfrm>
          <a:prstGeom prst="roundRect">
            <a:avLst>
              <a:gd name="adj" fmla="val 8759"/>
            </a:avLst>
          </a:prstGeom>
          <a:solidFill>
            <a:srgbClr val="FFFFFF"/>
          </a:solidFill>
          <a:ln w="12700">
            <a:solidFill>
              <a:srgbClr val="B0B8CC"/>
            </a:solidFill>
            <a:prstDash val="solid"/>
          </a:ln>
        </p:spPr>
      </p:sp>
      <p:sp>
        <p:nvSpPr>
          <p:cNvPr id="16" name="Text 14"/>
          <p:cNvSpPr/>
          <p:nvPr/>
        </p:nvSpPr>
        <p:spPr>
          <a:xfrm>
            <a:off x="502920" y="3474720"/>
            <a:ext cx="457200" cy="274320"/>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Q3</a:t>
            </a:r>
            <a:endParaRPr lang="en-US" sz="1100" dirty="0"/>
          </a:p>
        </p:txBody>
      </p:sp>
      <p:sp>
        <p:nvSpPr>
          <p:cNvPr id="17" name="Text 15"/>
          <p:cNvSpPr/>
          <p:nvPr/>
        </p:nvSpPr>
        <p:spPr>
          <a:xfrm>
            <a:off x="960120" y="3456432"/>
            <a:ext cx="7589520" cy="53035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Today's virtue is courtesy. What does courtesy look like when a historian builds a Florida timeline?</a:t>
            </a:r>
            <a:endParaRPr lang="en-US" sz="1200" dirty="0"/>
          </a:p>
        </p:txBody>
      </p:sp>
      <p:sp>
        <p:nvSpPr>
          <p:cNvPr id="18" name="Shape 16"/>
          <p:cNvSpPr/>
          <p:nvPr/>
        </p:nvSpPr>
        <p:spPr>
          <a:xfrm>
            <a:off x="502920" y="4023360"/>
            <a:ext cx="8138160" cy="530352"/>
          </a:xfrm>
          <a:prstGeom prst="roundRect">
            <a:avLst>
              <a:gd name="adj" fmla="val 13793"/>
            </a:avLst>
          </a:prstGeom>
          <a:solidFill>
            <a:srgbClr val="E8F5EE"/>
          </a:solidFill>
          <a:ln w="12700">
            <a:solidFill>
              <a:srgbClr val="34B76F"/>
            </a:solidFill>
            <a:prstDash val="solid"/>
          </a:ln>
        </p:spPr>
      </p:sp>
      <p:sp>
        <p:nvSpPr>
          <p:cNvPr id="19" name="Text 17"/>
          <p:cNvSpPr/>
          <p:nvPr/>
        </p:nvSpPr>
        <p:spPr>
          <a:xfrm>
            <a:off x="640080" y="4023360"/>
            <a:ext cx="7863840" cy="530352"/>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Using the name each group used for itself, listing what really happened on every side, and not shrinking one event to make another look bigger.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D4943A"/>
                </a:solidFill>
                <a:latin typeface="Calibri" pitchFamily="34" charset="0"/>
                <a:ea typeface="Calibri" pitchFamily="34" charset="-122"/>
                <a:cs typeface="Calibri" pitchFamily="34" charset="-120"/>
              </a:rPr>
              <a:t>ASSIGNMENT — TIMELINE SOURCE STUDY</a:t>
            </a:r>
            <a:endParaRPr lang="en-US" sz="1500" dirty="0"/>
          </a:p>
        </p:txBody>
      </p:sp>
      <p:sp>
        <p:nvSpPr>
          <p:cNvPr id="5" name="Shape 3"/>
          <p:cNvSpPr/>
          <p:nvPr/>
        </p:nvSpPr>
        <p:spPr>
          <a:xfrm>
            <a:off x="365760" y="713232"/>
            <a:ext cx="8412480" cy="1078992"/>
          </a:xfrm>
          <a:prstGeom prst="roundRect">
            <a:avLst>
              <a:gd name="adj" fmla="val 10169"/>
            </a:avLst>
          </a:prstGeom>
          <a:solidFill>
            <a:srgbClr val="FFFFFF"/>
          </a:solidFill>
          <a:ln w="12700">
            <a:solidFill>
              <a:srgbClr val="B0B8CC"/>
            </a:solidFill>
            <a:prstDash val="solid"/>
          </a:ln>
        </p:spPr>
      </p:sp>
      <p:sp>
        <p:nvSpPr>
          <p:cNvPr id="6" name="Shape 4"/>
          <p:cNvSpPr/>
          <p:nvPr/>
        </p:nvSpPr>
        <p:spPr>
          <a:xfrm>
            <a:off x="502920" y="987552"/>
            <a:ext cx="411480" cy="411480"/>
          </a:xfrm>
          <a:prstGeom prst="ellipse">
            <a:avLst/>
          </a:prstGeom>
          <a:solidFill>
            <a:srgbClr val="D4943A"/>
          </a:solidFill>
          <a:ln/>
        </p:spPr>
      </p:sp>
      <p:sp>
        <p:nvSpPr>
          <p:cNvPr id="7" name="Text 5"/>
          <p:cNvSpPr/>
          <p:nvPr/>
        </p:nvSpPr>
        <p:spPr>
          <a:xfrm>
            <a:off x="502920" y="98755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005840" y="804672"/>
            <a:ext cx="7589520" cy="53035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Write the five key Florida events from today's lesson in chronological order, earliest to latest.</a:t>
            </a:r>
            <a:endParaRPr lang="en-US" sz="1300" dirty="0"/>
          </a:p>
        </p:txBody>
      </p:sp>
      <p:sp>
        <p:nvSpPr>
          <p:cNvPr id="9" name="Text 7"/>
          <p:cNvSpPr/>
          <p:nvPr/>
        </p:nvSpPr>
        <p:spPr>
          <a:xfrm>
            <a:off x="1005840" y="1371600"/>
            <a:ext cx="7589520" cy="347472"/>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Use just the year and a few words — e.g., '1513 — Ponce de León names La Florida'</a:t>
            </a:r>
            <a:endParaRPr lang="en-US" sz="1100" dirty="0"/>
          </a:p>
        </p:txBody>
      </p:sp>
      <p:sp>
        <p:nvSpPr>
          <p:cNvPr id="10" name="Shape 8"/>
          <p:cNvSpPr/>
          <p:nvPr/>
        </p:nvSpPr>
        <p:spPr>
          <a:xfrm>
            <a:off x="365760" y="1883664"/>
            <a:ext cx="8412480" cy="1078992"/>
          </a:xfrm>
          <a:prstGeom prst="roundRect">
            <a:avLst>
              <a:gd name="adj" fmla="val 10169"/>
            </a:avLst>
          </a:prstGeom>
          <a:solidFill>
            <a:srgbClr val="FFFFFF"/>
          </a:solidFill>
          <a:ln w="12700">
            <a:solidFill>
              <a:srgbClr val="B0B8CC"/>
            </a:solidFill>
            <a:prstDash val="solid"/>
          </a:ln>
        </p:spPr>
      </p:sp>
      <p:sp>
        <p:nvSpPr>
          <p:cNvPr id="11" name="Shape 9"/>
          <p:cNvSpPr/>
          <p:nvPr/>
        </p:nvSpPr>
        <p:spPr>
          <a:xfrm>
            <a:off x="502920" y="2157984"/>
            <a:ext cx="411480" cy="411480"/>
          </a:xfrm>
          <a:prstGeom prst="ellipse">
            <a:avLst/>
          </a:prstGeom>
          <a:solidFill>
            <a:srgbClr val="D4943A"/>
          </a:solidFill>
          <a:ln/>
        </p:spPr>
      </p:sp>
      <p:sp>
        <p:nvSpPr>
          <p:cNvPr id="12" name="Text 10"/>
          <p:cNvSpPr/>
          <p:nvPr/>
        </p:nvSpPr>
        <p:spPr>
          <a:xfrm>
            <a:off x="502920" y="215798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005840" y="1975104"/>
            <a:ext cx="7589520" cy="53035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Pick two events from the timeline that are next to each other. Explain how the earlier one made the later one possible, using the word BECAUSE.</a:t>
            </a:r>
            <a:endParaRPr lang="en-US" sz="1300" dirty="0"/>
          </a:p>
        </p:txBody>
      </p:sp>
      <p:sp>
        <p:nvSpPr>
          <p:cNvPr id="14" name="Text 12"/>
          <p:cNvSpPr/>
          <p:nvPr/>
        </p:nvSpPr>
        <p:spPr>
          <a:xfrm>
            <a:off x="1005840" y="2542032"/>
            <a:ext cx="7589520" cy="347472"/>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Try the frame: 'Because [earlier event], [later event] could happen.'</a:t>
            </a:r>
            <a:endParaRPr lang="en-US" sz="1100" dirty="0"/>
          </a:p>
        </p:txBody>
      </p:sp>
      <p:sp>
        <p:nvSpPr>
          <p:cNvPr id="15" name="Shape 13"/>
          <p:cNvSpPr/>
          <p:nvPr/>
        </p:nvSpPr>
        <p:spPr>
          <a:xfrm>
            <a:off x="365760" y="3054096"/>
            <a:ext cx="8412480" cy="1078992"/>
          </a:xfrm>
          <a:prstGeom prst="roundRect">
            <a:avLst>
              <a:gd name="adj" fmla="val 10169"/>
            </a:avLst>
          </a:prstGeom>
          <a:solidFill>
            <a:srgbClr val="FFFFFF"/>
          </a:solidFill>
          <a:ln w="12700">
            <a:solidFill>
              <a:srgbClr val="B0B8CC"/>
            </a:solidFill>
            <a:prstDash val="solid"/>
          </a:ln>
        </p:spPr>
      </p:sp>
      <p:sp>
        <p:nvSpPr>
          <p:cNvPr id="16" name="Shape 14"/>
          <p:cNvSpPr/>
          <p:nvPr/>
        </p:nvSpPr>
        <p:spPr>
          <a:xfrm>
            <a:off x="502920" y="3328416"/>
            <a:ext cx="411480" cy="411480"/>
          </a:xfrm>
          <a:prstGeom prst="ellipse">
            <a:avLst/>
          </a:prstGeom>
          <a:solidFill>
            <a:srgbClr val="D4943A"/>
          </a:solidFill>
          <a:ln/>
        </p:spPr>
      </p:sp>
      <p:sp>
        <p:nvSpPr>
          <p:cNvPr id="17" name="Text 15"/>
          <p:cNvSpPr/>
          <p:nvPr/>
        </p:nvSpPr>
        <p:spPr>
          <a:xfrm>
            <a:off x="502920" y="332841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005840" y="3145536"/>
            <a:ext cx="7589520" cy="53035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Today's virtue is courtesy. Why does courtesy matter when a historian lists Florida events that meant different things to different groups?</a:t>
            </a:r>
            <a:endParaRPr lang="en-US" sz="1300" dirty="0"/>
          </a:p>
        </p:txBody>
      </p:sp>
      <p:sp>
        <p:nvSpPr>
          <p:cNvPr id="19" name="Text 17"/>
          <p:cNvSpPr/>
          <p:nvPr/>
        </p:nvSpPr>
        <p:spPr>
          <a:xfrm>
            <a:off x="1005840" y="3712464"/>
            <a:ext cx="7589520" cy="347472"/>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Use one specific example from the timeline if you can.</a:t>
            </a:r>
            <a:endParaRPr lang="en-US" sz="1100" dirty="0"/>
          </a:p>
        </p:txBody>
      </p:sp>
      <p:sp>
        <p:nvSpPr>
          <p:cNvPr id="20" name="Shape 18"/>
          <p:cNvSpPr/>
          <p:nvPr/>
        </p:nvSpPr>
        <p:spPr>
          <a:xfrm>
            <a:off x="365760" y="4251960"/>
            <a:ext cx="8412480" cy="566928"/>
          </a:xfrm>
          <a:prstGeom prst="roundRect">
            <a:avLst>
              <a:gd name="adj" fmla="val 16129"/>
            </a:avLst>
          </a:prstGeom>
          <a:solidFill>
            <a:srgbClr val="FFF3DC"/>
          </a:solidFill>
          <a:ln w="19050">
            <a:solidFill>
              <a:srgbClr val="D4943A"/>
            </a:solidFill>
            <a:prstDash val="solid"/>
          </a:ln>
        </p:spPr>
      </p:sp>
      <p:sp>
        <p:nvSpPr>
          <p:cNvPr id="21" name="Text 19"/>
          <p:cNvSpPr/>
          <p:nvPr/>
        </p:nvSpPr>
        <p:spPr>
          <a:xfrm>
            <a:off x="502920" y="4270248"/>
            <a:ext cx="8229600" cy="530352"/>
          </a:xfrm>
          <a:prstGeom prst="rect">
            <a:avLst/>
          </a:prstGeom>
          <a:noFill/>
          <a:ln/>
        </p:spPr>
        <p:txBody>
          <a:bodyPr wrap="square" lIns="0" tIns="0" rIns="0" bIns="0" rtlCol="0" anchor="ctr"/>
          <a:lstStyle/>
          <a:p>
            <a:pPr indent="0" marL="0">
              <a:buNone/>
            </a:pPr>
            <a:r>
              <a:rPr lang="en-US" sz="1100" dirty="0">
                <a:solidFill>
                  <a:srgbClr val="5A4A3A"/>
                </a:solidFill>
                <a:latin typeface="Calibri" pitchFamily="34" charset="0"/>
                <a:ea typeface="Calibri" pitchFamily="34" charset="-122"/>
                <a:cs typeface="Calibri" pitchFamily="34" charset="-120"/>
              </a:rPr>
              <a:t>Unlock Challenge: Re-write all five events in order, write 2-3 sentences with one 'because' cause/effect connection, end with one sentence about why courtesy matters when listing Florida events.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64008"/>
          </a:xfrm>
          <a:prstGeom prst="rect">
            <a:avLst/>
          </a:prstGeom>
          <a:solidFill>
            <a:srgbClr val="D4943A"/>
          </a:solidFill>
          <a:ln/>
        </p:spPr>
      </p:sp>
      <p:sp>
        <p:nvSpPr>
          <p:cNvPr id="6" name="Shape 3"/>
          <p:cNvSpPr/>
          <p:nvPr/>
        </p:nvSpPr>
        <p:spPr>
          <a:xfrm>
            <a:off x="457200" y="256032"/>
            <a:ext cx="3200400" cy="402336"/>
          </a:xfrm>
          <a:prstGeom prst="roundRect">
            <a:avLst>
              <a:gd name="adj" fmla="val 40909"/>
            </a:avLst>
          </a:prstGeom>
          <a:solidFill>
            <a:srgbClr val="D4943A"/>
          </a:solidFill>
          <a:ln/>
        </p:spPr>
      </p:sp>
      <p:sp>
        <p:nvSpPr>
          <p:cNvPr id="7" name="Text 4"/>
          <p:cNvSpPr/>
          <p:nvPr/>
        </p:nvSpPr>
        <p:spPr>
          <a:xfrm>
            <a:off x="457200" y="256032"/>
            <a:ext cx="3200400" cy="402336"/>
          </a:xfrm>
          <a:prstGeom prst="rect">
            <a:avLst/>
          </a:prstGeom>
          <a:noFill/>
          <a:ln/>
        </p:spPr>
        <p:txBody>
          <a:bodyPr wrap="square" lIns="0" tIns="0" rIns="0" bIns="0" rtlCol="0" anchor="ctr"/>
          <a:lstStyle/>
          <a:p>
            <a:pPr algn="ctr" indent="0" marL="0">
              <a:buNone/>
            </a:pPr>
            <a:r>
              <a:rPr lang="en-US" sz="1100" b="1" spc="120" kern="0" dirty="0">
                <a:solidFill>
                  <a:srgbClr val="FFFFFF"/>
                </a:solidFill>
                <a:latin typeface="Calibri" pitchFamily="34" charset="0"/>
                <a:ea typeface="Calibri" pitchFamily="34" charset="-122"/>
                <a:cs typeface="Calibri" pitchFamily="34" charset="-120"/>
              </a:rPr>
              <a:t>MAIN THREAD LOCKED IN</a:t>
            </a:r>
            <a:endParaRPr lang="en-US" sz="1100" dirty="0"/>
          </a:p>
        </p:txBody>
      </p:sp>
      <p:sp>
        <p:nvSpPr>
          <p:cNvPr id="8" name="Text 5"/>
          <p:cNvSpPr/>
          <p:nvPr/>
        </p:nvSpPr>
        <p:spPr>
          <a:xfrm>
            <a:off x="457200" y="777240"/>
            <a:ext cx="8229600" cy="658368"/>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Timeline in Order.</a:t>
            </a:r>
            <a:endParaRPr lang="en-US" sz="4600" dirty="0"/>
          </a:p>
        </p:txBody>
      </p:sp>
      <p:sp>
        <p:nvSpPr>
          <p:cNvPr id="9" name="Text 6"/>
          <p:cNvSpPr/>
          <p:nvPr/>
        </p:nvSpPr>
        <p:spPr>
          <a:xfrm>
            <a:off x="457200" y="1536192"/>
            <a:ext cx="8229600" cy="658368"/>
          </a:xfrm>
          <a:prstGeom prst="rect">
            <a:avLst/>
          </a:prstGeom>
          <a:noFill/>
          <a:ln/>
        </p:spPr>
        <p:txBody>
          <a:bodyPr wrap="square" lIns="0" tIns="0" rIns="0" bIns="0" rtlCol="0" anchor="ctr"/>
          <a:lstStyle/>
          <a:p>
            <a:pPr indent="0" marL="0">
              <a:buNone/>
            </a:pPr>
            <a:r>
              <a:rPr lang="en-US" sz="1900" i="1" dirty="0">
                <a:solidFill>
                  <a:srgbClr val="D4943A"/>
                </a:solidFill>
                <a:latin typeface="Cambria" pitchFamily="34" charset="0"/>
                <a:ea typeface="Cambria" pitchFamily="34" charset="-122"/>
                <a:cs typeface="Cambria" pitchFamily="34" charset="-120"/>
              </a:rPr>
              <a:t>Sequencing events helps historians understand when things happened and how one event can lead to another.</a:t>
            </a:r>
            <a:endParaRPr lang="en-US" sz="1900" dirty="0"/>
          </a:p>
        </p:txBody>
      </p:sp>
      <p:sp>
        <p:nvSpPr>
          <p:cNvPr id="10" name="Shape 7"/>
          <p:cNvSpPr/>
          <p:nvPr/>
        </p:nvSpPr>
        <p:spPr>
          <a:xfrm>
            <a:off x="457200" y="2304288"/>
            <a:ext cx="4572000" cy="45720"/>
          </a:xfrm>
          <a:prstGeom prst="rect">
            <a:avLst/>
          </a:prstGeom>
          <a:solidFill>
            <a:srgbClr val="55C8E8"/>
          </a:solidFill>
          <a:ln/>
        </p:spPr>
      </p:sp>
      <p:sp>
        <p:nvSpPr>
          <p:cNvPr id="11" name="Text 8"/>
          <p:cNvSpPr/>
          <p:nvPr/>
        </p:nvSpPr>
        <p:spPr>
          <a:xfrm>
            <a:off x="457200" y="2450592"/>
            <a:ext cx="8229600" cy="274320"/>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The Rule:</a:t>
            </a:r>
            <a:endParaRPr lang="en-US" sz="1200" dirty="0"/>
          </a:p>
        </p:txBody>
      </p:sp>
      <p:sp>
        <p:nvSpPr>
          <p:cNvPr id="12" name="Text 9"/>
          <p:cNvSpPr/>
          <p:nvPr/>
        </p:nvSpPr>
        <p:spPr>
          <a:xfrm>
            <a:off x="457200" y="2788920"/>
            <a:ext cx="8229600" cy="749808"/>
          </a:xfrm>
          <a:prstGeom prst="rect">
            <a:avLst/>
          </a:prstGeom>
          <a:noFill/>
          <a:ln/>
        </p:spPr>
        <p:txBody>
          <a:bodyPr wrap="square" lIns="0" tIns="0" rIns="0" bIns="0" rtlCol="0" anchor="ctr"/>
          <a:lstStyle/>
          <a:p>
            <a:pPr indent="0" marL="0">
              <a:buNone/>
            </a:pPr>
            <a:r>
              <a:rPr lang="en-US" sz="1600" i="1" dirty="0">
                <a:solidFill>
                  <a:srgbClr val="FFFFFF"/>
                </a:solidFill>
                <a:latin typeface="Cambria" pitchFamily="34" charset="0"/>
                <a:ea typeface="Cambria" pitchFamily="34" charset="-122"/>
                <a:cs typeface="Cambria" pitchFamily="34" charset="-120"/>
              </a:rPr>
              <a:t>Chronology turns dates into a story. Cause and effect explains why one event led to the next. Courtesy means every group is named with care.</a:t>
            </a:r>
            <a:endParaRPr lang="en-US" sz="1600" dirty="0"/>
          </a:p>
        </p:txBody>
      </p:sp>
      <p:sp>
        <p:nvSpPr>
          <p:cNvPr id="13" name="Shape 10"/>
          <p:cNvSpPr/>
          <p:nvPr/>
        </p:nvSpPr>
        <p:spPr>
          <a:xfrm>
            <a:off x="457200" y="3657600"/>
            <a:ext cx="8229600" cy="713232"/>
          </a:xfrm>
          <a:prstGeom prst="roundRect">
            <a:avLst>
              <a:gd name="adj" fmla="val 12821"/>
            </a:avLst>
          </a:prstGeom>
          <a:solidFill>
            <a:srgbClr val="1A2D5A"/>
          </a:solidFill>
          <a:ln w="12700">
            <a:solidFill>
              <a:srgbClr val="D4943A"/>
            </a:solidFill>
            <a:prstDash val="solid"/>
          </a:ln>
        </p:spPr>
      </p:sp>
      <p:sp>
        <p:nvSpPr>
          <p:cNvPr id="14" name="Text 11"/>
          <p:cNvSpPr/>
          <p:nvPr/>
        </p:nvSpPr>
        <p:spPr>
          <a:xfrm>
            <a:off x="457200" y="3657600"/>
            <a:ext cx="8229600" cy="365760"/>
          </a:xfrm>
          <a:prstGeom prst="rect">
            <a:avLst/>
          </a:prstGeom>
          <a:noFill/>
          <a:ln/>
        </p:spPr>
        <p:txBody>
          <a:bodyPr wrap="square" lIns="0" tIns="0" rIns="0" bIns="0"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1513 · 1565 · 1821 · 1845 · 1865</a:t>
            </a:r>
            <a:endParaRPr lang="en-US" sz="1600" dirty="0"/>
          </a:p>
        </p:txBody>
      </p:sp>
      <p:sp>
        <p:nvSpPr>
          <p:cNvPr id="15" name="Text 12"/>
          <p:cNvSpPr/>
          <p:nvPr/>
        </p:nvSpPr>
        <p:spPr>
          <a:xfrm>
            <a:off x="457200" y="4041648"/>
            <a:ext cx="8229600" cy="292608"/>
          </a:xfrm>
          <a:prstGeom prst="rect">
            <a:avLst/>
          </a:prstGeom>
          <a:noFill/>
          <a:ln/>
        </p:spPr>
        <p:txBody>
          <a:bodyPr wrap="square" lIns="0" tIns="0" rIns="0" bIns="0" rtlCol="0" anchor="ctr"/>
          <a:lstStyle/>
          <a:p>
            <a:pPr algn="ctr" indent="0" marL="0">
              <a:buNone/>
            </a:pPr>
            <a:r>
              <a:rPr lang="en-US" sz="1200" dirty="0">
                <a:solidFill>
                  <a:srgbClr val="7A88A8"/>
                </a:solidFill>
                <a:latin typeface="Calibri" pitchFamily="34" charset="0"/>
                <a:ea typeface="Calibri" pitchFamily="34" charset="-122"/>
                <a:cs typeface="Calibri" pitchFamily="34" charset="-120"/>
              </a:rPr>
              <a:t>Virtue: Courtesy · Coming Next: Lesson 4.01.05 — Vocabulary of Florida Historians</a:t>
            </a:r>
            <a:endParaRPr lang="en-US" sz="1200" dirty="0"/>
          </a:p>
        </p:txBody>
      </p:sp>
      <p:sp>
        <p:nvSpPr>
          <p:cNvPr id="16" name="Text 13"/>
          <p:cNvSpPr/>
          <p:nvPr/>
        </p:nvSpPr>
        <p:spPr>
          <a:xfrm>
            <a:off x="457200" y="4663440"/>
            <a:ext cx="8229600" cy="292608"/>
          </a:xfrm>
          <a:prstGeom prst="rect">
            <a:avLst/>
          </a:prstGeom>
          <a:noFill/>
          <a:ln/>
        </p:spPr>
        <p:txBody>
          <a:bodyPr wrap="square" lIns="0" tIns="0" rIns="0" bIns="0" rtlCol="0" anchor="ctr"/>
          <a:lstStyle/>
          <a:p>
            <a:pPr indent="0" marL="0">
              <a:buNone/>
            </a:pPr>
            <a:r>
              <a:rPr lang="en-US" sz="1000" dirty="0">
                <a:solidFill>
                  <a:srgbClr val="7A88A8"/>
                </a:solidFill>
                <a:latin typeface="Calibri" pitchFamily="34" charset="0"/>
                <a:ea typeface="Calibri" pitchFamily="34" charset="-122"/>
                <a:cs typeface="Calibri" pitchFamily="34" charset="-120"/>
              </a:rPr>
              <a:t>Optima Academy Online · Grade 4 Social Studies · Lesson 4.01.04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2026-07-13T20:39:07Z</dcterms:created>
  <dcterms:modified xsi:type="dcterms:W3CDTF">2026-07-13T20:39:07Z</dcterms:modified>
</cp:coreProperties>
</file>