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Florida wetland or coastal marsh landscape — tall sawgrass, still water reflecting sky, ancient cypress trees, no human figures — vast, primordial, timeless feeling evoking Florida before Europeans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care and warmth — these are real peoples with real histories. 'We're opening a new file today, and it's different from anything we've looked at before. No maps, no dates on a timeline — just people, land, and the lives they built.' Set a respectful tone from the first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60-second preview. Emphasize: 'We're not just memorizing four names today. We're asking WHY these four peoples lived differently — and the answer is in the land and water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seconds of silence before asking any question. Students are reasoning FROM the environment as evidence — this is geography as historical analysis. Ask: 'If you could only stay here if you used what this place provides, what would your daily life look like?' Connect to the mission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introduce the four peoples yet. Let students reason about environment and lifestyle BEFORE meeting the peoples. That sequence — environment first, people second — is the discovery structure. Hold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reveal as what students predicted: 'You said inland + hilly land = farming. You were right. The Apalachee built exactly what you predicted — big farms in the northern hills.' Connect discovery to evidence.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direct archaeological evidence. Ask students to read it as a source: 'What does this mound TELL us, as evidence?' The key insight: the size of the mound tells us about time (centuries) and diet (mostly shellfish). Archaeologists call this a midden — a trash heap that became a treasure chest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shell mound is a remarkable source. Ask: 'Does the mound tell us anything about what people BELIEVED? About their language? Their songs?' Introduce the limits of physical evidence gently — this sets up the multi-source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directly to what students said about the coastal environment. 'You predicted coastal people would rely on the sea. The Calusa and Tequesta prove you right.' Four peoples are now all named. Move to the multi-source compare — the critical evaluation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framing: 'Neither source is more truthful than the other — they reveal different things.' Physical artifacts tell us about diet, tools, and skill; oral traditions and reconstructions tell us about beliefs, community structure, and meaning. A historian needs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Approach this with care and respect. The absence of written records is not the same as the absence of history. Coach teachers: 'Do not suggest that these peoples are less knowable than peoples who kept written records — they are differently knowable.' The perspective question is genuinely open: whose voices are we missing, and why does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Transferable pattern: Geography influences settlement. This applies to Native peoples in Florida, to early European settlers later in this unit, to ancient river civilizations in world history. The pattern carries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dugout canoe on a quiet Florida waterway — no people, just the canoe resting at the water's edge, early morning light, mangroves in background — evoking quiet, purposeful daily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to 90 seconds. Show the four-part structure — people, region, detail, evidence — quickly and clearly. Students should see the pattern before being asked to use it themselves. Do not over-explain.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2-3 minutes to complete. Share 2-3 responses. After each, ask the class: 'Is the evidence specific?' and 'Could someone argue differently from the same evidence?' Do not evaluate — let students evaluate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response names the people and region but doesn't explain the environment-to-daily-life connection. It lists features ('rivers and forests') without explaining how those features shaped what people ate, built, or did. Students should identify that gap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resolve this. Both positions are defensible and both should be respected. YES, oral history is valid evidence — it preserves community knowledge, values, and events not recorded in writing. BUT it has limitations: it changes in transmission, relies on memory, may not specify dates or precise locations. A historian uses it with care and context. Let students argue it 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'You just named four peoples, four regions, and explained what makes them different — that's real historical thinking.' For any misses, revisit quickly. High energy going into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Q1 = practiced on Slides 6 and 9. Q2 = practiced on Slides 4, 5, 14, 15. Q3 uses 'service' — remind students of Slide 13. The Unlock Challenge uses the same four-part structure modeled on Slide 14. Walk through turn-in process.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Florida map with four regions softly lit in different colors — northwest panhandle, north-central, southwest coast, southeast coast — an elegant geographic overview suggesting the four peoples and four worlds of First Florida. No people, no text, just land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457200"/>
            <a:ext cx="8229600" cy="274320"/>
          </a:xfrm>
          <a:prstGeom prst="rect">
            <a:avLst/>
          </a:prstGeom>
          <a:noFill/>
          <a:ln/>
        </p:spPr>
        <p:txBody>
          <a:bodyPr wrap="square" lIns="0" tIns="0" rIns="0" bIns="0" rtlCol="0" anchor="ctr"/>
          <a:lstStyle/>
          <a:p>
            <a:pPr algn="l" indent="0" marL="0">
              <a:buNone/>
            </a:pPr>
            <a:r>
              <a:rPr lang="en-US" sz="1000" b="1" spc="200" kern="0" dirty="0">
                <a:solidFill>
                  <a:srgbClr val="34B76F"/>
                </a:solidFill>
                <a:latin typeface="Calibri" pitchFamily="34" charset="0"/>
                <a:ea typeface="Calibri" pitchFamily="34" charset="-122"/>
                <a:cs typeface="Calibri" pitchFamily="34" charset="-120"/>
              </a:rPr>
              <a:t>LESSON 4.03.01  ·  FLORIDA FILES  ·  UNIT 3 OPENS</a:t>
            </a:r>
            <a:endParaRPr lang="en-US" sz="1000" dirty="0"/>
          </a:p>
        </p:txBody>
      </p:sp>
      <p:sp>
        <p:nvSpPr>
          <p:cNvPr id="6" name="Text 3"/>
          <p:cNvSpPr/>
          <p:nvPr/>
        </p:nvSpPr>
        <p:spPr>
          <a:xfrm>
            <a:off x="457200" y="804672"/>
            <a:ext cx="8229600" cy="164592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Florida's First Peoples</a:t>
            </a:r>
            <a:endParaRPr lang="en-US" sz="3800" dirty="0"/>
          </a:p>
          <a:p>
            <a:pPr algn="l" indent="0" marL="0">
              <a:buNone/>
            </a:pPr>
            <a:r>
              <a:rPr lang="en-US" sz="3800" b="1" dirty="0">
                <a:solidFill>
                  <a:srgbClr val="FFFFFF"/>
                </a:solidFill>
                <a:latin typeface="Cambria" pitchFamily="34" charset="0"/>
                <a:ea typeface="Cambria" pitchFamily="34" charset="-122"/>
                <a:cs typeface="Cambria" pitchFamily="34" charset="-120"/>
              </a:rPr>
              <a:t>and Environments</a:t>
            </a:r>
            <a:endParaRPr lang="en-US" sz="3800" dirty="0"/>
          </a:p>
        </p:txBody>
      </p:sp>
      <p:sp>
        <p:nvSpPr>
          <p:cNvPr id="7" name="Shape 4"/>
          <p:cNvSpPr/>
          <p:nvPr/>
        </p:nvSpPr>
        <p:spPr>
          <a:xfrm>
            <a:off x="457200" y="2542032"/>
            <a:ext cx="2286000" cy="36576"/>
          </a:xfrm>
          <a:prstGeom prst="rect">
            <a:avLst/>
          </a:prstGeom>
          <a:solidFill>
            <a:srgbClr val="34B76F"/>
          </a:solidFill>
          <a:ln w="12700">
            <a:solidFill>
              <a:srgbClr val="34B76F"/>
            </a:solidFill>
            <a:prstDash val="solid"/>
          </a:ln>
        </p:spPr>
      </p:sp>
      <p:sp>
        <p:nvSpPr>
          <p:cNvPr id="8" name="Text 5"/>
          <p:cNvSpPr/>
          <p:nvPr/>
        </p:nvSpPr>
        <p:spPr>
          <a:xfrm>
            <a:off x="457200" y="2651760"/>
            <a:ext cx="8229600" cy="201168"/>
          </a:xfrm>
          <a:prstGeom prst="rect">
            <a:avLst/>
          </a:prstGeom>
          <a:noFill/>
          <a:ln/>
        </p:spPr>
        <p:txBody>
          <a:bodyPr wrap="square" lIns="0" tIns="0" rIns="0" bIns="0" rtlCol="0" anchor="ctr"/>
          <a:lstStyle/>
          <a:p>
            <a:pPr algn="l" indent="0" marL="0">
              <a:buNone/>
            </a:pPr>
            <a:r>
              <a:rPr lang="en-US" sz="900" b="1" spc="150" kern="0" dirty="0">
                <a:solidFill>
                  <a:srgbClr val="34B76F"/>
                </a:solidFill>
                <a:latin typeface="Calibri" pitchFamily="34" charset="0"/>
                <a:ea typeface="Calibri" pitchFamily="34" charset="-122"/>
                <a:cs typeface="Calibri" pitchFamily="34" charset="-120"/>
              </a:rPr>
              <a:t>MISSION QUESTION</a:t>
            </a:r>
            <a:endParaRPr lang="en-US" sz="900" dirty="0"/>
          </a:p>
        </p:txBody>
      </p:sp>
      <p:sp>
        <p:nvSpPr>
          <p:cNvPr id="9" name="Text 6"/>
          <p:cNvSpPr/>
          <p:nvPr/>
        </p:nvSpPr>
        <p:spPr>
          <a:xfrm>
            <a:off x="457200" y="2889504"/>
            <a:ext cx="8229600" cy="777240"/>
          </a:xfrm>
          <a:prstGeom prst="rect">
            <a:avLst/>
          </a:prstGeom>
          <a:noFill/>
          <a:ln/>
        </p:spPr>
        <p:txBody>
          <a:bodyPr wrap="square" lIns="0" tIns="0" rIns="0" bIns="0" rtlCol="0" anchor="ctr"/>
          <a:lstStyle/>
          <a:p>
            <a:pPr algn="l" indent="0" marL="0">
              <a:buNone/>
            </a:pPr>
            <a:r>
              <a:rPr lang="en-US" sz="1600" i="1" dirty="0">
                <a:solidFill>
                  <a:srgbClr val="FFFFFF"/>
                </a:solidFill>
                <a:latin typeface="Cambria" pitchFamily="34" charset="0"/>
                <a:ea typeface="Cambria" pitchFamily="34" charset="-122"/>
                <a:cs typeface="Cambria" pitchFamily="34" charset="-120"/>
              </a:rPr>
              <a:t>How did Florida's land, water, and weather shape the lives of the people who lived here first?</a:t>
            </a:r>
            <a:endParaRPr lang="en-US" sz="1600" dirty="0"/>
          </a:p>
        </p:txBody>
      </p:sp>
      <p:sp>
        <p:nvSpPr>
          <p:cNvPr id="10" name="Text 7"/>
          <p:cNvSpPr/>
          <p:nvPr/>
        </p:nvSpPr>
        <p:spPr>
          <a:xfrm>
            <a:off x="457200" y="4736592"/>
            <a:ext cx="8229600" cy="274320"/>
          </a:xfrm>
          <a:prstGeom prst="rect">
            <a:avLst/>
          </a:prstGeom>
          <a:noFill/>
          <a:ln/>
        </p:spPr>
        <p:txBody>
          <a:bodyPr wrap="square" lIns="0" tIns="0" rIns="0" bIns="0" rtlCol="0" anchor="ctr"/>
          <a:lstStyle/>
          <a:p>
            <a:pPr algn="l" indent="0" marL="0">
              <a:buNone/>
            </a:pPr>
            <a:r>
              <a:rPr lang="en-US" sz="1000" dirty="0">
                <a:solidFill>
                  <a:srgbClr val="7A88A8"/>
                </a:solidFill>
                <a:latin typeface="Calibri" pitchFamily="34" charset="0"/>
                <a:ea typeface="Calibri" pitchFamily="34" charset="-122"/>
                <a:cs typeface="Calibri" pitchFamily="34" charset="-120"/>
              </a:rPr>
              <a:t>Grade 4 Social Studies  ·  Unit 3  ·  Week 7  ·  Four Peoples, Four Worlds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2700">
            <a:solidFill>
              <a:srgbClr val="0B1835"/>
            </a:solidFill>
            <a:prstDash val="solid"/>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548640" y="365760"/>
            <a:ext cx="8046720" cy="256032"/>
          </a:xfrm>
          <a:prstGeom prst="rect">
            <a:avLst/>
          </a:prstGeom>
          <a:noFill/>
          <a:ln/>
        </p:spPr>
        <p:txBody>
          <a:bodyPr wrap="square" lIns="0" tIns="0" rIns="0" bIns="0" rtlCol="0" anchor="ctr"/>
          <a:lstStyle/>
          <a:p>
            <a:pPr indent="0" marL="0">
              <a:buNone/>
            </a:pPr>
            <a:r>
              <a:rPr lang="en-US" sz="1000" b="1" spc="200" kern="0" dirty="0">
                <a:solidFill>
                  <a:srgbClr val="34B76F"/>
                </a:solidFill>
                <a:latin typeface="Calibri" pitchFamily="34" charset="0"/>
                <a:ea typeface="Calibri" pitchFamily="34" charset="-122"/>
                <a:cs typeface="Calibri" pitchFamily="34" charset="-120"/>
              </a:rPr>
              <a:t>MESSAGE FROM YOUR TEACHER</a:t>
            </a:r>
            <a:endParaRPr lang="en-US" sz="1000" dirty="0"/>
          </a:p>
        </p:txBody>
      </p:sp>
      <p:sp>
        <p:nvSpPr>
          <p:cNvPr id="5" name="Shape 3"/>
          <p:cNvSpPr/>
          <p:nvPr/>
        </p:nvSpPr>
        <p:spPr>
          <a:xfrm>
            <a:off x="457200" y="685800"/>
            <a:ext cx="8229600" cy="2331720"/>
          </a:xfrm>
          <a:prstGeom prst="roundRect">
            <a:avLst>
              <a:gd name="adj" fmla="val 5882"/>
            </a:avLst>
          </a:prstGeom>
          <a:solidFill>
            <a:srgbClr val="1A2D5A"/>
          </a:solidFill>
          <a:ln w="19050">
            <a:solidFill>
              <a:srgbClr val="3A5080"/>
            </a:solidFill>
            <a:prstDash val="solid"/>
          </a:ln>
        </p:spPr>
      </p:sp>
      <p:sp>
        <p:nvSpPr>
          <p:cNvPr id="6" name="Text 4"/>
          <p:cNvSpPr/>
          <p:nvPr/>
        </p:nvSpPr>
        <p:spPr>
          <a:xfrm>
            <a:off x="685800" y="822960"/>
            <a:ext cx="7772400" cy="2057400"/>
          </a:xfrm>
          <a:prstGeom prst="rect">
            <a:avLst/>
          </a:prstGeom>
          <a:noFill/>
          <a:ln/>
        </p:spPr>
        <p:txBody>
          <a:bodyPr wrap="square" lIns="0" tIns="0" rIns="0" bIns="0" rtlCol="0" anchor="t"/>
          <a:lstStyle/>
          <a:p>
            <a:pPr indent="0" marL="0">
              <a:buNone/>
            </a:pPr>
            <a:r>
              <a:rPr lang="en-US" sz="1300" i="1" dirty="0">
                <a:solidFill>
                  <a:srgbClr val="FFFFFF"/>
                </a:solidFill>
                <a:latin typeface="Cambria" pitchFamily="34" charset="0"/>
                <a:ea typeface="Cambria" pitchFamily="34" charset="-122"/>
                <a:cs typeface="Cambria" pitchFamily="34" charset="-120"/>
              </a:rPr>
              <a:t>I opened an older file box this morning and found something important — records of real people who lived in Florida long, long before any European explorer ever set foot here. I can't get the file to open properly from inside Canvas, so I need your help unlocking it.</a:t>
            </a:r>
            <a:endParaRPr lang="en-US" sz="1300" dirty="0"/>
          </a:p>
          <a:p>
            <a:pPr indent="0" marL="0">
              <a:buNone/>
            </a:pPr>
            <a:endParaRPr lang="en-US" sz="1300" dirty="0"/>
          </a:p>
          <a:p>
            <a:pPr indent="0" marL="0">
              <a:buNone/>
            </a:pPr>
            <a:r>
              <a:rPr lang="en-US" sz="1300" i="1" dirty="0">
                <a:solidFill>
                  <a:srgbClr val="FFFFFF"/>
                </a:solidFill>
                <a:latin typeface="Cambria" pitchFamily="34" charset="0"/>
                <a:ea typeface="Cambria" pitchFamily="34" charset="-122"/>
                <a:cs typeface="Cambria" pitchFamily="34" charset="-120"/>
              </a:rPr>
              <a:t>Read carefully, match each people to the region where they lived, and study how the land and water around them shaped their daily lives. These are real histories, and they deserve real attention.</a:t>
            </a:r>
            <a:endParaRPr lang="en-US" sz="1300" dirty="0"/>
          </a:p>
          <a:p>
            <a:pPr indent="0" marL="0">
              <a:buNone/>
            </a:pPr>
            <a:endParaRPr lang="en-US" sz="1300" dirty="0"/>
          </a:p>
          <a:p>
            <a:pPr indent="0" marL="0">
              <a:buNone/>
            </a:pPr>
            <a:r>
              <a:rPr lang="en-US" sz="1300" i="1" dirty="0">
                <a:solidFill>
                  <a:srgbClr val="FFFFFF"/>
                </a:solidFill>
                <a:latin typeface="Cambria" pitchFamily="34" charset="0"/>
                <a:ea typeface="Cambria" pitchFamily="34" charset="-122"/>
                <a:cs typeface="Cambria" pitchFamily="34" charset="-120"/>
              </a:rPr>
              <a:t>— Your teacher, still inside Module 3</a:t>
            </a:r>
            <a:endParaRPr lang="en-US" sz="1300" dirty="0"/>
          </a:p>
        </p:txBody>
      </p:sp>
      <p:sp>
        <p:nvSpPr>
          <p:cNvPr id="7" name="Text 5"/>
          <p:cNvSpPr/>
          <p:nvPr/>
        </p:nvSpPr>
        <p:spPr>
          <a:xfrm>
            <a:off x="548640" y="3200400"/>
            <a:ext cx="8046720" cy="256032"/>
          </a:xfrm>
          <a:prstGeom prst="rect">
            <a:avLst/>
          </a:prstGeom>
          <a:noFill/>
          <a:ln/>
        </p:spPr>
        <p:txBody>
          <a:bodyPr wrap="square" lIns="0" tIns="0" rIns="0" bIns="0" rtlCol="0" anchor="ctr"/>
          <a:lstStyle/>
          <a:p>
            <a:pPr indent="0" marL="0">
              <a:buNone/>
            </a:pPr>
            <a:r>
              <a:rPr lang="en-US" sz="1000" b="1" spc="200" kern="0" dirty="0">
                <a:solidFill>
                  <a:srgbClr val="34B76F"/>
                </a:solidFill>
                <a:latin typeface="Calibri" pitchFamily="34" charset="0"/>
                <a:ea typeface="Calibri" pitchFamily="34" charset="-122"/>
                <a:cs typeface="Calibri" pitchFamily="34" charset="-120"/>
              </a:rPr>
              <a:t>A NEW KIND OF FILE</a:t>
            </a:r>
            <a:endParaRPr lang="en-US" sz="1000" dirty="0"/>
          </a:p>
        </p:txBody>
      </p:sp>
      <p:sp>
        <p:nvSpPr>
          <p:cNvPr id="8" name="Text 6"/>
          <p:cNvSpPr/>
          <p:nvPr/>
        </p:nvSpPr>
        <p:spPr>
          <a:xfrm>
            <a:off x="548640" y="3493008"/>
            <a:ext cx="8046720" cy="9144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The evidence in this file does NOT look like maps. It looks like shell mounds, ceramic artifacts, and stories passed down through generations. Real histories deserve real attention.</a:t>
            </a:r>
            <a:endParaRPr lang="en-US" sz="1400" dirty="0"/>
          </a:p>
        </p:txBody>
      </p:sp>
      <p:sp>
        <p:nvSpPr>
          <p:cNvPr id="10" name="Text 7"/>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274320"/>
            <a:ext cx="8229600" cy="274320"/>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TODAY'S PATH  ·  FOUR PEOPLES, FOUR WORLDS</a:t>
            </a:r>
            <a:endParaRPr lang="en-US" sz="1000" dirty="0"/>
          </a:p>
        </p:txBody>
      </p:sp>
      <p:sp>
        <p:nvSpPr>
          <p:cNvPr id="4" name="Text 2"/>
          <p:cNvSpPr/>
          <p:nvPr/>
        </p:nvSpPr>
        <p:spPr>
          <a:xfrm>
            <a:off x="457200" y="566928"/>
            <a:ext cx="8229600" cy="4572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Florida's First Peoples and Environments</a:t>
            </a:r>
            <a:endParaRPr lang="en-US" sz="2200" dirty="0"/>
          </a:p>
        </p:txBody>
      </p:sp>
      <p:sp>
        <p:nvSpPr>
          <p:cNvPr id="5" name="Shape 3"/>
          <p:cNvSpPr/>
          <p:nvPr/>
        </p:nvSpPr>
        <p:spPr>
          <a:xfrm>
            <a:off x="457200" y="1078992"/>
            <a:ext cx="8229600" cy="36576"/>
          </a:xfrm>
          <a:prstGeom prst="rect">
            <a:avLst/>
          </a:prstGeom>
          <a:solidFill>
            <a:srgbClr val="34B76F"/>
          </a:solidFill>
          <a:ln w="12700">
            <a:solidFill>
              <a:srgbClr val="34B76F"/>
            </a:solidFill>
            <a:prstDash val="solid"/>
          </a:ln>
        </p:spPr>
      </p:sp>
      <p:sp>
        <p:nvSpPr>
          <p:cNvPr id="6" name="Shape 4"/>
          <p:cNvSpPr/>
          <p:nvPr/>
        </p:nvSpPr>
        <p:spPr>
          <a:xfrm>
            <a:off x="457200" y="1234440"/>
            <a:ext cx="411480" cy="438912"/>
          </a:xfrm>
          <a:prstGeom prst="roundRect">
            <a:avLst>
              <a:gd name="adj" fmla="val 22222"/>
            </a:avLst>
          </a:prstGeom>
          <a:solidFill>
            <a:srgbClr val="34B76F"/>
          </a:solidFill>
          <a:ln w="12700">
            <a:solidFill>
              <a:srgbClr val="34B76F"/>
            </a:solidFill>
            <a:prstDash val="solid"/>
          </a:ln>
        </p:spPr>
      </p:sp>
      <p:sp>
        <p:nvSpPr>
          <p:cNvPr id="7" name="Text 5"/>
          <p:cNvSpPr/>
          <p:nvPr/>
        </p:nvSpPr>
        <p:spPr>
          <a:xfrm>
            <a:off x="457200" y="1234440"/>
            <a:ext cx="41148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1005840" y="1280160"/>
            <a:ext cx="7589520" cy="34747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Observe a Florida environment — who might have lived here?</a:t>
            </a:r>
            <a:endParaRPr lang="en-US" sz="1400" dirty="0"/>
          </a:p>
        </p:txBody>
      </p:sp>
      <p:sp>
        <p:nvSpPr>
          <p:cNvPr id="9" name="Shape 7"/>
          <p:cNvSpPr/>
          <p:nvPr/>
        </p:nvSpPr>
        <p:spPr>
          <a:xfrm>
            <a:off x="457200" y="1892808"/>
            <a:ext cx="411480" cy="438912"/>
          </a:xfrm>
          <a:prstGeom prst="roundRect">
            <a:avLst>
              <a:gd name="adj" fmla="val 22222"/>
            </a:avLst>
          </a:prstGeom>
          <a:solidFill>
            <a:srgbClr val="1A8A7D"/>
          </a:solidFill>
          <a:ln w="12700">
            <a:solidFill>
              <a:srgbClr val="1A8A7D"/>
            </a:solidFill>
            <a:prstDash val="solid"/>
          </a:ln>
        </p:spPr>
      </p:sp>
      <p:sp>
        <p:nvSpPr>
          <p:cNvPr id="10" name="Text 8"/>
          <p:cNvSpPr/>
          <p:nvPr/>
        </p:nvSpPr>
        <p:spPr>
          <a:xfrm>
            <a:off x="457200" y="1892808"/>
            <a:ext cx="41148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1" name="Text 9"/>
          <p:cNvSpPr/>
          <p:nvPr/>
        </p:nvSpPr>
        <p:spPr>
          <a:xfrm>
            <a:off x="1005840" y="1938528"/>
            <a:ext cx="7589520" cy="34747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Meet the four first peoples — north vs. south, inland vs. coast</a:t>
            </a:r>
            <a:endParaRPr lang="en-US" sz="1400" dirty="0"/>
          </a:p>
        </p:txBody>
      </p:sp>
      <p:sp>
        <p:nvSpPr>
          <p:cNvPr id="12" name="Shape 10"/>
          <p:cNvSpPr/>
          <p:nvPr/>
        </p:nvSpPr>
        <p:spPr>
          <a:xfrm>
            <a:off x="457200" y="2551176"/>
            <a:ext cx="411480" cy="438912"/>
          </a:xfrm>
          <a:prstGeom prst="roundRect">
            <a:avLst>
              <a:gd name="adj" fmla="val 22222"/>
            </a:avLst>
          </a:prstGeom>
          <a:solidFill>
            <a:srgbClr val="8B6FC0"/>
          </a:solidFill>
          <a:ln w="12700">
            <a:solidFill>
              <a:srgbClr val="8B6FC0"/>
            </a:solidFill>
            <a:prstDash val="solid"/>
          </a:ln>
        </p:spPr>
      </p:sp>
      <p:sp>
        <p:nvSpPr>
          <p:cNvPr id="13" name="Text 11"/>
          <p:cNvSpPr/>
          <p:nvPr/>
        </p:nvSpPr>
        <p:spPr>
          <a:xfrm>
            <a:off x="457200" y="2551176"/>
            <a:ext cx="41148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4" name="Text 12"/>
          <p:cNvSpPr/>
          <p:nvPr/>
        </p:nvSpPr>
        <p:spPr>
          <a:xfrm>
            <a:off x="1005840" y="2596896"/>
            <a:ext cx="7589520" cy="34747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Compare two kinds of evidence: artifacts vs. oral tradition</a:t>
            </a:r>
            <a:endParaRPr lang="en-US" sz="1400" dirty="0"/>
          </a:p>
        </p:txBody>
      </p:sp>
      <p:sp>
        <p:nvSpPr>
          <p:cNvPr id="15" name="Shape 13"/>
          <p:cNvSpPr/>
          <p:nvPr/>
        </p:nvSpPr>
        <p:spPr>
          <a:xfrm>
            <a:off x="457200" y="3209544"/>
            <a:ext cx="411480" cy="438912"/>
          </a:xfrm>
          <a:prstGeom prst="roundRect">
            <a:avLst>
              <a:gd name="adj" fmla="val 22222"/>
            </a:avLst>
          </a:prstGeom>
          <a:solidFill>
            <a:srgbClr val="D4943A"/>
          </a:solidFill>
          <a:ln w="12700">
            <a:solidFill>
              <a:srgbClr val="D4943A"/>
            </a:solidFill>
            <a:prstDash val="solid"/>
          </a:ln>
        </p:spPr>
      </p:sp>
      <p:sp>
        <p:nvSpPr>
          <p:cNvPr id="16" name="Text 14"/>
          <p:cNvSpPr/>
          <p:nvPr/>
        </p:nvSpPr>
        <p:spPr>
          <a:xfrm>
            <a:off x="457200" y="3209544"/>
            <a:ext cx="41148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17" name="Text 15"/>
          <p:cNvSpPr/>
          <p:nvPr/>
        </p:nvSpPr>
        <p:spPr>
          <a:xfrm>
            <a:off x="1005840" y="3255264"/>
            <a:ext cx="7589520" cy="34747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Guided practice — defend a claim about environment and culture</a:t>
            </a:r>
            <a:endParaRPr lang="en-US" sz="1400" dirty="0"/>
          </a:p>
        </p:txBody>
      </p:sp>
      <p:sp>
        <p:nvSpPr>
          <p:cNvPr id="18" name="Shape 16"/>
          <p:cNvSpPr/>
          <p:nvPr/>
        </p:nvSpPr>
        <p:spPr>
          <a:xfrm>
            <a:off x="457200" y="3867912"/>
            <a:ext cx="411480" cy="438912"/>
          </a:xfrm>
          <a:prstGeom prst="roundRect">
            <a:avLst>
              <a:gd name="adj" fmla="val 22222"/>
            </a:avLst>
          </a:prstGeom>
          <a:solidFill>
            <a:srgbClr val="E8636B"/>
          </a:solidFill>
          <a:ln w="12700">
            <a:solidFill>
              <a:srgbClr val="E8636B"/>
            </a:solidFill>
            <a:prstDash val="solid"/>
          </a:ln>
        </p:spPr>
      </p:sp>
      <p:sp>
        <p:nvSpPr>
          <p:cNvPr id="19" name="Text 17"/>
          <p:cNvSpPr/>
          <p:nvPr/>
        </p:nvSpPr>
        <p:spPr>
          <a:xfrm>
            <a:off x="457200" y="3867912"/>
            <a:ext cx="41148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0" name="Text 18"/>
          <p:cNvSpPr/>
          <p:nvPr/>
        </p:nvSpPr>
        <p:spPr>
          <a:xfrm>
            <a:off x="1005840" y="3913632"/>
            <a:ext cx="7589520" cy="347472"/>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Assignment — Historian's Notebook Entry for the Florida archive</a:t>
            </a:r>
            <a:endParaRPr lang="en-US" sz="1400" dirty="0"/>
          </a:p>
        </p:txBody>
      </p:sp>
      <p:sp>
        <p:nvSpPr>
          <p:cNvPr id="22" name="Text 19"/>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34B76F"/>
                </a:solidFill>
                <a:latin typeface="Calibri" pitchFamily="34" charset="0"/>
                <a:ea typeface="Calibri" pitchFamily="34" charset="-122"/>
                <a:cs typeface="Calibri" pitchFamily="34" charset="-120"/>
              </a:rPr>
              <a:t>CLUE BOX 1  ·  THE LAND SPEAKS FIRST</a:t>
            </a:r>
            <a:endParaRPr lang="en-US" sz="100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indent="0" marL="0">
              <a:buNone/>
            </a:pPr>
            <a:r>
              <a:rPr lang="en-US" sz="1500" i="1" dirty="0">
                <a:solidFill>
                  <a:srgbClr val="0E1C42"/>
                </a:solidFill>
                <a:latin typeface="Cambria" pitchFamily="34" charset="0"/>
                <a:ea typeface="Cambria" pitchFamily="34" charset="-122"/>
                <a:cs typeface="Cambria" pitchFamily="34" charset="-120"/>
              </a:rPr>
              <a:t>Before we meet the people, look at the land. What would you eat? How would you move? What would you build?</a:t>
            </a:r>
            <a:endParaRPr lang="en-US" sz="1500" dirty="0"/>
          </a:p>
        </p:txBody>
      </p:sp>
      <p:sp>
        <p:nvSpPr>
          <p:cNvPr id="5" name="Shape 3"/>
          <p:cNvSpPr/>
          <p:nvPr/>
        </p:nvSpPr>
        <p:spPr>
          <a:xfrm>
            <a:off x="365760" y="1005840"/>
            <a:ext cx="5212080" cy="3291840"/>
          </a:xfrm>
          <a:prstGeom prst="roundRect">
            <a:avLst>
              <a:gd name="adj" fmla="val 3333"/>
            </a:avLst>
          </a:prstGeom>
          <a:solidFill>
            <a:srgbClr val="E2E8F4"/>
          </a:solidFill>
          <a:ln w="19050">
            <a:solidFill>
              <a:srgbClr val="B0B8CC"/>
            </a:solidFill>
            <a:prstDash val="dash"/>
          </a:ln>
        </p:spPr>
      </p:sp>
      <p:sp>
        <p:nvSpPr>
          <p:cNvPr id="6" name="Text 4"/>
          <p:cNvSpPr/>
          <p:nvPr/>
        </p:nvSpPr>
        <p:spPr>
          <a:xfrm>
            <a:off x="365760" y="1005840"/>
            <a:ext cx="52120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280160"/>
            <a:ext cx="4937760" cy="2926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Florida coastal Gulf shore or mangrove estuary: still turquoise water, mangrove root systems, oyster beds visible at low tide, pelicans, no human figures. Lush, resource-rich, southwestern Florida coast feel.</a:t>
            </a:r>
            <a:endParaRPr lang="en-US" sz="1100" dirty="0"/>
          </a:p>
        </p:txBody>
      </p:sp>
      <p:sp>
        <p:nvSpPr>
          <p:cNvPr id="8" name="Text 6"/>
          <p:cNvSpPr/>
          <p:nvPr/>
        </p:nvSpPr>
        <p:spPr>
          <a:xfrm>
            <a:off x="365760" y="4361688"/>
            <a:ext cx="5212080" cy="256032"/>
          </a:xfrm>
          <a:prstGeom prst="rect">
            <a:avLst/>
          </a:prstGeom>
          <a:noFill/>
          <a:ln/>
        </p:spPr>
        <p:txBody>
          <a:bodyPr wrap="square" lIns="0" tIns="0" rIns="0" bIns="0"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No labels. Just look — what resources do you see?</a:t>
            </a:r>
            <a:endParaRPr lang="en-US" sz="1000" dirty="0"/>
          </a:p>
        </p:txBody>
      </p:sp>
      <p:sp>
        <p:nvSpPr>
          <p:cNvPr id="9" name="Shape 7"/>
          <p:cNvSpPr/>
          <p:nvPr/>
        </p:nvSpPr>
        <p:spPr>
          <a:xfrm>
            <a:off x="5760720" y="1005840"/>
            <a:ext cx="2926080" cy="1828800"/>
          </a:xfrm>
          <a:prstGeom prst="roundRect">
            <a:avLst>
              <a:gd name="adj" fmla="val 6000"/>
            </a:avLst>
          </a:prstGeom>
          <a:solidFill>
            <a:srgbClr val="FFF3DC"/>
          </a:solidFill>
          <a:ln w="19050">
            <a:solidFill>
              <a:srgbClr val="F5E6C8"/>
            </a:solidFill>
            <a:prstDash val="solid"/>
          </a:ln>
        </p:spPr>
      </p:sp>
      <p:sp>
        <p:nvSpPr>
          <p:cNvPr id="10" name="Text 8"/>
          <p:cNvSpPr/>
          <p:nvPr/>
        </p:nvSpPr>
        <p:spPr>
          <a:xfrm>
            <a:off x="5897880" y="1060704"/>
            <a:ext cx="26517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897880" y="1261872"/>
            <a:ext cx="265176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I lived here, I would survive by... because the land/water offers..."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environment is shaped by... which would force people to..."</a:t>
            </a:r>
            <a:endParaRPr lang="en-US" sz="1200" dirty="0"/>
          </a:p>
        </p:txBody>
      </p:sp>
      <p:sp>
        <p:nvSpPr>
          <p:cNvPr id="12" name="Shape 10"/>
          <p:cNvSpPr/>
          <p:nvPr/>
        </p:nvSpPr>
        <p:spPr>
          <a:xfrm>
            <a:off x="5760720" y="2971800"/>
            <a:ext cx="2926080" cy="1600200"/>
          </a:xfrm>
          <a:prstGeom prst="roundRect">
            <a:avLst>
              <a:gd name="adj" fmla="val 5714"/>
            </a:avLst>
          </a:prstGeom>
          <a:solidFill>
            <a:srgbClr val="0E1C42"/>
          </a:solidFill>
          <a:ln w="12700">
            <a:solidFill>
              <a:srgbClr val="34B76F"/>
            </a:solidFill>
            <a:prstDash val="solid"/>
          </a:ln>
        </p:spPr>
      </p:sp>
      <p:sp>
        <p:nvSpPr>
          <p:cNvPr id="13" name="Text 11"/>
          <p:cNvSpPr/>
          <p:nvPr/>
        </p:nvSpPr>
        <p:spPr>
          <a:xfrm>
            <a:off x="5852160" y="3044952"/>
            <a:ext cx="274320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REASONING FROM LAND</a:t>
            </a:r>
            <a:endParaRPr lang="en-US" sz="900" dirty="0"/>
          </a:p>
        </p:txBody>
      </p:sp>
      <p:sp>
        <p:nvSpPr>
          <p:cNvPr id="14" name="Text 12"/>
          <p:cNvSpPr/>
          <p:nvPr/>
        </p:nvSpPr>
        <p:spPr>
          <a:xfrm>
            <a:off x="5852160" y="3291840"/>
            <a:ext cx="2743200" cy="1188720"/>
          </a:xfrm>
          <a:prstGeom prst="rect">
            <a:avLst/>
          </a:prstGeom>
          <a:noFill/>
          <a:ln/>
        </p:spPr>
        <p:txBody>
          <a:bodyPr wrap="square" lIns="0" tIns="0" rIns="0" bIns="0" rtlCol="0" anchor="t"/>
          <a:lstStyle/>
          <a:p>
            <a:pPr indent="0" marL="0">
              <a:buNone/>
            </a:pPr>
            <a:r>
              <a:rPr lang="en-US" sz="1200" i="1" dirty="0">
                <a:solidFill>
                  <a:srgbClr val="FFFFFF"/>
                </a:solidFill>
                <a:latin typeface="Calibri" pitchFamily="34" charset="0"/>
                <a:ea typeface="Calibri" pitchFamily="34" charset="-122"/>
                <a:cs typeface="Calibri" pitchFamily="34" charset="-120"/>
              </a:rPr>
              <a:t>What specific resources does this environment offer?</a:t>
            </a: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How would the season affect survival here?</a:t>
            </a: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Why would people settle here — or avoid it?</a:t>
            </a:r>
            <a:endParaRPr lang="en-US" sz="1200" dirty="0"/>
          </a:p>
        </p:txBody>
      </p:sp>
      <p:sp>
        <p:nvSpPr>
          <p:cNvPr id="16" name="Text 13"/>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34B76F"/>
                </a:solidFill>
                <a:latin typeface="Calibri" pitchFamily="34" charset="0"/>
                <a:ea typeface="Calibri" pitchFamily="34" charset="-122"/>
                <a:cs typeface="Calibri" pitchFamily="34" charset="-120"/>
              </a:rPr>
              <a:t>DISCUSSION  ·  HOW DOES LAND SHAPE LIFE?</a:t>
            </a:r>
            <a:endParaRPr lang="en-US" sz="1000" dirty="0"/>
          </a:p>
        </p:txBody>
      </p:sp>
      <p:sp>
        <p:nvSpPr>
          <p:cNvPr id="4" name="Text 2"/>
          <p:cNvSpPr/>
          <p:nvPr/>
        </p:nvSpPr>
        <p:spPr>
          <a:xfrm>
            <a:off x="457200" y="457200"/>
            <a:ext cx="8229600" cy="41148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The environment is evidence. What does it explain?</a:t>
            </a:r>
            <a:endParaRPr lang="en-US" sz="2200" dirty="0"/>
          </a:p>
        </p:txBody>
      </p:sp>
      <p:sp>
        <p:nvSpPr>
          <p:cNvPr id="5" name="Shape 3"/>
          <p:cNvSpPr/>
          <p:nvPr/>
        </p:nvSpPr>
        <p:spPr>
          <a:xfrm>
            <a:off x="457200" y="1005840"/>
            <a:ext cx="4937760" cy="2743200"/>
          </a:xfrm>
          <a:prstGeom prst="roundRect">
            <a:avLst>
              <a:gd name="adj" fmla="val 5000"/>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640080" y="109728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640080" y="1353312"/>
            <a:ext cx="4572000" cy="23042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people near the coast live differently from people in the northern hills?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evidence is stronger: what people ATE or what they BUILT?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we figure out where someone lived just by knowing what they ate?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be giving up by living on the coast instead of farming inland?</a:t>
            </a:r>
            <a:endParaRPr lang="en-US" sz="1100" dirty="0"/>
          </a:p>
        </p:txBody>
      </p:sp>
      <p:sp>
        <p:nvSpPr>
          <p:cNvPr id="8" name="Shape 6"/>
          <p:cNvSpPr/>
          <p:nvPr/>
        </p:nvSpPr>
        <p:spPr>
          <a:xfrm>
            <a:off x="5577840" y="1005840"/>
            <a:ext cx="3108960" cy="1828800"/>
          </a:xfrm>
          <a:prstGeom prst="roundRect">
            <a:avLst>
              <a:gd name="adj" fmla="val 6000"/>
            </a:avLst>
          </a:prstGeom>
          <a:solidFill>
            <a:srgbClr val="FFF3DC"/>
          </a:solidFill>
          <a:ln w="19050">
            <a:solidFill>
              <a:srgbClr val="F5E6C8"/>
            </a:solidFill>
            <a:prstDash val="solid"/>
          </a:ln>
        </p:spPr>
      </p:sp>
      <p:sp>
        <p:nvSpPr>
          <p:cNvPr id="9" name="Text 7"/>
          <p:cNvSpPr/>
          <p:nvPr/>
        </p:nvSpPr>
        <p:spPr>
          <a:xfrm>
            <a:off x="5715000" y="106070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715000" y="1261872"/>
            <a:ext cx="283464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environment shaped daily life by... which means the evidence shows..."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I lived near the coast instead of the hills, I would lose... but gain... because..."</a:t>
            </a:r>
            <a:endParaRPr lang="en-US" sz="1200" dirty="0"/>
          </a:p>
        </p:txBody>
      </p:sp>
      <p:sp>
        <p:nvSpPr>
          <p:cNvPr id="11" name="Shape 9"/>
          <p:cNvSpPr/>
          <p:nvPr/>
        </p:nvSpPr>
        <p:spPr>
          <a:xfrm>
            <a:off x="5577840" y="2971800"/>
            <a:ext cx="3108960" cy="1371600"/>
          </a:xfrm>
          <a:prstGeom prst="roundRect">
            <a:avLst>
              <a:gd name="adj" fmla="val 6667"/>
            </a:avLst>
          </a:prstGeom>
          <a:solidFill>
            <a:srgbClr val="34B76F">
              <a:alpha val="15000"/>
            </a:srgbClr>
          </a:solidFill>
          <a:ln w="19050">
            <a:solidFill>
              <a:srgbClr val="34B76F"/>
            </a:solidFill>
            <a:prstDash val="solid"/>
          </a:ln>
        </p:spPr>
      </p:sp>
      <p:sp>
        <p:nvSpPr>
          <p:cNvPr id="12" name="Text 10"/>
          <p:cNvSpPr/>
          <p:nvPr/>
        </p:nvSpPr>
        <p:spPr>
          <a:xfrm>
            <a:off x="5715000" y="3044952"/>
            <a:ext cx="2834640" cy="219456"/>
          </a:xfrm>
          <a:prstGeom prst="rect">
            <a:avLst/>
          </a:prstGeom>
          <a:noFill/>
          <a:ln/>
        </p:spPr>
        <p:txBody>
          <a:bodyPr wrap="square" lIns="0" tIns="0" rIns="0" bIns="0" rtlCol="0" anchor="ctr"/>
          <a:lstStyle/>
          <a:p>
            <a:pPr indent="0" marL="0">
              <a:buNone/>
            </a:pPr>
            <a:r>
              <a:rPr lang="en-US" sz="900" b="1" spc="150" kern="0" dirty="0">
                <a:solidFill>
                  <a:srgbClr val="1A5A38"/>
                </a:solidFill>
                <a:latin typeface="Calibri" pitchFamily="34" charset="0"/>
                <a:ea typeface="Calibri" pitchFamily="34" charset="-122"/>
                <a:cs typeface="Calibri" pitchFamily="34" charset="-120"/>
              </a:rPr>
              <a:t>GEOGRAPHY LESSON</a:t>
            </a:r>
            <a:endParaRPr lang="en-US" sz="900" dirty="0"/>
          </a:p>
        </p:txBody>
      </p:sp>
      <p:sp>
        <p:nvSpPr>
          <p:cNvPr id="13" name="Text 11"/>
          <p:cNvSpPr/>
          <p:nvPr/>
        </p:nvSpPr>
        <p:spPr>
          <a:xfrm>
            <a:off x="5715000" y="3273552"/>
            <a:ext cx="2834640" cy="914400"/>
          </a:xfrm>
          <a:prstGeom prst="rect">
            <a:avLst/>
          </a:prstGeom>
          <a:noFill/>
          <a:ln/>
        </p:spPr>
        <p:txBody>
          <a:bodyPr wrap="square" lIns="0" tIns="0" rIns="0" bIns="0" rtlCol="0" anchor="t"/>
          <a:lstStyle/>
          <a:p>
            <a:pPr indent="0" marL="0">
              <a:buNone/>
            </a:pPr>
            <a:r>
              <a:rPr lang="en-US" sz="1100" i="1" dirty="0">
                <a:solidFill>
                  <a:srgbClr val="1A5A38"/>
                </a:solidFill>
                <a:latin typeface="Calibri" pitchFamily="34" charset="0"/>
                <a:ea typeface="Calibri" pitchFamily="34" charset="-122"/>
                <a:cs typeface="Calibri" pitchFamily="34" charset="-120"/>
              </a:rPr>
              <a:t>Transferable pattern preview: 'Geography influences settlement.' Students are building toward this generalization from evidence — not being told it.</a:t>
            </a:r>
            <a:endParaRPr lang="en-US" sz="1100" dirty="0"/>
          </a:p>
        </p:txBody>
      </p:sp>
      <p:sp>
        <p:nvSpPr>
          <p:cNvPr id="15" name="Text 12"/>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Text 1"/>
          <p:cNvSpPr/>
          <p:nvPr/>
        </p:nvSpPr>
        <p:spPr>
          <a:xfrm>
            <a:off x="548640" y="320040"/>
            <a:ext cx="8046720" cy="256032"/>
          </a:xfrm>
          <a:prstGeom prst="rect">
            <a:avLst/>
          </a:prstGeom>
          <a:noFill/>
          <a:ln/>
        </p:spPr>
        <p:txBody>
          <a:bodyPr wrap="square" lIns="0" tIns="0" rIns="0" bIns="0" rtlCol="0" anchor="ctr"/>
          <a:lstStyle/>
          <a:p>
            <a:pPr indent="0" marL="0">
              <a:buNone/>
            </a:pPr>
            <a:r>
              <a:rPr lang="en-US" sz="1000" b="1" spc="200" kern="0" dirty="0">
                <a:solidFill>
                  <a:srgbClr val="34B76F"/>
                </a:solidFill>
                <a:latin typeface="Calibri" pitchFamily="34" charset="0"/>
                <a:ea typeface="Calibri" pitchFamily="34" charset="-122"/>
                <a:cs typeface="Calibri" pitchFamily="34" charset="-120"/>
              </a:rPr>
              <a:t>YOU DISCOVERED:</a:t>
            </a:r>
            <a:endParaRPr lang="en-US" sz="1000" dirty="0"/>
          </a:p>
        </p:txBody>
      </p:sp>
      <p:sp>
        <p:nvSpPr>
          <p:cNvPr id="4" name="Text 2"/>
          <p:cNvSpPr/>
          <p:nvPr/>
        </p:nvSpPr>
        <p:spPr>
          <a:xfrm>
            <a:off x="548640" y="621792"/>
            <a:ext cx="8046720" cy="11887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Northern Peoples:</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Apalachee and Timucua</a:t>
            </a:r>
            <a:endParaRPr lang="en-US" sz="3400" dirty="0"/>
          </a:p>
        </p:txBody>
      </p:sp>
      <p:sp>
        <p:nvSpPr>
          <p:cNvPr id="5" name="Shape 3"/>
          <p:cNvSpPr/>
          <p:nvPr/>
        </p:nvSpPr>
        <p:spPr>
          <a:xfrm>
            <a:off x="548640" y="1874520"/>
            <a:ext cx="8046720" cy="36576"/>
          </a:xfrm>
          <a:prstGeom prst="rect">
            <a:avLst/>
          </a:prstGeom>
          <a:solidFill>
            <a:srgbClr val="34B76F"/>
          </a:solidFill>
          <a:ln w="12700">
            <a:solidFill>
              <a:srgbClr val="34B76F"/>
            </a:solidFill>
            <a:prstDash val="solid"/>
          </a:ln>
        </p:spPr>
      </p:sp>
      <p:sp>
        <p:nvSpPr>
          <p:cNvPr id="6" name="Shape 4"/>
          <p:cNvSpPr/>
          <p:nvPr/>
        </p:nvSpPr>
        <p:spPr>
          <a:xfrm>
            <a:off x="548640" y="2011680"/>
            <a:ext cx="3840480" cy="2468880"/>
          </a:xfrm>
          <a:prstGeom prst="roundRect">
            <a:avLst>
              <a:gd name="adj" fmla="val 4444"/>
            </a:avLst>
          </a:prstGeom>
          <a:solidFill>
            <a:srgbClr val="1A2D5A"/>
          </a:solidFill>
          <a:ln w="19050">
            <a:solidFill>
              <a:srgbClr val="34B76F"/>
            </a:solidFill>
            <a:prstDash val="solid"/>
          </a:ln>
        </p:spPr>
      </p:sp>
      <p:sp>
        <p:nvSpPr>
          <p:cNvPr id="7" name="Text 5"/>
          <p:cNvSpPr/>
          <p:nvPr/>
        </p:nvSpPr>
        <p:spPr>
          <a:xfrm>
            <a:off x="731520" y="2103120"/>
            <a:ext cx="3474720" cy="256032"/>
          </a:xfrm>
          <a:prstGeom prst="rect">
            <a:avLst/>
          </a:prstGeom>
          <a:noFill/>
          <a:ln/>
        </p:spPr>
        <p:txBody>
          <a:bodyPr wrap="square" lIns="0" tIns="0" rIns="0" bIns="0" rtlCol="0" anchor="ctr"/>
          <a:lstStyle/>
          <a:p>
            <a:pPr indent="0" marL="0">
              <a:buNone/>
            </a:pPr>
            <a:r>
              <a:rPr lang="en-US" sz="1300" b="1" spc="100" kern="0" dirty="0">
                <a:solidFill>
                  <a:srgbClr val="34B76F"/>
                </a:solidFill>
                <a:latin typeface="Calibri" pitchFamily="34" charset="0"/>
                <a:ea typeface="Calibri" pitchFamily="34" charset="-122"/>
                <a:cs typeface="Calibri" pitchFamily="34" charset="-120"/>
              </a:rPr>
              <a:t>APALACHEE</a:t>
            </a:r>
            <a:endParaRPr lang="en-US" sz="1300" dirty="0"/>
          </a:p>
        </p:txBody>
      </p:sp>
      <p:sp>
        <p:nvSpPr>
          <p:cNvPr id="8" name="Text 6"/>
          <p:cNvSpPr/>
          <p:nvPr/>
        </p:nvSpPr>
        <p:spPr>
          <a:xfrm>
            <a:off x="731520" y="2395728"/>
            <a:ext cx="3474720" cy="1965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Northwest panhandle — near Tallahassee</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Rich hilly land, good rainfall</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Farmed corn, beans, squash in big fields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Stored food for winter</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Held ceremonies in their towns</a:t>
            </a:r>
            <a:endParaRPr lang="en-US" sz="1200" dirty="0"/>
          </a:p>
        </p:txBody>
      </p:sp>
      <p:sp>
        <p:nvSpPr>
          <p:cNvPr id="9" name="Shape 7"/>
          <p:cNvSpPr/>
          <p:nvPr/>
        </p:nvSpPr>
        <p:spPr>
          <a:xfrm>
            <a:off x="4663440" y="2011680"/>
            <a:ext cx="3931920" cy="2468880"/>
          </a:xfrm>
          <a:prstGeom prst="roundRect">
            <a:avLst>
              <a:gd name="adj" fmla="val 4444"/>
            </a:avLst>
          </a:prstGeom>
          <a:solidFill>
            <a:srgbClr val="1A2D5A"/>
          </a:solidFill>
          <a:ln w="19050">
            <a:solidFill>
              <a:srgbClr val="1A8A7D"/>
            </a:solidFill>
            <a:prstDash val="solid"/>
          </a:ln>
        </p:spPr>
      </p:sp>
      <p:sp>
        <p:nvSpPr>
          <p:cNvPr id="10" name="Text 8"/>
          <p:cNvSpPr/>
          <p:nvPr/>
        </p:nvSpPr>
        <p:spPr>
          <a:xfrm>
            <a:off x="4846320" y="2103120"/>
            <a:ext cx="3566160" cy="256032"/>
          </a:xfrm>
          <a:prstGeom prst="rect">
            <a:avLst/>
          </a:prstGeom>
          <a:noFill/>
          <a:ln/>
        </p:spPr>
        <p:txBody>
          <a:bodyPr wrap="square" lIns="0" tIns="0" rIns="0" bIns="0" rtlCol="0" anchor="ctr"/>
          <a:lstStyle/>
          <a:p>
            <a:pPr indent="0" marL="0">
              <a:buNone/>
            </a:pPr>
            <a:r>
              <a:rPr lang="en-US" sz="1300" b="1" spc="100" kern="0" dirty="0">
                <a:solidFill>
                  <a:srgbClr val="1A8A7D"/>
                </a:solidFill>
                <a:latin typeface="Calibri" pitchFamily="34" charset="0"/>
                <a:ea typeface="Calibri" pitchFamily="34" charset="-122"/>
                <a:cs typeface="Calibri" pitchFamily="34" charset="-120"/>
              </a:rPr>
              <a:t>TIMUCUA</a:t>
            </a:r>
            <a:endParaRPr lang="en-US" sz="1300" dirty="0"/>
          </a:p>
        </p:txBody>
      </p:sp>
      <p:sp>
        <p:nvSpPr>
          <p:cNvPr id="11" name="Text 9"/>
          <p:cNvSpPr/>
          <p:nvPr/>
        </p:nvSpPr>
        <p:spPr>
          <a:xfrm>
            <a:off x="4846320" y="2395728"/>
            <a:ext cx="3566160" cy="1965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North-central and northeast Florida</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Round thatched houses in palisades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Hunted deer, fished rivers, gathered plants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Also tended gardens of corn and beans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A large language-family group</a:t>
            </a:r>
            <a:endParaRPr lang="en-US" sz="1200" dirty="0"/>
          </a:p>
        </p:txBody>
      </p:sp>
      <p:sp>
        <p:nvSpPr>
          <p:cNvPr id="13" name="Text 10"/>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8B6FC0"/>
                </a:solidFill>
                <a:latin typeface="Calibri" pitchFamily="34" charset="0"/>
                <a:ea typeface="Calibri" pitchFamily="34" charset="-122"/>
                <a:cs typeface="Calibri" pitchFamily="34" charset="-120"/>
              </a:rPr>
              <a:t>CLUE BOX 2  ·  WHAT ARCHAEOLOGISTS FOUND</a:t>
            </a:r>
            <a:endParaRPr lang="en-US" sz="1000" dirty="0"/>
          </a:p>
        </p:txBody>
      </p:sp>
      <p:sp>
        <p:nvSpPr>
          <p:cNvPr id="4" name="Text 2"/>
          <p:cNvSpPr/>
          <p:nvPr/>
        </p:nvSpPr>
        <p:spPr>
          <a:xfrm>
            <a:off x="457200" y="457200"/>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This evidence was not written down. How do we read it?</a:t>
            </a:r>
            <a:endParaRPr lang="en-US" sz="1600" dirty="0"/>
          </a:p>
        </p:txBody>
      </p:sp>
      <p:sp>
        <p:nvSpPr>
          <p:cNvPr id="5" name="Shape 3"/>
          <p:cNvSpPr/>
          <p:nvPr/>
        </p:nvSpPr>
        <p:spPr>
          <a:xfrm>
            <a:off x="365760" y="868680"/>
            <a:ext cx="5212080" cy="3383280"/>
          </a:xfrm>
          <a:prstGeom prst="roundRect">
            <a:avLst>
              <a:gd name="adj" fmla="val 3243"/>
            </a:avLst>
          </a:prstGeom>
          <a:solidFill>
            <a:srgbClr val="E2E8F4"/>
          </a:solidFill>
          <a:ln w="19050">
            <a:solidFill>
              <a:srgbClr val="B0B8CC"/>
            </a:solidFill>
            <a:prstDash val="dash"/>
          </a:ln>
        </p:spPr>
      </p:sp>
      <p:sp>
        <p:nvSpPr>
          <p:cNvPr id="6" name="Text 4"/>
          <p:cNvSpPr/>
          <p:nvPr/>
        </p:nvSpPr>
        <p:spPr>
          <a:xfrm>
            <a:off x="365760" y="868680"/>
            <a:ext cx="52120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143000"/>
            <a:ext cx="4937760" cy="30175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large shell midden (mound) or shell mound on the Florida Gulf coast: an enormous pile of oyster, clam, and whelk shells — some human-made mound structure visible, mangroves in background, Florida coastal setting. No human figures. Pine Island Sound / Charlotte Harbor area style.</a:t>
            </a:r>
            <a:endParaRPr lang="en-US" sz="1100" dirty="0"/>
          </a:p>
        </p:txBody>
      </p:sp>
      <p:sp>
        <p:nvSpPr>
          <p:cNvPr id="8" name="Text 6"/>
          <p:cNvSpPr/>
          <p:nvPr/>
        </p:nvSpPr>
        <p:spPr>
          <a:xfrm>
            <a:off x="365760" y="4315968"/>
            <a:ext cx="5212080" cy="274320"/>
          </a:xfrm>
          <a:prstGeom prst="rect">
            <a:avLst/>
          </a:prstGeom>
          <a:noFill/>
          <a:ln/>
        </p:spPr>
        <p:txBody>
          <a:bodyPr wrap="square" lIns="0" tIns="0" rIns="0" bIns="0"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This mound is made of millions of shells — built over centuries.</a:t>
            </a:r>
            <a:endParaRPr lang="en-US" sz="1000" dirty="0"/>
          </a:p>
        </p:txBody>
      </p:sp>
      <p:sp>
        <p:nvSpPr>
          <p:cNvPr id="9" name="Shape 7"/>
          <p:cNvSpPr/>
          <p:nvPr/>
        </p:nvSpPr>
        <p:spPr>
          <a:xfrm>
            <a:off x="5760720" y="868680"/>
            <a:ext cx="2926080" cy="1828800"/>
          </a:xfrm>
          <a:prstGeom prst="roundRect">
            <a:avLst>
              <a:gd name="adj" fmla="val 6000"/>
            </a:avLst>
          </a:prstGeom>
          <a:solidFill>
            <a:srgbClr val="FFF3DC"/>
          </a:solidFill>
          <a:ln w="19050">
            <a:solidFill>
              <a:srgbClr val="F5E6C8"/>
            </a:solidFill>
            <a:prstDash val="solid"/>
          </a:ln>
        </p:spPr>
      </p:sp>
      <p:sp>
        <p:nvSpPr>
          <p:cNvPr id="10" name="Text 8"/>
          <p:cNvSpPr/>
          <p:nvPr/>
        </p:nvSpPr>
        <p:spPr>
          <a:xfrm>
            <a:off x="5897880" y="923544"/>
            <a:ext cx="26517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897880" y="1124712"/>
            <a:ext cx="265176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 which tells me...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evidence suggests people here were... because archaeologists found..."</a:t>
            </a:r>
            <a:endParaRPr lang="en-US" sz="1200" dirty="0"/>
          </a:p>
        </p:txBody>
      </p:sp>
      <p:sp>
        <p:nvSpPr>
          <p:cNvPr id="12" name="Shape 10"/>
          <p:cNvSpPr/>
          <p:nvPr/>
        </p:nvSpPr>
        <p:spPr>
          <a:xfrm>
            <a:off x="5760720" y="2834640"/>
            <a:ext cx="2926080" cy="1463040"/>
          </a:xfrm>
          <a:prstGeom prst="roundRect">
            <a:avLst>
              <a:gd name="adj" fmla="val 6250"/>
            </a:avLst>
          </a:prstGeom>
          <a:solidFill>
            <a:srgbClr val="0E1C42"/>
          </a:solidFill>
          <a:ln w="12700">
            <a:solidFill>
              <a:srgbClr val="8B6FC0"/>
            </a:solidFill>
            <a:prstDash val="solid"/>
          </a:ln>
        </p:spPr>
      </p:sp>
      <p:sp>
        <p:nvSpPr>
          <p:cNvPr id="13" name="Text 11"/>
          <p:cNvSpPr/>
          <p:nvPr/>
        </p:nvSpPr>
        <p:spPr>
          <a:xfrm>
            <a:off x="5852160" y="2907792"/>
            <a:ext cx="2743200" cy="228600"/>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READ THE ARTIFACT</a:t>
            </a:r>
            <a:endParaRPr lang="en-US" sz="900" dirty="0"/>
          </a:p>
        </p:txBody>
      </p:sp>
      <p:sp>
        <p:nvSpPr>
          <p:cNvPr id="14" name="Text 12"/>
          <p:cNvSpPr/>
          <p:nvPr/>
        </p:nvSpPr>
        <p:spPr>
          <a:xfrm>
            <a:off x="5852160" y="3154680"/>
            <a:ext cx="2743200" cy="1005840"/>
          </a:xfrm>
          <a:prstGeom prst="rect">
            <a:avLst/>
          </a:prstGeom>
          <a:noFill/>
          <a:ln/>
        </p:spPr>
        <p:txBody>
          <a:bodyPr wrap="square" lIns="0" tIns="0" rIns="0" bIns="0" rtlCol="0" anchor="t"/>
          <a:lstStyle/>
          <a:p>
            <a:pPr indent="0" marL="0">
              <a:buNone/>
            </a:pPr>
            <a:r>
              <a:rPr lang="en-US" sz="1200" i="1" dirty="0">
                <a:solidFill>
                  <a:srgbClr val="FFFFFF"/>
                </a:solidFill>
                <a:latin typeface="Calibri" pitchFamily="34" charset="0"/>
                <a:ea typeface="Calibri" pitchFamily="34" charset="-122"/>
                <a:cs typeface="Calibri" pitchFamily="34" charset="-120"/>
              </a:rPr>
              <a:t>What does a mound of millions of shells tell you about these people's food source?</a:t>
            </a: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How long would it take to make this?</a:t>
            </a:r>
            <a:endParaRPr lang="en-US" sz="1200" dirty="0"/>
          </a:p>
        </p:txBody>
      </p:sp>
      <p:sp>
        <p:nvSpPr>
          <p:cNvPr id="16" name="Text 13"/>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8B6FC0"/>
                </a:solidFill>
                <a:latin typeface="Calibri" pitchFamily="34" charset="0"/>
                <a:ea typeface="Calibri" pitchFamily="34" charset="-122"/>
                <a:cs typeface="Calibri" pitchFamily="34" charset="-120"/>
              </a:rPr>
              <a:t>DISCUSSION  ·  THE EVIDENCE FROM THE COAST</a:t>
            </a:r>
            <a:endParaRPr lang="en-US" sz="1000" dirty="0"/>
          </a:p>
        </p:txBody>
      </p:sp>
      <p:sp>
        <p:nvSpPr>
          <p:cNvPr id="4" name="Text 2"/>
          <p:cNvSpPr/>
          <p:nvPr/>
        </p:nvSpPr>
        <p:spPr>
          <a:xfrm>
            <a:off x="457200" y="457200"/>
            <a:ext cx="8229600" cy="411480"/>
          </a:xfrm>
          <a:prstGeom prst="rect">
            <a:avLst/>
          </a:prstGeom>
          <a:noFill/>
          <a:ln/>
        </p:spPr>
        <p:txBody>
          <a:bodyPr wrap="square" lIns="0" tIns="0" rIns="0" bIns="0" rtlCol="0" anchor="ctr"/>
          <a:lstStyle/>
          <a:p>
            <a:pPr indent="0" marL="0">
              <a:buNone/>
            </a:pPr>
            <a:r>
              <a:rPr lang="en-US" sz="2100" b="1" dirty="0">
                <a:solidFill>
                  <a:srgbClr val="0E1C42"/>
                </a:solidFill>
                <a:latin typeface="Cambria" pitchFamily="34" charset="0"/>
                <a:ea typeface="Cambria" pitchFamily="34" charset="-122"/>
                <a:cs typeface="Cambria" pitchFamily="34" charset="-120"/>
              </a:rPr>
              <a:t>What can we know from shells, artifacts, and the land itself?</a:t>
            </a:r>
            <a:endParaRPr lang="en-US" sz="2100" dirty="0"/>
          </a:p>
        </p:txBody>
      </p:sp>
      <p:sp>
        <p:nvSpPr>
          <p:cNvPr id="5" name="Shape 3"/>
          <p:cNvSpPr/>
          <p:nvPr/>
        </p:nvSpPr>
        <p:spPr>
          <a:xfrm>
            <a:off x="457200" y="1005840"/>
            <a:ext cx="4937760" cy="2743200"/>
          </a:xfrm>
          <a:prstGeom prst="roundRect">
            <a:avLst>
              <a:gd name="adj" fmla="val 5000"/>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640080" y="109728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640080" y="1353312"/>
            <a:ext cx="4572000" cy="23042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people build their towns ON SHELL MOUNDS instead of flat ground?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'almost no farming' tell you about how much the sea provided?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archaeological evidence different from written evidence? Is it better? Worse?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the only evidence is a shell mound, what can we KNOW — and what can we only guess?</a:t>
            </a:r>
            <a:endParaRPr lang="en-US" sz="1100" dirty="0"/>
          </a:p>
        </p:txBody>
      </p:sp>
      <p:sp>
        <p:nvSpPr>
          <p:cNvPr id="8" name="Shape 6"/>
          <p:cNvSpPr/>
          <p:nvPr/>
        </p:nvSpPr>
        <p:spPr>
          <a:xfrm>
            <a:off x="5577840" y="1005840"/>
            <a:ext cx="3108960" cy="1828800"/>
          </a:xfrm>
          <a:prstGeom prst="roundRect">
            <a:avLst>
              <a:gd name="adj" fmla="val 6000"/>
            </a:avLst>
          </a:prstGeom>
          <a:solidFill>
            <a:srgbClr val="FFF3DC"/>
          </a:solidFill>
          <a:ln w="19050">
            <a:solidFill>
              <a:srgbClr val="F5E6C8"/>
            </a:solidFill>
            <a:prstDash val="solid"/>
          </a:ln>
        </p:spPr>
      </p:sp>
      <p:sp>
        <p:nvSpPr>
          <p:cNvPr id="9" name="Text 7"/>
          <p:cNvSpPr/>
          <p:nvPr/>
        </p:nvSpPr>
        <p:spPr>
          <a:xfrm>
            <a:off x="5715000" y="106070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715000" y="1261872"/>
            <a:ext cx="283464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can confidently say... because the physical evidence shows..."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"Archaeologists can know... but cannot know... because the evidence is silent about..."</a:t>
            </a:r>
            <a:endParaRPr lang="en-US" sz="1200" dirty="0"/>
          </a:p>
        </p:txBody>
      </p:sp>
      <p:sp>
        <p:nvSpPr>
          <p:cNvPr id="11" name="Shape 9"/>
          <p:cNvSpPr/>
          <p:nvPr/>
        </p:nvSpPr>
        <p:spPr>
          <a:xfrm>
            <a:off x="5577840" y="2971800"/>
            <a:ext cx="3108960" cy="1371600"/>
          </a:xfrm>
          <a:prstGeom prst="roundRect">
            <a:avLst>
              <a:gd name="adj" fmla="val 6667"/>
            </a:avLst>
          </a:prstGeom>
          <a:solidFill>
            <a:srgbClr val="8B6FC0">
              <a:alpha val="15000"/>
            </a:srgbClr>
          </a:solidFill>
          <a:ln w="19050">
            <a:solidFill>
              <a:srgbClr val="8B6FC0"/>
            </a:solidFill>
            <a:prstDash val="solid"/>
          </a:ln>
        </p:spPr>
      </p:sp>
      <p:sp>
        <p:nvSpPr>
          <p:cNvPr id="12" name="Text 10"/>
          <p:cNvSpPr/>
          <p:nvPr/>
        </p:nvSpPr>
        <p:spPr>
          <a:xfrm>
            <a:off x="5715000" y="3044952"/>
            <a:ext cx="2834640" cy="219456"/>
          </a:xfrm>
          <a:prstGeom prst="rect">
            <a:avLst/>
          </a:prstGeom>
          <a:noFill/>
          <a:ln/>
        </p:spPr>
        <p:txBody>
          <a:bodyPr wrap="square" lIns="0" tIns="0" rIns="0" bIns="0" rtlCol="0" anchor="ctr"/>
          <a:lstStyle/>
          <a:p>
            <a:pPr indent="0" marL="0">
              <a:buNone/>
            </a:pPr>
            <a:r>
              <a:rPr lang="en-US" sz="900" b="1" spc="150" kern="0" dirty="0">
                <a:solidFill>
                  <a:srgbClr val="3A2A5A"/>
                </a:solidFill>
                <a:latin typeface="Calibri" pitchFamily="34" charset="0"/>
                <a:ea typeface="Calibri" pitchFamily="34" charset="-122"/>
                <a:cs typeface="Calibri" pitchFamily="34" charset="-120"/>
              </a:rPr>
              <a:t>EVIDENCE LIMITS</a:t>
            </a:r>
            <a:endParaRPr lang="en-US" sz="900" dirty="0"/>
          </a:p>
        </p:txBody>
      </p:sp>
      <p:sp>
        <p:nvSpPr>
          <p:cNvPr id="13" name="Text 11"/>
          <p:cNvSpPr/>
          <p:nvPr/>
        </p:nvSpPr>
        <p:spPr>
          <a:xfrm>
            <a:off x="5715000" y="3273552"/>
            <a:ext cx="2834640" cy="914400"/>
          </a:xfrm>
          <a:prstGeom prst="rect">
            <a:avLst/>
          </a:prstGeom>
          <a:noFill/>
          <a:ln/>
        </p:spPr>
        <p:txBody>
          <a:bodyPr wrap="square" lIns="0" tIns="0" rIns="0" bIns="0" rtlCol="0" anchor="t"/>
          <a:lstStyle/>
          <a:p>
            <a:pPr indent="0" marL="0">
              <a:buNone/>
            </a:pPr>
            <a:r>
              <a:rPr lang="en-US" sz="1100" i="1" dirty="0">
                <a:solidFill>
                  <a:srgbClr val="3A2A5A"/>
                </a:solidFill>
                <a:latin typeface="Calibri" pitchFamily="34" charset="0"/>
                <a:ea typeface="Calibri" pitchFamily="34" charset="-122"/>
                <a:cs typeface="Calibri" pitchFamily="34" charset="-120"/>
              </a:rPr>
              <a:t>Push students to name what physical evidence CAN and CANNOT tell us. The limits of evidence are just as important as what it confirms.</a:t>
            </a:r>
            <a:endParaRPr lang="en-US" sz="1100" dirty="0"/>
          </a:p>
        </p:txBody>
      </p:sp>
      <p:sp>
        <p:nvSpPr>
          <p:cNvPr id="15" name="Text 12"/>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Text 1"/>
          <p:cNvSpPr/>
          <p:nvPr/>
        </p:nvSpPr>
        <p:spPr>
          <a:xfrm>
            <a:off x="548640" y="320040"/>
            <a:ext cx="8046720" cy="256032"/>
          </a:xfrm>
          <a:prstGeom prst="rect">
            <a:avLst/>
          </a:prstGeom>
          <a:noFill/>
          <a:ln/>
        </p:spPr>
        <p:txBody>
          <a:bodyPr wrap="square" lIns="0" tIns="0" rIns="0" bIns="0" rtlCol="0" anchor="ctr"/>
          <a:lstStyle/>
          <a:p>
            <a:pPr indent="0" marL="0">
              <a:buNone/>
            </a:pPr>
            <a:r>
              <a:rPr lang="en-US" sz="1000" b="1" spc="200" kern="0" dirty="0">
                <a:solidFill>
                  <a:srgbClr val="8B6FC0"/>
                </a:solidFill>
                <a:latin typeface="Calibri" pitchFamily="34" charset="0"/>
                <a:ea typeface="Calibri" pitchFamily="34" charset="-122"/>
                <a:cs typeface="Calibri" pitchFamily="34" charset="-120"/>
              </a:rPr>
              <a:t>YOU DISCOVERED:</a:t>
            </a:r>
            <a:endParaRPr lang="en-US" sz="1000" dirty="0"/>
          </a:p>
        </p:txBody>
      </p:sp>
      <p:sp>
        <p:nvSpPr>
          <p:cNvPr id="4" name="Text 2"/>
          <p:cNvSpPr/>
          <p:nvPr/>
        </p:nvSpPr>
        <p:spPr>
          <a:xfrm>
            <a:off x="548640" y="621792"/>
            <a:ext cx="8046720" cy="11887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Coastal Peoples:</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Calusa and Tequesta</a:t>
            </a:r>
            <a:endParaRPr lang="en-US" sz="3400" dirty="0"/>
          </a:p>
        </p:txBody>
      </p:sp>
      <p:sp>
        <p:nvSpPr>
          <p:cNvPr id="5" name="Shape 3"/>
          <p:cNvSpPr/>
          <p:nvPr/>
        </p:nvSpPr>
        <p:spPr>
          <a:xfrm>
            <a:off x="548640" y="1874520"/>
            <a:ext cx="8046720" cy="36576"/>
          </a:xfrm>
          <a:prstGeom prst="rect">
            <a:avLst/>
          </a:prstGeom>
          <a:solidFill>
            <a:srgbClr val="8B6FC0"/>
          </a:solidFill>
          <a:ln w="12700">
            <a:solidFill>
              <a:srgbClr val="8B6FC0"/>
            </a:solidFill>
            <a:prstDash val="solid"/>
          </a:ln>
        </p:spPr>
      </p:sp>
      <p:sp>
        <p:nvSpPr>
          <p:cNvPr id="6" name="Shape 4"/>
          <p:cNvSpPr/>
          <p:nvPr/>
        </p:nvSpPr>
        <p:spPr>
          <a:xfrm>
            <a:off x="548640" y="2011680"/>
            <a:ext cx="3840480" cy="2468880"/>
          </a:xfrm>
          <a:prstGeom prst="roundRect">
            <a:avLst>
              <a:gd name="adj" fmla="val 4444"/>
            </a:avLst>
          </a:prstGeom>
          <a:solidFill>
            <a:srgbClr val="1A2D5A"/>
          </a:solidFill>
          <a:ln w="19050">
            <a:solidFill>
              <a:srgbClr val="8B6FC0"/>
            </a:solidFill>
            <a:prstDash val="solid"/>
          </a:ln>
        </p:spPr>
      </p:sp>
      <p:sp>
        <p:nvSpPr>
          <p:cNvPr id="7" name="Text 5"/>
          <p:cNvSpPr/>
          <p:nvPr/>
        </p:nvSpPr>
        <p:spPr>
          <a:xfrm>
            <a:off x="731520" y="2103120"/>
            <a:ext cx="3474720" cy="256032"/>
          </a:xfrm>
          <a:prstGeom prst="rect">
            <a:avLst/>
          </a:prstGeom>
          <a:noFill/>
          <a:ln/>
        </p:spPr>
        <p:txBody>
          <a:bodyPr wrap="square" lIns="0" tIns="0" rIns="0" bIns="0" rtlCol="0" anchor="ctr"/>
          <a:lstStyle/>
          <a:p>
            <a:pPr indent="0" marL="0">
              <a:buNone/>
            </a:pPr>
            <a:r>
              <a:rPr lang="en-US" sz="1300" b="1" spc="100" kern="0" dirty="0">
                <a:solidFill>
                  <a:srgbClr val="8B6FC0"/>
                </a:solidFill>
                <a:latin typeface="Calibri" pitchFamily="34" charset="0"/>
                <a:ea typeface="Calibri" pitchFamily="34" charset="-122"/>
                <a:cs typeface="Calibri" pitchFamily="34" charset="-120"/>
              </a:rPr>
              <a:t>CALUSA</a:t>
            </a:r>
            <a:endParaRPr lang="en-US" sz="1300" dirty="0"/>
          </a:p>
        </p:txBody>
      </p:sp>
      <p:sp>
        <p:nvSpPr>
          <p:cNvPr id="8" name="Text 6"/>
          <p:cNvSpPr/>
          <p:nvPr/>
        </p:nvSpPr>
        <p:spPr>
          <a:xfrm>
            <a:off x="731520" y="2395728"/>
            <a:ext cx="3474720" cy="1965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Southwest Florida — Gulf coast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Built towns on enormous shell mounds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Fished, gathered oysters from dugout canoes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Mangrove channels as waterways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Almost no farming — the sea provided</a:t>
            </a:r>
            <a:endParaRPr lang="en-US" sz="1200" dirty="0"/>
          </a:p>
        </p:txBody>
      </p:sp>
      <p:sp>
        <p:nvSpPr>
          <p:cNvPr id="9" name="Shape 7"/>
          <p:cNvSpPr/>
          <p:nvPr/>
        </p:nvSpPr>
        <p:spPr>
          <a:xfrm>
            <a:off x="4663440" y="2011680"/>
            <a:ext cx="3931920" cy="2468880"/>
          </a:xfrm>
          <a:prstGeom prst="roundRect">
            <a:avLst>
              <a:gd name="adj" fmla="val 4444"/>
            </a:avLst>
          </a:prstGeom>
          <a:solidFill>
            <a:srgbClr val="1A2D5A"/>
          </a:solidFill>
          <a:ln w="19050">
            <a:solidFill>
              <a:srgbClr val="D4943A"/>
            </a:solidFill>
            <a:prstDash val="solid"/>
          </a:ln>
        </p:spPr>
      </p:sp>
      <p:sp>
        <p:nvSpPr>
          <p:cNvPr id="10" name="Text 8"/>
          <p:cNvSpPr/>
          <p:nvPr/>
        </p:nvSpPr>
        <p:spPr>
          <a:xfrm>
            <a:off x="4846320" y="2103120"/>
            <a:ext cx="3566160" cy="256032"/>
          </a:xfrm>
          <a:prstGeom prst="rect">
            <a:avLst/>
          </a:prstGeom>
          <a:noFill/>
          <a:ln/>
        </p:spPr>
        <p:txBody>
          <a:bodyPr wrap="square" lIns="0" tIns="0" rIns="0" bIns="0" rtlCol="0" anchor="ctr"/>
          <a:lstStyle/>
          <a:p>
            <a:pPr indent="0" marL="0">
              <a:buNone/>
            </a:pPr>
            <a:r>
              <a:rPr lang="en-US" sz="1300" b="1" spc="100" kern="0" dirty="0">
                <a:solidFill>
                  <a:srgbClr val="D4943A"/>
                </a:solidFill>
                <a:latin typeface="Calibri" pitchFamily="34" charset="0"/>
                <a:ea typeface="Calibri" pitchFamily="34" charset="-122"/>
                <a:cs typeface="Calibri" pitchFamily="34" charset="-120"/>
              </a:rPr>
              <a:t>TEQUESTA</a:t>
            </a:r>
            <a:endParaRPr lang="en-US" sz="1300" dirty="0"/>
          </a:p>
        </p:txBody>
      </p:sp>
      <p:sp>
        <p:nvSpPr>
          <p:cNvPr id="11" name="Text 9"/>
          <p:cNvSpPr/>
          <p:nvPr/>
        </p:nvSpPr>
        <p:spPr>
          <a:xfrm>
            <a:off x="4846320" y="2395728"/>
            <a:ext cx="3566160" cy="1965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Southeast coast — near today's Miami</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Lived near rivers flowing into the bay</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Fished ocean: sea turtles, manatees, shellfish</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Small villages near coastal waterways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Relied heavily on the ocean and rivers</a:t>
            </a:r>
            <a:endParaRPr lang="en-US" sz="1200" dirty="0"/>
          </a:p>
        </p:txBody>
      </p:sp>
      <p:sp>
        <p:nvSpPr>
          <p:cNvPr id="13" name="Text 10"/>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indent="0" marL="0">
              <a:buNone/>
            </a:pPr>
            <a:r>
              <a:rPr lang="en-US" sz="1000" b="1" spc="200" kern="0" dirty="0">
                <a:solidFill>
                  <a:srgbClr val="8B6FC0"/>
                </a:solidFill>
                <a:latin typeface="Calibri" pitchFamily="34" charset="0"/>
                <a:ea typeface="Calibri" pitchFamily="34" charset="-122"/>
                <a:cs typeface="Calibri" pitchFamily="34" charset="-120"/>
              </a:rPr>
              <a:t>MULTI-SOURCE COMPARE  ·  TWO KINDS OF EVIDENCE</a:t>
            </a:r>
            <a:endParaRPr lang="en-US" sz="1000" dirty="0"/>
          </a:p>
        </p:txBody>
      </p:sp>
      <p:sp>
        <p:nvSpPr>
          <p:cNvPr id="4" name="Text 2"/>
          <p:cNvSpPr/>
          <p:nvPr/>
        </p:nvSpPr>
        <p:spPr>
          <a:xfrm>
            <a:off x="457200" y="438912"/>
            <a:ext cx="8229600" cy="384048"/>
          </a:xfrm>
          <a:prstGeom prst="rect">
            <a:avLst/>
          </a:prstGeom>
          <a:noFill/>
          <a:ln/>
        </p:spPr>
        <p:txBody>
          <a:bodyPr wrap="square" lIns="0" tIns="0" rIns="0" bIns="0"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What can we learn from physical artifacts? What can only oral tradition tell us?</a:t>
            </a:r>
            <a:endParaRPr lang="en-US" sz="1300" dirty="0"/>
          </a:p>
        </p:txBody>
      </p:sp>
      <p:sp>
        <p:nvSpPr>
          <p:cNvPr id="5" name="Shape 3"/>
          <p:cNvSpPr/>
          <p:nvPr/>
        </p:nvSpPr>
        <p:spPr>
          <a:xfrm>
            <a:off x="365760" y="896112"/>
            <a:ext cx="3931920" cy="2971800"/>
          </a:xfrm>
          <a:prstGeom prst="roundRect">
            <a:avLst>
              <a:gd name="adj" fmla="val 3692"/>
            </a:avLst>
          </a:prstGeom>
          <a:solidFill>
            <a:srgbClr val="E2E8F4"/>
          </a:solidFill>
          <a:ln w="19050">
            <a:solidFill>
              <a:srgbClr val="B0B8CC"/>
            </a:solidFill>
            <a:prstDash val="dash"/>
          </a:ln>
        </p:spPr>
      </p:sp>
      <p:sp>
        <p:nvSpPr>
          <p:cNvPr id="6" name="Text 4"/>
          <p:cNvSpPr/>
          <p:nvPr/>
        </p:nvSpPr>
        <p:spPr>
          <a:xfrm>
            <a:off x="365760" y="896112"/>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170432"/>
            <a:ext cx="3657600" cy="2606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Archaeological artifacts from a Florida Native American site: Calusa carved wooden artifacts or ceramic pottery, shell tools, possibly a shell pendant or carving — items that show skilled craftsmanship without written text. Museum-style display or archaeological site photo. No human faces.</a:t>
            </a:r>
            <a:endParaRPr lang="en-US" sz="1100" dirty="0"/>
          </a:p>
        </p:txBody>
      </p:sp>
      <p:sp>
        <p:nvSpPr>
          <p:cNvPr id="8" name="Text 6"/>
          <p:cNvSpPr/>
          <p:nvPr/>
        </p:nvSpPr>
        <p:spPr>
          <a:xfrm>
            <a:off x="365760" y="3913632"/>
            <a:ext cx="3931920" cy="347472"/>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SOURCE A — Physical / Archaeological Evidence</a:t>
            </a:r>
            <a:endParaRPr lang="en-US" sz="1100" dirty="0"/>
          </a:p>
        </p:txBody>
      </p:sp>
      <p:sp>
        <p:nvSpPr>
          <p:cNvPr id="9" name="Shape 7"/>
          <p:cNvSpPr/>
          <p:nvPr/>
        </p:nvSpPr>
        <p:spPr>
          <a:xfrm>
            <a:off x="4663440" y="896112"/>
            <a:ext cx="3931920" cy="2971800"/>
          </a:xfrm>
          <a:prstGeom prst="roundRect">
            <a:avLst>
              <a:gd name="adj" fmla="val 3692"/>
            </a:avLst>
          </a:prstGeom>
          <a:solidFill>
            <a:srgbClr val="E2E8F4"/>
          </a:solidFill>
          <a:ln w="19050">
            <a:solidFill>
              <a:srgbClr val="B0B8CC"/>
            </a:solidFill>
            <a:prstDash val="dash"/>
          </a:ln>
        </p:spPr>
      </p:sp>
      <p:sp>
        <p:nvSpPr>
          <p:cNvPr id="10" name="Text 8"/>
          <p:cNvSpPr/>
          <p:nvPr/>
        </p:nvSpPr>
        <p:spPr>
          <a:xfrm>
            <a:off x="4663440" y="896112"/>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4800600" y="1170432"/>
            <a:ext cx="3657600" cy="2606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Illustration of a Calusa coastal community OR an artist reconstruction: shell mound island, dugout canoes, fishing racks with drying fish, mangrove channels, a fire — representing the oral and living tradition of community life, not a portrait. Focus on place and activity, not on faces.</a:t>
            </a:r>
            <a:endParaRPr lang="en-US" sz="1100" dirty="0"/>
          </a:p>
        </p:txBody>
      </p:sp>
      <p:sp>
        <p:nvSpPr>
          <p:cNvPr id="12" name="Text 10"/>
          <p:cNvSpPr/>
          <p:nvPr/>
        </p:nvSpPr>
        <p:spPr>
          <a:xfrm>
            <a:off x="4663440" y="3913632"/>
            <a:ext cx="3931920" cy="347472"/>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SOURCE B — Reconstruction / Oral Tradition Evidence</a:t>
            </a:r>
            <a:endParaRPr lang="en-US" sz="1100" dirty="0"/>
          </a:p>
        </p:txBody>
      </p:sp>
      <p:sp>
        <p:nvSpPr>
          <p:cNvPr id="13" name="Shape 11"/>
          <p:cNvSpPr/>
          <p:nvPr/>
        </p:nvSpPr>
        <p:spPr>
          <a:xfrm>
            <a:off x="365760" y="4297680"/>
            <a:ext cx="8229600" cy="658368"/>
          </a:xfrm>
          <a:prstGeom prst="roundRect">
            <a:avLst>
              <a:gd name="adj" fmla="val 13889"/>
            </a:avLst>
          </a:prstGeom>
          <a:solidFill>
            <a:srgbClr val="FFF3DC"/>
          </a:solidFill>
          <a:ln w="19050">
            <a:solidFill>
              <a:srgbClr val="F5E6C8"/>
            </a:solidFill>
            <a:prstDash val="solid"/>
          </a:ln>
        </p:spPr>
      </p:sp>
      <p:sp>
        <p:nvSpPr>
          <p:cNvPr id="14" name="Text 12"/>
          <p:cNvSpPr/>
          <p:nvPr/>
        </p:nvSpPr>
        <p:spPr>
          <a:xfrm>
            <a:off x="502920" y="4343400"/>
            <a:ext cx="7955280" cy="530352"/>
          </a:xfrm>
          <a:prstGeom prst="rect">
            <a:avLst/>
          </a:prstGeom>
          <a:noFill/>
          <a:ln/>
        </p:spPr>
        <p:txBody>
          <a:bodyPr wrap="square" lIns="0" tIns="0" rIns="0" bIns="0" rtlCol="0" anchor="ctr"/>
          <a:lstStyle/>
          <a:p>
            <a:pPr indent="0" marL="0">
              <a:buNone/>
            </a:pPr>
            <a:r>
              <a:rPr lang="en-US" sz="1300" i="1" dirty="0">
                <a:solidFill>
                  <a:srgbClr val="5A4A3A"/>
                </a:solidFill>
                <a:latin typeface="Cambria" pitchFamily="34" charset="0"/>
                <a:ea typeface="Cambria" pitchFamily="34" charset="-122"/>
                <a:cs typeface="Cambria" pitchFamily="34" charset="-120"/>
              </a:rPr>
              <a:t>CHAT: "Source A tells us... but it cannot tell us... Source B can tell us... because..."</a:t>
            </a:r>
            <a:endParaRPr lang="en-US" sz="1300" dirty="0"/>
          </a:p>
        </p:txBody>
      </p:sp>
      <p:sp>
        <p:nvSpPr>
          <p:cNvPr id="16" name="Text 13"/>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EVALUATE THE SOURCES  ·  WHOSE PERSPECTIVE? WHOSE IS MISSING?</a:t>
            </a:r>
            <a:endParaRPr lang="en-US" sz="1000" dirty="0"/>
          </a:p>
        </p:txBody>
      </p:sp>
      <p:sp>
        <p:nvSpPr>
          <p:cNvPr id="4" name="Text 2"/>
          <p:cNvSpPr/>
          <p:nvPr/>
        </p:nvSpPr>
        <p:spPr>
          <a:xfrm>
            <a:off x="457200" y="457200"/>
            <a:ext cx="8229600" cy="384048"/>
          </a:xfrm>
          <a:prstGeom prst="rect">
            <a:avLst/>
          </a:prstGeom>
          <a:noFill/>
          <a:ln/>
        </p:spPr>
        <p:txBody>
          <a:bodyPr wrap="square" lIns="0" tIns="0" rIns="0" bIns="0" rtlCol="0" anchor="ctr"/>
          <a:lstStyle/>
          <a:p>
            <a:pPr indent="0" marL="0">
              <a:buNone/>
            </a:pPr>
            <a:r>
              <a:rPr lang="en-US" sz="1500" i="1" dirty="0">
                <a:solidFill>
                  <a:srgbClr val="0E1C42"/>
                </a:solidFill>
                <a:latin typeface="Cambria" pitchFamily="34" charset="0"/>
                <a:ea typeface="Cambria" pitchFamily="34" charset="-122"/>
                <a:cs typeface="Cambria" pitchFamily="34" charset="-120"/>
              </a:rPr>
              <a:t>These peoples did not leave written records. That does not make their history less real.</a:t>
            </a:r>
            <a:endParaRPr lang="en-US" sz="1500" dirty="0"/>
          </a:p>
        </p:txBody>
      </p:sp>
      <p:sp>
        <p:nvSpPr>
          <p:cNvPr id="5" name="Shape 3"/>
          <p:cNvSpPr/>
          <p:nvPr/>
        </p:nvSpPr>
        <p:spPr>
          <a:xfrm>
            <a:off x="457200" y="960120"/>
            <a:ext cx="5029200" cy="3246120"/>
          </a:xfrm>
          <a:prstGeom prst="roundRect">
            <a:avLst>
              <a:gd name="adj" fmla="val 4225"/>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640080" y="1051560"/>
            <a:ext cx="466344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7" name="Text 5"/>
          <p:cNvSpPr/>
          <p:nvPr/>
        </p:nvSpPr>
        <p:spPr>
          <a:xfrm>
            <a:off x="640080" y="1307592"/>
            <a:ext cx="4663440" cy="2807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created the archaeological record — and who is interpreting it today?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Whose perspective is REPRESENTED in our sources? Whose is MISSING?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a shell mound equally valid evidence as a written document? Why or why not?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are the limits of oral tradition as evidence? What are its strengths?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we only have oral history and no written records, can we still know what happened?</a:t>
            </a:r>
            <a:endParaRPr lang="en-US" sz="1100" dirty="0"/>
          </a:p>
        </p:txBody>
      </p:sp>
      <p:sp>
        <p:nvSpPr>
          <p:cNvPr id="8" name="Shape 6"/>
          <p:cNvSpPr/>
          <p:nvPr/>
        </p:nvSpPr>
        <p:spPr>
          <a:xfrm>
            <a:off x="5669280" y="960120"/>
            <a:ext cx="3017520" cy="2194560"/>
          </a:xfrm>
          <a:prstGeom prst="roundRect">
            <a:avLst>
              <a:gd name="adj" fmla="val 5000"/>
            </a:avLst>
          </a:prstGeom>
          <a:solidFill>
            <a:srgbClr val="FFF3DC"/>
          </a:solidFill>
          <a:ln w="19050">
            <a:solidFill>
              <a:srgbClr val="F5E6C8"/>
            </a:solidFill>
            <a:prstDash val="solid"/>
          </a:ln>
        </p:spPr>
      </p:sp>
      <p:sp>
        <p:nvSpPr>
          <p:cNvPr id="9" name="Text 7"/>
          <p:cNvSpPr/>
          <p:nvPr/>
        </p:nvSpPr>
        <p:spPr>
          <a:xfrm>
            <a:off x="5806440" y="1014984"/>
            <a:ext cx="2743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806440" y="1216152"/>
            <a:ext cx="2743200" cy="18745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"Oral tradition is reliable evidence because... AND its limits are...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perspective missing from our sources is... which matters because it means we cannot know..."</a:t>
            </a:r>
            <a:endParaRPr lang="en-US" sz="1200" dirty="0"/>
          </a:p>
        </p:txBody>
      </p:sp>
      <p:sp>
        <p:nvSpPr>
          <p:cNvPr id="11" name="Shape 9"/>
          <p:cNvSpPr/>
          <p:nvPr/>
        </p:nvSpPr>
        <p:spPr>
          <a:xfrm>
            <a:off x="5669280" y="3291840"/>
            <a:ext cx="3017520" cy="1005840"/>
          </a:xfrm>
          <a:prstGeom prst="roundRect">
            <a:avLst>
              <a:gd name="adj" fmla="val 9091"/>
            </a:avLst>
          </a:prstGeom>
          <a:solidFill>
            <a:srgbClr val="D4943A">
              <a:alpha val="15000"/>
            </a:srgbClr>
          </a:solidFill>
          <a:ln w="19050">
            <a:solidFill>
              <a:srgbClr val="D4943A"/>
            </a:solidFill>
            <a:prstDash val="solid"/>
          </a:ln>
        </p:spPr>
      </p:sp>
      <p:sp>
        <p:nvSpPr>
          <p:cNvPr id="12" name="Text 10"/>
          <p:cNvSpPr/>
          <p:nvPr/>
        </p:nvSpPr>
        <p:spPr>
          <a:xfrm>
            <a:off x="5806440" y="3355848"/>
            <a:ext cx="2743200" cy="896112"/>
          </a:xfrm>
          <a:prstGeom prst="rect">
            <a:avLst/>
          </a:prstGeom>
          <a:noFill/>
          <a:ln/>
        </p:spPr>
        <p:txBody>
          <a:bodyPr wrap="square" lIns="0" tIns="0" rIns="0" bIns="0" rtlCol="0" anchor="t"/>
          <a:lstStyle/>
          <a:p>
            <a:pPr indent="0" marL="0">
              <a:buNone/>
            </a:pPr>
            <a:r>
              <a:rPr lang="en-US" sz="1100" i="1" dirty="0">
                <a:solidFill>
                  <a:srgbClr val="5A3A1A"/>
                </a:solidFill>
                <a:latin typeface="Calibri" pitchFamily="34" charset="0"/>
                <a:ea typeface="Calibri" pitchFamily="34" charset="-122"/>
                <a:cs typeface="Calibri" pitchFamily="34" charset="-120"/>
              </a:rPr>
              <a:t>The First Peoples' own voices are largely absent from written European records. A careful historian acknowledges this absence and treats every surviving evidence source with equal seriousness.</a:t>
            </a:r>
            <a:endParaRPr lang="en-US" sz="1100" dirty="0"/>
          </a:p>
        </p:txBody>
      </p:sp>
      <p:sp>
        <p:nvSpPr>
          <p:cNvPr id="14" name="Text 11"/>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Text 1"/>
          <p:cNvSpPr/>
          <p:nvPr/>
        </p:nvSpPr>
        <p:spPr>
          <a:xfrm>
            <a:off x="548640" y="365760"/>
            <a:ext cx="8046720" cy="256032"/>
          </a:xfrm>
          <a:prstGeom prst="rect">
            <a:avLst/>
          </a:prstGeom>
          <a:noFill/>
          <a:ln/>
        </p:spPr>
        <p:txBody>
          <a:bodyPr wrap="square" lIns="0" tIns="0" rIns="0" bIns="0" rtlCol="0" anchor="ctr"/>
          <a:lstStyle/>
          <a:p>
            <a:pPr indent="0" marL="0">
              <a:buNone/>
            </a:pPr>
            <a:r>
              <a:rPr lang="en-US" sz="1000" b="1" spc="200" kern="0" dirty="0">
                <a:solidFill>
                  <a:srgbClr val="34B76F"/>
                </a:solidFill>
                <a:latin typeface="Calibri" pitchFamily="34" charset="0"/>
                <a:ea typeface="Calibri" pitchFamily="34" charset="-122"/>
                <a:cs typeface="Calibri" pitchFamily="34" charset="-120"/>
              </a:rPr>
              <a:t>THE PATTERN</a:t>
            </a:r>
            <a:endParaRPr lang="en-US" sz="1000" dirty="0"/>
          </a:p>
        </p:txBody>
      </p:sp>
      <p:sp>
        <p:nvSpPr>
          <p:cNvPr id="4" name="Text 2"/>
          <p:cNvSpPr/>
          <p:nvPr/>
        </p:nvSpPr>
        <p:spPr>
          <a:xfrm>
            <a:off x="548640" y="658368"/>
            <a:ext cx="8046720" cy="11887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Geography Shapes</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Every Culture It Touches</a:t>
            </a:r>
            <a:endParaRPr lang="en-US" sz="3400" dirty="0"/>
          </a:p>
        </p:txBody>
      </p:sp>
      <p:sp>
        <p:nvSpPr>
          <p:cNvPr id="5" name="Shape 3"/>
          <p:cNvSpPr/>
          <p:nvPr/>
        </p:nvSpPr>
        <p:spPr>
          <a:xfrm>
            <a:off x="548640" y="1920240"/>
            <a:ext cx="8046720" cy="36576"/>
          </a:xfrm>
          <a:prstGeom prst="rect">
            <a:avLst/>
          </a:prstGeom>
          <a:solidFill>
            <a:srgbClr val="34B76F"/>
          </a:solidFill>
          <a:ln w="12700">
            <a:solidFill>
              <a:srgbClr val="34B76F"/>
            </a:solidFill>
            <a:prstDash val="solid"/>
          </a:ln>
        </p:spPr>
      </p:sp>
      <p:sp>
        <p:nvSpPr>
          <p:cNvPr id="6" name="Text 4"/>
          <p:cNvSpPr/>
          <p:nvPr/>
        </p:nvSpPr>
        <p:spPr>
          <a:xfrm>
            <a:off x="548640" y="2057400"/>
            <a:ext cx="804672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Long before Europeans arrived, at least four major peoples — the Apalachee, Timucua, Calusa, and Tequesta — lived in different regions of Florida, and the land and water around each group shaped the lives they built.</a:t>
            </a:r>
            <a:endParaRPr lang="en-US" sz="1500" dirty="0"/>
          </a:p>
        </p:txBody>
      </p:sp>
      <p:sp>
        <p:nvSpPr>
          <p:cNvPr id="7" name="Shape 5"/>
          <p:cNvSpPr/>
          <p:nvPr/>
        </p:nvSpPr>
        <p:spPr>
          <a:xfrm>
            <a:off x="548640" y="3182112"/>
            <a:ext cx="8046720" cy="1353312"/>
          </a:xfrm>
          <a:prstGeom prst="roundRect">
            <a:avLst>
              <a:gd name="adj" fmla="val 8108"/>
            </a:avLst>
          </a:prstGeom>
          <a:solidFill>
            <a:srgbClr val="1A2D5A"/>
          </a:solidFill>
          <a:ln w="19050">
            <a:solidFill>
              <a:srgbClr val="34B76F"/>
            </a:solidFill>
            <a:prstDash val="solid"/>
          </a:ln>
        </p:spPr>
      </p:sp>
      <p:sp>
        <p:nvSpPr>
          <p:cNvPr id="8" name="Text 6"/>
          <p:cNvSpPr/>
          <p:nvPr/>
        </p:nvSpPr>
        <p:spPr>
          <a:xfrm>
            <a:off x="731520" y="3273552"/>
            <a:ext cx="7680960" cy="256032"/>
          </a:xfrm>
          <a:prstGeom prst="rect">
            <a:avLst/>
          </a:prstGeom>
          <a:noFill/>
          <a:ln/>
        </p:spPr>
        <p:txBody>
          <a:bodyPr wrap="square" lIns="0" tIns="0" rIns="0" bIns="0" rtlCol="0" anchor="ctr"/>
          <a:lstStyle/>
          <a:p>
            <a:pPr indent="0" marL="0">
              <a:buNone/>
            </a:pPr>
            <a:r>
              <a:rPr lang="en-US" sz="1000" b="1" spc="150" kern="0" dirty="0">
                <a:solidFill>
                  <a:srgbClr val="34B76F"/>
                </a:solidFill>
                <a:latin typeface="Calibri" pitchFamily="34" charset="0"/>
                <a:ea typeface="Calibri" pitchFamily="34" charset="-122"/>
                <a:cs typeface="Calibri" pitchFamily="34" charset="-120"/>
              </a:rPr>
              <a:t>CARRY THIS FORWARD:</a:t>
            </a:r>
            <a:endParaRPr lang="en-US" sz="1000" dirty="0"/>
          </a:p>
        </p:txBody>
      </p:sp>
      <p:sp>
        <p:nvSpPr>
          <p:cNvPr id="9" name="Text 7"/>
          <p:cNvSpPr/>
          <p:nvPr/>
        </p:nvSpPr>
        <p:spPr>
          <a:xfrm>
            <a:off x="731520" y="3566160"/>
            <a:ext cx="7680960" cy="86868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Geography influences settlement — and settlement shapes culture. You can use this pattern to predict: any people, anywhere, at any time. When you study a new group, the first question a geographer-historian asks is always: what was the land like?</a:t>
            </a:r>
            <a:endParaRPr lang="en-US" sz="1300" dirty="0"/>
          </a:p>
        </p:txBody>
      </p:sp>
      <p:sp>
        <p:nvSpPr>
          <p:cNvPr id="11" name="Text 8"/>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2700">
            <a:solidFill>
              <a:srgbClr val="0B1835"/>
            </a:solidFill>
            <a:prstDash val="solid"/>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548640" y="365760"/>
            <a:ext cx="8046720" cy="256032"/>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5" name="Text 3"/>
          <p:cNvSpPr/>
          <p:nvPr/>
        </p:nvSpPr>
        <p:spPr>
          <a:xfrm>
            <a:off x="548640" y="658368"/>
            <a:ext cx="804672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Service</a:t>
            </a:r>
            <a:endParaRPr lang="en-US" sz="4600" dirty="0"/>
          </a:p>
        </p:txBody>
      </p:sp>
      <p:sp>
        <p:nvSpPr>
          <p:cNvPr id="6" name="Shape 4"/>
          <p:cNvSpPr/>
          <p:nvPr/>
        </p:nvSpPr>
        <p:spPr>
          <a:xfrm>
            <a:off x="548640" y="1536192"/>
            <a:ext cx="2743200" cy="36576"/>
          </a:xfrm>
          <a:prstGeom prst="rect">
            <a:avLst/>
          </a:prstGeom>
          <a:solidFill>
            <a:srgbClr val="D4943A"/>
          </a:solidFill>
          <a:ln w="12700">
            <a:solidFill>
              <a:srgbClr val="D4943A"/>
            </a:solidFill>
            <a:prstDash val="solid"/>
          </a:ln>
        </p:spPr>
      </p:sp>
      <p:sp>
        <p:nvSpPr>
          <p:cNvPr id="7" name="Text 5"/>
          <p:cNvSpPr/>
          <p:nvPr/>
        </p:nvSpPr>
        <p:spPr>
          <a:xfrm>
            <a:off x="548640" y="1664208"/>
            <a:ext cx="8046720" cy="10058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The first peoples of Florida served their communities every single day — fishing, gathering, building shelters, teaching the youngest, looking after the oldest. Service didn't mean one big act. It meant the steady, ordinary work that kept everyone safe and fed.</a:t>
            </a:r>
            <a:endParaRPr lang="en-US" sz="1600" dirty="0"/>
          </a:p>
        </p:txBody>
      </p:sp>
      <p:sp>
        <p:nvSpPr>
          <p:cNvPr id="8" name="Shape 6"/>
          <p:cNvSpPr/>
          <p:nvPr/>
        </p:nvSpPr>
        <p:spPr>
          <a:xfrm>
            <a:off x="548640" y="2816352"/>
            <a:ext cx="8046720" cy="1554480"/>
          </a:xfrm>
          <a:prstGeom prst="roundRect">
            <a:avLst>
              <a:gd name="adj" fmla="val 7059"/>
            </a:avLst>
          </a:prstGeom>
          <a:solidFill>
            <a:srgbClr val="1A2D5A"/>
          </a:solidFill>
          <a:ln w="19050">
            <a:solidFill>
              <a:srgbClr val="D4943A"/>
            </a:solidFill>
            <a:prstDash val="solid"/>
          </a:ln>
        </p:spPr>
      </p:sp>
      <p:sp>
        <p:nvSpPr>
          <p:cNvPr id="9" name="Text 7"/>
          <p:cNvSpPr/>
          <p:nvPr/>
        </p:nvSpPr>
        <p:spPr>
          <a:xfrm>
            <a:off x="731520" y="2907792"/>
            <a:ext cx="7680960" cy="256032"/>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SERVICE IN ACTION TODAY:</a:t>
            </a:r>
            <a:endParaRPr lang="en-US" sz="1000" dirty="0"/>
          </a:p>
        </p:txBody>
      </p:sp>
      <p:sp>
        <p:nvSpPr>
          <p:cNvPr id="10" name="Text 8"/>
          <p:cNvSpPr/>
          <p:nvPr/>
        </p:nvSpPr>
        <p:spPr>
          <a:xfrm>
            <a:off x="731520" y="3200400"/>
            <a:ext cx="7680960" cy="1051560"/>
          </a:xfrm>
          <a:prstGeom prst="rect">
            <a:avLst/>
          </a:prstGeom>
          <a:noFill/>
          <a:ln/>
        </p:spPr>
        <p:txBody>
          <a:bodyPr wrap="square" lIns="0" tIns="0" rIns="0" bIns="0" rtlCol="0" anchor="t"/>
          <a:lstStyle/>
          <a:p>
            <a:pPr indent="0" marL="0">
              <a:buNone/>
            </a:pPr>
            <a:r>
              <a:rPr lang="en-US" sz="1400" i="1" dirty="0">
                <a:solidFill>
                  <a:srgbClr val="FFFFFF"/>
                </a:solidFill>
                <a:latin typeface="Calibri" pitchFamily="34" charset="0"/>
                <a:ea typeface="Calibri" pitchFamily="34" charset="-122"/>
                <a:cs typeface="Calibri" pitchFamily="34" charset="-120"/>
              </a:rPr>
              <a:t>As you study their lives, notice the many small jobs that made survival possible. Service is not a dramatic gesture — it is the daily work of keeping a community alive. Evidence Question 3 will ask you to use the word 'service' in your answer.</a:t>
            </a:r>
            <a:endParaRPr lang="en-US" sz="1400" dirty="0"/>
          </a:p>
        </p:txBody>
      </p:sp>
      <p:sp>
        <p:nvSpPr>
          <p:cNvPr id="12" name="Text 9"/>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GUIDED PRACTICE  ·  TEACHER MODELS</a:t>
            </a:r>
            <a:endParaRPr lang="en-US" sz="1000" dirty="0"/>
          </a:p>
        </p:txBody>
      </p:sp>
      <p:sp>
        <p:nvSpPr>
          <p:cNvPr id="4" name="Text 2"/>
          <p:cNvSpPr/>
          <p:nvPr/>
        </p:nvSpPr>
        <p:spPr>
          <a:xfrm>
            <a:off x="457200" y="475488"/>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Watch how a historian builds a claim from environment + evidence.</a:t>
            </a:r>
            <a:endParaRPr lang="en-US" sz="1600" dirty="0"/>
          </a:p>
        </p:txBody>
      </p:sp>
      <p:sp>
        <p:nvSpPr>
          <p:cNvPr id="5" name="Shape 3"/>
          <p:cNvSpPr/>
          <p:nvPr/>
        </p:nvSpPr>
        <p:spPr>
          <a:xfrm>
            <a:off x="457200" y="914400"/>
            <a:ext cx="8229600" cy="3520440"/>
          </a:xfrm>
          <a:prstGeom prst="roundRect">
            <a:avLst>
              <a:gd name="adj" fmla="val 3117"/>
            </a:avLst>
          </a:prstGeom>
          <a:solidFill>
            <a:srgbClr val="1A2D5A"/>
          </a:solidFill>
          <a:ln w="19050">
            <a:solidFill>
              <a:srgbClr val="3A5080"/>
            </a:solidFill>
            <a:prstDash val="solid"/>
          </a:ln>
        </p:spPr>
      </p:sp>
      <p:sp>
        <p:nvSpPr>
          <p:cNvPr id="6" name="Text 4"/>
          <p:cNvSpPr/>
          <p:nvPr/>
        </p:nvSpPr>
        <p:spPr>
          <a:xfrm>
            <a:off x="640080" y="1005840"/>
            <a:ext cx="78638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THINK-ALOUD — CALUSA NOTEBOOK ENTRY</a:t>
            </a:r>
            <a:endParaRPr lang="en-US" sz="900" dirty="0"/>
          </a:p>
        </p:txBody>
      </p:sp>
      <p:sp>
        <p:nvSpPr>
          <p:cNvPr id="7" name="Text 5"/>
          <p:cNvSpPr/>
          <p:nvPr/>
        </p:nvSpPr>
        <p:spPr>
          <a:xfrm>
            <a:off x="640080" y="1325880"/>
            <a:ext cx="7863840" cy="2971800"/>
          </a:xfrm>
          <a:prstGeom prst="rect">
            <a:avLst/>
          </a:prstGeom>
          <a:noFill/>
          <a:ln/>
        </p:spPr>
        <p:txBody>
          <a:bodyPr wrap="square" lIns="0" tIns="0" rIns="0" bIns="0" rtlCol="0" anchor="t"/>
          <a:lstStyle/>
          <a:p>
            <a:pPr indent="0" marL="0">
              <a:spcAft>
                <a:spcPts val="500"/>
              </a:spcAft>
              <a:buNone/>
            </a:pPr>
            <a:r>
              <a:rPr lang="en-US" sz="1200" dirty="0">
                <a:solidFill>
                  <a:srgbClr val="FFFFFF"/>
                </a:solidFill>
                <a:latin typeface="Calibri" pitchFamily="34" charset="0"/>
                <a:ea typeface="Calibri" pitchFamily="34" charset="-122"/>
                <a:cs typeface="Calibri" pitchFamily="34" charset="-120"/>
              </a:rPr>
              <a:t>1.  I choose the Calusa — a coastal people of southwest Florida.</a:t>
            </a:r>
            <a:endParaRPr lang="en-US" sz="1200" dirty="0"/>
          </a:p>
          <a:p>
            <a:pPr indent="0" marL="0">
              <a:spcAft>
                <a:spcPts val="500"/>
              </a:spcAft>
              <a:buNone/>
            </a:pPr>
            <a:r>
              <a:rPr lang="en-US" sz="1200" dirty="0">
                <a:solidFill>
                  <a:srgbClr val="FFFFFF"/>
                </a:solidFill>
                <a:latin typeface="Calibri" pitchFamily="34" charset="0"/>
                <a:ea typeface="Calibri" pitchFamily="34" charset="-122"/>
                <a:cs typeface="Calibri" pitchFamily="34" charset="-120"/>
              </a:rPr>
              <a:t>2.  REGION: Southwest Gulf coast, near mangrove channels and shell islands.</a:t>
            </a:r>
            <a:endParaRPr lang="en-US" sz="1200" dirty="0"/>
          </a:p>
          <a:p>
            <a:pPr indent="0" marL="0">
              <a:spcAft>
                <a:spcPts val="500"/>
              </a:spcAft>
              <a:buNone/>
            </a:pPr>
            <a:r>
              <a:rPr lang="en-US" sz="1200" dirty="0">
                <a:solidFill>
                  <a:srgbClr val="FFFFFF"/>
                </a:solidFill>
                <a:latin typeface="Calibri" pitchFamily="34" charset="0"/>
                <a:ea typeface="Calibri" pitchFamily="34" charset="-122"/>
                <a:cs typeface="Calibri" pitchFamily="34" charset="-120"/>
              </a:rPr>
              <a:t>3.  DETAIL: They built towns on shell mounds — islands made from millions of empty shells.</a:t>
            </a:r>
            <a:endParaRPr lang="en-US" sz="1200" dirty="0"/>
          </a:p>
          <a:p>
            <a:pPr indent="0" marL="0">
              <a:spcAft>
                <a:spcPts val="500"/>
              </a:spcAft>
              <a:buNone/>
            </a:pPr>
            <a:r>
              <a:rPr lang="en-US" sz="1200" dirty="0">
                <a:solidFill>
                  <a:srgbClr val="FFFFFF"/>
                </a:solidFill>
                <a:latin typeface="Calibri" pitchFamily="34" charset="0"/>
                <a:ea typeface="Calibri" pitchFamily="34" charset="-122"/>
                <a:cs typeface="Calibri" pitchFamily="34" charset="-120"/>
              </a:rPr>
              <a:t>4.  ENVIRONMENT CONNECTION: The sea provided everything — fish, oysters, travel routes. They had almost no need to farm because the Gulf was their pantry.</a:t>
            </a:r>
            <a:endParaRPr lang="en-US" sz="1200" dirty="0"/>
          </a:p>
          <a:p>
            <a:pPr indent="0" marL="0">
              <a:spcAft>
                <a:spcPts val="500"/>
              </a:spcAft>
              <a:buNone/>
            </a:pPr>
            <a:r>
              <a:rPr lang="en-US" sz="1200" dirty="0">
                <a:solidFill>
                  <a:srgbClr val="FFFFFF"/>
                </a:solidFill>
                <a:latin typeface="Calibri" pitchFamily="34" charset="0"/>
                <a:ea typeface="Calibri" pitchFamily="34" charset="-122"/>
                <a:cs typeface="Calibri" pitchFamily="34" charset="-120"/>
              </a:rPr>
              <a:t>5.  EVIDENCE: The shell mounds themselves ARE the evidence — physical proof of centuries of coastal life.</a:t>
            </a:r>
            <a:endParaRPr lang="en-US" sz="1200" dirty="0"/>
          </a:p>
          <a:p>
            <a:pPr indent="0" marL="0">
              <a:spcAft>
                <a:spcPts val="500"/>
              </a:spcAft>
              <a:buNone/>
            </a:pPr>
            <a:r>
              <a:rPr lang="en-US" sz="1200" dirty="0">
                <a:solidFill>
                  <a:srgbClr val="FFFFFF"/>
                </a:solidFill>
                <a:latin typeface="Calibri" pitchFamily="34" charset="0"/>
                <a:ea typeface="Calibri" pitchFamily="34" charset="-122"/>
                <a:cs typeface="Calibri" pitchFamily="34" charset="-120"/>
              </a:rPr>
              <a:t>6.  SERVICE connection: Calusa fishers went out daily in dugout canoes — that daily service kept communities fed.</a:t>
            </a:r>
            <a:endParaRPr lang="en-US" sz="1200" dirty="0"/>
          </a:p>
        </p:txBody>
      </p:sp>
      <p:sp>
        <p:nvSpPr>
          <p:cNvPr id="9" name="Text 6"/>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GUIDED PRACTICE  ·  INVESTIGATE AND DEFEND</a:t>
            </a:r>
            <a:endParaRPr lang="en-US" sz="1000" dirty="0"/>
          </a:p>
        </p:txBody>
      </p:sp>
      <p:sp>
        <p:nvSpPr>
          <p:cNvPr id="4" name="Text 2"/>
          <p:cNvSpPr/>
          <p:nvPr/>
        </p:nvSpPr>
        <p:spPr>
          <a:xfrm>
            <a:off x="457200" y="475488"/>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Your turn: choose a people, build a claim, defend it.</a:t>
            </a:r>
            <a:endParaRPr lang="en-US" sz="1600" dirty="0"/>
          </a:p>
        </p:txBody>
      </p:sp>
      <p:sp>
        <p:nvSpPr>
          <p:cNvPr id="5" name="Shape 3"/>
          <p:cNvSpPr/>
          <p:nvPr/>
        </p:nvSpPr>
        <p:spPr>
          <a:xfrm>
            <a:off x="457200" y="914400"/>
            <a:ext cx="4937760" cy="3474720"/>
          </a:xfrm>
          <a:prstGeom prst="roundRect">
            <a:avLst>
              <a:gd name="adj" fmla="val 3158"/>
            </a:avLst>
          </a:prstGeom>
          <a:solidFill>
            <a:srgbClr val="F7F9FF"/>
          </a:solidFill>
          <a:ln w="19050">
            <a:solidFill>
              <a:srgbClr val="B0B8CC"/>
            </a:solidFill>
            <a:prstDash val="solid"/>
          </a:ln>
        </p:spPr>
      </p:sp>
      <p:sp>
        <p:nvSpPr>
          <p:cNvPr id="6" name="Text 4"/>
          <p:cNvSpPr/>
          <p:nvPr/>
        </p:nvSpPr>
        <p:spPr>
          <a:xfrm>
            <a:off x="594360" y="1005840"/>
            <a:ext cx="4663440" cy="256032"/>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ASSIGNMENT Q1 + Q2 + UNLOCK CHALLENGE SCAFFOLD</a:t>
            </a:r>
            <a:endParaRPr lang="en-US" sz="900" dirty="0"/>
          </a:p>
        </p:txBody>
      </p:sp>
      <p:sp>
        <p:nvSpPr>
          <p:cNvPr id="7" name="Shape 5"/>
          <p:cNvSpPr/>
          <p:nvPr/>
        </p:nvSpPr>
        <p:spPr>
          <a:xfrm>
            <a:off x="594360" y="1353312"/>
            <a:ext cx="4663440" cy="384048"/>
          </a:xfrm>
          <a:prstGeom prst="roundRect">
            <a:avLst>
              <a:gd name="adj" fmla="val 19048"/>
            </a:avLst>
          </a:prstGeom>
          <a:solidFill>
            <a:srgbClr val="E2E8F4"/>
          </a:solidFill>
          <a:ln w="12700">
            <a:solidFill>
              <a:srgbClr val="B0B8CC"/>
            </a:solidFill>
            <a:prstDash val="solid"/>
          </a:ln>
        </p:spPr>
      </p:sp>
      <p:sp>
        <p:nvSpPr>
          <p:cNvPr id="8" name="Text 6"/>
          <p:cNvSpPr/>
          <p:nvPr/>
        </p:nvSpPr>
        <p:spPr>
          <a:xfrm>
            <a:off x="731520" y="1380744"/>
            <a:ext cx="4389120" cy="29260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Pick one people: Apalachee / Timucua / Calusa / Tequesta</a:t>
            </a:r>
            <a:endParaRPr lang="en-US" sz="1100" dirty="0"/>
          </a:p>
        </p:txBody>
      </p:sp>
      <p:sp>
        <p:nvSpPr>
          <p:cNvPr id="9" name="Shape 7"/>
          <p:cNvSpPr/>
          <p:nvPr/>
        </p:nvSpPr>
        <p:spPr>
          <a:xfrm>
            <a:off x="594360" y="1828800"/>
            <a:ext cx="4663440" cy="384048"/>
          </a:xfrm>
          <a:prstGeom prst="roundRect">
            <a:avLst>
              <a:gd name="adj" fmla="val 19048"/>
            </a:avLst>
          </a:prstGeom>
          <a:solidFill>
            <a:srgbClr val="E2E8F4"/>
          </a:solidFill>
          <a:ln w="12700">
            <a:solidFill>
              <a:srgbClr val="B0B8CC"/>
            </a:solidFill>
            <a:prstDash val="solid"/>
          </a:ln>
        </p:spPr>
      </p:sp>
      <p:sp>
        <p:nvSpPr>
          <p:cNvPr id="10" name="Text 8"/>
          <p:cNvSpPr/>
          <p:nvPr/>
        </p:nvSpPr>
        <p:spPr>
          <a:xfrm>
            <a:off x="731520" y="1856232"/>
            <a:ext cx="4389120" cy="29260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Their region: _________________________</a:t>
            </a:r>
            <a:endParaRPr lang="en-US" sz="1100" dirty="0"/>
          </a:p>
        </p:txBody>
      </p:sp>
      <p:sp>
        <p:nvSpPr>
          <p:cNvPr id="11" name="Shape 9"/>
          <p:cNvSpPr/>
          <p:nvPr/>
        </p:nvSpPr>
        <p:spPr>
          <a:xfrm>
            <a:off x="594360" y="2304288"/>
            <a:ext cx="4663440" cy="384048"/>
          </a:xfrm>
          <a:prstGeom prst="roundRect">
            <a:avLst>
              <a:gd name="adj" fmla="val 19048"/>
            </a:avLst>
          </a:prstGeom>
          <a:solidFill>
            <a:srgbClr val="E2E8F4"/>
          </a:solidFill>
          <a:ln w="12700">
            <a:solidFill>
              <a:srgbClr val="B0B8CC"/>
            </a:solidFill>
            <a:prstDash val="solid"/>
          </a:ln>
        </p:spPr>
      </p:sp>
      <p:sp>
        <p:nvSpPr>
          <p:cNvPr id="12" name="Text 10"/>
          <p:cNvSpPr/>
          <p:nvPr/>
        </p:nvSpPr>
        <p:spPr>
          <a:xfrm>
            <a:off x="731520" y="2331720"/>
            <a:ext cx="4389120" cy="29260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One environment detail (land or water): _______</a:t>
            </a:r>
            <a:endParaRPr lang="en-US" sz="1100" dirty="0"/>
          </a:p>
        </p:txBody>
      </p:sp>
      <p:sp>
        <p:nvSpPr>
          <p:cNvPr id="13" name="Shape 11"/>
          <p:cNvSpPr/>
          <p:nvPr/>
        </p:nvSpPr>
        <p:spPr>
          <a:xfrm>
            <a:off x="594360" y="2779776"/>
            <a:ext cx="4663440" cy="384048"/>
          </a:xfrm>
          <a:prstGeom prst="roundRect">
            <a:avLst>
              <a:gd name="adj" fmla="val 19048"/>
            </a:avLst>
          </a:prstGeom>
          <a:solidFill>
            <a:srgbClr val="E2E8F4"/>
          </a:solidFill>
          <a:ln w="12700">
            <a:solidFill>
              <a:srgbClr val="B0B8CC"/>
            </a:solidFill>
            <a:prstDash val="solid"/>
          </a:ln>
        </p:spPr>
      </p:sp>
      <p:sp>
        <p:nvSpPr>
          <p:cNvPr id="14" name="Text 12"/>
          <p:cNvSpPr/>
          <p:nvPr/>
        </p:nvSpPr>
        <p:spPr>
          <a:xfrm>
            <a:off x="731520" y="2807208"/>
            <a:ext cx="4389120" cy="29260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How that shaped daily life: ______________</a:t>
            </a:r>
            <a:endParaRPr lang="en-US" sz="1100" dirty="0"/>
          </a:p>
        </p:txBody>
      </p:sp>
      <p:sp>
        <p:nvSpPr>
          <p:cNvPr id="15" name="Shape 13"/>
          <p:cNvSpPr/>
          <p:nvPr/>
        </p:nvSpPr>
        <p:spPr>
          <a:xfrm>
            <a:off x="594360" y="3255264"/>
            <a:ext cx="4663440" cy="384048"/>
          </a:xfrm>
          <a:prstGeom prst="roundRect">
            <a:avLst>
              <a:gd name="adj" fmla="val 19048"/>
            </a:avLst>
          </a:prstGeom>
          <a:solidFill>
            <a:srgbClr val="E2E8F4"/>
          </a:solidFill>
          <a:ln w="12700">
            <a:solidFill>
              <a:srgbClr val="B0B8CC"/>
            </a:solidFill>
            <a:prstDash val="solid"/>
          </a:ln>
        </p:spPr>
      </p:sp>
      <p:sp>
        <p:nvSpPr>
          <p:cNvPr id="16" name="Text 14"/>
          <p:cNvSpPr/>
          <p:nvPr/>
        </p:nvSpPr>
        <p:spPr>
          <a:xfrm>
            <a:off x="731520" y="3282696"/>
            <a:ext cx="4389120" cy="29260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One piece of evidence: __________________</a:t>
            </a:r>
            <a:endParaRPr lang="en-US" sz="1100" dirty="0"/>
          </a:p>
        </p:txBody>
      </p:sp>
      <p:sp>
        <p:nvSpPr>
          <p:cNvPr id="17" name="Shape 15"/>
          <p:cNvSpPr/>
          <p:nvPr/>
        </p:nvSpPr>
        <p:spPr>
          <a:xfrm>
            <a:off x="594360" y="3730752"/>
            <a:ext cx="4663440" cy="384048"/>
          </a:xfrm>
          <a:prstGeom prst="roundRect">
            <a:avLst>
              <a:gd name="adj" fmla="val 19048"/>
            </a:avLst>
          </a:prstGeom>
          <a:solidFill>
            <a:srgbClr val="E2E8F4"/>
          </a:solidFill>
          <a:ln w="12700">
            <a:solidFill>
              <a:srgbClr val="B0B8CC"/>
            </a:solidFill>
            <a:prstDash val="solid"/>
          </a:ln>
        </p:spPr>
      </p:sp>
      <p:sp>
        <p:nvSpPr>
          <p:cNvPr id="18" name="Text 16"/>
          <p:cNvSpPr/>
          <p:nvPr/>
        </p:nvSpPr>
        <p:spPr>
          <a:xfrm>
            <a:off x="731520" y="3758184"/>
            <a:ext cx="4389120" cy="29260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Defend: why does environment explain their way of life?</a:t>
            </a:r>
            <a:endParaRPr lang="en-US" sz="1100" dirty="0"/>
          </a:p>
        </p:txBody>
      </p:sp>
      <p:sp>
        <p:nvSpPr>
          <p:cNvPr id="19" name="Shape 17"/>
          <p:cNvSpPr/>
          <p:nvPr/>
        </p:nvSpPr>
        <p:spPr>
          <a:xfrm>
            <a:off x="5577840" y="914400"/>
            <a:ext cx="3108960" cy="3474720"/>
          </a:xfrm>
          <a:prstGeom prst="roundRect">
            <a:avLst>
              <a:gd name="adj" fmla="val 4412"/>
            </a:avLst>
          </a:prstGeom>
          <a:solidFill>
            <a:srgbClr val="1A2D5A"/>
          </a:solidFill>
          <a:ln/>
          <a:effectLst>
            <a:outerShdw sx="100000" sy="100000" kx="0" ky="0" algn="bl" rotWithShape="0" blurRad="101600" dist="38100" dir="8100000">
              <a:srgbClr val="000000">
                <a:alpha val="20000"/>
              </a:srgbClr>
            </a:outerShdw>
          </a:effectLst>
        </p:spPr>
      </p:sp>
      <p:sp>
        <p:nvSpPr>
          <p:cNvPr id="20" name="Text 18"/>
          <p:cNvSpPr/>
          <p:nvPr/>
        </p:nvSpPr>
        <p:spPr>
          <a:xfrm>
            <a:off x="5760720" y="1005840"/>
            <a:ext cx="27432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1" name="Text 19"/>
          <p:cNvSpPr/>
          <p:nvPr/>
        </p:nvSpPr>
        <p:spPr>
          <a:xfrm>
            <a:off x="5760720" y="1261872"/>
            <a:ext cx="2743200" cy="30358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Did they choose an environment detail — or just a general description?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the evidence specific enough to support the claim?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who DISAGREES say about their choice?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 same evidence support a different claim?</a:t>
            </a:r>
            <a:endParaRPr lang="en-US" sz="1100" dirty="0"/>
          </a:p>
        </p:txBody>
      </p:sp>
      <p:sp>
        <p:nvSpPr>
          <p:cNvPr id="23" name="Text 20"/>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GUIDED PRACTICE  ·  CRITIQUE</a:t>
            </a:r>
            <a:endParaRPr lang="en-US" sz="1000" dirty="0"/>
          </a:p>
        </p:txBody>
      </p:sp>
      <p:sp>
        <p:nvSpPr>
          <p:cNvPr id="4" name="Text 2"/>
          <p:cNvSpPr/>
          <p:nvPr/>
        </p:nvSpPr>
        <p:spPr>
          <a:xfrm>
            <a:off x="457200" y="475488"/>
            <a:ext cx="8229600" cy="347472"/>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What's strong? What needs a stronger evidence connection?</a:t>
            </a:r>
            <a:endParaRPr lang="en-US" sz="1600" dirty="0"/>
          </a:p>
        </p:txBody>
      </p:sp>
      <p:sp>
        <p:nvSpPr>
          <p:cNvPr id="5" name="Shape 3"/>
          <p:cNvSpPr/>
          <p:nvPr/>
        </p:nvSpPr>
        <p:spPr>
          <a:xfrm>
            <a:off x="457200" y="914400"/>
            <a:ext cx="8229600" cy="1554480"/>
          </a:xfrm>
          <a:prstGeom prst="roundRect">
            <a:avLst>
              <a:gd name="adj" fmla="val 7059"/>
            </a:avLst>
          </a:prstGeom>
          <a:solidFill>
            <a:srgbClr val="FFF3DC"/>
          </a:solidFill>
          <a:ln w="19050">
            <a:solidFill>
              <a:srgbClr val="F5E6C8"/>
            </a:solidFill>
            <a:prstDash val="solid"/>
          </a:ln>
        </p:spPr>
      </p:sp>
      <p:sp>
        <p:nvSpPr>
          <p:cNvPr id="6" name="Text 4"/>
          <p:cNvSpPr/>
          <p:nvPr/>
        </p:nvSpPr>
        <p:spPr>
          <a:xfrm>
            <a:off x="640080" y="1005840"/>
            <a:ext cx="786384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SAMPLE RESPONSE TO EVALUATE</a:t>
            </a:r>
            <a:endParaRPr lang="en-US" sz="900" dirty="0"/>
          </a:p>
        </p:txBody>
      </p:sp>
      <p:sp>
        <p:nvSpPr>
          <p:cNvPr id="7" name="Text 5"/>
          <p:cNvSpPr/>
          <p:nvPr/>
        </p:nvSpPr>
        <p:spPr>
          <a:xfrm>
            <a:off x="640080" y="1261872"/>
            <a:ext cx="7863840" cy="1097280"/>
          </a:xfrm>
          <a:prstGeom prst="rect">
            <a:avLst/>
          </a:prstGeom>
          <a:noFill/>
          <a:ln/>
        </p:spPr>
        <p:txBody>
          <a:bodyPr wrap="square" lIns="0" tIns="0" rIns="0" bIns="0" rtlCol="0" anchor="t"/>
          <a:lstStyle/>
          <a:p>
            <a:pPr indent="0" marL="0">
              <a:buNone/>
            </a:pPr>
            <a:r>
              <a:rPr lang="en-US" sz="1400" i="1" dirty="0">
                <a:solidFill>
                  <a:srgbClr val="5A4A3A"/>
                </a:solidFill>
                <a:latin typeface="Cambria" pitchFamily="34" charset="0"/>
                <a:ea typeface="Cambria" pitchFamily="34" charset="-122"/>
                <a:cs typeface="Cambria" pitchFamily="34" charset="-120"/>
              </a:rPr>
              <a:t>"The Timucua lived in north Florida. They hunted deer and fished. The environment helped them because there were rivers and forests nearby. They were a big language group."</a:t>
            </a:r>
            <a:endParaRPr lang="en-US" sz="1400" dirty="0"/>
          </a:p>
        </p:txBody>
      </p:sp>
      <p:sp>
        <p:nvSpPr>
          <p:cNvPr id="8" name="Shape 6"/>
          <p:cNvSpPr/>
          <p:nvPr/>
        </p:nvSpPr>
        <p:spPr>
          <a:xfrm>
            <a:off x="457200" y="2606040"/>
            <a:ext cx="4937760" cy="2240280"/>
          </a:xfrm>
          <a:prstGeom prst="roundRect">
            <a:avLst>
              <a:gd name="adj" fmla="val 6122"/>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640080" y="269748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640080" y="2953512"/>
            <a:ext cx="4572000" cy="18013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this response name a specific REGION? Is 'north Florida' specific enough?</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it explain HOW the environment SHAPED daily life — or just list features?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Where is the evidence? Is 'there were rivers' the same as evidence?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Rate the response: strong / okay / weak? What's your reasoning?</a:t>
            </a:r>
            <a:endParaRPr lang="en-US" sz="1100" dirty="0"/>
          </a:p>
        </p:txBody>
      </p:sp>
      <p:sp>
        <p:nvSpPr>
          <p:cNvPr id="11" name="Shape 9"/>
          <p:cNvSpPr/>
          <p:nvPr/>
        </p:nvSpPr>
        <p:spPr>
          <a:xfrm>
            <a:off x="5577840" y="2606040"/>
            <a:ext cx="3108960" cy="2240280"/>
          </a:xfrm>
          <a:prstGeom prst="roundRect">
            <a:avLst>
              <a:gd name="adj" fmla="val 4898"/>
            </a:avLst>
          </a:prstGeom>
          <a:solidFill>
            <a:srgbClr val="FFF3DC"/>
          </a:solidFill>
          <a:ln w="19050">
            <a:solidFill>
              <a:srgbClr val="F5E6C8"/>
            </a:solidFill>
            <a:prstDash val="solid"/>
          </a:ln>
        </p:spPr>
      </p:sp>
      <p:sp>
        <p:nvSpPr>
          <p:cNvPr id="12" name="Text 10"/>
          <p:cNvSpPr/>
          <p:nvPr/>
        </p:nvSpPr>
        <p:spPr>
          <a:xfrm>
            <a:off x="5715000" y="266090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15000" y="2862072"/>
            <a:ext cx="2834640" cy="1920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response needs... because the evidence is missing..."</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version would say... because the connection between environment and daily life requires..."</a:t>
            </a:r>
            <a:endParaRPr lang="en-US" sz="1200" dirty="0"/>
          </a:p>
        </p:txBody>
      </p:sp>
      <p:sp>
        <p:nvSpPr>
          <p:cNvPr id="15" name="Text 12"/>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E8636B"/>
                </a:solidFill>
                <a:latin typeface="Calibri" pitchFamily="34" charset="0"/>
                <a:ea typeface="Calibri" pitchFamily="34" charset="-122"/>
                <a:cs typeface="Calibri" pitchFamily="34" charset="-120"/>
              </a:rPr>
              <a:t>GUIDED PRACTICE  ·  THE TRICKY ONE</a:t>
            </a:r>
            <a:endParaRPr lang="en-US" sz="1000" dirty="0"/>
          </a:p>
        </p:txBody>
      </p:sp>
      <p:sp>
        <p:nvSpPr>
          <p:cNvPr id="4" name="Text 2"/>
          <p:cNvSpPr/>
          <p:nvPr/>
        </p:nvSpPr>
        <p:spPr>
          <a:xfrm>
            <a:off x="457200" y="475488"/>
            <a:ext cx="8229600" cy="347472"/>
          </a:xfrm>
          <a:prstGeom prst="rect">
            <a:avLst/>
          </a:prstGeom>
          <a:noFill/>
          <a:ln/>
        </p:spPr>
        <p:txBody>
          <a:bodyPr wrap="square" lIns="0" tIns="0" rIns="0" bIns="0" rtlCol="0" anchor="ctr"/>
          <a:lstStyle/>
          <a:p>
            <a:pPr indent="0" marL="0">
              <a:buNone/>
            </a:pPr>
            <a:r>
              <a:rPr lang="en-US" sz="1500" i="1" dirty="0">
                <a:solidFill>
                  <a:srgbClr val="0E1C42"/>
                </a:solidFill>
                <a:latin typeface="Cambria" pitchFamily="34" charset="0"/>
                <a:ea typeface="Cambria" pitchFamily="34" charset="-122"/>
                <a:cs typeface="Cambria" pitchFamily="34" charset="-120"/>
              </a:rPr>
              <a:t>A genuinely hard question — this one does not have a single right answer.</a:t>
            </a:r>
            <a:endParaRPr lang="en-US" sz="1500" dirty="0"/>
          </a:p>
        </p:txBody>
      </p:sp>
      <p:sp>
        <p:nvSpPr>
          <p:cNvPr id="5" name="Shape 3"/>
          <p:cNvSpPr/>
          <p:nvPr/>
        </p:nvSpPr>
        <p:spPr>
          <a:xfrm>
            <a:off x="457200" y="914400"/>
            <a:ext cx="8229600" cy="1417320"/>
          </a:xfrm>
          <a:prstGeom prst="roundRect">
            <a:avLst>
              <a:gd name="adj" fmla="val 7742"/>
            </a:avLst>
          </a:prstGeom>
          <a:solidFill>
            <a:srgbClr val="0E1C42"/>
          </a:solidFill>
          <a:ln w="25400">
            <a:solidFill>
              <a:srgbClr val="E8636B"/>
            </a:solidFill>
            <a:prstDash val="solid"/>
          </a:ln>
        </p:spPr>
      </p:sp>
      <p:sp>
        <p:nvSpPr>
          <p:cNvPr id="6" name="Text 4"/>
          <p:cNvSpPr/>
          <p:nvPr/>
        </p:nvSpPr>
        <p:spPr>
          <a:xfrm>
            <a:off x="640080" y="1005840"/>
            <a:ext cx="7863840" cy="2560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THE TRICKY ONE</a:t>
            </a:r>
            <a:endParaRPr lang="en-US" sz="900" dirty="0"/>
          </a:p>
        </p:txBody>
      </p:sp>
      <p:sp>
        <p:nvSpPr>
          <p:cNvPr id="7" name="Text 5"/>
          <p:cNvSpPr/>
          <p:nvPr/>
        </p:nvSpPr>
        <p:spPr>
          <a:xfrm>
            <a:off x="640080" y="1298448"/>
            <a:ext cx="7863840" cy="8229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If we only have oral history and no written records, can we still know what happened? What are the limits?</a:t>
            </a:r>
            <a:endParaRPr lang="en-US" sz="1800" dirty="0"/>
          </a:p>
        </p:txBody>
      </p:sp>
      <p:sp>
        <p:nvSpPr>
          <p:cNvPr id="8" name="Shape 6"/>
          <p:cNvSpPr/>
          <p:nvPr/>
        </p:nvSpPr>
        <p:spPr>
          <a:xfrm>
            <a:off x="457200" y="2468880"/>
            <a:ext cx="4937760" cy="2331720"/>
          </a:xfrm>
          <a:prstGeom prst="roundRect">
            <a:avLst>
              <a:gd name="adj" fmla="val 5882"/>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640080" y="256032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640080" y="2816352"/>
            <a:ext cx="4572000" cy="18928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oral history evidence? What makes it reliable or unreliable?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two oral traditions disagree about the same event — which do we trust?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argue TO someone who says 'it's not real history without writing'?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oral history preserve things that written records miss? What kinds of things?</a:t>
            </a:r>
            <a:endParaRPr lang="en-US" sz="1100" dirty="0"/>
          </a:p>
        </p:txBody>
      </p:sp>
      <p:sp>
        <p:nvSpPr>
          <p:cNvPr id="11" name="Shape 9"/>
          <p:cNvSpPr/>
          <p:nvPr/>
        </p:nvSpPr>
        <p:spPr>
          <a:xfrm>
            <a:off x="5577840" y="2468880"/>
            <a:ext cx="3108960" cy="2331720"/>
          </a:xfrm>
          <a:prstGeom prst="roundRect">
            <a:avLst>
              <a:gd name="adj" fmla="val 4706"/>
            </a:avLst>
          </a:prstGeom>
          <a:solidFill>
            <a:srgbClr val="FFF3DC"/>
          </a:solidFill>
          <a:ln w="19050">
            <a:solidFill>
              <a:srgbClr val="F5E6C8"/>
            </a:solidFill>
            <a:prstDash val="solid"/>
          </a:ln>
        </p:spPr>
      </p:sp>
      <p:sp>
        <p:nvSpPr>
          <p:cNvPr id="12" name="Text 10"/>
          <p:cNvSpPr/>
          <p:nvPr/>
        </p:nvSpPr>
        <p:spPr>
          <a:xfrm>
            <a:off x="5715000" y="252374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15000" y="2724912"/>
            <a:ext cx="2834640" cy="2011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"Oral history CAN tell us... because the evidence shows... but it CANNOT tell us...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argue that oral tradition is/is not valid history because..."</a:t>
            </a:r>
            <a:endParaRPr lang="en-US" sz="1200" dirty="0"/>
          </a:p>
        </p:txBody>
      </p:sp>
      <p:sp>
        <p:nvSpPr>
          <p:cNvPr id="15" name="Text 12"/>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82880"/>
            <a:ext cx="8229600" cy="256032"/>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QUICK SELF-CHECK</a:t>
            </a:r>
            <a:endParaRPr lang="en-US" sz="1000" dirty="0"/>
          </a:p>
        </p:txBody>
      </p:sp>
      <p:sp>
        <p:nvSpPr>
          <p:cNvPr id="4" name="Text 2"/>
          <p:cNvSpPr/>
          <p:nvPr/>
        </p:nvSpPr>
        <p:spPr>
          <a:xfrm>
            <a:off x="457200" y="457200"/>
            <a:ext cx="8229600" cy="347472"/>
          </a:xfrm>
          <a:prstGeom prst="rect">
            <a:avLst/>
          </a:prstGeom>
          <a:noFill/>
          <a:ln/>
        </p:spPr>
        <p:txBody>
          <a:bodyPr wrap="square" lIns="0" tIns="0" rIns="0" bIns="0" rtlCol="0" anchor="ctr"/>
          <a:lstStyle/>
          <a:p>
            <a:pPr indent="0" marL="0">
              <a:buNone/>
            </a:pPr>
            <a:r>
              <a:rPr lang="en-US" sz="1500" i="1" dirty="0">
                <a:solidFill>
                  <a:srgbClr val="0E1C42"/>
                </a:solidFill>
                <a:latin typeface="Cambria" pitchFamily="34" charset="0"/>
                <a:ea typeface="Cambria" pitchFamily="34" charset="-122"/>
                <a:cs typeface="Cambria" pitchFamily="34" charset="-120"/>
              </a:rPr>
              <a:t>Cover your screen after reading — answer from memory.</a:t>
            </a:r>
            <a:endParaRPr lang="en-US" sz="1500" dirty="0"/>
          </a:p>
        </p:txBody>
      </p:sp>
      <p:sp>
        <p:nvSpPr>
          <p:cNvPr id="5" name="Shape 3"/>
          <p:cNvSpPr/>
          <p:nvPr/>
        </p:nvSpPr>
        <p:spPr>
          <a:xfrm>
            <a:off x="457200" y="914400"/>
            <a:ext cx="4114800" cy="1097280"/>
          </a:xfrm>
          <a:prstGeom prst="roundRect">
            <a:avLst>
              <a:gd name="adj" fmla="val 8333"/>
            </a:avLst>
          </a:prstGeom>
          <a:solidFill>
            <a:srgbClr val="F7F9FF"/>
          </a:solidFill>
          <a:ln w="12700">
            <a:solidFill>
              <a:srgbClr val="B0B8CC"/>
            </a:solidFill>
            <a:prstDash val="solid"/>
          </a:ln>
        </p:spPr>
      </p:sp>
      <p:sp>
        <p:nvSpPr>
          <p:cNvPr id="6" name="Text 4"/>
          <p:cNvSpPr/>
          <p:nvPr/>
        </p:nvSpPr>
        <p:spPr>
          <a:xfrm>
            <a:off x="594360" y="987552"/>
            <a:ext cx="457200" cy="256032"/>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Q1</a:t>
            </a:r>
            <a:endParaRPr lang="en-US" sz="1100" dirty="0"/>
          </a:p>
        </p:txBody>
      </p:sp>
      <p:sp>
        <p:nvSpPr>
          <p:cNvPr id="7" name="Text 5"/>
          <p:cNvSpPr/>
          <p:nvPr/>
        </p:nvSpPr>
        <p:spPr>
          <a:xfrm>
            <a:off x="594360" y="1216152"/>
            <a:ext cx="3749040" cy="71323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Which people lived in the northwest panhandle and farmed corn, beans, and squash?</a:t>
            </a:r>
            <a:endParaRPr lang="en-US" sz="1200" dirty="0"/>
          </a:p>
        </p:txBody>
      </p:sp>
      <p:sp>
        <p:nvSpPr>
          <p:cNvPr id="8" name="Shape 6"/>
          <p:cNvSpPr/>
          <p:nvPr/>
        </p:nvSpPr>
        <p:spPr>
          <a:xfrm>
            <a:off x="4754880" y="914400"/>
            <a:ext cx="3931920" cy="1097280"/>
          </a:xfrm>
          <a:prstGeom prst="roundRect">
            <a:avLst>
              <a:gd name="adj" fmla="val 8333"/>
            </a:avLst>
          </a:prstGeom>
          <a:solidFill>
            <a:srgbClr val="E8F5EF"/>
          </a:solidFill>
          <a:ln w="12700">
            <a:solidFill>
              <a:srgbClr val="34B76F"/>
            </a:solidFill>
            <a:prstDash val="solid"/>
          </a:ln>
        </p:spPr>
      </p:sp>
      <p:sp>
        <p:nvSpPr>
          <p:cNvPr id="9" name="Text 7"/>
          <p:cNvSpPr/>
          <p:nvPr/>
        </p:nvSpPr>
        <p:spPr>
          <a:xfrm>
            <a:off x="4892040" y="987552"/>
            <a:ext cx="356616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ANSWER</a:t>
            </a:r>
            <a:endParaRPr lang="en-US" sz="900" dirty="0"/>
          </a:p>
        </p:txBody>
      </p:sp>
      <p:sp>
        <p:nvSpPr>
          <p:cNvPr id="10" name="Text 8"/>
          <p:cNvSpPr/>
          <p:nvPr/>
        </p:nvSpPr>
        <p:spPr>
          <a:xfrm>
            <a:off x="4892040" y="1216152"/>
            <a:ext cx="3566160" cy="71323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Apalachee — they built farming villages in the rich hills near present-day Tallahassee</a:t>
            </a:r>
            <a:endParaRPr lang="en-US" sz="1200" dirty="0"/>
          </a:p>
        </p:txBody>
      </p:sp>
      <p:sp>
        <p:nvSpPr>
          <p:cNvPr id="11" name="Shape 9"/>
          <p:cNvSpPr/>
          <p:nvPr/>
        </p:nvSpPr>
        <p:spPr>
          <a:xfrm>
            <a:off x="457200" y="2194560"/>
            <a:ext cx="4114800" cy="1097280"/>
          </a:xfrm>
          <a:prstGeom prst="roundRect">
            <a:avLst>
              <a:gd name="adj" fmla="val 8333"/>
            </a:avLst>
          </a:prstGeom>
          <a:solidFill>
            <a:srgbClr val="F7F9FF"/>
          </a:solidFill>
          <a:ln w="12700">
            <a:solidFill>
              <a:srgbClr val="B0B8CC"/>
            </a:solidFill>
            <a:prstDash val="solid"/>
          </a:ln>
        </p:spPr>
      </p:sp>
      <p:sp>
        <p:nvSpPr>
          <p:cNvPr id="12" name="Text 10"/>
          <p:cNvSpPr/>
          <p:nvPr/>
        </p:nvSpPr>
        <p:spPr>
          <a:xfrm>
            <a:off x="594360" y="2267712"/>
            <a:ext cx="457200" cy="256032"/>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Q2</a:t>
            </a:r>
            <a:endParaRPr lang="en-US" sz="1100" dirty="0"/>
          </a:p>
        </p:txBody>
      </p:sp>
      <p:sp>
        <p:nvSpPr>
          <p:cNvPr id="13" name="Text 11"/>
          <p:cNvSpPr/>
          <p:nvPr/>
        </p:nvSpPr>
        <p:spPr>
          <a:xfrm>
            <a:off x="594360" y="2496312"/>
            <a:ext cx="3749040" cy="71323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What do the enormous Calusa shell mounds tell us about how they got most of their food?</a:t>
            </a:r>
            <a:endParaRPr lang="en-US" sz="1200" dirty="0"/>
          </a:p>
        </p:txBody>
      </p:sp>
      <p:sp>
        <p:nvSpPr>
          <p:cNvPr id="14" name="Shape 12"/>
          <p:cNvSpPr/>
          <p:nvPr/>
        </p:nvSpPr>
        <p:spPr>
          <a:xfrm>
            <a:off x="4754880" y="2194560"/>
            <a:ext cx="3931920" cy="1097280"/>
          </a:xfrm>
          <a:prstGeom prst="roundRect">
            <a:avLst>
              <a:gd name="adj" fmla="val 8333"/>
            </a:avLst>
          </a:prstGeom>
          <a:solidFill>
            <a:srgbClr val="E8F5EF"/>
          </a:solidFill>
          <a:ln w="12700">
            <a:solidFill>
              <a:srgbClr val="34B76F"/>
            </a:solidFill>
            <a:prstDash val="solid"/>
          </a:ln>
        </p:spPr>
      </p:sp>
      <p:sp>
        <p:nvSpPr>
          <p:cNvPr id="15" name="Text 13"/>
          <p:cNvSpPr/>
          <p:nvPr/>
        </p:nvSpPr>
        <p:spPr>
          <a:xfrm>
            <a:off x="4892040" y="2267712"/>
            <a:ext cx="356616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ANSWER</a:t>
            </a:r>
            <a:endParaRPr lang="en-US" sz="900" dirty="0"/>
          </a:p>
        </p:txBody>
      </p:sp>
      <p:sp>
        <p:nvSpPr>
          <p:cNvPr id="16" name="Text 14"/>
          <p:cNvSpPr/>
          <p:nvPr/>
        </p:nvSpPr>
        <p:spPr>
          <a:xfrm>
            <a:off x="4892040" y="2496312"/>
            <a:ext cx="3566160" cy="71323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They relied heavily on the sea — fish, oysters, and shellfish — for centuries</a:t>
            </a:r>
            <a:endParaRPr lang="en-US" sz="1200" dirty="0"/>
          </a:p>
        </p:txBody>
      </p:sp>
      <p:sp>
        <p:nvSpPr>
          <p:cNvPr id="17" name="Shape 15"/>
          <p:cNvSpPr/>
          <p:nvPr/>
        </p:nvSpPr>
        <p:spPr>
          <a:xfrm>
            <a:off x="457200" y="3474720"/>
            <a:ext cx="4114800" cy="1097280"/>
          </a:xfrm>
          <a:prstGeom prst="roundRect">
            <a:avLst>
              <a:gd name="adj" fmla="val 8333"/>
            </a:avLst>
          </a:prstGeom>
          <a:solidFill>
            <a:srgbClr val="F7F9FF"/>
          </a:solidFill>
          <a:ln w="12700">
            <a:solidFill>
              <a:srgbClr val="B0B8CC"/>
            </a:solidFill>
            <a:prstDash val="solid"/>
          </a:ln>
        </p:spPr>
      </p:sp>
      <p:sp>
        <p:nvSpPr>
          <p:cNvPr id="18" name="Text 16"/>
          <p:cNvSpPr/>
          <p:nvPr/>
        </p:nvSpPr>
        <p:spPr>
          <a:xfrm>
            <a:off x="594360" y="3547872"/>
            <a:ext cx="457200" cy="256032"/>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Q3</a:t>
            </a:r>
            <a:endParaRPr lang="en-US" sz="1100" dirty="0"/>
          </a:p>
        </p:txBody>
      </p:sp>
      <p:sp>
        <p:nvSpPr>
          <p:cNvPr id="19" name="Text 17"/>
          <p:cNvSpPr/>
          <p:nvPr/>
        </p:nvSpPr>
        <p:spPr>
          <a:xfrm>
            <a:off x="594360" y="3776472"/>
            <a:ext cx="3749040" cy="71323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Someone claims all of Florida's first peoples lived the same way. What's the historian's response?</a:t>
            </a:r>
            <a:endParaRPr lang="en-US" sz="1200" dirty="0"/>
          </a:p>
        </p:txBody>
      </p:sp>
      <p:sp>
        <p:nvSpPr>
          <p:cNvPr id="20" name="Shape 18"/>
          <p:cNvSpPr/>
          <p:nvPr/>
        </p:nvSpPr>
        <p:spPr>
          <a:xfrm>
            <a:off x="4754880" y="3474720"/>
            <a:ext cx="3931920" cy="1097280"/>
          </a:xfrm>
          <a:prstGeom prst="roundRect">
            <a:avLst>
              <a:gd name="adj" fmla="val 8333"/>
            </a:avLst>
          </a:prstGeom>
          <a:solidFill>
            <a:srgbClr val="E8F5EF"/>
          </a:solidFill>
          <a:ln w="12700">
            <a:solidFill>
              <a:srgbClr val="34B76F"/>
            </a:solidFill>
            <a:prstDash val="solid"/>
          </a:ln>
        </p:spPr>
      </p:sp>
      <p:sp>
        <p:nvSpPr>
          <p:cNvPr id="21" name="Text 19"/>
          <p:cNvSpPr/>
          <p:nvPr/>
        </p:nvSpPr>
        <p:spPr>
          <a:xfrm>
            <a:off x="4892040" y="3547872"/>
            <a:ext cx="356616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ANSWER</a:t>
            </a:r>
            <a:endParaRPr lang="en-US" sz="900" dirty="0"/>
          </a:p>
        </p:txBody>
      </p:sp>
      <p:sp>
        <p:nvSpPr>
          <p:cNvPr id="22" name="Text 20"/>
          <p:cNvSpPr/>
          <p:nvPr/>
        </p:nvSpPr>
        <p:spPr>
          <a:xfrm>
            <a:off x="4892040" y="3776472"/>
            <a:ext cx="3566160" cy="71323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Show evidence that different regions had different ways of living — farmers in the north, shell-mound builders in the southwest</a:t>
            </a:r>
            <a:endParaRPr lang="en-US" sz="1200" dirty="0"/>
          </a:p>
        </p:txBody>
      </p:sp>
      <p:sp>
        <p:nvSpPr>
          <p:cNvPr id="24" name="Text 21"/>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indent="0" marL="0">
              <a:buNone/>
            </a:pPr>
            <a:r>
              <a:rPr lang="en-US" sz="1000" b="1" spc="200" kern="0" dirty="0">
                <a:solidFill>
                  <a:srgbClr val="0E1C42"/>
                </a:solidFill>
                <a:latin typeface="Calibri" pitchFamily="34" charset="0"/>
                <a:ea typeface="Calibri" pitchFamily="34" charset="-122"/>
                <a:cs typeface="Calibri" pitchFamily="34" charset="-120"/>
              </a:rPr>
              <a:t>ASSIGNMENT  ·  YOUR HISTORIAN'S NOTEBOOK ENTRY</a:t>
            </a:r>
            <a:endParaRPr lang="en-US" sz="1000" dirty="0"/>
          </a:p>
        </p:txBody>
      </p:sp>
      <p:sp>
        <p:nvSpPr>
          <p:cNvPr id="4" name="Text 2"/>
          <p:cNvSpPr/>
          <p:nvPr/>
        </p:nvSpPr>
        <p:spPr>
          <a:xfrm>
            <a:off x="457200" y="438912"/>
            <a:ext cx="8229600" cy="292608"/>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Exact question wording from your Canvas lesson.</a:t>
            </a:r>
            <a:endParaRPr lang="en-US" sz="1300" dirty="0"/>
          </a:p>
        </p:txBody>
      </p:sp>
      <p:sp>
        <p:nvSpPr>
          <p:cNvPr id="5" name="Shape 3"/>
          <p:cNvSpPr/>
          <p:nvPr/>
        </p:nvSpPr>
        <p:spPr>
          <a:xfrm>
            <a:off x="457200" y="804672"/>
            <a:ext cx="8229600" cy="804672"/>
          </a:xfrm>
          <a:prstGeom prst="roundRect">
            <a:avLst>
              <a:gd name="adj" fmla="val 11364"/>
            </a:avLst>
          </a:prstGeom>
          <a:solidFill>
            <a:srgbClr val="FFFFFF"/>
          </a:solidFill>
          <a:ln w="12700">
            <a:solidFill>
              <a:srgbClr val="B0B8CC"/>
            </a:solidFill>
            <a:prstDash val="solid"/>
          </a:ln>
        </p:spPr>
      </p:sp>
      <p:sp>
        <p:nvSpPr>
          <p:cNvPr id="6" name="Text 4"/>
          <p:cNvSpPr/>
          <p:nvPr/>
        </p:nvSpPr>
        <p:spPr>
          <a:xfrm>
            <a:off x="594360" y="868680"/>
            <a:ext cx="1371600" cy="219456"/>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Evidence Q1</a:t>
            </a:r>
            <a:endParaRPr lang="en-US" sz="900" dirty="0"/>
          </a:p>
        </p:txBody>
      </p:sp>
      <p:sp>
        <p:nvSpPr>
          <p:cNvPr id="7" name="Text 5"/>
          <p:cNvSpPr/>
          <p:nvPr/>
        </p:nvSpPr>
        <p:spPr>
          <a:xfrm>
            <a:off x="594360" y="1078992"/>
            <a:ext cx="5852160" cy="475488"/>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Name two of Florida's first peoples and the region where each lived.</a:t>
            </a:r>
            <a:endParaRPr lang="en-US" sz="1300" dirty="0"/>
          </a:p>
        </p:txBody>
      </p:sp>
      <p:sp>
        <p:nvSpPr>
          <p:cNvPr id="8" name="Text 6"/>
          <p:cNvSpPr/>
          <p:nvPr/>
        </p:nvSpPr>
        <p:spPr>
          <a:xfrm>
            <a:off x="6675120" y="868680"/>
            <a:ext cx="1737360" cy="658368"/>
          </a:xfrm>
          <a:prstGeom prst="rect">
            <a:avLst/>
          </a:prstGeom>
          <a:noFill/>
          <a:ln/>
        </p:spPr>
        <p:txBody>
          <a:bodyPr wrap="square" lIns="0" tIns="0" rIns="0" bIns="0" rtlCol="0" anchor="t"/>
          <a:lstStyle/>
          <a:p>
            <a:pPr indent="0" marL="0">
              <a:buNone/>
            </a:pPr>
            <a:r>
              <a:rPr lang="en-US" sz="1000" i="1" dirty="0">
                <a:solidFill>
                  <a:srgbClr val="7A88A8"/>
                </a:solidFill>
                <a:latin typeface="Calibri" pitchFamily="34" charset="0"/>
                <a:ea typeface="Calibri" pitchFamily="34" charset="-122"/>
                <a:cs typeface="Calibri" pitchFamily="34" charset="-120"/>
              </a:rPr>
              <a:t>Use the lesson and the Time Echo to support your answer.</a:t>
            </a:r>
            <a:endParaRPr lang="en-US" sz="1000" dirty="0"/>
          </a:p>
        </p:txBody>
      </p:sp>
      <p:sp>
        <p:nvSpPr>
          <p:cNvPr id="9" name="Shape 7"/>
          <p:cNvSpPr/>
          <p:nvPr/>
        </p:nvSpPr>
        <p:spPr>
          <a:xfrm>
            <a:off x="457200" y="1719072"/>
            <a:ext cx="8229600" cy="804672"/>
          </a:xfrm>
          <a:prstGeom prst="roundRect">
            <a:avLst>
              <a:gd name="adj" fmla="val 11364"/>
            </a:avLst>
          </a:prstGeom>
          <a:solidFill>
            <a:srgbClr val="FFFFFF"/>
          </a:solidFill>
          <a:ln w="12700">
            <a:solidFill>
              <a:srgbClr val="B0B8CC"/>
            </a:solidFill>
            <a:prstDash val="solid"/>
          </a:ln>
        </p:spPr>
      </p:sp>
      <p:sp>
        <p:nvSpPr>
          <p:cNvPr id="10" name="Text 8"/>
          <p:cNvSpPr/>
          <p:nvPr/>
        </p:nvSpPr>
        <p:spPr>
          <a:xfrm>
            <a:off x="594360" y="1783080"/>
            <a:ext cx="1371600" cy="219456"/>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Evidence Q2</a:t>
            </a:r>
            <a:endParaRPr lang="en-US" sz="900" dirty="0"/>
          </a:p>
        </p:txBody>
      </p:sp>
      <p:sp>
        <p:nvSpPr>
          <p:cNvPr id="11" name="Text 9"/>
          <p:cNvSpPr/>
          <p:nvPr/>
        </p:nvSpPr>
        <p:spPr>
          <a:xfrm>
            <a:off x="594360" y="1993392"/>
            <a:ext cx="5852160" cy="475488"/>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Pick one of those peoples. How did the land or water near them shape one part of their daily life?</a:t>
            </a:r>
            <a:endParaRPr lang="en-US" sz="1300" dirty="0"/>
          </a:p>
        </p:txBody>
      </p:sp>
      <p:sp>
        <p:nvSpPr>
          <p:cNvPr id="12" name="Text 10"/>
          <p:cNvSpPr/>
          <p:nvPr/>
        </p:nvSpPr>
        <p:spPr>
          <a:xfrm>
            <a:off x="6675120" y="1783080"/>
            <a:ext cx="1737360" cy="658368"/>
          </a:xfrm>
          <a:prstGeom prst="rect">
            <a:avLst/>
          </a:prstGeom>
          <a:noFill/>
          <a:ln/>
        </p:spPr>
        <p:txBody>
          <a:bodyPr wrap="square" lIns="0" tIns="0" rIns="0" bIns="0" rtlCol="0" anchor="t"/>
          <a:lstStyle/>
          <a:p>
            <a:pPr indent="0" marL="0">
              <a:buNone/>
            </a:pPr>
            <a:r>
              <a:rPr lang="en-US" sz="1000" i="1" dirty="0">
                <a:solidFill>
                  <a:srgbClr val="7A88A8"/>
                </a:solidFill>
                <a:latin typeface="Calibri" pitchFamily="34" charset="0"/>
                <a:ea typeface="Calibri" pitchFamily="34" charset="-122"/>
                <a:cs typeface="Calibri" pitchFamily="34" charset="-120"/>
              </a:rPr>
              <a:t>Connect the environment (what was nearby) to a specific way they lived (food, shelter, travel, or work).</a:t>
            </a:r>
            <a:endParaRPr lang="en-US" sz="1000" dirty="0"/>
          </a:p>
        </p:txBody>
      </p:sp>
      <p:sp>
        <p:nvSpPr>
          <p:cNvPr id="13" name="Shape 11"/>
          <p:cNvSpPr/>
          <p:nvPr/>
        </p:nvSpPr>
        <p:spPr>
          <a:xfrm>
            <a:off x="457200" y="2633472"/>
            <a:ext cx="8229600" cy="804672"/>
          </a:xfrm>
          <a:prstGeom prst="roundRect">
            <a:avLst>
              <a:gd name="adj" fmla="val 11364"/>
            </a:avLst>
          </a:prstGeom>
          <a:solidFill>
            <a:srgbClr val="FFFFFF"/>
          </a:solidFill>
          <a:ln w="12700">
            <a:solidFill>
              <a:srgbClr val="B0B8CC"/>
            </a:solidFill>
            <a:prstDash val="solid"/>
          </a:ln>
        </p:spPr>
      </p:sp>
      <p:sp>
        <p:nvSpPr>
          <p:cNvPr id="14" name="Text 12"/>
          <p:cNvSpPr/>
          <p:nvPr/>
        </p:nvSpPr>
        <p:spPr>
          <a:xfrm>
            <a:off x="594360" y="2697480"/>
            <a:ext cx="1371600" cy="219456"/>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Evidence Q3</a:t>
            </a:r>
            <a:endParaRPr lang="en-US" sz="900" dirty="0"/>
          </a:p>
        </p:txBody>
      </p:sp>
      <p:sp>
        <p:nvSpPr>
          <p:cNvPr id="15" name="Text 13"/>
          <p:cNvSpPr/>
          <p:nvPr/>
        </p:nvSpPr>
        <p:spPr>
          <a:xfrm>
            <a:off x="594360" y="2907792"/>
            <a:ext cx="5852160" cy="475488"/>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Why does it matter that Florida had many different peoples before Europeans arrived, not just one? Use the word service somewhere in your answer.</a:t>
            </a:r>
            <a:endParaRPr lang="en-US" sz="1300" dirty="0"/>
          </a:p>
        </p:txBody>
      </p:sp>
      <p:sp>
        <p:nvSpPr>
          <p:cNvPr id="16" name="Text 14"/>
          <p:cNvSpPr/>
          <p:nvPr/>
        </p:nvSpPr>
        <p:spPr>
          <a:xfrm>
            <a:off x="6675120" y="2697480"/>
            <a:ext cx="1737360" cy="658368"/>
          </a:xfrm>
          <a:prstGeom prst="rect">
            <a:avLst/>
          </a:prstGeom>
          <a:noFill/>
          <a:ln/>
        </p:spPr>
        <p:txBody>
          <a:bodyPr wrap="square" lIns="0" tIns="0" rIns="0" bIns="0" rtlCol="0" anchor="t"/>
          <a:lstStyle/>
          <a:p>
            <a:pPr indent="0" marL="0">
              <a:buNone/>
            </a:pPr>
            <a:r>
              <a:rPr lang="en-US" sz="1000" i="1" dirty="0">
                <a:solidFill>
                  <a:srgbClr val="7A88A8"/>
                </a:solidFill>
                <a:latin typeface="Calibri" pitchFamily="34" charset="0"/>
                <a:ea typeface="Calibri" pitchFamily="34" charset="-122"/>
                <a:cs typeface="Calibri" pitchFamily="34" charset="-120"/>
              </a:rPr>
              <a:t>Connect service to the lesson's virtue spotlight.</a:t>
            </a:r>
            <a:endParaRPr lang="en-US" sz="1000" dirty="0"/>
          </a:p>
        </p:txBody>
      </p:sp>
      <p:sp>
        <p:nvSpPr>
          <p:cNvPr id="17" name="Shape 15"/>
          <p:cNvSpPr/>
          <p:nvPr/>
        </p:nvSpPr>
        <p:spPr>
          <a:xfrm>
            <a:off x="457200" y="3611880"/>
            <a:ext cx="8229600" cy="1261872"/>
          </a:xfrm>
          <a:prstGeom prst="roundRect">
            <a:avLst>
              <a:gd name="adj" fmla="val 8696"/>
            </a:avLst>
          </a:prstGeom>
          <a:solidFill>
            <a:srgbClr val="0E1C42"/>
          </a:solidFill>
          <a:ln w="19050">
            <a:solidFill>
              <a:srgbClr val="34B76F"/>
            </a:solidFill>
            <a:prstDash val="solid"/>
          </a:ln>
        </p:spPr>
      </p:sp>
      <p:sp>
        <p:nvSpPr>
          <p:cNvPr id="18" name="Text 16"/>
          <p:cNvSpPr/>
          <p:nvPr/>
        </p:nvSpPr>
        <p:spPr>
          <a:xfrm>
            <a:off x="640080" y="3703320"/>
            <a:ext cx="7863840" cy="256032"/>
          </a:xfrm>
          <a:prstGeom prst="rect">
            <a:avLst/>
          </a:prstGeom>
          <a:noFill/>
          <a:ln/>
        </p:spPr>
        <p:txBody>
          <a:bodyPr wrap="square" lIns="0" tIns="0" rIns="0" bIns="0" rtlCol="0" anchor="ctr"/>
          <a:lstStyle/>
          <a:p>
            <a:pPr indent="0" marL="0">
              <a:buNone/>
            </a:pPr>
            <a:r>
              <a:rPr lang="en-US" sz="1000" b="1" spc="100" kern="0" dirty="0">
                <a:solidFill>
                  <a:srgbClr val="34B76F"/>
                </a:solidFill>
                <a:latin typeface="Calibri" pitchFamily="34" charset="0"/>
                <a:ea typeface="Calibri" pitchFamily="34" charset="-122"/>
                <a:cs typeface="Calibri" pitchFamily="34" charset="-120"/>
              </a:rPr>
              <a:t>UNLOCK CHALLENGE — Historian's Notebook Entry</a:t>
            </a:r>
            <a:endParaRPr lang="en-US" sz="1000" dirty="0"/>
          </a:p>
        </p:txBody>
      </p:sp>
      <p:sp>
        <p:nvSpPr>
          <p:cNvPr id="19" name="Text 17"/>
          <p:cNvSpPr/>
          <p:nvPr/>
        </p:nvSpPr>
        <p:spPr>
          <a:xfrm>
            <a:off x="640080" y="3986784"/>
            <a:ext cx="7863840" cy="822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Pick one of Florida's four first peoples and write 3-4 sentences. Include: (1) which people you chose, (2) the region where they lived, (3) one important detail about how they lived, and (4) one piece of evidence that supports what you wrote.</a:t>
            </a:r>
            <a:endParaRPr lang="en-US" sz="1200" dirty="0"/>
          </a:p>
        </p:txBody>
      </p:sp>
      <p:sp>
        <p:nvSpPr>
          <p:cNvPr id="21" name="Text 18"/>
          <p:cNvSpPr/>
          <p:nvPr/>
        </p:nvSpPr>
        <p:spPr>
          <a:xfrm>
            <a:off x="8686800" y="4846320"/>
            <a:ext cx="365760" cy="228600"/>
          </a:xfrm>
          <a:prstGeom prst="rect">
            <a:avLst/>
          </a:prstGeom>
          <a:noFill/>
          <a:ln/>
        </p:spPr>
        <p:txBody>
          <a:bodyPr wrap="square" lIns="0" tIns="0" rIns="0" bIns="0" rtlCol="0" anchor="ctr"/>
          <a:lstStyle/>
          <a:p>
            <a:pPr algn="r" indent="0" marL="0">
              <a:buNone/>
            </a:pPr>
            <a:r>
              <a:rPr lang="en-US" sz="900" dirty="0">
                <a:solidFill>
                  <a:srgbClr val="B0B8CC"/>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548640" y="457200"/>
            <a:ext cx="8046720" cy="292608"/>
          </a:xfrm>
          <a:prstGeom prst="rect">
            <a:avLst/>
          </a:prstGeom>
          <a:noFill/>
          <a:ln/>
        </p:spPr>
        <p:txBody>
          <a:bodyPr wrap="square" lIns="0" tIns="0" rIns="0" bIns="0" rtlCol="0" anchor="ctr"/>
          <a:lstStyle/>
          <a:p>
            <a:pPr indent="0" marL="0">
              <a:buNone/>
            </a:pPr>
            <a:r>
              <a:rPr lang="en-US" sz="1000" b="1" spc="200" kern="0" dirty="0">
                <a:solidFill>
                  <a:srgbClr val="34B76F"/>
                </a:solidFill>
                <a:latin typeface="Calibri" pitchFamily="34" charset="0"/>
                <a:ea typeface="Calibri" pitchFamily="34" charset="-122"/>
                <a:cs typeface="Calibri" pitchFamily="34" charset="-120"/>
              </a:rPr>
              <a:t>FILE UNLOCKED</a:t>
            </a:r>
            <a:endParaRPr lang="en-US" sz="1000" dirty="0"/>
          </a:p>
        </p:txBody>
      </p:sp>
      <p:sp>
        <p:nvSpPr>
          <p:cNvPr id="6" name="Text 3"/>
          <p:cNvSpPr/>
          <p:nvPr/>
        </p:nvSpPr>
        <p:spPr>
          <a:xfrm>
            <a:off x="548640" y="777240"/>
            <a:ext cx="8046720" cy="13716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First Peoples File</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is Open</a:t>
            </a:r>
            <a:endParaRPr lang="en-US" sz="3800" dirty="0"/>
          </a:p>
        </p:txBody>
      </p:sp>
      <p:sp>
        <p:nvSpPr>
          <p:cNvPr id="7" name="Shape 4"/>
          <p:cNvSpPr/>
          <p:nvPr/>
        </p:nvSpPr>
        <p:spPr>
          <a:xfrm>
            <a:off x="548640" y="2212848"/>
            <a:ext cx="3657600" cy="36576"/>
          </a:xfrm>
          <a:prstGeom prst="rect">
            <a:avLst/>
          </a:prstGeom>
          <a:solidFill>
            <a:srgbClr val="34B76F"/>
          </a:solidFill>
          <a:ln w="12700">
            <a:solidFill>
              <a:srgbClr val="34B76F"/>
            </a:solidFill>
            <a:prstDash val="solid"/>
          </a:ln>
        </p:spPr>
      </p:sp>
      <p:sp>
        <p:nvSpPr>
          <p:cNvPr id="8" name="Text 5"/>
          <p:cNvSpPr/>
          <p:nvPr/>
        </p:nvSpPr>
        <p:spPr>
          <a:xfrm>
            <a:off x="548640" y="2331720"/>
            <a:ext cx="8046720" cy="8686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Florida's first peoples adapted to the land, water, climate, and resources around them. You've opened the First Peoples file — the course path is one step clearer.</a:t>
            </a:r>
            <a:endParaRPr lang="en-US" sz="1500" dirty="0"/>
          </a:p>
        </p:txBody>
      </p:sp>
      <p:sp>
        <p:nvSpPr>
          <p:cNvPr id="9" name="Shape 6"/>
          <p:cNvSpPr/>
          <p:nvPr/>
        </p:nvSpPr>
        <p:spPr>
          <a:xfrm>
            <a:off x="548640" y="3310128"/>
            <a:ext cx="8046720" cy="1463040"/>
          </a:xfrm>
          <a:prstGeom prst="roundRect">
            <a:avLst>
              <a:gd name="adj" fmla="val 7500"/>
            </a:avLst>
          </a:prstGeom>
          <a:solidFill>
            <a:srgbClr val="1A2D5A"/>
          </a:solidFill>
          <a:ln w="19050">
            <a:solidFill>
              <a:srgbClr val="34B76F"/>
            </a:solidFill>
            <a:prstDash val="solid"/>
          </a:ln>
        </p:spPr>
      </p:sp>
      <p:sp>
        <p:nvSpPr>
          <p:cNvPr id="10" name="Text 7"/>
          <p:cNvSpPr/>
          <p:nvPr/>
        </p:nvSpPr>
        <p:spPr>
          <a:xfrm>
            <a:off x="731520" y="3401568"/>
            <a:ext cx="7680960" cy="256032"/>
          </a:xfrm>
          <a:prstGeom prst="rect">
            <a:avLst/>
          </a:prstGeom>
          <a:noFill/>
          <a:ln/>
        </p:spPr>
        <p:txBody>
          <a:bodyPr wrap="square" lIns="0" tIns="0" rIns="0" bIns="0" rtlCol="0" anchor="ctr"/>
          <a:lstStyle/>
          <a:p>
            <a:pPr indent="0" marL="0">
              <a:buNone/>
            </a:pPr>
            <a:r>
              <a:rPr lang="en-US" sz="1000" b="1" spc="150" kern="0" dirty="0">
                <a:solidFill>
                  <a:srgbClr val="34B76F"/>
                </a:solidFill>
                <a:latin typeface="Calibri" pitchFamily="34" charset="0"/>
                <a:ea typeface="Calibri" pitchFamily="34" charset="-122"/>
                <a:cs typeface="Calibri" pitchFamily="34" charset="-120"/>
              </a:rPr>
              <a:t>COMING NEXT:</a:t>
            </a:r>
            <a:endParaRPr lang="en-US" sz="1000" dirty="0"/>
          </a:p>
        </p:txBody>
      </p:sp>
      <p:sp>
        <p:nvSpPr>
          <p:cNvPr id="11" name="Text 8"/>
          <p:cNvSpPr/>
          <p:nvPr/>
        </p:nvSpPr>
        <p:spPr>
          <a:xfrm>
            <a:off x="731520" y="3694176"/>
            <a:ext cx="7680960" cy="914400"/>
          </a:xfrm>
          <a:prstGeom prst="rect">
            <a:avLst/>
          </a:prstGeom>
          <a:noFill/>
          <a:ln/>
        </p:spPr>
        <p:txBody>
          <a:bodyPr wrap="square" lIns="0" tIns="0" rIns="0" bIns="0" rtlCol="0" anchor="t"/>
          <a:lstStyle/>
          <a:p>
            <a:pPr indent="0" marL="0">
              <a:buNone/>
            </a:pPr>
            <a:r>
              <a:rPr lang="en-US" sz="1400" i="1" dirty="0">
                <a:solidFill>
                  <a:srgbClr val="FFFFFF"/>
                </a:solidFill>
                <a:latin typeface="Calibri" pitchFamily="34" charset="0"/>
                <a:ea typeface="Calibri" pitchFamily="34" charset="-122"/>
                <a:cs typeface="Calibri" pitchFamily="34" charset="-120"/>
              </a:rPr>
              <a:t>The First Floridians file isn't done yet. Next session we pull in two source images side by side — a Timucua village engraving and a Calusa artifact — and compare two of these peoples up close. Bring your Historian's Notebook and sharp eyes.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2026-07-13T20:35:37Z</dcterms:created>
  <dcterms:modified xsi:type="dcterms:W3CDTF">2026-07-13T20:35:37Z</dcterms:modified>
</cp:coreProperties>
</file>