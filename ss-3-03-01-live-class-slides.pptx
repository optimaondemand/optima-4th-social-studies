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gallery opens: Cartography. Maps are not neutral — they show what their makers thought was important. Today students learn the essential elements every trustworthy map must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dramatically. The phrase 'a beautiful lie' will stick with students. Maps are arguments — they argue for a particular view of the world. Every choice a cartographer makes (what to include, how large to show it, what to label) shapes how readers understand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six. KEY POINT: 'Without the legend, you can't read the colors. Without the scale, you can't know how far things really are. Without the title, you don't know what you're looking at. Every element does a specific job.' Ask: 'Which one do you think matters most —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'soldier marching 300 miles wrong' is inspired by real historical navigation errors. Scale mistakes are one of the most common cartographic errors even today — GPS systems occasionally have scale errors that send drivers off bridges. Ask: 'Why do you think a map of a neighborhood needs MORE detail than a map of the whole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(pun intended): legends are choices. A 1900 map might label a Native American territory as 'unorganized' or 'unclaimed' — that's a cartographic argument, not a fact. Ask students: 'If you were making a map of your school, what would you put in the legend? What would you leave out —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Fast-paced quiz. After each: 'Hands up... and down.' The answer column is visible to you but students see it after they answer. Move quickly — this is a confidence-builder, not a gotcha.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4 minutes. Q1: possible clues without compass — rivers flow downhill, which usually is consistent on a map; labels for 'north' countries; placement of Europe at top (Eurocentric convention). Q3: blue could = ocean, country boundary, religious territory, elevation zones. Q4 is a presentation/communication task — ask groups to practice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Most common answer: date (students rarely notice when a map was made). Close: 'Next lesson: the compass rose — the one element that tells you where you are before you even read anything else. Cardinal and intermediate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0" y="2560320"/>
            <a:ext cx="9144000" cy="2587752"/>
          </a:xfrm>
          <a:prstGeom prst="rect">
            <a:avLst/>
          </a:prstGeom>
          <a:solidFill>
            <a:srgbClr val="2D5A27">
              <a:alpha val="8000"/>
            </a:srgbClr>
          </a:solidFill>
          <a:ln w="12700">
            <a:solidFill>
              <a:srgbClr val="333333"/>
            </a:solidFill>
            <a:prstDash val="solid"/>
          </a:ln>
        </p:spPr>
      </p:sp>
      <p:sp>
        <p:nvSpPr>
          <p:cNvPr id="3" name="Shape 1"/>
          <p:cNvSpPr/>
          <p:nvPr/>
        </p:nvSpPr>
        <p:spPr>
          <a:xfrm>
            <a:off x="1524000" y="0"/>
            <a:ext cx="0" cy="5148072"/>
          </a:xfrm>
          <a:prstGeom prst="line">
            <a:avLst/>
          </a:prstGeom>
          <a:noFill/>
          <a:ln w="7620">
            <a:solidFill>
              <a:srgbClr val="C4B49A">
                <a:alpha val="50000"/>
              </a:srgbClr>
            </a:solidFill>
            <a:prstDash val="solid"/>
          </a:ln>
        </p:spPr>
      </p:sp>
      <p:sp>
        <p:nvSpPr>
          <p:cNvPr id="4" name="Shape 2"/>
          <p:cNvSpPr/>
          <p:nvPr/>
        </p:nvSpPr>
        <p:spPr>
          <a:xfrm>
            <a:off x="3048000" y="0"/>
            <a:ext cx="0" cy="5148072"/>
          </a:xfrm>
          <a:prstGeom prst="line">
            <a:avLst/>
          </a:prstGeom>
          <a:noFill/>
          <a:ln w="7620">
            <a:solidFill>
              <a:srgbClr val="C4B49A">
                <a:alpha val="50000"/>
              </a:srgbClr>
            </a:solidFill>
            <a:prstDash val="solid"/>
          </a:ln>
        </p:spPr>
      </p:sp>
      <p:sp>
        <p:nvSpPr>
          <p:cNvPr id="5" name="Shape 3"/>
          <p:cNvSpPr/>
          <p:nvPr/>
        </p:nvSpPr>
        <p:spPr>
          <a:xfrm>
            <a:off x="4572000" y="0"/>
            <a:ext cx="0" cy="5148072"/>
          </a:xfrm>
          <a:prstGeom prst="line">
            <a:avLst/>
          </a:prstGeom>
          <a:noFill/>
          <a:ln w="7620">
            <a:solidFill>
              <a:srgbClr val="C4B49A">
                <a:alpha val="50000"/>
              </a:srgbClr>
            </a:solidFill>
            <a:prstDash val="solid"/>
          </a:ln>
        </p:spPr>
      </p:sp>
      <p:sp>
        <p:nvSpPr>
          <p:cNvPr id="6" name="Shape 4"/>
          <p:cNvSpPr/>
          <p:nvPr/>
        </p:nvSpPr>
        <p:spPr>
          <a:xfrm>
            <a:off x="6096000" y="0"/>
            <a:ext cx="0" cy="5148072"/>
          </a:xfrm>
          <a:prstGeom prst="line">
            <a:avLst/>
          </a:prstGeom>
          <a:noFill/>
          <a:ln w="7620">
            <a:solidFill>
              <a:srgbClr val="C4B49A">
                <a:alpha val="50000"/>
              </a:srgbClr>
            </a:solidFill>
            <a:prstDash val="solid"/>
          </a:ln>
        </p:spPr>
      </p:sp>
      <p:sp>
        <p:nvSpPr>
          <p:cNvPr id="7" name="Shape 5"/>
          <p:cNvSpPr/>
          <p:nvPr/>
        </p:nvSpPr>
        <p:spPr>
          <a:xfrm>
            <a:off x="7620000" y="0"/>
            <a:ext cx="0" cy="5148072"/>
          </a:xfrm>
          <a:prstGeom prst="line">
            <a:avLst/>
          </a:prstGeom>
          <a:noFill/>
          <a:ln w="7620">
            <a:solidFill>
              <a:srgbClr val="C4B49A">
                <a:alpha val="50000"/>
              </a:srgbClr>
            </a:solidFill>
            <a:prstDash val="solid"/>
          </a:ln>
        </p:spPr>
      </p:sp>
      <p:sp>
        <p:nvSpPr>
          <p:cNvPr id="8" name="Shape 6"/>
          <p:cNvSpPr/>
          <p:nvPr/>
        </p:nvSpPr>
        <p:spPr>
          <a:xfrm>
            <a:off x="0" y="1287018"/>
            <a:ext cx="9144000" cy="0"/>
          </a:xfrm>
          <a:prstGeom prst="line">
            <a:avLst/>
          </a:prstGeom>
          <a:noFill/>
          <a:ln w="7620">
            <a:solidFill>
              <a:srgbClr val="C4B49A">
                <a:alpha val="50000"/>
              </a:srgbClr>
            </a:solidFill>
            <a:prstDash val="solid"/>
          </a:ln>
        </p:spPr>
      </p:sp>
      <p:sp>
        <p:nvSpPr>
          <p:cNvPr id="9" name="Shape 7"/>
          <p:cNvSpPr/>
          <p:nvPr/>
        </p:nvSpPr>
        <p:spPr>
          <a:xfrm>
            <a:off x="0" y="2574036"/>
            <a:ext cx="9144000" cy="0"/>
          </a:xfrm>
          <a:prstGeom prst="line">
            <a:avLst/>
          </a:prstGeom>
          <a:noFill/>
          <a:ln w="7620">
            <a:solidFill>
              <a:srgbClr val="C4B49A">
                <a:alpha val="50000"/>
              </a:srgbClr>
            </a:solidFill>
            <a:prstDash val="solid"/>
          </a:ln>
        </p:spPr>
      </p:sp>
      <p:sp>
        <p:nvSpPr>
          <p:cNvPr id="10" name="Shape 8"/>
          <p:cNvSpPr/>
          <p:nvPr/>
        </p:nvSpPr>
        <p:spPr>
          <a:xfrm>
            <a:off x="0" y="3861054"/>
            <a:ext cx="9144000" cy="0"/>
          </a:xfrm>
          <a:prstGeom prst="line">
            <a:avLst/>
          </a:prstGeom>
          <a:noFill/>
          <a:ln w="7620">
            <a:solidFill>
              <a:srgbClr val="C4B49A">
                <a:alpha val="50000"/>
              </a:srgbClr>
            </a:solidFill>
            <a:prstDash val="solid"/>
          </a:ln>
        </p:spPr>
      </p:sp>
      <p:sp>
        <p:nvSpPr>
          <p:cNvPr id="11" name="Shape 9"/>
          <p:cNvSpPr/>
          <p:nvPr/>
        </p:nvSpPr>
        <p:spPr>
          <a:xfrm>
            <a:off x="685800" y="0"/>
            <a:ext cx="7772400" cy="4572000"/>
          </a:xfrm>
          <a:prstGeom prst="ellipse">
            <a:avLst/>
          </a:prstGeom>
          <a:solidFill>
            <a:srgbClr val="D4943A">
              <a:alpha val="15000"/>
            </a:srgbClr>
          </a:solidFill>
          <a:ln w="12700">
            <a:solidFill>
              <a:srgbClr val="333333"/>
            </a:solidFill>
            <a:prstDash val="solid"/>
          </a:ln>
        </p:spPr>
      </p:sp>
      <p:sp>
        <p:nvSpPr>
          <p:cNvPr id="12" name="Shape 10"/>
          <p:cNvSpPr/>
          <p:nvPr/>
        </p:nvSpPr>
        <p:spPr>
          <a:xfrm>
            <a:off x="2395728" y="1005840"/>
            <a:ext cx="4352544" cy="2560320"/>
          </a:xfrm>
          <a:prstGeom prst="ellipse">
            <a:avLst/>
          </a:prstGeom>
          <a:solidFill>
            <a:srgbClr val="D4943A">
              <a:alpha val="26000"/>
            </a:srgbClr>
          </a:solidFill>
          <a:ln w="12700">
            <a:solidFill>
              <a:srgbClr val="333333"/>
            </a:solidFill>
            <a:prstDash val="solid"/>
          </a:ln>
        </p:spPr>
      </p:sp>
      <p:sp>
        <p:nvSpPr>
          <p:cNvPr id="13" name="Shape 11"/>
          <p:cNvSpPr/>
          <p:nvPr/>
        </p:nvSpPr>
        <p:spPr>
          <a:xfrm>
            <a:off x="0" y="0"/>
            <a:ext cx="9144000" cy="50292"/>
          </a:xfrm>
          <a:prstGeom prst="rect">
            <a:avLst/>
          </a:prstGeom>
          <a:solidFill>
            <a:srgbClr val="D4943A"/>
          </a:solidFill>
          <a:ln w="12700">
            <a:solidFill>
              <a:srgbClr val="333333"/>
            </a:solidFill>
            <a:prstDash val="solid"/>
          </a:ln>
        </p:spPr>
      </p:sp>
      <p:sp>
        <p:nvSpPr>
          <p:cNvPr id="14" name="Shape 12"/>
          <p:cNvSpPr/>
          <p:nvPr/>
        </p:nvSpPr>
        <p:spPr>
          <a:xfrm>
            <a:off x="0" y="5093208"/>
            <a:ext cx="9144000" cy="54864"/>
          </a:xfrm>
          <a:prstGeom prst="rect">
            <a:avLst/>
          </a:prstGeom>
          <a:solidFill>
            <a:srgbClr val="D4943A"/>
          </a:solidFill>
          <a:ln w="12700">
            <a:solidFill>
              <a:srgbClr val="333333"/>
            </a:solidFill>
            <a:prstDash val="solid"/>
          </a:ln>
        </p:spPr>
      </p:sp>
      <p:sp>
        <p:nvSpPr>
          <p:cNvPr id="15" name="Shape 13"/>
          <p:cNvSpPr/>
          <p:nvPr/>
        </p:nvSpPr>
        <p:spPr>
          <a:xfrm>
            <a:off x="1645920" y="164592"/>
            <a:ext cx="5852160" cy="475488"/>
          </a:xfrm>
          <a:prstGeom prst="roundRect">
            <a:avLst>
              <a:gd name="adj" fmla="val 13462"/>
            </a:avLst>
          </a:prstGeom>
          <a:solidFill>
            <a:srgbClr val="D4943A">
              <a:alpha val="18000"/>
            </a:srgbClr>
          </a:solidFill>
          <a:ln w="12700">
            <a:solidFill>
              <a:srgbClr val="D4943A"/>
            </a:solidFill>
            <a:prstDash val="solid"/>
          </a:ln>
        </p:spPr>
      </p:sp>
      <p:sp>
        <p:nvSpPr>
          <p:cNvPr id="16" name="Text 14"/>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943A"/>
                </a:solidFill>
                <a:latin typeface="Calibri" pitchFamily="34" charset="0"/>
                <a:ea typeface="Calibri" pitchFamily="34" charset="-122"/>
                <a:cs typeface="Calibri" pitchFamily="34" charset="-120"/>
              </a:rPr>
              <a:t>CARTOGRAPHY GALLERY  ·  UNIT 3  ·  WEEK 7</a:t>
            </a:r>
            <a:endParaRPr lang="en-US" sz="1050" dirty="0"/>
          </a:p>
        </p:txBody>
      </p:sp>
      <p:sp>
        <p:nvSpPr>
          <p:cNvPr id="17" name="Text 15"/>
          <p:cNvSpPr/>
          <p:nvPr/>
        </p:nvSpPr>
        <p:spPr>
          <a:xfrm>
            <a:off x="731520" y="768096"/>
            <a:ext cx="7680960" cy="2633472"/>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Map Elements:</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Title, Compass Rose,</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Scale, and Legend</a:t>
            </a:r>
            <a:endParaRPr lang="en-US" sz="5200" dirty="0"/>
          </a:p>
        </p:txBody>
      </p:sp>
      <p:sp>
        <p:nvSpPr>
          <p:cNvPr id="18" name="Text 16"/>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943A"/>
                </a:solidFill>
                <a:latin typeface="Calibri" pitchFamily="34" charset="0"/>
                <a:ea typeface="Calibri" pitchFamily="34" charset="-122"/>
                <a:cs typeface="Calibri" pitchFamily="34" charset="-120"/>
              </a:rPr>
              <a:t>Lesson 3.03.01  ·  3rd Grade Social Studies</a:t>
            </a:r>
            <a:endParaRPr lang="en-US" sz="1250" dirty="0"/>
          </a:p>
        </p:txBody>
      </p:sp>
      <p:sp>
        <p:nvSpPr>
          <p:cNvPr id="19" name="Shape 17"/>
          <p:cNvSpPr/>
          <p:nvPr/>
        </p:nvSpPr>
        <p:spPr>
          <a:xfrm>
            <a:off x="2560320" y="3931920"/>
            <a:ext cx="4023360" cy="603504"/>
          </a:xfrm>
          <a:prstGeom prst="roundRect">
            <a:avLst>
              <a:gd name="adj" fmla="val 15152"/>
            </a:avLst>
          </a:prstGeom>
          <a:solidFill>
            <a:srgbClr val="2D5A27">
              <a:alpha val="20000"/>
            </a:srgbClr>
          </a:solidFill>
          <a:ln w="19050">
            <a:solidFill>
              <a:srgbClr val="4A8A42"/>
            </a:solidFill>
            <a:prstDash val="solid"/>
          </a:ln>
        </p:spPr>
      </p:sp>
      <p:sp>
        <p:nvSpPr>
          <p:cNvPr id="20" name="Text 18"/>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Enter the Scene + Map Quest  ·  Virtue: Honesty</a:t>
            </a:r>
            <a:endParaRPr lang="en-US" sz="1200" dirty="0"/>
          </a:p>
        </p:txBody>
      </p:sp>
      <p:sp>
        <p:nvSpPr>
          <p:cNvPr id="21" name="Shape 19"/>
          <p:cNvSpPr/>
          <p:nvPr/>
        </p:nvSpPr>
        <p:spPr>
          <a:xfrm>
            <a:off x="923544" y="4736592"/>
            <a:ext cx="164592" cy="256032"/>
          </a:xfrm>
          <a:prstGeom prst="ellipse">
            <a:avLst/>
          </a:prstGeom>
          <a:solidFill>
            <a:srgbClr val="D4943A"/>
          </a:solidFill>
          <a:ln w="12700">
            <a:solidFill>
              <a:srgbClr val="333333"/>
            </a:solidFill>
            <a:prstDash val="solid"/>
          </a:ln>
        </p:spPr>
      </p:sp>
      <p:sp>
        <p:nvSpPr>
          <p:cNvPr id="22" name="Shape 20"/>
          <p:cNvSpPr/>
          <p:nvPr/>
        </p:nvSpPr>
        <p:spPr>
          <a:xfrm>
            <a:off x="8055864" y="4736592"/>
            <a:ext cx="164592" cy="256032"/>
          </a:xfrm>
          <a:prstGeom prst="ellipse">
            <a:avLst/>
          </a:prstGeom>
          <a:solidFill>
            <a:srgbClr val="D4943A"/>
          </a:solidFill>
          <a:ln w="12700">
            <a:solidFill>
              <a:srgbClr val="333333"/>
            </a:solidFill>
            <a:prstDash val="solid"/>
          </a:ln>
        </p:spPr>
      </p:sp>
      <p:sp>
        <p:nvSpPr>
          <p:cNvPr id="23" name="Shape 21"/>
          <p:cNvSpPr/>
          <p:nvPr/>
        </p:nvSpPr>
        <p:spPr>
          <a:xfrm>
            <a:off x="1005840" y="4864608"/>
            <a:ext cx="7132320" cy="0"/>
          </a:xfrm>
          <a:prstGeom prst="line">
            <a:avLst/>
          </a:prstGeom>
          <a:noFill/>
          <a:ln w="31750">
            <a:solidFill>
              <a:srgbClr val="D4943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0" y="45720"/>
            <a:ext cx="9144000" cy="5029200"/>
          </a:xfrm>
          <a:prstGeom prst="ellipse">
            <a:avLst/>
          </a:prstGeom>
          <a:solidFill>
            <a:srgbClr val="D4943A">
              <a:alpha val="15000"/>
            </a:srgbClr>
          </a:solidFill>
          <a:ln w="12700">
            <a:solidFill>
              <a:srgbClr val="333333"/>
            </a:solidFill>
            <a:prstDash val="solid"/>
          </a:ln>
        </p:spPr>
      </p:sp>
      <p:sp>
        <p:nvSpPr>
          <p:cNvPr id="11" name="Shape 9"/>
          <p:cNvSpPr/>
          <p:nvPr/>
        </p:nvSpPr>
        <p:spPr>
          <a:xfrm>
            <a:off x="2011680" y="1152144"/>
            <a:ext cx="5120640" cy="2816352"/>
          </a:xfrm>
          <a:prstGeom prst="ellipse">
            <a:avLst/>
          </a:prstGeom>
          <a:solidFill>
            <a:srgbClr val="D4943A">
              <a:alpha val="26000"/>
            </a:srgbClr>
          </a:solidFill>
          <a:ln w="12700">
            <a:solidFill>
              <a:srgbClr val="333333"/>
            </a:solidFill>
            <a:prstDash val="solid"/>
          </a:ln>
        </p:spPr>
      </p:sp>
      <p:sp>
        <p:nvSpPr>
          <p:cNvPr id="12" name="Shape 10"/>
          <p:cNvSpPr/>
          <p:nvPr/>
        </p:nvSpPr>
        <p:spPr>
          <a:xfrm>
            <a:off x="457200" y="201168"/>
            <a:ext cx="8229600" cy="4736592"/>
          </a:xfrm>
          <a:prstGeom prst="roundRect">
            <a:avLst>
              <a:gd name="adj" fmla="val 2317"/>
            </a:avLst>
          </a:prstGeom>
          <a:solidFill>
            <a:srgbClr val="3A2C1A">
              <a:alpha val="35000"/>
            </a:srgbClr>
          </a:solidFill>
          <a:ln w="25400">
            <a:solidFill>
              <a:srgbClr val="D4943A"/>
            </a:solidFill>
            <a:prstDash val="solid"/>
          </a:ln>
          <a:effectLst>
            <a:outerShdw sx="100000" sy="100000" kx="0" ky="0" algn="bl" rotWithShape="0" blurRad="177800" dist="50800" dir="2700000">
              <a:srgbClr val="000000">
                <a:alpha val="22000"/>
              </a:srgbClr>
            </a:outerShdw>
          </a:effectLst>
        </p:spPr>
      </p:sp>
      <p:sp>
        <p:nvSpPr>
          <p:cNvPr id="13" name="Text 11"/>
          <p:cNvSpPr/>
          <p:nvPr/>
        </p:nvSpPr>
        <p:spPr>
          <a:xfrm>
            <a:off x="640080" y="365760"/>
            <a:ext cx="7863840" cy="548640"/>
          </a:xfrm>
          <a:prstGeom prst="rect">
            <a:avLst/>
          </a:prstGeom>
          <a:noFill/>
          <a:ln/>
        </p:spPr>
        <p:txBody>
          <a:bodyPr wrap="square"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The Cartography Gallery</a:t>
            </a:r>
            <a:endParaRPr lang="en-US" sz="2400" dirty="0"/>
          </a:p>
        </p:txBody>
      </p:sp>
      <p:sp>
        <p:nvSpPr>
          <p:cNvPr id="14" name="Text 12"/>
          <p:cNvSpPr/>
          <p:nvPr/>
        </p:nvSpPr>
        <p:spPr>
          <a:xfrm>
            <a:off x="640080" y="1005840"/>
            <a:ext cx="7863840" cy="3657600"/>
          </a:xfrm>
          <a:prstGeom prst="rect">
            <a:avLst/>
          </a:prstGeom>
          <a:noFill/>
          <a:ln/>
        </p:spPr>
        <p:txBody>
          <a:bodyPr wrap="square" rtlCol="0" anchor="t"/>
          <a:lstStyle/>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Somewhere in the Explorer's Vault, there are maps without legends.</a:t>
            </a: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Maps without scales.</a:t>
            </a: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Maps without titles.</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Those maps exist — and they have caused catastrophes.</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Ships ran aground on coasts they couldn't identify.</a:t>
            </a: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Armies marched into territory that 'looked close' but was hundreds of miles away.</a:t>
            </a: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Nations signed treaties about borders that neither side had mapped the same way.</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A map without its essential elements is not a map.</a:t>
            </a: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It is a beautiful lie.</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5EDD8"/>
                </a:solidFill>
                <a:latin typeface="Calibri" pitchFamily="34" charset="0"/>
                <a:ea typeface="Calibri" pitchFamily="34" charset="-122"/>
                <a:cs typeface="Calibri" pitchFamily="34" charset="-120"/>
              </a:rPr>
              <a:t>Today you'll learn the six elements that turn a drawing of the earth into a trustworthy tool.</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457200" y="0"/>
            <a:ext cx="8229600" cy="4572000"/>
          </a:xfrm>
          <a:prstGeom prst="ellipse">
            <a:avLst/>
          </a:prstGeom>
          <a:solidFill>
            <a:srgbClr val="D4943A">
              <a:alpha val="15000"/>
            </a:srgbClr>
          </a:solidFill>
          <a:ln w="12700">
            <a:solidFill>
              <a:srgbClr val="333333"/>
            </a:solidFill>
            <a:prstDash val="solid"/>
          </a:ln>
        </p:spPr>
      </p:sp>
      <p:sp>
        <p:nvSpPr>
          <p:cNvPr id="11" name="Shape 9"/>
          <p:cNvSpPr/>
          <p:nvPr/>
        </p:nvSpPr>
        <p:spPr>
          <a:xfrm>
            <a:off x="2267712" y="1005840"/>
            <a:ext cx="4608576" cy="2560320"/>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28016"/>
            <a:ext cx="82296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The Six Essential Map Elements</a:t>
            </a:r>
            <a:endParaRPr lang="en-US" sz="2400" dirty="0"/>
          </a:p>
        </p:txBody>
      </p:sp>
      <p:sp>
        <p:nvSpPr>
          <p:cNvPr id="13" name="Shape 11"/>
          <p:cNvSpPr/>
          <p:nvPr/>
        </p:nvSpPr>
        <p:spPr>
          <a:xfrm>
            <a:off x="338328" y="649224"/>
            <a:ext cx="3986784" cy="1371600"/>
          </a:xfrm>
          <a:prstGeom prst="roundRect">
            <a:avLst>
              <a:gd name="adj" fmla="val 9333"/>
            </a:avLst>
          </a:prstGeom>
          <a:solidFill>
            <a:srgbClr val="D4943A">
              <a:alpha val="30000"/>
            </a:srgbClr>
          </a:solidFill>
          <a:ln w="12700">
            <a:solidFill>
              <a:srgbClr val="333333"/>
            </a:solidFill>
            <a:prstDash val="solid"/>
          </a:ln>
        </p:spPr>
      </p:sp>
      <p:sp>
        <p:nvSpPr>
          <p:cNvPr id="14" name="Shape 12"/>
          <p:cNvSpPr/>
          <p:nvPr/>
        </p:nvSpPr>
        <p:spPr>
          <a:xfrm>
            <a:off x="402336" y="713232"/>
            <a:ext cx="3858768" cy="1243584"/>
          </a:xfrm>
          <a:prstGeom prst="roundRect">
            <a:avLst>
              <a:gd name="adj" fmla="val 6618"/>
            </a:avLst>
          </a:prstGeom>
          <a:solidFill>
            <a:srgbClr val="3A2C1A"/>
          </a:solidFill>
          <a:ln w="27940">
            <a:solidFill>
              <a:srgbClr val="D4943A"/>
            </a:solidFill>
            <a:prstDash val="solid"/>
          </a:ln>
          <a:effectLst>
            <a:outerShdw sx="100000" sy="100000" kx="0" ky="0" algn="bl" rotWithShape="0" blurRad="177800" dist="50800" dir="2700000">
              <a:srgbClr val="000000">
                <a:alpha val="22000"/>
              </a:srgbClr>
            </a:outerShdw>
          </a:effectLst>
        </p:spPr>
      </p:sp>
      <p:sp>
        <p:nvSpPr>
          <p:cNvPr id="15" name="Shape 13"/>
          <p:cNvSpPr/>
          <p:nvPr/>
        </p:nvSpPr>
        <p:spPr>
          <a:xfrm>
            <a:off x="633862" y="762975"/>
            <a:ext cx="3395716" cy="771022"/>
          </a:xfrm>
          <a:prstGeom prst="ellipse">
            <a:avLst/>
          </a:prstGeom>
          <a:solidFill>
            <a:srgbClr val="D4943A">
              <a:alpha val="15000"/>
            </a:srgbClr>
          </a:solidFill>
          <a:ln w="12700">
            <a:solidFill>
              <a:srgbClr val="333333"/>
            </a:solidFill>
            <a:prstDash val="solid"/>
          </a:ln>
        </p:spPr>
      </p:sp>
      <p:sp>
        <p:nvSpPr>
          <p:cNvPr id="16" name="Shape 14"/>
          <p:cNvSpPr/>
          <p:nvPr/>
        </p:nvSpPr>
        <p:spPr>
          <a:xfrm>
            <a:off x="1380920" y="932600"/>
            <a:ext cx="1901601" cy="431772"/>
          </a:xfrm>
          <a:prstGeom prst="ellipse">
            <a:avLst/>
          </a:prstGeom>
          <a:solidFill>
            <a:srgbClr val="D4943A">
              <a:alpha val="26000"/>
            </a:srgbClr>
          </a:solidFill>
          <a:ln w="12700">
            <a:solidFill>
              <a:srgbClr val="333333"/>
            </a:solidFill>
            <a:prstDash val="solid"/>
          </a:ln>
        </p:spPr>
      </p:sp>
      <p:sp>
        <p:nvSpPr>
          <p:cNvPr id="17" name="Text 15"/>
          <p:cNvSpPr/>
          <p:nvPr/>
        </p:nvSpPr>
        <p:spPr>
          <a:xfrm>
            <a:off x="402336" y="786384"/>
            <a:ext cx="3858768" cy="74615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8" name="Shape 16"/>
          <p:cNvSpPr/>
          <p:nvPr/>
        </p:nvSpPr>
        <p:spPr>
          <a:xfrm>
            <a:off x="530352" y="1481328"/>
            <a:ext cx="3602736" cy="384048"/>
          </a:xfrm>
          <a:prstGeom prst="roundRect">
            <a:avLst>
              <a:gd name="adj" fmla="val 11905"/>
            </a:avLst>
          </a:prstGeom>
          <a:solidFill>
            <a:srgbClr val="F5EDD8"/>
          </a:solidFill>
          <a:ln w="12700">
            <a:solidFill>
              <a:srgbClr val="D4943A"/>
            </a:solidFill>
            <a:prstDash val="solid"/>
          </a:ln>
        </p:spPr>
      </p:sp>
      <p:sp>
        <p:nvSpPr>
          <p:cNvPr id="19" name="Text 17"/>
          <p:cNvSpPr/>
          <p:nvPr/>
        </p:nvSpPr>
        <p:spPr>
          <a:xfrm>
            <a:off x="530352" y="1481328"/>
            <a:ext cx="3602736" cy="384048"/>
          </a:xfrm>
          <a:prstGeom prst="rect">
            <a:avLst/>
          </a:prstGeom>
          <a:noFill/>
          <a:ln/>
        </p:spPr>
        <p:txBody>
          <a:bodyPr wrap="square" lIns="0" tIns="0" rIns="0" bIns="0" rtlCol="0" anchor="ctr"/>
          <a:lstStyle/>
          <a:p>
            <a:pPr algn="ctr" indent="0" marL="0">
              <a:buNone/>
            </a:pPr>
            <a:r>
              <a:rPr lang="en-US" sz="1050" b="1" dirty="0">
                <a:solidFill>
                  <a:srgbClr val="3A2C1A"/>
                </a:solidFill>
                <a:latin typeface="Cambria" pitchFamily="34" charset="0"/>
                <a:ea typeface="Cambria" pitchFamily="34" charset="-122"/>
                <a:cs typeface="Cambria" pitchFamily="34" charset="-120"/>
              </a:rPr>
              <a:t>TITLE</a:t>
            </a:r>
            <a:endParaRPr lang="en-US" sz="1050" dirty="0"/>
          </a:p>
          <a:p>
            <a:pPr algn="ctr" indent="0" marL="0">
              <a:buNone/>
            </a:pPr>
            <a:r>
              <a:rPr lang="en-US" sz="1050" b="1" dirty="0">
                <a:solidFill>
                  <a:srgbClr val="3A2C1A"/>
                </a:solidFill>
                <a:latin typeface="Cambria" pitchFamily="34" charset="0"/>
                <a:ea typeface="Cambria" pitchFamily="34" charset="-122"/>
                <a:cs typeface="Cambria" pitchFamily="34" charset="-120"/>
              </a:rPr>
              <a:t>Tells us what the map shows</a:t>
            </a:r>
            <a:endParaRPr lang="en-US" sz="1050" dirty="0"/>
          </a:p>
        </p:txBody>
      </p:sp>
      <p:sp>
        <p:nvSpPr>
          <p:cNvPr id="20" name="Shape 18"/>
          <p:cNvSpPr/>
          <p:nvPr/>
        </p:nvSpPr>
        <p:spPr>
          <a:xfrm>
            <a:off x="4800600" y="649224"/>
            <a:ext cx="3986784" cy="1371600"/>
          </a:xfrm>
          <a:prstGeom prst="roundRect">
            <a:avLst>
              <a:gd name="adj" fmla="val 9333"/>
            </a:avLst>
          </a:prstGeom>
          <a:solidFill>
            <a:srgbClr val="4A8A42">
              <a:alpha val="30000"/>
            </a:srgbClr>
          </a:solidFill>
          <a:ln w="12700">
            <a:solidFill>
              <a:srgbClr val="333333"/>
            </a:solidFill>
            <a:prstDash val="solid"/>
          </a:ln>
        </p:spPr>
      </p:sp>
      <p:sp>
        <p:nvSpPr>
          <p:cNvPr id="21" name="Shape 19"/>
          <p:cNvSpPr/>
          <p:nvPr/>
        </p:nvSpPr>
        <p:spPr>
          <a:xfrm>
            <a:off x="4864608" y="713232"/>
            <a:ext cx="3858768" cy="1243584"/>
          </a:xfrm>
          <a:prstGeom prst="roundRect">
            <a:avLst>
              <a:gd name="adj" fmla="val 6618"/>
            </a:avLst>
          </a:prstGeom>
          <a:solidFill>
            <a:srgbClr val="3A2C1A"/>
          </a:solidFill>
          <a:ln w="27940">
            <a:solidFill>
              <a:srgbClr val="4A8A42"/>
            </a:solidFill>
            <a:prstDash val="solid"/>
          </a:ln>
          <a:effectLst>
            <a:outerShdw sx="100000" sy="100000" kx="0" ky="0" algn="bl" rotWithShape="0" blurRad="177800" dist="50800" dir="2700000">
              <a:srgbClr val="000000">
                <a:alpha val="22000"/>
              </a:srgbClr>
            </a:outerShdw>
          </a:effectLst>
        </p:spPr>
      </p:sp>
      <p:sp>
        <p:nvSpPr>
          <p:cNvPr id="22" name="Shape 20"/>
          <p:cNvSpPr/>
          <p:nvPr/>
        </p:nvSpPr>
        <p:spPr>
          <a:xfrm>
            <a:off x="5096134" y="762975"/>
            <a:ext cx="3395716" cy="771022"/>
          </a:xfrm>
          <a:prstGeom prst="ellipse">
            <a:avLst/>
          </a:prstGeom>
          <a:solidFill>
            <a:srgbClr val="D4943A">
              <a:alpha val="15000"/>
            </a:srgbClr>
          </a:solidFill>
          <a:ln w="12700">
            <a:solidFill>
              <a:srgbClr val="333333"/>
            </a:solidFill>
            <a:prstDash val="solid"/>
          </a:ln>
        </p:spPr>
      </p:sp>
      <p:sp>
        <p:nvSpPr>
          <p:cNvPr id="23" name="Shape 21"/>
          <p:cNvSpPr/>
          <p:nvPr/>
        </p:nvSpPr>
        <p:spPr>
          <a:xfrm>
            <a:off x="5843192" y="932600"/>
            <a:ext cx="1901601" cy="431772"/>
          </a:xfrm>
          <a:prstGeom prst="ellipse">
            <a:avLst/>
          </a:prstGeom>
          <a:solidFill>
            <a:srgbClr val="D4943A">
              <a:alpha val="26000"/>
            </a:srgbClr>
          </a:solidFill>
          <a:ln w="12700">
            <a:solidFill>
              <a:srgbClr val="333333"/>
            </a:solidFill>
            <a:prstDash val="solid"/>
          </a:ln>
        </p:spPr>
      </p:sp>
      <p:sp>
        <p:nvSpPr>
          <p:cNvPr id="24" name="Text 22"/>
          <p:cNvSpPr/>
          <p:nvPr/>
        </p:nvSpPr>
        <p:spPr>
          <a:xfrm>
            <a:off x="4864608" y="786384"/>
            <a:ext cx="3858768" cy="74615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5" name="Shape 23"/>
          <p:cNvSpPr/>
          <p:nvPr/>
        </p:nvSpPr>
        <p:spPr>
          <a:xfrm>
            <a:off x="4992624" y="1481328"/>
            <a:ext cx="3602736" cy="384048"/>
          </a:xfrm>
          <a:prstGeom prst="roundRect">
            <a:avLst>
              <a:gd name="adj" fmla="val 11905"/>
            </a:avLst>
          </a:prstGeom>
          <a:solidFill>
            <a:srgbClr val="F5EDD8"/>
          </a:solidFill>
          <a:ln w="12700">
            <a:solidFill>
              <a:srgbClr val="4A8A42"/>
            </a:solidFill>
            <a:prstDash val="solid"/>
          </a:ln>
        </p:spPr>
      </p:sp>
      <p:sp>
        <p:nvSpPr>
          <p:cNvPr id="26" name="Text 24"/>
          <p:cNvSpPr/>
          <p:nvPr/>
        </p:nvSpPr>
        <p:spPr>
          <a:xfrm>
            <a:off x="4992624" y="1481328"/>
            <a:ext cx="3602736" cy="384048"/>
          </a:xfrm>
          <a:prstGeom prst="rect">
            <a:avLst/>
          </a:prstGeom>
          <a:noFill/>
          <a:ln/>
        </p:spPr>
        <p:txBody>
          <a:bodyPr wrap="square" lIns="0" tIns="0" rIns="0" bIns="0" rtlCol="0" anchor="ctr"/>
          <a:lstStyle/>
          <a:p>
            <a:pPr algn="ctr" indent="0" marL="0">
              <a:buNone/>
            </a:pPr>
            <a:r>
              <a:rPr lang="en-US" sz="1050" b="1" dirty="0">
                <a:solidFill>
                  <a:srgbClr val="3A2C1A"/>
                </a:solidFill>
                <a:latin typeface="Cambria" pitchFamily="34" charset="0"/>
                <a:ea typeface="Cambria" pitchFamily="34" charset="-122"/>
                <a:cs typeface="Cambria" pitchFamily="34" charset="-120"/>
              </a:rPr>
              <a:t>COMPASS ROSE</a:t>
            </a:r>
            <a:endParaRPr lang="en-US" sz="1050" dirty="0"/>
          </a:p>
          <a:p>
            <a:pPr algn="ctr" indent="0" marL="0">
              <a:buNone/>
            </a:pPr>
            <a:r>
              <a:rPr lang="en-US" sz="1050" b="1" dirty="0">
                <a:solidFill>
                  <a:srgbClr val="3A2C1A"/>
                </a:solidFill>
                <a:latin typeface="Cambria" pitchFamily="34" charset="0"/>
                <a:ea typeface="Cambria" pitchFamily="34" charset="-122"/>
                <a:cs typeface="Cambria" pitchFamily="34" charset="-120"/>
              </a:rPr>
              <a:t>Shows direction (N/S/E/W)</a:t>
            </a:r>
            <a:endParaRPr lang="en-US" sz="1050" dirty="0"/>
          </a:p>
        </p:txBody>
      </p:sp>
      <p:sp>
        <p:nvSpPr>
          <p:cNvPr id="27" name="Shape 25"/>
          <p:cNvSpPr/>
          <p:nvPr/>
        </p:nvSpPr>
        <p:spPr>
          <a:xfrm>
            <a:off x="338328" y="2039112"/>
            <a:ext cx="3986784" cy="1371600"/>
          </a:xfrm>
          <a:prstGeom prst="roundRect">
            <a:avLst>
              <a:gd name="adj" fmla="val 9333"/>
            </a:avLst>
          </a:prstGeom>
          <a:solidFill>
            <a:srgbClr val="1A3A8F">
              <a:alpha val="30000"/>
            </a:srgbClr>
          </a:solidFill>
          <a:ln w="12700">
            <a:solidFill>
              <a:srgbClr val="333333"/>
            </a:solidFill>
            <a:prstDash val="solid"/>
          </a:ln>
        </p:spPr>
      </p:sp>
      <p:sp>
        <p:nvSpPr>
          <p:cNvPr id="28" name="Shape 26"/>
          <p:cNvSpPr/>
          <p:nvPr/>
        </p:nvSpPr>
        <p:spPr>
          <a:xfrm>
            <a:off x="402336" y="2103120"/>
            <a:ext cx="3858768" cy="1243584"/>
          </a:xfrm>
          <a:prstGeom prst="roundRect">
            <a:avLst>
              <a:gd name="adj" fmla="val 6618"/>
            </a:avLst>
          </a:prstGeom>
          <a:solidFill>
            <a:srgbClr val="3A2C1A"/>
          </a:solidFill>
          <a:ln w="27940">
            <a:solidFill>
              <a:srgbClr val="1A3A8F"/>
            </a:solidFill>
            <a:prstDash val="solid"/>
          </a:ln>
          <a:effectLst>
            <a:outerShdw sx="100000" sy="100000" kx="0" ky="0" algn="bl" rotWithShape="0" blurRad="177800" dist="50800" dir="2700000">
              <a:srgbClr val="000000">
                <a:alpha val="22000"/>
              </a:srgbClr>
            </a:outerShdw>
          </a:effectLst>
        </p:spPr>
      </p:sp>
      <p:sp>
        <p:nvSpPr>
          <p:cNvPr id="29" name="Shape 27"/>
          <p:cNvSpPr/>
          <p:nvPr/>
        </p:nvSpPr>
        <p:spPr>
          <a:xfrm>
            <a:off x="633862" y="2152863"/>
            <a:ext cx="3395716" cy="771022"/>
          </a:xfrm>
          <a:prstGeom prst="ellipse">
            <a:avLst/>
          </a:prstGeom>
          <a:solidFill>
            <a:srgbClr val="D4943A">
              <a:alpha val="15000"/>
            </a:srgbClr>
          </a:solidFill>
          <a:ln w="12700">
            <a:solidFill>
              <a:srgbClr val="333333"/>
            </a:solidFill>
            <a:prstDash val="solid"/>
          </a:ln>
        </p:spPr>
      </p:sp>
      <p:sp>
        <p:nvSpPr>
          <p:cNvPr id="30" name="Shape 28"/>
          <p:cNvSpPr/>
          <p:nvPr/>
        </p:nvSpPr>
        <p:spPr>
          <a:xfrm>
            <a:off x="1380920" y="2322488"/>
            <a:ext cx="1901601" cy="431772"/>
          </a:xfrm>
          <a:prstGeom prst="ellipse">
            <a:avLst/>
          </a:prstGeom>
          <a:solidFill>
            <a:srgbClr val="D4943A">
              <a:alpha val="26000"/>
            </a:srgbClr>
          </a:solidFill>
          <a:ln w="12700">
            <a:solidFill>
              <a:srgbClr val="333333"/>
            </a:solidFill>
            <a:prstDash val="solid"/>
          </a:ln>
        </p:spPr>
      </p:sp>
      <p:sp>
        <p:nvSpPr>
          <p:cNvPr id="31" name="Text 29"/>
          <p:cNvSpPr/>
          <p:nvPr/>
        </p:nvSpPr>
        <p:spPr>
          <a:xfrm>
            <a:off x="402336" y="2176272"/>
            <a:ext cx="3858768" cy="74615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32" name="Shape 30"/>
          <p:cNvSpPr/>
          <p:nvPr/>
        </p:nvSpPr>
        <p:spPr>
          <a:xfrm>
            <a:off x="530352" y="2871216"/>
            <a:ext cx="3602736" cy="384048"/>
          </a:xfrm>
          <a:prstGeom prst="roundRect">
            <a:avLst>
              <a:gd name="adj" fmla="val 11905"/>
            </a:avLst>
          </a:prstGeom>
          <a:solidFill>
            <a:srgbClr val="F5EDD8"/>
          </a:solidFill>
          <a:ln w="12700">
            <a:solidFill>
              <a:srgbClr val="1A3A8F"/>
            </a:solidFill>
            <a:prstDash val="solid"/>
          </a:ln>
        </p:spPr>
      </p:sp>
      <p:sp>
        <p:nvSpPr>
          <p:cNvPr id="33" name="Text 31"/>
          <p:cNvSpPr/>
          <p:nvPr/>
        </p:nvSpPr>
        <p:spPr>
          <a:xfrm>
            <a:off x="530352" y="2871216"/>
            <a:ext cx="3602736" cy="384048"/>
          </a:xfrm>
          <a:prstGeom prst="rect">
            <a:avLst/>
          </a:prstGeom>
          <a:noFill/>
          <a:ln/>
        </p:spPr>
        <p:txBody>
          <a:bodyPr wrap="square" lIns="0" tIns="0" rIns="0" bIns="0" rtlCol="0" anchor="ctr"/>
          <a:lstStyle/>
          <a:p>
            <a:pPr algn="ctr" indent="0" marL="0">
              <a:buNone/>
            </a:pPr>
            <a:r>
              <a:rPr lang="en-US" sz="1050" b="1" dirty="0">
                <a:solidFill>
                  <a:srgbClr val="3A2C1A"/>
                </a:solidFill>
                <a:latin typeface="Cambria" pitchFamily="34" charset="0"/>
                <a:ea typeface="Cambria" pitchFamily="34" charset="-122"/>
                <a:cs typeface="Cambria" pitchFamily="34" charset="-120"/>
              </a:rPr>
              <a:t>SCALE</a:t>
            </a:r>
            <a:endParaRPr lang="en-US" sz="1050" dirty="0"/>
          </a:p>
          <a:p>
            <a:pPr algn="ctr" indent="0" marL="0">
              <a:buNone/>
            </a:pPr>
            <a:r>
              <a:rPr lang="en-US" sz="1050" b="1" dirty="0">
                <a:solidFill>
                  <a:srgbClr val="3A2C1A"/>
                </a:solidFill>
                <a:latin typeface="Cambria" pitchFamily="34" charset="0"/>
                <a:ea typeface="Cambria" pitchFamily="34" charset="-122"/>
                <a:cs typeface="Cambria" pitchFamily="34" charset="-120"/>
              </a:rPr>
              <a:t>Shows distance relationships</a:t>
            </a:r>
            <a:endParaRPr lang="en-US" sz="1050" dirty="0"/>
          </a:p>
        </p:txBody>
      </p:sp>
      <p:sp>
        <p:nvSpPr>
          <p:cNvPr id="34" name="Shape 32"/>
          <p:cNvSpPr/>
          <p:nvPr/>
        </p:nvSpPr>
        <p:spPr>
          <a:xfrm>
            <a:off x="4800600" y="2039112"/>
            <a:ext cx="3986784" cy="1371600"/>
          </a:xfrm>
          <a:prstGeom prst="roundRect">
            <a:avLst>
              <a:gd name="adj" fmla="val 9333"/>
            </a:avLst>
          </a:prstGeom>
          <a:solidFill>
            <a:srgbClr val="9B1C2E">
              <a:alpha val="30000"/>
            </a:srgbClr>
          </a:solidFill>
          <a:ln w="12700">
            <a:solidFill>
              <a:srgbClr val="333333"/>
            </a:solidFill>
            <a:prstDash val="solid"/>
          </a:ln>
        </p:spPr>
      </p:sp>
      <p:sp>
        <p:nvSpPr>
          <p:cNvPr id="35" name="Shape 33"/>
          <p:cNvSpPr/>
          <p:nvPr/>
        </p:nvSpPr>
        <p:spPr>
          <a:xfrm>
            <a:off x="4864608" y="2103120"/>
            <a:ext cx="3858768" cy="1243584"/>
          </a:xfrm>
          <a:prstGeom prst="roundRect">
            <a:avLst>
              <a:gd name="adj" fmla="val 6618"/>
            </a:avLst>
          </a:prstGeom>
          <a:solidFill>
            <a:srgbClr val="3A2C1A"/>
          </a:solidFill>
          <a:ln w="27940">
            <a:solidFill>
              <a:srgbClr val="9B1C2E"/>
            </a:solidFill>
            <a:prstDash val="solid"/>
          </a:ln>
          <a:effectLst>
            <a:outerShdw sx="100000" sy="100000" kx="0" ky="0" algn="bl" rotWithShape="0" blurRad="177800" dist="50800" dir="2700000">
              <a:srgbClr val="000000">
                <a:alpha val="22000"/>
              </a:srgbClr>
            </a:outerShdw>
          </a:effectLst>
        </p:spPr>
      </p:sp>
      <p:sp>
        <p:nvSpPr>
          <p:cNvPr id="36" name="Shape 34"/>
          <p:cNvSpPr/>
          <p:nvPr/>
        </p:nvSpPr>
        <p:spPr>
          <a:xfrm>
            <a:off x="5096134" y="2152863"/>
            <a:ext cx="3395716" cy="771022"/>
          </a:xfrm>
          <a:prstGeom prst="ellipse">
            <a:avLst/>
          </a:prstGeom>
          <a:solidFill>
            <a:srgbClr val="D4943A">
              <a:alpha val="15000"/>
            </a:srgbClr>
          </a:solidFill>
          <a:ln w="12700">
            <a:solidFill>
              <a:srgbClr val="333333"/>
            </a:solidFill>
            <a:prstDash val="solid"/>
          </a:ln>
        </p:spPr>
      </p:sp>
      <p:sp>
        <p:nvSpPr>
          <p:cNvPr id="37" name="Shape 35"/>
          <p:cNvSpPr/>
          <p:nvPr/>
        </p:nvSpPr>
        <p:spPr>
          <a:xfrm>
            <a:off x="5843192" y="2322488"/>
            <a:ext cx="1901601" cy="431772"/>
          </a:xfrm>
          <a:prstGeom prst="ellipse">
            <a:avLst/>
          </a:prstGeom>
          <a:solidFill>
            <a:srgbClr val="D4943A">
              <a:alpha val="26000"/>
            </a:srgbClr>
          </a:solidFill>
          <a:ln w="12700">
            <a:solidFill>
              <a:srgbClr val="333333"/>
            </a:solidFill>
            <a:prstDash val="solid"/>
          </a:ln>
        </p:spPr>
      </p:sp>
      <p:sp>
        <p:nvSpPr>
          <p:cNvPr id="38" name="Text 36"/>
          <p:cNvSpPr/>
          <p:nvPr/>
        </p:nvSpPr>
        <p:spPr>
          <a:xfrm>
            <a:off x="4864608" y="2176272"/>
            <a:ext cx="3858768" cy="74615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39" name="Shape 37"/>
          <p:cNvSpPr/>
          <p:nvPr/>
        </p:nvSpPr>
        <p:spPr>
          <a:xfrm>
            <a:off x="4992624" y="2871216"/>
            <a:ext cx="3602736" cy="384048"/>
          </a:xfrm>
          <a:prstGeom prst="roundRect">
            <a:avLst>
              <a:gd name="adj" fmla="val 11905"/>
            </a:avLst>
          </a:prstGeom>
          <a:solidFill>
            <a:srgbClr val="F5EDD8"/>
          </a:solidFill>
          <a:ln w="12700">
            <a:solidFill>
              <a:srgbClr val="9B1C2E"/>
            </a:solidFill>
            <a:prstDash val="solid"/>
          </a:ln>
        </p:spPr>
      </p:sp>
      <p:sp>
        <p:nvSpPr>
          <p:cNvPr id="40" name="Text 38"/>
          <p:cNvSpPr/>
          <p:nvPr/>
        </p:nvSpPr>
        <p:spPr>
          <a:xfrm>
            <a:off x="4992624" y="2871216"/>
            <a:ext cx="3602736" cy="384048"/>
          </a:xfrm>
          <a:prstGeom prst="rect">
            <a:avLst/>
          </a:prstGeom>
          <a:noFill/>
          <a:ln/>
        </p:spPr>
        <p:txBody>
          <a:bodyPr wrap="square" lIns="0" tIns="0" rIns="0" bIns="0" rtlCol="0" anchor="ctr"/>
          <a:lstStyle/>
          <a:p>
            <a:pPr algn="ctr" indent="0" marL="0">
              <a:buNone/>
            </a:pPr>
            <a:r>
              <a:rPr lang="en-US" sz="1050" b="1" dirty="0">
                <a:solidFill>
                  <a:srgbClr val="3A2C1A"/>
                </a:solidFill>
                <a:latin typeface="Cambria" pitchFamily="34" charset="0"/>
                <a:ea typeface="Cambria" pitchFamily="34" charset="-122"/>
                <a:cs typeface="Cambria" pitchFamily="34" charset="-120"/>
              </a:rPr>
              <a:t>LEGEND / KEY</a:t>
            </a:r>
            <a:endParaRPr lang="en-US" sz="1050" dirty="0"/>
          </a:p>
          <a:p>
            <a:pPr algn="ctr" indent="0" marL="0">
              <a:buNone/>
            </a:pPr>
            <a:r>
              <a:rPr lang="en-US" sz="1050" b="1" dirty="0">
                <a:solidFill>
                  <a:srgbClr val="3A2C1A"/>
                </a:solidFill>
                <a:latin typeface="Cambria" pitchFamily="34" charset="0"/>
                <a:ea typeface="Cambria" pitchFamily="34" charset="-122"/>
                <a:cs typeface="Cambria" pitchFamily="34" charset="-120"/>
              </a:rPr>
              <a:t>Explains symbols &amp; colors</a:t>
            </a:r>
            <a:endParaRPr lang="en-US" sz="1050" dirty="0"/>
          </a:p>
        </p:txBody>
      </p:sp>
      <p:sp>
        <p:nvSpPr>
          <p:cNvPr id="41" name="Shape 39"/>
          <p:cNvSpPr/>
          <p:nvPr/>
        </p:nvSpPr>
        <p:spPr>
          <a:xfrm>
            <a:off x="338328" y="3429000"/>
            <a:ext cx="3986784" cy="1371600"/>
          </a:xfrm>
          <a:prstGeom prst="roundRect">
            <a:avLst>
              <a:gd name="adj" fmla="val 9333"/>
            </a:avLst>
          </a:prstGeom>
          <a:solidFill>
            <a:srgbClr val="C8A96A">
              <a:alpha val="30000"/>
            </a:srgbClr>
          </a:solidFill>
          <a:ln w="12700">
            <a:solidFill>
              <a:srgbClr val="333333"/>
            </a:solidFill>
            <a:prstDash val="solid"/>
          </a:ln>
        </p:spPr>
      </p:sp>
      <p:sp>
        <p:nvSpPr>
          <p:cNvPr id="42" name="Shape 40"/>
          <p:cNvSpPr/>
          <p:nvPr/>
        </p:nvSpPr>
        <p:spPr>
          <a:xfrm>
            <a:off x="402336" y="3493008"/>
            <a:ext cx="3858768" cy="1243584"/>
          </a:xfrm>
          <a:prstGeom prst="roundRect">
            <a:avLst>
              <a:gd name="adj" fmla="val 6618"/>
            </a:avLst>
          </a:prstGeom>
          <a:solidFill>
            <a:srgbClr val="3A2C1A"/>
          </a:solidFill>
          <a:ln w="27940">
            <a:solidFill>
              <a:srgbClr val="C8A96A"/>
            </a:solidFill>
            <a:prstDash val="solid"/>
          </a:ln>
          <a:effectLst>
            <a:outerShdw sx="100000" sy="100000" kx="0" ky="0" algn="bl" rotWithShape="0" blurRad="177800" dist="50800" dir="2700000">
              <a:srgbClr val="000000">
                <a:alpha val="22000"/>
              </a:srgbClr>
            </a:outerShdw>
          </a:effectLst>
        </p:spPr>
      </p:sp>
      <p:sp>
        <p:nvSpPr>
          <p:cNvPr id="43" name="Shape 41"/>
          <p:cNvSpPr/>
          <p:nvPr/>
        </p:nvSpPr>
        <p:spPr>
          <a:xfrm>
            <a:off x="633862" y="3542751"/>
            <a:ext cx="3395716" cy="771022"/>
          </a:xfrm>
          <a:prstGeom prst="ellipse">
            <a:avLst/>
          </a:prstGeom>
          <a:solidFill>
            <a:srgbClr val="D4943A">
              <a:alpha val="15000"/>
            </a:srgbClr>
          </a:solidFill>
          <a:ln w="12700">
            <a:solidFill>
              <a:srgbClr val="333333"/>
            </a:solidFill>
            <a:prstDash val="solid"/>
          </a:ln>
        </p:spPr>
      </p:sp>
      <p:sp>
        <p:nvSpPr>
          <p:cNvPr id="44" name="Shape 42"/>
          <p:cNvSpPr/>
          <p:nvPr/>
        </p:nvSpPr>
        <p:spPr>
          <a:xfrm>
            <a:off x="1380920" y="3712376"/>
            <a:ext cx="1901601" cy="431772"/>
          </a:xfrm>
          <a:prstGeom prst="ellipse">
            <a:avLst/>
          </a:prstGeom>
          <a:solidFill>
            <a:srgbClr val="D4943A">
              <a:alpha val="26000"/>
            </a:srgbClr>
          </a:solidFill>
          <a:ln w="12700">
            <a:solidFill>
              <a:srgbClr val="333333"/>
            </a:solidFill>
            <a:prstDash val="solid"/>
          </a:ln>
        </p:spPr>
      </p:sp>
      <p:sp>
        <p:nvSpPr>
          <p:cNvPr id="45" name="Text 43"/>
          <p:cNvSpPr/>
          <p:nvPr/>
        </p:nvSpPr>
        <p:spPr>
          <a:xfrm>
            <a:off x="402336" y="3566160"/>
            <a:ext cx="3858768" cy="74615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46" name="Shape 44"/>
          <p:cNvSpPr/>
          <p:nvPr/>
        </p:nvSpPr>
        <p:spPr>
          <a:xfrm>
            <a:off x="530352" y="4261104"/>
            <a:ext cx="3602736" cy="384048"/>
          </a:xfrm>
          <a:prstGeom prst="roundRect">
            <a:avLst>
              <a:gd name="adj" fmla="val 11905"/>
            </a:avLst>
          </a:prstGeom>
          <a:solidFill>
            <a:srgbClr val="F5EDD8"/>
          </a:solidFill>
          <a:ln w="12700">
            <a:solidFill>
              <a:srgbClr val="C8A96A"/>
            </a:solidFill>
            <a:prstDash val="solid"/>
          </a:ln>
        </p:spPr>
      </p:sp>
      <p:sp>
        <p:nvSpPr>
          <p:cNvPr id="47" name="Text 45"/>
          <p:cNvSpPr/>
          <p:nvPr/>
        </p:nvSpPr>
        <p:spPr>
          <a:xfrm>
            <a:off x="530352" y="4261104"/>
            <a:ext cx="3602736" cy="384048"/>
          </a:xfrm>
          <a:prstGeom prst="rect">
            <a:avLst/>
          </a:prstGeom>
          <a:noFill/>
          <a:ln/>
        </p:spPr>
        <p:txBody>
          <a:bodyPr wrap="square" lIns="0" tIns="0" rIns="0" bIns="0" rtlCol="0" anchor="ctr"/>
          <a:lstStyle/>
          <a:p>
            <a:pPr algn="ctr" indent="0" marL="0">
              <a:buNone/>
            </a:pPr>
            <a:r>
              <a:rPr lang="en-US" sz="1050" b="1" dirty="0">
                <a:solidFill>
                  <a:srgbClr val="3A2C1A"/>
                </a:solidFill>
                <a:latin typeface="Cambria" pitchFamily="34" charset="0"/>
                <a:ea typeface="Cambria" pitchFamily="34" charset="-122"/>
                <a:cs typeface="Cambria" pitchFamily="34" charset="-120"/>
              </a:rPr>
              <a:t>GRID / COORDINATES</a:t>
            </a:r>
            <a:endParaRPr lang="en-US" sz="1050" dirty="0"/>
          </a:p>
          <a:p>
            <a:pPr algn="ctr" indent="0" marL="0">
              <a:buNone/>
            </a:pPr>
            <a:r>
              <a:rPr lang="en-US" sz="1050" b="1" dirty="0">
                <a:solidFill>
                  <a:srgbClr val="3A2C1A"/>
                </a:solidFill>
                <a:latin typeface="Cambria" pitchFamily="34" charset="0"/>
                <a:ea typeface="Cambria" pitchFamily="34" charset="-122"/>
                <a:cs typeface="Cambria" pitchFamily="34" charset="-120"/>
              </a:rPr>
              <a:t>Helps locate exact places</a:t>
            </a:r>
            <a:endParaRPr lang="en-US" sz="1050" dirty="0"/>
          </a:p>
        </p:txBody>
      </p:sp>
      <p:sp>
        <p:nvSpPr>
          <p:cNvPr id="48" name="Shape 46"/>
          <p:cNvSpPr/>
          <p:nvPr/>
        </p:nvSpPr>
        <p:spPr>
          <a:xfrm>
            <a:off x="4800600" y="3429000"/>
            <a:ext cx="3986784" cy="1371600"/>
          </a:xfrm>
          <a:prstGeom prst="roundRect">
            <a:avLst>
              <a:gd name="adj" fmla="val 9333"/>
            </a:avLst>
          </a:prstGeom>
          <a:solidFill>
            <a:srgbClr val="1A8A7D">
              <a:alpha val="30000"/>
            </a:srgbClr>
          </a:solidFill>
          <a:ln w="12700">
            <a:solidFill>
              <a:srgbClr val="333333"/>
            </a:solidFill>
            <a:prstDash val="solid"/>
          </a:ln>
        </p:spPr>
      </p:sp>
      <p:sp>
        <p:nvSpPr>
          <p:cNvPr id="49" name="Shape 47"/>
          <p:cNvSpPr/>
          <p:nvPr/>
        </p:nvSpPr>
        <p:spPr>
          <a:xfrm>
            <a:off x="4864608" y="3493008"/>
            <a:ext cx="3858768" cy="1243584"/>
          </a:xfrm>
          <a:prstGeom prst="roundRect">
            <a:avLst>
              <a:gd name="adj" fmla="val 6618"/>
            </a:avLst>
          </a:prstGeom>
          <a:solidFill>
            <a:srgbClr val="3A2C1A"/>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50" name="Shape 48"/>
          <p:cNvSpPr/>
          <p:nvPr/>
        </p:nvSpPr>
        <p:spPr>
          <a:xfrm>
            <a:off x="5096134" y="3542751"/>
            <a:ext cx="3395716" cy="771022"/>
          </a:xfrm>
          <a:prstGeom prst="ellipse">
            <a:avLst/>
          </a:prstGeom>
          <a:solidFill>
            <a:srgbClr val="D4943A">
              <a:alpha val="15000"/>
            </a:srgbClr>
          </a:solidFill>
          <a:ln w="12700">
            <a:solidFill>
              <a:srgbClr val="333333"/>
            </a:solidFill>
            <a:prstDash val="solid"/>
          </a:ln>
        </p:spPr>
      </p:sp>
      <p:sp>
        <p:nvSpPr>
          <p:cNvPr id="51" name="Shape 49"/>
          <p:cNvSpPr/>
          <p:nvPr/>
        </p:nvSpPr>
        <p:spPr>
          <a:xfrm>
            <a:off x="5843192" y="3712376"/>
            <a:ext cx="1901601" cy="431772"/>
          </a:xfrm>
          <a:prstGeom prst="ellipse">
            <a:avLst/>
          </a:prstGeom>
          <a:solidFill>
            <a:srgbClr val="D4943A">
              <a:alpha val="26000"/>
            </a:srgbClr>
          </a:solidFill>
          <a:ln w="12700">
            <a:solidFill>
              <a:srgbClr val="333333"/>
            </a:solidFill>
            <a:prstDash val="solid"/>
          </a:ln>
        </p:spPr>
      </p:sp>
      <p:sp>
        <p:nvSpPr>
          <p:cNvPr id="52" name="Text 50"/>
          <p:cNvSpPr/>
          <p:nvPr/>
        </p:nvSpPr>
        <p:spPr>
          <a:xfrm>
            <a:off x="4864608" y="3566160"/>
            <a:ext cx="3858768" cy="74615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53" name="Shape 51"/>
          <p:cNvSpPr/>
          <p:nvPr/>
        </p:nvSpPr>
        <p:spPr>
          <a:xfrm>
            <a:off x="4992624" y="4261104"/>
            <a:ext cx="3602736" cy="384048"/>
          </a:xfrm>
          <a:prstGeom prst="roundRect">
            <a:avLst>
              <a:gd name="adj" fmla="val 11905"/>
            </a:avLst>
          </a:prstGeom>
          <a:solidFill>
            <a:srgbClr val="F5EDD8"/>
          </a:solidFill>
          <a:ln w="12700">
            <a:solidFill>
              <a:srgbClr val="1A8A7D"/>
            </a:solidFill>
            <a:prstDash val="solid"/>
          </a:ln>
        </p:spPr>
      </p:sp>
      <p:sp>
        <p:nvSpPr>
          <p:cNvPr id="54" name="Text 52"/>
          <p:cNvSpPr/>
          <p:nvPr/>
        </p:nvSpPr>
        <p:spPr>
          <a:xfrm>
            <a:off x="4992624" y="4261104"/>
            <a:ext cx="3602736" cy="384048"/>
          </a:xfrm>
          <a:prstGeom prst="rect">
            <a:avLst/>
          </a:prstGeom>
          <a:noFill/>
          <a:ln/>
        </p:spPr>
        <p:txBody>
          <a:bodyPr wrap="square" lIns="0" tIns="0" rIns="0" bIns="0" rtlCol="0" anchor="ctr"/>
          <a:lstStyle/>
          <a:p>
            <a:pPr algn="ctr" indent="0" marL="0">
              <a:buNone/>
            </a:pPr>
            <a:r>
              <a:rPr lang="en-US" sz="1050" b="1" dirty="0">
                <a:solidFill>
                  <a:srgbClr val="3A2C1A"/>
                </a:solidFill>
                <a:latin typeface="Cambria" pitchFamily="34" charset="0"/>
                <a:ea typeface="Cambria" pitchFamily="34" charset="-122"/>
                <a:cs typeface="Cambria" pitchFamily="34" charset="-120"/>
              </a:rPr>
              <a:t>AUTHOR &amp; DATE</a:t>
            </a:r>
            <a:endParaRPr lang="en-US" sz="1050" dirty="0"/>
          </a:p>
          <a:p>
            <a:pPr algn="ctr" indent="0" marL="0">
              <a:buNone/>
            </a:pPr>
            <a:r>
              <a:rPr lang="en-US" sz="1050" b="1" dirty="0">
                <a:solidFill>
                  <a:srgbClr val="3A2C1A"/>
                </a:solidFill>
                <a:latin typeface="Cambria" pitchFamily="34" charset="0"/>
                <a:ea typeface="Cambria" pitchFamily="34" charset="-122"/>
                <a:cs typeface="Cambria" pitchFamily="34" charset="-120"/>
              </a:rPr>
              <a:t>Tells us who made it &amp; when</a:t>
            </a:r>
            <a:endParaRPr lang="en-US" sz="1050" dirty="0"/>
          </a:p>
        </p:txBody>
      </p:sp>
      <p:sp>
        <p:nvSpPr>
          <p:cNvPr id="55" name="Shape 53"/>
          <p:cNvSpPr/>
          <p:nvPr/>
        </p:nvSpPr>
        <p:spPr>
          <a:xfrm>
            <a:off x="649224" y="4700016"/>
            <a:ext cx="164592" cy="256032"/>
          </a:xfrm>
          <a:prstGeom prst="ellipse">
            <a:avLst/>
          </a:prstGeom>
          <a:solidFill>
            <a:srgbClr val="D4943A"/>
          </a:solidFill>
          <a:ln w="12700">
            <a:solidFill>
              <a:srgbClr val="333333"/>
            </a:solidFill>
            <a:prstDash val="solid"/>
          </a:ln>
        </p:spPr>
      </p:sp>
      <p:sp>
        <p:nvSpPr>
          <p:cNvPr id="56" name="Shape 54"/>
          <p:cNvSpPr/>
          <p:nvPr/>
        </p:nvSpPr>
        <p:spPr>
          <a:xfrm>
            <a:off x="8330184" y="4700016"/>
            <a:ext cx="164592" cy="256032"/>
          </a:xfrm>
          <a:prstGeom prst="ellipse">
            <a:avLst/>
          </a:prstGeom>
          <a:solidFill>
            <a:srgbClr val="D4943A"/>
          </a:solidFill>
          <a:ln w="12700">
            <a:solidFill>
              <a:srgbClr val="333333"/>
            </a:solidFill>
            <a:prstDash val="solid"/>
          </a:ln>
        </p:spPr>
      </p:sp>
      <p:sp>
        <p:nvSpPr>
          <p:cNvPr id="57" name="Shape 55"/>
          <p:cNvSpPr/>
          <p:nvPr/>
        </p:nvSpPr>
        <p:spPr>
          <a:xfrm>
            <a:off x="731520" y="4828032"/>
            <a:ext cx="7680960" cy="0"/>
          </a:xfrm>
          <a:prstGeom prst="line">
            <a:avLst/>
          </a:prstGeom>
          <a:noFill/>
          <a:ln w="31750">
            <a:solidFill>
              <a:srgbClr val="D4943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5"/>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8F"/>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Map Scale: Why Size on Paper ≠ Size in Reality</a:t>
            </a:r>
            <a:endParaRPr lang="en-US" sz="2200" dirty="0"/>
          </a:p>
        </p:txBody>
      </p:sp>
      <p:sp>
        <p:nvSpPr>
          <p:cNvPr id="4" name="Shape 2"/>
          <p:cNvSpPr/>
          <p:nvPr/>
        </p:nvSpPr>
        <p:spPr>
          <a:xfrm>
            <a:off x="402336" y="768096"/>
            <a:ext cx="8339328" cy="1005840"/>
          </a:xfrm>
          <a:prstGeom prst="roundRect">
            <a:avLst>
              <a:gd name="adj" fmla="val 8182"/>
            </a:avLst>
          </a:prstGeom>
          <a:solidFill>
            <a:srgbClr val="1A3A8F">
              <a:alpha val="10000"/>
            </a:srgbClr>
          </a:solidFill>
          <a:ln w="19050">
            <a:solidFill>
              <a:srgbClr val="1A3A8F"/>
            </a:solidFill>
            <a:prstDash val="solid"/>
          </a:ln>
        </p:spPr>
      </p:sp>
      <p:sp>
        <p:nvSpPr>
          <p:cNvPr id="5" name="Text 3"/>
          <p:cNvSpPr/>
          <p:nvPr/>
        </p:nvSpPr>
        <p:spPr>
          <a:xfrm>
            <a:off x="585216" y="804672"/>
            <a:ext cx="7973568" cy="932688"/>
          </a:xfrm>
          <a:prstGeom prst="rect">
            <a:avLst/>
          </a:prstGeom>
          <a:noFill/>
          <a:ln/>
        </p:spPr>
        <p:txBody>
          <a:bodyPr wrap="square" rtlCol="0" anchor="ctr"/>
          <a:lstStyle/>
          <a:p>
            <a:pPr algn="l" indent="0" marL="0">
              <a:lnSpc>
                <a:spcPct val="140000"/>
              </a:lnSpc>
              <a:buNone/>
            </a:pPr>
            <a:r>
              <a:rPr lang="en-US" sz="1300" dirty="0">
                <a:solidFill>
                  <a:srgbClr val="3A4A6B"/>
                </a:solidFill>
                <a:latin typeface="Calibri" pitchFamily="34" charset="0"/>
                <a:ea typeface="Calibri" pitchFamily="34" charset="-122"/>
                <a:cs typeface="Calibri" pitchFamily="34" charset="-120"/>
              </a:rPr>
              <a:t>Map scale tells you the relationship between distance on the map and distance in the real world.</a:t>
            </a:r>
            <a:endParaRPr lang="en-US" sz="1300" dirty="0"/>
          </a:p>
          <a:p>
            <a:pPr algn="l" indent="0" marL="0">
              <a:lnSpc>
                <a:spcPct val="140000"/>
              </a:lnSpc>
              <a:buNone/>
            </a:pPr>
            <a:r>
              <a:rPr lang="en-US" sz="1300" dirty="0">
                <a:solidFill>
                  <a:srgbClr val="3A4A6B"/>
                </a:solidFill>
                <a:latin typeface="Calibri" pitchFamily="34" charset="0"/>
                <a:ea typeface="Calibri" pitchFamily="34" charset="-122"/>
                <a:cs typeface="Calibri" pitchFamily="34" charset="-120"/>
              </a:rPr>
              <a:t>A scale bar or ratio (like 1:50,000) lets you calculate actual distances from map measurements.</a:t>
            </a:r>
            <a:endParaRPr lang="en-US" sz="1300" dirty="0"/>
          </a:p>
        </p:txBody>
      </p:sp>
      <p:sp>
        <p:nvSpPr>
          <p:cNvPr id="6" name="Shape 4"/>
          <p:cNvSpPr/>
          <p:nvPr/>
        </p:nvSpPr>
        <p:spPr>
          <a:xfrm>
            <a:off x="402336" y="1883664"/>
            <a:ext cx="8339328" cy="896112"/>
          </a:xfrm>
          <a:prstGeom prst="roundRect">
            <a:avLst>
              <a:gd name="adj" fmla="val 9184"/>
            </a:avLst>
          </a:prstGeom>
          <a:solidFill>
            <a:srgbClr val="1A3A8F">
              <a:alpha val="8000"/>
            </a:srgbClr>
          </a:solidFill>
          <a:ln w="15240">
            <a:solidFill>
              <a:srgbClr val="1A3A8F"/>
            </a:solidFill>
            <a:prstDash val="solid"/>
          </a:ln>
        </p:spPr>
      </p:sp>
      <p:sp>
        <p:nvSpPr>
          <p:cNvPr id="7" name="Text 5"/>
          <p:cNvSpPr/>
          <p:nvPr/>
        </p:nvSpPr>
        <p:spPr>
          <a:xfrm>
            <a:off x="585216" y="1920240"/>
            <a:ext cx="6327648" cy="384048"/>
          </a:xfrm>
          <a:prstGeom prst="rect">
            <a:avLst/>
          </a:prstGeom>
          <a:noFill/>
          <a:ln/>
        </p:spPr>
        <p:txBody>
          <a:bodyPr wrap="square" lIns="0" tIns="0" rIns="0" bIns="0" rtlCol="0" anchor="ctr"/>
          <a:lstStyle/>
          <a:p>
            <a:pPr indent="0" marL="0">
              <a:buNone/>
            </a:pPr>
            <a:r>
              <a:rPr lang="en-US" sz="1250" b="1" dirty="0">
                <a:solidFill>
                  <a:srgbClr val="1A3A8F"/>
                </a:solidFill>
                <a:latin typeface="Cambria" pitchFamily="34" charset="0"/>
                <a:ea typeface="Cambria" pitchFamily="34" charset="-122"/>
                <a:cs typeface="Cambria" pitchFamily="34" charset="-120"/>
              </a:rPr>
              <a:t>🗺️ Big Picture  Small Scale (1:1,000,000 or more)</a:t>
            </a:r>
            <a:endParaRPr lang="en-US" sz="1250" dirty="0"/>
          </a:p>
        </p:txBody>
      </p:sp>
      <p:sp>
        <p:nvSpPr>
          <p:cNvPr id="8" name="Text 6"/>
          <p:cNvSpPr/>
          <p:nvPr/>
        </p:nvSpPr>
        <p:spPr>
          <a:xfrm>
            <a:off x="585216" y="2304288"/>
            <a:ext cx="7973568"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Shows a LARGE area with less detail. Example: a map of the entire United States. You can see all 50 states but you can't find individual streets.</a:t>
            </a:r>
            <a:endParaRPr lang="en-US" sz="1150" dirty="0"/>
          </a:p>
        </p:txBody>
      </p:sp>
      <p:sp>
        <p:nvSpPr>
          <p:cNvPr id="9" name="Shape 7"/>
          <p:cNvSpPr/>
          <p:nvPr/>
        </p:nvSpPr>
        <p:spPr>
          <a:xfrm>
            <a:off x="402336" y="2889504"/>
            <a:ext cx="8339328" cy="896112"/>
          </a:xfrm>
          <a:prstGeom prst="roundRect">
            <a:avLst>
              <a:gd name="adj" fmla="val 9184"/>
            </a:avLst>
          </a:prstGeom>
          <a:solidFill>
            <a:srgbClr val="1A3A8F">
              <a:alpha val="8000"/>
            </a:srgbClr>
          </a:solidFill>
          <a:ln w="15240">
            <a:solidFill>
              <a:srgbClr val="1A3A8F"/>
            </a:solidFill>
            <a:prstDash val="solid"/>
          </a:ln>
        </p:spPr>
      </p:sp>
      <p:sp>
        <p:nvSpPr>
          <p:cNvPr id="10" name="Text 8"/>
          <p:cNvSpPr/>
          <p:nvPr/>
        </p:nvSpPr>
        <p:spPr>
          <a:xfrm>
            <a:off x="585216" y="2926080"/>
            <a:ext cx="6327648" cy="384048"/>
          </a:xfrm>
          <a:prstGeom prst="rect">
            <a:avLst/>
          </a:prstGeom>
          <a:noFill/>
          <a:ln/>
        </p:spPr>
        <p:txBody>
          <a:bodyPr wrap="square" lIns="0" tIns="0" rIns="0" bIns="0" rtlCol="0" anchor="ctr"/>
          <a:lstStyle/>
          <a:p>
            <a:pPr indent="0" marL="0">
              <a:buNone/>
            </a:pPr>
            <a:r>
              <a:rPr lang="en-US" sz="1250" b="1" dirty="0">
                <a:solidFill>
                  <a:srgbClr val="1A3A8F"/>
                </a:solidFill>
                <a:latin typeface="Cambria" pitchFamily="34" charset="0"/>
                <a:ea typeface="Cambria" pitchFamily="34" charset="-122"/>
                <a:cs typeface="Cambria" pitchFamily="34" charset="-120"/>
              </a:rPr>
              <a:t>🔍 High Detail  Large Scale (1:10,000 or less)</a:t>
            </a:r>
            <a:endParaRPr lang="en-US" sz="1250" dirty="0"/>
          </a:p>
        </p:txBody>
      </p:sp>
      <p:sp>
        <p:nvSpPr>
          <p:cNvPr id="11" name="Text 9"/>
          <p:cNvSpPr/>
          <p:nvPr/>
        </p:nvSpPr>
        <p:spPr>
          <a:xfrm>
            <a:off x="585216" y="3310128"/>
            <a:ext cx="7973568"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Shows a SMALL area with lots of detail. Example: a street map of your neighborhood. You can see individual buildings and intersections.</a:t>
            </a:r>
            <a:endParaRPr lang="en-US" sz="1150" dirty="0"/>
          </a:p>
        </p:txBody>
      </p:sp>
      <p:sp>
        <p:nvSpPr>
          <p:cNvPr id="12" name="Shape 10"/>
          <p:cNvSpPr/>
          <p:nvPr/>
        </p:nvSpPr>
        <p:spPr>
          <a:xfrm>
            <a:off x="402336" y="3895344"/>
            <a:ext cx="8339328" cy="896112"/>
          </a:xfrm>
          <a:prstGeom prst="roundRect">
            <a:avLst>
              <a:gd name="adj" fmla="val 9184"/>
            </a:avLst>
          </a:prstGeom>
          <a:solidFill>
            <a:srgbClr val="D4943A">
              <a:alpha val="8000"/>
            </a:srgbClr>
          </a:solidFill>
          <a:ln w="15240">
            <a:solidFill>
              <a:srgbClr val="D4943A"/>
            </a:solidFill>
            <a:prstDash val="solid"/>
          </a:ln>
        </p:spPr>
      </p:sp>
      <p:sp>
        <p:nvSpPr>
          <p:cNvPr id="13" name="Text 11"/>
          <p:cNvSpPr/>
          <p:nvPr/>
        </p:nvSpPr>
        <p:spPr>
          <a:xfrm>
            <a:off x="585216" y="3931920"/>
            <a:ext cx="6327648" cy="384048"/>
          </a:xfrm>
          <a:prstGeom prst="rect">
            <a:avLst/>
          </a:prstGeom>
          <a:noFill/>
          <a:ln/>
        </p:spPr>
        <p:txBody>
          <a:bodyPr wrap="square" lIns="0" tIns="0" rIns="0" bIns="0" rtlCol="0" anchor="ctr"/>
          <a:lstStyle/>
          <a:p>
            <a:pPr indent="0" marL="0">
              <a:buNone/>
            </a:pPr>
            <a:r>
              <a:rPr lang="en-US" sz="1250" b="1" dirty="0">
                <a:solidFill>
                  <a:srgbClr val="B87A2A"/>
                </a:solidFill>
                <a:latin typeface="Cambria" pitchFamily="34" charset="0"/>
                <a:ea typeface="Cambria" pitchFamily="34" charset="-122"/>
                <a:cs typeface="Cambria" pitchFamily="34" charset="-120"/>
              </a:rPr>
              <a:t>⚠️ Real Consequences  Why It Matters</a:t>
            </a:r>
            <a:endParaRPr lang="en-US" sz="1250" dirty="0"/>
          </a:p>
        </p:txBody>
      </p:sp>
      <p:sp>
        <p:nvSpPr>
          <p:cNvPr id="14" name="Text 12"/>
          <p:cNvSpPr/>
          <p:nvPr/>
        </p:nvSpPr>
        <p:spPr>
          <a:xfrm>
            <a:off x="585216" y="4315968"/>
            <a:ext cx="7973568"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A soldier once marched 300 miles in the wrong direction because they used a small-scale map for a local navigation problem. Scale is life or death in the field.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5"/>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B1C2E"/>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Legend: A Map's Dictionary</a:t>
            </a:r>
            <a:endParaRPr lang="en-US" sz="2200" dirty="0"/>
          </a:p>
        </p:txBody>
      </p:sp>
      <p:sp>
        <p:nvSpPr>
          <p:cNvPr id="4" name="Text 2"/>
          <p:cNvSpPr/>
          <p:nvPr/>
        </p:nvSpPr>
        <p:spPr>
          <a:xfrm>
            <a:off x="457200" y="731520"/>
            <a:ext cx="8229600" cy="438912"/>
          </a:xfrm>
          <a:prstGeom prst="rect">
            <a:avLst/>
          </a:prstGeom>
          <a:noFill/>
          <a:ln/>
        </p:spPr>
        <p:txBody>
          <a:bodyPr wrap="square" lIns="0" tIns="0" rIns="0" bIns="0" rtlCol="0" anchor="ctr"/>
          <a:lstStyle/>
          <a:p>
            <a:pPr algn="ctr" indent="0" marL="0">
              <a:lnSpc>
                <a:spcPct val="135000"/>
              </a:lnSpc>
              <a:buNone/>
            </a:pPr>
            <a:r>
              <a:rPr lang="en-US" sz="1300" dirty="0">
                <a:solidFill>
                  <a:srgbClr val="2A1A0A"/>
                </a:solidFill>
                <a:latin typeface="Calibri" pitchFamily="34" charset="0"/>
                <a:ea typeface="Calibri" pitchFamily="34" charset="-122"/>
                <a:cs typeface="Calibri" pitchFamily="34" charset="-120"/>
              </a:rPr>
              <a:t>Without a legend, map symbols are meaningless. A blue line could be a river, a highway, or a state border. The legend is the key that unlocks the map's language.</a:t>
            </a:r>
            <a:endParaRPr lang="en-US" sz="1300" dirty="0"/>
          </a:p>
        </p:txBody>
      </p:sp>
      <p:sp>
        <p:nvSpPr>
          <p:cNvPr id="5" name="Shape 3"/>
          <p:cNvSpPr/>
          <p:nvPr/>
        </p:nvSpPr>
        <p:spPr>
          <a:xfrm>
            <a:off x="402336" y="1243584"/>
            <a:ext cx="3858768" cy="3621024"/>
          </a:xfrm>
          <a:prstGeom prst="roundRect">
            <a:avLst>
              <a:gd name="adj" fmla="val 2525"/>
            </a:avLst>
          </a:prstGeom>
          <a:solidFill>
            <a:srgbClr val="F5EDD8"/>
          </a:solidFill>
          <a:ln w="19050">
            <a:solidFill>
              <a:srgbClr val="B87A2A"/>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585216" y="1316736"/>
            <a:ext cx="3493008" cy="402336"/>
          </a:xfrm>
          <a:prstGeom prst="rect">
            <a:avLst/>
          </a:prstGeom>
          <a:noFill/>
          <a:ln/>
        </p:spPr>
        <p:txBody>
          <a:bodyPr wrap="square" lIns="0" tIns="0" rIns="0" bIns="0" rtlCol="0" anchor="ctr"/>
          <a:lstStyle/>
          <a:p>
            <a:pPr algn="ctr" indent="0" marL="0">
              <a:buNone/>
            </a:pPr>
            <a:r>
              <a:rPr lang="en-US" sz="1300" b="1" dirty="0">
                <a:solidFill>
                  <a:srgbClr val="3A2C1A"/>
                </a:solidFill>
                <a:latin typeface="Cambria" pitchFamily="34" charset="0"/>
                <a:ea typeface="Cambria" pitchFamily="34" charset="-122"/>
                <a:cs typeface="Cambria" pitchFamily="34" charset="-120"/>
              </a:rPr>
              <a:t>Sample Legend</a:t>
            </a:r>
            <a:endParaRPr lang="en-US" sz="1300" dirty="0"/>
          </a:p>
        </p:txBody>
      </p:sp>
      <p:sp>
        <p:nvSpPr>
          <p:cNvPr id="7" name="Shape 5"/>
          <p:cNvSpPr/>
          <p:nvPr/>
        </p:nvSpPr>
        <p:spPr>
          <a:xfrm>
            <a:off x="585216" y="1737360"/>
            <a:ext cx="3493008" cy="0"/>
          </a:xfrm>
          <a:prstGeom prst="line">
            <a:avLst/>
          </a:prstGeom>
          <a:noFill/>
          <a:ln w="10160">
            <a:solidFill>
              <a:srgbClr val="B87A2A"/>
            </a:solidFill>
            <a:prstDash val="solid"/>
          </a:ln>
        </p:spPr>
      </p:sp>
      <p:sp>
        <p:nvSpPr>
          <p:cNvPr id="8" name="Text 6"/>
          <p:cNvSpPr/>
          <p:nvPr/>
        </p:nvSpPr>
        <p:spPr>
          <a:xfrm>
            <a:off x="676656" y="1828800"/>
            <a:ext cx="1280160" cy="420624"/>
          </a:xfrm>
          <a:prstGeom prst="rect">
            <a:avLst/>
          </a:prstGeom>
          <a:noFill/>
          <a:ln/>
        </p:spPr>
        <p:txBody>
          <a:bodyPr wrap="square" lIns="0" tIns="0" rIns="0" bIns="0" rtlCol="0" anchor="ctr"/>
          <a:lstStyle/>
          <a:p>
            <a:pPr algn="ctr" indent="0" marL="0">
              <a:buNone/>
            </a:pPr>
            <a:r>
              <a:rPr lang="en-US" sz="1100" dirty="0">
                <a:solidFill>
                  <a:srgbClr val="1A3A8F"/>
                </a:solidFill>
                <a:latin typeface="Courier New" pitchFamily="34" charset="0"/>
                <a:ea typeface="Courier New" pitchFamily="34" charset="-122"/>
                <a:cs typeface="Courier New" pitchFamily="34" charset="-120"/>
              </a:rPr>
              <a:t>──────</a:t>
            </a:r>
            <a:endParaRPr lang="en-US" sz="1100" dirty="0"/>
          </a:p>
        </p:txBody>
      </p:sp>
      <p:sp>
        <p:nvSpPr>
          <p:cNvPr id="9" name="Text 7"/>
          <p:cNvSpPr/>
          <p:nvPr/>
        </p:nvSpPr>
        <p:spPr>
          <a:xfrm>
            <a:off x="1993392" y="1828800"/>
            <a:ext cx="1901952" cy="420624"/>
          </a:xfrm>
          <a:prstGeom prst="rect">
            <a:avLst/>
          </a:prstGeom>
          <a:noFill/>
          <a:ln/>
        </p:spPr>
        <p:txBody>
          <a:bodyPr wrap="square" lIns="0" tIns="0" rIns="0" bIns="0" rtlCol="0" anchor="ctr"/>
          <a:lstStyle/>
          <a:p>
            <a:pPr algn="l" indent="0" marL="0">
              <a:buNone/>
            </a:pPr>
            <a:r>
              <a:rPr lang="en-US" sz="1150" dirty="0">
                <a:solidFill>
                  <a:srgbClr val="2A1A0A"/>
                </a:solidFill>
                <a:latin typeface="Calibri" pitchFamily="34" charset="0"/>
                <a:ea typeface="Calibri" pitchFamily="34" charset="-122"/>
                <a:cs typeface="Calibri" pitchFamily="34" charset="-120"/>
              </a:rPr>
              <a:t>River</a:t>
            </a:r>
            <a:endParaRPr lang="en-US" sz="1150" dirty="0"/>
          </a:p>
        </p:txBody>
      </p:sp>
      <p:sp>
        <p:nvSpPr>
          <p:cNvPr id="10" name="Text 8"/>
          <p:cNvSpPr/>
          <p:nvPr/>
        </p:nvSpPr>
        <p:spPr>
          <a:xfrm>
            <a:off x="676656" y="2304288"/>
            <a:ext cx="1280160" cy="420624"/>
          </a:xfrm>
          <a:prstGeom prst="rect">
            <a:avLst/>
          </a:prstGeom>
          <a:noFill/>
          <a:ln/>
        </p:spPr>
        <p:txBody>
          <a:bodyPr wrap="square" lIns="0" tIns="0" rIns="0" bIns="0" rtlCol="0" anchor="ctr"/>
          <a:lstStyle/>
          <a:p>
            <a:pPr algn="ctr" indent="0" marL="0">
              <a:buNone/>
            </a:pPr>
            <a:r>
              <a:rPr lang="en-US" sz="1100" dirty="0">
                <a:solidFill>
                  <a:srgbClr val="9B1C2E"/>
                </a:solidFill>
                <a:latin typeface="Courier New" pitchFamily="34" charset="0"/>
                <a:ea typeface="Courier New" pitchFamily="34" charset="-122"/>
                <a:cs typeface="Courier New" pitchFamily="34" charset="-120"/>
              </a:rPr>
              <a:t>═══════</a:t>
            </a:r>
            <a:endParaRPr lang="en-US" sz="1100" dirty="0"/>
          </a:p>
        </p:txBody>
      </p:sp>
      <p:sp>
        <p:nvSpPr>
          <p:cNvPr id="11" name="Text 9"/>
          <p:cNvSpPr/>
          <p:nvPr/>
        </p:nvSpPr>
        <p:spPr>
          <a:xfrm>
            <a:off x="1993392" y="2304288"/>
            <a:ext cx="1901952" cy="420624"/>
          </a:xfrm>
          <a:prstGeom prst="rect">
            <a:avLst/>
          </a:prstGeom>
          <a:noFill/>
          <a:ln/>
        </p:spPr>
        <p:txBody>
          <a:bodyPr wrap="square" lIns="0" tIns="0" rIns="0" bIns="0" rtlCol="0" anchor="ctr"/>
          <a:lstStyle/>
          <a:p>
            <a:pPr algn="l" indent="0" marL="0">
              <a:buNone/>
            </a:pPr>
            <a:r>
              <a:rPr lang="en-US" sz="1150" dirty="0">
                <a:solidFill>
                  <a:srgbClr val="2A1A0A"/>
                </a:solidFill>
                <a:latin typeface="Calibri" pitchFamily="34" charset="0"/>
                <a:ea typeface="Calibri" pitchFamily="34" charset="-122"/>
                <a:cs typeface="Calibri" pitchFamily="34" charset="-120"/>
              </a:rPr>
              <a:t>Major Highway</a:t>
            </a:r>
            <a:endParaRPr lang="en-US" sz="1150" dirty="0"/>
          </a:p>
        </p:txBody>
      </p:sp>
      <p:sp>
        <p:nvSpPr>
          <p:cNvPr id="12" name="Text 10"/>
          <p:cNvSpPr/>
          <p:nvPr/>
        </p:nvSpPr>
        <p:spPr>
          <a:xfrm>
            <a:off x="676656" y="2779776"/>
            <a:ext cx="1280160" cy="420624"/>
          </a:xfrm>
          <a:prstGeom prst="rect">
            <a:avLst/>
          </a:prstGeom>
          <a:noFill/>
          <a:ln/>
        </p:spPr>
        <p:txBody>
          <a:bodyPr wrap="square" lIns="0" tIns="0" rIns="0" bIns="0" rtlCol="0" anchor="ctr"/>
          <a:lstStyle/>
          <a:p>
            <a:pPr algn="ctr" indent="0" marL="0">
              <a:buNone/>
            </a:pPr>
            <a:r>
              <a:rPr lang="en-US" sz="1100" dirty="0">
                <a:solidFill>
                  <a:srgbClr val="2D5A27"/>
                </a:solidFill>
                <a:latin typeface="Courier New" pitchFamily="34" charset="0"/>
                <a:ea typeface="Courier New" pitchFamily="34" charset="-122"/>
                <a:cs typeface="Courier New" pitchFamily="34" charset="-120"/>
              </a:rPr>
              <a:t>─ ─ ─ ─</a:t>
            </a:r>
            <a:endParaRPr lang="en-US" sz="1100" dirty="0"/>
          </a:p>
        </p:txBody>
      </p:sp>
      <p:sp>
        <p:nvSpPr>
          <p:cNvPr id="13" name="Text 11"/>
          <p:cNvSpPr/>
          <p:nvPr/>
        </p:nvSpPr>
        <p:spPr>
          <a:xfrm>
            <a:off x="1993392" y="2779776"/>
            <a:ext cx="1901952" cy="420624"/>
          </a:xfrm>
          <a:prstGeom prst="rect">
            <a:avLst/>
          </a:prstGeom>
          <a:noFill/>
          <a:ln/>
        </p:spPr>
        <p:txBody>
          <a:bodyPr wrap="square" lIns="0" tIns="0" rIns="0" bIns="0" rtlCol="0" anchor="ctr"/>
          <a:lstStyle/>
          <a:p>
            <a:pPr algn="l" indent="0" marL="0">
              <a:buNone/>
            </a:pPr>
            <a:r>
              <a:rPr lang="en-US" sz="1150" dirty="0">
                <a:solidFill>
                  <a:srgbClr val="2A1A0A"/>
                </a:solidFill>
                <a:latin typeface="Calibri" pitchFamily="34" charset="0"/>
                <a:ea typeface="Calibri" pitchFamily="34" charset="-122"/>
                <a:cs typeface="Calibri" pitchFamily="34" charset="-120"/>
              </a:rPr>
              <a:t>State Border</a:t>
            </a:r>
            <a:endParaRPr lang="en-US" sz="1150" dirty="0"/>
          </a:p>
        </p:txBody>
      </p:sp>
      <p:sp>
        <p:nvSpPr>
          <p:cNvPr id="14" name="Text 12"/>
          <p:cNvSpPr/>
          <p:nvPr/>
        </p:nvSpPr>
        <p:spPr>
          <a:xfrm>
            <a:off x="676656" y="3255264"/>
            <a:ext cx="1280160" cy="420624"/>
          </a:xfrm>
          <a:prstGeom prst="rect">
            <a:avLst/>
          </a:prstGeom>
          <a:noFill/>
          <a:ln/>
        </p:spPr>
        <p:txBody>
          <a:bodyPr wrap="square" lIns="0" tIns="0" rIns="0" bIns="0" rtlCol="0" anchor="ctr"/>
          <a:lstStyle/>
          <a:p>
            <a:pPr algn="ctr" indent="0" marL="0">
              <a:buNone/>
            </a:pPr>
            <a:r>
              <a:rPr lang="en-US" sz="1100" dirty="0">
                <a:solidFill>
                  <a:srgbClr val="555555"/>
                </a:solidFill>
                <a:latin typeface="Courier New" pitchFamily="34" charset="0"/>
                <a:ea typeface="Courier New" pitchFamily="34" charset="-122"/>
                <a:cs typeface="Courier New" pitchFamily="34" charset="-120"/>
              </a:rPr>
              <a:t>■</a:t>
            </a:r>
            <a:endParaRPr lang="en-US" sz="1100" dirty="0"/>
          </a:p>
        </p:txBody>
      </p:sp>
      <p:sp>
        <p:nvSpPr>
          <p:cNvPr id="15" name="Text 13"/>
          <p:cNvSpPr/>
          <p:nvPr/>
        </p:nvSpPr>
        <p:spPr>
          <a:xfrm>
            <a:off x="1993392" y="3255264"/>
            <a:ext cx="1901952" cy="420624"/>
          </a:xfrm>
          <a:prstGeom prst="rect">
            <a:avLst/>
          </a:prstGeom>
          <a:noFill/>
          <a:ln/>
        </p:spPr>
        <p:txBody>
          <a:bodyPr wrap="square" lIns="0" tIns="0" rIns="0" bIns="0" rtlCol="0" anchor="ctr"/>
          <a:lstStyle/>
          <a:p>
            <a:pPr algn="l" indent="0" marL="0">
              <a:buNone/>
            </a:pPr>
            <a:r>
              <a:rPr lang="en-US" sz="1150" dirty="0">
                <a:solidFill>
                  <a:srgbClr val="2A1A0A"/>
                </a:solidFill>
                <a:latin typeface="Calibri" pitchFamily="34" charset="0"/>
                <a:ea typeface="Calibri" pitchFamily="34" charset="-122"/>
                <a:cs typeface="Calibri" pitchFamily="34" charset="-120"/>
              </a:rPr>
              <a:t>City (100K+ people)</a:t>
            </a:r>
            <a:endParaRPr lang="en-US" sz="1150" dirty="0"/>
          </a:p>
        </p:txBody>
      </p:sp>
      <p:sp>
        <p:nvSpPr>
          <p:cNvPr id="16" name="Text 14"/>
          <p:cNvSpPr/>
          <p:nvPr/>
        </p:nvSpPr>
        <p:spPr>
          <a:xfrm>
            <a:off x="676656" y="3730752"/>
            <a:ext cx="1280160" cy="420624"/>
          </a:xfrm>
          <a:prstGeom prst="rect">
            <a:avLst/>
          </a:prstGeom>
          <a:noFill/>
          <a:ln/>
        </p:spPr>
        <p:txBody>
          <a:bodyPr wrap="square" lIns="0" tIns="0" rIns="0" bIns="0" rtlCol="0" anchor="ctr"/>
          <a:lstStyle/>
          <a:p>
            <a:pPr algn="ctr" indent="0" marL="0">
              <a:buNone/>
            </a:pPr>
            <a:r>
              <a:rPr lang="en-US" sz="1100" dirty="0">
                <a:solidFill>
                  <a:srgbClr val="8B0000"/>
                </a:solidFill>
                <a:latin typeface="Courier New" pitchFamily="34" charset="0"/>
                <a:ea typeface="Courier New" pitchFamily="34" charset="-122"/>
                <a:cs typeface="Courier New" pitchFamily="34" charset="-120"/>
              </a:rPr>
              <a:t>●</a:t>
            </a:r>
            <a:endParaRPr lang="en-US" sz="1100" dirty="0"/>
          </a:p>
        </p:txBody>
      </p:sp>
      <p:sp>
        <p:nvSpPr>
          <p:cNvPr id="17" name="Text 15"/>
          <p:cNvSpPr/>
          <p:nvPr/>
        </p:nvSpPr>
        <p:spPr>
          <a:xfrm>
            <a:off x="1993392" y="3730752"/>
            <a:ext cx="1901952" cy="420624"/>
          </a:xfrm>
          <a:prstGeom prst="rect">
            <a:avLst/>
          </a:prstGeom>
          <a:noFill/>
          <a:ln/>
        </p:spPr>
        <p:txBody>
          <a:bodyPr wrap="square" lIns="0" tIns="0" rIns="0" bIns="0" rtlCol="0" anchor="ctr"/>
          <a:lstStyle/>
          <a:p>
            <a:pPr algn="l" indent="0" marL="0">
              <a:buNone/>
            </a:pPr>
            <a:r>
              <a:rPr lang="en-US" sz="1150" dirty="0">
                <a:solidFill>
                  <a:srgbClr val="2A1A0A"/>
                </a:solidFill>
                <a:latin typeface="Calibri" pitchFamily="34" charset="0"/>
                <a:ea typeface="Calibri" pitchFamily="34" charset="-122"/>
                <a:cs typeface="Calibri" pitchFamily="34" charset="-120"/>
              </a:rPr>
              <a:t>State Capital</a:t>
            </a:r>
            <a:endParaRPr lang="en-US" sz="1150" dirty="0"/>
          </a:p>
        </p:txBody>
      </p:sp>
      <p:sp>
        <p:nvSpPr>
          <p:cNvPr id="18" name="Text 16"/>
          <p:cNvSpPr/>
          <p:nvPr/>
        </p:nvSpPr>
        <p:spPr>
          <a:xfrm>
            <a:off x="676656" y="4206240"/>
            <a:ext cx="1280160" cy="420624"/>
          </a:xfrm>
          <a:prstGeom prst="rect">
            <a:avLst/>
          </a:prstGeom>
          <a:noFill/>
          <a:ln/>
        </p:spPr>
        <p:txBody>
          <a:bodyPr wrap="square" lIns="0" tIns="0" rIns="0" bIns="0" rtlCol="0" anchor="ctr"/>
          <a:lstStyle/>
          <a:p>
            <a:pPr algn="ctr" indent="0" marL="0">
              <a:buNone/>
            </a:pPr>
            <a:r>
              <a:rPr lang="en-US" sz="1100" dirty="0">
                <a:solidFill>
                  <a:srgbClr val="FFD700"/>
                </a:solidFill>
                <a:latin typeface="Courier New" pitchFamily="34" charset="0"/>
                <a:ea typeface="Courier New" pitchFamily="34" charset="-122"/>
                <a:cs typeface="Courier New" pitchFamily="34" charset="-120"/>
              </a:rPr>
              <a:t>★</a:t>
            </a:r>
            <a:endParaRPr lang="en-US" sz="1100" dirty="0"/>
          </a:p>
        </p:txBody>
      </p:sp>
      <p:sp>
        <p:nvSpPr>
          <p:cNvPr id="19" name="Text 17"/>
          <p:cNvSpPr/>
          <p:nvPr/>
        </p:nvSpPr>
        <p:spPr>
          <a:xfrm>
            <a:off x="1993392" y="4206240"/>
            <a:ext cx="1901952" cy="420624"/>
          </a:xfrm>
          <a:prstGeom prst="rect">
            <a:avLst/>
          </a:prstGeom>
          <a:noFill/>
          <a:ln/>
        </p:spPr>
        <p:txBody>
          <a:bodyPr wrap="square" lIns="0" tIns="0" rIns="0" bIns="0" rtlCol="0" anchor="ctr"/>
          <a:lstStyle/>
          <a:p>
            <a:pPr algn="l" indent="0" marL="0">
              <a:buNone/>
            </a:pPr>
            <a:r>
              <a:rPr lang="en-US" sz="1150" dirty="0">
                <a:solidFill>
                  <a:srgbClr val="2A1A0A"/>
                </a:solidFill>
                <a:latin typeface="Calibri" pitchFamily="34" charset="0"/>
                <a:ea typeface="Calibri" pitchFamily="34" charset="-122"/>
                <a:cs typeface="Calibri" pitchFamily="34" charset="-120"/>
              </a:rPr>
              <a:t>National Capital</a:t>
            </a:r>
            <a:endParaRPr lang="en-US" sz="1150" dirty="0"/>
          </a:p>
        </p:txBody>
      </p:sp>
      <p:sp>
        <p:nvSpPr>
          <p:cNvPr id="20" name="Shape 18"/>
          <p:cNvSpPr/>
          <p:nvPr/>
        </p:nvSpPr>
        <p:spPr>
          <a:xfrm>
            <a:off x="4462272" y="1243584"/>
            <a:ext cx="4279392" cy="3621024"/>
          </a:xfrm>
          <a:prstGeom prst="roundRect">
            <a:avLst>
              <a:gd name="adj" fmla="val 2525"/>
            </a:avLst>
          </a:prstGeom>
          <a:solidFill>
            <a:srgbClr val="9B1C2E">
              <a:alpha val="8000"/>
            </a:srgbClr>
          </a:solidFill>
          <a:ln w="19050">
            <a:solidFill>
              <a:srgbClr val="9B1C2E"/>
            </a:solidFill>
            <a:prstDash val="solid"/>
          </a:ln>
        </p:spPr>
      </p:sp>
      <p:sp>
        <p:nvSpPr>
          <p:cNvPr id="21" name="Text 19"/>
          <p:cNvSpPr/>
          <p:nvPr/>
        </p:nvSpPr>
        <p:spPr>
          <a:xfrm>
            <a:off x="4645152" y="1316736"/>
            <a:ext cx="3913632" cy="402336"/>
          </a:xfrm>
          <a:prstGeom prst="rect">
            <a:avLst/>
          </a:prstGeom>
          <a:noFill/>
          <a:ln/>
        </p:spPr>
        <p:txBody>
          <a:bodyPr wrap="square" lIns="0" tIns="0" rIns="0" bIns="0" rtlCol="0" anchor="ctr"/>
          <a:lstStyle/>
          <a:p>
            <a:pPr algn="ctr" indent="0" marL="0">
              <a:buNone/>
            </a:pPr>
            <a:r>
              <a:rPr lang="en-US" sz="1300" b="1" dirty="0">
                <a:solidFill>
                  <a:srgbClr val="9B1C2E"/>
                </a:solidFill>
                <a:latin typeface="Cambria" pitchFamily="34" charset="0"/>
                <a:ea typeface="Cambria" pitchFamily="34" charset="-122"/>
                <a:cs typeface="Cambria" pitchFamily="34" charset="-120"/>
              </a:rPr>
              <a:t>Why the Legend Matters</a:t>
            </a:r>
            <a:endParaRPr lang="en-US" sz="1300" dirty="0"/>
          </a:p>
        </p:txBody>
      </p:sp>
      <p:sp>
        <p:nvSpPr>
          <p:cNvPr id="22" name="Text 20"/>
          <p:cNvSpPr/>
          <p:nvPr/>
        </p:nvSpPr>
        <p:spPr>
          <a:xfrm>
            <a:off x="4645152" y="1810512"/>
            <a:ext cx="3913632" cy="2962656"/>
          </a:xfrm>
          <a:prstGeom prst="rect">
            <a:avLst/>
          </a:prstGeom>
          <a:noFill/>
          <a:ln/>
        </p:spPr>
        <p:txBody>
          <a:bodyPr wrap="square" rtlCol="0" anchor="t"/>
          <a:lstStyle/>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1. Every map uses its OWN symbols. Blue doesn't always mean water.</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2. The legend shows the scale of symbols — a city symbol might represent 100K or 1M people depending on the map.</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3. Cartographers CHOOSE what to include in the legend — and what to leave out. A political map of 1900 might show colonial borders that indigenous people never recognized.</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4. Reading a legend carefully is an act of historical interpretation.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457200" y="502920"/>
            <a:ext cx="82296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267712" y="1408176"/>
            <a:ext cx="4608576"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Raise Your Hand: Name That Element</a:t>
            </a:r>
            <a:endParaRPr lang="en-US" sz="2600" dirty="0"/>
          </a:p>
        </p:txBody>
      </p:sp>
      <p:sp>
        <p:nvSpPr>
          <p:cNvPr id="13" name="Shape 11"/>
          <p:cNvSpPr/>
          <p:nvPr/>
        </p:nvSpPr>
        <p:spPr>
          <a:xfrm>
            <a:off x="402336" y="768096"/>
            <a:ext cx="8339328" cy="475488"/>
          </a:xfrm>
          <a:prstGeom prst="roundRect">
            <a:avLst>
              <a:gd name="adj" fmla="val 17308"/>
            </a:avLst>
          </a:prstGeom>
          <a:solidFill>
            <a:srgbClr val="D4943A">
              <a:alpha val="18000"/>
            </a:srgbClr>
          </a:solidFill>
          <a:ln w="19050">
            <a:solidFill>
              <a:srgbClr val="D4943A"/>
            </a:solidFill>
            <a:prstDash val="solid"/>
          </a:ln>
        </p:spPr>
      </p:sp>
      <p:sp>
        <p:nvSpPr>
          <p:cNvPr id="14" name="Text 12"/>
          <p:cNvSpPr/>
          <p:nvPr/>
        </p:nvSpPr>
        <p:spPr>
          <a:xfrm>
            <a:off x="585216" y="804672"/>
            <a:ext cx="7973568" cy="402336"/>
          </a:xfrm>
          <a:prstGeom prst="rect">
            <a:avLst/>
          </a:prstGeom>
          <a:noFill/>
          <a:ln/>
        </p:spPr>
        <p:txBody>
          <a:bodyPr wrap="square" lIns="0" tIns="0" rIns="0" bIns="0" rtlCol="0" anchor="ctr"/>
          <a:lstStyle/>
          <a:p>
            <a:pPr algn="ctr" indent="0" marL="0">
              <a:buNone/>
            </a:pPr>
            <a:r>
              <a:rPr lang="en-US" sz="1300" b="1" dirty="0">
                <a:solidFill>
                  <a:srgbClr val="3A2C1A"/>
                </a:solidFill>
                <a:latin typeface="Calibri" pitchFamily="34" charset="0"/>
                <a:ea typeface="Calibri" pitchFamily="34" charset="-122"/>
                <a:cs typeface="Calibri" pitchFamily="34" charset="-120"/>
              </a:rPr>
              <a:t>Raise your hand when you know which map element I'm describing.</a:t>
            </a:r>
            <a:endParaRPr lang="en-US" sz="1300" dirty="0"/>
          </a:p>
        </p:txBody>
      </p:sp>
      <p:sp>
        <p:nvSpPr>
          <p:cNvPr id="15" name="Shape 13"/>
          <p:cNvSpPr/>
          <p:nvPr/>
        </p:nvSpPr>
        <p:spPr>
          <a:xfrm>
            <a:off x="402336" y="1335024"/>
            <a:ext cx="8339328" cy="530352"/>
          </a:xfrm>
          <a:prstGeom prst="roundRect">
            <a:avLst>
              <a:gd name="adj" fmla="val 12069"/>
            </a:avLst>
          </a:prstGeom>
          <a:solidFill>
            <a:srgbClr val="2D5A27">
              <a:alpha val="15000"/>
            </a:srgbClr>
          </a:solidFill>
          <a:ln w="12700">
            <a:solidFill>
              <a:srgbClr val="4A8A42"/>
            </a:solidFill>
            <a:prstDash val="solid"/>
          </a:ln>
        </p:spPr>
      </p:sp>
      <p:sp>
        <p:nvSpPr>
          <p:cNvPr id="16" name="Text 14"/>
          <p:cNvSpPr/>
          <p:nvPr/>
        </p:nvSpPr>
        <p:spPr>
          <a:xfrm>
            <a:off x="585216" y="1335024"/>
            <a:ext cx="5961888" cy="53035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1.  You want to know if two cities are 10 miles or 100 miles apart on the map. What element do you check?</a:t>
            </a:r>
            <a:endParaRPr lang="en-US" sz="1150" dirty="0"/>
          </a:p>
        </p:txBody>
      </p:sp>
      <p:sp>
        <p:nvSpPr>
          <p:cNvPr id="17" name="Text 15"/>
          <p:cNvSpPr/>
          <p:nvPr/>
        </p:nvSpPr>
        <p:spPr>
          <a:xfrm>
            <a:off x="6583680" y="1335024"/>
            <a:ext cx="1975104" cy="530352"/>
          </a:xfrm>
          <a:prstGeom prst="rect">
            <a:avLst/>
          </a:prstGeom>
          <a:noFill/>
          <a:ln/>
        </p:spPr>
        <p:txBody>
          <a:bodyPr wrap="square" lIns="0" tIns="0" rIns="0" bIns="0" rtlCol="0" anchor="ctr"/>
          <a:lstStyle/>
          <a:p>
            <a:pPr algn="ctr" indent="0" marL="0">
              <a:buNone/>
            </a:pPr>
            <a:r>
              <a:rPr lang="en-US" sz="1150" b="1" dirty="0">
                <a:solidFill>
                  <a:srgbClr val="D4943A"/>
                </a:solidFill>
                <a:latin typeface="Cambria" pitchFamily="34" charset="0"/>
                <a:ea typeface="Cambria" pitchFamily="34" charset="-122"/>
                <a:cs typeface="Cambria" pitchFamily="34" charset="-120"/>
              </a:rPr>
              <a:t>→ SCALE</a:t>
            </a:r>
            <a:endParaRPr lang="en-US" sz="1150" dirty="0"/>
          </a:p>
        </p:txBody>
      </p:sp>
      <p:sp>
        <p:nvSpPr>
          <p:cNvPr id="18" name="Shape 16"/>
          <p:cNvSpPr/>
          <p:nvPr/>
        </p:nvSpPr>
        <p:spPr>
          <a:xfrm>
            <a:off x="402336" y="1938528"/>
            <a:ext cx="8339328" cy="530352"/>
          </a:xfrm>
          <a:prstGeom prst="roundRect">
            <a:avLst>
              <a:gd name="adj" fmla="val 12069"/>
            </a:avLst>
          </a:prstGeom>
          <a:solidFill>
            <a:srgbClr val="1A3A8F">
              <a:alpha val="15000"/>
            </a:srgbClr>
          </a:solidFill>
          <a:ln w="12700">
            <a:solidFill>
              <a:srgbClr val="1B4F72"/>
            </a:solidFill>
            <a:prstDash val="solid"/>
          </a:ln>
        </p:spPr>
      </p:sp>
      <p:sp>
        <p:nvSpPr>
          <p:cNvPr id="19" name="Text 17"/>
          <p:cNvSpPr/>
          <p:nvPr/>
        </p:nvSpPr>
        <p:spPr>
          <a:xfrm>
            <a:off x="585216" y="1938528"/>
            <a:ext cx="5961888" cy="53035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2.  You see a yellow triangle on the map, but you don't know what it means. What element will tell you?</a:t>
            </a:r>
            <a:endParaRPr lang="en-US" sz="1150" dirty="0"/>
          </a:p>
        </p:txBody>
      </p:sp>
      <p:sp>
        <p:nvSpPr>
          <p:cNvPr id="20" name="Text 18"/>
          <p:cNvSpPr/>
          <p:nvPr/>
        </p:nvSpPr>
        <p:spPr>
          <a:xfrm>
            <a:off x="6583680" y="1938528"/>
            <a:ext cx="1975104" cy="530352"/>
          </a:xfrm>
          <a:prstGeom prst="rect">
            <a:avLst/>
          </a:prstGeom>
          <a:noFill/>
          <a:ln/>
        </p:spPr>
        <p:txBody>
          <a:bodyPr wrap="square" lIns="0" tIns="0" rIns="0" bIns="0" rtlCol="0" anchor="ctr"/>
          <a:lstStyle/>
          <a:p>
            <a:pPr algn="ctr" indent="0" marL="0">
              <a:buNone/>
            </a:pPr>
            <a:r>
              <a:rPr lang="en-US" sz="1150" b="1" dirty="0">
                <a:solidFill>
                  <a:srgbClr val="D4943A"/>
                </a:solidFill>
                <a:latin typeface="Cambria" pitchFamily="34" charset="0"/>
                <a:ea typeface="Cambria" pitchFamily="34" charset="-122"/>
                <a:cs typeface="Cambria" pitchFamily="34" charset="-120"/>
              </a:rPr>
              <a:t>→ LEGEND</a:t>
            </a:r>
            <a:endParaRPr lang="en-US" sz="1150" dirty="0"/>
          </a:p>
        </p:txBody>
      </p:sp>
      <p:sp>
        <p:nvSpPr>
          <p:cNvPr id="21" name="Shape 19"/>
          <p:cNvSpPr/>
          <p:nvPr/>
        </p:nvSpPr>
        <p:spPr>
          <a:xfrm>
            <a:off x="402336" y="2542032"/>
            <a:ext cx="8339328" cy="530352"/>
          </a:xfrm>
          <a:prstGeom prst="roundRect">
            <a:avLst>
              <a:gd name="adj" fmla="val 12069"/>
            </a:avLst>
          </a:prstGeom>
          <a:solidFill>
            <a:srgbClr val="2D5A27">
              <a:alpha val="15000"/>
            </a:srgbClr>
          </a:solidFill>
          <a:ln w="12700">
            <a:solidFill>
              <a:srgbClr val="4A8A42"/>
            </a:solidFill>
            <a:prstDash val="solid"/>
          </a:ln>
        </p:spPr>
      </p:sp>
      <p:sp>
        <p:nvSpPr>
          <p:cNvPr id="22" name="Text 20"/>
          <p:cNvSpPr/>
          <p:nvPr/>
        </p:nvSpPr>
        <p:spPr>
          <a:xfrm>
            <a:off x="585216" y="2542032"/>
            <a:ext cx="5961888" cy="53035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3.  A map has no arrow pointing North. Which element is missing?</a:t>
            </a:r>
            <a:endParaRPr lang="en-US" sz="1150" dirty="0"/>
          </a:p>
        </p:txBody>
      </p:sp>
      <p:sp>
        <p:nvSpPr>
          <p:cNvPr id="23" name="Text 21"/>
          <p:cNvSpPr/>
          <p:nvPr/>
        </p:nvSpPr>
        <p:spPr>
          <a:xfrm>
            <a:off x="6583680" y="2542032"/>
            <a:ext cx="1975104" cy="530352"/>
          </a:xfrm>
          <a:prstGeom prst="rect">
            <a:avLst/>
          </a:prstGeom>
          <a:noFill/>
          <a:ln/>
        </p:spPr>
        <p:txBody>
          <a:bodyPr wrap="square" lIns="0" tIns="0" rIns="0" bIns="0" rtlCol="0" anchor="ctr"/>
          <a:lstStyle/>
          <a:p>
            <a:pPr algn="ctr" indent="0" marL="0">
              <a:buNone/>
            </a:pPr>
            <a:r>
              <a:rPr lang="en-US" sz="1150" b="1" dirty="0">
                <a:solidFill>
                  <a:srgbClr val="D4943A"/>
                </a:solidFill>
                <a:latin typeface="Cambria" pitchFamily="34" charset="0"/>
                <a:ea typeface="Cambria" pitchFamily="34" charset="-122"/>
                <a:cs typeface="Cambria" pitchFamily="34" charset="-120"/>
              </a:rPr>
              <a:t>→ COMPASS ROSE</a:t>
            </a:r>
            <a:endParaRPr lang="en-US" sz="1150" dirty="0"/>
          </a:p>
        </p:txBody>
      </p:sp>
      <p:sp>
        <p:nvSpPr>
          <p:cNvPr id="24" name="Shape 22"/>
          <p:cNvSpPr/>
          <p:nvPr/>
        </p:nvSpPr>
        <p:spPr>
          <a:xfrm>
            <a:off x="402336" y="3145536"/>
            <a:ext cx="8339328" cy="530352"/>
          </a:xfrm>
          <a:prstGeom prst="roundRect">
            <a:avLst>
              <a:gd name="adj" fmla="val 12069"/>
            </a:avLst>
          </a:prstGeom>
          <a:solidFill>
            <a:srgbClr val="1A3A8F">
              <a:alpha val="15000"/>
            </a:srgbClr>
          </a:solidFill>
          <a:ln w="12700">
            <a:solidFill>
              <a:srgbClr val="1B4F72"/>
            </a:solidFill>
            <a:prstDash val="solid"/>
          </a:ln>
        </p:spPr>
      </p:sp>
      <p:sp>
        <p:nvSpPr>
          <p:cNvPr id="25" name="Text 23"/>
          <p:cNvSpPr/>
          <p:nvPr/>
        </p:nvSpPr>
        <p:spPr>
          <a:xfrm>
            <a:off x="585216" y="3145536"/>
            <a:ext cx="5961888" cy="53035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4.  You want to check if this map was made before or after a specific historical event. What element helps you?</a:t>
            </a:r>
            <a:endParaRPr lang="en-US" sz="1150" dirty="0"/>
          </a:p>
        </p:txBody>
      </p:sp>
      <p:sp>
        <p:nvSpPr>
          <p:cNvPr id="26" name="Text 24"/>
          <p:cNvSpPr/>
          <p:nvPr/>
        </p:nvSpPr>
        <p:spPr>
          <a:xfrm>
            <a:off x="6583680" y="3145536"/>
            <a:ext cx="1975104" cy="530352"/>
          </a:xfrm>
          <a:prstGeom prst="rect">
            <a:avLst/>
          </a:prstGeom>
          <a:noFill/>
          <a:ln/>
        </p:spPr>
        <p:txBody>
          <a:bodyPr wrap="square" lIns="0" tIns="0" rIns="0" bIns="0" rtlCol="0" anchor="ctr"/>
          <a:lstStyle/>
          <a:p>
            <a:pPr algn="ctr" indent="0" marL="0">
              <a:buNone/>
            </a:pPr>
            <a:r>
              <a:rPr lang="en-US" sz="1150" b="1" dirty="0">
                <a:solidFill>
                  <a:srgbClr val="D4943A"/>
                </a:solidFill>
                <a:latin typeface="Cambria" pitchFamily="34" charset="0"/>
                <a:ea typeface="Cambria" pitchFamily="34" charset="-122"/>
                <a:cs typeface="Cambria" pitchFamily="34" charset="-120"/>
              </a:rPr>
              <a:t>→ DATE</a:t>
            </a:r>
            <a:endParaRPr lang="en-US" sz="1150" dirty="0"/>
          </a:p>
        </p:txBody>
      </p:sp>
      <p:sp>
        <p:nvSpPr>
          <p:cNvPr id="27" name="Shape 25"/>
          <p:cNvSpPr/>
          <p:nvPr/>
        </p:nvSpPr>
        <p:spPr>
          <a:xfrm>
            <a:off x="402336" y="3749040"/>
            <a:ext cx="8339328" cy="530352"/>
          </a:xfrm>
          <a:prstGeom prst="roundRect">
            <a:avLst>
              <a:gd name="adj" fmla="val 12069"/>
            </a:avLst>
          </a:prstGeom>
          <a:solidFill>
            <a:srgbClr val="2D5A27">
              <a:alpha val="15000"/>
            </a:srgbClr>
          </a:solidFill>
          <a:ln w="12700">
            <a:solidFill>
              <a:srgbClr val="4A8A42"/>
            </a:solidFill>
            <a:prstDash val="solid"/>
          </a:ln>
        </p:spPr>
      </p:sp>
      <p:sp>
        <p:nvSpPr>
          <p:cNvPr id="28" name="Text 26"/>
          <p:cNvSpPr/>
          <p:nvPr/>
        </p:nvSpPr>
        <p:spPr>
          <a:xfrm>
            <a:off x="585216" y="3749040"/>
            <a:ext cx="5961888" cy="53035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5.  You find an old map but can't tell if it shows Europe or the Americas. What element is missing?</a:t>
            </a:r>
            <a:endParaRPr lang="en-US" sz="1150" dirty="0"/>
          </a:p>
        </p:txBody>
      </p:sp>
      <p:sp>
        <p:nvSpPr>
          <p:cNvPr id="29" name="Text 27"/>
          <p:cNvSpPr/>
          <p:nvPr/>
        </p:nvSpPr>
        <p:spPr>
          <a:xfrm>
            <a:off x="6583680" y="3749040"/>
            <a:ext cx="1975104" cy="530352"/>
          </a:xfrm>
          <a:prstGeom prst="rect">
            <a:avLst/>
          </a:prstGeom>
          <a:noFill/>
          <a:ln/>
        </p:spPr>
        <p:txBody>
          <a:bodyPr wrap="square" lIns="0" tIns="0" rIns="0" bIns="0" rtlCol="0" anchor="ctr"/>
          <a:lstStyle/>
          <a:p>
            <a:pPr algn="ctr" indent="0" marL="0">
              <a:buNone/>
            </a:pPr>
            <a:r>
              <a:rPr lang="en-US" sz="1150" b="1" dirty="0">
                <a:solidFill>
                  <a:srgbClr val="D4943A"/>
                </a:solidFill>
                <a:latin typeface="Cambria" pitchFamily="34" charset="0"/>
                <a:ea typeface="Cambria" pitchFamily="34" charset="-122"/>
                <a:cs typeface="Cambria" pitchFamily="34" charset="-120"/>
              </a:rPr>
              <a:t>→ TITLE</a:t>
            </a:r>
            <a:endParaRPr lang="en-US" sz="1150" dirty="0"/>
          </a:p>
        </p:txBody>
      </p:sp>
      <p:sp>
        <p:nvSpPr>
          <p:cNvPr id="30" name="Shape 28"/>
          <p:cNvSpPr/>
          <p:nvPr/>
        </p:nvSpPr>
        <p:spPr>
          <a:xfrm>
            <a:off x="402336" y="4352544"/>
            <a:ext cx="8339328" cy="530352"/>
          </a:xfrm>
          <a:prstGeom prst="roundRect">
            <a:avLst>
              <a:gd name="adj" fmla="val 12069"/>
            </a:avLst>
          </a:prstGeom>
          <a:solidFill>
            <a:srgbClr val="1A3A8F">
              <a:alpha val="15000"/>
            </a:srgbClr>
          </a:solidFill>
          <a:ln w="12700">
            <a:solidFill>
              <a:srgbClr val="1B4F72"/>
            </a:solidFill>
            <a:prstDash val="solid"/>
          </a:ln>
        </p:spPr>
      </p:sp>
      <p:sp>
        <p:nvSpPr>
          <p:cNvPr id="31" name="Text 29"/>
          <p:cNvSpPr/>
          <p:nvPr/>
        </p:nvSpPr>
        <p:spPr>
          <a:xfrm>
            <a:off x="585216" y="4352544"/>
            <a:ext cx="5961888" cy="530352"/>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6.  You want to find a specific city by using letter-number coordinates. What element makes that possible?</a:t>
            </a:r>
            <a:endParaRPr lang="en-US" sz="1150" dirty="0"/>
          </a:p>
        </p:txBody>
      </p:sp>
      <p:sp>
        <p:nvSpPr>
          <p:cNvPr id="32" name="Text 30"/>
          <p:cNvSpPr/>
          <p:nvPr/>
        </p:nvSpPr>
        <p:spPr>
          <a:xfrm>
            <a:off x="6583680" y="4352544"/>
            <a:ext cx="1975104" cy="530352"/>
          </a:xfrm>
          <a:prstGeom prst="rect">
            <a:avLst/>
          </a:prstGeom>
          <a:noFill/>
          <a:ln/>
        </p:spPr>
        <p:txBody>
          <a:bodyPr wrap="square" lIns="0" tIns="0" rIns="0" bIns="0" rtlCol="0" anchor="ctr"/>
          <a:lstStyle/>
          <a:p>
            <a:pPr algn="ctr" indent="0" marL="0">
              <a:buNone/>
            </a:pPr>
            <a:r>
              <a:rPr lang="en-US" sz="1150" b="1" dirty="0">
                <a:solidFill>
                  <a:srgbClr val="D4943A"/>
                </a:solidFill>
                <a:latin typeface="Cambria" pitchFamily="34" charset="0"/>
                <a:ea typeface="Cambria" pitchFamily="34" charset="-122"/>
                <a:cs typeface="Cambria" pitchFamily="34" charset="-120"/>
              </a:rPr>
              <a:t>→ GRID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685800" y="502920"/>
            <a:ext cx="7772400" cy="4114800"/>
          </a:xfrm>
          <a:prstGeom prst="ellipse">
            <a:avLst/>
          </a:prstGeom>
          <a:solidFill>
            <a:srgbClr val="C7522A">
              <a:alpha val="15000"/>
            </a:srgbClr>
          </a:solidFill>
          <a:ln w="12700">
            <a:solidFill>
              <a:srgbClr val="333333"/>
            </a:solidFill>
            <a:prstDash val="solid"/>
          </a:ln>
        </p:spPr>
      </p:sp>
      <p:sp>
        <p:nvSpPr>
          <p:cNvPr id="11" name="Shape 9"/>
          <p:cNvSpPr/>
          <p:nvPr/>
        </p:nvSpPr>
        <p:spPr>
          <a:xfrm>
            <a:off x="2395728" y="1408176"/>
            <a:ext cx="4352544" cy="2304288"/>
          </a:xfrm>
          <a:prstGeom prst="ellipse">
            <a:avLst/>
          </a:prstGeom>
          <a:solidFill>
            <a:srgbClr val="C7522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The Map Critique</a:t>
            </a:r>
            <a:endParaRPr lang="en-US" sz="2600" dirty="0"/>
          </a:p>
        </p:txBody>
      </p:sp>
      <p:sp>
        <p:nvSpPr>
          <p:cNvPr id="13" name="Shape 11"/>
          <p:cNvSpPr/>
          <p:nvPr/>
        </p:nvSpPr>
        <p:spPr>
          <a:xfrm>
            <a:off x="402336" y="749808"/>
            <a:ext cx="8339328" cy="658368"/>
          </a:xfrm>
          <a:prstGeom prst="roundRect">
            <a:avLst>
              <a:gd name="adj" fmla="val 12500"/>
            </a:avLst>
          </a:prstGeom>
          <a:solidFill>
            <a:srgbClr val="C7522A">
              <a:alpha val="20000"/>
            </a:srgbClr>
          </a:solidFill>
          <a:ln w="19050">
            <a:solidFill>
              <a:srgbClr val="C7522A"/>
            </a:solidFill>
            <a:prstDash val="solid"/>
          </a:ln>
        </p:spPr>
      </p:sp>
      <p:sp>
        <p:nvSpPr>
          <p:cNvPr id="14" name="Text 12"/>
          <p:cNvSpPr/>
          <p:nvPr/>
        </p:nvSpPr>
        <p:spPr>
          <a:xfrm>
            <a:off x="585216" y="786384"/>
            <a:ext cx="7973568" cy="603504"/>
          </a:xfrm>
          <a:prstGeom prst="rect">
            <a:avLst/>
          </a:prstGeom>
          <a:noFill/>
          <a:ln/>
        </p:spPr>
        <p:txBody>
          <a:bodyPr wrap="square" rtlCol="0" anchor="ctr"/>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Your group is reviewing an old map. It has: a title, colored regions, symbols, and lines. But it is MISSING three elements. Work through these questions:</a:t>
            </a:r>
            <a:endParaRPr lang="en-US" sz="1200" dirty="0"/>
          </a:p>
        </p:txBody>
      </p:sp>
      <p:sp>
        <p:nvSpPr>
          <p:cNvPr id="15" name="Shape 13"/>
          <p:cNvSpPr/>
          <p:nvPr/>
        </p:nvSpPr>
        <p:spPr>
          <a:xfrm>
            <a:off x="402336" y="1517904"/>
            <a:ext cx="8339328" cy="731520"/>
          </a:xfrm>
          <a:prstGeom prst="roundRect">
            <a:avLst>
              <a:gd name="adj" fmla="val 8750"/>
            </a:avLst>
          </a:prstGeom>
          <a:solidFill>
            <a:srgbClr val="FFFFFF">
              <a:alpha val="8000"/>
            </a:srgbClr>
          </a:solidFill>
          <a:ln w="12700">
            <a:solidFill>
              <a:srgbClr val="D4943A"/>
            </a:solidFill>
            <a:prstDash val="solid"/>
          </a:ln>
        </p:spPr>
      </p:sp>
      <p:sp>
        <p:nvSpPr>
          <p:cNvPr id="16" name="Text 14"/>
          <p:cNvSpPr/>
          <p:nvPr/>
        </p:nvSpPr>
        <p:spPr>
          <a:xfrm>
            <a:off x="585216" y="1517904"/>
            <a:ext cx="7973568" cy="731520"/>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Calibri" pitchFamily="34" charset="0"/>
                <a:ea typeface="Calibri" pitchFamily="34" charset="-122"/>
                <a:cs typeface="Calibri" pitchFamily="34" charset="-120"/>
              </a:rPr>
              <a:t>1.  The map has no compass rose. You can see that the map is oriented with the North Pole at the top — but how do you KNOW? What visual clues might a map give without a compass rose?</a:t>
            </a:r>
            <a:endParaRPr lang="en-US" sz="1100" dirty="0"/>
          </a:p>
        </p:txBody>
      </p:sp>
      <p:sp>
        <p:nvSpPr>
          <p:cNvPr id="17" name="Shape 15"/>
          <p:cNvSpPr/>
          <p:nvPr/>
        </p:nvSpPr>
        <p:spPr>
          <a:xfrm>
            <a:off x="402336" y="2340864"/>
            <a:ext cx="8339328" cy="731520"/>
          </a:xfrm>
          <a:prstGeom prst="roundRect">
            <a:avLst>
              <a:gd name="adj" fmla="val 8750"/>
            </a:avLst>
          </a:prstGeom>
          <a:solidFill>
            <a:srgbClr val="FFFFFF">
              <a:alpha val="8000"/>
            </a:srgbClr>
          </a:solidFill>
          <a:ln w="12700">
            <a:solidFill>
              <a:srgbClr val="D4943A"/>
            </a:solidFill>
            <a:prstDash val="solid"/>
          </a:ln>
        </p:spPr>
      </p:sp>
      <p:sp>
        <p:nvSpPr>
          <p:cNvPr id="18" name="Text 16"/>
          <p:cNvSpPr/>
          <p:nvPr/>
        </p:nvSpPr>
        <p:spPr>
          <a:xfrm>
            <a:off x="585216" y="2340864"/>
            <a:ext cx="7973568" cy="731520"/>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Calibri" pitchFamily="34" charset="0"/>
                <a:ea typeface="Calibri" pitchFamily="34" charset="-122"/>
                <a:cs typeface="Calibri" pitchFamily="34" charset="-120"/>
              </a:rPr>
              <a:t>2.  There is no scale bar. You need to estimate how far two cities are apart. What could you use to make a rough estimate?</a:t>
            </a:r>
            <a:endParaRPr lang="en-US" sz="1100" dirty="0"/>
          </a:p>
        </p:txBody>
      </p:sp>
      <p:sp>
        <p:nvSpPr>
          <p:cNvPr id="19" name="Shape 17"/>
          <p:cNvSpPr/>
          <p:nvPr/>
        </p:nvSpPr>
        <p:spPr>
          <a:xfrm>
            <a:off x="402336" y="3163824"/>
            <a:ext cx="8339328" cy="731520"/>
          </a:xfrm>
          <a:prstGeom prst="roundRect">
            <a:avLst>
              <a:gd name="adj" fmla="val 8750"/>
            </a:avLst>
          </a:prstGeom>
          <a:solidFill>
            <a:srgbClr val="FFFFFF">
              <a:alpha val="8000"/>
            </a:srgbClr>
          </a:solidFill>
          <a:ln w="12700">
            <a:solidFill>
              <a:srgbClr val="D4943A"/>
            </a:solidFill>
            <a:prstDash val="solid"/>
          </a:ln>
        </p:spPr>
      </p:sp>
      <p:sp>
        <p:nvSpPr>
          <p:cNvPr id="20" name="Text 18"/>
          <p:cNvSpPr/>
          <p:nvPr/>
        </p:nvSpPr>
        <p:spPr>
          <a:xfrm>
            <a:off x="585216" y="3163824"/>
            <a:ext cx="7973568" cy="731520"/>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Calibri" pitchFamily="34" charset="0"/>
                <a:ea typeface="Calibri" pitchFamily="34" charset="-122"/>
                <a:cs typeface="Calibri" pitchFamily="34" charset="-120"/>
              </a:rPr>
              <a:t>3.  There is no legend. The map has blue regions and green regions. List 3 different things the colors MIGHT represent — and explain why the missing legend is a problem.</a:t>
            </a:r>
            <a:endParaRPr lang="en-US" sz="1100" dirty="0"/>
          </a:p>
        </p:txBody>
      </p:sp>
      <p:sp>
        <p:nvSpPr>
          <p:cNvPr id="21" name="Shape 19"/>
          <p:cNvSpPr/>
          <p:nvPr/>
        </p:nvSpPr>
        <p:spPr>
          <a:xfrm>
            <a:off x="402336" y="3986784"/>
            <a:ext cx="8339328" cy="731520"/>
          </a:xfrm>
          <a:prstGeom prst="roundRect">
            <a:avLst>
              <a:gd name="adj" fmla="val 8750"/>
            </a:avLst>
          </a:prstGeom>
          <a:solidFill>
            <a:srgbClr val="FFFFFF">
              <a:alpha val="8000"/>
            </a:srgbClr>
          </a:solidFill>
          <a:ln w="12700">
            <a:solidFill>
              <a:srgbClr val="D4943A"/>
            </a:solidFill>
            <a:prstDash val="solid"/>
          </a:ln>
        </p:spPr>
      </p:sp>
      <p:sp>
        <p:nvSpPr>
          <p:cNvPr id="22" name="Text 20"/>
          <p:cNvSpPr/>
          <p:nvPr/>
        </p:nvSpPr>
        <p:spPr>
          <a:xfrm>
            <a:off x="585216" y="3986784"/>
            <a:ext cx="7973568" cy="731520"/>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Calibri" pitchFamily="34" charset="0"/>
                <a:ea typeface="Calibri" pitchFamily="34" charset="-122"/>
                <a:cs typeface="Calibri" pitchFamily="34" charset="-120"/>
              </a:rPr>
              <a:t>4.  If you were presenting this map to your class and had to explain what's missing and why it matters — how would you do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914400" y="228600"/>
            <a:ext cx="73152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523744" y="1133856"/>
            <a:ext cx="4096512"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822960"/>
            <a:ext cx="8229600" cy="62179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 map without its elements is a guess.</a:t>
            </a:r>
            <a:endParaRPr lang="en-US" sz="3000" dirty="0"/>
          </a:p>
        </p:txBody>
      </p:sp>
      <p:sp>
        <p:nvSpPr>
          <p:cNvPr id="13" name="Shape 11"/>
          <p:cNvSpPr/>
          <p:nvPr/>
        </p:nvSpPr>
        <p:spPr>
          <a:xfrm>
            <a:off x="402336" y="1554480"/>
            <a:ext cx="8339328" cy="1737360"/>
          </a:xfrm>
          <a:prstGeom prst="roundRect">
            <a:avLst>
              <a:gd name="adj" fmla="val 5263"/>
            </a:avLst>
          </a:prstGeom>
          <a:solidFill>
            <a:srgbClr val="2D5A27">
              <a:alpha val="18000"/>
            </a:srgbClr>
          </a:solidFill>
          <a:ln w="19050">
            <a:solidFill>
              <a:srgbClr val="4A8A42"/>
            </a:solidFill>
            <a:prstDash val="solid"/>
          </a:ln>
        </p:spPr>
      </p:sp>
      <p:sp>
        <p:nvSpPr>
          <p:cNvPr id="14" name="Text 12"/>
          <p:cNvSpPr/>
          <p:nvPr/>
        </p:nvSpPr>
        <p:spPr>
          <a:xfrm>
            <a:off x="585216" y="1627632"/>
            <a:ext cx="7973568" cy="402336"/>
          </a:xfrm>
          <a:prstGeom prst="rect">
            <a:avLst/>
          </a:prstGeom>
          <a:noFill/>
          <a:ln/>
        </p:spPr>
        <p:txBody>
          <a:bodyPr wrap="square" lIns="0" tIns="0" rIns="0" bIns="0" rtlCol="0" anchor="ctr"/>
          <a:lstStyle/>
          <a:p>
            <a:pPr indent="0" marL="0">
              <a:buNone/>
            </a:pPr>
            <a:r>
              <a:rPr lang="en-US" sz="1400" b="1" dirty="0">
                <a:solidFill>
                  <a:srgbClr val="D4EDD0"/>
                </a:solidFill>
                <a:latin typeface="Cambria" pitchFamily="34" charset="0"/>
                <a:ea typeface="Cambria" pitchFamily="34" charset="-122"/>
                <a:cs typeface="Cambria" pitchFamily="34" charset="-120"/>
              </a:rPr>
              <a:t>Virtue Lens: Honesty</a:t>
            </a:r>
            <a:endParaRPr lang="en-US" sz="1400" dirty="0"/>
          </a:p>
        </p:txBody>
      </p:sp>
      <p:sp>
        <p:nvSpPr>
          <p:cNvPr id="15" name="Text 13"/>
          <p:cNvSpPr/>
          <p:nvPr/>
        </p:nvSpPr>
        <p:spPr>
          <a:xfrm>
            <a:off x="585216" y="2048256"/>
            <a:ext cx="7973568" cy="1170432"/>
          </a:xfrm>
          <a:prstGeom prst="rect">
            <a:avLst/>
          </a:prstGeom>
          <a:noFill/>
          <a:ln/>
        </p:spPr>
        <p:txBody>
          <a:bodyPr wrap="square" lIns="0" tIns="0" rIns="0" bIns="0" rtlCol="0" anchor="ctr"/>
          <a:lstStyle/>
          <a:p>
            <a:pPr indent="0" marL="0">
              <a:lnSpc>
                <a:spcPct val="145000"/>
              </a:lnSpc>
              <a:buNone/>
            </a:pPr>
            <a:r>
              <a:rPr lang="en-US" sz="1250" dirty="0">
                <a:solidFill>
                  <a:srgbClr val="F5EDD8"/>
                </a:solidFill>
                <a:latin typeface="Calibri" pitchFamily="34" charset="0"/>
                <a:ea typeface="Calibri" pitchFamily="34" charset="-122"/>
                <a:cs typeface="Calibri" pitchFamily="34" charset="-120"/>
              </a:rPr>
              <a:t>An honest map has all its elements — even the ones that reveal its limitations. A cartographer who knows their scale is approximate should label it 'approximate.' One who doesn't know the date their data was collected should say so. Honesty in cartography is the same as honesty in history: show your work, admit your limits.</a:t>
            </a:r>
            <a:endParaRPr lang="en-US" sz="1250" dirty="0"/>
          </a:p>
        </p:txBody>
      </p:sp>
      <p:sp>
        <p:nvSpPr>
          <p:cNvPr id="16" name="Shape 14"/>
          <p:cNvSpPr/>
          <p:nvPr/>
        </p:nvSpPr>
        <p:spPr>
          <a:xfrm>
            <a:off x="402336" y="3419856"/>
            <a:ext cx="8339328" cy="420624"/>
          </a:xfrm>
          <a:prstGeom prst="roundRect">
            <a:avLst>
              <a:gd name="adj" fmla="val 19565"/>
            </a:avLst>
          </a:prstGeom>
          <a:solidFill>
            <a:srgbClr val="1A8A7D">
              <a:alpha val="78000"/>
            </a:srgbClr>
          </a:solidFill>
          <a:ln w="19050">
            <a:solidFill>
              <a:srgbClr val="34B0A0"/>
            </a:solidFill>
            <a:prstDash val="solid"/>
          </a:ln>
        </p:spPr>
      </p:sp>
      <p:sp>
        <p:nvSpPr>
          <p:cNvPr id="17" name="Text 15"/>
          <p:cNvSpPr/>
          <p:nvPr/>
        </p:nvSpPr>
        <p:spPr>
          <a:xfrm>
            <a:off x="566928" y="3419856"/>
            <a:ext cx="801014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the Chat: Which map element do you think is MOST often missing from maps you've seen — and why?</a:t>
            </a:r>
            <a:endParaRPr lang="en-US" sz="1300" dirty="0"/>
          </a:p>
        </p:txBody>
      </p:sp>
      <p:sp>
        <p:nvSpPr>
          <p:cNvPr id="18" name="Shape 16"/>
          <p:cNvSpPr/>
          <p:nvPr/>
        </p:nvSpPr>
        <p:spPr>
          <a:xfrm>
            <a:off x="1014984" y="4645152"/>
            <a:ext cx="164592" cy="256032"/>
          </a:xfrm>
          <a:prstGeom prst="ellipse">
            <a:avLst/>
          </a:prstGeom>
          <a:solidFill>
            <a:srgbClr val="D4943A"/>
          </a:solidFill>
          <a:ln w="12700">
            <a:solidFill>
              <a:srgbClr val="333333"/>
            </a:solidFill>
            <a:prstDash val="solid"/>
          </a:ln>
        </p:spPr>
      </p:sp>
      <p:sp>
        <p:nvSpPr>
          <p:cNvPr id="19" name="Shape 17"/>
          <p:cNvSpPr/>
          <p:nvPr/>
        </p:nvSpPr>
        <p:spPr>
          <a:xfrm>
            <a:off x="7964424" y="4645152"/>
            <a:ext cx="164592" cy="256032"/>
          </a:xfrm>
          <a:prstGeom prst="ellipse">
            <a:avLst/>
          </a:prstGeom>
          <a:solidFill>
            <a:srgbClr val="D4943A"/>
          </a:solidFill>
          <a:ln w="12700">
            <a:solidFill>
              <a:srgbClr val="333333"/>
            </a:solidFill>
            <a:prstDash val="solid"/>
          </a:ln>
        </p:spPr>
      </p:sp>
      <p:sp>
        <p:nvSpPr>
          <p:cNvPr id="20" name="Shape 18"/>
          <p:cNvSpPr/>
          <p:nvPr/>
        </p:nvSpPr>
        <p:spPr>
          <a:xfrm>
            <a:off x="1097280" y="4773168"/>
            <a:ext cx="6949440" cy="0"/>
          </a:xfrm>
          <a:prstGeom prst="line">
            <a:avLst/>
          </a:prstGeom>
          <a:noFill/>
          <a:ln w="31750">
            <a:solidFill>
              <a:srgbClr val="D4943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3.03.01 — Map Elements: Title, Compass Rose, Scale, and Legend</dc:title>
  <dc:subject>PptxGenJS Presentation</dc:subject>
  <dc:creator>PptxGenJS</dc:creator>
  <cp:lastModifiedBy>PptxGenJS</cp:lastModifiedBy>
  <cp:revision>1</cp:revision>
  <dcterms:created xsi:type="dcterms:W3CDTF">2026-07-06T23:19:56Z</dcterms:created>
  <dcterms:modified xsi:type="dcterms:W3CDTF">2026-07-06T23:19:56Z</dcterms:modified>
</cp:coreProperties>
</file>