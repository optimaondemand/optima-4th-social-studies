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navigation tools, explorers would have been lost the moment they left sight of land. Today: the actual instruments, methods, and maps that made the Age of Exploration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atmosphere-setting text slowly. The chart room is intimate and high-stakes. Ask: 'If the compass broke mid-voyage, what could explorers use instead?' (Stars, sun angle, wind patterns) — let this simmer before answering.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instrument. Compass: 'Points north — but not TRUE north. Magnetic north and geographic north are different, which caused navigational errors.' Astrolabe: 'Measures the angle of the sun or a star above the horizon — tells you your latitude.' Hourglass: 'Flipped every 30 minutes, 24/7, by a crew member whose only job was to flip the glass.' Portolan chart: 'Made by sailors from sailors' — detailed around coasts, blank in the middle of oceans.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longitude problem is one of history's most dramatic scientific puzzles. It was finally solved in 1773 by John Harrison's marine chronometer. For 300 years of exploration, sailors were effectively half-blind. Ask: 'If you could only know one — latitude or longitude — which would you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question after presenting routes: 'Of the 270 sailors who left with Magellan, only 18 returned. Those 18 had technically circumnavigated the globe. Were they heroes? Survivors? Both? Who decides?' This connects to the virtue lens on courage and the historian's question WHO.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Breakout 4-5 minutes. These questions require reasoning, not memorization. Q1 answer: 28 degrees N (above the equator). Q2: sun position, wind direction, star patterns, currents, bird behavior. Q3: no right answer — use for discussion of risk tolerance and confidence. Q4: compass, astrolabe, portolan chart — but accept reasoned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type in chat. Then read the virtue lens together. Close: 'Next time we'll meet the explorers themselves — the actual people who used these tools. Some of them found what they were looking for. Some found something completely different. None of them found what they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E3D"/>
        </a:solidFill>
      </p:bgPr>
    </p:bg>
    <p:spTree>
      <p:nvGrpSpPr>
        <p:cNvPr id="1" name=""/>
        <p:cNvGrpSpPr/>
        <p:nvPr/>
      </p:nvGrpSpPr>
      <p:grpSpPr>
        <a:xfrm>
          <a:off x="0" y="0"/>
          <a:ext cx="0" cy="0"/>
          <a:chOff x="0" y="0"/>
          <a:chExt cx="0" cy="0"/>
        </a:xfrm>
      </p:grpSpPr>
      <p:sp>
        <p:nvSpPr>
          <p:cNvPr id="2" name="Shape 0"/>
          <p:cNvSpPr/>
          <p:nvPr/>
        </p:nvSpPr>
        <p:spPr>
          <a:xfrm>
            <a:off x="0" y="3474720"/>
            <a:ext cx="9144000" cy="1673352"/>
          </a:xfrm>
          <a:prstGeom prst="rect">
            <a:avLst/>
          </a:prstGeom>
          <a:solidFill>
            <a:srgbClr val="0D2E5A"/>
          </a:solidFill>
          <a:ln w="12700">
            <a:solidFill>
              <a:srgbClr val="333333"/>
            </a:solidFill>
            <a:prstDash val="solid"/>
          </a:ln>
        </p:spPr>
      </p:sp>
      <p:sp>
        <p:nvSpPr>
          <p:cNvPr id="3" name="Shape 1"/>
          <p:cNvSpPr/>
          <p:nvPr/>
        </p:nvSpPr>
        <p:spPr>
          <a:xfrm>
            <a:off x="0" y="2743200"/>
            <a:ext cx="9144000" cy="3657600"/>
          </a:xfrm>
          <a:prstGeom prst="ellipse">
            <a:avLst/>
          </a:prstGeom>
          <a:solidFill>
            <a:srgbClr val="D4AF37">
              <a:alpha val="14000"/>
            </a:srgbClr>
          </a:solidFill>
          <a:ln w="12700">
            <a:solidFill>
              <a:srgbClr val="333333"/>
            </a:solidFill>
            <a:prstDash val="solid"/>
          </a:ln>
        </p:spPr>
      </p:sp>
      <p:sp>
        <p:nvSpPr>
          <p:cNvPr id="4" name="Shape 2"/>
          <p:cNvSpPr/>
          <p:nvPr/>
        </p:nvSpPr>
        <p:spPr>
          <a:xfrm>
            <a:off x="2011680" y="3547872"/>
            <a:ext cx="5120640" cy="2048256"/>
          </a:xfrm>
          <a:prstGeom prst="ellipse">
            <a:avLst/>
          </a:prstGeom>
          <a:solidFill>
            <a:srgbClr val="D4AF37">
              <a:alpha val="25000"/>
            </a:srgbClr>
          </a:solidFill>
          <a:ln w="12700">
            <a:solidFill>
              <a:srgbClr val="333333"/>
            </a:solidFill>
            <a:prstDash val="solid"/>
          </a:ln>
        </p:spPr>
      </p:sp>
      <p:sp>
        <p:nvSpPr>
          <p:cNvPr id="5" name="Shape 3"/>
          <p:cNvSpPr/>
          <p:nvPr/>
        </p:nvSpPr>
        <p:spPr>
          <a:xfrm>
            <a:off x="0" y="3840480"/>
            <a:ext cx="9144000" cy="0"/>
          </a:xfrm>
          <a:prstGeom prst="line">
            <a:avLst/>
          </a:prstGeom>
          <a:noFill/>
          <a:ln w="6350">
            <a:solidFill>
              <a:srgbClr val="FFFFFF">
                <a:alpha val="6000"/>
              </a:srgbClr>
            </a:solidFill>
            <a:prstDash val="solid"/>
          </a:ln>
        </p:spPr>
      </p:sp>
      <p:sp>
        <p:nvSpPr>
          <p:cNvPr id="6" name="Shape 4"/>
          <p:cNvSpPr/>
          <p:nvPr/>
        </p:nvSpPr>
        <p:spPr>
          <a:xfrm>
            <a:off x="0" y="4041648"/>
            <a:ext cx="9144000" cy="0"/>
          </a:xfrm>
          <a:prstGeom prst="line">
            <a:avLst/>
          </a:prstGeom>
          <a:noFill/>
          <a:ln w="6350">
            <a:solidFill>
              <a:srgbClr val="FFFFFF">
                <a:alpha val="14000"/>
              </a:srgbClr>
            </a:solidFill>
            <a:prstDash val="solid"/>
          </a:ln>
        </p:spPr>
      </p:sp>
      <p:sp>
        <p:nvSpPr>
          <p:cNvPr id="7" name="Shape 5"/>
          <p:cNvSpPr/>
          <p:nvPr/>
        </p:nvSpPr>
        <p:spPr>
          <a:xfrm>
            <a:off x="0" y="4242816"/>
            <a:ext cx="9144000" cy="0"/>
          </a:xfrm>
          <a:prstGeom prst="line">
            <a:avLst/>
          </a:prstGeom>
          <a:noFill/>
          <a:ln w="6350">
            <a:solidFill>
              <a:srgbClr val="FFFFFF">
                <a:alpha val="22000"/>
              </a:srgbClr>
            </a:solidFill>
            <a:prstDash val="solid"/>
          </a:ln>
        </p:spPr>
      </p:sp>
      <p:sp>
        <p:nvSpPr>
          <p:cNvPr id="8" name="Shape 6"/>
          <p:cNvSpPr/>
          <p:nvPr/>
        </p:nvSpPr>
        <p:spPr>
          <a:xfrm>
            <a:off x="0" y="4443984"/>
            <a:ext cx="9144000" cy="0"/>
          </a:xfrm>
          <a:prstGeom prst="line">
            <a:avLst/>
          </a:prstGeom>
          <a:noFill/>
          <a:ln w="6350">
            <a:solidFill>
              <a:srgbClr val="FFFFFF">
                <a:alpha val="30000"/>
              </a:srgbClr>
            </a:solidFill>
            <a:prstDash val="solid"/>
          </a:ln>
        </p:spPr>
      </p:sp>
      <p:sp>
        <p:nvSpPr>
          <p:cNvPr id="9" name="Shape 7"/>
          <p:cNvSpPr/>
          <p:nvPr/>
        </p:nvSpPr>
        <p:spPr>
          <a:xfrm>
            <a:off x="0" y="4645152"/>
            <a:ext cx="9144000" cy="0"/>
          </a:xfrm>
          <a:prstGeom prst="line">
            <a:avLst/>
          </a:prstGeom>
          <a:noFill/>
          <a:ln w="6350">
            <a:solidFill>
              <a:srgbClr val="FFFFFF">
                <a:alpha val="38000"/>
              </a:srgbClr>
            </a:solidFill>
            <a:prstDash val="solid"/>
          </a:ln>
        </p:spPr>
      </p:sp>
      <p:sp>
        <p:nvSpPr>
          <p:cNvPr id="10" name="Shape 8"/>
          <p:cNvSpPr/>
          <p:nvPr/>
        </p:nvSpPr>
        <p:spPr>
          <a:xfrm>
            <a:off x="0" y="0"/>
            <a:ext cx="9144000" cy="50292"/>
          </a:xfrm>
          <a:prstGeom prst="rect">
            <a:avLst/>
          </a:prstGeom>
          <a:solidFill>
            <a:srgbClr val="D4AF37"/>
          </a:solidFill>
          <a:ln w="12700">
            <a:solidFill>
              <a:srgbClr val="333333"/>
            </a:solidFill>
            <a:prstDash val="solid"/>
          </a:ln>
        </p:spPr>
      </p:sp>
      <p:sp>
        <p:nvSpPr>
          <p:cNvPr id="11" name="Shape 9"/>
          <p:cNvSpPr/>
          <p:nvPr/>
        </p:nvSpPr>
        <p:spPr>
          <a:xfrm>
            <a:off x="1645920" y="164592"/>
            <a:ext cx="5852160" cy="475488"/>
          </a:xfrm>
          <a:prstGeom prst="roundRect">
            <a:avLst>
              <a:gd name="adj" fmla="val 13462"/>
            </a:avLst>
          </a:prstGeom>
          <a:solidFill>
            <a:srgbClr val="D4AF37">
              <a:alpha val="18000"/>
            </a:srgbClr>
          </a:solidFill>
          <a:ln w="12700">
            <a:solidFill>
              <a:srgbClr val="D4AF37"/>
            </a:solidFill>
            <a:prstDash val="solid"/>
          </a:ln>
        </p:spPr>
      </p:sp>
      <p:sp>
        <p:nvSpPr>
          <p:cNvPr id="12" name="Text 10"/>
          <p:cNvSpPr/>
          <p:nvPr/>
        </p:nvSpPr>
        <p:spPr>
          <a:xfrm>
            <a:off x="1645920" y="164592"/>
            <a:ext cx="5852160" cy="475488"/>
          </a:xfrm>
          <a:prstGeom prst="rect">
            <a:avLst/>
          </a:prstGeom>
          <a:noFill/>
          <a:ln/>
        </p:spPr>
        <p:txBody>
          <a:bodyPr wrap="square" lIns="0" tIns="0" rIns="0" bIns="0" rtlCol="0" anchor="ctr"/>
          <a:lstStyle/>
          <a:p>
            <a:pPr algn="ctr" indent="0" marL="0">
              <a:buNone/>
            </a:pPr>
            <a:r>
              <a:rPr lang="en-US" sz="1050" b="1" spc="250" kern="0" dirty="0">
                <a:solidFill>
                  <a:srgbClr val="D4AF37"/>
                </a:solidFill>
                <a:latin typeface="Calibri" pitchFamily="34" charset="0"/>
                <a:ea typeface="Calibri" pitchFamily="34" charset="-122"/>
                <a:cs typeface="Calibri" pitchFamily="34" charset="-120"/>
              </a:rPr>
              <a:t>EXPLORER'S VAULT  ·  UNIT 2  ·  WEEK 4</a:t>
            </a:r>
            <a:endParaRPr lang="en-US" sz="1050" dirty="0"/>
          </a:p>
        </p:txBody>
      </p:sp>
      <p:sp>
        <p:nvSpPr>
          <p:cNvPr id="13" name="Text 11"/>
          <p:cNvSpPr/>
          <p:nvPr/>
        </p:nvSpPr>
        <p:spPr>
          <a:xfrm>
            <a:off x="731520" y="768096"/>
            <a:ext cx="7680960" cy="2651760"/>
          </a:xfrm>
          <a:prstGeom prst="rect">
            <a:avLst/>
          </a:prstGeom>
          <a:noFill/>
          <a:ln/>
        </p:spPr>
        <p:txBody>
          <a:bodyPr wrap="square" lIns="0" tIns="0" rIns="0" bIns="0" rtlCol="0" anchor="ctr"/>
          <a:lstStyle/>
          <a:p>
            <a:pPr algn="ctr" indent="0" marL="0">
              <a:lnSpc>
                <a:spcPct val="110000"/>
              </a:lnSpc>
              <a:buNone/>
            </a:pPr>
            <a:r>
              <a:rPr lang="en-US" sz="5200" b="1" dirty="0">
                <a:solidFill>
                  <a:srgbClr val="FFFFFF"/>
                </a:solidFill>
                <a:latin typeface="Cambria" pitchFamily="34" charset="0"/>
                <a:ea typeface="Cambria" pitchFamily="34" charset="-122"/>
                <a:cs typeface="Cambria" pitchFamily="34" charset="-120"/>
              </a:rPr>
              <a:t>Navigation Tools</a:t>
            </a:r>
            <a:endParaRPr lang="en-US" sz="5200" dirty="0"/>
          </a:p>
          <a:p>
            <a:pPr algn="ctr" indent="0" marL="0">
              <a:lnSpc>
                <a:spcPct val="110000"/>
              </a:lnSpc>
              <a:buNone/>
            </a:pPr>
            <a:r>
              <a:rPr lang="en-US" sz="5200" b="1" dirty="0">
                <a:solidFill>
                  <a:srgbClr val="FFFFFF"/>
                </a:solidFill>
                <a:latin typeface="Cambria" pitchFamily="34" charset="0"/>
                <a:ea typeface="Cambria" pitchFamily="34" charset="-122"/>
                <a:cs typeface="Cambria" pitchFamily="34" charset="-120"/>
              </a:rPr>
              <a:t>and Explorer Routes</a:t>
            </a:r>
            <a:endParaRPr lang="en-US" sz="5200" dirty="0"/>
          </a:p>
        </p:txBody>
      </p:sp>
      <p:sp>
        <p:nvSpPr>
          <p:cNvPr id="14" name="Text 12"/>
          <p:cNvSpPr/>
          <p:nvPr/>
        </p:nvSpPr>
        <p:spPr>
          <a:xfrm>
            <a:off x="1371600" y="3511296"/>
            <a:ext cx="6400800" cy="347472"/>
          </a:xfrm>
          <a:prstGeom prst="rect">
            <a:avLst/>
          </a:prstGeom>
          <a:noFill/>
          <a:ln/>
        </p:spPr>
        <p:txBody>
          <a:bodyPr wrap="square" lIns="0" tIns="0" rIns="0" bIns="0" rtlCol="0" anchor="ctr"/>
          <a:lstStyle/>
          <a:p>
            <a:pPr algn="ctr" indent="0" marL="0">
              <a:buNone/>
            </a:pPr>
            <a:r>
              <a:rPr lang="en-US" sz="1250" dirty="0">
                <a:solidFill>
                  <a:srgbClr val="D4AF37"/>
                </a:solidFill>
                <a:latin typeface="Calibri" pitchFamily="34" charset="0"/>
                <a:ea typeface="Calibri" pitchFamily="34" charset="-122"/>
                <a:cs typeface="Calibri" pitchFamily="34" charset="-120"/>
              </a:rPr>
              <a:t>Lesson 3.02.02  ·  3rd Grade Social Studies</a:t>
            </a:r>
            <a:endParaRPr lang="en-US" sz="1250" dirty="0"/>
          </a:p>
        </p:txBody>
      </p:sp>
      <p:sp>
        <p:nvSpPr>
          <p:cNvPr id="15" name="Shape 13"/>
          <p:cNvSpPr/>
          <p:nvPr/>
        </p:nvSpPr>
        <p:spPr>
          <a:xfrm>
            <a:off x="2560320" y="3931920"/>
            <a:ext cx="4023360" cy="603504"/>
          </a:xfrm>
          <a:prstGeom prst="roundRect">
            <a:avLst>
              <a:gd name="adj" fmla="val 15152"/>
            </a:avLst>
          </a:prstGeom>
          <a:solidFill>
            <a:srgbClr val="A88920">
              <a:alpha val="20000"/>
            </a:srgbClr>
          </a:solidFill>
          <a:ln w="19050">
            <a:solidFill>
              <a:srgbClr val="A88920"/>
            </a:solidFill>
            <a:prstDash val="solid"/>
          </a:ln>
        </p:spPr>
      </p:sp>
      <p:sp>
        <p:nvSpPr>
          <p:cNvPr id="16" name="Text 14"/>
          <p:cNvSpPr/>
          <p:nvPr/>
        </p:nvSpPr>
        <p:spPr>
          <a:xfrm>
            <a:off x="2560320" y="3931920"/>
            <a:ext cx="4023360"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Source Study + Virtue Lens  ·  Virtue: Courage</a:t>
            </a:r>
            <a:endParaRPr lang="en-US" sz="1200" dirty="0"/>
          </a:p>
        </p:txBody>
      </p:sp>
      <p:sp>
        <p:nvSpPr>
          <p:cNvPr id="17" name="Shape 15"/>
          <p:cNvSpPr/>
          <p:nvPr/>
        </p:nvSpPr>
        <p:spPr>
          <a:xfrm>
            <a:off x="923544" y="4736592"/>
            <a:ext cx="164592" cy="256032"/>
          </a:xfrm>
          <a:prstGeom prst="ellipse">
            <a:avLst/>
          </a:prstGeom>
          <a:solidFill>
            <a:srgbClr val="D4AF37"/>
          </a:solidFill>
          <a:ln w="12700">
            <a:solidFill>
              <a:srgbClr val="333333"/>
            </a:solidFill>
            <a:prstDash val="solid"/>
          </a:ln>
        </p:spPr>
      </p:sp>
      <p:sp>
        <p:nvSpPr>
          <p:cNvPr id="18" name="Shape 16"/>
          <p:cNvSpPr/>
          <p:nvPr/>
        </p:nvSpPr>
        <p:spPr>
          <a:xfrm>
            <a:off x="8055864" y="4736592"/>
            <a:ext cx="164592" cy="256032"/>
          </a:xfrm>
          <a:prstGeom prst="ellipse">
            <a:avLst/>
          </a:prstGeom>
          <a:solidFill>
            <a:srgbClr val="D4AF37"/>
          </a:solidFill>
          <a:ln w="12700">
            <a:solidFill>
              <a:srgbClr val="333333"/>
            </a:solidFill>
            <a:prstDash val="solid"/>
          </a:ln>
        </p:spPr>
      </p:sp>
      <p:sp>
        <p:nvSpPr>
          <p:cNvPr id="19" name="Shape 17"/>
          <p:cNvSpPr/>
          <p:nvPr/>
        </p:nvSpPr>
        <p:spPr>
          <a:xfrm>
            <a:off x="1005840" y="4864608"/>
            <a:ext cx="7132320" cy="0"/>
          </a:xfrm>
          <a:prstGeom prst="line">
            <a:avLst/>
          </a:prstGeom>
          <a:noFill/>
          <a:ln w="31750">
            <a:solidFill>
              <a:srgbClr val="D4AF3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E3D"/>
        </a:solidFill>
      </p:bgPr>
    </p:bg>
    <p:spTree>
      <p:nvGrpSpPr>
        <p:cNvPr id="1" name=""/>
        <p:cNvGrpSpPr/>
        <p:nvPr/>
      </p:nvGrpSpPr>
      <p:grpSpPr>
        <a:xfrm>
          <a:off x="0" y="0"/>
          <a:ext cx="0" cy="0"/>
          <a:chOff x="0" y="0"/>
          <a:chExt cx="0" cy="0"/>
        </a:xfrm>
      </p:grpSpPr>
      <p:sp>
        <p:nvSpPr>
          <p:cNvPr id="2" name="Shape 0"/>
          <p:cNvSpPr/>
          <p:nvPr/>
        </p:nvSpPr>
        <p:spPr>
          <a:xfrm>
            <a:off x="0" y="274320"/>
            <a:ext cx="9144000" cy="4572000"/>
          </a:xfrm>
          <a:prstGeom prst="ellipse">
            <a:avLst/>
          </a:prstGeom>
          <a:solidFill>
            <a:srgbClr val="D4AF37">
              <a:alpha val="14000"/>
            </a:srgbClr>
          </a:solidFill>
          <a:ln w="12700">
            <a:solidFill>
              <a:srgbClr val="333333"/>
            </a:solidFill>
            <a:prstDash val="solid"/>
          </a:ln>
        </p:spPr>
      </p:sp>
      <p:sp>
        <p:nvSpPr>
          <p:cNvPr id="3" name="Shape 1"/>
          <p:cNvSpPr/>
          <p:nvPr/>
        </p:nvSpPr>
        <p:spPr>
          <a:xfrm>
            <a:off x="2011680" y="1280160"/>
            <a:ext cx="5120640" cy="2560320"/>
          </a:xfrm>
          <a:prstGeom prst="ellipse">
            <a:avLst/>
          </a:prstGeom>
          <a:solidFill>
            <a:srgbClr val="D4AF37">
              <a:alpha val="25000"/>
            </a:srgbClr>
          </a:solidFill>
          <a:ln w="12700">
            <a:solidFill>
              <a:srgbClr val="333333"/>
            </a:solidFill>
            <a:prstDash val="solid"/>
          </a:ln>
        </p:spPr>
      </p:sp>
      <p:sp>
        <p:nvSpPr>
          <p:cNvPr id="4" name="Shape 2"/>
          <p:cNvSpPr/>
          <p:nvPr/>
        </p:nvSpPr>
        <p:spPr>
          <a:xfrm>
            <a:off x="457200" y="201168"/>
            <a:ext cx="8229600" cy="4736592"/>
          </a:xfrm>
          <a:prstGeom prst="roundRect">
            <a:avLst>
              <a:gd name="adj" fmla="val 2317"/>
            </a:avLst>
          </a:prstGeom>
          <a:solidFill>
            <a:srgbClr val="0D2E5A">
              <a:alpha val="30000"/>
            </a:srgbClr>
          </a:solidFill>
          <a:ln w="25400">
            <a:solidFill>
              <a:srgbClr val="D4AF37"/>
            </a:solidFill>
            <a:prstDash val="solid"/>
          </a:ln>
          <a:effectLst>
            <a:outerShdw sx="100000" sy="100000" kx="0" ky="0" algn="bl" rotWithShape="0" blurRad="203200" dist="63500" dir="2700000">
              <a:srgbClr val="000000">
                <a:alpha val="25000"/>
              </a:srgbClr>
            </a:outerShdw>
          </a:effectLst>
        </p:spPr>
      </p:sp>
      <p:sp>
        <p:nvSpPr>
          <p:cNvPr id="5" name="Text 3"/>
          <p:cNvSpPr/>
          <p:nvPr/>
        </p:nvSpPr>
        <p:spPr>
          <a:xfrm>
            <a:off x="640080" y="329184"/>
            <a:ext cx="7863840" cy="548640"/>
          </a:xfrm>
          <a:prstGeom prst="rect">
            <a:avLst/>
          </a:prstGeom>
          <a:noFill/>
          <a:ln/>
        </p:spPr>
        <p:txBody>
          <a:bodyPr wrap="square" rtlCol="0" anchor="ctr"/>
          <a:lstStyle/>
          <a:p>
            <a:pPr algn="ctr" indent="0" marL="0">
              <a:buNone/>
            </a:pPr>
            <a:r>
              <a:rPr lang="en-US" sz="2400" b="1" dirty="0">
                <a:solidFill>
                  <a:srgbClr val="D4AF37"/>
                </a:solidFill>
                <a:latin typeface="Cambria" pitchFamily="34" charset="0"/>
                <a:ea typeface="Cambria" pitchFamily="34" charset="-122"/>
                <a:cs typeface="Cambria" pitchFamily="34" charset="-120"/>
              </a:rPr>
              <a:t>Welcome to the Chart Room</a:t>
            </a:r>
            <a:endParaRPr lang="en-US" sz="2400" dirty="0"/>
          </a:p>
        </p:txBody>
      </p:sp>
      <p:sp>
        <p:nvSpPr>
          <p:cNvPr id="6" name="Text 4"/>
          <p:cNvSpPr/>
          <p:nvPr/>
        </p:nvSpPr>
        <p:spPr>
          <a:xfrm>
            <a:off x="640080" y="969264"/>
            <a:ext cx="7863840" cy="3566160"/>
          </a:xfrm>
          <a:prstGeom prst="rect">
            <a:avLst/>
          </a:prstGeom>
          <a:noFill/>
          <a:ln/>
        </p:spPr>
        <p:txBody>
          <a:bodyPr wrap="square" rtlCol="0" anchor="t"/>
          <a:lstStyle/>
          <a:p>
            <a:pPr algn="l" indent="0" marL="0">
              <a:lnSpc>
                <a:spcPct val="155000"/>
              </a:lnSpc>
              <a:buNone/>
            </a:pPr>
            <a:r>
              <a:rPr lang="en-US" sz="1350" dirty="0">
                <a:solidFill>
                  <a:srgbClr val="F8F4E8"/>
                </a:solidFill>
                <a:latin typeface="Calibri" pitchFamily="34" charset="0"/>
                <a:ea typeface="Calibri" pitchFamily="34" charset="-122"/>
                <a:cs typeface="Calibri" pitchFamily="34" charset="-120"/>
              </a:rPr>
              <a:t>In the age of exploration, every ship had a chart room — a private cabin where the captain kept the most valuable objects on board: maps, compasses, astrolabes, and hourglasses.</a:t>
            </a:r>
            <a:endParaRPr lang="en-US" sz="1350" dirty="0"/>
          </a:p>
          <a:p>
            <a:pPr algn="l" indent="0" marL="0">
              <a:lnSpc>
                <a:spcPct val="155000"/>
              </a:lnSpc>
              <a:buNone/>
            </a:pPr>
            <a:endParaRPr lang="en-US" sz="1350" dirty="0"/>
          </a:p>
          <a:p>
            <a:pPr algn="l" indent="0" marL="0">
              <a:lnSpc>
                <a:spcPct val="155000"/>
              </a:lnSpc>
              <a:buNone/>
            </a:pPr>
            <a:r>
              <a:rPr lang="en-US" sz="1350" dirty="0">
                <a:solidFill>
                  <a:srgbClr val="F8F4E8"/>
                </a:solidFill>
                <a:latin typeface="Calibri" pitchFamily="34" charset="0"/>
                <a:ea typeface="Calibri" pitchFamily="34" charset="-122"/>
                <a:cs typeface="Calibri" pitchFamily="34" charset="-120"/>
              </a:rPr>
              <a:t>These weren't decorations. They were survival equipment.</a:t>
            </a:r>
            <a:endParaRPr lang="en-US" sz="1350" dirty="0"/>
          </a:p>
          <a:p>
            <a:pPr algn="l" indent="0" marL="0">
              <a:lnSpc>
                <a:spcPct val="155000"/>
              </a:lnSpc>
              <a:buNone/>
            </a:pPr>
            <a:endParaRPr lang="en-US" sz="1350" dirty="0"/>
          </a:p>
          <a:p>
            <a:pPr algn="l" indent="0" marL="0">
              <a:lnSpc>
                <a:spcPct val="155000"/>
              </a:lnSpc>
              <a:buNone/>
            </a:pPr>
            <a:r>
              <a:rPr lang="en-US" sz="1350" dirty="0">
                <a:solidFill>
                  <a:srgbClr val="F8F4E8"/>
                </a:solidFill>
                <a:latin typeface="Calibri" pitchFamily="34" charset="0"/>
                <a:ea typeface="Calibri" pitchFamily="34" charset="-122"/>
                <a:cs typeface="Calibri" pitchFamily="34" charset="-120"/>
              </a:rPr>
              <a:t>A sailor who knew how to use them could navigate thousands of miles of open ocean.</a:t>
            </a:r>
            <a:endParaRPr lang="en-US" sz="1350" dirty="0"/>
          </a:p>
          <a:p>
            <a:pPr algn="l" indent="0" marL="0">
              <a:lnSpc>
                <a:spcPct val="155000"/>
              </a:lnSpc>
              <a:buNone/>
            </a:pPr>
            <a:r>
              <a:rPr lang="en-US" sz="1350" dirty="0">
                <a:solidFill>
                  <a:srgbClr val="F8F4E8"/>
                </a:solidFill>
                <a:latin typeface="Calibri" pitchFamily="34" charset="0"/>
                <a:ea typeface="Calibri" pitchFamily="34" charset="-122"/>
                <a:cs typeface="Calibri" pitchFamily="34" charset="-120"/>
              </a:rPr>
              <a:t>A sailor who didn't — and whose instruments broke — could drift forever.</a:t>
            </a:r>
            <a:endParaRPr lang="en-US" sz="1350" dirty="0"/>
          </a:p>
          <a:p>
            <a:pPr algn="l" indent="0" marL="0">
              <a:lnSpc>
                <a:spcPct val="155000"/>
              </a:lnSpc>
              <a:buNone/>
            </a:pPr>
            <a:endParaRPr lang="en-US" sz="1350" dirty="0"/>
          </a:p>
          <a:p>
            <a:pPr algn="l" indent="0" marL="0">
              <a:lnSpc>
                <a:spcPct val="155000"/>
              </a:lnSpc>
              <a:buNone/>
            </a:pPr>
            <a:r>
              <a:rPr lang="en-US" sz="1350" dirty="0">
                <a:solidFill>
                  <a:srgbClr val="F8F4E8"/>
                </a:solidFill>
                <a:latin typeface="Calibri" pitchFamily="34" charset="0"/>
                <a:ea typeface="Calibri" pitchFamily="34" charset="-122"/>
                <a:cs typeface="Calibri" pitchFamily="34" charset="-120"/>
              </a:rPr>
              <a:t>Today you'll meet each instrument and understand exactly how it worked.</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4101F"/>
        </a:solidFill>
      </p:bgPr>
    </p:bg>
    <p:spTree>
      <p:nvGrpSpPr>
        <p:cNvPr id="1" name=""/>
        <p:cNvGrpSpPr/>
        <p:nvPr/>
      </p:nvGrpSpPr>
      <p:grpSpPr>
        <a:xfrm>
          <a:off x="0" y="0"/>
          <a:ext cx="0" cy="0"/>
          <a:chOff x="0" y="0"/>
          <a:chExt cx="0" cy="0"/>
        </a:xfrm>
      </p:grpSpPr>
      <p:sp>
        <p:nvSpPr>
          <p:cNvPr id="2" name="Shape 0"/>
          <p:cNvSpPr/>
          <p:nvPr/>
        </p:nvSpPr>
        <p:spPr>
          <a:xfrm>
            <a:off x="0" y="-228600"/>
            <a:ext cx="9144000" cy="5029200"/>
          </a:xfrm>
          <a:prstGeom prst="ellipse">
            <a:avLst/>
          </a:prstGeom>
          <a:solidFill>
            <a:srgbClr val="D4AF37">
              <a:alpha val="14000"/>
            </a:srgbClr>
          </a:solidFill>
          <a:ln w="12700">
            <a:solidFill>
              <a:srgbClr val="333333"/>
            </a:solidFill>
            <a:prstDash val="solid"/>
          </a:ln>
        </p:spPr>
      </p:sp>
      <p:sp>
        <p:nvSpPr>
          <p:cNvPr id="3" name="Shape 1"/>
          <p:cNvSpPr/>
          <p:nvPr/>
        </p:nvSpPr>
        <p:spPr>
          <a:xfrm>
            <a:off x="2011680" y="877824"/>
            <a:ext cx="5120640" cy="2816352"/>
          </a:xfrm>
          <a:prstGeom prst="ellipse">
            <a:avLst/>
          </a:prstGeom>
          <a:solidFill>
            <a:srgbClr val="D4AF37">
              <a:alpha val="25000"/>
            </a:srgbClr>
          </a:solidFill>
          <a:ln w="12700">
            <a:solidFill>
              <a:srgbClr val="333333"/>
            </a:solidFill>
            <a:prstDash val="solid"/>
          </a:ln>
        </p:spPr>
      </p:sp>
      <p:sp>
        <p:nvSpPr>
          <p:cNvPr id="4" name="Text 2"/>
          <p:cNvSpPr/>
          <p:nvPr/>
        </p:nvSpPr>
        <p:spPr>
          <a:xfrm>
            <a:off x="457200" y="128016"/>
            <a:ext cx="8229600" cy="4754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The Navigator's Instruments</a:t>
            </a:r>
            <a:endParaRPr lang="en-US" sz="2600" dirty="0"/>
          </a:p>
        </p:txBody>
      </p:sp>
      <p:sp>
        <p:nvSpPr>
          <p:cNvPr id="5" name="Shape 3"/>
          <p:cNvSpPr/>
          <p:nvPr/>
        </p:nvSpPr>
        <p:spPr>
          <a:xfrm>
            <a:off x="338328" y="649224"/>
            <a:ext cx="3986784" cy="2048256"/>
          </a:xfrm>
          <a:prstGeom prst="roundRect">
            <a:avLst>
              <a:gd name="adj" fmla="val 6250"/>
            </a:avLst>
          </a:prstGeom>
          <a:solidFill>
            <a:srgbClr val="9B1C2E">
              <a:alpha val="30000"/>
            </a:srgbClr>
          </a:solidFill>
          <a:ln w="12700">
            <a:solidFill>
              <a:srgbClr val="333333"/>
            </a:solidFill>
            <a:prstDash val="solid"/>
          </a:ln>
        </p:spPr>
      </p:sp>
      <p:sp>
        <p:nvSpPr>
          <p:cNvPr id="6" name="Shape 4"/>
          <p:cNvSpPr/>
          <p:nvPr/>
        </p:nvSpPr>
        <p:spPr>
          <a:xfrm>
            <a:off x="402336" y="713232"/>
            <a:ext cx="3858768" cy="1920240"/>
          </a:xfrm>
          <a:prstGeom prst="roundRect">
            <a:avLst>
              <a:gd name="adj" fmla="val 4286"/>
            </a:avLst>
          </a:prstGeom>
          <a:solidFill>
            <a:srgbClr val="04101F"/>
          </a:solidFill>
          <a:ln w="27940">
            <a:solidFill>
              <a:srgbClr val="9B1C2E"/>
            </a:solidFill>
            <a:prstDash val="solid"/>
          </a:ln>
          <a:effectLst>
            <a:outerShdw sx="100000" sy="100000" kx="0" ky="0" algn="bl" rotWithShape="0" blurRad="203200" dist="63500" dir="2700000">
              <a:srgbClr val="000000">
                <a:alpha val="25000"/>
              </a:srgbClr>
            </a:outerShdw>
          </a:effectLst>
        </p:spPr>
      </p:sp>
      <p:sp>
        <p:nvSpPr>
          <p:cNvPr id="7" name="Shape 5"/>
          <p:cNvSpPr/>
          <p:nvPr/>
        </p:nvSpPr>
        <p:spPr>
          <a:xfrm>
            <a:off x="633862" y="790042"/>
            <a:ext cx="3395716" cy="1190549"/>
          </a:xfrm>
          <a:prstGeom prst="ellipse">
            <a:avLst/>
          </a:prstGeom>
          <a:solidFill>
            <a:srgbClr val="D4AF37">
              <a:alpha val="14000"/>
            </a:srgbClr>
          </a:solidFill>
          <a:ln w="12700">
            <a:solidFill>
              <a:srgbClr val="333333"/>
            </a:solidFill>
            <a:prstDash val="solid"/>
          </a:ln>
        </p:spPr>
      </p:sp>
      <p:sp>
        <p:nvSpPr>
          <p:cNvPr id="8" name="Shape 6"/>
          <p:cNvSpPr/>
          <p:nvPr/>
        </p:nvSpPr>
        <p:spPr>
          <a:xfrm>
            <a:off x="1380920" y="1051962"/>
            <a:ext cx="1901601" cy="666707"/>
          </a:xfrm>
          <a:prstGeom prst="ellipse">
            <a:avLst/>
          </a:prstGeom>
          <a:solidFill>
            <a:srgbClr val="D4AF37">
              <a:alpha val="25000"/>
            </a:srgbClr>
          </a:solidFill>
          <a:ln w="12700">
            <a:solidFill>
              <a:srgbClr val="333333"/>
            </a:solidFill>
            <a:prstDash val="solid"/>
          </a:ln>
        </p:spPr>
      </p:sp>
      <p:sp>
        <p:nvSpPr>
          <p:cNvPr id="9" name="Text 7"/>
          <p:cNvSpPr/>
          <p:nvPr/>
        </p:nvSpPr>
        <p:spPr>
          <a:xfrm>
            <a:off x="402336" y="786384"/>
            <a:ext cx="3858768" cy="1152144"/>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0" name="Shape 8"/>
          <p:cNvSpPr/>
          <p:nvPr/>
        </p:nvSpPr>
        <p:spPr>
          <a:xfrm>
            <a:off x="530352" y="2157984"/>
            <a:ext cx="3602736" cy="384048"/>
          </a:xfrm>
          <a:prstGeom prst="roundRect">
            <a:avLst>
              <a:gd name="adj" fmla="val 11905"/>
            </a:avLst>
          </a:prstGeom>
          <a:solidFill>
            <a:srgbClr val="FDF6DC"/>
          </a:solidFill>
          <a:ln w="12700">
            <a:solidFill>
              <a:srgbClr val="D4AF37"/>
            </a:solidFill>
            <a:prstDash val="solid"/>
          </a:ln>
        </p:spPr>
      </p:sp>
      <p:sp>
        <p:nvSpPr>
          <p:cNvPr id="11" name="Text 9"/>
          <p:cNvSpPr/>
          <p:nvPr/>
        </p:nvSpPr>
        <p:spPr>
          <a:xfrm>
            <a:off x="530352" y="2157984"/>
            <a:ext cx="3602736" cy="384048"/>
          </a:xfrm>
          <a:prstGeom prst="rect">
            <a:avLst/>
          </a:prstGeom>
          <a:noFill/>
          <a:ln/>
        </p:spPr>
        <p:txBody>
          <a:bodyPr wrap="square" lIns="0" tIns="0" rIns="0" bIns="0" rtlCol="0" anchor="ctr"/>
          <a:lstStyle/>
          <a:p>
            <a:pPr algn="ctr" indent="0" marL="0">
              <a:buNone/>
            </a:pPr>
            <a:r>
              <a:rPr lang="en-US" sz="1100" b="1" dirty="0">
                <a:solidFill>
                  <a:srgbClr val="071E3D"/>
                </a:solidFill>
                <a:latin typeface="Cambria" pitchFamily="34" charset="0"/>
                <a:ea typeface="Cambria" pitchFamily="34" charset="-122"/>
                <a:cs typeface="Cambria" pitchFamily="34" charset="-120"/>
              </a:rPr>
              <a:t>Magnetic Compass</a:t>
            </a:r>
            <a:endParaRPr lang="en-US" sz="1100" dirty="0"/>
          </a:p>
          <a:p>
            <a:pPr algn="ctr" indent="0" marL="0">
              <a:buNone/>
            </a:pPr>
            <a:r>
              <a:rPr lang="en-US" sz="1100" b="1" dirty="0">
                <a:solidFill>
                  <a:srgbClr val="071E3D"/>
                </a:solidFill>
                <a:latin typeface="Cambria" pitchFamily="34" charset="0"/>
                <a:ea typeface="Cambria" pitchFamily="34" charset="-122"/>
                <a:cs typeface="Cambria" pitchFamily="34" charset="-120"/>
              </a:rPr>
              <a:t>Direction on any sea</a:t>
            </a:r>
            <a:endParaRPr lang="en-US" sz="1100" dirty="0"/>
          </a:p>
        </p:txBody>
      </p:sp>
      <p:sp>
        <p:nvSpPr>
          <p:cNvPr id="12" name="Shape 10"/>
          <p:cNvSpPr/>
          <p:nvPr/>
        </p:nvSpPr>
        <p:spPr>
          <a:xfrm>
            <a:off x="4800600" y="649224"/>
            <a:ext cx="3986784" cy="2048256"/>
          </a:xfrm>
          <a:prstGeom prst="roundRect">
            <a:avLst>
              <a:gd name="adj" fmla="val 6250"/>
            </a:avLst>
          </a:prstGeom>
          <a:solidFill>
            <a:srgbClr val="1B4F72">
              <a:alpha val="30000"/>
            </a:srgbClr>
          </a:solidFill>
          <a:ln w="12700">
            <a:solidFill>
              <a:srgbClr val="333333"/>
            </a:solidFill>
            <a:prstDash val="solid"/>
          </a:ln>
        </p:spPr>
      </p:sp>
      <p:sp>
        <p:nvSpPr>
          <p:cNvPr id="13" name="Shape 11"/>
          <p:cNvSpPr/>
          <p:nvPr/>
        </p:nvSpPr>
        <p:spPr>
          <a:xfrm>
            <a:off x="4864608" y="713232"/>
            <a:ext cx="3858768" cy="1920240"/>
          </a:xfrm>
          <a:prstGeom prst="roundRect">
            <a:avLst>
              <a:gd name="adj" fmla="val 4286"/>
            </a:avLst>
          </a:prstGeom>
          <a:solidFill>
            <a:srgbClr val="04101F"/>
          </a:solidFill>
          <a:ln w="27940">
            <a:solidFill>
              <a:srgbClr val="1B4F72"/>
            </a:solidFill>
            <a:prstDash val="solid"/>
          </a:ln>
          <a:effectLst>
            <a:outerShdw sx="100000" sy="100000" kx="0" ky="0" algn="bl" rotWithShape="0" blurRad="203200" dist="63500" dir="2700000">
              <a:srgbClr val="000000">
                <a:alpha val="25000"/>
              </a:srgbClr>
            </a:outerShdw>
          </a:effectLst>
        </p:spPr>
      </p:sp>
      <p:sp>
        <p:nvSpPr>
          <p:cNvPr id="14" name="Shape 12"/>
          <p:cNvSpPr/>
          <p:nvPr/>
        </p:nvSpPr>
        <p:spPr>
          <a:xfrm>
            <a:off x="5096134" y="790042"/>
            <a:ext cx="3395716" cy="1190549"/>
          </a:xfrm>
          <a:prstGeom prst="ellipse">
            <a:avLst/>
          </a:prstGeom>
          <a:solidFill>
            <a:srgbClr val="D4AF37">
              <a:alpha val="14000"/>
            </a:srgbClr>
          </a:solidFill>
          <a:ln w="12700">
            <a:solidFill>
              <a:srgbClr val="333333"/>
            </a:solidFill>
            <a:prstDash val="solid"/>
          </a:ln>
        </p:spPr>
      </p:sp>
      <p:sp>
        <p:nvSpPr>
          <p:cNvPr id="15" name="Shape 13"/>
          <p:cNvSpPr/>
          <p:nvPr/>
        </p:nvSpPr>
        <p:spPr>
          <a:xfrm>
            <a:off x="5843192" y="1051962"/>
            <a:ext cx="1901601" cy="666707"/>
          </a:xfrm>
          <a:prstGeom prst="ellipse">
            <a:avLst/>
          </a:prstGeom>
          <a:solidFill>
            <a:srgbClr val="D4AF37">
              <a:alpha val="25000"/>
            </a:srgbClr>
          </a:solidFill>
          <a:ln w="12700">
            <a:solidFill>
              <a:srgbClr val="333333"/>
            </a:solidFill>
            <a:prstDash val="solid"/>
          </a:ln>
        </p:spPr>
      </p:sp>
      <p:sp>
        <p:nvSpPr>
          <p:cNvPr id="16" name="Text 14"/>
          <p:cNvSpPr/>
          <p:nvPr/>
        </p:nvSpPr>
        <p:spPr>
          <a:xfrm>
            <a:off x="4864608" y="786384"/>
            <a:ext cx="3858768" cy="1152144"/>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7" name="Shape 15"/>
          <p:cNvSpPr/>
          <p:nvPr/>
        </p:nvSpPr>
        <p:spPr>
          <a:xfrm>
            <a:off x="4992624" y="2157984"/>
            <a:ext cx="3602736" cy="384048"/>
          </a:xfrm>
          <a:prstGeom prst="roundRect">
            <a:avLst>
              <a:gd name="adj" fmla="val 11905"/>
            </a:avLst>
          </a:prstGeom>
          <a:solidFill>
            <a:srgbClr val="FDF6DC"/>
          </a:solidFill>
          <a:ln w="12700">
            <a:solidFill>
              <a:srgbClr val="D4AF37"/>
            </a:solidFill>
            <a:prstDash val="solid"/>
          </a:ln>
        </p:spPr>
      </p:sp>
      <p:sp>
        <p:nvSpPr>
          <p:cNvPr id="18" name="Text 16"/>
          <p:cNvSpPr/>
          <p:nvPr/>
        </p:nvSpPr>
        <p:spPr>
          <a:xfrm>
            <a:off x="4992624" y="2157984"/>
            <a:ext cx="3602736" cy="384048"/>
          </a:xfrm>
          <a:prstGeom prst="rect">
            <a:avLst/>
          </a:prstGeom>
          <a:noFill/>
          <a:ln/>
        </p:spPr>
        <p:txBody>
          <a:bodyPr wrap="square" lIns="0" tIns="0" rIns="0" bIns="0" rtlCol="0" anchor="ctr"/>
          <a:lstStyle/>
          <a:p>
            <a:pPr algn="ctr" indent="0" marL="0">
              <a:buNone/>
            </a:pPr>
            <a:r>
              <a:rPr lang="en-US" sz="1100" b="1" dirty="0">
                <a:solidFill>
                  <a:srgbClr val="071E3D"/>
                </a:solidFill>
                <a:latin typeface="Cambria" pitchFamily="34" charset="0"/>
                <a:ea typeface="Cambria" pitchFamily="34" charset="-122"/>
                <a:cs typeface="Cambria" pitchFamily="34" charset="-120"/>
              </a:rPr>
              <a:t>Hourglass</a:t>
            </a:r>
            <a:endParaRPr lang="en-US" sz="1100" dirty="0"/>
          </a:p>
          <a:p>
            <a:pPr algn="ctr" indent="0" marL="0">
              <a:buNone/>
            </a:pPr>
            <a:r>
              <a:rPr lang="en-US" sz="1100" b="1" dirty="0">
                <a:solidFill>
                  <a:srgbClr val="071E3D"/>
                </a:solidFill>
                <a:latin typeface="Cambria" pitchFamily="34" charset="0"/>
                <a:ea typeface="Cambria" pitchFamily="34" charset="-122"/>
                <a:cs typeface="Cambria" pitchFamily="34" charset="-120"/>
              </a:rPr>
              <a:t>Tracking time at sea</a:t>
            </a:r>
            <a:endParaRPr lang="en-US" sz="1100" dirty="0"/>
          </a:p>
        </p:txBody>
      </p:sp>
      <p:sp>
        <p:nvSpPr>
          <p:cNvPr id="19" name="Shape 17"/>
          <p:cNvSpPr/>
          <p:nvPr/>
        </p:nvSpPr>
        <p:spPr>
          <a:xfrm>
            <a:off x="338328" y="2752344"/>
            <a:ext cx="3986784" cy="2048256"/>
          </a:xfrm>
          <a:prstGeom prst="roundRect">
            <a:avLst>
              <a:gd name="adj" fmla="val 6250"/>
            </a:avLst>
          </a:prstGeom>
          <a:solidFill>
            <a:srgbClr val="A88920">
              <a:alpha val="30000"/>
            </a:srgbClr>
          </a:solidFill>
          <a:ln w="12700">
            <a:solidFill>
              <a:srgbClr val="333333"/>
            </a:solidFill>
            <a:prstDash val="solid"/>
          </a:ln>
        </p:spPr>
      </p:sp>
      <p:sp>
        <p:nvSpPr>
          <p:cNvPr id="20" name="Shape 18"/>
          <p:cNvSpPr/>
          <p:nvPr/>
        </p:nvSpPr>
        <p:spPr>
          <a:xfrm>
            <a:off x="402336" y="2816352"/>
            <a:ext cx="3858768" cy="1920240"/>
          </a:xfrm>
          <a:prstGeom prst="roundRect">
            <a:avLst>
              <a:gd name="adj" fmla="val 4286"/>
            </a:avLst>
          </a:prstGeom>
          <a:solidFill>
            <a:srgbClr val="04101F"/>
          </a:solidFill>
          <a:ln w="27940">
            <a:solidFill>
              <a:srgbClr val="A88920"/>
            </a:solidFill>
            <a:prstDash val="solid"/>
          </a:ln>
          <a:effectLst>
            <a:outerShdw sx="100000" sy="100000" kx="0" ky="0" algn="bl" rotWithShape="0" blurRad="203200" dist="63500" dir="2700000">
              <a:srgbClr val="000000">
                <a:alpha val="25000"/>
              </a:srgbClr>
            </a:outerShdw>
          </a:effectLst>
        </p:spPr>
      </p:sp>
      <p:sp>
        <p:nvSpPr>
          <p:cNvPr id="21" name="Shape 19"/>
          <p:cNvSpPr/>
          <p:nvPr/>
        </p:nvSpPr>
        <p:spPr>
          <a:xfrm>
            <a:off x="633862" y="2893162"/>
            <a:ext cx="3395716" cy="1190549"/>
          </a:xfrm>
          <a:prstGeom prst="ellipse">
            <a:avLst/>
          </a:prstGeom>
          <a:solidFill>
            <a:srgbClr val="D4AF37">
              <a:alpha val="14000"/>
            </a:srgbClr>
          </a:solidFill>
          <a:ln w="12700">
            <a:solidFill>
              <a:srgbClr val="333333"/>
            </a:solidFill>
            <a:prstDash val="solid"/>
          </a:ln>
        </p:spPr>
      </p:sp>
      <p:sp>
        <p:nvSpPr>
          <p:cNvPr id="22" name="Shape 20"/>
          <p:cNvSpPr/>
          <p:nvPr/>
        </p:nvSpPr>
        <p:spPr>
          <a:xfrm>
            <a:off x="1380920" y="3155082"/>
            <a:ext cx="1901601" cy="666707"/>
          </a:xfrm>
          <a:prstGeom prst="ellipse">
            <a:avLst/>
          </a:prstGeom>
          <a:solidFill>
            <a:srgbClr val="D4AF37">
              <a:alpha val="25000"/>
            </a:srgbClr>
          </a:solidFill>
          <a:ln w="12700">
            <a:solidFill>
              <a:srgbClr val="333333"/>
            </a:solidFill>
            <a:prstDash val="solid"/>
          </a:ln>
        </p:spPr>
      </p:sp>
      <p:sp>
        <p:nvSpPr>
          <p:cNvPr id="23" name="Text 21"/>
          <p:cNvSpPr/>
          <p:nvPr/>
        </p:nvSpPr>
        <p:spPr>
          <a:xfrm>
            <a:off x="402336" y="2889504"/>
            <a:ext cx="3858768" cy="1152144"/>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24" name="Shape 22"/>
          <p:cNvSpPr/>
          <p:nvPr/>
        </p:nvSpPr>
        <p:spPr>
          <a:xfrm>
            <a:off x="530352" y="4261104"/>
            <a:ext cx="3602736" cy="384048"/>
          </a:xfrm>
          <a:prstGeom prst="roundRect">
            <a:avLst>
              <a:gd name="adj" fmla="val 11905"/>
            </a:avLst>
          </a:prstGeom>
          <a:solidFill>
            <a:srgbClr val="FDF6DC"/>
          </a:solidFill>
          <a:ln w="12700">
            <a:solidFill>
              <a:srgbClr val="D4AF37"/>
            </a:solidFill>
            <a:prstDash val="solid"/>
          </a:ln>
        </p:spPr>
      </p:sp>
      <p:sp>
        <p:nvSpPr>
          <p:cNvPr id="25" name="Text 23"/>
          <p:cNvSpPr/>
          <p:nvPr/>
        </p:nvSpPr>
        <p:spPr>
          <a:xfrm>
            <a:off x="530352" y="4261104"/>
            <a:ext cx="3602736" cy="384048"/>
          </a:xfrm>
          <a:prstGeom prst="rect">
            <a:avLst/>
          </a:prstGeom>
          <a:noFill/>
          <a:ln/>
        </p:spPr>
        <p:txBody>
          <a:bodyPr wrap="square" lIns="0" tIns="0" rIns="0" bIns="0" rtlCol="0" anchor="ctr"/>
          <a:lstStyle/>
          <a:p>
            <a:pPr algn="ctr" indent="0" marL="0">
              <a:buNone/>
            </a:pPr>
            <a:r>
              <a:rPr lang="en-US" sz="1100" b="1" dirty="0">
                <a:solidFill>
                  <a:srgbClr val="071E3D"/>
                </a:solidFill>
                <a:latin typeface="Cambria" pitchFamily="34" charset="0"/>
                <a:ea typeface="Cambria" pitchFamily="34" charset="-122"/>
                <a:cs typeface="Cambria" pitchFamily="34" charset="-120"/>
              </a:rPr>
              <a:t>Astrolabe</a:t>
            </a:r>
            <a:endParaRPr lang="en-US" sz="1100" dirty="0"/>
          </a:p>
          <a:p>
            <a:pPr algn="ctr" indent="0" marL="0">
              <a:buNone/>
            </a:pPr>
            <a:r>
              <a:rPr lang="en-US" sz="1100" b="1" dirty="0">
                <a:solidFill>
                  <a:srgbClr val="071E3D"/>
                </a:solidFill>
                <a:latin typeface="Cambria" pitchFamily="34" charset="0"/>
                <a:ea typeface="Cambria" pitchFamily="34" charset="-122"/>
                <a:cs typeface="Cambria" pitchFamily="34" charset="-120"/>
              </a:rPr>
              <a:t>Measuring star angles</a:t>
            </a:r>
            <a:endParaRPr lang="en-US" sz="1100" dirty="0"/>
          </a:p>
        </p:txBody>
      </p:sp>
      <p:sp>
        <p:nvSpPr>
          <p:cNvPr id="26" name="Shape 24"/>
          <p:cNvSpPr/>
          <p:nvPr/>
        </p:nvSpPr>
        <p:spPr>
          <a:xfrm>
            <a:off x="4800600" y="2752344"/>
            <a:ext cx="3986784" cy="2048256"/>
          </a:xfrm>
          <a:prstGeom prst="roundRect">
            <a:avLst>
              <a:gd name="adj" fmla="val 6250"/>
            </a:avLst>
          </a:prstGeom>
          <a:solidFill>
            <a:srgbClr val="2E7D4F">
              <a:alpha val="30000"/>
            </a:srgbClr>
          </a:solidFill>
          <a:ln w="12700">
            <a:solidFill>
              <a:srgbClr val="333333"/>
            </a:solidFill>
            <a:prstDash val="solid"/>
          </a:ln>
        </p:spPr>
      </p:sp>
      <p:sp>
        <p:nvSpPr>
          <p:cNvPr id="27" name="Shape 25"/>
          <p:cNvSpPr/>
          <p:nvPr/>
        </p:nvSpPr>
        <p:spPr>
          <a:xfrm>
            <a:off x="4864608" y="2816352"/>
            <a:ext cx="3858768" cy="1920240"/>
          </a:xfrm>
          <a:prstGeom prst="roundRect">
            <a:avLst>
              <a:gd name="adj" fmla="val 4286"/>
            </a:avLst>
          </a:prstGeom>
          <a:solidFill>
            <a:srgbClr val="04101F"/>
          </a:solidFill>
          <a:ln w="27940">
            <a:solidFill>
              <a:srgbClr val="2E7D4F"/>
            </a:solidFill>
            <a:prstDash val="solid"/>
          </a:ln>
          <a:effectLst>
            <a:outerShdw sx="100000" sy="100000" kx="0" ky="0" algn="bl" rotWithShape="0" blurRad="203200" dist="63500" dir="2700000">
              <a:srgbClr val="000000">
                <a:alpha val="25000"/>
              </a:srgbClr>
            </a:outerShdw>
          </a:effectLst>
        </p:spPr>
      </p:sp>
      <p:sp>
        <p:nvSpPr>
          <p:cNvPr id="28" name="Shape 26"/>
          <p:cNvSpPr/>
          <p:nvPr/>
        </p:nvSpPr>
        <p:spPr>
          <a:xfrm>
            <a:off x="5096134" y="2893162"/>
            <a:ext cx="3395716" cy="1190549"/>
          </a:xfrm>
          <a:prstGeom prst="ellipse">
            <a:avLst/>
          </a:prstGeom>
          <a:solidFill>
            <a:srgbClr val="D4AF37">
              <a:alpha val="14000"/>
            </a:srgbClr>
          </a:solidFill>
          <a:ln w="12700">
            <a:solidFill>
              <a:srgbClr val="333333"/>
            </a:solidFill>
            <a:prstDash val="solid"/>
          </a:ln>
        </p:spPr>
      </p:sp>
      <p:sp>
        <p:nvSpPr>
          <p:cNvPr id="29" name="Shape 27"/>
          <p:cNvSpPr/>
          <p:nvPr/>
        </p:nvSpPr>
        <p:spPr>
          <a:xfrm>
            <a:off x="5843192" y="3155082"/>
            <a:ext cx="1901601" cy="666707"/>
          </a:xfrm>
          <a:prstGeom prst="ellipse">
            <a:avLst/>
          </a:prstGeom>
          <a:solidFill>
            <a:srgbClr val="D4AF37">
              <a:alpha val="25000"/>
            </a:srgbClr>
          </a:solidFill>
          <a:ln w="12700">
            <a:solidFill>
              <a:srgbClr val="333333"/>
            </a:solidFill>
            <a:prstDash val="solid"/>
          </a:ln>
        </p:spPr>
      </p:sp>
      <p:sp>
        <p:nvSpPr>
          <p:cNvPr id="30" name="Text 28"/>
          <p:cNvSpPr/>
          <p:nvPr/>
        </p:nvSpPr>
        <p:spPr>
          <a:xfrm>
            <a:off x="4864608" y="2889504"/>
            <a:ext cx="3858768" cy="1152144"/>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31" name="Shape 29"/>
          <p:cNvSpPr/>
          <p:nvPr/>
        </p:nvSpPr>
        <p:spPr>
          <a:xfrm>
            <a:off x="4992624" y="4261104"/>
            <a:ext cx="3602736" cy="384048"/>
          </a:xfrm>
          <a:prstGeom prst="roundRect">
            <a:avLst>
              <a:gd name="adj" fmla="val 11905"/>
            </a:avLst>
          </a:prstGeom>
          <a:solidFill>
            <a:srgbClr val="FDF6DC"/>
          </a:solidFill>
          <a:ln w="12700">
            <a:solidFill>
              <a:srgbClr val="D4AF37"/>
            </a:solidFill>
            <a:prstDash val="solid"/>
          </a:ln>
        </p:spPr>
      </p:sp>
      <p:sp>
        <p:nvSpPr>
          <p:cNvPr id="32" name="Text 30"/>
          <p:cNvSpPr/>
          <p:nvPr/>
        </p:nvSpPr>
        <p:spPr>
          <a:xfrm>
            <a:off x="4992624" y="4261104"/>
            <a:ext cx="3602736" cy="384048"/>
          </a:xfrm>
          <a:prstGeom prst="rect">
            <a:avLst/>
          </a:prstGeom>
          <a:noFill/>
          <a:ln/>
        </p:spPr>
        <p:txBody>
          <a:bodyPr wrap="square" lIns="0" tIns="0" rIns="0" bIns="0" rtlCol="0" anchor="ctr"/>
          <a:lstStyle/>
          <a:p>
            <a:pPr algn="ctr" indent="0" marL="0">
              <a:buNone/>
            </a:pPr>
            <a:r>
              <a:rPr lang="en-US" sz="1100" b="1" dirty="0">
                <a:solidFill>
                  <a:srgbClr val="071E3D"/>
                </a:solidFill>
                <a:latin typeface="Cambria" pitchFamily="34" charset="0"/>
                <a:ea typeface="Cambria" pitchFamily="34" charset="-122"/>
                <a:cs typeface="Cambria" pitchFamily="34" charset="-120"/>
              </a:rPr>
              <a:t>Portolan Chart</a:t>
            </a:r>
            <a:endParaRPr lang="en-US" sz="1100" dirty="0"/>
          </a:p>
          <a:p>
            <a:pPr algn="ctr" indent="0" marL="0">
              <a:buNone/>
            </a:pPr>
            <a:r>
              <a:rPr lang="en-US" sz="1100" b="1" dirty="0">
                <a:solidFill>
                  <a:srgbClr val="071E3D"/>
                </a:solidFill>
                <a:latin typeface="Cambria" pitchFamily="34" charset="0"/>
                <a:ea typeface="Cambria" pitchFamily="34" charset="-122"/>
                <a:cs typeface="Cambria" pitchFamily="34" charset="-120"/>
              </a:rPr>
              <a:t>Detailed coastal map</a:t>
            </a:r>
            <a:endParaRPr lang="en-US" sz="1100" dirty="0"/>
          </a:p>
        </p:txBody>
      </p:sp>
      <p:sp>
        <p:nvSpPr>
          <p:cNvPr id="33" name="Shape 31"/>
          <p:cNvSpPr/>
          <p:nvPr/>
        </p:nvSpPr>
        <p:spPr>
          <a:xfrm>
            <a:off x="649224" y="4700016"/>
            <a:ext cx="164592" cy="256032"/>
          </a:xfrm>
          <a:prstGeom prst="ellipse">
            <a:avLst/>
          </a:prstGeom>
          <a:solidFill>
            <a:srgbClr val="D4AF37"/>
          </a:solidFill>
          <a:ln w="12700">
            <a:solidFill>
              <a:srgbClr val="333333"/>
            </a:solidFill>
            <a:prstDash val="solid"/>
          </a:ln>
        </p:spPr>
      </p:sp>
      <p:sp>
        <p:nvSpPr>
          <p:cNvPr id="34" name="Shape 32"/>
          <p:cNvSpPr/>
          <p:nvPr/>
        </p:nvSpPr>
        <p:spPr>
          <a:xfrm>
            <a:off x="8330184" y="4700016"/>
            <a:ext cx="164592" cy="256032"/>
          </a:xfrm>
          <a:prstGeom prst="ellipse">
            <a:avLst/>
          </a:prstGeom>
          <a:solidFill>
            <a:srgbClr val="D4AF37"/>
          </a:solidFill>
          <a:ln w="12700">
            <a:solidFill>
              <a:srgbClr val="333333"/>
            </a:solidFill>
            <a:prstDash val="solid"/>
          </a:ln>
        </p:spPr>
      </p:sp>
      <p:sp>
        <p:nvSpPr>
          <p:cNvPr id="35" name="Shape 33"/>
          <p:cNvSpPr/>
          <p:nvPr/>
        </p:nvSpPr>
        <p:spPr>
          <a:xfrm>
            <a:off x="731520" y="4828032"/>
            <a:ext cx="7680960" cy="0"/>
          </a:xfrm>
          <a:prstGeom prst="line">
            <a:avLst/>
          </a:prstGeom>
          <a:noFill/>
          <a:ln w="31750">
            <a:solidFill>
              <a:srgbClr val="D4AF37"/>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4E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71E3D"/>
          </a:solidFill>
          <a:ln w="12700">
            <a:solidFill>
              <a:srgbClr val="333333"/>
            </a:solidFill>
            <a:prstDash val="solid"/>
          </a:ln>
        </p:spPr>
      </p:sp>
      <p:sp>
        <p:nvSpPr>
          <p:cNvPr id="3" name="Text 1"/>
          <p:cNvSpPr/>
          <p:nvPr/>
        </p:nvSpPr>
        <p:spPr>
          <a:xfrm>
            <a:off x="457200" y="54864"/>
            <a:ext cx="8229600" cy="53035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How Did Explorers Know Where They Were?</a:t>
            </a:r>
            <a:endParaRPr lang="en-US" sz="2200" dirty="0"/>
          </a:p>
        </p:txBody>
      </p:sp>
      <p:sp>
        <p:nvSpPr>
          <p:cNvPr id="4" name="Text 2"/>
          <p:cNvSpPr/>
          <p:nvPr/>
        </p:nvSpPr>
        <p:spPr>
          <a:xfrm>
            <a:off x="457200" y="731520"/>
            <a:ext cx="8229600" cy="658368"/>
          </a:xfrm>
          <a:prstGeom prst="rect">
            <a:avLst/>
          </a:prstGeom>
          <a:noFill/>
          <a:ln/>
        </p:spPr>
        <p:txBody>
          <a:bodyPr wrap="square" lIns="0" tIns="0" rIns="0" bIns="0" rtlCol="0" anchor="ctr"/>
          <a:lstStyle/>
          <a:p>
            <a:pPr algn="ctr" indent="0" marL="0">
              <a:lnSpc>
                <a:spcPct val="140000"/>
              </a:lnSpc>
              <a:buNone/>
            </a:pPr>
            <a:r>
              <a:rPr lang="en-US" sz="1300" dirty="0">
                <a:solidFill>
                  <a:srgbClr val="1A0A14"/>
                </a:solidFill>
                <a:latin typeface="Calibri" pitchFamily="34" charset="0"/>
                <a:ea typeface="Calibri" pitchFamily="34" charset="-122"/>
                <a:cs typeface="Calibri" pitchFamily="34" charset="-120"/>
              </a:rPr>
              <a:t>Latitude — how far north or south you are — could be measured with an astrolabe (star/sun angle).</a:t>
            </a:r>
            <a:endParaRPr lang="en-US" sz="1300" dirty="0"/>
          </a:p>
          <a:p>
            <a:pPr algn="ctr" indent="0" marL="0">
              <a:lnSpc>
                <a:spcPct val="140000"/>
              </a:lnSpc>
              <a:buNone/>
            </a:pPr>
            <a:r>
              <a:rPr lang="en-US" sz="1300" dirty="0">
                <a:solidFill>
                  <a:srgbClr val="1A0A14"/>
                </a:solidFill>
                <a:latin typeface="Calibri" pitchFamily="34" charset="0"/>
                <a:ea typeface="Calibri" pitchFamily="34" charset="-122"/>
                <a:cs typeface="Calibri" pitchFamily="34" charset="-120"/>
              </a:rPr>
              <a:t>Longitude — how far east or west — was the BIG PROBLEM. No accurate clock = no accurate longitude.</a:t>
            </a:r>
            <a:endParaRPr lang="en-US" sz="1300" dirty="0"/>
          </a:p>
        </p:txBody>
      </p:sp>
      <p:sp>
        <p:nvSpPr>
          <p:cNvPr id="5" name="Shape 3"/>
          <p:cNvSpPr/>
          <p:nvPr/>
        </p:nvSpPr>
        <p:spPr>
          <a:xfrm>
            <a:off x="347472" y="1463040"/>
            <a:ext cx="4151376" cy="3438144"/>
          </a:xfrm>
          <a:prstGeom prst="roundRect">
            <a:avLst>
              <a:gd name="adj" fmla="val 2660"/>
            </a:avLst>
          </a:prstGeom>
          <a:solidFill>
            <a:srgbClr val="2E7D4F">
              <a:alpha val="10000"/>
            </a:srgbClr>
          </a:solidFill>
          <a:ln w="19050">
            <a:solidFill>
              <a:srgbClr val="2E7D4F"/>
            </a:solidFill>
            <a:prstDash val="solid"/>
          </a:ln>
        </p:spPr>
      </p:sp>
      <p:sp>
        <p:nvSpPr>
          <p:cNvPr id="6" name="Text 4"/>
          <p:cNvSpPr/>
          <p:nvPr/>
        </p:nvSpPr>
        <p:spPr>
          <a:xfrm>
            <a:off x="530352" y="1554480"/>
            <a:ext cx="3785616" cy="438912"/>
          </a:xfrm>
          <a:prstGeom prst="rect">
            <a:avLst/>
          </a:prstGeom>
          <a:noFill/>
          <a:ln/>
        </p:spPr>
        <p:txBody>
          <a:bodyPr wrap="square" lIns="0" tIns="0" rIns="0" bIns="0" rtlCol="0" anchor="ctr"/>
          <a:lstStyle/>
          <a:p>
            <a:pPr algn="ctr" indent="0" marL="0">
              <a:buNone/>
            </a:pPr>
            <a:r>
              <a:rPr lang="en-US" sz="1300" b="1" spc="100" kern="0" dirty="0">
                <a:solidFill>
                  <a:srgbClr val="2E7D4F"/>
                </a:solidFill>
                <a:latin typeface="Cambria" pitchFamily="34" charset="0"/>
                <a:ea typeface="Cambria" pitchFamily="34" charset="-122"/>
                <a:cs typeface="Cambria" pitchFamily="34" charset="-120"/>
              </a:rPr>
              <a:t>LATITUDE (North-South)</a:t>
            </a:r>
            <a:endParaRPr lang="en-US" sz="1300" dirty="0"/>
          </a:p>
        </p:txBody>
      </p:sp>
      <p:sp>
        <p:nvSpPr>
          <p:cNvPr id="7" name="Text 5"/>
          <p:cNvSpPr/>
          <p:nvPr/>
        </p:nvSpPr>
        <p:spPr>
          <a:xfrm>
            <a:off x="530352" y="2048256"/>
            <a:ext cx="3785616" cy="2743200"/>
          </a:xfrm>
          <a:prstGeom prst="rect">
            <a:avLst/>
          </a:prstGeom>
          <a:noFill/>
          <a:ln/>
        </p:spPr>
        <p:txBody>
          <a:bodyPr wrap="square" lIns="0" tIns="0" rIns="0" bIns="0" rtlCol="0" anchor="ctr"/>
          <a:lstStyle/>
          <a:p>
            <a:pPr algn="l" indent="0" marL="0">
              <a:lnSpc>
                <a:spcPct val="140000"/>
              </a:lnSpc>
              <a:buNone/>
            </a:pPr>
            <a:r>
              <a:rPr lang="en-US" sz="1200" dirty="0">
                <a:solidFill>
                  <a:srgbClr val="3A4A6B"/>
                </a:solidFill>
                <a:latin typeface="Calibri" pitchFamily="34" charset="0"/>
                <a:ea typeface="Calibri" pitchFamily="34" charset="-122"/>
                <a:cs typeface="Calibri" pitchFamily="34" charset="-120"/>
              </a:rPr>
              <a:t>✓ Solvable!</a:t>
            </a:r>
            <a:endParaRPr lang="en-US" sz="1200" dirty="0"/>
          </a:p>
          <a:p>
            <a:pPr algn="l" indent="0" marL="0">
              <a:lnSpc>
                <a:spcPct val="140000"/>
              </a:lnSpc>
              <a:buNone/>
            </a:pPr>
            <a:endParaRPr lang="en-US" sz="1200" dirty="0"/>
          </a:p>
          <a:p>
            <a:pPr algn="l" indent="0" marL="0">
              <a:lnSpc>
                <a:spcPct val="140000"/>
              </a:lnSpc>
              <a:buNone/>
            </a:pPr>
            <a:r>
              <a:rPr lang="en-US" sz="1200" dirty="0">
                <a:solidFill>
                  <a:srgbClr val="3A4A6B"/>
                </a:solidFill>
                <a:latin typeface="Calibri" pitchFamily="34" charset="0"/>
                <a:ea typeface="Calibri" pitchFamily="34" charset="-122"/>
                <a:cs typeface="Calibri" pitchFamily="34" charset="-120"/>
              </a:rPr>
              <a:t>Measure the angle of the North Star above the horizon at night, or the sun at noon.</a:t>
            </a:r>
            <a:endParaRPr lang="en-US" sz="1200" dirty="0"/>
          </a:p>
          <a:p>
            <a:pPr algn="l" indent="0" marL="0">
              <a:lnSpc>
                <a:spcPct val="140000"/>
              </a:lnSpc>
              <a:buNone/>
            </a:pPr>
            <a:endParaRPr lang="en-US" sz="1200" dirty="0"/>
          </a:p>
          <a:p>
            <a:pPr algn="l" indent="0" marL="0">
              <a:lnSpc>
                <a:spcPct val="140000"/>
              </a:lnSpc>
              <a:buNone/>
            </a:pPr>
            <a:r>
              <a:rPr lang="en-US" sz="1200" dirty="0">
                <a:solidFill>
                  <a:srgbClr val="3A4A6B"/>
                </a:solidFill>
                <a:latin typeface="Calibri" pitchFamily="34" charset="0"/>
                <a:ea typeface="Calibri" pitchFamily="34" charset="-122"/>
                <a:cs typeface="Calibri" pitchFamily="34" charset="-120"/>
              </a:rPr>
              <a:t>The higher the star angle → the further north you are.</a:t>
            </a:r>
            <a:endParaRPr lang="en-US" sz="1200" dirty="0"/>
          </a:p>
          <a:p>
            <a:pPr algn="l" indent="0" marL="0">
              <a:lnSpc>
                <a:spcPct val="140000"/>
              </a:lnSpc>
              <a:buNone/>
            </a:pPr>
            <a:endParaRPr lang="en-US" sz="1200" dirty="0"/>
          </a:p>
          <a:p>
            <a:pPr algn="l" indent="0" marL="0">
              <a:lnSpc>
                <a:spcPct val="140000"/>
              </a:lnSpc>
              <a:buNone/>
            </a:pPr>
            <a:r>
              <a:rPr lang="en-US" sz="1200" dirty="0">
                <a:solidFill>
                  <a:srgbClr val="3A4A6B"/>
                </a:solidFill>
                <a:latin typeface="Calibri" pitchFamily="34" charset="0"/>
                <a:ea typeface="Calibri" pitchFamily="34" charset="-122"/>
                <a:cs typeface="Calibri" pitchFamily="34" charset="-120"/>
              </a:rPr>
              <a:t>Accurate to within about 1 degree by the 1400s.</a:t>
            </a:r>
            <a:endParaRPr lang="en-US" sz="1200" dirty="0"/>
          </a:p>
        </p:txBody>
      </p:sp>
      <p:sp>
        <p:nvSpPr>
          <p:cNvPr id="8" name="Shape 6"/>
          <p:cNvSpPr/>
          <p:nvPr/>
        </p:nvSpPr>
        <p:spPr>
          <a:xfrm>
            <a:off x="4645152" y="1463040"/>
            <a:ext cx="4151376" cy="3438144"/>
          </a:xfrm>
          <a:prstGeom prst="roundRect">
            <a:avLst>
              <a:gd name="adj" fmla="val 2660"/>
            </a:avLst>
          </a:prstGeom>
          <a:solidFill>
            <a:srgbClr val="9B1C2E">
              <a:alpha val="10000"/>
            </a:srgbClr>
          </a:solidFill>
          <a:ln w="19050">
            <a:solidFill>
              <a:srgbClr val="9B1C2E"/>
            </a:solidFill>
            <a:prstDash val="solid"/>
          </a:ln>
        </p:spPr>
      </p:sp>
      <p:sp>
        <p:nvSpPr>
          <p:cNvPr id="9" name="Text 7"/>
          <p:cNvSpPr/>
          <p:nvPr/>
        </p:nvSpPr>
        <p:spPr>
          <a:xfrm>
            <a:off x="4828032" y="1554480"/>
            <a:ext cx="3785616" cy="438912"/>
          </a:xfrm>
          <a:prstGeom prst="rect">
            <a:avLst/>
          </a:prstGeom>
          <a:noFill/>
          <a:ln/>
        </p:spPr>
        <p:txBody>
          <a:bodyPr wrap="square" lIns="0" tIns="0" rIns="0" bIns="0" rtlCol="0" anchor="ctr"/>
          <a:lstStyle/>
          <a:p>
            <a:pPr algn="ctr" indent="0" marL="0">
              <a:buNone/>
            </a:pPr>
            <a:r>
              <a:rPr lang="en-US" sz="1300" b="1" spc="100" kern="0" dirty="0">
                <a:solidFill>
                  <a:srgbClr val="9B1C2E"/>
                </a:solidFill>
                <a:latin typeface="Cambria" pitchFamily="34" charset="0"/>
                <a:ea typeface="Cambria" pitchFamily="34" charset="-122"/>
                <a:cs typeface="Cambria" pitchFamily="34" charset="-120"/>
              </a:rPr>
              <a:t>LONGITUDE (East-West)</a:t>
            </a:r>
            <a:endParaRPr lang="en-US" sz="1300" dirty="0"/>
          </a:p>
        </p:txBody>
      </p:sp>
      <p:sp>
        <p:nvSpPr>
          <p:cNvPr id="10" name="Text 8"/>
          <p:cNvSpPr/>
          <p:nvPr/>
        </p:nvSpPr>
        <p:spPr>
          <a:xfrm>
            <a:off x="4828032" y="2048256"/>
            <a:ext cx="3785616" cy="2743200"/>
          </a:xfrm>
          <a:prstGeom prst="rect">
            <a:avLst/>
          </a:prstGeom>
          <a:noFill/>
          <a:ln/>
        </p:spPr>
        <p:txBody>
          <a:bodyPr wrap="square" lIns="0" tIns="0" rIns="0" bIns="0" rtlCol="0" anchor="ctr"/>
          <a:lstStyle/>
          <a:p>
            <a:pPr algn="l" indent="0" marL="0">
              <a:lnSpc>
                <a:spcPct val="140000"/>
              </a:lnSpc>
              <a:buNone/>
            </a:pPr>
            <a:r>
              <a:rPr lang="en-US" sz="1200" dirty="0">
                <a:solidFill>
                  <a:srgbClr val="3A4A6B"/>
                </a:solidFill>
                <a:latin typeface="Calibri" pitchFamily="34" charset="0"/>
                <a:ea typeface="Calibri" pitchFamily="34" charset="-122"/>
                <a:cs typeface="Calibri" pitchFamily="34" charset="-120"/>
              </a:rPr>
              <a:t>✗ Unsolved until 1773!</a:t>
            </a:r>
            <a:endParaRPr lang="en-US" sz="1200" dirty="0"/>
          </a:p>
          <a:p>
            <a:pPr algn="l" indent="0" marL="0">
              <a:lnSpc>
                <a:spcPct val="140000"/>
              </a:lnSpc>
              <a:buNone/>
            </a:pPr>
            <a:endParaRPr lang="en-US" sz="1200" dirty="0"/>
          </a:p>
          <a:p>
            <a:pPr algn="l" indent="0" marL="0">
              <a:lnSpc>
                <a:spcPct val="140000"/>
              </a:lnSpc>
              <a:buNone/>
            </a:pPr>
            <a:r>
              <a:rPr lang="en-US" sz="1200" dirty="0">
                <a:solidFill>
                  <a:srgbClr val="3A4A6B"/>
                </a:solidFill>
                <a:latin typeface="Calibri" pitchFamily="34" charset="0"/>
                <a:ea typeface="Calibri" pitchFamily="34" charset="-122"/>
                <a:cs typeface="Calibri" pitchFamily="34" charset="-120"/>
              </a:rPr>
              <a:t>Requires knowing EXACT time aboard ship vs. at home port.</a:t>
            </a:r>
            <a:endParaRPr lang="en-US" sz="1200" dirty="0"/>
          </a:p>
          <a:p>
            <a:pPr algn="l" indent="0" marL="0">
              <a:lnSpc>
                <a:spcPct val="140000"/>
              </a:lnSpc>
              <a:buNone/>
            </a:pPr>
            <a:endParaRPr lang="en-US" sz="1200" dirty="0"/>
          </a:p>
          <a:p>
            <a:pPr algn="l" indent="0" marL="0">
              <a:lnSpc>
                <a:spcPct val="140000"/>
              </a:lnSpc>
              <a:buNone/>
            </a:pPr>
            <a:r>
              <a:rPr lang="en-US" sz="1200" dirty="0">
                <a:solidFill>
                  <a:srgbClr val="3A4A6B"/>
                </a:solidFill>
                <a:latin typeface="Calibri" pitchFamily="34" charset="0"/>
                <a:ea typeface="Calibri" pitchFamily="34" charset="-122"/>
                <a:cs typeface="Calibri" pitchFamily="34" charset="-120"/>
              </a:rPr>
              <a:t>Early clocks couldn't handle the motion of waves.</a:t>
            </a:r>
            <a:endParaRPr lang="en-US" sz="1200" dirty="0"/>
          </a:p>
          <a:p>
            <a:pPr algn="l" indent="0" marL="0">
              <a:lnSpc>
                <a:spcPct val="140000"/>
              </a:lnSpc>
              <a:buNone/>
            </a:pPr>
            <a:endParaRPr lang="en-US" sz="1200" dirty="0"/>
          </a:p>
          <a:p>
            <a:pPr algn="l" indent="0" marL="0">
              <a:lnSpc>
                <a:spcPct val="140000"/>
              </a:lnSpc>
              <a:buNone/>
            </a:pPr>
            <a:r>
              <a:rPr lang="en-US" sz="1200" dirty="0">
                <a:solidFill>
                  <a:srgbClr val="3A4A6B"/>
                </a:solidFill>
                <a:latin typeface="Calibri" pitchFamily="34" charset="0"/>
                <a:ea typeface="Calibri" pitchFamily="34" charset="-122"/>
                <a:cs typeface="Calibri" pitchFamily="34" charset="-120"/>
              </a:rPr>
              <a:t>Without longitude, sailors guessed East-West position — and often died for it.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E3D"/>
        </a:solidFill>
      </p:bgPr>
    </p:bg>
    <p:spTree>
      <p:nvGrpSpPr>
        <p:cNvPr id="1" name=""/>
        <p:cNvGrpSpPr/>
        <p:nvPr/>
      </p:nvGrpSpPr>
      <p:grpSpPr>
        <a:xfrm>
          <a:off x="0" y="0"/>
          <a:ext cx="0" cy="0"/>
          <a:chOff x="0" y="0"/>
          <a:chExt cx="0" cy="0"/>
        </a:xfrm>
      </p:grpSpPr>
      <p:sp>
        <p:nvSpPr>
          <p:cNvPr id="2" name="Shape 0"/>
          <p:cNvSpPr/>
          <p:nvPr/>
        </p:nvSpPr>
        <p:spPr>
          <a:xfrm>
            <a:off x="457200" y="502920"/>
            <a:ext cx="8229600" cy="4114800"/>
          </a:xfrm>
          <a:prstGeom prst="ellipse">
            <a:avLst/>
          </a:prstGeom>
          <a:solidFill>
            <a:srgbClr val="D4AF37">
              <a:alpha val="14000"/>
            </a:srgbClr>
          </a:solidFill>
          <a:ln w="12700">
            <a:solidFill>
              <a:srgbClr val="333333"/>
            </a:solidFill>
            <a:prstDash val="solid"/>
          </a:ln>
        </p:spPr>
      </p:sp>
      <p:sp>
        <p:nvSpPr>
          <p:cNvPr id="3" name="Shape 1"/>
          <p:cNvSpPr/>
          <p:nvPr/>
        </p:nvSpPr>
        <p:spPr>
          <a:xfrm>
            <a:off x="2267712" y="1408176"/>
            <a:ext cx="4608576" cy="2304288"/>
          </a:xfrm>
          <a:prstGeom prst="ellipse">
            <a:avLst/>
          </a:prstGeom>
          <a:solidFill>
            <a:srgbClr val="D4AF37">
              <a:alpha val="25000"/>
            </a:srgbClr>
          </a:solidFill>
          <a:ln w="12700">
            <a:solidFill>
              <a:srgbClr val="333333"/>
            </a:solidFill>
            <a:prstDash val="solid"/>
          </a:ln>
        </p:spPr>
      </p:sp>
      <p:sp>
        <p:nvSpPr>
          <p:cNvPr id="4" name="Text 2"/>
          <p:cNvSpPr/>
          <p:nvPr/>
        </p:nvSpPr>
        <p:spPr>
          <a:xfrm>
            <a:off x="457200" y="164592"/>
            <a:ext cx="8229600" cy="4754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Three Routes That Changed the World</a:t>
            </a:r>
            <a:endParaRPr lang="en-US" sz="2600" dirty="0"/>
          </a:p>
        </p:txBody>
      </p:sp>
      <p:sp>
        <p:nvSpPr>
          <p:cNvPr id="5" name="Shape 3"/>
          <p:cNvSpPr/>
          <p:nvPr/>
        </p:nvSpPr>
        <p:spPr>
          <a:xfrm>
            <a:off x="402336" y="768096"/>
            <a:ext cx="8339328" cy="1225296"/>
          </a:xfrm>
          <a:prstGeom prst="roundRect">
            <a:avLst>
              <a:gd name="adj" fmla="val 7463"/>
            </a:avLst>
          </a:prstGeom>
          <a:solidFill>
            <a:srgbClr val="9B1C2E">
              <a:alpha val="18000"/>
            </a:srgbClr>
          </a:solidFill>
          <a:ln w="19050">
            <a:solidFill>
              <a:srgbClr val="9B1C2E"/>
            </a:solidFill>
            <a:prstDash val="solid"/>
          </a:ln>
        </p:spPr>
      </p:sp>
      <p:sp>
        <p:nvSpPr>
          <p:cNvPr id="6" name="Text 4"/>
          <p:cNvSpPr/>
          <p:nvPr/>
        </p:nvSpPr>
        <p:spPr>
          <a:xfrm>
            <a:off x="585216" y="804672"/>
            <a:ext cx="7973568" cy="438912"/>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Columbus's Route (1492)</a:t>
            </a:r>
            <a:endParaRPr lang="en-US" sz="1350" dirty="0"/>
          </a:p>
        </p:txBody>
      </p:sp>
      <p:sp>
        <p:nvSpPr>
          <p:cNvPr id="7" name="Text 5"/>
          <p:cNvSpPr/>
          <p:nvPr/>
        </p:nvSpPr>
        <p:spPr>
          <a:xfrm>
            <a:off x="585216" y="1243584"/>
            <a:ext cx="7973568" cy="694944"/>
          </a:xfrm>
          <a:prstGeom prst="rect">
            <a:avLst/>
          </a:prstGeom>
          <a:noFill/>
          <a:ln/>
        </p:spPr>
        <p:txBody>
          <a:bodyPr wrap="square" lIns="0" tIns="0" rIns="0" bIns="0" rtlCol="0" anchor="ctr"/>
          <a:lstStyle/>
          <a:p>
            <a:pPr indent="0" marL="0">
              <a:lnSpc>
                <a:spcPct val="130000"/>
              </a:lnSpc>
              <a:buNone/>
            </a:pPr>
            <a:r>
              <a:rPr lang="en-US" sz="1200" dirty="0">
                <a:solidFill>
                  <a:srgbClr val="F8F4E8"/>
                </a:solidFill>
                <a:latin typeface="Calibri" pitchFamily="34" charset="0"/>
                <a:ea typeface="Calibri" pitchFamily="34" charset="-122"/>
                <a:cs typeface="Calibri" pitchFamily="34" charset="-120"/>
              </a:rPr>
              <a:t>Spain → Canary Islands → Trade Winds West → Caribbean (San Salvador). Took 33 days. Thought he was in Asia.</a:t>
            </a:r>
            <a:endParaRPr lang="en-US" sz="1200" dirty="0"/>
          </a:p>
        </p:txBody>
      </p:sp>
      <p:sp>
        <p:nvSpPr>
          <p:cNvPr id="8" name="Shape 6"/>
          <p:cNvSpPr/>
          <p:nvPr/>
        </p:nvSpPr>
        <p:spPr>
          <a:xfrm>
            <a:off x="402336" y="2121408"/>
            <a:ext cx="8339328" cy="1225296"/>
          </a:xfrm>
          <a:prstGeom prst="roundRect">
            <a:avLst>
              <a:gd name="adj" fmla="val 7463"/>
            </a:avLst>
          </a:prstGeom>
          <a:solidFill>
            <a:srgbClr val="1B4F72">
              <a:alpha val="18000"/>
            </a:srgbClr>
          </a:solidFill>
          <a:ln w="19050">
            <a:solidFill>
              <a:srgbClr val="1B4F72"/>
            </a:solidFill>
            <a:prstDash val="solid"/>
          </a:ln>
        </p:spPr>
      </p:sp>
      <p:sp>
        <p:nvSpPr>
          <p:cNvPr id="9" name="Text 7"/>
          <p:cNvSpPr/>
          <p:nvPr/>
        </p:nvSpPr>
        <p:spPr>
          <a:xfrm>
            <a:off x="585216" y="2157984"/>
            <a:ext cx="7973568" cy="438912"/>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Vasco da Gama's Route (1497-98)</a:t>
            </a:r>
            <a:endParaRPr lang="en-US" sz="1350" dirty="0"/>
          </a:p>
        </p:txBody>
      </p:sp>
      <p:sp>
        <p:nvSpPr>
          <p:cNvPr id="10" name="Text 8"/>
          <p:cNvSpPr/>
          <p:nvPr/>
        </p:nvSpPr>
        <p:spPr>
          <a:xfrm>
            <a:off x="585216" y="2596896"/>
            <a:ext cx="7973568" cy="694944"/>
          </a:xfrm>
          <a:prstGeom prst="rect">
            <a:avLst/>
          </a:prstGeom>
          <a:noFill/>
          <a:ln/>
        </p:spPr>
        <p:txBody>
          <a:bodyPr wrap="square" lIns="0" tIns="0" rIns="0" bIns="0" rtlCol="0" anchor="ctr"/>
          <a:lstStyle/>
          <a:p>
            <a:pPr indent="0" marL="0">
              <a:lnSpc>
                <a:spcPct val="130000"/>
              </a:lnSpc>
              <a:buNone/>
            </a:pPr>
            <a:r>
              <a:rPr lang="en-US" sz="1200" dirty="0">
                <a:solidFill>
                  <a:srgbClr val="F8F4E8"/>
                </a:solidFill>
                <a:latin typeface="Calibri" pitchFamily="34" charset="0"/>
                <a:ea typeface="Calibri" pitchFamily="34" charset="-122"/>
                <a:cs typeface="Calibri" pitchFamily="34" charset="-120"/>
              </a:rPr>
              <a:t>Portugal → Around Africa's Cape of Good Hope → Indian Ocean → Calicut, India. First sea route from Europe to Asia. 300+ crew members.</a:t>
            </a:r>
            <a:endParaRPr lang="en-US" sz="1200" dirty="0"/>
          </a:p>
        </p:txBody>
      </p:sp>
      <p:sp>
        <p:nvSpPr>
          <p:cNvPr id="11" name="Shape 9"/>
          <p:cNvSpPr/>
          <p:nvPr/>
        </p:nvSpPr>
        <p:spPr>
          <a:xfrm>
            <a:off x="402336" y="3474720"/>
            <a:ext cx="8339328" cy="1225296"/>
          </a:xfrm>
          <a:prstGeom prst="roundRect">
            <a:avLst>
              <a:gd name="adj" fmla="val 7463"/>
            </a:avLst>
          </a:prstGeom>
          <a:solidFill>
            <a:srgbClr val="A88920">
              <a:alpha val="18000"/>
            </a:srgbClr>
          </a:solidFill>
          <a:ln w="19050">
            <a:solidFill>
              <a:srgbClr val="A88920"/>
            </a:solidFill>
            <a:prstDash val="solid"/>
          </a:ln>
        </p:spPr>
      </p:sp>
      <p:sp>
        <p:nvSpPr>
          <p:cNvPr id="12" name="Text 10"/>
          <p:cNvSpPr/>
          <p:nvPr/>
        </p:nvSpPr>
        <p:spPr>
          <a:xfrm>
            <a:off x="585216" y="3511296"/>
            <a:ext cx="7973568" cy="438912"/>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Magellan-Elcano Route (1519-22)</a:t>
            </a:r>
            <a:endParaRPr lang="en-US" sz="1350" dirty="0"/>
          </a:p>
        </p:txBody>
      </p:sp>
      <p:sp>
        <p:nvSpPr>
          <p:cNvPr id="13" name="Text 11"/>
          <p:cNvSpPr/>
          <p:nvPr/>
        </p:nvSpPr>
        <p:spPr>
          <a:xfrm>
            <a:off x="585216" y="3950208"/>
            <a:ext cx="7973568" cy="694944"/>
          </a:xfrm>
          <a:prstGeom prst="rect">
            <a:avLst/>
          </a:prstGeom>
          <a:noFill/>
          <a:ln/>
        </p:spPr>
        <p:txBody>
          <a:bodyPr wrap="square" lIns="0" tIns="0" rIns="0" bIns="0" rtlCol="0" anchor="ctr"/>
          <a:lstStyle/>
          <a:p>
            <a:pPr indent="0" marL="0">
              <a:lnSpc>
                <a:spcPct val="130000"/>
              </a:lnSpc>
              <a:buNone/>
            </a:pPr>
            <a:r>
              <a:rPr lang="en-US" sz="1200" dirty="0">
                <a:solidFill>
                  <a:srgbClr val="F8F4E8"/>
                </a:solidFill>
                <a:latin typeface="Calibri" pitchFamily="34" charset="0"/>
                <a:ea typeface="Calibri" pitchFamily="34" charset="-122"/>
                <a:cs typeface="Calibri" pitchFamily="34" charset="-120"/>
              </a:rPr>
              <a:t>Spain → South America's tip → Pacific → Philippines → Back to Spain. First circumnavigation. Only 18 of 270 sailors survived.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E3D"/>
        </a:solidFill>
      </p:bgPr>
    </p:bg>
    <p:spTree>
      <p:nvGrpSpPr>
        <p:cNvPr id="1" name=""/>
        <p:cNvGrpSpPr/>
        <p:nvPr/>
      </p:nvGrpSpPr>
      <p:grpSpPr>
        <a:xfrm>
          <a:off x="0" y="0"/>
          <a:ext cx="0" cy="0"/>
          <a:chOff x="0" y="0"/>
          <a:chExt cx="0" cy="0"/>
        </a:xfrm>
      </p:grpSpPr>
      <p:sp>
        <p:nvSpPr>
          <p:cNvPr id="2" name="Shape 0"/>
          <p:cNvSpPr/>
          <p:nvPr/>
        </p:nvSpPr>
        <p:spPr>
          <a:xfrm>
            <a:off x="685800" y="502920"/>
            <a:ext cx="7772400" cy="4114800"/>
          </a:xfrm>
          <a:prstGeom prst="ellipse">
            <a:avLst/>
          </a:prstGeom>
          <a:solidFill>
            <a:srgbClr val="C7522A">
              <a:alpha val="14000"/>
            </a:srgbClr>
          </a:solidFill>
          <a:ln w="12700">
            <a:solidFill>
              <a:srgbClr val="333333"/>
            </a:solidFill>
            <a:prstDash val="solid"/>
          </a:ln>
        </p:spPr>
      </p:sp>
      <p:sp>
        <p:nvSpPr>
          <p:cNvPr id="3" name="Shape 1"/>
          <p:cNvSpPr/>
          <p:nvPr/>
        </p:nvSpPr>
        <p:spPr>
          <a:xfrm>
            <a:off x="2395728" y="1408176"/>
            <a:ext cx="4352544" cy="2304288"/>
          </a:xfrm>
          <a:prstGeom prst="ellipse">
            <a:avLst/>
          </a:prstGeom>
          <a:solidFill>
            <a:srgbClr val="C7522A">
              <a:alpha val="25000"/>
            </a:srgbClr>
          </a:solidFill>
          <a:ln w="12700">
            <a:solidFill>
              <a:srgbClr val="333333"/>
            </a:solidFill>
            <a:prstDash val="solid"/>
          </a:ln>
        </p:spPr>
      </p:sp>
      <p:sp>
        <p:nvSpPr>
          <p:cNvPr id="4" name="Text 2"/>
          <p:cNvSpPr/>
          <p:nvPr/>
        </p:nvSpPr>
        <p:spPr>
          <a:xfrm>
            <a:off x="457200" y="164592"/>
            <a:ext cx="8229600" cy="4754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In Your Groups — The Navigator's Log</a:t>
            </a:r>
            <a:endParaRPr lang="en-US" sz="2600" dirty="0"/>
          </a:p>
        </p:txBody>
      </p:sp>
      <p:sp>
        <p:nvSpPr>
          <p:cNvPr id="5" name="Shape 3"/>
          <p:cNvSpPr/>
          <p:nvPr/>
        </p:nvSpPr>
        <p:spPr>
          <a:xfrm>
            <a:off x="402336" y="749808"/>
            <a:ext cx="8339328" cy="658368"/>
          </a:xfrm>
          <a:prstGeom prst="roundRect">
            <a:avLst>
              <a:gd name="adj" fmla="val 12500"/>
            </a:avLst>
          </a:prstGeom>
          <a:solidFill>
            <a:srgbClr val="C7522A">
              <a:alpha val="20000"/>
            </a:srgbClr>
          </a:solidFill>
          <a:ln w="19050">
            <a:solidFill>
              <a:srgbClr val="C7522A"/>
            </a:solidFill>
            <a:prstDash val="solid"/>
          </a:ln>
        </p:spPr>
      </p:sp>
      <p:sp>
        <p:nvSpPr>
          <p:cNvPr id="6" name="Text 4"/>
          <p:cNvSpPr/>
          <p:nvPr/>
        </p:nvSpPr>
        <p:spPr>
          <a:xfrm>
            <a:off x="585216" y="786384"/>
            <a:ext cx="7973568" cy="603504"/>
          </a:xfrm>
          <a:prstGeom prst="rect">
            <a:avLst/>
          </a:prstGeom>
          <a:noFill/>
          <a:ln/>
        </p:spPr>
        <p:txBody>
          <a:bodyPr wrap="square" rtlCol="0" anchor="ctr"/>
          <a:lstStyle/>
          <a:p>
            <a:pPr algn="l" indent="0" marL="0">
              <a:lnSpc>
                <a:spcPct val="135000"/>
              </a:lnSpc>
              <a:buNone/>
            </a:pPr>
            <a:r>
              <a:rPr lang="en-US" sz="1250" dirty="0">
                <a:solidFill>
                  <a:srgbClr val="FFFFFF"/>
                </a:solidFill>
                <a:latin typeface="Calibri" pitchFamily="34" charset="0"/>
                <a:ea typeface="Calibri" pitchFamily="34" charset="-122"/>
                <a:cs typeface="Calibri" pitchFamily="34" charset="-120"/>
              </a:rPr>
              <a:t>You are the ship's navigator. It's Day 28 at sea. Answer these in your groups:</a:t>
            </a:r>
            <a:endParaRPr lang="en-US" sz="1250" dirty="0"/>
          </a:p>
        </p:txBody>
      </p:sp>
      <p:sp>
        <p:nvSpPr>
          <p:cNvPr id="7" name="Shape 5"/>
          <p:cNvSpPr/>
          <p:nvPr/>
        </p:nvSpPr>
        <p:spPr>
          <a:xfrm>
            <a:off x="402336" y="1517904"/>
            <a:ext cx="8339328" cy="731520"/>
          </a:xfrm>
          <a:prstGeom prst="roundRect">
            <a:avLst>
              <a:gd name="adj" fmla="val 8750"/>
            </a:avLst>
          </a:prstGeom>
          <a:solidFill>
            <a:srgbClr val="FFFFFF">
              <a:alpha val="8000"/>
            </a:srgbClr>
          </a:solidFill>
          <a:ln w="12700">
            <a:solidFill>
              <a:srgbClr val="D4AF37"/>
            </a:solidFill>
            <a:prstDash val="solid"/>
          </a:ln>
        </p:spPr>
      </p:sp>
      <p:sp>
        <p:nvSpPr>
          <p:cNvPr id="8" name="Text 6"/>
          <p:cNvSpPr/>
          <p:nvPr/>
        </p:nvSpPr>
        <p:spPr>
          <a:xfrm>
            <a:off x="585216" y="1517904"/>
            <a:ext cx="7973568" cy="731520"/>
          </a:xfrm>
          <a:prstGeom prst="rect">
            <a:avLst/>
          </a:prstGeom>
          <a:noFill/>
          <a:ln/>
        </p:spPr>
        <p:txBody>
          <a:bodyPr wrap="square" lIns="0" tIns="0" rIns="0" bIns="0" rtlCol="0" anchor="ctr"/>
          <a:lstStyle/>
          <a:p>
            <a:pPr algn="l" indent="0" marL="0">
              <a:lnSpc>
                <a:spcPct val="125000"/>
              </a:lnSpc>
              <a:buNone/>
            </a:pPr>
            <a:r>
              <a:rPr lang="en-US" sz="1150" dirty="0">
                <a:solidFill>
                  <a:srgbClr val="FFFFFF"/>
                </a:solidFill>
                <a:latin typeface="Calibri" pitchFamily="34" charset="0"/>
                <a:ea typeface="Calibri" pitchFamily="34" charset="-122"/>
                <a:cs typeface="Calibri" pitchFamily="34" charset="-120"/>
              </a:rPr>
              <a:t>1.  Your astrolabe shows the North Star is 28 degrees above the horizon. Are you north or south of the equator? How do you know?</a:t>
            </a:r>
            <a:endParaRPr lang="en-US" sz="1150" dirty="0"/>
          </a:p>
        </p:txBody>
      </p:sp>
      <p:sp>
        <p:nvSpPr>
          <p:cNvPr id="9" name="Shape 7"/>
          <p:cNvSpPr/>
          <p:nvPr/>
        </p:nvSpPr>
        <p:spPr>
          <a:xfrm>
            <a:off x="402336" y="2340864"/>
            <a:ext cx="8339328" cy="731520"/>
          </a:xfrm>
          <a:prstGeom prst="roundRect">
            <a:avLst>
              <a:gd name="adj" fmla="val 8750"/>
            </a:avLst>
          </a:prstGeom>
          <a:solidFill>
            <a:srgbClr val="FFFFFF">
              <a:alpha val="8000"/>
            </a:srgbClr>
          </a:solidFill>
          <a:ln w="12700">
            <a:solidFill>
              <a:srgbClr val="D4AF37"/>
            </a:solidFill>
            <a:prstDash val="solid"/>
          </a:ln>
        </p:spPr>
      </p:sp>
      <p:sp>
        <p:nvSpPr>
          <p:cNvPr id="10" name="Text 8"/>
          <p:cNvSpPr/>
          <p:nvPr/>
        </p:nvSpPr>
        <p:spPr>
          <a:xfrm>
            <a:off x="585216" y="2340864"/>
            <a:ext cx="7973568" cy="731520"/>
          </a:xfrm>
          <a:prstGeom prst="rect">
            <a:avLst/>
          </a:prstGeom>
          <a:noFill/>
          <a:ln/>
        </p:spPr>
        <p:txBody>
          <a:bodyPr wrap="square" lIns="0" tIns="0" rIns="0" bIns="0" rtlCol="0" anchor="ctr"/>
          <a:lstStyle/>
          <a:p>
            <a:pPr algn="l" indent="0" marL="0">
              <a:lnSpc>
                <a:spcPct val="125000"/>
              </a:lnSpc>
              <a:buNone/>
            </a:pPr>
            <a:r>
              <a:rPr lang="en-US" sz="1150" dirty="0">
                <a:solidFill>
                  <a:srgbClr val="FFFFFF"/>
                </a:solidFill>
                <a:latin typeface="Calibri" pitchFamily="34" charset="0"/>
                <a:ea typeface="Calibri" pitchFamily="34" charset="-122"/>
                <a:cs typeface="Calibri" pitchFamily="34" charset="-120"/>
              </a:rPr>
              <a:t>2.  Your compass broke on Day 3. Name TWO other ways you'd try to figure out which direction is North.</a:t>
            </a:r>
            <a:endParaRPr lang="en-US" sz="1150" dirty="0"/>
          </a:p>
        </p:txBody>
      </p:sp>
      <p:sp>
        <p:nvSpPr>
          <p:cNvPr id="11" name="Shape 9"/>
          <p:cNvSpPr/>
          <p:nvPr/>
        </p:nvSpPr>
        <p:spPr>
          <a:xfrm>
            <a:off x="402336" y="3163824"/>
            <a:ext cx="8339328" cy="731520"/>
          </a:xfrm>
          <a:prstGeom prst="roundRect">
            <a:avLst>
              <a:gd name="adj" fmla="val 8750"/>
            </a:avLst>
          </a:prstGeom>
          <a:solidFill>
            <a:srgbClr val="FFFFFF">
              <a:alpha val="8000"/>
            </a:srgbClr>
          </a:solidFill>
          <a:ln w="12700">
            <a:solidFill>
              <a:srgbClr val="D4AF37"/>
            </a:solidFill>
            <a:prstDash val="solid"/>
          </a:ln>
        </p:spPr>
      </p:sp>
      <p:sp>
        <p:nvSpPr>
          <p:cNvPr id="12" name="Text 10"/>
          <p:cNvSpPr/>
          <p:nvPr/>
        </p:nvSpPr>
        <p:spPr>
          <a:xfrm>
            <a:off x="585216" y="3163824"/>
            <a:ext cx="7973568" cy="731520"/>
          </a:xfrm>
          <a:prstGeom prst="rect">
            <a:avLst/>
          </a:prstGeom>
          <a:noFill/>
          <a:ln/>
        </p:spPr>
        <p:txBody>
          <a:bodyPr wrap="square" lIns="0" tIns="0" rIns="0" bIns="0" rtlCol="0" anchor="ctr"/>
          <a:lstStyle/>
          <a:p>
            <a:pPr algn="l" indent="0" marL="0">
              <a:lnSpc>
                <a:spcPct val="125000"/>
              </a:lnSpc>
              <a:buNone/>
            </a:pPr>
            <a:r>
              <a:rPr lang="en-US" sz="1150" dirty="0">
                <a:solidFill>
                  <a:srgbClr val="FFFFFF"/>
                </a:solidFill>
                <a:latin typeface="Calibri" pitchFamily="34" charset="0"/>
                <a:ea typeface="Calibri" pitchFamily="34" charset="-122"/>
                <a:cs typeface="Calibri" pitchFamily="34" charset="-120"/>
              </a:rPr>
              <a:t>3.  You've been sailing West for 28 days. Columbus reached land in 33 days. What would you do differently — keep going, or turn back?</a:t>
            </a:r>
            <a:endParaRPr lang="en-US" sz="1150" dirty="0"/>
          </a:p>
        </p:txBody>
      </p:sp>
      <p:sp>
        <p:nvSpPr>
          <p:cNvPr id="13" name="Shape 11"/>
          <p:cNvSpPr/>
          <p:nvPr/>
        </p:nvSpPr>
        <p:spPr>
          <a:xfrm>
            <a:off x="402336" y="3986784"/>
            <a:ext cx="8339328" cy="731520"/>
          </a:xfrm>
          <a:prstGeom prst="roundRect">
            <a:avLst>
              <a:gd name="adj" fmla="val 8750"/>
            </a:avLst>
          </a:prstGeom>
          <a:solidFill>
            <a:srgbClr val="FFFFFF">
              <a:alpha val="8000"/>
            </a:srgbClr>
          </a:solidFill>
          <a:ln w="12700">
            <a:solidFill>
              <a:srgbClr val="D4AF37"/>
            </a:solidFill>
            <a:prstDash val="solid"/>
          </a:ln>
        </p:spPr>
      </p:sp>
      <p:sp>
        <p:nvSpPr>
          <p:cNvPr id="14" name="Text 12"/>
          <p:cNvSpPr/>
          <p:nvPr/>
        </p:nvSpPr>
        <p:spPr>
          <a:xfrm>
            <a:off x="585216" y="3986784"/>
            <a:ext cx="7973568" cy="731520"/>
          </a:xfrm>
          <a:prstGeom prst="rect">
            <a:avLst/>
          </a:prstGeom>
          <a:noFill/>
          <a:ln/>
        </p:spPr>
        <p:txBody>
          <a:bodyPr wrap="square" lIns="0" tIns="0" rIns="0" bIns="0" rtlCol="0" anchor="ctr"/>
          <a:lstStyle/>
          <a:p>
            <a:pPr algn="l" indent="0" marL="0">
              <a:lnSpc>
                <a:spcPct val="125000"/>
              </a:lnSpc>
              <a:buNone/>
            </a:pPr>
            <a:r>
              <a:rPr lang="en-US" sz="1150" dirty="0">
                <a:solidFill>
                  <a:srgbClr val="FFFFFF"/>
                </a:solidFill>
                <a:latin typeface="Calibri" pitchFamily="34" charset="0"/>
                <a:ea typeface="Calibri" pitchFamily="34" charset="-122"/>
                <a:cs typeface="Calibri" pitchFamily="34" charset="-120"/>
              </a:rPr>
              <a:t>4.  You can only take 3 instruments on this voyage. Which 3 do you pick — and why?</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E3D"/>
        </a:solidFill>
      </p:bgPr>
    </p:bg>
    <p:spTree>
      <p:nvGrpSpPr>
        <p:cNvPr id="1" name=""/>
        <p:cNvGrpSpPr/>
        <p:nvPr/>
      </p:nvGrpSpPr>
      <p:grpSpPr>
        <a:xfrm>
          <a:off x="0" y="0"/>
          <a:ext cx="0" cy="0"/>
          <a:chOff x="0" y="0"/>
          <a:chExt cx="0" cy="0"/>
        </a:xfrm>
      </p:grpSpPr>
      <p:sp>
        <p:nvSpPr>
          <p:cNvPr id="2" name="Shape 0"/>
          <p:cNvSpPr/>
          <p:nvPr/>
        </p:nvSpPr>
        <p:spPr>
          <a:xfrm>
            <a:off x="914400" y="228600"/>
            <a:ext cx="7315200" cy="4114800"/>
          </a:xfrm>
          <a:prstGeom prst="ellipse">
            <a:avLst/>
          </a:prstGeom>
          <a:solidFill>
            <a:srgbClr val="D4AF37">
              <a:alpha val="14000"/>
            </a:srgbClr>
          </a:solidFill>
          <a:ln w="12700">
            <a:solidFill>
              <a:srgbClr val="333333"/>
            </a:solidFill>
            <a:prstDash val="solid"/>
          </a:ln>
        </p:spPr>
      </p:sp>
      <p:sp>
        <p:nvSpPr>
          <p:cNvPr id="3" name="Shape 1"/>
          <p:cNvSpPr/>
          <p:nvPr/>
        </p:nvSpPr>
        <p:spPr>
          <a:xfrm>
            <a:off x="2523744" y="1133856"/>
            <a:ext cx="4096512" cy="2304288"/>
          </a:xfrm>
          <a:prstGeom prst="ellipse">
            <a:avLst/>
          </a:prstGeom>
          <a:solidFill>
            <a:srgbClr val="D4AF37">
              <a:alpha val="25000"/>
            </a:srgbClr>
          </a:solidFill>
          <a:ln w="12700">
            <a:solidFill>
              <a:srgbClr val="333333"/>
            </a:solidFill>
            <a:prstDash val="solid"/>
          </a:ln>
        </p:spPr>
      </p:sp>
      <p:sp>
        <p:nvSpPr>
          <p:cNvPr id="4" name="Text 2"/>
          <p:cNvSpPr/>
          <p:nvPr/>
        </p:nvSpPr>
        <p:spPr>
          <a:xfrm>
            <a:off x="457200" y="804672"/>
            <a:ext cx="8229600" cy="914400"/>
          </a:xfrm>
          <a:prstGeom prst="rect">
            <a:avLst/>
          </a:prstGeom>
          <a:noFill/>
          <a:ln/>
        </p:spPr>
        <p:txBody>
          <a:bodyPr wrap="square" lIns="0" tIns="0" rIns="0" bIns="0" rtlCol="0" anchor="ctr"/>
          <a:lstStyle/>
          <a:p>
            <a:pPr algn="ctr" indent="0" marL="0">
              <a:lnSpc>
                <a:spcPct val="120000"/>
              </a:lnSpc>
              <a:buNone/>
            </a:pPr>
            <a:r>
              <a:rPr lang="en-US" sz="2800" b="1" dirty="0">
                <a:solidFill>
                  <a:srgbClr val="FFFFFF"/>
                </a:solidFill>
                <a:latin typeface="Cambria" pitchFamily="34" charset="0"/>
                <a:ea typeface="Cambria" pitchFamily="34" charset="-122"/>
                <a:cs typeface="Cambria" pitchFamily="34" charset="-120"/>
              </a:rPr>
              <a:t>Navigation is the art of knowing</a:t>
            </a:r>
            <a:endParaRPr lang="en-US" sz="2800" dirty="0"/>
          </a:p>
          <a:p>
            <a:pPr algn="ctr" indent="0" marL="0">
              <a:lnSpc>
                <a:spcPct val="120000"/>
              </a:lnSpc>
              <a:buNone/>
            </a:pPr>
            <a:r>
              <a:rPr lang="en-US" sz="2800" b="1" dirty="0">
                <a:solidFill>
                  <a:srgbClr val="FFFFFF"/>
                </a:solidFill>
                <a:latin typeface="Cambria" pitchFamily="34" charset="0"/>
                <a:ea typeface="Cambria" pitchFamily="34" charset="-122"/>
                <a:cs typeface="Cambria" pitchFamily="34" charset="-120"/>
              </a:rPr>
              <a:t>where you are when you can't see land.</a:t>
            </a:r>
            <a:endParaRPr lang="en-US" sz="2800" dirty="0"/>
          </a:p>
        </p:txBody>
      </p:sp>
      <p:sp>
        <p:nvSpPr>
          <p:cNvPr id="5" name="Shape 3"/>
          <p:cNvSpPr/>
          <p:nvPr/>
        </p:nvSpPr>
        <p:spPr>
          <a:xfrm>
            <a:off x="402336" y="1883664"/>
            <a:ext cx="8339328" cy="420624"/>
          </a:xfrm>
          <a:prstGeom prst="roundRect">
            <a:avLst>
              <a:gd name="adj" fmla="val 19565"/>
            </a:avLst>
          </a:prstGeom>
          <a:solidFill>
            <a:srgbClr val="1A8A7D">
              <a:alpha val="78000"/>
            </a:srgbClr>
          </a:solidFill>
          <a:ln w="19050">
            <a:solidFill>
              <a:srgbClr val="34B0A0"/>
            </a:solidFill>
            <a:prstDash val="solid"/>
          </a:ln>
        </p:spPr>
      </p:sp>
      <p:sp>
        <p:nvSpPr>
          <p:cNvPr id="6" name="Text 4"/>
          <p:cNvSpPr/>
          <p:nvPr/>
        </p:nvSpPr>
        <p:spPr>
          <a:xfrm>
            <a:off x="566928" y="1883664"/>
            <a:ext cx="801014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 the Chat: Of all the navigation challenges, which one do you think required the most COURAGE to face?</a:t>
            </a:r>
            <a:endParaRPr lang="en-US" sz="1300" dirty="0"/>
          </a:p>
        </p:txBody>
      </p:sp>
      <p:sp>
        <p:nvSpPr>
          <p:cNvPr id="7" name="Shape 5"/>
          <p:cNvSpPr/>
          <p:nvPr/>
        </p:nvSpPr>
        <p:spPr>
          <a:xfrm>
            <a:off x="402336" y="2450592"/>
            <a:ext cx="8339328" cy="1956816"/>
          </a:xfrm>
          <a:prstGeom prst="roundRect">
            <a:avLst>
              <a:gd name="adj" fmla="val 4673"/>
            </a:avLst>
          </a:prstGeom>
          <a:solidFill>
            <a:srgbClr val="A88920">
              <a:alpha val="18000"/>
            </a:srgbClr>
          </a:solidFill>
          <a:ln w="19050">
            <a:solidFill>
              <a:srgbClr val="D4AF37"/>
            </a:solidFill>
            <a:prstDash val="solid"/>
          </a:ln>
        </p:spPr>
      </p:sp>
      <p:sp>
        <p:nvSpPr>
          <p:cNvPr id="8" name="Text 6"/>
          <p:cNvSpPr/>
          <p:nvPr/>
        </p:nvSpPr>
        <p:spPr>
          <a:xfrm>
            <a:off x="585216" y="2523744"/>
            <a:ext cx="7973568" cy="402336"/>
          </a:xfrm>
          <a:prstGeom prst="rect">
            <a:avLst/>
          </a:prstGeom>
          <a:noFill/>
          <a:ln/>
        </p:spPr>
        <p:txBody>
          <a:bodyPr wrap="square" lIns="0" tIns="0" rIns="0" bIns="0" rtlCol="0" anchor="ctr"/>
          <a:lstStyle/>
          <a:p>
            <a:pPr indent="0" marL="0">
              <a:buNone/>
            </a:pPr>
            <a:r>
              <a:rPr lang="en-US" sz="1400" b="1" dirty="0">
                <a:solidFill>
                  <a:srgbClr val="D4AF37"/>
                </a:solidFill>
                <a:latin typeface="Cambria" pitchFamily="34" charset="0"/>
                <a:ea typeface="Cambria" pitchFamily="34" charset="-122"/>
                <a:cs typeface="Cambria" pitchFamily="34" charset="-120"/>
              </a:rPr>
              <a:t>Virtue Lens: Courage</a:t>
            </a:r>
            <a:endParaRPr lang="en-US" sz="1400" dirty="0"/>
          </a:p>
        </p:txBody>
      </p:sp>
      <p:sp>
        <p:nvSpPr>
          <p:cNvPr id="9" name="Text 7"/>
          <p:cNvSpPr/>
          <p:nvPr/>
        </p:nvSpPr>
        <p:spPr>
          <a:xfrm>
            <a:off x="585216" y="2944368"/>
            <a:ext cx="7973568" cy="1298448"/>
          </a:xfrm>
          <a:prstGeom prst="rect">
            <a:avLst/>
          </a:prstGeom>
          <a:noFill/>
          <a:ln/>
        </p:spPr>
        <p:txBody>
          <a:bodyPr wrap="square" lIns="0" tIns="0" rIns="0" bIns="0" rtlCol="0" anchor="ctr"/>
          <a:lstStyle/>
          <a:p>
            <a:pPr indent="0" marL="0">
              <a:lnSpc>
                <a:spcPct val="145000"/>
              </a:lnSpc>
              <a:buNone/>
            </a:pPr>
            <a:r>
              <a:rPr lang="en-US" sz="1250" dirty="0">
                <a:solidFill>
                  <a:srgbClr val="F8F4E8"/>
                </a:solidFill>
                <a:latin typeface="Calibri" pitchFamily="34" charset="0"/>
                <a:ea typeface="Calibri" pitchFamily="34" charset="-122"/>
                <a:cs typeface="Calibri" pitchFamily="34" charset="-120"/>
              </a:rPr>
              <a:t>Courage requires knowledge, not just boldness. The explorers who succeeded were not the ones who threw away their instruments — they were the ones who mastered them, despite not being sure they'd work. True courage is prepared courage.</a:t>
            </a:r>
            <a:endParaRPr lang="en-US" sz="1250" dirty="0"/>
          </a:p>
        </p:txBody>
      </p:sp>
      <p:sp>
        <p:nvSpPr>
          <p:cNvPr id="10" name="Shape 8"/>
          <p:cNvSpPr/>
          <p:nvPr/>
        </p:nvSpPr>
        <p:spPr>
          <a:xfrm>
            <a:off x="1014984" y="4645152"/>
            <a:ext cx="164592" cy="256032"/>
          </a:xfrm>
          <a:prstGeom prst="ellipse">
            <a:avLst/>
          </a:prstGeom>
          <a:solidFill>
            <a:srgbClr val="D4AF37"/>
          </a:solidFill>
          <a:ln w="12700">
            <a:solidFill>
              <a:srgbClr val="333333"/>
            </a:solidFill>
            <a:prstDash val="solid"/>
          </a:ln>
        </p:spPr>
      </p:sp>
      <p:sp>
        <p:nvSpPr>
          <p:cNvPr id="11" name="Shape 9"/>
          <p:cNvSpPr/>
          <p:nvPr/>
        </p:nvSpPr>
        <p:spPr>
          <a:xfrm>
            <a:off x="7964424" y="4645152"/>
            <a:ext cx="164592" cy="256032"/>
          </a:xfrm>
          <a:prstGeom prst="ellipse">
            <a:avLst/>
          </a:prstGeom>
          <a:solidFill>
            <a:srgbClr val="D4AF37"/>
          </a:solidFill>
          <a:ln w="12700">
            <a:solidFill>
              <a:srgbClr val="333333"/>
            </a:solidFill>
            <a:prstDash val="solid"/>
          </a:ln>
        </p:spPr>
      </p:sp>
      <p:sp>
        <p:nvSpPr>
          <p:cNvPr id="12" name="Shape 10"/>
          <p:cNvSpPr/>
          <p:nvPr/>
        </p:nvSpPr>
        <p:spPr>
          <a:xfrm>
            <a:off x="1097280" y="4773168"/>
            <a:ext cx="6949440" cy="0"/>
          </a:xfrm>
          <a:prstGeom prst="line">
            <a:avLst/>
          </a:prstGeom>
          <a:noFill/>
          <a:ln w="31750">
            <a:solidFill>
              <a:srgbClr val="D4AF37"/>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G3 SS 3.02.02 — Navigation Tools and Explorer Routes</dc:title>
  <dc:subject>PptxGenJS Presentation</dc:subject>
  <dc:creator>PptxGenJS</dc:creator>
  <cp:lastModifiedBy>PptxGenJS</cp:lastModifiedBy>
  <cp:revision>1</cp:revision>
  <dcterms:created xsi:type="dcterms:W3CDTF">2026-07-06T23:18:23Z</dcterms:created>
  <dcterms:modified xsi:type="dcterms:W3CDTF">2026-07-06T23:18:23Z</dcterms:modified>
</cp:coreProperties>
</file>