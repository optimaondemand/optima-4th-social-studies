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capstone lesson: students build an evidence chart that synthesizes everything from the unit. This is application, not new content. The skill is organizing evidence honestly — including evidence that complicates the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sample chart. Key: 'Notice that EVERY row has a WHO WAS AFFECTED column. Historians who leave this column empty are not being honest with their evidence.' This is the honesty virtue in action — the chart forces students to reckon with impact, not just achievement.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teaches evidence evaluation — a crucial skill. The novel (item 2) is the most instructive: historical fiction can be excellent literature and terrible history. The opinion without sources (item 4) is what students often produce themselves — flag it gently but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5 minutes. Cabot answers: Explorer=John Cabot, Italian sailing for England 1497. Motive=Gold+Glory (find Northwest Passage to Asia). Found=Newfoundland, Canada (thought it was Asia's coast). Affected=Beothuk people, Cabot 'claimed' their land. Consequence=England's legal claim to North America, led to later English colonization.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Good answers include: 'What happened to Cabot's crew?', 'What did the Beothuk people do next?', 'What did England's king say when he heard?', 'Did Cabot's family get the promised reward?' These are all real historical questions. Close Unit 2: 'Next unit: Basics of Maps — the tools cartographers used to draw the world that was being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3474720"/>
            <a:ext cx="9144000" cy="1673352"/>
          </a:xfrm>
          <a:prstGeom prst="rect">
            <a:avLst/>
          </a:prstGeom>
          <a:solidFill>
            <a:srgbClr val="0D2E5A"/>
          </a:solidFill>
          <a:ln w="12700">
            <a:solidFill>
              <a:srgbClr val="333333"/>
            </a:solidFill>
            <a:prstDash val="solid"/>
          </a:ln>
        </p:spPr>
      </p:sp>
      <p:sp>
        <p:nvSpPr>
          <p:cNvPr id="3" name="Shape 1"/>
          <p:cNvSpPr/>
          <p:nvPr/>
        </p:nvSpPr>
        <p:spPr>
          <a:xfrm>
            <a:off x="0" y="2743200"/>
            <a:ext cx="9144000" cy="3657600"/>
          </a:xfrm>
          <a:prstGeom prst="ellipse">
            <a:avLst/>
          </a:prstGeom>
          <a:solidFill>
            <a:srgbClr val="D4AF37">
              <a:alpha val="14000"/>
            </a:srgbClr>
          </a:solidFill>
          <a:ln w="12700">
            <a:solidFill>
              <a:srgbClr val="333333"/>
            </a:solidFill>
            <a:prstDash val="solid"/>
          </a:ln>
        </p:spPr>
      </p:sp>
      <p:sp>
        <p:nvSpPr>
          <p:cNvPr id="4" name="Shape 2"/>
          <p:cNvSpPr/>
          <p:nvPr/>
        </p:nvSpPr>
        <p:spPr>
          <a:xfrm>
            <a:off x="2011680" y="3547872"/>
            <a:ext cx="5120640" cy="2048256"/>
          </a:xfrm>
          <a:prstGeom prst="ellipse">
            <a:avLst/>
          </a:prstGeom>
          <a:solidFill>
            <a:srgbClr val="D4AF37">
              <a:alpha val="25000"/>
            </a:srgbClr>
          </a:solidFill>
          <a:ln w="12700">
            <a:solidFill>
              <a:srgbClr val="333333"/>
            </a:solidFill>
            <a:prstDash val="solid"/>
          </a:ln>
        </p:spPr>
      </p:sp>
      <p:sp>
        <p:nvSpPr>
          <p:cNvPr id="5" name="Shape 3"/>
          <p:cNvSpPr/>
          <p:nvPr/>
        </p:nvSpPr>
        <p:spPr>
          <a:xfrm>
            <a:off x="0" y="3840480"/>
            <a:ext cx="9144000" cy="0"/>
          </a:xfrm>
          <a:prstGeom prst="line">
            <a:avLst/>
          </a:prstGeom>
          <a:noFill/>
          <a:ln w="6350">
            <a:solidFill>
              <a:srgbClr val="FFFFFF">
                <a:alpha val="6000"/>
              </a:srgbClr>
            </a:solidFill>
            <a:prstDash val="solid"/>
          </a:ln>
        </p:spPr>
      </p:sp>
      <p:sp>
        <p:nvSpPr>
          <p:cNvPr id="6" name="Shape 4"/>
          <p:cNvSpPr/>
          <p:nvPr/>
        </p:nvSpPr>
        <p:spPr>
          <a:xfrm>
            <a:off x="0" y="4041648"/>
            <a:ext cx="9144000" cy="0"/>
          </a:xfrm>
          <a:prstGeom prst="line">
            <a:avLst/>
          </a:prstGeom>
          <a:noFill/>
          <a:ln w="6350">
            <a:solidFill>
              <a:srgbClr val="FFFFFF">
                <a:alpha val="14000"/>
              </a:srgbClr>
            </a:solidFill>
            <a:prstDash val="solid"/>
          </a:ln>
        </p:spPr>
      </p:sp>
      <p:sp>
        <p:nvSpPr>
          <p:cNvPr id="7" name="Shape 5"/>
          <p:cNvSpPr/>
          <p:nvPr/>
        </p:nvSpPr>
        <p:spPr>
          <a:xfrm>
            <a:off x="0" y="4242816"/>
            <a:ext cx="9144000" cy="0"/>
          </a:xfrm>
          <a:prstGeom prst="line">
            <a:avLst/>
          </a:prstGeom>
          <a:noFill/>
          <a:ln w="6350">
            <a:solidFill>
              <a:srgbClr val="FFFFFF">
                <a:alpha val="22000"/>
              </a:srgbClr>
            </a:solidFill>
            <a:prstDash val="solid"/>
          </a:ln>
        </p:spPr>
      </p:sp>
      <p:sp>
        <p:nvSpPr>
          <p:cNvPr id="8" name="Shape 6"/>
          <p:cNvSpPr/>
          <p:nvPr/>
        </p:nvSpPr>
        <p:spPr>
          <a:xfrm>
            <a:off x="0" y="4443984"/>
            <a:ext cx="9144000" cy="0"/>
          </a:xfrm>
          <a:prstGeom prst="line">
            <a:avLst/>
          </a:prstGeom>
          <a:noFill/>
          <a:ln w="6350">
            <a:solidFill>
              <a:srgbClr val="FFFFFF">
                <a:alpha val="30000"/>
              </a:srgbClr>
            </a:solidFill>
            <a:prstDash val="solid"/>
          </a:ln>
        </p:spPr>
      </p:sp>
      <p:sp>
        <p:nvSpPr>
          <p:cNvPr id="9" name="Shape 7"/>
          <p:cNvSpPr/>
          <p:nvPr/>
        </p:nvSpPr>
        <p:spPr>
          <a:xfrm>
            <a:off x="0" y="4645152"/>
            <a:ext cx="9144000" cy="0"/>
          </a:xfrm>
          <a:prstGeom prst="line">
            <a:avLst/>
          </a:prstGeom>
          <a:noFill/>
          <a:ln w="6350">
            <a:solidFill>
              <a:srgbClr val="FFFFFF">
                <a:alpha val="38000"/>
              </a:srgbClr>
            </a:solidFill>
            <a:prstDash val="solid"/>
          </a:ln>
        </p:spPr>
      </p:sp>
      <p:sp>
        <p:nvSpPr>
          <p:cNvPr id="10" name="Shape 8"/>
          <p:cNvSpPr/>
          <p:nvPr/>
        </p:nvSpPr>
        <p:spPr>
          <a:xfrm>
            <a:off x="0" y="0"/>
            <a:ext cx="9144000" cy="50292"/>
          </a:xfrm>
          <a:prstGeom prst="rect">
            <a:avLst/>
          </a:prstGeom>
          <a:solidFill>
            <a:srgbClr val="D4AF37"/>
          </a:solidFill>
          <a:ln w="12700">
            <a:solidFill>
              <a:srgbClr val="333333"/>
            </a:solidFill>
            <a:prstDash val="solid"/>
          </a:ln>
        </p:spPr>
      </p:sp>
      <p:sp>
        <p:nvSpPr>
          <p:cNvPr id="11" name="Shape 9"/>
          <p:cNvSpPr/>
          <p:nvPr/>
        </p:nvSpPr>
        <p:spPr>
          <a:xfrm>
            <a:off x="1645920" y="164592"/>
            <a:ext cx="5852160" cy="475488"/>
          </a:xfrm>
          <a:prstGeom prst="roundRect">
            <a:avLst>
              <a:gd name="adj" fmla="val 13462"/>
            </a:avLst>
          </a:prstGeom>
          <a:solidFill>
            <a:srgbClr val="D4AF37">
              <a:alpha val="18000"/>
            </a:srgbClr>
          </a:solidFill>
          <a:ln w="12700">
            <a:solidFill>
              <a:srgbClr val="D4AF37"/>
            </a:solidFill>
            <a:prstDash val="solid"/>
          </a:ln>
        </p:spPr>
      </p:sp>
      <p:sp>
        <p:nvSpPr>
          <p:cNvPr id="12" name="Text 10"/>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AF37"/>
                </a:solidFill>
                <a:latin typeface="Calibri" pitchFamily="34" charset="0"/>
                <a:ea typeface="Calibri" pitchFamily="34" charset="-122"/>
                <a:cs typeface="Calibri" pitchFamily="34" charset="-120"/>
              </a:rPr>
              <a:t>EXPLORER'S VAULT  ·  UNIT 2  ·  WEEK 6</a:t>
            </a:r>
            <a:endParaRPr lang="en-US" sz="1050" dirty="0"/>
          </a:p>
        </p:txBody>
      </p:sp>
      <p:sp>
        <p:nvSpPr>
          <p:cNvPr id="13" name="Text 11"/>
          <p:cNvSpPr/>
          <p:nvPr/>
        </p:nvSpPr>
        <p:spPr>
          <a:xfrm>
            <a:off x="731520" y="768096"/>
            <a:ext cx="7680960" cy="2651760"/>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Explorer</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Evidence Chart</a:t>
            </a:r>
            <a:endParaRPr lang="en-US" sz="5200" dirty="0"/>
          </a:p>
        </p:txBody>
      </p:sp>
      <p:sp>
        <p:nvSpPr>
          <p:cNvPr id="14" name="Text 12"/>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AF37"/>
                </a:solidFill>
                <a:latin typeface="Calibri" pitchFamily="34" charset="0"/>
                <a:ea typeface="Calibri" pitchFamily="34" charset="-122"/>
                <a:cs typeface="Calibri" pitchFamily="34" charset="-120"/>
              </a:rPr>
              <a:t>Lesson 3.02.06  ·  3rd Grade Social Studies</a:t>
            </a:r>
            <a:endParaRPr lang="en-US" sz="1250" dirty="0"/>
          </a:p>
        </p:txBody>
      </p:sp>
      <p:sp>
        <p:nvSpPr>
          <p:cNvPr id="15" name="Shape 13"/>
          <p:cNvSpPr/>
          <p:nvPr/>
        </p:nvSpPr>
        <p:spPr>
          <a:xfrm>
            <a:off x="2560320" y="3931920"/>
            <a:ext cx="4023360" cy="603504"/>
          </a:xfrm>
          <a:prstGeom prst="roundRect">
            <a:avLst>
              <a:gd name="adj" fmla="val 15152"/>
            </a:avLst>
          </a:prstGeom>
          <a:solidFill>
            <a:srgbClr val="A88920">
              <a:alpha val="20000"/>
            </a:srgbClr>
          </a:solidFill>
          <a:ln w="19050">
            <a:solidFill>
              <a:srgbClr val="A88920"/>
            </a:solidFill>
            <a:prstDash val="solid"/>
          </a:ln>
        </p:spPr>
      </p:sp>
      <p:sp>
        <p:nvSpPr>
          <p:cNvPr id="16" name="Text 14"/>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 Study + Virtue Lens  ·  Virtue: Honesty</a:t>
            </a:r>
            <a:endParaRPr lang="en-US" sz="1200" dirty="0"/>
          </a:p>
        </p:txBody>
      </p:sp>
      <p:sp>
        <p:nvSpPr>
          <p:cNvPr id="17" name="Shape 15"/>
          <p:cNvSpPr/>
          <p:nvPr/>
        </p:nvSpPr>
        <p:spPr>
          <a:xfrm>
            <a:off x="923544" y="4736592"/>
            <a:ext cx="164592" cy="256032"/>
          </a:xfrm>
          <a:prstGeom prst="ellipse">
            <a:avLst/>
          </a:prstGeom>
          <a:solidFill>
            <a:srgbClr val="D4AF37"/>
          </a:solidFill>
          <a:ln w="12700">
            <a:solidFill>
              <a:srgbClr val="333333"/>
            </a:solidFill>
            <a:prstDash val="solid"/>
          </a:ln>
        </p:spPr>
      </p:sp>
      <p:sp>
        <p:nvSpPr>
          <p:cNvPr id="18" name="Shape 16"/>
          <p:cNvSpPr/>
          <p:nvPr/>
        </p:nvSpPr>
        <p:spPr>
          <a:xfrm>
            <a:off x="8055864" y="4736592"/>
            <a:ext cx="164592" cy="256032"/>
          </a:xfrm>
          <a:prstGeom prst="ellipse">
            <a:avLst/>
          </a:prstGeom>
          <a:solidFill>
            <a:srgbClr val="D4AF37"/>
          </a:solidFill>
          <a:ln w="12700">
            <a:solidFill>
              <a:srgbClr val="333333"/>
            </a:solidFill>
            <a:prstDash val="solid"/>
          </a:ln>
        </p:spPr>
      </p:sp>
      <p:sp>
        <p:nvSpPr>
          <p:cNvPr id="19" name="Shape 17"/>
          <p:cNvSpPr/>
          <p:nvPr/>
        </p:nvSpPr>
        <p:spPr>
          <a:xfrm>
            <a:off x="1005840" y="4864608"/>
            <a:ext cx="7132320" cy="0"/>
          </a:xfrm>
          <a:prstGeom prst="line">
            <a:avLst/>
          </a:prstGeom>
          <a:noFill/>
          <a:ln w="31750">
            <a:solidFill>
              <a:srgbClr val="D4AF3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71E3D"/>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What Is an Explorer Evidence Chart?</a:t>
            </a:r>
            <a:endParaRPr lang="en-US" sz="2200" dirty="0"/>
          </a:p>
        </p:txBody>
      </p:sp>
      <p:sp>
        <p:nvSpPr>
          <p:cNvPr id="4" name="Text 2"/>
          <p:cNvSpPr/>
          <p:nvPr/>
        </p:nvSpPr>
        <p:spPr>
          <a:xfrm>
            <a:off x="457200" y="731520"/>
            <a:ext cx="8229600" cy="438912"/>
          </a:xfrm>
          <a:prstGeom prst="rect">
            <a:avLst/>
          </a:prstGeom>
          <a:noFill/>
          <a:ln/>
        </p:spPr>
        <p:txBody>
          <a:bodyPr wrap="square" lIns="0" tIns="0" rIns="0" bIns="0" rtlCol="0" anchor="ctr"/>
          <a:lstStyle/>
          <a:p>
            <a:pPr algn="ctr" indent="0" marL="0">
              <a:buNone/>
            </a:pPr>
            <a:r>
              <a:rPr lang="en-US" sz="1300" dirty="0">
                <a:solidFill>
                  <a:srgbClr val="1A0A14"/>
                </a:solidFill>
                <a:latin typeface="Calibri" pitchFamily="34" charset="0"/>
                <a:ea typeface="Calibri" pitchFamily="34" charset="-122"/>
                <a:cs typeface="Calibri" pitchFamily="34" charset="-120"/>
              </a:rPr>
              <a:t>Historians don't just collect facts — they organize evidence to support or challenge a claim. An Evidence Chart is the tool they use to do that systematically.</a:t>
            </a:r>
            <a:endParaRPr lang="en-US" sz="1300" dirty="0"/>
          </a:p>
        </p:txBody>
      </p:sp>
      <p:sp>
        <p:nvSpPr>
          <p:cNvPr id="5" name="Shape 3"/>
          <p:cNvSpPr/>
          <p:nvPr/>
        </p:nvSpPr>
        <p:spPr>
          <a:xfrm>
            <a:off x="402336" y="1243584"/>
            <a:ext cx="8339328" cy="475488"/>
          </a:xfrm>
          <a:prstGeom prst="roundRect">
            <a:avLst>
              <a:gd name="adj" fmla="val 17308"/>
            </a:avLst>
          </a:prstGeom>
          <a:solidFill>
            <a:srgbClr val="071E3D"/>
          </a:solidFill>
          <a:ln w="12700">
            <a:solidFill>
              <a:srgbClr val="333333"/>
            </a:solidFill>
            <a:prstDash val="solid"/>
          </a:ln>
        </p:spPr>
      </p:sp>
      <p:sp>
        <p:nvSpPr>
          <p:cNvPr id="6" name="Text 4"/>
          <p:cNvSpPr/>
          <p:nvPr/>
        </p:nvSpPr>
        <p:spPr>
          <a:xfrm>
            <a:off x="402336" y="1243584"/>
            <a:ext cx="1481328" cy="475488"/>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mbria" pitchFamily="34" charset="0"/>
                <a:ea typeface="Cambria" pitchFamily="34" charset="-122"/>
                <a:cs typeface="Cambria" pitchFamily="34" charset="-120"/>
              </a:rPr>
              <a:t>EXPLORER</a:t>
            </a:r>
            <a:endParaRPr lang="en-US" sz="1050" dirty="0"/>
          </a:p>
        </p:txBody>
      </p:sp>
      <p:sp>
        <p:nvSpPr>
          <p:cNvPr id="7" name="Text 5"/>
          <p:cNvSpPr/>
          <p:nvPr/>
        </p:nvSpPr>
        <p:spPr>
          <a:xfrm>
            <a:off x="1883664" y="1243584"/>
            <a:ext cx="1481328" cy="475488"/>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mbria" pitchFamily="34" charset="0"/>
                <a:ea typeface="Cambria" pitchFamily="34" charset="-122"/>
                <a:cs typeface="Cambria" pitchFamily="34" charset="-120"/>
              </a:rPr>
              <a:t>MOTIVE (3 Gs)</a:t>
            </a:r>
            <a:endParaRPr lang="en-US" sz="1050" dirty="0"/>
          </a:p>
        </p:txBody>
      </p:sp>
      <p:sp>
        <p:nvSpPr>
          <p:cNvPr id="8" name="Text 6"/>
          <p:cNvSpPr/>
          <p:nvPr/>
        </p:nvSpPr>
        <p:spPr>
          <a:xfrm>
            <a:off x="3364992" y="1243584"/>
            <a:ext cx="1645920" cy="475488"/>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mbria" pitchFamily="34" charset="0"/>
                <a:ea typeface="Cambria" pitchFamily="34" charset="-122"/>
                <a:cs typeface="Cambria" pitchFamily="34" charset="-120"/>
              </a:rPr>
              <a:t>WHAT THEY FOUND</a:t>
            </a:r>
            <a:endParaRPr lang="en-US" sz="1050" dirty="0"/>
          </a:p>
        </p:txBody>
      </p:sp>
      <p:sp>
        <p:nvSpPr>
          <p:cNvPr id="9" name="Text 7"/>
          <p:cNvSpPr/>
          <p:nvPr/>
        </p:nvSpPr>
        <p:spPr>
          <a:xfrm>
            <a:off x="5010912" y="1243584"/>
            <a:ext cx="1645920" cy="475488"/>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mbria" pitchFamily="34" charset="0"/>
                <a:ea typeface="Cambria" pitchFamily="34" charset="-122"/>
                <a:cs typeface="Cambria" pitchFamily="34" charset="-120"/>
              </a:rPr>
              <a:t>WHO WAS AFFECTED</a:t>
            </a:r>
            <a:endParaRPr lang="en-US" sz="1050" dirty="0"/>
          </a:p>
        </p:txBody>
      </p:sp>
      <p:sp>
        <p:nvSpPr>
          <p:cNvPr id="10" name="Text 8"/>
          <p:cNvSpPr/>
          <p:nvPr/>
        </p:nvSpPr>
        <p:spPr>
          <a:xfrm>
            <a:off x="6656832" y="1243584"/>
            <a:ext cx="2084832" cy="475488"/>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mbria" pitchFamily="34" charset="0"/>
                <a:ea typeface="Cambria" pitchFamily="34" charset="-122"/>
                <a:cs typeface="Cambria" pitchFamily="34" charset="-120"/>
              </a:rPr>
              <a:t>KEY CONSEQUENCE</a:t>
            </a:r>
            <a:endParaRPr lang="en-US" sz="1050" dirty="0"/>
          </a:p>
        </p:txBody>
      </p:sp>
      <p:sp>
        <p:nvSpPr>
          <p:cNvPr id="11" name="Shape 9"/>
          <p:cNvSpPr/>
          <p:nvPr/>
        </p:nvSpPr>
        <p:spPr>
          <a:xfrm>
            <a:off x="402336" y="1755648"/>
            <a:ext cx="8339328" cy="749808"/>
          </a:xfrm>
          <a:prstGeom prst="roundRect">
            <a:avLst>
              <a:gd name="adj" fmla="val 6098"/>
            </a:avLst>
          </a:prstGeom>
          <a:solidFill>
            <a:srgbClr val="F0F4FA"/>
          </a:solidFill>
          <a:ln w="10160">
            <a:solidFill>
              <a:srgbClr val="D0D8E8"/>
            </a:solidFill>
            <a:prstDash val="solid"/>
          </a:ln>
        </p:spPr>
      </p:sp>
      <p:sp>
        <p:nvSpPr>
          <p:cNvPr id="12" name="Text 10"/>
          <p:cNvSpPr/>
          <p:nvPr/>
        </p:nvSpPr>
        <p:spPr>
          <a:xfrm>
            <a:off x="475488" y="1755648"/>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Columbus</a:t>
            </a:r>
            <a:endParaRPr lang="en-US" sz="950" dirty="0"/>
          </a:p>
        </p:txBody>
      </p:sp>
      <p:sp>
        <p:nvSpPr>
          <p:cNvPr id="13" name="Text 11"/>
          <p:cNvSpPr/>
          <p:nvPr/>
        </p:nvSpPr>
        <p:spPr>
          <a:xfrm>
            <a:off x="1956816" y="1755648"/>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Gold + Glory</a:t>
            </a:r>
            <a:endParaRPr lang="en-US" sz="950" dirty="0"/>
          </a:p>
        </p:txBody>
      </p:sp>
      <p:sp>
        <p:nvSpPr>
          <p:cNvPr id="14" name="Text 12"/>
          <p:cNvSpPr/>
          <p:nvPr/>
        </p:nvSpPr>
        <p:spPr>
          <a:xfrm>
            <a:off x="3438144" y="1755648"/>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Caribbean islands (thought it was Asia)</a:t>
            </a:r>
            <a:endParaRPr lang="en-US" sz="950" dirty="0"/>
          </a:p>
        </p:txBody>
      </p:sp>
      <p:sp>
        <p:nvSpPr>
          <p:cNvPr id="15" name="Text 13"/>
          <p:cNvSpPr/>
          <p:nvPr/>
        </p:nvSpPr>
        <p:spPr>
          <a:xfrm>
            <a:off x="5084064" y="1755648"/>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Taíno people — decimated by disease</a:t>
            </a:r>
            <a:endParaRPr lang="en-US" sz="950" dirty="0"/>
          </a:p>
        </p:txBody>
      </p:sp>
      <p:sp>
        <p:nvSpPr>
          <p:cNvPr id="16" name="Text 14"/>
          <p:cNvSpPr/>
          <p:nvPr/>
        </p:nvSpPr>
        <p:spPr>
          <a:xfrm>
            <a:off x="6729984" y="1755648"/>
            <a:ext cx="1938528"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European colonization of the Americas began</a:t>
            </a:r>
            <a:endParaRPr lang="en-US" sz="950" dirty="0"/>
          </a:p>
        </p:txBody>
      </p:sp>
      <p:sp>
        <p:nvSpPr>
          <p:cNvPr id="17" name="Shape 15"/>
          <p:cNvSpPr/>
          <p:nvPr/>
        </p:nvSpPr>
        <p:spPr>
          <a:xfrm>
            <a:off x="402336" y="2560320"/>
            <a:ext cx="8339328" cy="749808"/>
          </a:xfrm>
          <a:prstGeom prst="roundRect">
            <a:avLst>
              <a:gd name="adj" fmla="val 6098"/>
            </a:avLst>
          </a:prstGeom>
          <a:solidFill>
            <a:srgbClr val="FFFFFF"/>
          </a:solidFill>
          <a:ln w="10160">
            <a:solidFill>
              <a:srgbClr val="D0D8E8"/>
            </a:solidFill>
            <a:prstDash val="solid"/>
          </a:ln>
        </p:spPr>
      </p:sp>
      <p:sp>
        <p:nvSpPr>
          <p:cNvPr id="18" name="Text 16"/>
          <p:cNvSpPr/>
          <p:nvPr/>
        </p:nvSpPr>
        <p:spPr>
          <a:xfrm>
            <a:off x="475488" y="2560320"/>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Da Gama</a:t>
            </a:r>
            <a:endParaRPr lang="en-US" sz="950" dirty="0"/>
          </a:p>
        </p:txBody>
      </p:sp>
      <p:sp>
        <p:nvSpPr>
          <p:cNvPr id="19" name="Text 17"/>
          <p:cNvSpPr/>
          <p:nvPr/>
        </p:nvSpPr>
        <p:spPr>
          <a:xfrm>
            <a:off x="1956816" y="2560320"/>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Gold + Glory</a:t>
            </a:r>
            <a:endParaRPr lang="en-US" sz="950" dirty="0"/>
          </a:p>
        </p:txBody>
      </p:sp>
      <p:sp>
        <p:nvSpPr>
          <p:cNvPr id="20" name="Text 18"/>
          <p:cNvSpPr/>
          <p:nvPr/>
        </p:nvSpPr>
        <p:spPr>
          <a:xfrm>
            <a:off x="3438144" y="2560320"/>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Sea route to India</a:t>
            </a:r>
            <a:endParaRPr lang="en-US" sz="950" dirty="0"/>
          </a:p>
        </p:txBody>
      </p:sp>
      <p:sp>
        <p:nvSpPr>
          <p:cNvPr id="21" name="Text 19"/>
          <p:cNvSpPr/>
          <p:nvPr/>
        </p:nvSpPr>
        <p:spPr>
          <a:xfrm>
            <a:off x="5084064" y="2560320"/>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Indian Ocean trade communities</a:t>
            </a:r>
            <a:endParaRPr lang="en-US" sz="950" dirty="0"/>
          </a:p>
        </p:txBody>
      </p:sp>
      <p:sp>
        <p:nvSpPr>
          <p:cNvPr id="22" name="Text 20"/>
          <p:cNvSpPr/>
          <p:nvPr/>
        </p:nvSpPr>
        <p:spPr>
          <a:xfrm>
            <a:off x="6729984" y="2560320"/>
            <a:ext cx="1938528"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Portugal controlled spice trade for decades</a:t>
            </a:r>
            <a:endParaRPr lang="en-US" sz="950" dirty="0"/>
          </a:p>
        </p:txBody>
      </p:sp>
      <p:sp>
        <p:nvSpPr>
          <p:cNvPr id="23" name="Shape 21"/>
          <p:cNvSpPr/>
          <p:nvPr/>
        </p:nvSpPr>
        <p:spPr>
          <a:xfrm>
            <a:off x="402336" y="3364992"/>
            <a:ext cx="8339328" cy="749808"/>
          </a:xfrm>
          <a:prstGeom prst="roundRect">
            <a:avLst>
              <a:gd name="adj" fmla="val 6098"/>
            </a:avLst>
          </a:prstGeom>
          <a:solidFill>
            <a:srgbClr val="F0F4FA"/>
          </a:solidFill>
          <a:ln w="10160">
            <a:solidFill>
              <a:srgbClr val="D0D8E8"/>
            </a:solidFill>
            <a:prstDash val="solid"/>
          </a:ln>
        </p:spPr>
      </p:sp>
      <p:sp>
        <p:nvSpPr>
          <p:cNvPr id="24" name="Text 22"/>
          <p:cNvSpPr/>
          <p:nvPr/>
        </p:nvSpPr>
        <p:spPr>
          <a:xfrm>
            <a:off x="475488" y="3364992"/>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Magellan/Elcano</a:t>
            </a:r>
            <a:endParaRPr lang="en-US" sz="950" dirty="0"/>
          </a:p>
        </p:txBody>
      </p:sp>
      <p:sp>
        <p:nvSpPr>
          <p:cNvPr id="25" name="Text 23"/>
          <p:cNvSpPr/>
          <p:nvPr/>
        </p:nvSpPr>
        <p:spPr>
          <a:xfrm>
            <a:off x="1956816" y="3364992"/>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Glory + God</a:t>
            </a:r>
            <a:endParaRPr lang="en-US" sz="950" dirty="0"/>
          </a:p>
        </p:txBody>
      </p:sp>
      <p:sp>
        <p:nvSpPr>
          <p:cNvPr id="26" name="Text 24"/>
          <p:cNvSpPr/>
          <p:nvPr/>
        </p:nvSpPr>
        <p:spPr>
          <a:xfrm>
            <a:off x="3438144" y="3364992"/>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World is round — circumnavigated Earth</a:t>
            </a:r>
            <a:endParaRPr lang="en-US" sz="950" dirty="0"/>
          </a:p>
        </p:txBody>
      </p:sp>
      <p:sp>
        <p:nvSpPr>
          <p:cNvPr id="27" name="Text 25"/>
          <p:cNvSpPr/>
          <p:nvPr/>
        </p:nvSpPr>
        <p:spPr>
          <a:xfrm>
            <a:off x="5084064" y="3364992"/>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Philippines indigenous peoples</a:t>
            </a:r>
            <a:endParaRPr lang="en-US" sz="950" dirty="0"/>
          </a:p>
        </p:txBody>
      </p:sp>
      <p:sp>
        <p:nvSpPr>
          <p:cNvPr id="28" name="Text 26"/>
          <p:cNvSpPr/>
          <p:nvPr/>
        </p:nvSpPr>
        <p:spPr>
          <a:xfrm>
            <a:off x="6729984" y="3364992"/>
            <a:ext cx="1938528"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First global trade route confirmed</a:t>
            </a:r>
            <a:endParaRPr lang="en-US" sz="950" dirty="0"/>
          </a:p>
        </p:txBody>
      </p:sp>
      <p:sp>
        <p:nvSpPr>
          <p:cNvPr id="29" name="Shape 27"/>
          <p:cNvSpPr/>
          <p:nvPr/>
        </p:nvSpPr>
        <p:spPr>
          <a:xfrm>
            <a:off x="402336" y="4169664"/>
            <a:ext cx="8339328" cy="749808"/>
          </a:xfrm>
          <a:prstGeom prst="roundRect">
            <a:avLst>
              <a:gd name="adj" fmla="val 6098"/>
            </a:avLst>
          </a:prstGeom>
          <a:solidFill>
            <a:srgbClr val="FFFFFF"/>
          </a:solidFill>
          <a:ln w="10160">
            <a:solidFill>
              <a:srgbClr val="D0D8E8"/>
            </a:solidFill>
            <a:prstDash val="solid"/>
          </a:ln>
        </p:spPr>
      </p:sp>
      <p:sp>
        <p:nvSpPr>
          <p:cNvPr id="30" name="Text 28"/>
          <p:cNvSpPr/>
          <p:nvPr/>
        </p:nvSpPr>
        <p:spPr>
          <a:xfrm>
            <a:off x="475488" y="4169664"/>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Ponce de León</a:t>
            </a:r>
            <a:endParaRPr lang="en-US" sz="950" dirty="0"/>
          </a:p>
        </p:txBody>
      </p:sp>
      <p:sp>
        <p:nvSpPr>
          <p:cNvPr id="31" name="Text 29"/>
          <p:cNvSpPr/>
          <p:nvPr/>
        </p:nvSpPr>
        <p:spPr>
          <a:xfrm>
            <a:off x="1956816" y="4169664"/>
            <a:ext cx="1335024"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Gold</a:t>
            </a:r>
            <a:endParaRPr lang="en-US" sz="950" dirty="0"/>
          </a:p>
        </p:txBody>
      </p:sp>
      <p:sp>
        <p:nvSpPr>
          <p:cNvPr id="32" name="Text 30"/>
          <p:cNvSpPr/>
          <p:nvPr/>
        </p:nvSpPr>
        <p:spPr>
          <a:xfrm>
            <a:off x="3438144" y="4169664"/>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Florida — La Florida named</a:t>
            </a:r>
            <a:endParaRPr lang="en-US" sz="950" dirty="0"/>
          </a:p>
        </p:txBody>
      </p:sp>
      <p:sp>
        <p:nvSpPr>
          <p:cNvPr id="33" name="Text 31"/>
          <p:cNvSpPr/>
          <p:nvPr/>
        </p:nvSpPr>
        <p:spPr>
          <a:xfrm>
            <a:off x="5084064" y="4169664"/>
            <a:ext cx="1499616"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Calusa people — violent resistance</a:t>
            </a:r>
            <a:endParaRPr lang="en-US" sz="950" dirty="0"/>
          </a:p>
        </p:txBody>
      </p:sp>
      <p:sp>
        <p:nvSpPr>
          <p:cNvPr id="34" name="Text 32"/>
          <p:cNvSpPr/>
          <p:nvPr/>
        </p:nvSpPr>
        <p:spPr>
          <a:xfrm>
            <a:off x="6729984" y="4169664"/>
            <a:ext cx="1938528" cy="749808"/>
          </a:xfrm>
          <a:prstGeom prst="rect">
            <a:avLst/>
          </a:prstGeom>
          <a:noFill/>
          <a:ln/>
        </p:spPr>
        <p:txBody>
          <a:bodyPr wrap="square" lIns="0" tIns="0" rIns="0" bIns="0" rtlCol="0" anchor="ctr"/>
          <a:lstStyle/>
          <a:p>
            <a:pPr algn="l" indent="0" marL="0">
              <a:lnSpc>
                <a:spcPct val="120000"/>
              </a:lnSpc>
              <a:buNone/>
            </a:pPr>
            <a:r>
              <a:rPr lang="en-US" sz="950" dirty="0">
                <a:solidFill>
                  <a:srgbClr val="3A4A6B"/>
                </a:solidFill>
                <a:latin typeface="Calibri" pitchFamily="34" charset="0"/>
                <a:ea typeface="Calibri" pitchFamily="34" charset="-122"/>
                <a:cs typeface="Calibri" pitchFamily="34" charset="-120"/>
              </a:rPr>
              <a:t>Spain claimed Florida; colonization followed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A88920"/>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What Evidence Belongs in the Chart?</a:t>
            </a:r>
            <a:endParaRPr lang="en-US" sz="2200" dirty="0"/>
          </a:p>
        </p:txBody>
      </p:sp>
      <p:sp>
        <p:nvSpPr>
          <p:cNvPr id="4" name="Text 2"/>
          <p:cNvSpPr/>
          <p:nvPr/>
        </p:nvSpPr>
        <p:spPr>
          <a:xfrm>
            <a:off x="457200" y="731520"/>
            <a:ext cx="8229600" cy="347472"/>
          </a:xfrm>
          <a:prstGeom prst="rect">
            <a:avLst/>
          </a:prstGeom>
          <a:noFill/>
          <a:ln/>
        </p:spPr>
        <p:txBody>
          <a:bodyPr wrap="square" lIns="0" tIns="0" rIns="0" bIns="0" rtlCol="0" anchor="ctr"/>
          <a:lstStyle/>
          <a:p>
            <a:pPr algn="ctr" indent="0" marL="0">
              <a:buNone/>
            </a:pPr>
            <a:r>
              <a:rPr lang="en-US" sz="1250" dirty="0">
                <a:solidFill>
                  <a:srgbClr val="1A0A14"/>
                </a:solidFill>
                <a:latin typeface="Calibri" pitchFamily="34" charset="0"/>
                <a:ea typeface="Calibri" pitchFamily="34" charset="-122"/>
                <a:cs typeface="Calibri" pitchFamily="34" charset="-120"/>
              </a:rPr>
              <a:t>Not all evidence is equal. For each piece of evidence below, decide: Strong Evidence, Weak Evidence, or Not Evidence.</a:t>
            </a:r>
            <a:endParaRPr lang="en-US" sz="1250" dirty="0"/>
          </a:p>
        </p:txBody>
      </p:sp>
      <p:sp>
        <p:nvSpPr>
          <p:cNvPr id="5" name="Shape 3"/>
          <p:cNvSpPr/>
          <p:nvPr/>
        </p:nvSpPr>
        <p:spPr>
          <a:xfrm>
            <a:off x="402336" y="1170432"/>
            <a:ext cx="5998464" cy="640080"/>
          </a:xfrm>
          <a:prstGeom prst="roundRect">
            <a:avLst>
              <a:gd name="adj" fmla="val 10000"/>
            </a:avLst>
          </a:prstGeom>
          <a:solidFill>
            <a:srgbClr val="2E7D4F">
              <a:alpha val="8000"/>
            </a:srgbClr>
          </a:solidFill>
          <a:ln w="12700">
            <a:solidFill>
              <a:srgbClr val="2E7D4F"/>
            </a:solidFill>
            <a:prstDash val="solid"/>
          </a:ln>
        </p:spPr>
      </p:sp>
      <p:sp>
        <p:nvSpPr>
          <p:cNvPr id="6" name="Text 4"/>
          <p:cNvSpPr/>
          <p:nvPr/>
        </p:nvSpPr>
        <p:spPr>
          <a:xfrm>
            <a:off x="585216" y="1170432"/>
            <a:ext cx="5632704" cy="640080"/>
          </a:xfrm>
          <a:prstGeom prst="rect">
            <a:avLst/>
          </a:prstGeom>
          <a:noFill/>
          <a:ln/>
        </p:spPr>
        <p:txBody>
          <a:bodyPr wrap="square" lIns="0" tIns="0" rIns="0" bIns="0"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Columbus's own ship's log describing what he saw on October 12, 1492</a:t>
            </a:r>
            <a:endParaRPr lang="en-US" sz="1050" dirty="0"/>
          </a:p>
        </p:txBody>
      </p:sp>
      <p:sp>
        <p:nvSpPr>
          <p:cNvPr id="7" name="Shape 5"/>
          <p:cNvSpPr/>
          <p:nvPr/>
        </p:nvSpPr>
        <p:spPr>
          <a:xfrm>
            <a:off x="6473952" y="1188720"/>
            <a:ext cx="2267712" cy="603504"/>
          </a:xfrm>
          <a:prstGeom prst="roundRect">
            <a:avLst>
              <a:gd name="adj" fmla="val 10606"/>
            </a:avLst>
          </a:prstGeom>
          <a:solidFill>
            <a:srgbClr val="2E7D4F">
              <a:alpha val="40000"/>
            </a:srgbClr>
          </a:solidFill>
          <a:ln w="15240">
            <a:solidFill>
              <a:srgbClr val="2E7D4F"/>
            </a:solidFill>
            <a:prstDash val="solid"/>
          </a:ln>
        </p:spPr>
      </p:sp>
      <p:sp>
        <p:nvSpPr>
          <p:cNvPr id="8" name="Text 6"/>
          <p:cNvSpPr/>
          <p:nvPr/>
        </p:nvSpPr>
        <p:spPr>
          <a:xfrm>
            <a:off x="6473952" y="1188720"/>
            <a:ext cx="22677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Strong Evidence</a:t>
            </a:r>
            <a:endParaRPr lang="en-US" sz="950" dirty="0"/>
          </a:p>
        </p:txBody>
      </p:sp>
      <p:sp>
        <p:nvSpPr>
          <p:cNvPr id="9" name="Text 7"/>
          <p:cNvSpPr/>
          <p:nvPr/>
        </p:nvSpPr>
        <p:spPr>
          <a:xfrm>
            <a:off x="6473952" y="1517904"/>
            <a:ext cx="2267712"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Primary source — firsthand account</a:t>
            </a:r>
            <a:endParaRPr lang="en-US" sz="850" dirty="0"/>
          </a:p>
        </p:txBody>
      </p:sp>
      <p:sp>
        <p:nvSpPr>
          <p:cNvPr id="10" name="Shape 8"/>
          <p:cNvSpPr/>
          <p:nvPr/>
        </p:nvSpPr>
        <p:spPr>
          <a:xfrm>
            <a:off x="402336" y="1901952"/>
            <a:ext cx="5998464" cy="640080"/>
          </a:xfrm>
          <a:prstGeom prst="roundRect">
            <a:avLst>
              <a:gd name="adj" fmla="val 10000"/>
            </a:avLst>
          </a:prstGeom>
          <a:solidFill>
            <a:srgbClr val="9B1C2E">
              <a:alpha val="8000"/>
            </a:srgbClr>
          </a:solidFill>
          <a:ln w="12700">
            <a:solidFill>
              <a:srgbClr val="9B1C2E"/>
            </a:solidFill>
            <a:prstDash val="solid"/>
          </a:ln>
        </p:spPr>
      </p:sp>
      <p:sp>
        <p:nvSpPr>
          <p:cNvPr id="11" name="Text 9"/>
          <p:cNvSpPr/>
          <p:nvPr/>
        </p:nvSpPr>
        <p:spPr>
          <a:xfrm>
            <a:off x="585216" y="1901952"/>
            <a:ext cx="5632704" cy="640080"/>
          </a:xfrm>
          <a:prstGeom prst="rect">
            <a:avLst/>
          </a:prstGeom>
          <a:noFill/>
          <a:ln/>
        </p:spPr>
        <p:txBody>
          <a:bodyPr wrap="square" lIns="0" tIns="0" rIns="0" bIns="0"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A modern novel about Columbus imagining what he was thinking</a:t>
            </a:r>
            <a:endParaRPr lang="en-US" sz="1050" dirty="0"/>
          </a:p>
        </p:txBody>
      </p:sp>
      <p:sp>
        <p:nvSpPr>
          <p:cNvPr id="12" name="Shape 10"/>
          <p:cNvSpPr/>
          <p:nvPr/>
        </p:nvSpPr>
        <p:spPr>
          <a:xfrm>
            <a:off x="6473952" y="1920240"/>
            <a:ext cx="2267712" cy="603504"/>
          </a:xfrm>
          <a:prstGeom prst="roundRect">
            <a:avLst>
              <a:gd name="adj" fmla="val 10606"/>
            </a:avLst>
          </a:prstGeom>
          <a:solidFill>
            <a:srgbClr val="9B1C2E">
              <a:alpha val="40000"/>
            </a:srgbClr>
          </a:solidFill>
          <a:ln w="15240">
            <a:solidFill>
              <a:srgbClr val="9B1C2E"/>
            </a:solidFill>
            <a:prstDash val="solid"/>
          </a:ln>
        </p:spPr>
      </p:sp>
      <p:sp>
        <p:nvSpPr>
          <p:cNvPr id="13" name="Text 11"/>
          <p:cNvSpPr/>
          <p:nvPr/>
        </p:nvSpPr>
        <p:spPr>
          <a:xfrm>
            <a:off x="6473952" y="1920240"/>
            <a:ext cx="22677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Not Evidence</a:t>
            </a:r>
            <a:endParaRPr lang="en-US" sz="950" dirty="0"/>
          </a:p>
        </p:txBody>
      </p:sp>
      <p:sp>
        <p:nvSpPr>
          <p:cNvPr id="14" name="Text 12"/>
          <p:cNvSpPr/>
          <p:nvPr/>
        </p:nvSpPr>
        <p:spPr>
          <a:xfrm>
            <a:off x="6473952" y="2249424"/>
            <a:ext cx="2267712"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Historical fiction — not a factual source</a:t>
            </a:r>
            <a:endParaRPr lang="en-US" sz="850" dirty="0"/>
          </a:p>
        </p:txBody>
      </p:sp>
      <p:sp>
        <p:nvSpPr>
          <p:cNvPr id="15" name="Shape 13"/>
          <p:cNvSpPr/>
          <p:nvPr/>
        </p:nvSpPr>
        <p:spPr>
          <a:xfrm>
            <a:off x="402336" y="2633472"/>
            <a:ext cx="5998464" cy="640080"/>
          </a:xfrm>
          <a:prstGeom prst="roundRect">
            <a:avLst>
              <a:gd name="adj" fmla="val 10000"/>
            </a:avLst>
          </a:prstGeom>
          <a:solidFill>
            <a:srgbClr val="2E7D4F">
              <a:alpha val="8000"/>
            </a:srgbClr>
          </a:solidFill>
          <a:ln w="12700">
            <a:solidFill>
              <a:srgbClr val="2E7D4F"/>
            </a:solidFill>
            <a:prstDash val="solid"/>
          </a:ln>
        </p:spPr>
      </p:sp>
      <p:sp>
        <p:nvSpPr>
          <p:cNvPr id="16" name="Text 14"/>
          <p:cNvSpPr/>
          <p:nvPr/>
        </p:nvSpPr>
        <p:spPr>
          <a:xfrm>
            <a:off x="585216" y="2633472"/>
            <a:ext cx="5632704" cy="640080"/>
          </a:xfrm>
          <a:prstGeom prst="rect">
            <a:avLst/>
          </a:prstGeom>
          <a:noFill/>
          <a:ln/>
        </p:spPr>
        <p:txBody>
          <a:bodyPr wrap="square" lIns="0" tIns="0" rIns="0" bIns="0"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DNA studies showing that 90% of some indigenous populations died after contact</a:t>
            </a:r>
            <a:endParaRPr lang="en-US" sz="1050" dirty="0"/>
          </a:p>
        </p:txBody>
      </p:sp>
      <p:sp>
        <p:nvSpPr>
          <p:cNvPr id="17" name="Shape 15"/>
          <p:cNvSpPr/>
          <p:nvPr/>
        </p:nvSpPr>
        <p:spPr>
          <a:xfrm>
            <a:off x="6473952" y="2651760"/>
            <a:ext cx="2267712" cy="603504"/>
          </a:xfrm>
          <a:prstGeom prst="roundRect">
            <a:avLst>
              <a:gd name="adj" fmla="val 10606"/>
            </a:avLst>
          </a:prstGeom>
          <a:solidFill>
            <a:srgbClr val="2E7D4F">
              <a:alpha val="40000"/>
            </a:srgbClr>
          </a:solidFill>
          <a:ln w="15240">
            <a:solidFill>
              <a:srgbClr val="2E7D4F"/>
            </a:solidFill>
            <a:prstDash val="solid"/>
          </a:ln>
        </p:spPr>
      </p:sp>
      <p:sp>
        <p:nvSpPr>
          <p:cNvPr id="18" name="Text 16"/>
          <p:cNvSpPr/>
          <p:nvPr/>
        </p:nvSpPr>
        <p:spPr>
          <a:xfrm>
            <a:off x="6473952" y="2651760"/>
            <a:ext cx="22677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Strong Evidence</a:t>
            </a:r>
            <a:endParaRPr lang="en-US" sz="950" dirty="0"/>
          </a:p>
        </p:txBody>
      </p:sp>
      <p:sp>
        <p:nvSpPr>
          <p:cNvPr id="19" name="Text 17"/>
          <p:cNvSpPr/>
          <p:nvPr/>
        </p:nvSpPr>
        <p:spPr>
          <a:xfrm>
            <a:off x="6473952" y="2980944"/>
            <a:ext cx="2267712"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Scientific data — measurable consequence</a:t>
            </a:r>
            <a:endParaRPr lang="en-US" sz="850" dirty="0"/>
          </a:p>
        </p:txBody>
      </p:sp>
      <p:sp>
        <p:nvSpPr>
          <p:cNvPr id="20" name="Shape 18"/>
          <p:cNvSpPr/>
          <p:nvPr/>
        </p:nvSpPr>
        <p:spPr>
          <a:xfrm>
            <a:off x="402336" y="3364992"/>
            <a:ext cx="5998464" cy="640080"/>
          </a:xfrm>
          <a:prstGeom prst="roundRect">
            <a:avLst>
              <a:gd name="adj" fmla="val 10000"/>
            </a:avLst>
          </a:prstGeom>
          <a:solidFill>
            <a:srgbClr val="B87A2A">
              <a:alpha val="8000"/>
            </a:srgbClr>
          </a:solidFill>
          <a:ln w="12700">
            <a:solidFill>
              <a:srgbClr val="B87A2A"/>
            </a:solidFill>
            <a:prstDash val="solid"/>
          </a:ln>
        </p:spPr>
      </p:sp>
      <p:sp>
        <p:nvSpPr>
          <p:cNvPr id="21" name="Text 19"/>
          <p:cNvSpPr/>
          <p:nvPr/>
        </p:nvSpPr>
        <p:spPr>
          <a:xfrm>
            <a:off x="585216" y="3364992"/>
            <a:ext cx="5632704" cy="640080"/>
          </a:xfrm>
          <a:prstGeom prst="rect">
            <a:avLst/>
          </a:prstGeom>
          <a:noFill/>
          <a:ln/>
        </p:spPr>
        <p:txBody>
          <a:bodyPr wrap="square" lIns="0" tIns="0" rIns="0" bIns="0"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'Columbus was a hero' — a statement without any sources cited</a:t>
            </a:r>
            <a:endParaRPr lang="en-US" sz="1050" dirty="0"/>
          </a:p>
        </p:txBody>
      </p:sp>
      <p:sp>
        <p:nvSpPr>
          <p:cNvPr id="22" name="Shape 20"/>
          <p:cNvSpPr/>
          <p:nvPr/>
        </p:nvSpPr>
        <p:spPr>
          <a:xfrm>
            <a:off x="6473952" y="3383280"/>
            <a:ext cx="2267712" cy="603504"/>
          </a:xfrm>
          <a:prstGeom prst="roundRect">
            <a:avLst>
              <a:gd name="adj" fmla="val 10606"/>
            </a:avLst>
          </a:prstGeom>
          <a:solidFill>
            <a:srgbClr val="B87A2A">
              <a:alpha val="40000"/>
            </a:srgbClr>
          </a:solidFill>
          <a:ln w="15240">
            <a:solidFill>
              <a:srgbClr val="B87A2A"/>
            </a:solidFill>
            <a:prstDash val="solid"/>
          </a:ln>
        </p:spPr>
      </p:sp>
      <p:sp>
        <p:nvSpPr>
          <p:cNvPr id="23" name="Text 21"/>
          <p:cNvSpPr/>
          <p:nvPr/>
        </p:nvSpPr>
        <p:spPr>
          <a:xfrm>
            <a:off x="6473952" y="3383280"/>
            <a:ext cx="22677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Weak Evidence</a:t>
            </a:r>
            <a:endParaRPr lang="en-US" sz="950" dirty="0"/>
          </a:p>
        </p:txBody>
      </p:sp>
      <p:sp>
        <p:nvSpPr>
          <p:cNvPr id="24" name="Text 22"/>
          <p:cNvSpPr/>
          <p:nvPr/>
        </p:nvSpPr>
        <p:spPr>
          <a:xfrm>
            <a:off x="6473952" y="3712464"/>
            <a:ext cx="2267712"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Opinion without evidence — cannot be verified</a:t>
            </a:r>
            <a:endParaRPr lang="en-US" sz="850" dirty="0"/>
          </a:p>
        </p:txBody>
      </p:sp>
      <p:sp>
        <p:nvSpPr>
          <p:cNvPr id="25" name="Shape 23"/>
          <p:cNvSpPr/>
          <p:nvPr/>
        </p:nvSpPr>
        <p:spPr>
          <a:xfrm>
            <a:off x="402336" y="4096512"/>
            <a:ext cx="5998464" cy="640080"/>
          </a:xfrm>
          <a:prstGeom prst="roundRect">
            <a:avLst>
              <a:gd name="adj" fmla="val 10000"/>
            </a:avLst>
          </a:prstGeom>
          <a:solidFill>
            <a:srgbClr val="2E7D4F">
              <a:alpha val="8000"/>
            </a:srgbClr>
          </a:solidFill>
          <a:ln w="12700">
            <a:solidFill>
              <a:srgbClr val="2E7D4F"/>
            </a:solidFill>
            <a:prstDash val="solid"/>
          </a:ln>
        </p:spPr>
      </p:sp>
      <p:sp>
        <p:nvSpPr>
          <p:cNvPr id="26" name="Text 24"/>
          <p:cNvSpPr/>
          <p:nvPr/>
        </p:nvSpPr>
        <p:spPr>
          <a:xfrm>
            <a:off x="585216" y="4096512"/>
            <a:ext cx="5632704" cy="640080"/>
          </a:xfrm>
          <a:prstGeom prst="rect">
            <a:avLst/>
          </a:prstGeom>
          <a:noFill/>
          <a:ln/>
        </p:spPr>
        <p:txBody>
          <a:bodyPr wrap="square" lIns="0" tIns="0" rIns="0" bIns="0" rtlCol="0" anchor="ctr"/>
          <a:lstStyle/>
          <a:p>
            <a:pPr algn="l" indent="0" marL="0">
              <a:lnSpc>
                <a:spcPct val="120000"/>
              </a:lnSpc>
              <a:buNone/>
            </a:pPr>
            <a:r>
              <a:rPr lang="en-US" sz="1050" dirty="0">
                <a:solidFill>
                  <a:srgbClr val="3A4A6B"/>
                </a:solidFill>
                <a:latin typeface="Calibri" pitchFamily="34" charset="0"/>
                <a:ea typeface="Calibri" pitchFamily="34" charset="-122"/>
                <a:cs typeface="Calibri" pitchFamily="34" charset="-120"/>
              </a:rPr>
              <a:t>A 1500s Spanish royal document listing what explorers were required to claim</a:t>
            </a:r>
            <a:endParaRPr lang="en-US" sz="1050" dirty="0"/>
          </a:p>
        </p:txBody>
      </p:sp>
      <p:sp>
        <p:nvSpPr>
          <p:cNvPr id="27" name="Shape 25"/>
          <p:cNvSpPr/>
          <p:nvPr/>
        </p:nvSpPr>
        <p:spPr>
          <a:xfrm>
            <a:off x="6473952" y="4114800"/>
            <a:ext cx="2267712" cy="603504"/>
          </a:xfrm>
          <a:prstGeom prst="roundRect">
            <a:avLst>
              <a:gd name="adj" fmla="val 10606"/>
            </a:avLst>
          </a:prstGeom>
          <a:solidFill>
            <a:srgbClr val="2E7D4F">
              <a:alpha val="40000"/>
            </a:srgbClr>
          </a:solidFill>
          <a:ln w="15240">
            <a:solidFill>
              <a:srgbClr val="2E7D4F"/>
            </a:solidFill>
            <a:prstDash val="solid"/>
          </a:ln>
        </p:spPr>
      </p:sp>
      <p:sp>
        <p:nvSpPr>
          <p:cNvPr id="28" name="Text 26"/>
          <p:cNvSpPr/>
          <p:nvPr/>
        </p:nvSpPr>
        <p:spPr>
          <a:xfrm>
            <a:off x="6473952" y="4114800"/>
            <a:ext cx="22677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Strong Evidence</a:t>
            </a:r>
            <a:endParaRPr lang="en-US" sz="950" dirty="0"/>
          </a:p>
        </p:txBody>
      </p:sp>
      <p:sp>
        <p:nvSpPr>
          <p:cNvPr id="29" name="Text 27"/>
          <p:cNvSpPr/>
          <p:nvPr/>
        </p:nvSpPr>
        <p:spPr>
          <a:xfrm>
            <a:off x="6473952" y="4443984"/>
            <a:ext cx="2267712"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Primary source — government record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685800" y="502920"/>
            <a:ext cx="7772400" cy="4114800"/>
          </a:xfrm>
          <a:prstGeom prst="ellipse">
            <a:avLst/>
          </a:prstGeom>
          <a:solidFill>
            <a:srgbClr val="C7522A">
              <a:alpha val="14000"/>
            </a:srgbClr>
          </a:solidFill>
          <a:ln w="12700">
            <a:solidFill>
              <a:srgbClr val="333333"/>
            </a:solidFill>
            <a:prstDash val="solid"/>
          </a:ln>
        </p:spPr>
      </p:sp>
      <p:sp>
        <p:nvSpPr>
          <p:cNvPr id="3" name="Shape 1"/>
          <p:cNvSpPr/>
          <p:nvPr/>
        </p:nvSpPr>
        <p:spPr>
          <a:xfrm>
            <a:off x="2395728" y="1408176"/>
            <a:ext cx="4352544" cy="2304288"/>
          </a:xfrm>
          <a:prstGeom prst="ellipse">
            <a:avLst/>
          </a:prstGeom>
          <a:solidFill>
            <a:srgbClr val="C7522A">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Add a Row</a:t>
            </a:r>
            <a:endParaRPr lang="en-US" sz="2600" dirty="0"/>
          </a:p>
        </p:txBody>
      </p:sp>
      <p:sp>
        <p:nvSpPr>
          <p:cNvPr id="5" name="Shape 3"/>
          <p:cNvSpPr/>
          <p:nvPr/>
        </p:nvSpPr>
        <p:spPr>
          <a:xfrm>
            <a:off x="402336" y="749808"/>
            <a:ext cx="8339328" cy="713232"/>
          </a:xfrm>
          <a:prstGeom prst="roundRect">
            <a:avLst>
              <a:gd name="adj" fmla="val 11538"/>
            </a:avLst>
          </a:prstGeom>
          <a:solidFill>
            <a:srgbClr val="C7522A">
              <a:alpha val="20000"/>
            </a:srgbClr>
          </a:solidFill>
          <a:ln w="19050">
            <a:solidFill>
              <a:srgbClr val="C7522A"/>
            </a:solidFill>
            <a:prstDash val="solid"/>
          </a:ln>
        </p:spPr>
      </p:sp>
      <p:sp>
        <p:nvSpPr>
          <p:cNvPr id="6" name="Text 4"/>
          <p:cNvSpPr/>
          <p:nvPr/>
        </p:nvSpPr>
        <p:spPr>
          <a:xfrm>
            <a:off x="585216" y="786384"/>
            <a:ext cx="7973568" cy="658368"/>
          </a:xfrm>
          <a:prstGeom prst="rect">
            <a:avLst/>
          </a:prstGeom>
          <a:noFill/>
          <a:ln/>
        </p:spPr>
        <p:txBody>
          <a:bodyPr wrap="square" rtlCol="0" anchor="ctr"/>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Your group will complete an evidence chart row for John Cabot — using what you learned this unit. Every column must be filled with evidence, not opinion. Be ready to explain your sources.</a:t>
            </a:r>
            <a:endParaRPr lang="en-US" sz="1200" dirty="0"/>
          </a:p>
        </p:txBody>
      </p:sp>
      <p:sp>
        <p:nvSpPr>
          <p:cNvPr id="7" name="Shape 5"/>
          <p:cNvSpPr/>
          <p:nvPr/>
        </p:nvSpPr>
        <p:spPr>
          <a:xfrm>
            <a:off x="402336" y="1572768"/>
            <a:ext cx="8339328" cy="566928"/>
          </a:xfrm>
          <a:prstGeom prst="roundRect">
            <a:avLst>
              <a:gd name="adj" fmla="val 11290"/>
            </a:avLst>
          </a:prstGeom>
          <a:solidFill>
            <a:srgbClr val="FFFFFF">
              <a:alpha val="10000"/>
            </a:srgbClr>
          </a:solidFill>
          <a:ln w="12700">
            <a:solidFill>
              <a:srgbClr val="D4AF37"/>
            </a:solidFill>
            <a:prstDash val="solid"/>
          </a:ln>
        </p:spPr>
      </p:sp>
      <p:sp>
        <p:nvSpPr>
          <p:cNvPr id="8" name="Text 6"/>
          <p:cNvSpPr/>
          <p:nvPr/>
        </p:nvSpPr>
        <p:spPr>
          <a:xfrm>
            <a:off x="585216" y="1572768"/>
            <a:ext cx="2194560" cy="566928"/>
          </a:xfrm>
          <a:prstGeom prst="rect">
            <a:avLst/>
          </a:prstGeom>
          <a:noFill/>
          <a:ln/>
        </p:spPr>
        <p:txBody>
          <a:bodyPr wrap="square" lIns="0" tIns="0" rIns="0" bIns="0" rtlCol="0" anchor="ctr"/>
          <a:lstStyle/>
          <a:p>
            <a:pPr algn="l" indent="0" marL="0">
              <a:buNone/>
            </a:pPr>
            <a:r>
              <a:rPr lang="en-US" sz="1150" b="1" dirty="0">
                <a:solidFill>
                  <a:srgbClr val="D4AF37"/>
                </a:solidFill>
                <a:latin typeface="Cambria" pitchFamily="34" charset="0"/>
                <a:ea typeface="Cambria" pitchFamily="34" charset="-122"/>
                <a:cs typeface="Cambria" pitchFamily="34" charset="-120"/>
              </a:rPr>
              <a:t>EXPLORER: </a:t>
            </a:r>
            <a:endParaRPr lang="en-US" sz="1150" dirty="0"/>
          </a:p>
        </p:txBody>
      </p:sp>
      <p:sp>
        <p:nvSpPr>
          <p:cNvPr id="9" name="Text 7"/>
          <p:cNvSpPr/>
          <p:nvPr/>
        </p:nvSpPr>
        <p:spPr>
          <a:xfrm>
            <a:off x="2816352" y="1572768"/>
            <a:ext cx="5742432" cy="566928"/>
          </a:xfrm>
          <a:prstGeom prst="rect">
            <a:avLst/>
          </a:prstGeom>
          <a:noFill/>
          <a:ln/>
        </p:spPr>
        <p:txBody>
          <a:bodyPr wrap="square" lIns="0" tIns="0" rIns="0" bIns="0"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Name + sailed for what country?</a:t>
            </a:r>
            <a:endParaRPr lang="en-US" sz="1100" dirty="0"/>
          </a:p>
        </p:txBody>
      </p:sp>
      <p:sp>
        <p:nvSpPr>
          <p:cNvPr id="10" name="Shape 8"/>
          <p:cNvSpPr/>
          <p:nvPr/>
        </p:nvSpPr>
        <p:spPr>
          <a:xfrm>
            <a:off x="402336" y="2212848"/>
            <a:ext cx="8339328" cy="566928"/>
          </a:xfrm>
          <a:prstGeom prst="roundRect">
            <a:avLst>
              <a:gd name="adj" fmla="val 11290"/>
            </a:avLst>
          </a:prstGeom>
          <a:solidFill>
            <a:srgbClr val="FFFFFF">
              <a:alpha val="10000"/>
            </a:srgbClr>
          </a:solidFill>
          <a:ln w="12700">
            <a:solidFill>
              <a:srgbClr val="D4AF37"/>
            </a:solidFill>
            <a:prstDash val="solid"/>
          </a:ln>
        </p:spPr>
      </p:sp>
      <p:sp>
        <p:nvSpPr>
          <p:cNvPr id="11" name="Text 9"/>
          <p:cNvSpPr/>
          <p:nvPr/>
        </p:nvSpPr>
        <p:spPr>
          <a:xfrm>
            <a:off x="585216" y="2212848"/>
            <a:ext cx="2194560" cy="566928"/>
          </a:xfrm>
          <a:prstGeom prst="rect">
            <a:avLst/>
          </a:prstGeom>
          <a:noFill/>
          <a:ln/>
        </p:spPr>
        <p:txBody>
          <a:bodyPr wrap="square" lIns="0" tIns="0" rIns="0" bIns="0" rtlCol="0" anchor="ctr"/>
          <a:lstStyle/>
          <a:p>
            <a:pPr algn="l" indent="0" marL="0">
              <a:buNone/>
            </a:pPr>
            <a:r>
              <a:rPr lang="en-US" sz="1150" b="1" dirty="0">
                <a:solidFill>
                  <a:srgbClr val="D4AF37"/>
                </a:solidFill>
                <a:latin typeface="Cambria" pitchFamily="34" charset="0"/>
                <a:ea typeface="Cambria" pitchFamily="34" charset="-122"/>
                <a:cs typeface="Cambria" pitchFamily="34" charset="-120"/>
              </a:rPr>
              <a:t>MOTIVE (3 Gs): </a:t>
            </a:r>
            <a:endParaRPr lang="en-US" sz="1150" dirty="0"/>
          </a:p>
        </p:txBody>
      </p:sp>
      <p:sp>
        <p:nvSpPr>
          <p:cNvPr id="12" name="Text 10"/>
          <p:cNvSpPr/>
          <p:nvPr/>
        </p:nvSpPr>
        <p:spPr>
          <a:xfrm>
            <a:off x="2816352" y="2212848"/>
            <a:ext cx="5742432" cy="566928"/>
          </a:xfrm>
          <a:prstGeom prst="rect">
            <a:avLst/>
          </a:prstGeom>
          <a:noFill/>
          <a:ln/>
        </p:spPr>
        <p:txBody>
          <a:bodyPr wrap="square" lIns="0" tIns="0" rIns="0" bIns="0"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What pushed/pulled Cabot? Which G was strongest?</a:t>
            </a:r>
            <a:endParaRPr lang="en-US" sz="1100" dirty="0"/>
          </a:p>
        </p:txBody>
      </p:sp>
      <p:sp>
        <p:nvSpPr>
          <p:cNvPr id="13" name="Shape 11"/>
          <p:cNvSpPr/>
          <p:nvPr/>
        </p:nvSpPr>
        <p:spPr>
          <a:xfrm>
            <a:off x="402336" y="2852928"/>
            <a:ext cx="8339328" cy="566928"/>
          </a:xfrm>
          <a:prstGeom prst="roundRect">
            <a:avLst>
              <a:gd name="adj" fmla="val 11290"/>
            </a:avLst>
          </a:prstGeom>
          <a:solidFill>
            <a:srgbClr val="FFFFFF">
              <a:alpha val="10000"/>
            </a:srgbClr>
          </a:solidFill>
          <a:ln w="12700">
            <a:solidFill>
              <a:srgbClr val="D4AF37"/>
            </a:solidFill>
            <a:prstDash val="solid"/>
          </a:ln>
        </p:spPr>
      </p:sp>
      <p:sp>
        <p:nvSpPr>
          <p:cNvPr id="14" name="Text 12"/>
          <p:cNvSpPr/>
          <p:nvPr/>
        </p:nvSpPr>
        <p:spPr>
          <a:xfrm>
            <a:off x="585216" y="2852928"/>
            <a:ext cx="2194560" cy="566928"/>
          </a:xfrm>
          <a:prstGeom prst="rect">
            <a:avLst/>
          </a:prstGeom>
          <a:noFill/>
          <a:ln/>
        </p:spPr>
        <p:txBody>
          <a:bodyPr wrap="square" lIns="0" tIns="0" rIns="0" bIns="0" rtlCol="0" anchor="ctr"/>
          <a:lstStyle/>
          <a:p>
            <a:pPr algn="l" indent="0" marL="0">
              <a:buNone/>
            </a:pPr>
            <a:r>
              <a:rPr lang="en-US" sz="1150" b="1" dirty="0">
                <a:solidFill>
                  <a:srgbClr val="D4AF37"/>
                </a:solidFill>
                <a:latin typeface="Cambria" pitchFamily="34" charset="0"/>
                <a:ea typeface="Cambria" pitchFamily="34" charset="-122"/>
                <a:cs typeface="Cambria" pitchFamily="34" charset="-120"/>
              </a:rPr>
              <a:t>WHAT THEY FOUND: </a:t>
            </a:r>
            <a:endParaRPr lang="en-US" sz="1150" dirty="0"/>
          </a:p>
        </p:txBody>
      </p:sp>
      <p:sp>
        <p:nvSpPr>
          <p:cNvPr id="15" name="Text 13"/>
          <p:cNvSpPr/>
          <p:nvPr/>
        </p:nvSpPr>
        <p:spPr>
          <a:xfrm>
            <a:off x="2816352" y="2852928"/>
            <a:ext cx="5742432" cy="566928"/>
          </a:xfrm>
          <a:prstGeom prst="rect">
            <a:avLst/>
          </a:prstGeom>
          <a:noFill/>
          <a:ln/>
        </p:spPr>
        <p:txBody>
          <a:bodyPr wrap="square" lIns="0" tIns="0" rIns="0" bIns="0"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Where did he land? What did he think it was?</a:t>
            </a:r>
            <a:endParaRPr lang="en-US" sz="1100" dirty="0"/>
          </a:p>
        </p:txBody>
      </p:sp>
      <p:sp>
        <p:nvSpPr>
          <p:cNvPr id="16" name="Shape 14"/>
          <p:cNvSpPr/>
          <p:nvPr/>
        </p:nvSpPr>
        <p:spPr>
          <a:xfrm>
            <a:off x="402336" y="3493008"/>
            <a:ext cx="8339328" cy="566928"/>
          </a:xfrm>
          <a:prstGeom prst="roundRect">
            <a:avLst>
              <a:gd name="adj" fmla="val 11290"/>
            </a:avLst>
          </a:prstGeom>
          <a:solidFill>
            <a:srgbClr val="FFFFFF">
              <a:alpha val="10000"/>
            </a:srgbClr>
          </a:solidFill>
          <a:ln w="12700">
            <a:solidFill>
              <a:srgbClr val="D4AF37"/>
            </a:solidFill>
            <a:prstDash val="solid"/>
          </a:ln>
        </p:spPr>
      </p:sp>
      <p:sp>
        <p:nvSpPr>
          <p:cNvPr id="17" name="Text 15"/>
          <p:cNvSpPr/>
          <p:nvPr/>
        </p:nvSpPr>
        <p:spPr>
          <a:xfrm>
            <a:off x="585216" y="3493008"/>
            <a:ext cx="2194560" cy="566928"/>
          </a:xfrm>
          <a:prstGeom prst="rect">
            <a:avLst/>
          </a:prstGeom>
          <a:noFill/>
          <a:ln/>
        </p:spPr>
        <p:txBody>
          <a:bodyPr wrap="square" lIns="0" tIns="0" rIns="0" bIns="0" rtlCol="0" anchor="ctr"/>
          <a:lstStyle/>
          <a:p>
            <a:pPr algn="l" indent="0" marL="0">
              <a:buNone/>
            </a:pPr>
            <a:r>
              <a:rPr lang="en-US" sz="1150" b="1" dirty="0">
                <a:solidFill>
                  <a:srgbClr val="D4AF37"/>
                </a:solidFill>
                <a:latin typeface="Cambria" pitchFamily="34" charset="0"/>
                <a:ea typeface="Cambria" pitchFamily="34" charset="-122"/>
                <a:cs typeface="Cambria" pitchFamily="34" charset="-120"/>
              </a:rPr>
              <a:t>WHO WAS AFFECTED: </a:t>
            </a:r>
            <a:endParaRPr lang="en-US" sz="1150" dirty="0"/>
          </a:p>
        </p:txBody>
      </p:sp>
      <p:sp>
        <p:nvSpPr>
          <p:cNvPr id="18" name="Text 16"/>
          <p:cNvSpPr/>
          <p:nvPr/>
        </p:nvSpPr>
        <p:spPr>
          <a:xfrm>
            <a:off x="2816352" y="3493008"/>
            <a:ext cx="5742432" cy="566928"/>
          </a:xfrm>
          <a:prstGeom prst="rect">
            <a:avLst/>
          </a:prstGeom>
          <a:noFill/>
          <a:ln/>
        </p:spPr>
        <p:txBody>
          <a:bodyPr wrap="square" lIns="0" tIns="0" rIns="0" bIns="0"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Who lived where Cabot landed? What happened to them?</a:t>
            </a:r>
            <a:endParaRPr lang="en-US" sz="1100" dirty="0"/>
          </a:p>
        </p:txBody>
      </p:sp>
      <p:sp>
        <p:nvSpPr>
          <p:cNvPr id="19" name="Shape 17"/>
          <p:cNvSpPr/>
          <p:nvPr/>
        </p:nvSpPr>
        <p:spPr>
          <a:xfrm>
            <a:off x="402336" y="4133088"/>
            <a:ext cx="8339328" cy="566928"/>
          </a:xfrm>
          <a:prstGeom prst="roundRect">
            <a:avLst>
              <a:gd name="adj" fmla="val 11290"/>
            </a:avLst>
          </a:prstGeom>
          <a:solidFill>
            <a:srgbClr val="FFFFFF">
              <a:alpha val="10000"/>
            </a:srgbClr>
          </a:solidFill>
          <a:ln w="12700">
            <a:solidFill>
              <a:srgbClr val="D4AF37"/>
            </a:solidFill>
            <a:prstDash val="solid"/>
          </a:ln>
        </p:spPr>
      </p:sp>
      <p:sp>
        <p:nvSpPr>
          <p:cNvPr id="20" name="Text 18"/>
          <p:cNvSpPr/>
          <p:nvPr/>
        </p:nvSpPr>
        <p:spPr>
          <a:xfrm>
            <a:off x="585216" y="4133088"/>
            <a:ext cx="2194560" cy="566928"/>
          </a:xfrm>
          <a:prstGeom prst="rect">
            <a:avLst/>
          </a:prstGeom>
          <a:noFill/>
          <a:ln/>
        </p:spPr>
        <p:txBody>
          <a:bodyPr wrap="square" lIns="0" tIns="0" rIns="0" bIns="0" rtlCol="0" anchor="ctr"/>
          <a:lstStyle/>
          <a:p>
            <a:pPr algn="l" indent="0" marL="0">
              <a:buNone/>
            </a:pPr>
            <a:r>
              <a:rPr lang="en-US" sz="1150" b="1" dirty="0">
                <a:solidFill>
                  <a:srgbClr val="D4AF37"/>
                </a:solidFill>
                <a:latin typeface="Cambria" pitchFamily="34" charset="0"/>
                <a:ea typeface="Cambria" pitchFamily="34" charset="-122"/>
                <a:cs typeface="Cambria" pitchFamily="34" charset="-120"/>
              </a:rPr>
              <a:t>KEY CONSEQUENCE: </a:t>
            </a:r>
            <a:endParaRPr lang="en-US" sz="1150" dirty="0"/>
          </a:p>
        </p:txBody>
      </p:sp>
      <p:sp>
        <p:nvSpPr>
          <p:cNvPr id="21" name="Text 19"/>
          <p:cNvSpPr/>
          <p:nvPr/>
        </p:nvSpPr>
        <p:spPr>
          <a:xfrm>
            <a:off x="2816352" y="4133088"/>
            <a:ext cx="5742432" cy="566928"/>
          </a:xfrm>
          <a:prstGeom prst="rect">
            <a:avLst/>
          </a:prstGeom>
          <a:noFill/>
          <a:ln/>
        </p:spPr>
        <p:txBody>
          <a:bodyPr wrap="square" lIns="0" tIns="0" rIns="0" bIns="0"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What long-term result came from Cabot's voyage?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914400" y="228600"/>
            <a:ext cx="7315200" cy="4114800"/>
          </a:xfrm>
          <a:prstGeom prst="ellipse">
            <a:avLst/>
          </a:prstGeom>
          <a:solidFill>
            <a:srgbClr val="D4AF37">
              <a:alpha val="14000"/>
            </a:srgbClr>
          </a:solidFill>
          <a:ln w="12700">
            <a:solidFill>
              <a:srgbClr val="333333"/>
            </a:solidFill>
            <a:prstDash val="solid"/>
          </a:ln>
        </p:spPr>
      </p:sp>
      <p:sp>
        <p:nvSpPr>
          <p:cNvPr id="3" name="Shape 1"/>
          <p:cNvSpPr/>
          <p:nvPr/>
        </p:nvSpPr>
        <p:spPr>
          <a:xfrm>
            <a:off x="2523744" y="1133856"/>
            <a:ext cx="4096512" cy="2304288"/>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182880"/>
            <a:ext cx="8229600" cy="548640"/>
          </a:xfrm>
          <a:prstGeom prst="rect">
            <a:avLst/>
          </a:prstGeom>
          <a:noFill/>
          <a:ln/>
        </p:spPr>
        <p:txBody>
          <a:bodyPr wrap="square" lIns="0" tIns="0" rIns="0" bIns="0" rtlCol="0" anchor="ctr"/>
          <a:lstStyle/>
          <a:p>
            <a:pPr algn="ctr" indent="0" marL="0">
              <a:buNone/>
            </a:pPr>
            <a:r>
              <a:rPr lang="en-US" sz="2800" b="1" dirty="0">
                <a:solidFill>
                  <a:srgbClr val="D4AF37"/>
                </a:solidFill>
                <a:latin typeface="Cambria" pitchFamily="34" charset="0"/>
                <a:ea typeface="Cambria" pitchFamily="34" charset="-122"/>
                <a:cs typeface="Cambria" pitchFamily="34" charset="-120"/>
              </a:rPr>
              <a:t>Unit 2 Complete: Explorer's Vault</a:t>
            </a:r>
            <a:endParaRPr lang="en-US" sz="2800" dirty="0"/>
          </a:p>
        </p:txBody>
      </p:sp>
      <p:sp>
        <p:nvSpPr>
          <p:cNvPr id="5" name="Shape 3"/>
          <p:cNvSpPr/>
          <p:nvPr/>
        </p:nvSpPr>
        <p:spPr>
          <a:xfrm>
            <a:off x="402336" y="859536"/>
            <a:ext cx="8339328" cy="1737360"/>
          </a:xfrm>
          <a:prstGeom prst="roundRect">
            <a:avLst>
              <a:gd name="adj" fmla="val 5263"/>
            </a:avLst>
          </a:prstGeom>
          <a:solidFill>
            <a:srgbClr val="A88920">
              <a:alpha val="18000"/>
            </a:srgbClr>
          </a:solidFill>
          <a:ln w="19050">
            <a:solidFill>
              <a:srgbClr val="D4AF37"/>
            </a:solidFill>
            <a:prstDash val="solid"/>
          </a:ln>
        </p:spPr>
      </p:sp>
      <p:sp>
        <p:nvSpPr>
          <p:cNvPr id="6" name="Text 4"/>
          <p:cNvSpPr/>
          <p:nvPr/>
        </p:nvSpPr>
        <p:spPr>
          <a:xfrm>
            <a:off x="585216" y="932688"/>
            <a:ext cx="7973568" cy="402336"/>
          </a:xfrm>
          <a:prstGeom prst="rect">
            <a:avLst/>
          </a:prstGeom>
          <a:noFill/>
          <a:ln/>
        </p:spPr>
        <p:txBody>
          <a:bodyPr wrap="square" lIns="0" tIns="0" rIns="0" bIns="0" rtlCol="0" anchor="ctr"/>
          <a:lstStyle/>
          <a:p>
            <a:pPr indent="0" marL="0">
              <a:buNone/>
            </a:pPr>
            <a:r>
              <a:rPr lang="en-US" sz="1400" b="1" dirty="0">
                <a:solidFill>
                  <a:srgbClr val="D4AF37"/>
                </a:solidFill>
                <a:latin typeface="Cambria" pitchFamily="34" charset="0"/>
                <a:ea typeface="Cambria" pitchFamily="34" charset="-122"/>
                <a:cs typeface="Cambria" pitchFamily="34" charset="-120"/>
              </a:rPr>
              <a:t>Virtue Lens: Honesty</a:t>
            </a:r>
            <a:endParaRPr lang="en-US" sz="1400" dirty="0"/>
          </a:p>
        </p:txBody>
      </p:sp>
      <p:sp>
        <p:nvSpPr>
          <p:cNvPr id="7" name="Text 5"/>
          <p:cNvSpPr/>
          <p:nvPr/>
        </p:nvSpPr>
        <p:spPr>
          <a:xfrm>
            <a:off x="585216" y="1353312"/>
            <a:ext cx="7973568" cy="1152144"/>
          </a:xfrm>
          <a:prstGeom prst="rect">
            <a:avLst/>
          </a:prstGeom>
          <a:noFill/>
          <a:ln/>
        </p:spPr>
        <p:txBody>
          <a:bodyPr wrap="square" lIns="0" tIns="0" rIns="0" bIns="0" rtlCol="0" anchor="ctr"/>
          <a:lstStyle/>
          <a:p>
            <a:pPr indent="0" marL="0">
              <a:lnSpc>
                <a:spcPct val="145000"/>
              </a:lnSpc>
              <a:buNone/>
            </a:pPr>
            <a:r>
              <a:rPr lang="en-US" sz="1250" dirty="0">
                <a:solidFill>
                  <a:srgbClr val="F8F4E8"/>
                </a:solidFill>
                <a:latin typeface="Calibri" pitchFamily="34" charset="0"/>
                <a:ea typeface="Calibri" pitchFamily="34" charset="-122"/>
                <a:cs typeface="Calibri" pitchFamily="34" charset="-120"/>
              </a:rPr>
              <a:t>The Explorer Evidence Chart requires something simple and difficult: filling every column, even the uncomfortable ones. It would be easier to leave 'WHO WAS AFFECTED' blank. Historians who do that aren't being dishonest — they're just incomplete. Incomplete history looks like honesty but isn't.</a:t>
            </a:r>
            <a:endParaRPr lang="en-US" sz="1250" dirty="0"/>
          </a:p>
        </p:txBody>
      </p:sp>
      <p:sp>
        <p:nvSpPr>
          <p:cNvPr id="8" name="Shape 6"/>
          <p:cNvSpPr/>
          <p:nvPr/>
        </p:nvSpPr>
        <p:spPr>
          <a:xfrm>
            <a:off x="402336" y="2724912"/>
            <a:ext cx="8339328" cy="1609344"/>
          </a:xfrm>
          <a:prstGeom prst="roundRect">
            <a:avLst>
              <a:gd name="adj" fmla="val 5682"/>
            </a:avLst>
          </a:prstGeom>
          <a:solidFill>
            <a:srgbClr val="E0F5F0"/>
          </a:solidFill>
          <a:ln w="22860">
            <a:solidFill>
              <a:srgbClr val="1A8A7D"/>
            </a:solidFill>
            <a:prstDash val="solid"/>
          </a:ln>
          <a:effectLst>
            <a:outerShdw sx="100000" sy="100000" kx="0" ky="0" algn="bl" rotWithShape="0" blurRad="101600" dist="25400" dir="2700000">
              <a:srgbClr val="000000">
                <a:alpha val="12000"/>
              </a:srgbClr>
            </a:outerShdw>
          </a:effectLst>
        </p:spPr>
      </p:sp>
      <p:sp>
        <p:nvSpPr>
          <p:cNvPr id="9" name="Text 7"/>
          <p:cNvSpPr/>
          <p:nvPr/>
        </p:nvSpPr>
        <p:spPr>
          <a:xfrm>
            <a:off x="539496" y="2816352"/>
            <a:ext cx="8065008"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10" name="Shape 8"/>
          <p:cNvSpPr/>
          <p:nvPr/>
        </p:nvSpPr>
        <p:spPr>
          <a:xfrm>
            <a:off x="539496" y="3154680"/>
            <a:ext cx="8065008" cy="0"/>
          </a:xfrm>
          <a:prstGeom prst="line">
            <a:avLst/>
          </a:prstGeom>
          <a:noFill/>
          <a:ln w="10160">
            <a:solidFill>
              <a:srgbClr val="1A8A7D"/>
            </a:solidFill>
            <a:prstDash val="solid"/>
          </a:ln>
        </p:spPr>
      </p:sp>
      <p:sp>
        <p:nvSpPr>
          <p:cNvPr id="11" name="Text 9"/>
          <p:cNvSpPr/>
          <p:nvPr/>
        </p:nvSpPr>
        <p:spPr>
          <a:xfrm>
            <a:off x="539496" y="3209544"/>
            <a:ext cx="8065008" cy="1014984"/>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Look at your completed chart row for Cabot. If you could add ONE more column — something that isn't on the chart yet — what would it be? What are we still missing?</a:t>
            </a:r>
            <a:endParaRPr lang="en-US" sz="1250" dirty="0"/>
          </a:p>
        </p:txBody>
      </p:sp>
      <p:sp>
        <p:nvSpPr>
          <p:cNvPr id="12" name="Shape 10"/>
          <p:cNvSpPr/>
          <p:nvPr/>
        </p:nvSpPr>
        <p:spPr>
          <a:xfrm>
            <a:off x="1014984" y="4626864"/>
            <a:ext cx="164592" cy="256032"/>
          </a:xfrm>
          <a:prstGeom prst="ellipse">
            <a:avLst/>
          </a:prstGeom>
          <a:solidFill>
            <a:srgbClr val="D4AF37"/>
          </a:solidFill>
          <a:ln w="12700">
            <a:solidFill>
              <a:srgbClr val="333333"/>
            </a:solidFill>
            <a:prstDash val="solid"/>
          </a:ln>
        </p:spPr>
      </p:sp>
      <p:sp>
        <p:nvSpPr>
          <p:cNvPr id="13" name="Shape 11"/>
          <p:cNvSpPr/>
          <p:nvPr/>
        </p:nvSpPr>
        <p:spPr>
          <a:xfrm>
            <a:off x="7964424" y="4626864"/>
            <a:ext cx="164592" cy="256032"/>
          </a:xfrm>
          <a:prstGeom prst="ellipse">
            <a:avLst/>
          </a:prstGeom>
          <a:solidFill>
            <a:srgbClr val="D4AF37"/>
          </a:solidFill>
          <a:ln w="12700">
            <a:solidFill>
              <a:srgbClr val="333333"/>
            </a:solidFill>
            <a:prstDash val="solid"/>
          </a:ln>
        </p:spPr>
      </p:sp>
      <p:sp>
        <p:nvSpPr>
          <p:cNvPr id="14" name="Shape 12"/>
          <p:cNvSpPr/>
          <p:nvPr/>
        </p:nvSpPr>
        <p:spPr>
          <a:xfrm>
            <a:off x="1097280" y="4754880"/>
            <a:ext cx="6949440" cy="0"/>
          </a:xfrm>
          <a:prstGeom prst="line">
            <a:avLst/>
          </a:prstGeom>
          <a:noFill/>
          <a:ln w="31750">
            <a:solidFill>
              <a:srgbClr val="D4AF3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3.02.06 — Explorer Evidence Chart</dc:title>
  <dc:subject>PptxGenJS Presentation</dc:subject>
  <dc:creator>PptxGenJS</dc:creator>
  <cp:lastModifiedBy>PptxGenJS</cp:lastModifiedBy>
  <cp:revision>1</cp:revision>
  <dcterms:created xsi:type="dcterms:W3CDTF">2026-07-06T23:18:23Z</dcterms:created>
  <dcterms:modified xsi:type="dcterms:W3CDTF">2026-07-06T23:18:23Z</dcterms:modified>
</cp:coreProperties>
</file>