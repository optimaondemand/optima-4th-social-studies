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30 sec
Script: 'Good morning, historians! This year we are Junior Curators building a museum exhibit called Our World, Our Choices. Today is Day 1 of Curator Training Hall — and the very first thing every curator must learn is HOW historians study the past. Four tools. One real source. Many open questions. Step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MUSEUM MEMO — Read aloud (60 sec)
Read slowly and deliberately — this is the year's story opening.
After reading, pause: 'You just heard about four objects in a display case. Which one do you think would teach you the most about that community? Hold that thought — you'll get to respond on the next slide.'
Advance to the gallery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GALLERY — 4 min
All students type in chat simultaneously. Read 4-5 responses aloud.
Don't resolve the disagreement — name it: 'Some of you chose the photograph. Some chose the map. Real historians argue about this too. By the end of class, see if you'd change your answer.'
Note who said what — you may want to call back to specific students later.
Transition: 'Before we examine any of these, we need one big question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CURATOR'S QUESTION — 5 min
This is the conceptual anchor for everything. Students must feel the problem of the past being silent.
Step 1: Everyone types in chat simultaneously (30 sec). Read 3-4 aloud.
Step 2: Call on 3-4 students to elaborate.
Teacher follow-up moves:
  'You said they left objects behind — what do objects NOT tell us?'
  'Can objects lie? Can they give us a false picture?'
  'What if only the objects of wealthy people survived — what would we get wrong?'
Anchor: 'Historians piece together incomplete evidence — like a puzzle with missing pieces. There are four types of pieces we look for. Let's learn what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FIELDS — 5 min
For each field, read the exhibit question aloud and call on 2-3 students.
HISTORY: 'What happened in the past that still shapes how people live today?' (Laws, borders, inventions, traditions)
GEOGRAPHY: 'How does WHERE you live change what you eat, wear, or do?'
ECONOMICS: 'What does your community have plenty of — and what does it lack?'
CIVICS: 'What's one rule in your community — WHY does it exist?'
Anchor: 'When historians study a community, they ask all four questions at once. And the four tools we're about to learn help them answer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TOOLKIT INTRO — 30 sec transition
Say: 'Historians can't interview someone who died 300 years ago. So they look at what that person LEFT BEHIND. We call those leftovers SOURCES. There are four main types.
We're going to look at each one — but here's my challenge: as we go, think about what each tool CAN do that the others cannot. Because at the end, we'll need all four together.'
Don't explain the cases — just point and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1 &amp; 4 — 5 min
ARTIFACTS after teaching:
  Raise Hand: 'If a future historian found YOUR backpack in 200 years — what would they get WRONG about you?' (Objects don't show personality, relationships, or context.)
  Push: 'Could someone CREATE a fake artifact to mislead historians? How?'
PHOTOGRAPHS after teaching:
  Chat: 'What can a photo show that a coin NEVER could?' (Faces, expressions, moment-in-time, scale, emotion.)
  Critical lens: 'Can a photographer choose what to include or leave out? Does that mean photos always tell the truth?'
Tease: 'We have a real photograph to examine together — coming up soon. Start thinking like detectives.'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2 &amp; 3 — 5 min + breakout (3 min)
MAPS after teaching:
  'What can a map show that a written description CANNOT?' (Visual relationships, distances, scale.)
  'If a map is 500 years old and some things are WRONG — is it still useful?'
DOCUMENTS after teaching:
  'If someone wrote a diary about a war — what might they LEAVE OUT? Why?'
  'Does that make the diary useless?' (No — the gaps are also evidence.)
BREAKOUT: Rooms of 2-3, 3 minutes.
Debrief: Take 3 groups. Push: 'What does 'Here Be Dragons' tell us about what that society DIDN'T KNOW? Is ignorance a kind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CAN LIE — Socratic Discussion (4 min)
This is the conceptual turning point. Students often think sources = truth.
Ask the big question first. Take 2-3 hands.
For each row, ask: 'Has this actually happened in history?'
  • Artifacts: Yes — forgeries exist. Some are made to sell to museums.
  • Maps: Yes — colonial powers drew borders that erased indigenous territories.
  • Documents: Yes — diaries can be self-serving. Official records can hide atrocities.
  • Photographs: Yes — propaganda photos staged or cropped to hide conflict.
Anchor: 'So if ALL four sources can mislead us — does that mean history is impossible?
No. It means historians use all four TOGETHER and ask hard questions about each one. That's the job. That's what you're learning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vs SECONDARY — 5 min
After teaching both, call on 4-6 students to name examples. Correct as needed:
  Key misconception: 'old = primary.' Clarify: PRIMARY means created AT the time by someone who was there — not just old.
Socratic extension: 'Is a primary source always MORE trustworthy than a secondary one?'
(No — secondary sources synthesize many primaries and correct for bias. Both are tools.)
Bridge: 'Now let's look at a REAL primary source together — a photograph from the early 1900s.'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ON SCREEN — 3 min
What students see: Early 1900s black-and-white photo, a group of children and adults standing in front of a large American flag, several making hand gestures.
Step 1: Show the slide. Say NOTHING for 30 seconds. Let students look.
Step 2: 'Type ONE thing you notice in the chat.' Read 5-6 aloud. Praise precision.
Step 3: Push with the clipboard prompts: 'What do you WONDER? What question would you ask?'
Step 4: Cold-call 2-3 students to elaborate on something specific they see.
Transition: 'Now let's work through this source like trained curators.'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ANALYSIS — 8-10 min (the heart of the lesson)
Q1 (Raise Hand): Answer = primary source, photograph. Ask WHY it's primary.
Q2 (Chat): Push for precision — not 'I see people' but 'I see a boy in a dark jacket on the left who is NOT smiling.' Read 5-6 aloud. Celebrate detail.
Q3 (Discussion): Genuinely open. Possible: 4th of July, school event, patriotic rally from WWI era, a community organization.
  Push: 'What evidence supports that idea? What goes against it?'
Q4 (Groups, 2 min): What the photo doesn't show: names, relationships, sounds, temperature, whether photographer chose what to include, who was NOT invited.
Debrief: 'A photograph is powerful AND limited. That's why historians never rely on just one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CURATOR TASK PREVIEW — 2 min
Briefly show the HTML lesson page on your screen.
Key reminder: SHOW where the Curator's Chronicle sentence is (bottom of Tab 4). It's required. Read it aloud: 'In this exhibit, I learned that ___ because ___.' Students will write this in their notebook AND type it as their assignment submission.
Chat: 'Type the ONE thing from today you most want to remember.' Read 3 aloud. This closes retrieval and activates the memory before students leave.
Respond to each with a follow-up: 'Why does that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2-3 min
Run simultaneously — everyone types AND 3-4 share aloud.
What to listen for:
  Strong: 'I learned that ALL four sources can mislead us, because historians need to question every source, not just trust it.'
  Needs support: 'I learned about maps.' → 'What specifically? What can a map show that a photograph cannot?'
Close: 'You just did what historians do every day — examined evidence, asked hard questions, and admitted what you don't know yet. That's the job. See you next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 30 sec
Say: 'Complete the Curator Training Hall lesson page independently this week. Three turn-in items: Evidence Report, quiz, and the Curator's Chronicle sentence.
Master those, and you earn the Evidence Keeper badge — and we open the museum.
Next session: Lesson 3.01.02 — What Communities Have in Common. You'll use the same four tools on a whole new set of sources. See you then, historians!'
Optional: Leave this slide up while students log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621792" cy="5148072"/>
          </a:xfrm>
          <a:prstGeom prst="rect">
            <a:avLst/>
          </a:prstGeom>
          <a:solidFill>
            <a:srgbClr val="FFFFFF">
              <a:alpha val="7000"/>
            </a:srgbClr>
          </a:solidFill>
          <a:ln w="12700">
            <a:solidFill>
              <a:srgbClr val="333333"/>
            </a:solidFill>
            <a:prstDash val="solid"/>
          </a:ln>
        </p:spPr>
      </p:sp>
      <p:sp>
        <p:nvSpPr>
          <p:cNvPr id="3" name="Shape 1"/>
          <p:cNvSpPr/>
          <p:nvPr/>
        </p:nvSpPr>
        <p:spPr>
          <a:xfrm>
            <a:off x="8522208" y="0"/>
            <a:ext cx="621792" cy="5148072"/>
          </a:xfrm>
          <a:prstGeom prst="rect">
            <a:avLst/>
          </a:prstGeom>
          <a:solidFill>
            <a:srgbClr val="FFFFFF">
              <a:alpha val="7000"/>
            </a:srgbClr>
          </a:solidFill>
          <a:ln w="12700">
            <a:solidFill>
              <a:srgbClr val="333333"/>
            </a:solidFill>
            <a:prstDash val="solid"/>
          </a:ln>
        </p:spPr>
      </p:sp>
      <p:sp>
        <p:nvSpPr>
          <p:cNvPr id="4" name="Shape 2"/>
          <p:cNvSpPr/>
          <p:nvPr/>
        </p:nvSpPr>
        <p:spPr>
          <a:xfrm>
            <a:off x="0" y="0"/>
            <a:ext cx="9144000" cy="50292"/>
          </a:xfrm>
          <a:prstGeom prst="rect">
            <a:avLst/>
          </a:prstGeom>
          <a:solidFill>
            <a:srgbClr val="C8A84B"/>
          </a:solidFill>
          <a:ln w="12700">
            <a:solidFill>
              <a:srgbClr val="333333"/>
            </a:solidFill>
            <a:prstDash val="solid"/>
          </a:ln>
        </p:spPr>
      </p:sp>
      <p:sp>
        <p:nvSpPr>
          <p:cNvPr id="5" name="Shape 3"/>
          <p:cNvSpPr/>
          <p:nvPr/>
        </p:nvSpPr>
        <p:spPr>
          <a:xfrm>
            <a:off x="0" y="5093208"/>
            <a:ext cx="9144000" cy="54864"/>
          </a:xfrm>
          <a:prstGeom prst="rect">
            <a:avLst/>
          </a:prstGeom>
          <a:solidFill>
            <a:srgbClr val="C8A84B"/>
          </a:solidFill>
          <a:ln w="12700">
            <a:solidFill>
              <a:srgbClr val="333333"/>
            </a:solidFill>
            <a:prstDash val="solid"/>
          </a:ln>
        </p:spPr>
      </p:sp>
      <p:sp>
        <p:nvSpPr>
          <p:cNvPr id="6" name="Shape 4"/>
          <p:cNvSpPr/>
          <p:nvPr/>
        </p:nvSpPr>
        <p:spPr>
          <a:xfrm>
            <a:off x="1005840" y="365760"/>
            <a:ext cx="7132320" cy="4114800"/>
          </a:xfrm>
          <a:prstGeom prst="ellipse">
            <a:avLst/>
          </a:prstGeom>
          <a:solidFill>
            <a:srgbClr val="D4943A">
              <a:alpha val="17000"/>
            </a:srgbClr>
          </a:solidFill>
          <a:ln w="12700">
            <a:solidFill>
              <a:srgbClr val="333333"/>
            </a:solidFill>
            <a:prstDash val="solid"/>
          </a:ln>
        </p:spPr>
      </p:sp>
      <p:sp>
        <p:nvSpPr>
          <p:cNvPr id="7" name="Shape 5"/>
          <p:cNvSpPr/>
          <p:nvPr/>
        </p:nvSpPr>
        <p:spPr>
          <a:xfrm>
            <a:off x="2574950" y="1271016"/>
            <a:ext cx="3994099" cy="2304288"/>
          </a:xfrm>
          <a:prstGeom prst="ellipse">
            <a:avLst/>
          </a:prstGeom>
          <a:solidFill>
            <a:srgbClr val="D4943A">
              <a:alpha val="27000"/>
            </a:srgbClr>
          </a:solidFill>
          <a:ln w="12700">
            <a:solidFill>
              <a:srgbClr val="333333"/>
            </a:solidFill>
            <a:prstDash val="solid"/>
          </a:ln>
        </p:spPr>
      </p:sp>
      <p:sp>
        <p:nvSpPr>
          <p:cNvPr id="8" name="Shape 6"/>
          <p:cNvSpPr/>
          <p:nvPr/>
        </p:nvSpPr>
        <p:spPr>
          <a:xfrm>
            <a:off x="2103120" y="182880"/>
            <a:ext cx="4937760" cy="475488"/>
          </a:xfrm>
          <a:prstGeom prst="roundRect">
            <a:avLst>
              <a:gd name="adj" fmla="val 13462"/>
            </a:avLst>
          </a:prstGeom>
          <a:solidFill>
            <a:srgbClr val="C8A84B">
              <a:alpha val="18000"/>
            </a:srgbClr>
          </a:solidFill>
          <a:ln w="12700">
            <a:solidFill>
              <a:srgbClr val="C8A84B"/>
            </a:solidFill>
            <a:prstDash val="solid"/>
          </a:ln>
        </p:spPr>
      </p:sp>
      <p:sp>
        <p:nvSpPr>
          <p:cNvPr id="9" name="Text 7"/>
          <p:cNvSpPr/>
          <p:nvPr/>
        </p:nvSpPr>
        <p:spPr>
          <a:xfrm>
            <a:off x="2103120" y="182880"/>
            <a:ext cx="4937760" cy="475488"/>
          </a:xfrm>
          <a:prstGeom prst="rect">
            <a:avLst/>
          </a:prstGeom>
          <a:noFill/>
          <a:ln/>
        </p:spPr>
        <p:txBody>
          <a:bodyPr wrap="square" lIns="0" tIns="0" rIns="0" bIns="0" rtlCol="0" anchor="ctr"/>
          <a:lstStyle/>
          <a:p>
            <a:pPr algn="ctr" indent="0" marL="0">
              <a:buNone/>
            </a:pPr>
            <a:r>
              <a:rPr lang="en-US" sz="1050" b="1" spc="280" kern="0" dirty="0">
                <a:solidFill>
                  <a:srgbClr val="C8A84B"/>
                </a:solidFill>
                <a:latin typeface="Calibri" pitchFamily="34" charset="0"/>
                <a:ea typeface="Calibri" pitchFamily="34" charset="-122"/>
                <a:cs typeface="Calibri" pitchFamily="34" charset="-120"/>
              </a:rPr>
              <a:t>CURATOR TRAINING HALL  ·  UNIT 1  ·  WEEK 1</a:t>
            </a:r>
            <a:endParaRPr lang="en-US" sz="1050" dirty="0"/>
          </a:p>
        </p:txBody>
      </p:sp>
      <p:sp>
        <p:nvSpPr>
          <p:cNvPr id="10" name="Text 8"/>
          <p:cNvSpPr/>
          <p:nvPr/>
        </p:nvSpPr>
        <p:spPr>
          <a:xfrm>
            <a:off x="914400" y="749808"/>
            <a:ext cx="7315200" cy="2907792"/>
          </a:xfrm>
          <a:prstGeom prst="rect">
            <a:avLst/>
          </a:prstGeom>
          <a:noFill/>
          <a:ln/>
        </p:spPr>
        <p:txBody>
          <a:bodyPr wrap="square" lIns="0" tIns="0" rIns="0" bIns="0" rtlCol="0" anchor="ctr"/>
          <a:lstStyle/>
          <a:p>
            <a:pPr algn="ctr" indent="0" marL="0">
              <a:lnSpc>
                <a:spcPct val="108000"/>
              </a:lnSpc>
              <a:buNone/>
            </a:pPr>
            <a:r>
              <a:rPr lang="en-US" sz="6200" b="1" dirty="0">
                <a:solidFill>
                  <a:srgbClr val="FFFFFF"/>
                </a:solidFill>
                <a:latin typeface="Cambria" pitchFamily="34" charset="0"/>
                <a:ea typeface="Cambria" pitchFamily="34" charset="-122"/>
                <a:cs typeface="Cambria" pitchFamily="34" charset="-120"/>
              </a:rPr>
              <a:t>What</a:t>
            </a:r>
            <a:endParaRPr lang="en-US" sz="6200" dirty="0"/>
          </a:p>
          <a:p>
            <a:pPr algn="ctr" indent="0" marL="0">
              <a:lnSpc>
                <a:spcPct val="108000"/>
              </a:lnSpc>
              <a:buNone/>
            </a:pPr>
            <a:r>
              <a:rPr lang="en-US" sz="6200" b="1" dirty="0">
                <a:solidFill>
                  <a:srgbClr val="FFFFFF"/>
                </a:solidFill>
                <a:latin typeface="Cambria" pitchFamily="34" charset="0"/>
                <a:ea typeface="Cambria" pitchFamily="34" charset="-122"/>
                <a:cs typeface="Cambria" pitchFamily="34" charset="-120"/>
              </a:rPr>
              <a:t>Historians</a:t>
            </a:r>
            <a:endParaRPr lang="en-US" sz="6200" dirty="0"/>
          </a:p>
          <a:p>
            <a:pPr algn="ctr" indent="0" marL="0">
              <a:lnSpc>
                <a:spcPct val="108000"/>
              </a:lnSpc>
              <a:buNone/>
            </a:pPr>
            <a:r>
              <a:rPr lang="en-US" sz="6200" b="1" dirty="0">
                <a:solidFill>
                  <a:srgbClr val="FFFFFF"/>
                </a:solidFill>
                <a:latin typeface="Cambria" pitchFamily="34" charset="0"/>
                <a:ea typeface="Cambria" pitchFamily="34" charset="-122"/>
                <a:cs typeface="Cambria" pitchFamily="34" charset="-120"/>
              </a:rPr>
              <a:t>Study</a:t>
            </a:r>
            <a:endParaRPr lang="en-US" sz="6200" dirty="0"/>
          </a:p>
        </p:txBody>
      </p:sp>
      <p:sp>
        <p:nvSpPr>
          <p:cNvPr id="11" name="Text 9"/>
          <p:cNvSpPr/>
          <p:nvPr/>
        </p:nvSpPr>
        <p:spPr>
          <a:xfrm>
            <a:off x="1371600" y="3749040"/>
            <a:ext cx="6400800" cy="347472"/>
          </a:xfrm>
          <a:prstGeom prst="rect">
            <a:avLst/>
          </a:prstGeom>
          <a:noFill/>
          <a:ln/>
        </p:spPr>
        <p:txBody>
          <a:bodyPr wrap="square" lIns="0" tIns="0" rIns="0" bIns="0" rtlCol="0" anchor="ctr"/>
          <a:lstStyle/>
          <a:p>
            <a:pPr algn="ctr" indent="0" marL="0">
              <a:buNone/>
            </a:pPr>
            <a:r>
              <a:rPr lang="en-US" sz="1250" dirty="0">
                <a:solidFill>
                  <a:srgbClr val="34B0A0"/>
                </a:solidFill>
                <a:latin typeface="Calibri" pitchFamily="34" charset="0"/>
                <a:ea typeface="Calibri" pitchFamily="34" charset="-122"/>
                <a:cs typeface="Calibri" pitchFamily="34" charset="-120"/>
              </a:rPr>
              <a:t>Lesson 3.01.01  ·  3rd Grade Social Studies</a:t>
            </a:r>
            <a:endParaRPr lang="en-US" sz="1250" dirty="0"/>
          </a:p>
        </p:txBody>
      </p:sp>
      <p:sp>
        <p:nvSpPr>
          <p:cNvPr id="12" name="Shape 10"/>
          <p:cNvSpPr/>
          <p:nvPr/>
        </p:nvSpPr>
        <p:spPr>
          <a:xfrm>
            <a:off x="2377440" y="4160520"/>
            <a:ext cx="4389120" cy="566928"/>
          </a:xfrm>
          <a:prstGeom prst="roundRect">
            <a:avLst>
              <a:gd name="adj" fmla="val 16129"/>
            </a:avLst>
          </a:prstGeom>
          <a:solidFill>
            <a:srgbClr val="D4943A">
              <a:alpha val="20000"/>
            </a:srgbClr>
          </a:solidFill>
          <a:ln w="19050">
            <a:solidFill>
              <a:srgbClr val="B87A2A"/>
            </a:solidFill>
            <a:prstDash val="solid"/>
          </a:ln>
        </p:spPr>
      </p:sp>
      <p:sp>
        <p:nvSpPr>
          <p:cNvPr id="13" name="Text 11"/>
          <p:cNvSpPr/>
          <p:nvPr/>
        </p:nvSpPr>
        <p:spPr>
          <a:xfrm>
            <a:off x="2377440" y="4160520"/>
            <a:ext cx="438912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Junior Curator  ·  Evidence Keeper Badge</a:t>
            </a:r>
            <a:endParaRPr lang="en-US" sz="1250" dirty="0"/>
          </a:p>
        </p:txBody>
      </p:sp>
      <p:sp>
        <p:nvSpPr>
          <p:cNvPr id="14" name="Shape 12"/>
          <p:cNvSpPr/>
          <p:nvPr/>
        </p:nvSpPr>
        <p:spPr>
          <a:xfrm>
            <a:off x="923544" y="4736592"/>
            <a:ext cx="164592" cy="256032"/>
          </a:xfrm>
          <a:prstGeom prst="ellipse">
            <a:avLst/>
          </a:prstGeom>
          <a:solidFill>
            <a:srgbClr val="C8A84B"/>
          </a:solidFill>
          <a:ln w="12700">
            <a:solidFill>
              <a:srgbClr val="333333"/>
            </a:solidFill>
            <a:prstDash val="solid"/>
          </a:ln>
        </p:spPr>
      </p:sp>
      <p:sp>
        <p:nvSpPr>
          <p:cNvPr id="15" name="Shape 13"/>
          <p:cNvSpPr/>
          <p:nvPr/>
        </p:nvSpPr>
        <p:spPr>
          <a:xfrm>
            <a:off x="8055864" y="4736592"/>
            <a:ext cx="164592" cy="256032"/>
          </a:xfrm>
          <a:prstGeom prst="ellipse">
            <a:avLst/>
          </a:prstGeom>
          <a:solidFill>
            <a:srgbClr val="C8A84B"/>
          </a:solidFill>
          <a:ln w="12700">
            <a:solidFill>
              <a:srgbClr val="333333"/>
            </a:solidFill>
            <a:prstDash val="solid"/>
          </a:ln>
        </p:spPr>
      </p:sp>
      <p:sp>
        <p:nvSpPr>
          <p:cNvPr id="16" name="Shape 14"/>
          <p:cNvSpPr/>
          <p:nvPr/>
        </p:nvSpPr>
        <p:spPr>
          <a:xfrm>
            <a:off x="1005840" y="4864608"/>
            <a:ext cx="7132320" cy="0"/>
          </a:xfrm>
          <a:prstGeom prst="line">
            <a:avLst/>
          </a:prstGeom>
          <a:noFill/>
          <a:ln w="31750">
            <a:solidFill>
              <a:srgbClr val="C8A84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DD8"/>
        </a:solidFill>
      </p:bgPr>
    </p:bg>
    <p:spTree>
      <p:nvGrpSpPr>
        <p:cNvPr id="1" name=""/>
        <p:cNvGrpSpPr/>
        <p:nvPr/>
      </p:nvGrpSpPr>
      <p:grpSpPr>
        <a:xfrm>
          <a:off x="0" y="0"/>
          <a:ext cx="0" cy="0"/>
          <a:chOff x="0" y="0"/>
          <a:chExt cx="0" cy="0"/>
        </a:xfrm>
      </p:grpSpPr>
      <p:sp>
        <p:nvSpPr>
          <p:cNvPr id="2" name="Shape 0"/>
          <p:cNvSpPr/>
          <p:nvPr/>
        </p:nvSpPr>
        <p:spPr>
          <a:xfrm>
            <a:off x="475488" y="228600"/>
            <a:ext cx="8193024" cy="4681728"/>
          </a:xfrm>
          <a:prstGeom prst="roundRect">
            <a:avLst>
              <a:gd name="adj" fmla="val 1953"/>
            </a:avLst>
          </a:prstGeom>
          <a:solidFill>
            <a:srgbClr val="FFFFFF"/>
          </a:solidFill>
          <a:ln w="19050">
            <a:solidFill>
              <a:srgbClr val="B87A2A"/>
            </a:solidFill>
            <a:prstDash val="solid"/>
          </a:ln>
          <a:effectLst>
            <a:outerShdw sx="100000" sy="100000" kx="0" ky="0" algn="bl" rotWithShape="0" blurRad="177800" dist="50800" dir="2700000">
              <a:srgbClr val="000000">
                <a:alpha val="22000"/>
              </a:srgbClr>
            </a:outerShdw>
          </a:effectLst>
        </p:spPr>
      </p:sp>
      <p:sp>
        <p:nvSpPr>
          <p:cNvPr id="3" name="Shape 1"/>
          <p:cNvSpPr/>
          <p:nvPr/>
        </p:nvSpPr>
        <p:spPr>
          <a:xfrm>
            <a:off x="475488" y="228600"/>
            <a:ext cx="8193024" cy="822960"/>
          </a:xfrm>
          <a:prstGeom prst="roundRect">
            <a:avLst>
              <a:gd name="adj" fmla="val 11111"/>
            </a:avLst>
          </a:prstGeom>
          <a:solidFill>
            <a:srgbClr val="D4943A"/>
          </a:solidFill>
          <a:ln w="12700">
            <a:solidFill>
              <a:srgbClr val="333333"/>
            </a:solidFill>
            <a:prstDash val="solid"/>
          </a:ln>
        </p:spPr>
      </p:sp>
      <p:sp>
        <p:nvSpPr>
          <p:cNvPr id="4" name="Shape 2"/>
          <p:cNvSpPr/>
          <p:nvPr/>
        </p:nvSpPr>
        <p:spPr>
          <a:xfrm>
            <a:off x="475488" y="640080"/>
            <a:ext cx="8193024" cy="411480"/>
          </a:xfrm>
          <a:prstGeom prst="rect">
            <a:avLst/>
          </a:prstGeom>
          <a:solidFill>
            <a:srgbClr val="D4943A"/>
          </a:solidFill>
          <a:ln w="12700">
            <a:solidFill>
              <a:srgbClr val="333333"/>
            </a:solidFill>
            <a:prstDash val="solid"/>
          </a:ln>
        </p:spPr>
      </p:sp>
      <p:sp>
        <p:nvSpPr>
          <p:cNvPr id="5" name="Shape 3"/>
          <p:cNvSpPr/>
          <p:nvPr/>
        </p:nvSpPr>
        <p:spPr>
          <a:xfrm>
            <a:off x="7571232" y="109728"/>
            <a:ext cx="713232" cy="713232"/>
          </a:xfrm>
          <a:prstGeom prst="ellipse">
            <a:avLst/>
          </a:prstGeom>
          <a:solidFill>
            <a:srgbClr val="C7522A"/>
          </a:solidFill>
          <a:ln w="25400">
            <a:solidFill>
              <a:srgbClr val="B87A2A"/>
            </a:solidFill>
            <a:prstDash val="solid"/>
          </a:ln>
          <a:effectLst>
            <a:outerShdw sx="100000" sy="100000" kx="0" ky="0" algn="bl" rotWithShape="0" blurRad="101600" dist="25400" dir="2700000">
              <a:srgbClr val="000000">
                <a:alpha val="10000"/>
              </a:srgbClr>
            </a:outerShdw>
          </a:effectLst>
        </p:spPr>
      </p:sp>
      <p:sp>
        <p:nvSpPr>
          <p:cNvPr id="6" name="Text 4"/>
          <p:cNvSpPr/>
          <p:nvPr/>
        </p:nvSpPr>
        <p:spPr>
          <a:xfrm>
            <a:off x="7571232" y="109728"/>
            <a:ext cx="713232" cy="713232"/>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OAO</a:t>
            </a:r>
            <a:endParaRPr lang="en-US" sz="900" dirty="0"/>
          </a:p>
        </p:txBody>
      </p:sp>
      <p:sp>
        <p:nvSpPr>
          <p:cNvPr id="7" name="Text 5"/>
          <p:cNvSpPr/>
          <p:nvPr/>
        </p:nvSpPr>
        <p:spPr>
          <a:xfrm>
            <a:off x="658368" y="256032"/>
            <a:ext cx="6766560" cy="749808"/>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Museum Memo  —  Curator Training Hall</a:t>
            </a:r>
            <a:endParaRPr lang="en-US" sz="2000" dirty="0"/>
          </a:p>
        </p:txBody>
      </p:sp>
      <p:sp>
        <p:nvSpPr>
          <p:cNvPr id="8" name="Text 6"/>
          <p:cNvSpPr/>
          <p:nvPr/>
        </p:nvSpPr>
        <p:spPr>
          <a:xfrm>
            <a:off x="749808" y="1188720"/>
            <a:ext cx="7644384" cy="3474720"/>
          </a:xfrm>
          <a:prstGeom prst="rect">
            <a:avLst/>
          </a:prstGeom>
          <a:noFill/>
          <a:ln/>
        </p:spPr>
        <p:txBody>
          <a:bodyPr wrap="square" rtlCol="0" anchor="t"/>
          <a:lstStyle/>
          <a:p>
            <a:pPr algn="l" indent="0" marL="0">
              <a:lnSpc>
                <a:spcPct val="150000"/>
              </a:lnSpc>
              <a:buNone/>
            </a:pPr>
            <a:r>
              <a:rPr lang="en-US" sz="1600" b="1" dirty="0">
                <a:solidFill>
                  <a:srgbClr val="0E1C42"/>
                </a:solidFill>
                <a:latin typeface="Calibri" pitchFamily="34" charset="0"/>
                <a:ea typeface="Calibri" pitchFamily="34" charset="-122"/>
                <a:cs typeface="Calibri" pitchFamily="34" charset="-120"/>
              </a:rPr>
              <a:t>Welcome, Junior Curator.
</a:t>
            </a:r>
            <a:endParaRPr lang="en-US" sz="1600" dirty="0"/>
          </a:p>
          <a:p>
            <a:pPr algn="l" indent="0" marL="0">
              <a:lnSpc>
                <a:spcPct val="150000"/>
              </a:lnSpc>
              <a:buNone/>
            </a:pPr>
            <a:r>
              <a:rPr lang="en-US" sz="1400" dirty="0">
                <a:solidFill>
                  <a:srgbClr val="3A4A6B"/>
                </a:solidFill>
                <a:latin typeface="Calibri" pitchFamily="34" charset="0"/>
                <a:ea typeface="Calibri" pitchFamily="34" charset="-122"/>
                <a:cs typeface="Calibri" pitchFamily="34" charset="-120"/>
              </a:rPr>
              <a:t>The Curator Training Hall is open — but the first display case is still empty.</a:t>
            </a:r>
            <a:endParaRPr lang="en-US" sz="1600" dirty="0"/>
          </a:p>
          <a:p>
            <a:pPr algn="l" indent="0" marL="0">
              <a:lnSpc>
                <a:spcPct val="150000"/>
              </a:lnSpc>
              <a:buNone/>
            </a:pPr>
            <a:endParaRPr lang="en-US" sz="1600" dirty="0"/>
          </a:p>
          <a:p>
            <a:pPr algn="l" indent="0" marL="0">
              <a:lnSpc>
                <a:spcPct val="150000"/>
              </a:lnSpc>
              <a:buNone/>
            </a:pPr>
            <a:r>
              <a:rPr lang="en-US" sz="1400" dirty="0">
                <a:solidFill>
                  <a:srgbClr val="3A4A6B"/>
                </a:solidFill>
                <a:latin typeface="Calibri" pitchFamily="34" charset="0"/>
                <a:ea typeface="Calibri" pitchFamily="34" charset="-122"/>
                <a:cs typeface="Calibri" pitchFamily="34" charset="-120"/>
              </a:rPr>
              <a:t>Inside that case: an old photograph, a handwritten letter, a bronze coin, and a hand-drawn map. They all come from the same community. But we don't yet know what they tell us, or how to look at them carefully.</a:t>
            </a:r>
            <a:endParaRPr lang="en-US" sz="1600" dirty="0"/>
          </a:p>
          <a:p>
            <a:pPr algn="l" indent="0" marL="0">
              <a:lnSpc>
                <a:spcPct val="150000"/>
              </a:lnSpc>
              <a:buNone/>
            </a:pPr>
            <a:endParaRPr lang="en-US" sz="1600" dirty="0"/>
          </a:p>
          <a:p>
            <a:pPr algn="l" indent="0" marL="0">
              <a:lnSpc>
                <a:spcPct val="150000"/>
              </a:lnSpc>
              <a:buNone/>
            </a:pPr>
            <a:r>
              <a:rPr lang="en-US" sz="1400" dirty="0">
                <a:solidFill>
                  <a:srgbClr val="3A4A6B"/>
                </a:solidFill>
                <a:latin typeface="Calibri" pitchFamily="34" charset="0"/>
                <a:ea typeface="Calibri" pitchFamily="34" charset="-122"/>
                <a:cs typeface="Calibri" pitchFamily="34" charset="-120"/>
              </a:rPr>
              <a:t>Before visitors arrive, you need to learn the four types of evidence historians use and how to examine each one.</a:t>
            </a:r>
            <a:endParaRPr lang="en-US" sz="1600" dirty="0"/>
          </a:p>
          <a:p>
            <a:pPr algn="l" indent="0" marL="0">
              <a:lnSpc>
                <a:spcPct val="150000"/>
              </a:lnSpc>
              <a:buNone/>
            </a:pPr>
            <a:endParaRPr lang="en-US" sz="1600" dirty="0"/>
          </a:p>
          <a:p>
            <a:pPr algn="l" indent="0" marL="0">
              <a:lnSpc>
                <a:spcPct val="150000"/>
              </a:lnSpc>
              <a:buNone/>
            </a:pPr>
            <a:r>
              <a:rPr lang="en-US" sz="1400" dirty="0">
                <a:solidFill>
                  <a:srgbClr val="3A4A6B"/>
                </a:solidFill>
                <a:latin typeface="Calibri" pitchFamily="34" charset="0"/>
                <a:ea typeface="Calibri" pitchFamily="34" charset="-122"/>
                <a:cs typeface="Calibri" pitchFamily="34" charset="-120"/>
              </a:rPr>
              <a:t>The museum cannot open until the curators are ready.</a:t>
            </a:r>
            <a:endParaRPr lang="en-US" sz="1600" dirty="0"/>
          </a:p>
          <a:p>
            <a:pPr algn="l" indent="0" marL="0">
              <a:lnSpc>
                <a:spcPct val="150000"/>
              </a:lnSpc>
              <a:buNone/>
            </a:pPr>
            <a:endParaRPr lang="en-US" sz="1600" dirty="0"/>
          </a:p>
          <a:p>
            <a:pPr algn="l" indent="0" marL="0">
              <a:lnSpc>
                <a:spcPct val="150000"/>
              </a:lnSpc>
              <a:buNone/>
            </a:pPr>
            <a:r>
              <a:rPr lang="en-US" sz="1400" dirty="0">
                <a:solidFill>
                  <a:srgbClr val="3A4A6B"/>
                </a:solidFill>
                <a:latin typeface="Calibri" pitchFamily="34" charset="0"/>
                <a:ea typeface="Calibri" pitchFamily="34" charset="-122"/>
                <a:cs typeface="Calibri" pitchFamily="34" charset="-120"/>
              </a:rPr>
              <a:t>Today, you get ready.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01F"/>
        </a:solidFill>
      </p:bgPr>
    </p:bg>
    <p:spTree>
      <p:nvGrpSpPr>
        <p:cNvPr id="1" name=""/>
        <p:cNvGrpSpPr/>
        <p:nvPr/>
      </p:nvGrpSpPr>
      <p:grpSpPr>
        <a:xfrm>
          <a:off x="0" y="0"/>
          <a:ext cx="0" cy="0"/>
          <a:chOff x="0" y="0"/>
          <a:chExt cx="0" cy="0"/>
        </a:xfrm>
      </p:grpSpPr>
      <p:sp>
        <p:nvSpPr>
          <p:cNvPr id="2" name="Shape 0"/>
          <p:cNvSpPr/>
          <p:nvPr/>
        </p:nvSpPr>
        <p:spPr>
          <a:xfrm>
            <a:off x="914400" y="-2011680"/>
            <a:ext cx="7315200" cy="4572000"/>
          </a:xfrm>
          <a:prstGeom prst="ellipse">
            <a:avLst/>
          </a:prstGeom>
          <a:solidFill>
            <a:srgbClr val="D4943A">
              <a:alpha val="12000"/>
            </a:srgbClr>
          </a:solidFill>
          <a:ln w="12700">
            <a:solidFill>
              <a:srgbClr val="333333"/>
            </a:solidFill>
            <a:prstDash val="solid"/>
          </a:ln>
        </p:spPr>
      </p:sp>
      <p:sp>
        <p:nvSpPr>
          <p:cNvPr id="3" name="Shape 1"/>
          <p:cNvSpPr/>
          <p:nvPr/>
        </p:nvSpPr>
        <p:spPr>
          <a:xfrm>
            <a:off x="1097280" y="0"/>
            <a:ext cx="0" cy="5148072"/>
          </a:xfrm>
          <a:prstGeom prst="line">
            <a:avLst/>
          </a:prstGeom>
          <a:noFill/>
          <a:ln w="5080">
            <a:solidFill>
              <a:srgbClr val="FFFFFF">
                <a:alpha val="6000"/>
              </a:srgbClr>
            </a:solidFill>
            <a:prstDash val="solid"/>
          </a:ln>
        </p:spPr>
      </p:sp>
      <p:sp>
        <p:nvSpPr>
          <p:cNvPr id="4" name="Shape 2"/>
          <p:cNvSpPr/>
          <p:nvPr/>
        </p:nvSpPr>
        <p:spPr>
          <a:xfrm>
            <a:off x="2377440" y="0"/>
            <a:ext cx="0" cy="5148072"/>
          </a:xfrm>
          <a:prstGeom prst="line">
            <a:avLst/>
          </a:prstGeom>
          <a:noFill/>
          <a:ln w="5080">
            <a:solidFill>
              <a:srgbClr val="FFFFFF">
                <a:alpha val="6000"/>
              </a:srgbClr>
            </a:solidFill>
            <a:prstDash val="solid"/>
          </a:ln>
        </p:spPr>
      </p:sp>
      <p:sp>
        <p:nvSpPr>
          <p:cNvPr id="5" name="Shape 3"/>
          <p:cNvSpPr/>
          <p:nvPr/>
        </p:nvSpPr>
        <p:spPr>
          <a:xfrm>
            <a:off x="3657600" y="0"/>
            <a:ext cx="0" cy="5148072"/>
          </a:xfrm>
          <a:prstGeom prst="line">
            <a:avLst/>
          </a:prstGeom>
          <a:noFill/>
          <a:ln w="5080">
            <a:solidFill>
              <a:srgbClr val="FFFFFF">
                <a:alpha val="6000"/>
              </a:srgbClr>
            </a:solidFill>
            <a:prstDash val="solid"/>
          </a:ln>
        </p:spPr>
      </p:sp>
      <p:sp>
        <p:nvSpPr>
          <p:cNvPr id="6" name="Shape 4"/>
          <p:cNvSpPr/>
          <p:nvPr/>
        </p:nvSpPr>
        <p:spPr>
          <a:xfrm>
            <a:off x="4937760" y="0"/>
            <a:ext cx="0" cy="5148072"/>
          </a:xfrm>
          <a:prstGeom prst="line">
            <a:avLst/>
          </a:prstGeom>
          <a:noFill/>
          <a:ln w="5080">
            <a:solidFill>
              <a:srgbClr val="FFFFFF">
                <a:alpha val="6000"/>
              </a:srgbClr>
            </a:solidFill>
            <a:prstDash val="solid"/>
          </a:ln>
        </p:spPr>
      </p:sp>
      <p:sp>
        <p:nvSpPr>
          <p:cNvPr id="7" name="Shape 5"/>
          <p:cNvSpPr/>
          <p:nvPr/>
        </p:nvSpPr>
        <p:spPr>
          <a:xfrm>
            <a:off x="6217920" y="0"/>
            <a:ext cx="0" cy="5148072"/>
          </a:xfrm>
          <a:prstGeom prst="line">
            <a:avLst/>
          </a:prstGeom>
          <a:noFill/>
          <a:ln w="5080">
            <a:solidFill>
              <a:srgbClr val="FFFFFF">
                <a:alpha val="6000"/>
              </a:srgbClr>
            </a:solidFill>
            <a:prstDash val="solid"/>
          </a:ln>
        </p:spPr>
      </p:sp>
      <p:sp>
        <p:nvSpPr>
          <p:cNvPr id="8" name="Shape 6"/>
          <p:cNvSpPr/>
          <p:nvPr/>
        </p:nvSpPr>
        <p:spPr>
          <a:xfrm>
            <a:off x="7498080" y="0"/>
            <a:ext cx="0" cy="5148072"/>
          </a:xfrm>
          <a:prstGeom prst="line">
            <a:avLst/>
          </a:prstGeom>
          <a:noFill/>
          <a:ln w="5080">
            <a:solidFill>
              <a:srgbClr val="FFFFFF">
                <a:alpha val="6000"/>
              </a:srgbClr>
            </a:solidFill>
            <a:prstDash val="solid"/>
          </a:ln>
        </p:spPr>
      </p:sp>
      <p:sp>
        <p:nvSpPr>
          <p:cNvPr id="9" name="Text 7"/>
          <p:cNvSpPr/>
          <p:nvPr/>
        </p:nvSpPr>
        <p:spPr>
          <a:xfrm>
            <a:off x="457200" y="164592"/>
            <a:ext cx="8229600" cy="530352"/>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The First Gallery</a:t>
            </a:r>
            <a:endParaRPr lang="en-US" sz="2800" dirty="0"/>
          </a:p>
        </p:txBody>
      </p:sp>
      <p:sp>
        <p:nvSpPr>
          <p:cNvPr id="10" name="Text 8"/>
          <p:cNvSpPr/>
          <p:nvPr/>
        </p:nvSpPr>
        <p:spPr>
          <a:xfrm>
            <a:off x="731520" y="694944"/>
            <a:ext cx="7680960" cy="329184"/>
          </a:xfrm>
          <a:prstGeom prst="rect">
            <a:avLst/>
          </a:prstGeom>
          <a:noFill/>
          <a:ln/>
        </p:spPr>
        <p:txBody>
          <a:bodyPr wrap="square" lIns="0" tIns="0" rIns="0" bIns="0" rtlCol="0" anchor="ctr"/>
          <a:lstStyle/>
          <a:p>
            <a:pPr algn="ctr" indent="0" marL="0">
              <a:buNone/>
            </a:pPr>
            <a:r>
              <a:rPr lang="en-US" sz="1300" i="1" dirty="0">
                <a:solidFill>
                  <a:srgbClr val="C8A84B"/>
                </a:solidFill>
                <a:latin typeface="Calibri" pitchFamily="34" charset="0"/>
                <a:ea typeface="Calibri" pitchFamily="34" charset="-122"/>
                <a:cs typeface="Calibri" pitchFamily="34" charset="-120"/>
              </a:rPr>
              <a:t>Four objects wait in the display cases. Look closely.</a:t>
            </a:r>
            <a:endParaRPr lang="en-US" sz="1300" dirty="0"/>
          </a:p>
        </p:txBody>
      </p:sp>
      <p:sp>
        <p:nvSpPr>
          <p:cNvPr id="11" name="Shape 9"/>
          <p:cNvSpPr/>
          <p:nvPr/>
        </p:nvSpPr>
        <p:spPr>
          <a:xfrm>
            <a:off x="338328" y="1014984"/>
            <a:ext cx="4041648" cy="1737360"/>
          </a:xfrm>
          <a:prstGeom prst="roundRect">
            <a:avLst>
              <a:gd name="adj" fmla="val 7368"/>
            </a:avLst>
          </a:prstGeom>
          <a:solidFill>
            <a:srgbClr val="C7522A">
              <a:alpha val="32000"/>
            </a:srgbClr>
          </a:solidFill>
          <a:ln w="12700">
            <a:solidFill>
              <a:srgbClr val="333333"/>
            </a:solidFill>
            <a:prstDash val="solid"/>
          </a:ln>
        </p:spPr>
      </p:sp>
      <p:sp>
        <p:nvSpPr>
          <p:cNvPr id="12" name="Shape 10"/>
          <p:cNvSpPr/>
          <p:nvPr/>
        </p:nvSpPr>
        <p:spPr>
          <a:xfrm>
            <a:off x="402336" y="1078992"/>
            <a:ext cx="3913632" cy="1609344"/>
          </a:xfrm>
          <a:prstGeom prst="roundRect">
            <a:avLst>
              <a:gd name="adj" fmla="val 5114"/>
            </a:avLst>
          </a:prstGeom>
          <a:solidFill>
            <a:srgbClr val="07101F"/>
          </a:solidFill>
          <a:ln w="27940">
            <a:solidFill>
              <a:srgbClr val="C7522A"/>
            </a:solidFill>
            <a:prstDash val="solid"/>
          </a:ln>
          <a:effectLst>
            <a:outerShdw sx="100000" sy="100000" kx="0" ky="0" algn="bl" rotWithShape="0" blurRad="177800" dist="50800" dir="2700000">
              <a:srgbClr val="000000">
                <a:alpha val="22000"/>
              </a:srgbClr>
            </a:outerShdw>
          </a:effectLst>
        </p:spPr>
      </p:sp>
      <p:sp>
        <p:nvSpPr>
          <p:cNvPr id="13" name="Shape 11"/>
          <p:cNvSpPr/>
          <p:nvPr/>
        </p:nvSpPr>
        <p:spPr>
          <a:xfrm>
            <a:off x="637154" y="1143366"/>
            <a:ext cx="3443996" cy="997793"/>
          </a:xfrm>
          <a:prstGeom prst="ellipse">
            <a:avLst/>
          </a:prstGeom>
          <a:solidFill>
            <a:srgbClr val="D4943A">
              <a:alpha val="17000"/>
            </a:srgbClr>
          </a:solidFill>
          <a:ln w="12700">
            <a:solidFill>
              <a:srgbClr val="333333"/>
            </a:solidFill>
            <a:prstDash val="solid"/>
          </a:ln>
        </p:spPr>
      </p:sp>
      <p:sp>
        <p:nvSpPr>
          <p:cNvPr id="14" name="Shape 12"/>
          <p:cNvSpPr/>
          <p:nvPr/>
        </p:nvSpPr>
        <p:spPr>
          <a:xfrm>
            <a:off x="1394833" y="1362880"/>
            <a:ext cx="1928638" cy="558764"/>
          </a:xfrm>
          <a:prstGeom prst="ellipse">
            <a:avLst/>
          </a:prstGeom>
          <a:solidFill>
            <a:srgbClr val="D4943A">
              <a:alpha val="27000"/>
            </a:srgbClr>
          </a:solidFill>
          <a:ln w="12700">
            <a:solidFill>
              <a:srgbClr val="333333"/>
            </a:solidFill>
            <a:prstDash val="solid"/>
          </a:ln>
        </p:spPr>
      </p:sp>
      <p:sp>
        <p:nvSpPr>
          <p:cNvPr id="15" name="Text 13"/>
          <p:cNvSpPr/>
          <p:nvPr/>
        </p:nvSpPr>
        <p:spPr>
          <a:xfrm>
            <a:off x="402336" y="1152144"/>
            <a:ext cx="3913632" cy="965606"/>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16" name="Shape 14"/>
          <p:cNvSpPr/>
          <p:nvPr/>
        </p:nvSpPr>
        <p:spPr>
          <a:xfrm>
            <a:off x="530352" y="2212848"/>
            <a:ext cx="3657600" cy="384048"/>
          </a:xfrm>
          <a:prstGeom prst="roundRect">
            <a:avLst>
              <a:gd name="adj" fmla="val 11905"/>
            </a:avLst>
          </a:prstGeom>
          <a:solidFill>
            <a:srgbClr val="F5EDD8"/>
          </a:solidFill>
          <a:ln w="12700">
            <a:solidFill>
              <a:srgbClr val="C8A84B"/>
            </a:solidFill>
            <a:prstDash val="solid"/>
          </a:ln>
        </p:spPr>
      </p:sp>
      <p:sp>
        <p:nvSpPr>
          <p:cNvPr id="17" name="Text 15"/>
          <p:cNvSpPr/>
          <p:nvPr/>
        </p:nvSpPr>
        <p:spPr>
          <a:xfrm>
            <a:off x="530352" y="2212848"/>
            <a:ext cx="3657600" cy="384048"/>
          </a:xfrm>
          <a:prstGeom prst="rect">
            <a:avLst/>
          </a:prstGeom>
          <a:noFill/>
          <a:ln/>
        </p:spPr>
        <p:txBody>
          <a:bodyPr wrap="square" lIns="0" tIns="0" rIns="0" bIns="0" rtlCol="0" anchor="ctr"/>
          <a:lstStyle/>
          <a:p>
            <a:pPr algn="ctr" indent="0" marL="0">
              <a:buNone/>
            </a:pPr>
            <a:r>
              <a:rPr lang="en-US" sz="1150" b="1" dirty="0">
                <a:solidFill>
                  <a:srgbClr val="0E1C42"/>
                </a:solidFill>
                <a:latin typeface="Cambria" pitchFamily="34" charset="0"/>
                <a:ea typeface="Cambria" pitchFamily="34" charset="-122"/>
                <a:cs typeface="Cambria" pitchFamily="34" charset="-120"/>
              </a:rPr>
              <a:t>Bronze Coin</a:t>
            </a:r>
            <a:endParaRPr lang="en-US" sz="1150" dirty="0"/>
          </a:p>
        </p:txBody>
      </p:sp>
      <p:sp>
        <p:nvSpPr>
          <p:cNvPr id="18" name="Shape 16"/>
          <p:cNvSpPr/>
          <p:nvPr/>
        </p:nvSpPr>
        <p:spPr>
          <a:xfrm>
            <a:off x="512064" y="1188720"/>
            <a:ext cx="347472" cy="347472"/>
          </a:xfrm>
          <a:prstGeom prst="ellipse">
            <a:avLst/>
          </a:prstGeom>
          <a:solidFill>
            <a:srgbClr val="C7522A"/>
          </a:solidFill>
          <a:ln w="19050">
            <a:solidFill>
              <a:srgbClr val="C8A84B"/>
            </a:solidFill>
            <a:prstDash val="solid"/>
          </a:ln>
        </p:spPr>
      </p:sp>
      <p:sp>
        <p:nvSpPr>
          <p:cNvPr id="19" name="Text 17"/>
          <p:cNvSpPr/>
          <p:nvPr/>
        </p:nvSpPr>
        <p:spPr>
          <a:xfrm>
            <a:off x="512064" y="11887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20" name="Shape 18"/>
          <p:cNvSpPr/>
          <p:nvPr/>
        </p:nvSpPr>
        <p:spPr>
          <a:xfrm>
            <a:off x="4764024" y="1014984"/>
            <a:ext cx="4041648" cy="1737360"/>
          </a:xfrm>
          <a:prstGeom prst="roundRect">
            <a:avLst>
              <a:gd name="adj" fmla="val 7368"/>
            </a:avLst>
          </a:prstGeom>
          <a:solidFill>
            <a:srgbClr val="1A8A7D">
              <a:alpha val="32000"/>
            </a:srgbClr>
          </a:solidFill>
          <a:ln w="12700">
            <a:solidFill>
              <a:srgbClr val="333333"/>
            </a:solidFill>
            <a:prstDash val="solid"/>
          </a:ln>
        </p:spPr>
      </p:sp>
      <p:sp>
        <p:nvSpPr>
          <p:cNvPr id="21" name="Shape 19"/>
          <p:cNvSpPr/>
          <p:nvPr/>
        </p:nvSpPr>
        <p:spPr>
          <a:xfrm>
            <a:off x="4828032" y="1078992"/>
            <a:ext cx="3913632" cy="1609344"/>
          </a:xfrm>
          <a:prstGeom prst="roundRect">
            <a:avLst>
              <a:gd name="adj" fmla="val 5114"/>
            </a:avLst>
          </a:prstGeom>
          <a:solidFill>
            <a:srgbClr val="07101F"/>
          </a:solidFill>
          <a:ln w="27940">
            <a:solidFill>
              <a:srgbClr val="1A8A7D"/>
            </a:solidFill>
            <a:prstDash val="solid"/>
          </a:ln>
          <a:effectLst>
            <a:outerShdw sx="100000" sy="100000" kx="0" ky="0" algn="bl" rotWithShape="0" blurRad="177800" dist="50800" dir="2700000">
              <a:srgbClr val="000000">
                <a:alpha val="22000"/>
              </a:srgbClr>
            </a:outerShdw>
          </a:effectLst>
        </p:spPr>
      </p:sp>
      <p:sp>
        <p:nvSpPr>
          <p:cNvPr id="22" name="Shape 20"/>
          <p:cNvSpPr/>
          <p:nvPr/>
        </p:nvSpPr>
        <p:spPr>
          <a:xfrm>
            <a:off x="5062850" y="1143366"/>
            <a:ext cx="3443996" cy="997793"/>
          </a:xfrm>
          <a:prstGeom prst="ellipse">
            <a:avLst/>
          </a:prstGeom>
          <a:solidFill>
            <a:srgbClr val="D4943A">
              <a:alpha val="17000"/>
            </a:srgbClr>
          </a:solidFill>
          <a:ln w="12700">
            <a:solidFill>
              <a:srgbClr val="333333"/>
            </a:solidFill>
            <a:prstDash val="solid"/>
          </a:ln>
        </p:spPr>
      </p:sp>
      <p:sp>
        <p:nvSpPr>
          <p:cNvPr id="23" name="Shape 21"/>
          <p:cNvSpPr/>
          <p:nvPr/>
        </p:nvSpPr>
        <p:spPr>
          <a:xfrm>
            <a:off x="5820529" y="1362880"/>
            <a:ext cx="1928638" cy="558764"/>
          </a:xfrm>
          <a:prstGeom prst="ellipse">
            <a:avLst/>
          </a:prstGeom>
          <a:solidFill>
            <a:srgbClr val="D4943A">
              <a:alpha val="27000"/>
            </a:srgbClr>
          </a:solidFill>
          <a:ln w="12700">
            <a:solidFill>
              <a:srgbClr val="333333"/>
            </a:solidFill>
            <a:prstDash val="solid"/>
          </a:ln>
        </p:spPr>
      </p:sp>
      <p:sp>
        <p:nvSpPr>
          <p:cNvPr id="24" name="Text 22"/>
          <p:cNvSpPr/>
          <p:nvPr/>
        </p:nvSpPr>
        <p:spPr>
          <a:xfrm>
            <a:off x="4828032" y="1152144"/>
            <a:ext cx="3913632" cy="965606"/>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25" name="Shape 23"/>
          <p:cNvSpPr/>
          <p:nvPr/>
        </p:nvSpPr>
        <p:spPr>
          <a:xfrm>
            <a:off x="4956048" y="2212848"/>
            <a:ext cx="3657600" cy="384048"/>
          </a:xfrm>
          <a:prstGeom prst="roundRect">
            <a:avLst>
              <a:gd name="adj" fmla="val 11905"/>
            </a:avLst>
          </a:prstGeom>
          <a:solidFill>
            <a:srgbClr val="F5EDD8"/>
          </a:solidFill>
          <a:ln w="12700">
            <a:solidFill>
              <a:srgbClr val="C8A84B"/>
            </a:solidFill>
            <a:prstDash val="solid"/>
          </a:ln>
        </p:spPr>
      </p:sp>
      <p:sp>
        <p:nvSpPr>
          <p:cNvPr id="26" name="Text 24"/>
          <p:cNvSpPr/>
          <p:nvPr/>
        </p:nvSpPr>
        <p:spPr>
          <a:xfrm>
            <a:off x="4956048" y="2212848"/>
            <a:ext cx="3657600" cy="384048"/>
          </a:xfrm>
          <a:prstGeom prst="rect">
            <a:avLst/>
          </a:prstGeom>
          <a:noFill/>
          <a:ln/>
        </p:spPr>
        <p:txBody>
          <a:bodyPr wrap="square" lIns="0" tIns="0" rIns="0" bIns="0" rtlCol="0" anchor="ctr"/>
          <a:lstStyle/>
          <a:p>
            <a:pPr algn="ctr" indent="0" marL="0">
              <a:buNone/>
            </a:pPr>
            <a:r>
              <a:rPr lang="en-US" sz="1150" b="1" dirty="0">
                <a:solidFill>
                  <a:srgbClr val="0E1C42"/>
                </a:solidFill>
                <a:latin typeface="Cambria" pitchFamily="34" charset="0"/>
                <a:ea typeface="Cambria" pitchFamily="34" charset="-122"/>
                <a:cs typeface="Cambria" pitchFamily="34" charset="-120"/>
              </a:rPr>
              <a:t>Hand-Drawn Map</a:t>
            </a:r>
            <a:endParaRPr lang="en-US" sz="1150" dirty="0"/>
          </a:p>
        </p:txBody>
      </p:sp>
      <p:sp>
        <p:nvSpPr>
          <p:cNvPr id="27" name="Shape 25"/>
          <p:cNvSpPr/>
          <p:nvPr/>
        </p:nvSpPr>
        <p:spPr>
          <a:xfrm>
            <a:off x="4937760" y="1188720"/>
            <a:ext cx="347472" cy="347472"/>
          </a:xfrm>
          <a:prstGeom prst="ellipse">
            <a:avLst/>
          </a:prstGeom>
          <a:solidFill>
            <a:srgbClr val="1A8A7D"/>
          </a:solidFill>
          <a:ln w="19050">
            <a:solidFill>
              <a:srgbClr val="C8A84B"/>
            </a:solidFill>
            <a:prstDash val="solid"/>
          </a:ln>
        </p:spPr>
      </p:sp>
      <p:sp>
        <p:nvSpPr>
          <p:cNvPr id="28" name="Text 26"/>
          <p:cNvSpPr/>
          <p:nvPr/>
        </p:nvSpPr>
        <p:spPr>
          <a:xfrm>
            <a:off x="4937760" y="11887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9" name="Shape 27"/>
          <p:cNvSpPr/>
          <p:nvPr/>
        </p:nvSpPr>
        <p:spPr>
          <a:xfrm>
            <a:off x="338328" y="2825496"/>
            <a:ext cx="4041648" cy="1737360"/>
          </a:xfrm>
          <a:prstGeom prst="roundRect">
            <a:avLst>
              <a:gd name="adj" fmla="val 7368"/>
            </a:avLst>
          </a:prstGeom>
          <a:solidFill>
            <a:srgbClr val="B87A2A">
              <a:alpha val="32000"/>
            </a:srgbClr>
          </a:solidFill>
          <a:ln w="12700">
            <a:solidFill>
              <a:srgbClr val="333333"/>
            </a:solidFill>
            <a:prstDash val="solid"/>
          </a:ln>
        </p:spPr>
      </p:sp>
      <p:sp>
        <p:nvSpPr>
          <p:cNvPr id="30" name="Shape 28"/>
          <p:cNvSpPr/>
          <p:nvPr/>
        </p:nvSpPr>
        <p:spPr>
          <a:xfrm>
            <a:off x="402336" y="2889504"/>
            <a:ext cx="3913632" cy="1609344"/>
          </a:xfrm>
          <a:prstGeom prst="roundRect">
            <a:avLst>
              <a:gd name="adj" fmla="val 5114"/>
            </a:avLst>
          </a:prstGeom>
          <a:solidFill>
            <a:srgbClr val="07101F"/>
          </a:solidFill>
          <a:ln w="27940">
            <a:solidFill>
              <a:srgbClr val="B87A2A"/>
            </a:solidFill>
            <a:prstDash val="solid"/>
          </a:ln>
          <a:effectLst>
            <a:outerShdw sx="100000" sy="100000" kx="0" ky="0" algn="bl" rotWithShape="0" blurRad="177800" dist="50800" dir="2700000">
              <a:srgbClr val="000000">
                <a:alpha val="22000"/>
              </a:srgbClr>
            </a:outerShdw>
          </a:effectLst>
        </p:spPr>
      </p:sp>
      <p:sp>
        <p:nvSpPr>
          <p:cNvPr id="31" name="Shape 29"/>
          <p:cNvSpPr/>
          <p:nvPr/>
        </p:nvSpPr>
        <p:spPr>
          <a:xfrm>
            <a:off x="637154" y="2953878"/>
            <a:ext cx="3443996" cy="997793"/>
          </a:xfrm>
          <a:prstGeom prst="ellipse">
            <a:avLst/>
          </a:prstGeom>
          <a:solidFill>
            <a:srgbClr val="D4943A">
              <a:alpha val="17000"/>
            </a:srgbClr>
          </a:solidFill>
          <a:ln w="12700">
            <a:solidFill>
              <a:srgbClr val="333333"/>
            </a:solidFill>
            <a:prstDash val="solid"/>
          </a:ln>
        </p:spPr>
      </p:sp>
      <p:sp>
        <p:nvSpPr>
          <p:cNvPr id="32" name="Shape 30"/>
          <p:cNvSpPr/>
          <p:nvPr/>
        </p:nvSpPr>
        <p:spPr>
          <a:xfrm>
            <a:off x="1394833" y="3173392"/>
            <a:ext cx="1928638" cy="558764"/>
          </a:xfrm>
          <a:prstGeom prst="ellipse">
            <a:avLst/>
          </a:prstGeom>
          <a:solidFill>
            <a:srgbClr val="D4943A">
              <a:alpha val="27000"/>
            </a:srgbClr>
          </a:solidFill>
          <a:ln w="12700">
            <a:solidFill>
              <a:srgbClr val="333333"/>
            </a:solidFill>
            <a:prstDash val="solid"/>
          </a:ln>
        </p:spPr>
      </p:sp>
      <p:sp>
        <p:nvSpPr>
          <p:cNvPr id="33" name="Text 31"/>
          <p:cNvSpPr/>
          <p:nvPr/>
        </p:nvSpPr>
        <p:spPr>
          <a:xfrm>
            <a:off x="402336" y="2962656"/>
            <a:ext cx="3913632" cy="965606"/>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34" name="Shape 32"/>
          <p:cNvSpPr/>
          <p:nvPr/>
        </p:nvSpPr>
        <p:spPr>
          <a:xfrm>
            <a:off x="530352" y="4023360"/>
            <a:ext cx="3657600" cy="384048"/>
          </a:xfrm>
          <a:prstGeom prst="roundRect">
            <a:avLst>
              <a:gd name="adj" fmla="val 11905"/>
            </a:avLst>
          </a:prstGeom>
          <a:solidFill>
            <a:srgbClr val="F5EDD8"/>
          </a:solidFill>
          <a:ln w="12700">
            <a:solidFill>
              <a:srgbClr val="C8A84B"/>
            </a:solidFill>
            <a:prstDash val="solid"/>
          </a:ln>
        </p:spPr>
      </p:sp>
      <p:sp>
        <p:nvSpPr>
          <p:cNvPr id="35" name="Text 33"/>
          <p:cNvSpPr/>
          <p:nvPr/>
        </p:nvSpPr>
        <p:spPr>
          <a:xfrm>
            <a:off x="530352" y="4023360"/>
            <a:ext cx="3657600" cy="384048"/>
          </a:xfrm>
          <a:prstGeom prst="rect">
            <a:avLst/>
          </a:prstGeom>
          <a:noFill/>
          <a:ln/>
        </p:spPr>
        <p:txBody>
          <a:bodyPr wrap="square" lIns="0" tIns="0" rIns="0" bIns="0" rtlCol="0" anchor="ctr"/>
          <a:lstStyle/>
          <a:p>
            <a:pPr algn="ctr" indent="0" marL="0">
              <a:buNone/>
            </a:pPr>
            <a:r>
              <a:rPr lang="en-US" sz="1150" b="1" dirty="0">
                <a:solidFill>
                  <a:srgbClr val="0E1C42"/>
                </a:solidFill>
                <a:latin typeface="Cambria" pitchFamily="34" charset="0"/>
                <a:ea typeface="Cambria" pitchFamily="34" charset="-122"/>
                <a:cs typeface="Cambria" pitchFamily="34" charset="-120"/>
              </a:rPr>
              <a:t>Handwritten Letter</a:t>
            </a:r>
            <a:endParaRPr lang="en-US" sz="1150" dirty="0"/>
          </a:p>
        </p:txBody>
      </p:sp>
      <p:sp>
        <p:nvSpPr>
          <p:cNvPr id="36" name="Shape 34"/>
          <p:cNvSpPr/>
          <p:nvPr/>
        </p:nvSpPr>
        <p:spPr>
          <a:xfrm>
            <a:off x="512064" y="2999232"/>
            <a:ext cx="347472" cy="347472"/>
          </a:xfrm>
          <a:prstGeom prst="ellipse">
            <a:avLst/>
          </a:prstGeom>
          <a:solidFill>
            <a:srgbClr val="B87A2A"/>
          </a:solidFill>
          <a:ln w="19050">
            <a:solidFill>
              <a:srgbClr val="C8A84B"/>
            </a:solidFill>
            <a:prstDash val="solid"/>
          </a:ln>
        </p:spPr>
      </p:sp>
      <p:sp>
        <p:nvSpPr>
          <p:cNvPr id="37" name="Text 35"/>
          <p:cNvSpPr/>
          <p:nvPr/>
        </p:nvSpPr>
        <p:spPr>
          <a:xfrm>
            <a:off x="512064" y="29992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38" name="Shape 36"/>
          <p:cNvSpPr/>
          <p:nvPr/>
        </p:nvSpPr>
        <p:spPr>
          <a:xfrm>
            <a:off x="4764024" y="2825496"/>
            <a:ext cx="4041648" cy="1737360"/>
          </a:xfrm>
          <a:prstGeom prst="roundRect">
            <a:avLst>
              <a:gd name="adj" fmla="val 7368"/>
            </a:avLst>
          </a:prstGeom>
          <a:solidFill>
            <a:srgbClr val="6B4A9B">
              <a:alpha val="32000"/>
            </a:srgbClr>
          </a:solidFill>
          <a:ln w="12700">
            <a:solidFill>
              <a:srgbClr val="333333"/>
            </a:solidFill>
            <a:prstDash val="solid"/>
          </a:ln>
        </p:spPr>
      </p:sp>
      <p:sp>
        <p:nvSpPr>
          <p:cNvPr id="39" name="Shape 37"/>
          <p:cNvSpPr/>
          <p:nvPr/>
        </p:nvSpPr>
        <p:spPr>
          <a:xfrm>
            <a:off x="4828032" y="2889504"/>
            <a:ext cx="3913632" cy="1609344"/>
          </a:xfrm>
          <a:prstGeom prst="roundRect">
            <a:avLst>
              <a:gd name="adj" fmla="val 5114"/>
            </a:avLst>
          </a:prstGeom>
          <a:solidFill>
            <a:srgbClr val="07101F"/>
          </a:solidFill>
          <a:ln w="27940">
            <a:solidFill>
              <a:srgbClr val="6B4A9B"/>
            </a:solidFill>
            <a:prstDash val="solid"/>
          </a:ln>
          <a:effectLst>
            <a:outerShdw sx="100000" sy="100000" kx="0" ky="0" algn="bl" rotWithShape="0" blurRad="177800" dist="50800" dir="2700000">
              <a:srgbClr val="000000">
                <a:alpha val="22000"/>
              </a:srgbClr>
            </a:outerShdw>
          </a:effectLst>
        </p:spPr>
      </p:sp>
      <p:sp>
        <p:nvSpPr>
          <p:cNvPr id="40" name="Shape 38"/>
          <p:cNvSpPr/>
          <p:nvPr/>
        </p:nvSpPr>
        <p:spPr>
          <a:xfrm>
            <a:off x="5062850" y="2953878"/>
            <a:ext cx="3443996" cy="997793"/>
          </a:xfrm>
          <a:prstGeom prst="ellipse">
            <a:avLst/>
          </a:prstGeom>
          <a:solidFill>
            <a:srgbClr val="D4943A">
              <a:alpha val="17000"/>
            </a:srgbClr>
          </a:solidFill>
          <a:ln w="12700">
            <a:solidFill>
              <a:srgbClr val="333333"/>
            </a:solidFill>
            <a:prstDash val="solid"/>
          </a:ln>
        </p:spPr>
      </p:sp>
      <p:sp>
        <p:nvSpPr>
          <p:cNvPr id="41" name="Shape 39"/>
          <p:cNvSpPr/>
          <p:nvPr/>
        </p:nvSpPr>
        <p:spPr>
          <a:xfrm>
            <a:off x="5820529" y="3173392"/>
            <a:ext cx="1928638" cy="558764"/>
          </a:xfrm>
          <a:prstGeom prst="ellipse">
            <a:avLst/>
          </a:prstGeom>
          <a:solidFill>
            <a:srgbClr val="D4943A">
              <a:alpha val="27000"/>
            </a:srgbClr>
          </a:solidFill>
          <a:ln w="12700">
            <a:solidFill>
              <a:srgbClr val="333333"/>
            </a:solidFill>
            <a:prstDash val="solid"/>
          </a:ln>
        </p:spPr>
      </p:sp>
      <p:sp>
        <p:nvSpPr>
          <p:cNvPr id="42" name="Text 40"/>
          <p:cNvSpPr/>
          <p:nvPr/>
        </p:nvSpPr>
        <p:spPr>
          <a:xfrm>
            <a:off x="4828032" y="2962656"/>
            <a:ext cx="3913632" cy="965606"/>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43" name="Shape 41"/>
          <p:cNvSpPr/>
          <p:nvPr/>
        </p:nvSpPr>
        <p:spPr>
          <a:xfrm>
            <a:off x="4956048" y="4023360"/>
            <a:ext cx="3657600" cy="384048"/>
          </a:xfrm>
          <a:prstGeom prst="roundRect">
            <a:avLst>
              <a:gd name="adj" fmla="val 11905"/>
            </a:avLst>
          </a:prstGeom>
          <a:solidFill>
            <a:srgbClr val="F5EDD8"/>
          </a:solidFill>
          <a:ln w="12700">
            <a:solidFill>
              <a:srgbClr val="C8A84B"/>
            </a:solidFill>
            <a:prstDash val="solid"/>
          </a:ln>
        </p:spPr>
      </p:sp>
      <p:sp>
        <p:nvSpPr>
          <p:cNvPr id="44" name="Text 42"/>
          <p:cNvSpPr/>
          <p:nvPr/>
        </p:nvSpPr>
        <p:spPr>
          <a:xfrm>
            <a:off x="4956048" y="4023360"/>
            <a:ext cx="3657600" cy="384048"/>
          </a:xfrm>
          <a:prstGeom prst="rect">
            <a:avLst/>
          </a:prstGeom>
          <a:noFill/>
          <a:ln/>
        </p:spPr>
        <p:txBody>
          <a:bodyPr wrap="square" lIns="0" tIns="0" rIns="0" bIns="0" rtlCol="0" anchor="ctr"/>
          <a:lstStyle/>
          <a:p>
            <a:pPr algn="ctr" indent="0" marL="0">
              <a:buNone/>
            </a:pPr>
            <a:r>
              <a:rPr lang="en-US" sz="1150" b="1" dirty="0">
                <a:solidFill>
                  <a:srgbClr val="0E1C42"/>
                </a:solidFill>
                <a:latin typeface="Cambria" pitchFamily="34" charset="0"/>
                <a:ea typeface="Cambria" pitchFamily="34" charset="-122"/>
                <a:cs typeface="Cambria" pitchFamily="34" charset="-120"/>
              </a:rPr>
              <a:t>Old Photograph</a:t>
            </a:r>
            <a:endParaRPr lang="en-US" sz="1150" dirty="0"/>
          </a:p>
        </p:txBody>
      </p:sp>
      <p:sp>
        <p:nvSpPr>
          <p:cNvPr id="45" name="Shape 43"/>
          <p:cNvSpPr/>
          <p:nvPr/>
        </p:nvSpPr>
        <p:spPr>
          <a:xfrm>
            <a:off x="4937760" y="2999232"/>
            <a:ext cx="347472" cy="347472"/>
          </a:xfrm>
          <a:prstGeom prst="ellipse">
            <a:avLst/>
          </a:prstGeom>
          <a:solidFill>
            <a:srgbClr val="6B4A9B"/>
          </a:solidFill>
          <a:ln w="19050">
            <a:solidFill>
              <a:srgbClr val="C8A84B"/>
            </a:solidFill>
            <a:prstDash val="solid"/>
          </a:ln>
        </p:spPr>
      </p:sp>
      <p:sp>
        <p:nvSpPr>
          <p:cNvPr id="46" name="Text 44"/>
          <p:cNvSpPr/>
          <p:nvPr/>
        </p:nvSpPr>
        <p:spPr>
          <a:xfrm>
            <a:off x="4937760" y="29992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47" name="Shape 45"/>
          <p:cNvSpPr/>
          <p:nvPr/>
        </p:nvSpPr>
        <p:spPr>
          <a:xfrm>
            <a:off x="402336" y="4617720"/>
            <a:ext cx="8339328" cy="420624"/>
          </a:xfrm>
          <a:prstGeom prst="roundRect">
            <a:avLst>
              <a:gd name="adj" fmla="val 19565"/>
            </a:avLst>
          </a:prstGeom>
          <a:solidFill>
            <a:srgbClr val="1A8A7D">
              <a:alpha val="78000"/>
            </a:srgbClr>
          </a:solidFill>
          <a:ln w="19050">
            <a:solidFill>
              <a:srgbClr val="34B0A0"/>
            </a:solidFill>
            <a:prstDash val="solid"/>
          </a:ln>
        </p:spPr>
      </p:sp>
      <p:sp>
        <p:nvSpPr>
          <p:cNvPr id="48" name="Text 46"/>
          <p:cNvSpPr/>
          <p:nvPr/>
        </p:nvSpPr>
        <p:spPr>
          <a:xfrm>
            <a:off x="566928" y="4617720"/>
            <a:ext cx="801014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Which object would teach you the most — and why? Type your answer in the chat.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914400" y="182880"/>
            <a:ext cx="7315200" cy="4389120"/>
          </a:xfrm>
          <a:prstGeom prst="ellipse">
            <a:avLst/>
          </a:prstGeom>
          <a:solidFill>
            <a:srgbClr val="D4943A">
              <a:alpha val="17000"/>
            </a:srgbClr>
          </a:solidFill>
          <a:ln w="12700">
            <a:solidFill>
              <a:srgbClr val="333333"/>
            </a:solidFill>
            <a:prstDash val="solid"/>
          </a:ln>
        </p:spPr>
      </p:sp>
      <p:sp>
        <p:nvSpPr>
          <p:cNvPr id="3" name="Shape 1"/>
          <p:cNvSpPr/>
          <p:nvPr/>
        </p:nvSpPr>
        <p:spPr>
          <a:xfrm>
            <a:off x="2523744" y="1148486"/>
            <a:ext cx="4096512" cy="2457907"/>
          </a:xfrm>
          <a:prstGeom prst="ellipse">
            <a:avLst/>
          </a:prstGeom>
          <a:solidFill>
            <a:srgbClr val="D4943A">
              <a:alpha val="27000"/>
            </a:srgbClr>
          </a:solidFill>
          <a:ln w="12700">
            <a:solidFill>
              <a:srgbClr val="333333"/>
            </a:solidFill>
            <a:prstDash val="solid"/>
          </a:ln>
        </p:spPr>
      </p:sp>
      <p:sp>
        <p:nvSpPr>
          <p:cNvPr id="4" name="Shape 2"/>
          <p:cNvSpPr/>
          <p:nvPr/>
        </p:nvSpPr>
        <p:spPr>
          <a:xfrm>
            <a:off x="2560320" y="201168"/>
            <a:ext cx="4023360" cy="475488"/>
          </a:xfrm>
          <a:prstGeom prst="roundRect">
            <a:avLst>
              <a:gd name="adj" fmla="val 13462"/>
            </a:avLst>
          </a:prstGeom>
          <a:solidFill>
            <a:srgbClr val="F5EDD8"/>
          </a:solidFill>
          <a:ln w="15240">
            <a:solidFill>
              <a:srgbClr val="C8A84B"/>
            </a:solidFill>
            <a:prstDash val="solid"/>
          </a:ln>
          <a:effectLst>
            <a:outerShdw sx="100000" sy="100000" kx="0" ky="0" algn="bl" rotWithShape="0" blurRad="101600" dist="25400" dir="2700000">
              <a:srgbClr val="000000">
                <a:alpha val="10000"/>
              </a:srgbClr>
            </a:outerShdw>
          </a:effectLst>
        </p:spPr>
      </p:sp>
      <p:sp>
        <p:nvSpPr>
          <p:cNvPr id="5" name="Text 3"/>
          <p:cNvSpPr/>
          <p:nvPr/>
        </p:nvSpPr>
        <p:spPr>
          <a:xfrm>
            <a:off x="2560320" y="201168"/>
            <a:ext cx="4023360" cy="475488"/>
          </a:xfrm>
          <a:prstGeom prst="rect">
            <a:avLst/>
          </a:prstGeom>
          <a:noFill/>
          <a:ln/>
        </p:spPr>
        <p:txBody>
          <a:bodyPr wrap="square" lIns="0" tIns="0" rIns="0" bIns="0" rtlCol="0" anchor="ctr"/>
          <a:lstStyle/>
          <a:p>
            <a:pPr algn="ctr" indent="0" marL="0">
              <a:buNone/>
            </a:pPr>
            <a:r>
              <a:rPr lang="en-US" sz="1000" b="1" spc="150" kern="0" dirty="0">
                <a:solidFill>
                  <a:srgbClr val="B87A2A"/>
                </a:solidFill>
                <a:latin typeface="Cambria" pitchFamily="34" charset="0"/>
                <a:ea typeface="Cambria" pitchFamily="34" charset="-122"/>
                <a:cs typeface="Cambria" pitchFamily="34" charset="-120"/>
              </a:rPr>
              <a:t>CURATOR'S QUESTION  ·  GALLERY ONE</a:t>
            </a:r>
            <a:endParaRPr lang="en-US" sz="1000" dirty="0"/>
          </a:p>
        </p:txBody>
      </p:sp>
      <p:sp>
        <p:nvSpPr>
          <p:cNvPr id="6" name="Text 4"/>
          <p:cNvSpPr/>
          <p:nvPr/>
        </p:nvSpPr>
        <p:spPr>
          <a:xfrm>
            <a:off x="548640" y="804672"/>
            <a:ext cx="8046720" cy="2560320"/>
          </a:xfrm>
          <a:prstGeom prst="rect">
            <a:avLst/>
          </a:prstGeom>
          <a:noFill/>
          <a:ln/>
        </p:spPr>
        <p:txBody>
          <a:bodyPr wrap="square" rtlCol="0" anchor="ctr"/>
          <a:lstStyle/>
          <a:p>
            <a:pPr algn="ctr" indent="0" marL="0">
              <a:lnSpc>
                <a:spcPct val="128000"/>
              </a:lnSpc>
              <a:buNone/>
            </a:pPr>
            <a:r>
              <a:rPr lang="en-US" sz="3200" b="1" dirty="0">
                <a:solidFill>
                  <a:srgbClr val="FFFFFF"/>
                </a:solidFill>
                <a:latin typeface="Cambria" pitchFamily="34" charset="0"/>
                <a:ea typeface="Cambria" pitchFamily="34" charset="-122"/>
                <a:cs typeface="Cambria" pitchFamily="34" charset="-120"/>
              </a:rPr>
              <a:t>If the people who lived in the past</a:t>
            </a:r>
            <a:endParaRPr lang="en-US" sz="3200" dirty="0"/>
          </a:p>
          <a:p>
            <a:pPr algn="ctr" indent="0" marL="0">
              <a:lnSpc>
                <a:spcPct val="128000"/>
              </a:lnSpc>
              <a:buNone/>
            </a:pPr>
            <a:r>
              <a:rPr lang="en-US" sz="3200" b="1" dirty="0">
                <a:solidFill>
                  <a:srgbClr val="FFFFFF"/>
                </a:solidFill>
                <a:latin typeface="Cambria" pitchFamily="34" charset="0"/>
                <a:ea typeface="Cambria" pitchFamily="34" charset="-122"/>
                <a:cs typeface="Cambria" pitchFamily="34" charset="-120"/>
              </a:rPr>
              <a:t>could not speak to us —</a:t>
            </a:r>
            <a:endParaRPr lang="en-US" sz="3200" dirty="0"/>
          </a:p>
          <a:p>
            <a:pPr algn="ctr" indent="0" marL="0">
              <a:lnSpc>
                <a:spcPct val="128000"/>
              </a:lnSpc>
              <a:buNone/>
            </a:pPr>
            <a:r>
              <a:rPr lang="en-US" sz="3200" b="1" dirty="0">
                <a:solidFill>
                  <a:srgbClr val="FFFFFF"/>
                </a:solidFill>
                <a:latin typeface="Cambria" pitchFamily="34" charset="0"/>
                <a:ea typeface="Cambria" pitchFamily="34" charset="-122"/>
                <a:cs typeface="Cambria" pitchFamily="34" charset="-120"/>
              </a:rPr>
              <a:t>how would we ever know their story?</a:t>
            </a:r>
            <a:endParaRPr lang="en-US" sz="3200" dirty="0"/>
          </a:p>
        </p:txBody>
      </p:sp>
      <p:sp>
        <p:nvSpPr>
          <p:cNvPr id="7" name="Shape 5"/>
          <p:cNvSpPr/>
          <p:nvPr/>
        </p:nvSpPr>
        <p:spPr>
          <a:xfrm>
            <a:off x="1197864" y="3419856"/>
            <a:ext cx="164592" cy="256032"/>
          </a:xfrm>
          <a:prstGeom prst="ellipse">
            <a:avLst/>
          </a:prstGeom>
          <a:solidFill>
            <a:srgbClr val="C8A84B"/>
          </a:solidFill>
          <a:ln w="12700">
            <a:solidFill>
              <a:srgbClr val="333333"/>
            </a:solidFill>
            <a:prstDash val="solid"/>
          </a:ln>
        </p:spPr>
      </p:sp>
      <p:sp>
        <p:nvSpPr>
          <p:cNvPr id="8" name="Shape 6"/>
          <p:cNvSpPr/>
          <p:nvPr/>
        </p:nvSpPr>
        <p:spPr>
          <a:xfrm>
            <a:off x="7781544" y="3419856"/>
            <a:ext cx="164592" cy="256032"/>
          </a:xfrm>
          <a:prstGeom prst="ellipse">
            <a:avLst/>
          </a:prstGeom>
          <a:solidFill>
            <a:srgbClr val="C8A84B"/>
          </a:solidFill>
          <a:ln w="12700">
            <a:solidFill>
              <a:srgbClr val="333333"/>
            </a:solidFill>
            <a:prstDash val="solid"/>
          </a:ln>
        </p:spPr>
      </p:sp>
      <p:sp>
        <p:nvSpPr>
          <p:cNvPr id="9" name="Shape 7"/>
          <p:cNvSpPr/>
          <p:nvPr/>
        </p:nvSpPr>
        <p:spPr>
          <a:xfrm>
            <a:off x="1280160" y="3547872"/>
            <a:ext cx="6583680" cy="0"/>
          </a:xfrm>
          <a:prstGeom prst="line">
            <a:avLst/>
          </a:prstGeom>
          <a:noFill/>
          <a:ln w="31750">
            <a:solidFill>
              <a:srgbClr val="C8A84B"/>
            </a:solidFill>
            <a:prstDash val="solid"/>
          </a:ln>
        </p:spPr>
      </p:sp>
      <p:sp>
        <p:nvSpPr>
          <p:cNvPr id="10" name="Shape 8"/>
          <p:cNvSpPr/>
          <p:nvPr/>
        </p:nvSpPr>
        <p:spPr>
          <a:xfrm>
            <a:off x="438912" y="3767328"/>
            <a:ext cx="3950208" cy="914400"/>
          </a:xfrm>
          <a:prstGeom prst="roundRect">
            <a:avLst>
              <a:gd name="adj" fmla="val 10000"/>
            </a:avLst>
          </a:prstGeom>
          <a:solidFill>
            <a:srgbClr val="E0F5F0"/>
          </a:solidFill>
          <a:ln w="22860">
            <a:solidFill>
              <a:srgbClr val="1A8A7D"/>
            </a:solidFill>
            <a:prstDash val="solid"/>
          </a:ln>
          <a:effectLst>
            <a:outerShdw sx="100000" sy="100000" kx="0" ky="0" algn="bl" rotWithShape="0" blurRad="101600" dist="25400" dir="2700000">
              <a:srgbClr val="000000">
                <a:alpha val="10000"/>
              </a:srgbClr>
            </a:outerShdw>
          </a:effectLst>
        </p:spPr>
      </p:sp>
      <p:sp>
        <p:nvSpPr>
          <p:cNvPr id="11" name="Text 9"/>
          <p:cNvSpPr/>
          <p:nvPr/>
        </p:nvSpPr>
        <p:spPr>
          <a:xfrm>
            <a:off x="576072" y="3858768"/>
            <a:ext cx="3675888" cy="320040"/>
          </a:xfrm>
          <a:prstGeom prst="rect">
            <a:avLst/>
          </a:prstGeom>
          <a:noFill/>
          <a:ln/>
        </p:spPr>
        <p:txBody>
          <a:bodyPr wrap="square" lIns="0" tIns="0" rIns="0" bIns="0" rtlCol="0" anchor="ctr"/>
          <a:lstStyle/>
          <a:p>
            <a:pPr indent="0" marL="0">
              <a:buNone/>
            </a:pPr>
            <a:r>
              <a:rPr lang="en-US" sz="1150" b="1" dirty="0">
                <a:solidFill>
                  <a:srgbClr val="1A8A7D"/>
                </a:solidFill>
                <a:latin typeface="Calibri" pitchFamily="34" charset="0"/>
                <a:ea typeface="Calibri" pitchFamily="34" charset="-122"/>
                <a:cs typeface="Calibri" pitchFamily="34" charset="-120"/>
              </a:rPr>
              <a:t>In the Chat</a:t>
            </a:r>
            <a:endParaRPr lang="en-US" sz="1150" dirty="0"/>
          </a:p>
        </p:txBody>
      </p:sp>
      <p:sp>
        <p:nvSpPr>
          <p:cNvPr id="12" name="Shape 10"/>
          <p:cNvSpPr/>
          <p:nvPr/>
        </p:nvSpPr>
        <p:spPr>
          <a:xfrm>
            <a:off x="576072" y="4197096"/>
            <a:ext cx="3675888" cy="0"/>
          </a:xfrm>
          <a:prstGeom prst="line">
            <a:avLst/>
          </a:prstGeom>
          <a:noFill/>
          <a:ln w="10160">
            <a:solidFill>
              <a:srgbClr val="1A8A7D"/>
            </a:solidFill>
            <a:prstDash val="solid"/>
          </a:ln>
        </p:spPr>
      </p:sp>
      <p:sp>
        <p:nvSpPr>
          <p:cNvPr id="13" name="Text 11"/>
          <p:cNvSpPr/>
          <p:nvPr/>
        </p:nvSpPr>
        <p:spPr>
          <a:xfrm>
            <a:off x="576072" y="4251960"/>
            <a:ext cx="3675888" cy="320040"/>
          </a:xfrm>
          <a:prstGeom prst="rect">
            <a:avLst/>
          </a:prstGeom>
          <a:noFill/>
          <a:ln/>
        </p:spPr>
        <p:txBody>
          <a:bodyPr wrap="square" lIns="0" tIns="0" rIns="0" bIns="0" rtlCol="0" anchor="ctr"/>
          <a:lstStyle/>
          <a:p>
            <a:pPr algn="l" indent="0" marL="0">
              <a:lnSpc>
                <a:spcPct val="138000"/>
              </a:lnSpc>
              <a:buNone/>
            </a:pPr>
            <a:r>
              <a:rPr lang="en-US" sz="1250" dirty="0">
                <a:solidFill>
                  <a:srgbClr val="3A4A6B"/>
                </a:solidFill>
                <a:latin typeface="Calibri" pitchFamily="34" charset="0"/>
                <a:ea typeface="Calibri" pitchFamily="34" charset="-122"/>
                <a:cs typeface="Calibri" pitchFamily="34" charset="-120"/>
              </a:rPr>
              <a:t>Type one idea — how could we learn about people who lived long ago?</a:t>
            </a:r>
            <a:endParaRPr lang="en-US" sz="1250" dirty="0"/>
          </a:p>
        </p:txBody>
      </p:sp>
      <p:sp>
        <p:nvSpPr>
          <p:cNvPr id="14" name="Shape 12"/>
          <p:cNvSpPr/>
          <p:nvPr/>
        </p:nvSpPr>
        <p:spPr>
          <a:xfrm>
            <a:off x="4535424" y="3767328"/>
            <a:ext cx="4169664" cy="914400"/>
          </a:xfrm>
          <a:prstGeom prst="roundRect">
            <a:avLst>
              <a:gd name="adj" fmla="val 10000"/>
            </a:avLst>
          </a:prstGeom>
          <a:solidFill>
            <a:srgbClr val="EAF7E6"/>
          </a:solidFill>
          <a:ln w="22860">
            <a:solidFill>
              <a:srgbClr val="2E7D4F"/>
            </a:solidFill>
            <a:prstDash val="solid"/>
          </a:ln>
          <a:effectLst>
            <a:outerShdw sx="100000" sy="100000" kx="0" ky="0" algn="bl" rotWithShape="0" blurRad="101600" dist="25400" dir="2700000">
              <a:srgbClr val="000000">
                <a:alpha val="10000"/>
              </a:srgbClr>
            </a:outerShdw>
          </a:effectLst>
        </p:spPr>
      </p:sp>
      <p:sp>
        <p:nvSpPr>
          <p:cNvPr id="15" name="Text 13"/>
          <p:cNvSpPr/>
          <p:nvPr/>
        </p:nvSpPr>
        <p:spPr>
          <a:xfrm>
            <a:off x="4672584" y="3858768"/>
            <a:ext cx="3895344" cy="320040"/>
          </a:xfrm>
          <a:prstGeom prst="rect">
            <a:avLst/>
          </a:prstGeom>
          <a:noFill/>
          <a:ln/>
        </p:spPr>
        <p:txBody>
          <a:bodyPr wrap="square" lIns="0" tIns="0" rIns="0" bIns="0" rtlCol="0" anchor="ctr"/>
          <a:lstStyle/>
          <a:p>
            <a:pPr indent="0" marL="0">
              <a:buNone/>
            </a:pPr>
            <a:r>
              <a:rPr lang="en-US" sz="1150" b="1" dirty="0">
                <a:solidFill>
                  <a:srgbClr val="2E7D4F"/>
                </a:solidFill>
                <a:latin typeface="Calibri" pitchFamily="34" charset="0"/>
                <a:ea typeface="Calibri" pitchFamily="34" charset="-122"/>
                <a:cs typeface="Calibri" pitchFamily="34" charset="-120"/>
              </a:rPr>
              <a:t>Raise Your Hand</a:t>
            </a:r>
            <a:endParaRPr lang="en-US" sz="1150" dirty="0"/>
          </a:p>
        </p:txBody>
      </p:sp>
      <p:sp>
        <p:nvSpPr>
          <p:cNvPr id="16" name="Shape 14"/>
          <p:cNvSpPr/>
          <p:nvPr/>
        </p:nvSpPr>
        <p:spPr>
          <a:xfrm>
            <a:off x="4672584" y="4197096"/>
            <a:ext cx="3895344" cy="0"/>
          </a:xfrm>
          <a:prstGeom prst="line">
            <a:avLst/>
          </a:prstGeom>
          <a:noFill/>
          <a:ln w="10160">
            <a:solidFill>
              <a:srgbClr val="2E7D4F"/>
            </a:solidFill>
            <a:prstDash val="solid"/>
          </a:ln>
        </p:spPr>
      </p:sp>
      <p:sp>
        <p:nvSpPr>
          <p:cNvPr id="17" name="Text 15"/>
          <p:cNvSpPr/>
          <p:nvPr/>
        </p:nvSpPr>
        <p:spPr>
          <a:xfrm>
            <a:off x="4672584" y="4251960"/>
            <a:ext cx="3895344" cy="320040"/>
          </a:xfrm>
          <a:prstGeom prst="rect">
            <a:avLst/>
          </a:prstGeom>
          <a:noFill/>
          <a:ln/>
        </p:spPr>
        <p:txBody>
          <a:bodyPr wrap="square" lIns="0" tIns="0" rIns="0" bIns="0" rtlCol="0" anchor="ctr"/>
          <a:lstStyle/>
          <a:p>
            <a:pPr algn="l" indent="0" marL="0">
              <a:lnSpc>
                <a:spcPct val="138000"/>
              </a:lnSpc>
              <a:buNone/>
            </a:pPr>
            <a:r>
              <a:rPr lang="en-US" sz="1250" dirty="0">
                <a:solidFill>
                  <a:srgbClr val="3A4A6B"/>
                </a:solidFill>
                <a:latin typeface="Calibri" pitchFamily="34" charset="0"/>
                <a:ea typeface="Calibri" pitchFamily="34" charset="-122"/>
                <a:cs typeface="Calibri" pitchFamily="34" charset="-120"/>
              </a:rPr>
              <a:t>Raise your hand — share your idea with the group.</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1C42"/>
          </a:solidFill>
          <a:ln w="12700">
            <a:solidFill>
              <a:srgbClr val="333333"/>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The Four Fields of Social Studies</a:t>
            </a:r>
            <a:endParaRPr lang="en-US" sz="2200" dirty="0"/>
          </a:p>
        </p:txBody>
      </p:sp>
      <p:sp>
        <p:nvSpPr>
          <p:cNvPr id="4" name="Shape 2"/>
          <p:cNvSpPr/>
          <p:nvPr/>
        </p:nvSpPr>
        <p:spPr>
          <a:xfrm>
            <a:off x="0" y="5029200"/>
            <a:ext cx="9144000" cy="118872"/>
          </a:xfrm>
          <a:prstGeom prst="rect">
            <a:avLst/>
          </a:prstGeom>
          <a:solidFill>
            <a:srgbClr val="C8A84B">
              <a:alpha val="60000"/>
            </a:srgbClr>
          </a:solidFill>
          <a:ln w="12700">
            <a:solidFill>
              <a:srgbClr val="333333"/>
            </a:solidFill>
            <a:prstDash val="solid"/>
          </a:ln>
        </p:spPr>
      </p:sp>
      <p:sp>
        <p:nvSpPr>
          <p:cNvPr id="5" name="Shape 3"/>
          <p:cNvSpPr/>
          <p:nvPr/>
        </p:nvSpPr>
        <p:spPr>
          <a:xfrm>
            <a:off x="440741" y="749808"/>
            <a:ext cx="1678838" cy="1097280"/>
          </a:xfrm>
          <a:prstGeom prst="ellipse">
            <a:avLst/>
          </a:prstGeom>
          <a:solidFill>
            <a:srgbClr val="D4943A">
              <a:alpha val="17000"/>
            </a:srgbClr>
          </a:solidFill>
          <a:ln w="12700">
            <a:solidFill>
              <a:srgbClr val="333333"/>
            </a:solidFill>
            <a:prstDash val="solid"/>
          </a:ln>
        </p:spPr>
      </p:sp>
      <p:sp>
        <p:nvSpPr>
          <p:cNvPr id="6" name="Shape 4"/>
          <p:cNvSpPr/>
          <p:nvPr/>
        </p:nvSpPr>
        <p:spPr>
          <a:xfrm>
            <a:off x="810085" y="991210"/>
            <a:ext cx="940150" cy="614477"/>
          </a:xfrm>
          <a:prstGeom prst="ellipse">
            <a:avLst/>
          </a:prstGeom>
          <a:solidFill>
            <a:srgbClr val="D4943A">
              <a:alpha val="27000"/>
            </a:srgbClr>
          </a:solidFill>
          <a:ln w="12700">
            <a:solidFill>
              <a:srgbClr val="333333"/>
            </a:solidFill>
            <a:prstDash val="solid"/>
          </a:ln>
        </p:spPr>
      </p:sp>
      <p:sp>
        <p:nvSpPr>
          <p:cNvPr id="7" name="Shape 5"/>
          <p:cNvSpPr/>
          <p:nvPr/>
        </p:nvSpPr>
        <p:spPr>
          <a:xfrm>
            <a:off x="292608" y="868680"/>
            <a:ext cx="1975104" cy="3950208"/>
          </a:xfrm>
          <a:prstGeom prst="roundRect">
            <a:avLst>
              <a:gd name="adj" fmla="val 4630"/>
            </a:avLst>
          </a:prstGeom>
          <a:solidFill>
            <a:srgbClr val="FDF0E8"/>
          </a:solidFill>
          <a:ln w="19050">
            <a:solidFill>
              <a:srgbClr val="C7522A"/>
            </a:solidFill>
            <a:prstDash val="solid"/>
          </a:ln>
          <a:effectLst>
            <a:outerShdw sx="100000" sy="100000" kx="0" ky="0" algn="bl" rotWithShape="0" blurRad="101600" dist="25400" dir="2700000">
              <a:srgbClr val="000000">
                <a:alpha val="10000"/>
              </a:srgbClr>
            </a:outerShdw>
          </a:effectLst>
        </p:spPr>
      </p:sp>
      <p:sp>
        <p:nvSpPr>
          <p:cNvPr id="8" name="Shape 6"/>
          <p:cNvSpPr/>
          <p:nvPr/>
        </p:nvSpPr>
        <p:spPr>
          <a:xfrm>
            <a:off x="384048" y="960120"/>
            <a:ext cx="347472" cy="347472"/>
          </a:xfrm>
          <a:prstGeom prst="ellipse">
            <a:avLst/>
          </a:prstGeom>
          <a:solidFill>
            <a:srgbClr val="C7522A"/>
          </a:solidFill>
          <a:ln w="19050">
            <a:solidFill>
              <a:srgbClr val="C8A84B"/>
            </a:solidFill>
            <a:prstDash val="solid"/>
          </a:ln>
        </p:spPr>
      </p:sp>
      <p:sp>
        <p:nvSpPr>
          <p:cNvPr id="9" name="Text 7"/>
          <p:cNvSpPr/>
          <p:nvPr/>
        </p:nvSpPr>
        <p:spPr>
          <a:xfrm>
            <a:off x="384048" y="9601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0" name="Text 8"/>
          <p:cNvSpPr/>
          <p:nvPr/>
        </p:nvSpPr>
        <p:spPr>
          <a:xfrm>
            <a:off x="292608" y="969264"/>
            <a:ext cx="1975104" cy="1170432"/>
          </a:xfrm>
          <a:prstGeom prst="rect">
            <a:avLst/>
          </a:prstGeom>
          <a:noFill/>
          <a:ln/>
        </p:spPr>
        <p:txBody>
          <a:bodyPr wrap="square" rtlCol="0" anchor="ctr"/>
          <a:lstStyle/>
          <a:p>
            <a:pPr algn="ctr" indent="0" marL="0">
              <a:buNone/>
            </a:pPr>
            <a:r>
              <a:rPr lang="en-US" sz="3800" dirty="0">
                <a:solidFill>
                  <a:srgbClr val="000000"/>
                </a:solidFill>
              </a:rPr>
              <a:t>📜</a:t>
            </a:r>
            <a:endParaRPr lang="en-US" sz="3800" dirty="0"/>
          </a:p>
        </p:txBody>
      </p:sp>
      <p:sp>
        <p:nvSpPr>
          <p:cNvPr id="11" name="Text 9"/>
          <p:cNvSpPr/>
          <p:nvPr/>
        </p:nvSpPr>
        <p:spPr>
          <a:xfrm>
            <a:off x="384048" y="2194560"/>
            <a:ext cx="1792224" cy="438912"/>
          </a:xfrm>
          <a:prstGeom prst="rect">
            <a:avLst/>
          </a:prstGeom>
          <a:noFill/>
          <a:ln/>
        </p:spPr>
        <p:txBody>
          <a:bodyPr wrap="square" lIns="0" tIns="0" rIns="0" bIns="0" rtlCol="0" anchor="ctr"/>
          <a:lstStyle/>
          <a:p>
            <a:pPr algn="ctr" indent="0" marL="0">
              <a:buNone/>
            </a:pPr>
            <a:r>
              <a:rPr lang="en-US" sz="1600" b="1" dirty="0">
                <a:solidFill>
                  <a:srgbClr val="C7522A"/>
                </a:solidFill>
                <a:latin typeface="Cambria" pitchFamily="34" charset="0"/>
                <a:ea typeface="Cambria" pitchFamily="34" charset="-122"/>
                <a:cs typeface="Cambria" pitchFamily="34" charset="-120"/>
              </a:rPr>
              <a:t>History</a:t>
            </a:r>
            <a:endParaRPr lang="en-US" sz="1600" dirty="0"/>
          </a:p>
        </p:txBody>
      </p:sp>
      <p:sp>
        <p:nvSpPr>
          <p:cNvPr id="12" name="Text 10"/>
          <p:cNvSpPr/>
          <p:nvPr/>
        </p:nvSpPr>
        <p:spPr>
          <a:xfrm>
            <a:off x="402336" y="2670048"/>
            <a:ext cx="1755648" cy="896112"/>
          </a:xfrm>
          <a:prstGeom prst="rect">
            <a:avLst/>
          </a:prstGeom>
          <a:noFill/>
          <a:ln/>
        </p:spPr>
        <p:txBody>
          <a:bodyPr wrap="square" lIns="0" tIns="0" rIns="0" bIns="0" rtlCol="0" anchor="ctr"/>
          <a:lstStyle/>
          <a:p>
            <a:pPr algn="ctr" indent="0" marL="0">
              <a:lnSpc>
                <a:spcPct val="140000"/>
              </a:lnSpc>
              <a:buNone/>
            </a:pPr>
            <a:r>
              <a:rPr lang="en-US" sz="1100" dirty="0">
                <a:solidFill>
                  <a:srgbClr val="3A4A6B"/>
                </a:solidFill>
                <a:latin typeface="Calibri" pitchFamily="34" charset="0"/>
                <a:ea typeface="Calibri" pitchFamily="34" charset="-122"/>
                <a:cs typeface="Calibri" pitchFamily="34" charset="-120"/>
              </a:rPr>
              <a:t>The study of people, events, and change over time.</a:t>
            </a:r>
            <a:endParaRPr lang="en-US" sz="1100" dirty="0"/>
          </a:p>
        </p:txBody>
      </p:sp>
      <p:sp>
        <p:nvSpPr>
          <p:cNvPr id="13" name="Shape 11"/>
          <p:cNvSpPr/>
          <p:nvPr/>
        </p:nvSpPr>
        <p:spPr>
          <a:xfrm>
            <a:off x="384048" y="3621024"/>
            <a:ext cx="1792224" cy="1097280"/>
          </a:xfrm>
          <a:prstGeom prst="roundRect">
            <a:avLst>
              <a:gd name="adj" fmla="val 5833"/>
            </a:avLst>
          </a:prstGeom>
          <a:solidFill>
            <a:srgbClr val="F5EDD8"/>
          </a:solidFill>
          <a:ln w="10160">
            <a:solidFill>
              <a:srgbClr val="C7522A"/>
            </a:solidFill>
            <a:prstDash val="solid"/>
          </a:ln>
        </p:spPr>
      </p:sp>
      <p:sp>
        <p:nvSpPr>
          <p:cNvPr id="14" name="Text 12"/>
          <p:cNvSpPr/>
          <p:nvPr/>
        </p:nvSpPr>
        <p:spPr>
          <a:xfrm>
            <a:off x="457200" y="3639312"/>
            <a:ext cx="1645920" cy="1060704"/>
          </a:xfrm>
          <a:prstGeom prst="rect">
            <a:avLst/>
          </a:prstGeom>
          <a:noFill/>
          <a:ln/>
        </p:spPr>
        <p:txBody>
          <a:bodyPr wrap="square" rtlCol="0" anchor="ctr"/>
          <a:lstStyle/>
          <a:p>
            <a:pPr algn="ctr" indent="0" marL="0">
              <a:lnSpc>
                <a:spcPct val="138000"/>
              </a:lnSpc>
              <a:buNone/>
            </a:pPr>
            <a:r>
              <a:rPr lang="en-US" sz="1100" i="1" dirty="0">
                <a:solidFill>
                  <a:srgbClr val="0E1C42"/>
                </a:solidFill>
                <a:latin typeface="Calibri" pitchFamily="34" charset="0"/>
                <a:ea typeface="Calibri" pitchFamily="34" charset="-122"/>
                <a:cs typeface="Calibri" pitchFamily="34" charset="-120"/>
              </a:rPr>
              <a:t>What in the past still shapes how people live TODAY?</a:t>
            </a:r>
            <a:endParaRPr lang="en-US" sz="1100" dirty="0"/>
          </a:p>
        </p:txBody>
      </p:sp>
      <p:sp>
        <p:nvSpPr>
          <p:cNvPr id="15" name="Shape 13"/>
          <p:cNvSpPr/>
          <p:nvPr/>
        </p:nvSpPr>
        <p:spPr>
          <a:xfrm>
            <a:off x="2580437" y="749808"/>
            <a:ext cx="1678838" cy="1097280"/>
          </a:xfrm>
          <a:prstGeom prst="ellipse">
            <a:avLst/>
          </a:prstGeom>
          <a:solidFill>
            <a:srgbClr val="D4943A">
              <a:alpha val="17000"/>
            </a:srgbClr>
          </a:solidFill>
          <a:ln w="12700">
            <a:solidFill>
              <a:srgbClr val="333333"/>
            </a:solidFill>
            <a:prstDash val="solid"/>
          </a:ln>
        </p:spPr>
      </p:sp>
      <p:sp>
        <p:nvSpPr>
          <p:cNvPr id="16" name="Shape 14"/>
          <p:cNvSpPr/>
          <p:nvPr/>
        </p:nvSpPr>
        <p:spPr>
          <a:xfrm>
            <a:off x="2949781" y="991210"/>
            <a:ext cx="940150" cy="614477"/>
          </a:xfrm>
          <a:prstGeom prst="ellipse">
            <a:avLst/>
          </a:prstGeom>
          <a:solidFill>
            <a:srgbClr val="D4943A">
              <a:alpha val="27000"/>
            </a:srgbClr>
          </a:solidFill>
          <a:ln w="12700">
            <a:solidFill>
              <a:srgbClr val="333333"/>
            </a:solidFill>
            <a:prstDash val="solid"/>
          </a:ln>
        </p:spPr>
      </p:sp>
      <p:sp>
        <p:nvSpPr>
          <p:cNvPr id="17" name="Shape 15"/>
          <p:cNvSpPr/>
          <p:nvPr/>
        </p:nvSpPr>
        <p:spPr>
          <a:xfrm>
            <a:off x="2432304" y="868680"/>
            <a:ext cx="1975104" cy="3950208"/>
          </a:xfrm>
          <a:prstGeom prst="roundRect">
            <a:avLst>
              <a:gd name="adj" fmla="val 4630"/>
            </a:avLst>
          </a:prstGeom>
          <a:solidFill>
            <a:srgbClr val="E8F5F3"/>
          </a:solidFill>
          <a:ln w="19050">
            <a:solidFill>
              <a:srgbClr val="1A8A7D"/>
            </a:solidFill>
            <a:prstDash val="solid"/>
          </a:ln>
          <a:effectLst>
            <a:outerShdw sx="100000" sy="100000" kx="0" ky="0" algn="bl" rotWithShape="0" blurRad="101600" dist="25400" dir="2700000">
              <a:srgbClr val="000000">
                <a:alpha val="10000"/>
              </a:srgbClr>
            </a:outerShdw>
          </a:effectLst>
        </p:spPr>
      </p:sp>
      <p:sp>
        <p:nvSpPr>
          <p:cNvPr id="18" name="Shape 16"/>
          <p:cNvSpPr/>
          <p:nvPr/>
        </p:nvSpPr>
        <p:spPr>
          <a:xfrm>
            <a:off x="2523744" y="960120"/>
            <a:ext cx="347472" cy="347472"/>
          </a:xfrm>
          <a:prstGeom prst="ellipse">
            <a:avLst/>
          </a:prstGeom>
          <a:solidFill>
            <a:srgbClr val="1A8A7D"/>
          </a:solidFill>
          <a:ln w="19050">
            <a:solidFill>
              <a:srgbClr val="C8A84B"/>
            </a:solidFill>
            <a:prstDash val="solid"/>
          </a:ln>
        </p:spPr>
      </p:sp>
      <p:sp>
        <p:nvSpPr>
          <p:cNvPr id="19" name="Text 17"/>
          <p:cNvSpPr/>
          <p:nvPr/>
        </p:nvSpPr>
        <p:spPr>
          <a:xfrm>
            <a:off x="2523744" y="9601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0" name="Text 18"/>
          <p:cNvSpPr/>
          <p:nvPr/>
        </p:nvSpPr>
        <p:spPr>
          <a:xfrm>
            <a:off x="2432304" y="969264"/>
            <a:ext cx="1975104" cy="1170432"/>
          </a:xfrm>
          <a:prstGeom prst="rect">
            <a:avLst/>
          </a:prstGeom>
          <a:noFill/>
          <a:ln/>
        </p:spPr>
        <p:txBody>
          <a:bodyPr wrap="square" rtlCol="0" anchor="ctr"/>
          <a:lstStyle/>
          <a:p>
            <a:pPr algn="ctr" indent="0" marL="0">
              <a:buNone/>
            </a:pPr>
            <a:r>
              <a:rPr lang="en-US" sz="3800" dirty="0">
                <a:solidFill>
                  <a:srgbClr val="000000"/>
                </a:solidFill>
              </a:rPr>
              <a:t>🗺️</a:t>
            </a:r>
            <a:endParaRPr lang="en-US" sz="3800" dirty="0"/>
          </a:p>
        </p:txBody>
      </p:sp>
      <p:sp>
        <p:nvSpPr>
          <p:cNvPr id="21" name="Text 19"/>
          <p:cNvSpPr/>
          <p:nvPr/>
        </p:nvSpPr>
        <p:spPr>
          <a:xfrm>
            <a:off x="2523744" y="2194560"/>
            <a:ext cx="1792224" cy="438912"/>
          </a:xfrm>
          <a:prstGeom prst="rect">
            <a:avLst/>
          </a:prstGeom>
          <a:noFill/>
          <a:ln/>
        </p:spPr>
        <p:txBody>
          <a:bodyPr wrap="square" lIns="0" tIns="0" rIns="0" bIns="0" rtlCol="0" anchor="ctr"/>
          <a:lstStyle/>
          <a:p>
            <a:pPr algn="ctr" indent="0" marL="0">
              <a:buNone/>
            </a:pPr>
            <a:r>
              <a:rPr lang="en-US" sz="1600" b="1" dirty="0">
                <a:solidFill>
                  <a:srgbClr val="1A8A7D"/>
                </a:solidFill>
                <a:latin typeface="Cambria" pitchFamily="34" charset="0"/>
                <a:ea typeface="Cambria" pitchFamily="34" charset="-122"/>
                <a:cs typeface="Cambria" pitchFamily="34" charset="-120"/>
              </a:rPr>
              <a:t>Geography</a:t>
            </a:r>
            <a:endParaRPr lang="en-US" sz="1600" dirty="0"/>
          </a:p>
        </p:txBody>
      </p:sp>
      <p:sp>
        <p:nvSpPr>
          <p:cNvPr id="22" name="Text 20"/>
          <p:cNvSpPr/>
          <p:nvPr/>
        </p:nvSpPr>
        <p:spPr>
          <a:xfrm>
            <a:off x="2542032" y="2670048"/>
            <a:ext cx="1755648" cy="896112"/>
          </a:xfrm>
          <a:prstGeom prst="rect">
            <a:avLst/>
          </a:prstGeom>
          <a:noFill/>
          <a:ln/>
        </p:spPr>
        <p:txBody>
          <a:bodyPr wrap="square" lIns="0" tIns="0" rIns="0" bIns="0" rtlCol="0" anchor="ctr"/>
          <a:lstStyle/>
          <a:p>
            <a:pPr algn="ctr" indent="0" marL="0">
              <a:lnSpc>
                <a:spcPct val="140000"/>
              </a:lnSpc>
              <a:buNone/>
            </a:pPr>
            <a:r>
              <a:rPr lang="en-US" sz="1100" dirty="0">
                <a:solidFill>
                  <a:srgbClr val="3A4A6B"/>
                </a:solidFill>
                <a:latin typeface="Calibri" pitchFamily="34" charset="0"/>
                <a:ea typeface="Calibri" pitchFamily="34" charset="-122"/>
                <a:cs typeface="Calibri" pitchFamily="34" charset="-120"/>
              </a:rPr>
              <a:t>The study of places, landforms, and how people relate to where they live.</a:t>
            </a:r>
            <a:endParaRPr lang="en-US" sz="1100" dirty="0"/>
          </a:p>
        </p:txBody>
      </p:sp>
      <p:sp>
        <p:nvSpPr>
          <p:cNvPr id="23" name="Shape 21"/>
          <p:cNvSpPr/>
          <p:nvPr/>
        </p:nvSpPr>
        <p:spPr>
          <a:xfrm>
            <a:off x="2523744" y="3621024"/>
            <a:ext cx="1792224" cy="1097280"/>
          </a:xfrm>
          <a:prstGeom prst="roundRect">
            <a:avLst>
              <a:gd name="adj" fmla="val 5833"/>
            </a:avLst>
          </a:prstGeom>
          <a:solidFill>
            <a:srgbClr val="F5EDD8"/>
          </a:solidFill>
          <a:ln w="10160">
            <a:solidFill>
              <a:srgbClr val="1A8A7D"/>
            </a:solidFill>
            <a:prstDash val="solid"/>
          </a:ln>
        </p:spPr>
      </p:sp>
      <p:sp>
        <p:nvSpPr>
          <p:cNvPr id="24" name="Text 22"/>
          <p:cNvSpPr/>
          <p:nvPr/>
        </p:nvSpPr>
        <p:spPr>
          <a:xfrm>
            <a:off x="2596896" y="3639312"/>
            <a:ext cx="1645920" cy="1060704"/>
          </a:xfrm>
          <a:prstGeom prst="rect">
            <a:avLst/>
          </a:prstGeom>
          <a:noFill/>
          <a:ln/>
        </p:spPr>
        <p:txBody>
          <a:bodyPr wrap="square" rtlCol="0" anchor="ctr"/>
          <a:lstStyle/>
          <a:p>
            <a:pPr algn="ctr" indent="0" marL="0">
              <a:lnSpc>
                <a:spcPct val="138000"/>
              </a:lnSpc>
              <a:buNone/>
            </a:pPr>
            <a:r>
              <a:rPr lang="en-US" sz="1100" i="1" dirty="0">
                <a:solidFill>
                  <a:srgbClr val="0E1C42"/>
                </a:solidFill>
                <a:latin typeface="Calibri" pitchFamily="34" charset="0"/>
                <a:ea typeface="Calibri" pitchFamily="34" charset="-122"/>
                <a:cs typeface="Calibri" pitchFamily="34" charset="-120"/>
              </a:rPr>
              <a:t>How does WHERE you live change what you eat, wear, or do?</a:t>
            </a:r>
            <a:endParaRPr lang="en-US" sz="1100" dirty="0"/>
          </a:p>
        </p:txBody>
      </p:sp>
      <p:sp>
        <p:nvSpPr>
          <p:cNvPr id="25" name="Shape 23"/>
          <p:cNvSpPr/>
          <p:nvPr/>
        </p:nvSpPr>
        <p:spPr>
          <a:xfrm>
            <a:off x="4720133" y="749808"/>
            <a:ext cx="1678838" cy="1097280"/>
          </a:xfrm>
          <a:prstGeom prst="ellipse">
            <a:avLst/>
          </a:prstGeom>
          <a:solidFill>
            <a:srgbClr val="D4943A">
              <a:alpha val="17000"/>
            </a:srgbClr>
          </a:solidFill>
          <a:ln w="12700">
            <a:solidFill>
              <a:srgbClr val="333333"/>
            </a:solidFill>
            <a:prstDash val="solid"/>
          </a:ln>
        </p:spPr>
      </p:sp>
      <p:sp>
        <p:nvSpPr>
          <p:cNvPr id="26" name="Shape 24"/>
          <p:cNvSpPr/>
          <p:nvPr/>
        </p:nvSpPr>
        <p:spPr>
          <a:xfrm>
            <a:off x="5089477" y="991210"/>
            <a:ext cx="940150" cy="614477"/>
          </a:xfrm>
          <a:prstGeom prst="ellipse">
            <a:avLst/>
          </a:prstGeom>
          <a:solidFill>
            <a:srgbClr val="D4943A">
              <a:alpha val="27000"/>
            </a:srgbClr>
          </a:solidFill>
          <a:ln w="12700">
            <a:solidFill>
              <a:srgbClr val="333333"/>
            </a:solidFill>
            <a:prstDash val="solid"/>
          </a:ln>
        </p:spPr>
      </p:sp>
      <p:sp>
        <p:nvSpPr>
          <p:cNvPr id="27" name="Shape 25"/>
          <p:cNvSpPr/>
          <p:nvPr/>
        </p:nvSpPr>
        <p:spPr>
          <a:xfrm>
            <a:off x="4572000" y="868680"/>
            <a:ext cx="1975104" cy="3950208"/>
          </a:xfrm>
          <a:prstGeom prst="roundRect">
            <a:avLst>
              <a:gd name="adj" fmla="val 4630"/>
            </a:avLst>
          </a:prstGeom>
          <a:solidFill>
            <a:srgbClr val="FFF8E8"/>
          </a:solidFill>
          <a:ln w="19050">
            <a:solidFill>
              <a:srgbClr val="B87A2A"/>
            </a:solidFill>
            <a:prstDash val="solid"/>
          </a:ln>
          <a:effectLst>
            <a:outerShdw sx="100000" sy="100000" kx="0" ky="0" algn="bl" rotWithShape="0" blurRad="101600" dist="25400" dir="2700000">
              <a:srgbClr val="000000">
                <a:alpha val="10000"/>
              </a:srgbClr>
            </a:outerShdw>
          </a:effectLst>
        </p:spPr>
      </p:sp>
      <p:sp>
        <p:nvSpPr>
          <p:cNvPr id="28" name="Shape 26"/>
          <p:cNvSpPr/>
          <p:nvPr/>
        </p:nvSpPr>
        <p:spPr>
          <a:xfrm>
            <a:off x="4663440" y="960120"/>
            <a:ext cx="347472" cy="347472"/>
          </a:xfrm>
          <a:prstGeom prst="ellipse">
            <a:avLst/>
          </a:prstGeom>
          <a:solidFill>
            <a:srgbClr val="B87A2A"/>
          </a:solidFill>
          <a:ln w="19050">
            <a:solidFill>
              <a:srgbClr val="C8A84B"/>
            </a:solidFill>
            <a:prstDash val="solid"/>
          </a:ln>
        </p:spPr>
      </p:sp>
      <p:sp>
        <p:nvSpPr>
          <p:cNvPr id="29" name="Text 27"/>
          <p:cNvSpPr/>
          <p:nvPr/>
        </p:nvSpPr>
        <p:spPr>
          <a:xfrm>
            <a:off x="4663440" y="9601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30" name="Text 28"/>
          <p:cNvSpPr/>
          <p:nvPr/>
        </p:nvSpPr>
        <p:spPr>
          <a:xfrm>
            <a:off x="4572000" y="969264"/>
            <a:ext cx="1975104" cy="1170432"/>
          </a:xfrm>
          <a:prstGeom prst="rect">
            <a:avLst/>
          </a:prstGeom>
          <a:noFill/>
          <a:ln/>
        </p:spPr>
        <p:txBody>
          <a:bodyPr wrap="square" rtlCol="0" anchor="ctr"/>
          <a:lstStyle/>
          <a:p>
            <a:pPr algn="ctr" indent="0" marL="0">
              <a:buNone/>
            </a:pPr>
            <a:r>
              <a:rPr lang="en-US" sz="3800" dirty="0">
                <a:solidFill>
                  <a:srgbClr val="000000"/>
                </a:solidFill>
              </a:rPr>
              <a:t>💰</a:t>
            </a:r>
            <a:endParaRPr lang="en-US" sz="3800" dirty="0"/>
          </a:p>
        </p:txBody>
      </p:sp>
      <p:sp>
        <p:nvSpPr>
          <p:cNvPr id="31" name="Text 29"/>
          <p:cNvSpPr/>
          <p:nvPr/>
        </p:nvSpPr>
        <p:spPr>
          <a:xfrm>
            <a:off x="4663440" y="2194560"/>
            <a:ext cx="1792224" cy="438912"/>
          </a:xfrm>
          <a:prstGeom prst="rect">
            <a:avLst/>
          </a:prstGeom>
          <a:noFill/>
          <a:ln/>
        </p:spPr>
        <p:txBody>
          <a:bodyPr wrap="square" lIns="0" tIns="0" rIns="0" bIns="0" rtlCol="0" anchor="ctr"/>
          <a:lstStyle/>
          <a:p>
            <a:pPr algn="ctr" indent="0" marL="0">
              <a:buNone/>
            </a:pPr>
            <a:r>
              <a:rPr lang="en-US" sz="1600" b="1" dirty="0">
                <a:solidFill>
                  <a:srgbClr val="B87A2A"/>
                </a:solidFill>
                <a:latin typeface="Cambria" pitchFamily="34" charset="0"/>
                <a:ea typeface="Cambria" pitchFamily="34" charset="-122"/>
                <a:cs typeface="Cambria" pitchFamily="34" charset="-120"/>
              </a:rPr>
              <a:t>Economics</a:t>
            </a:r>
            <a:endParaRPr lang="en-US" sz="1600" dirty="0"/>
          </a:p>
        </p:txBody>
      </p:sp>
      <p:sp>
        <p:nvSpPr>
          <p:cNvPr id="32" name="Text 30"/>
          <p:cNvSpPr/>
          <p:nvPr/>
        </p:nvSpPr>
        <p:spPr>
          <a:xfrm>
            <a:off x="4681728" y="2670048"/>
            <a:ext cx="1755648" cy="896112"/>
          </a:xfrm>
          <a:prstGeom prst="rect">
            <a:avLst/>
          </a:prstGeom>
          <a:noFill/>
          <a:ln/>
        </p:spPr>
        <p:txBody>
          <a:bodyPr wrap="square" lIns="0" tIns="0" rIns="0" bIns="0" rtlCol="0" anchor="ctr"/>
          <a:lstStyle/>
          <a:p>
            <a:pPr algn="ctr" indent="0" marL="0">
              <a:lnSpc>
                <a:spcPct val="140000"/>
              </a:lnSpc>
              <a:buNone/>
            </a:pPr>
            <a:r>
              <a:rPr lang="en-US" sz="1100" dirty="0">
                <a:solidFill>
                  <a:srgbClr val="3A4A6B"/>
                </a:solidFill>
                <a:latin typeface="Calibri" pitchFamily="34" charset="0"/>
                <a:ea typeface="Calibri" pitchFamily="34" charset="-122"/>
                <a:cs typeface="Calibri" pitchFamily="34" charset="-120"/>
              </a:rPr>
              <a:t>The study of how people use limited resources to meet their needs.</a:t>
            </a:r>
            <a:endParaRPr lang="en-US" sz="1100" dirty="0"/>
          </a:p>
        </p:txBody>
      </p:sp>
      <p:sp>
        <p:nvSpPr>
          <p:cNvPr id="33" name="Shape 31"/>
          <p:cNvSpPr/>
          <p:nvPr/>
        </p:nvSpPr>
        <p:spPr>
          <a:xfrm>
            <a:off x="4663440" y="3621024"/>
            <a:ext cx="1792224" cy="1097280"/>
          </a:xfrm>
          <a:prstGeom prst="roundRect">
            <a:avLst>
              <a:gd name="adj" fmla="val 5833"/>
            </a:avLst>
          </a:prstGeom>
          <a:solidFill>
            <a:srgbClr val="F5EDD8"/>
          </a:solidFill>
          <a:ln w="10160">
            <a:solidFill>
              <a:srgbClr val="B87A2A"/>
            </a:solidFill>
            <a:prstDash val="solid"/>
          </a:ln>
        </p:spPr>
      </p:sp>
      <p:sp>
        <p:nvSpPr>
          <p:cNvPr id="34" name="Text 32"/>
          <p:cNvSpPr/>
          <p:nvPr/>
        </p:nvSpPr>
        <p:spPr>
          <a:xfrm>
            <a:off x="4736592" y="3639312"/>
            <a:ext cx="1645920" cy="1060704"/>
          </a:xfrm>
          <a:prstGeom prst="rect">
            <a:avLst/>
          </a:prstGeom>
          <a:noFill/>
          <a:ln/>
        </p:spPr>
        <p:txBody>
          <a:bodyPr wrap="square" rtlCol="0" anchor="ctr"/>
          <a:lstStyle/>
          <a:p>
            <a:pPr algn="ctr" indent="0" marL="0">
              <a:lnSpc>
                <a:spcPct val="138000"/>
              </a:lnSpc>
              <a:buNone/>
            </a:pPr>
            <a:r>
              <a:rPr lang="en-US" sz="1100" i="1" dirty="0">
                <a:solidFill>
                  <a:srgbClr val="0E1C42"/>
                </a:solidFill>
                <a:latin typeface="Calibri" pitchFamily="34" charset="0"/>
                <a:ea typeface="Calibri" pitchFamily="34" charset="-122"/>
                <a:cs typeface="Calibri" pitchFamily="34" charset="-120"/>
              </a:rPr>
              <a:t>What does your community have plenty of — and what does it lack?</a:t>
            </a:r>
            <a:endParaRPr lang="en-US" sz="1100" dirty="0"/>
          </a:p>
        </p:txBody>
      </p:sp>
      <p:sp>
        <p:nvSpPr>
          <p:cNvPr id="35" name="Shape 33"/>
          <p:cNvSpPr/>
          <p:nvPr/>
        </p:nvSpPr>
        <p:spPr>
          <a:xfrm>
            <a:off x="6859829" y="749808"/>
            <a:ext cx="1678838" cy="1097280"/>
          </a:xfrm>
          <a:prstGeom prst="ellipse">
            <a:avLst/>
          </a:prstGeom>
          <a:solidFill>
            <a:srgbClr val="D4943A">
              <a:alpha val="17000"/>
            </a:srgbClr>
          </a:solidFill>
          <a:ln w="12700">
            <a:solidFill>
              <a:srgbClr val="333333"/>
            </a:solidFill>
            <a:prstDash val="solid"/>
          </a:ln>
        </p:spPr>
      </p:sp>
      <p:sp>
        <p:nvSpPr>
          <p:cNvPr id="36" name="Shape 34"/>
          <p:cNvSpPr/>
          <p:nvPr/>
        </p:nvSpPr>
        <p:spPr>
          <a:xfrm>
            <a:off x="7229173" y="991210"/>
            <a:ext cx="940150" cy="614477"/>
          </a:xfrm>
          <a:prstGeom prst="ellipse">
            <a:avLst/>
          </a:prstGeom>
          <a:solidFill>
            <a:srgbClr val="D4943A">
              <a:alpha val="27000"/>
            </a:srgbClr>
          </a:solidFill>
          <a:ln w="12700">
            <a:solidFill>
              <a:srgbClr val="333333"/>
            </a:solidFill>
            <a:prstDash val="solid"/>
          </a:ln>
        </p:spPr>
      </p:sp>
      <p:sp>
        <p:nvSpPr>
          <p:cNvPr id="37" name="Shape 35"/>
          <p:cNvSpPr/>
          <p:nvPr/>
        </p:nvSpPr>
        <p:spPr>
          <a:xfrm>
            <a:off x="6711696" y="868680"/>
            <a:ext cx="1975104" cy="3950208"/>
          </a:xfrm>
          <a:prstGeom prst="roundRect">
            <a:avLst>
              <a:gd name="adj" fmla="val 4630"/>
            </a:avLst>
          </a:prstGeom>
          <a:solidFill>
            <a:srgbClr val="E8EFF8"/>
          </a:solidFill>
          <a:ln w="19050">
            <a:solidFill>
              <a:srgbClr val="2C5F8A"/>
            </a:solidFill>
            <a:prstDash val="solid"/>
          </a:ln>
          <a:effectLst>
            <a:outerShdw sx="100000" sy="100000" kx="0" ky="0" algn="bl" rotWithShape="0" blurRad="101600" dist="25400" dir="2700000">
              <a:srgbClr val="000000">
                <a:alpha val="10000"/>
              </a:srgbClr>
            </a:outerShdw>
          </a:effectLst>
        </p:spPr>
      </p:sp>
      <p:sp>
        <p:nvSpPr>
          <p:cNvPr id="38" name="Shape 36"/>
          <p:cNvSpPr/>
          <p:nvPr/>
        </p:nvSpPr>
        <p:spPr>
          <a:xfrm>
            <a:off x="6803136" y="960120"/>
            <a:ext cx="347472" cy="347472"/>
          </a:xfrm>
          <a:prstGeom prst="ellipse">
            <a:avLst/>
          </a:prstGeom>
          <a:solidFill>
            <a:srgbClr val="2C5F8A"/>
          </a:solidFill>
          <a:ln w="19050">
            <a:solidFill>
              <a:srgbClr val="C8A84B"/>
            </a:solidFill>
            <a:prstDash val="solid"/>
          </a:ln>
        </p:spPr>
      </p:sp>
      <p:sp>
        <p:nvSpPr>
          <p:cNvPr id="39" name="Text 37"/>
          <p:cNvSpPr/>
          <p:nvPr/>
        </p:nvSpPr>
        <p:spPr>
          <a:xfrm>
            <a:off x="6803136" y="9601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40" name="Text 38"/>
          <p:cNvSpPr/>
          <p:nvPr/>
        </p:nvSpPr>
        <p:spPr>
          <a:xfrm>
            <a:off x="6711696" y="969264"/>
            <a:ext cx="1975104" cy="1170432"/>
          </a:xfrm>
          <a:prstGeom prst="rect">
            <a:avLst/>
          </a:prstGeom>
          <a:noFill/>
          <a:ln/>
        </p:spPr>
        <p:txBody>
          <a:bodyPr wrap="square" rtlCol="0" anchor="ctr"/>
          <a:lstStyle/>
          <a:p>
            <a:pPr algn="ctr" indent="0" marL="0">
              <a:buNone/>
            </a:pPr>
            <a:r>
              <a:rPr lang="en-US" sz="3800" dirty="0">
                <a:solidFill>
                  <a:srgbClr val="000000"/>
                </a:solidFill>
              </a:rPr>
              <a:t>⚖️</a:t>
            </a:r>
            <a:endParaRPr lang="en-US" sz="3800" dirty="0"/>
          </a:p>
        </p:txBody>
      </p:sp>
      <p:sp>
        <p:nvSpPr>
          <p:cNvPr id="41" name="Text 39"/>
          <p:cNvSpPr/>
          <p:nvPr/>
        </p:nvSpPr>
        <p:spPr>
          <a:xfrm>
            <a:off x="6803136" y="2194560"/>
            <a:ext cx="1792224" cy="438912"/>
          </a:xfrm>
          <a:prstGeom prst="rect">
            <a:avLst/>
          </a:prstGeom>
          <a:noFill/>
          <a:ln/>
        </p:spPr>
        <p:txBody>
          <a:bodyPr wrap="square" lIns="0" tIns="0" rIns="0" bIns="0" rtlCol="0" anchor="ctr"/>
          <a:lstStyle/>
          <a:p>
            <a:pPr algn="ctr" indent="0" marL="0">
              <a:buNone/>
            </a:pPr>
            <a:r>
              <a:rPr lang="en-US" sz="1600" b="1" dirty="0">
                <a:solidFill>
                  <a:srgbClr val="2C5F8A"/>
                </a:solidFill>
                <a:latin typeface="Cambria" pitchFamily="34" charset="0"/>
                <a:ea typeface="Cambria" pitchFamily="34" charset="-122"/>
                <a:cs typeface="Cambria" pitchFamily="34" charset="-120"/>
              </a:rPr>
              <a:t>Civics</a:t>
            </a:r>
            <a:endParaRPr lang="en-US" sz="1600" dirty="0"/>
          </a:p>
        </p:txBody>
      </p:sp>
      <p:sp>
        <p:nvSpPr>
          <p:cNvPr id="42" name="Text 40"/>
          <p:cNvSpPr/>
          <p:nvPr/>
        </p:nvSpPr>
        <p:spPr>
          <a:xfrm>
            <a:off x="6821424" y="2670048"/>
            <a:ext cx="1755648" cy="896112"/>
          </a:xfrm>
          <a:prstGeom prst="rect">
            <a:avLst/>
          </a:prstGeom>
          <a:noFill/>
          <a:ln/>
        </p:spPr>
        <p:txBody>
          <a:bodyPr wrap="square" lIns="0" tIns="0" rIns="0" bIns="0" rtlCol="0" anchor="ctr"/>
          <a:lstStyle/>
          <a:p>
            <a:pPr algn="ctr" indent="0" marL="0">
              <a:lnSpc>
                <a:spcPct val="140000"/>
              </a:lnSpc>
              <a:buNone/>
            </a:pPr>
            <a:r>
              <a:rPr lang="en-US" sz="1100" dirty="0">
                <a:solidFill>
                  <a:srgbClr val="3A4A6B"/>
                </a:solidFill>
                <a:latin typeface="Calibri" pitchFamily="34" charset="0"/>
                <a:ea typeface="Calibri" pitchFamily="34" charset="-122"/>
                <a:cs typeface="Calibri" pitchFamily="34" charset="-120"/>
              </a:rPr>
              <a:t>The study of government, laws, rights, and citizen responsibilities.</a:t>
            </a:r>
            <a:endParaRPr lang="en-US" sz="1100" dirty="0"/>
          </a:p>
        </p:txBody>
      </p:sp>
      <p:sp>
        <p:nvSpPr>
          <p:cNvPr id="43" name="Shape 41"/>
          <p:cNvSpPr/>
          <p:nvPr/>
        </p:nvSpPr>
        <p:spPr>
          <a:xfrm>
            <a:off x="6803136" y="3621024"/>
            <a:ext cx="1792224" cy="1097280"/>
          </a:xfrm>
          <a:prstGeom prst="roundRect">
            <a:avLst>
              <a:gd name="adj" fmla="val 5833"/>
            </a:avLst>
          </a:prstGeom>
          <a:solidFill>
            <a:srgbClr val="F5EDD8"/>
          </a:solidFill>
          <a:ln w="10160">
            <a:solidFill>
              <a:srgbClr val="2C5F8A"/>
            </a:solidFill>
            <a:prstDash val="solid"/>
          </a:ln>
        </p:spPr>
      </p:sp>
      <p:sp>
        <p:nvSpPr>
          <p:cNvPr id="44" name="Text 42"/>
          <p:cNvSpPr/>
          <p:nvPr/>
        </p:nvSpPr>
        <p:spPr>
          <a:xfrm>
            <a:off x="6876288" y="3639312"/>
            <a:ext cx="1645920" cy="1060704"/>
          </a:xfrm>
          <a:prstGeom prst="rect">
            <a:avLst/>
          </a:prstGeom>
          <a:noFill/>
          <a:ln/>
        </p:spPr>
        <p:txBody>
          <a:bodyPr wrap="square" rtlCol="0" anchor="ctr"/>
          <a:lstStyle/>
          <a:p>
            <a:pPr algn="ctr" indent="0" marL="0">
              <a:lnSpc>
                <a:spcPct val="138000"/>
              </a:lnSpc>
              <a:buNone/>
            </a:pPr>
            <a:r>
              <a:rPr lang="en-US" sz="1100" i="1" dirty="0">
                <a:solidFill>
                  <a:srgbClr val="0E1C42"/>
                </a:solidFill>
                <a:latin typeface="Calibri" pitchFamily="34" charset="0"/>
                <a:ea typeface="Calibri" pitchFamily="34" charset="-122"/>
                <a:cs typeface="Calibri" pitchFamily="34" charset="-120"/>
              </a:rPr>
              <a:t>Name one rule in your community — WHY does it exist?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01F"/>
        </a:solidFill>
      </p:bgPr>
    </p:bg>
    <p:spTree>
      <p:nvGrpSpPr>
        <p:cNvPr id="1" name=""/>
        <p:cNvGrpSpPr/>
        <p:nvPr/>
      </p:nvGrpSpPr>
      <p:grpSpPr>
        <a:xfrm>
          <a:off x="0" y="0"/>
          <a:ext cx="0" cy="0"/>
          <a:chOff x="0" y="0"/>
          <a:chExt cx="0" cy="0"/>
        </a:xfrm>
      </p:grpSpPr>
      <p:sp>
        <p:nvSpPr>
          <p:cNvPr id="2" name="Shape 0"/>
          <p:cNvSpPr/>
          <p:nvPr/>
        </p:nvSpPr>
        <p:spPr>
          <a:xfrm>
            <a:off x="457200" y="-1645920"/>
            <a:ext cx="8229600" cy="4114800"/>
          </a:xfrm>
          <a:prstGeom prst="ellipse">
            <a:avLst/>
          </a:prstGeom>
          <a:solidFill>
            <a:srgbClr val="D4943A">
              <a:alpha val="12000"/>
            </a:srgbClr>
          </a:solidFill>
          <a:ln w="12700">
            <a:solidFill>
              <a:srgbClr val="333333"/>
            </a:solidFill>
            <a:prstDash val="solid"/>
          </a:ln>
        </p:spPr>
      </p:sp>
      <p:sp>
        <p:nvSpPr>
          <p:cNvPr id="3" name="Text 1"/>
          <p:cNvSpPr/>
          <p:nvPr/>
        </p:nvSpPr>
        <p:spPr>
          <a:xfrm>
            <a:off x="457200" y="292608"/>
            <a:ext cx="8229600" cy="68580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The Historian's Toolkit</a:t>
            </a:r>
            <a:endParaRPr lang="en-US" sz="3800" dirty="0"/>
          </a:p>
        </p:txBody>
      </p:sp>
      <p:sp>
        <p:nvSpPr>
          <p:cNvPr id="4" name="Text 2"/>
          <p:cNvSpPr/>
          <p:nvPr/>
        </p:nvSpPr>
        <p:spPr>
          <a:xfrm>
            <a:off x="731520" y="1024128"/>
            <a:ext cx="7680960" cy="685800"/>
          </a:xfrm>
          <a:prstGeom prst="rect">
            <a:avLst/>
          </a:prstGeom>
          <a:noFill/>
          <a:ln/>
        </p:spPr>
        <p:txBody>
          <a:bodyPr wrap="square" rtlCol="0" anchor="ctr"/>
          <a:lstStyle/>
          <a:p>
            <a:pPr algn="ctr" indent="0" marL="0">
              <a:lnSpc>
                <a:spcPct val="135000"/>
              </a:lnSpc>
              <a:buNone/>
            </a:pPr>
            <a:r>
              <a:rPr lang="en-US" sz="1450" dirty="0">
                <a:solidFill>
                  <a:srgbClr val="C8A84B"/>
                </a:solidFill>
                <a:latin typeface="Calibri" pitchFamily="34" charset="0"/>
                <a:ea typeface="Calibri" pitchFamily="34" charset="-122"/>
                <a:cs typeface="Calibri" pitchFamily="34" charset="-120"/>
              </a:rPr>
              <a:t>Historians cannot interview someone who lived 300 years ago.</a:t>
            </a:r>
            <a:endParaRPr lang="en-US" sz="1450" dirty="0"/>
          </a:p>
          <a:p>
            <a:pPr algn="ctr" indent="0" marL="0">
              <a:lnSpc>
                <a:spcPct val="135000"/>
              </a:lnSpc>
              <a:buNone/>
            </a:pPr>
            <a:r>
              <a:rPr lang="en-US" sz="1450" dirty="0">
                <a:solidFill>
                  <a:srgbClr val="C8A84B"/>
                </a:solidFill>
                <a:latin typeface="Calibri" pitchFamily="34" charset="0"/>
                <a:ea typeface="Calibri" pitchFamily="34" charset="-122"/>
                <a:cs typeface="Calibri" pitchFamily="34" charset="-120"/>
              </a:rPr>
              <a:t>They look at what that person LEFT BEHIND — in four forms.</a:t>
            </a:r>
            <a:endParaRPr lang="en-US" sz="1450" dirty="0"/>
          </a:p>
        </p:txBody>
      </p:sp>
      <p:sp>
        <p:nvSpPr>
          <p:cNvPr id="5" name="Shape 3"/>
          <p:cNvSpPr/>
          <p:nvPr/>
        </p:nvSpPr>
        <p:spPr>
          <a:xfrm>
            <a:off x="356616" y="1655064"/>
            <a:ext cx="1975104" cy="2670048"/>
          </a:xfrm>
          <a:prstGeom prst="roundRect">
            <a:avLst>
              <a:gd name="adj" fmla="val 6481"/>
            </a:avLst>
          </a:prstGeom>
          <a:solidFill>
            <a:srgbClr val="C7522A">
              <a:alpha val="32000"/>
            </a:srgbClr>
          </a:solidFill>
          <a:ln w="12700">
            <a:solidFill>
              <a:srgbClr val="333333"/>
            </a:solidFill>
            <a:prstDash val="solid"/>
          </a:ln>
        </p:spPr>
      </p:sp>
      <p:sp>
        <p:nvSpPr>
          <p:cNvPr id="6" name="Shape 4"/>
          <p:cNvSpPr/>
          <p:nvPr/>
        </p:nvSpPr>
        <p:spPr>
          <a:xfrm>
            <a:off x="420624" y="1719072"/>
            <a:ext cx="1847088" cy="2542032"/>
          </a:xfrm>
          <a:prstGeom prst="roundRect">
            <a:avLst>
              <a:gd name="adj" fmla="val 4455"/>
            </a:avLst>
          </a:prstGeom>
          <a:solidFill>
            <a:srgbClr val="07101F"/>
          </a:solidFill>
          <a:ln w="27940">
            <a:solidFill>
              <a:srgbClr val="C7522A"/>
            </a:solidFill>
            <a:prstDash val="solid"/>
          </a:ln>
          <a:effectLst>
            <a:outerShdw sx="100000" sy="100000" kx="0" ky="0" algn="bl" rotWithShape="0" blurRad="177800" dist="50800" dir="2700000">
              <a:srgbClr val="000000">
                <a:alpha val="22000"/>
              </a:srgbClr>
            </a:outerShdw>
          </a:effectLst>
        </p:spPr>
      </p:sp>
      <p:sp>
        <p:nvSpPr>
          <p:cNvPr id="7" name="Shape 5"/>
          <p:cNvSpPr/>
          <p:nvPr/>
        </p:nvSpPr>
        <p:spPr>
          <a:xfrm>
            <a:off x="531449" y="1820753"/>
            <a:ext cx="1625437" cy="1576060"/>
          </a:xfrm>
          <a:prstGeom prst="ellipse">
            <a:avLst/>
          </a:prstGeom>
          <a:solidFill>
            <a:srgbClr val="D4943A">
              <a:alpha val="17000"/>
            </a:srgbClr>
          </a:solidFill>
          <a:ln w="12700">
            <a:solidFill>
              <a:srgbClr val="333333"/>
            </a:solidFill>
            <a:prstDash val="solid"/>
          </a:ln>
        </p:spPr>
      </p:sp>
      <p:sp>
        <p:nvSpPr>
          <p:cNvPr id="8" name="Shape 6"/>
          <p:cNvSpPr/>
          <p:nvPr/>
        </p:nvSpPr>
        <p:spPr>
          <a:xfrm>
            <a:off x="889046" y="2167486"/>
            <a:ext cx="910245" cy="882594"/>
          </a:xfrm>
          <a:prstGeom prst="ellipse">
            <a:avLst/>
          </a:prstGeom>
          <a:solidFill>
            <a:srgbClr val="D4943A">
              <a:alpha val="27000"/>
            </a:srgbClr>
          </a:solidFill>
          <a:ln w="12700">
            <a:solidFill>
              <a:srgbClr val="333333"/>
            </a:solidFill>
            <a:prstDash val="solid"/>
          </a:ln>
        </p:spPr>
      </p:sp>
      <p:sp>
        <p:nvSpPr>
          <p:cNvPr id="9" name="Text 7"/>
          <p:cNvSpPr/>
          <p:nvPr/>
        </p:nvSpPr>
        <p:spPr>
          <a:xfrm>
            <a:off x="420624" y="1792224"/>
            <a:ext cx="1847088" cy="1525219"/>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10" name="Shape 8"/>
          <p:cNvSpPr/>
          <p:nvPr/>
        </p:nvSpPr>
        <p:spPr>
          <a:xfrm>
            <a:off x="548640" y="3785616"/>
            <a:ext cx="1591056" cy="384048"/>
          </a:xfrm>
          <a:prstGeom prst="roundRect">
            <a:avLst>
              <a:gd name="adj" fmla="val 11905"/>
            </a:avLst>
          </a:prstGeom>
          <a:solidFill>
            <a:srgbClr val="F5EDD8"/>
          </a:solidFill>
          <a:ln w="12700">
            <a:solidFill>
              <a:srgbClr val="C8A84B"/>
            </a:solidFill>
            <a:prstDash val="solid"/>
          </a:ln>
        </p:spPr>
      </p:sp>
      <p:sp>
        <p:nvSpPr>
          <p:cNvPr id="11" name="Text 9"/>
          <p:cNvSpPr/>
          <p:nvPr/>
        </p:nvSpPr>
        <p:spPr>
          <a:xfrm>
            <a:off x="548640" y="3785616"/>
            <a:ext cx="1591056" cy="384048"/>
          </a:xfrm>
          <a:prstGeom prst="rect">
            <a:avLst/>
          </a:prstGeom>
          <a:noFill/>
          <a:ln/>
        </p:spPr>
        <p:txBody>
          <a:bodyPr wrap="square" lIns="0" tIns="0" rIns="0" bIns="0" rtlCol="0" anchor="ctr"/>
          <a:lstStyle/>
          <a:p>
            <a:pPr algn="ctr" indent="0" marL="0">
              <a:buNone/>
            </a:pPr>
            <a:r>
              <a:rPr lang="en-US" sz="1150" b="1" dirty="0">
                <a:solidFill>
                  <a:srgbClr val="0E1C42"/>
                </a:solidFill>
                <a:latin typeface="Cambria" pitchFamily="34" charset="0"/>
                <a:ea typeface="Cambria" pitchFamily="34" charset="-122"/>
                <a:cs typeface="Cambria" pitchFamily="34" charset="-120"/>
              </a:rPr>
              <a:t>Artifacts</a:t>
            </a:r>
            <a:endParaRPr lang="en-US" sz="1150" dirty="0"/>
          </a:p>
        </p:txBody>
      </p:sp>
      <p:sp>
        <p:nvSpPr>
          <p:cNvPr id="12" name="Shape 10"/>
          <p:cNvSpPr/>
          <p:nvPr/>
        </p:nvSpPr>
        <p:spPr>
          <a:xfrm>
            <a:off x="2423160" y="1655064"/>
            <a:ext cx="1975104" cy="2670048"/>
          </a:xfrm>
          <a:prstGeom prst="roundRect">
            <a:avLst>
              <a:gd name="adj" fmla="val 6481"/>
            </a:avLst>
          </a:prstGeom>
          <a:solidFill>
            <a:srgbClr val="1A8A7D">
              <a:alpha val="32000"/>
            </a:srgbClr>
          </a:solidFill>
          <a:ln w="12700">
            <a:solidFill>
              <a:srgbClr val="333333"/>
            </a:solidFill>
            <a:prstDash val="solid"/>
          </a:ln>
        </p:spPr>
      </p:sp>
      <p:sp>
        <p:nvSpPr>
          <p:cNvPr id="13" name="Shape 11"/>
          <p:cNvSpPr/>
          <p:nvPr/>
        </p:nvSpPr>
        <p:spPr>
          <a:xfrm>
            <a:off x="2487168" y="1719072"/>
            <a:ext cx="1847088" cy="2542032"/>
          </a:xfrm>
          <a:prstGeom prst="roundRect">
            <a:avLst>
              <a:gd name="adj" fmla="val 4455"/>
            </a:avLst>
          </a:prstGeom>
          <a:solidFill>
            <a:srgbClr val="07101F"/>
          </a:solidFill>
          <a:ln w="27940">
            <a:solidFill>
              <a:srgbClr val="1A8A7D"/>
            </a:solidFill>
            <a:prstDash val="solid"/>
          </a:ln>
          <a:effectLst>
            <a:outerShdw sx="100000" sy="100000" kx="0" ky="0" algn="bl" rotWithShape="0" blurRad="177800" dist="50800" dir="2700000">
              <a:srgbClr val="000000">
                <a:alpha val="22000"/>
              </a:srgbClr>
            </a:outerShdw>
          </a:effectLst>
        </p:spPr>
      </p:sp>
      <p:sp>
        <p:nvSpPr>
          <p:cNvPr id="14" name="Shape 12"/>
          <p:cNvSpPr/>
          <p:nvPr/>
        </p:nvSpPr>
        <p:spPr>
          <a:xfrm>
            <a:off x="2597993" y="1820753"/>
            <a:ext cx="1625437" cy="1576060"/>
          </a:xfrm>
          <a:prstGeom prst="ellipse">
            <a:avLst/>
          </a:prstGeom>
          <a:solidFill>
            <a:srgbClr val="D4943A">
              <a:alpha val="17000"/>
            </a:srgbClr>
          </a:solidFill>
          <a:ln w="12700">
            <a:solidFill>
              <a:srgbClr val="333333"/>
            </a:solidFill>
            <a:prstDash val="solid"/>
          </a:ln>
        </p:spPr>
      </p:sp>
      <p:sp>
        <p:nvSpPr>
          <p:cNvPr id="15" name="Shape 13"/>
          <p:cNvSpPr/>
          <p:nvPr/>
        </p:nvSpPr>
        <p:spPr>
          <a:xfrm>
            <a:off x="2955590" y="2167486"/>
            <a:ext cx="910245" cy="882594"/>
          </a:xfrm>
          <a:prstGeom prst="ellipse">
            <a:avLst/>
          </a:prstGeom>
          <a:solidFill>
            <a:srgbClr val="D4943A">
              <a:alpha val="27000"/>
            </a:srgbClr>
          </a:solidFill>
          <a:ln w="12700">
            <a:solidFill>
              <a:srgbClr val="333333"/>
            </a:solidFill>
            <a:prstDash val="solid"/>
          </a:ln>
        </p:spPr>
      </p:sp>
      <p:sp>
        <p:nvSpPr>
          <p:cNvPr id="16" name="Text 14"/>
          <p:cNvSpPr/>
          <p:nvPr/>
        </p:nvSpPr>
        <p:spPr>
          <a:xfrm>
            <a:off x="2487168" y="1792224"/>
            <a:ext cx="1847088" cy="1525219"/>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17" name="Shape 15"/>
          <p:cNvSpPr/>
          <p:nvPr/>
        </p:nvSpPr>
        <p:spPr>
          <a:xfrm>
            <a:off x="2615184" y="3785616"/>
            <a:ext cx="1591056" cy="384048"/>
          </a:xfrm>
          <a:prstGeom prst="roundRect">
            <a:avLst>
              <a:gd name="adj" fmla="val 11905"/>
            </a:avLst>
          </a:prstGeom>
          <a:solidFill>
            <a:srgbClr val="F5EDD8"/>
          </a:solidFill>
          <a:ln w="12700">
            <a:solidFill>
              <a:srgbClr val="C8A84B"/>
            </a:solidFill>
            <a:prstDash val="solid"/>
          </a:ln>
        </p:spPr>
      </p:sp>
      <p:sp>
        <p:nvSpPr>
          <p:cNvPr id="18" name="Text 16"/>
          <p:cNvSpPr/>
          <p:nvPr/>
        </p:nvSpPr>
        <p:spPr>
          <a:xfrm>
            <a:off x="2615184" y="3785616"/>
            <a:ext cx="1591056" cy="384048"/>
          </a:xfrm>
          <a:prstGeom prst="rect">
            <a:avLst/>
          </a:prstGeom>
          <a:noFill/>
          <a:ln/>
        </p:spPr>
        <p:txBody>
          <a:bodyPr wrap="square" lIns="0" tIns="0" rIns="0" bIns="0" rtlCol="0" anchor="ctr"/>
          <a:lstStyle/>
          <a:p>
            <a:pPr algn="ctr" indent="0" marL="0">
              <a:buNone/>
            </a:pPr>
            <a:r>
              <a:rPr lang="en-US" sz="1150" b="1" dirty="0">
                <a:solidFill>
                  <a:srgbClr val="0E1C42"/>
                </a:solidFill>
                <a:latin typeface="Cambria" pitchFamily="34" charset="0"/>
                <a:ea typeface="Cambria" pitchFamily="34" charset="-122"/>
                <a:cs typeface="Cambria" pitchFamily="34" charset="-120"/>
              </a:rPr>
              <a:t>Maps</a:t>
            </a:r>
            <a:endParaRPr lang="en-US" sz="1150" dirty="0"/>
          </a:p>
        </p:txBody>
      </p:sp>
      <p:sp>
        <p:nvSpPr>
          <p:cNvPr id="19" name="Shape 17"/>
          <p:cNvSpPr/>
          <p:nvPr/>
        </p:nvSpPr>
        <p:spPr>
          <a:xfrm>
            <a:off x="4489704" y="1655064"/>
            <a:ext cx="1975104" cy="2670048"/>
          </a:xfrm>
          <a:prstGeom prst="roundRect">
            <a:avLst>
              <a:gd name="adj" fmla="val 6481"/>
            </a:avLst>
          </a:prstGeom>
          <a:solidFill>
            <a:srgbClr val="B87A2A">
              <a:alpha val="32000"/>
            </a:srgbClr>
          </a:solidFill>
          <a:ln w="12700">
            <a:solidFill>
              <a:srgbClr val="333333"/>
            </a:solidFill>
            <a:prstDash val="solid"/>
          </a:ln>
        </p:spPr>
      </p:sp>
      <p:sp>
        <p:nvSpPr>
          <p:cNvPr id="20" name="Shape 18"/>
          <p:cNvSpPr/>
          <p:nvPr/>
        </p:nvSpPr>
        <p:spPr>
          <a:xfrm>
            <a:off x="4553712" y="1719072"/>
            <a:ext cx="1847088" cy="2542032"/>
          </a:xfrm>
          <a:prstGeom prst="roundRect">
            <a:avLst>
              <a:gd name="adj" fmla="val 4455"/>
            </a:avLst>
          </a:prstGeom>
          <a:solidFill>
            <a:srgbClr val="07101F"/>
          </a:solidFill>
          <a:ln w="27940">
            <a:solidFill>
              <a:srgbClr val="B87A2A"/>
            </a:solidFill>
            <a:prstDash val="solid"/>
          </a:ln>
          <a:effectLst>
            <a:outerShdw sx="100000" sy="100000" kx="0" ky="0" algn="bl" rotWithShape="0" blurRad="177800" dist="50800" dir="2700000">
              <a:srgbClr val="000000">
                <a:alpha val="22000"/>
              </a:srgbClr>
            </a:outerShdw>
          </a:effectLst>
        </p:spPr>
      </p:sp>
      <p:sp>
        <p:nvSpPr>
          <p:cNvPr id="21" name="Shape 19"/>
          <p:cNvSpPr/>
          <p:nvPr/>
        </p:nvSpPr>
        <p:spPr>
          <a:xfrm>
            <a:off x="4664537" y="1820753"/>
            <a:ext cx="1625437" cy="1576060"/>
          </a:xfrm>
          <a:prstGeom prst="ellipse">
            <a:avLst/>
          </a:prstGeom>
          <a:solidFill>
            <a:srgbClr val="D4943A">
              <a:alpha val="17000"/>
            </a:srgbClr>
          </a:solidFill>
          <a:ln w="12700">
            <a:solidFill>
              <a:srgbClr val="333333"/>
            </a:solidFill>
            <a:prstDash val="solid"/>
          </a:ln>
        </p:spPr>
      </p:sp>
      <p:sp>
        <p:nvSpPr>
          <p:cNvPr id="22" name="Shape 20"/>
          <p:cNvSpPr/>
          <p:nvPr/>
        </p:nvSpPr>
        <p:spPr>
          <a:xfrm>
            <a:off x="5022134" y="2167486"/>
            <a:ext cx="910245" cy="882594"/>
          </a:xfrm>
          <a:prstGeom prst="ellipse">
            <a:avLst/>
          </a:prstGeom>
          <a:solidFill>
            <a:srgbClr val="D4943A">
              <a:alpha val="27000"/>
            </a:srgbClr>
          </a:solidFill>
          <a:ln w="12700">
            <a:solidFill>
              <a:srgbClr val="333333"/>
            </a:solidFill>
            <a:prstDash val="solid"/>
          </a:ln>
        </p:spPr>
      </p:sp>
      <p:sp>
        <p:nvSpPr>
          <p:cNvPr id="23" name="Text 21"/>
          <p:cNvSpPr/>
          <p:nvPr/>
        </p:nvSpPr>
        <p:spPr>
          <a:xfrm>
            <a:off x="4553712" y="1792224"/>
            <a:ext cx="1847088" cy="1525219"/>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24" name="Shape 22"/>
          <p:cNvSpPr/>
          <p:nvPr/>
        </p:nvSpPr>
        <p:spPr>
          <a:xfrm>
            <a:off x="4681728" y="3785616"/>
            <a:ext cx="1591056" cy="384048"/>
          </a:xfrm>
          <a:prstGeom prst="roundRect">
            <a:avLst>
              <a:gd name="adj" fmla="val 11905"/>
            </a:avLst>
          </a:prstGeom>
          <a:solidFill>
            <a:srgbClr val="F5EDD8"/>
          </a:solidFill>
          <a:ln w="12700">
            <a:solidFill>
              <a:srgbClr val="C8A84B"/>
            </a:solidFill>
            <a:prstDash val="solid"/>
          </a:ln>
        </p:spPr>
      </p:sp>
      <p:sp>
        <p:nvSpPr>
          <p:cNvPr id="25" name="Text 23"/>
          <p:cNvSpPr/>
          <p:nvPr/>
        </p:nvSpPr>
        <p:spPr>
          <a:xfrm>
            <a:off x="4681728" y="3785616"/>
            <a:ext cx="1591056" cy="384048"/>
          </a:xfrm>
          <a:prstGeom prst="rect">
            <a:avLst/>
          </a:prstGeom>
          <a:noFill/>
          <a:ln/>
        </p:spPr>
        <p:txBody>
          <a:bodyPr wrap="square" lIns="0" tIns="0" rIns="0" bIns="0" rtlCol="0" anchor="ctr"/>
          <a:lstStyle/>
          <a:p>
            <a:pPr algn="ctr" indent="0" marL="0">
              <a:buNone/>
            </a:pPr>
            <a:r>
              <a:rPr lang="en-US" sz="1150" b="1" dirty="0">
                <a:solidFill>
                  <a:srgbClr val="0E1C42"/>
                </a:solidFill>
                <a:latin typeface="Cambria" pitchFamily="34" charset="0"/>
                <a:ea typeface="Cambria" pitchFamily="34" charset="-122"/>
                <a:cs typeface="Cambria" pitchFamily="34" charset="-120"/>
              </a:rPr>
              <a:t>Documents</a:t>
            </a:r>
            <a:endParaRPr lang="en-US" sz="1150" dirty="0"/>
          </a:p>
        </p:txBody>
      </p:sp>
      <p:sp>
        <p:nvSpPr>
          <p:cNvPr id="26" name="Shape 24"/>
          <p:cNvSpPr/>
          <p:nvPr/>
        </p:nvSpPr>
        <p:spPr>
          <a:xfrm>
            <a:off x="6556248" y="1655064"/>
            <a:ext cx="1975104" cy="2670048"/>
          </a:xfrm>
          <a:prstGeom prst="roundRect">
            <a:avLst>
              <a:gd name="adj" fmla="val 6481"/>
            </a:avLst>
          </a:prstGeom>
          <a:solidFill>
            <a:srgbClr val="9B6BD4">
              <a:alpha val="32000"/>
            </a:srgbClr>
          </a:solidFill>
          <a:ln w="12700">
            <a:solidFill>
              <a:srgbClr val="333333"/>
            </a:solidFill>
            <a:prstDash val="solid"/>
          </a:ln>
        </p:spPr>
      </p:sp>
      <p:sp>
        <p:nvSpPr>
          <p:cNvPr id="27" name="Shape 25"/>
          <p:cNvSpPr/>
          <p:nvPr/>
        </p:nvSpPr>
        <p:spPr>
          <a:xfrm>
            <a:off x="6620256" y="1719072"/>
            <a:ext cx="1847088" cy="2542032"/>
          </a:xfrm>
          <a:prstGeom prst="roundRect">
            <a:avLst>
              <a:gd name="adj" fmla="val 4455"/>
            </a:avLst>
          </a:prstGeom>
          <a:solidFill>
            <a:srgbClr val="07101F"/>
          </a:solidFill>
          <a:ln w="27940">
            <a:solidFill>
              <a:srgbClr val="9B6BD4"/>
            </a:solidFill>
            <a:prstDash val="solid"/>
          </a:ln>
          <a:effectLst>
            <a:outerShdw sx="100000" sy="100000" kx="0" ky="0" algn="bl" rotWithShape="0" blurRad="177800" dist="50800" dir="2700000">
              <a:srgbClr val="000000">
                <a:alpha val="22000"/>
              </a:srgbClr>
            </a:outerShdw>
          </a:effectLst>
        </p:spPr>
      </p:sp>
      <p:sp>
        <p:nvSpPr>
          <p:cNvPr id="28" name="Shape 26"/>
          <p:cNvSpPr/>
          <p:nvPr/>
        </p:nvSpPr>
        <p:spPr>
          <a:xfrm>
            <a:off x="6731081" y="1820753"/>
            <a:ext cx="1625437" cy="1576060"/>
          </a:xfrm>
          <a:prstGeom prst="ellipse">
            <a:avLst/>
          </a:prstGeom>
          <a:solidFill>
            <a:srgbClr val="D4943A">
              <a:alpha val="17000"/>
            </a:srgbClr>
          </a:solidFill>
          <a:ln w="12700">
            <a:solidFill>
              <a:srgbClr val="333333"/>
            </a:solidFill>
            <a:prstDash val="solid"/>
          </a:ln>
        </p:spPr>
      </p:sp>
      <p:sp>
        <p:nvSpPr>
          <p:cNvPr id="29" name="Shape 27"/>
          <p:cNvSpPr/>
          <p:nvPr/>
        </p:nvSpPr>
        <p:spPr>
          <a:xfrm>
            <a:off x="7088678" y="2167486"/>
            <a:ext cx="910245" cy="882594"/>
          </a:xfrm>
          <a:prstGeom prst="ellipse">
            <a:avLst/>
          </a:prstGeom>
          <a:solidFill>
            <a:srgbClr val="D4943A">
              <a:alpha val="27000"/>
            </a:srgbClr>
          </a:solidFill>
          <a:ln w="12700">
            <a:solidFill>
              <a:srgbClr val="333333"/>
            </a:solidFill>
            <a:prstDash val="solid"/>
          </a:ln>
        </p:spPr>
      </p:sp>
      <p:sp>
        <p:nvSpPr>
          <p:cNvPr id="30" name="Text 28"/>
          <p:cNvSpPr/>
          <p:nvPr/>
        </p:nvSpPr>
        <p:spPr>
          <a:xfrm>
            <a:off x="6620256" y="1792224"/>
            <a:ext cx="1847088" cy="1525219"/>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31" name="Shape 29"/>
          <p:cNvSpPr/>
          <p:nvPr/>
        </p:nvSpPr>
        <p:spPr>
          <a:xfrm>
            <a:off x="6748272" y="3785616"/>
            <a:ext cx="1591056" cy="384048"/>
          </a:xfrm>
          <a:prstGeom prst="roundRect">
            <a:avLst>
              <a:gd name="adj" fmla="val 11905"/>
            </a:avLst>
          </a:prstGeom>
          <a:solidFill>
            <a:srgbClr val="F5EDD8"/>
          </a:solidFill>
          <a:ln w="12700">
            <a:solidFill>
              <a:srgbClr val="C8A84B"/>
            </a:solidFill>
            <a:prstDash val="solid"/>
          </a:ln>
        </p:spPr>
      </p:sp>
      <p:sp>
        <p:nvSpPr>
          <p:cNvPr id="32" name="Text 30"/>
          <p:cNvSpPr/>
          <p:nvPr/>
        </p:nvSpPr>
        <p:spPr>
          <a:xfrm>
            <a:off x="6748272" y="3785616"/>
            <a:ext cx="1591056" cy="384048"/>
          </a:xfrm>
          <a:prstGeom prst="rect">
            <a:avLst/>
          </a:prstGeom>
          <a:noFill/>
          <a:ln/>
        </p:spPr>
        <p:txBody>
          <a:bodyPr wrap="square" lIns="0" tIns="0" rIns="0" bIns="0" rtlCol="0" anchor="ctr"/>
          <a:lstStyle/>
          <a:p>
            <a:pPr algn="ctr" indent="0" marL="0">
              <a:buNone/>
            </a:pPr>
            <a:r>
              <a:rPr lang="en-US" sz="1150" b="1" dirty="0">
                <a:solidFill>
                  <a:srgbClr val="0E1C42"/>
                </a:solidFill>
                <a:latin typeface="Cambria" pitchFamily="34" charset="0"/>
                <a:ea typeface="Cambria" pitchFamily="34" charset="-122"/>
                <a:cs typeface="Cambria" pitchFamily="34" charset="-120"/>
              </a:rPr>
              <a:t>Photographs</a:t>
            </a:r>
            <a:endParaRPr lang="en-US" sz="1150" dirty="0"/>
          </a:p>
        </p:txBody>
      </p:sp>
      <p:sp>
        <p:nvSpPr>
          <p:cNvPr id="33" name="Text 31"/>
          <p:cNvSpPr/>
          <p:nvPr/>
        </p:nvSpPr>
        <p:spPr>
          <a:xfrm>
            <a:off x="731520" y="4462272"/>
            <a:ext cx="7680960" cy="384048"/>
          </a:xfrm>
          <a:prstGeom prst="rect">
            <a:avLst/>
          </a:prstGeom>
          <a:noFill/>
          <a:ln/>
        </p:spPr>
        <p:txBody>
          <a:bodyPr wrap="square" lIns="0" tIns="0" rIns="0" bIns="0" rtlCol="0" anchor="ctr"/>
          <a:lstStyle/>
          <a:p>
            <a:pPr algn="ctr" indent="0" marL="0">
              <a:buNone/>
            </a:pPr>
            <a:r>
              <a:rPr lang="en-US" sz="1350" i="1" dirty="0">
                <a:solidFill>
                  <a:srgbClr val="D4943A"/>
                </a:solidFill>
                <a:latin typeface="Calibri" pitchFamily="34" charset="0"/>
                <a:ea typeface="Calibri" pitchFamily="34" charset="-122"/>
                <a:cs typeface="Calibri" pitchFamily="34" charset="-120"/>
              </a:rPr>
              <a:t>We will examine each one — then look at a real source together.</a:t>
            </a:r>
            <a:endParaRPr lang="en-US" sz="1350" dirty="0"/>
          </a:p>
        </p:txBody>
      </p:sp>
      <p:sp>
        <p:nvSpPr>
          <p:cNvPr id="34" name="Shape 32"/>
          <p:cNvSpPr/>
          <p:nvPr/>
        </p:nvSpPr>
        <p:spPr>
          <a:xfrm>
            <a:off x="649224" y="4242816"/>
            <a:ext cx="164592" cy="256032"/>
          </a:xfrm>
          <a:prstGeom prst="ellipse">
            <a:avLst/>
          </a:prstGeom>
          <a:solidFill>
            <a:srgbClr val="C8A84B"/>
          </a:solidFill>
          <a:ln w="12700">
            <a:solidFill>
              <a:srgbClr val="333333"/>
            </a:solidFill>
            <a:prstDash val="solid"/>
          </a:ln>
        </p:spPr>
      </p:sp>
      <p:sp>
        <p:nvSpPr>
          <p:cNvPr id="35" name="Shape 33"/>
          <p:cNvSpPr/>
          <p:nvPr/>
        </p:nvSpPr>
        <p:spPr>
          <a:xfrm>
            <a:off x="8330184" y="4242816"/>
            <a:ext cx="164592" cy="256032"/>
          </a:xfrm>
          <a:prstGeom prst="ellipse">
            <a:avLst/>
          </a:prstGeom>
          <a:solidFill>
            <a:srgbClr val="C8A84B"/>
          </a:solidFill>
          <a:ln w="12700">
            <a:solidFill>
              <a:srgbClr val="333333"/>
            </a:solidFill>
            <a:prstDash val="solid"/>
          </a:ln>
        </p:spPr>
      </p:sp>
      <p:sp>
        <p:nvSpPr>
          <p:cNvPr id="36" name="Shape 34"/>
          <p:cNvSpPr/>
          <p:nvPr/>
        </p:nvSpPr>
        <p:spPr>
          <a:xfrm>
            <a:off x="731520" y="4370832"/>
            <a:ext cx="7680960" cy="0"/>
          </a:xfrm>
          <a:prstGeom prst="line">
            <a:avLst/>
          </a:prstGeom>
          <a:noFill/>
          <a:ln w="31750">
            <a:solidFill>
              <a:srgbClr val="C8A84B"/>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8A7D"/>
          </a:solidFill>
          <a:ln w="12700">
            <a:solidFill>
              <a:srgbClr val="333333"/>
            </a:solidFill>
            <a:prstDash val="solid"/>
          </a:ln>
        </p:spPr>
      </p:sp>
      <p:sp>
        <p:nvSpPr>
          <p:cNvPr id="3" name="Text 1"/>
          <p:cNvSpPr/>
          <p:nvPr/>
        </p:nvSpPr>
        <p:spPr>
          <a:xfrm>
            <a:off x="457200" y="0"/>
            <a:ext cx="8229600" cy="749808"/>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Exhibit 1 &amp; 4  —  Artifacts and Photographs</a:t>
            </a:r>
            <a:endParaRPr lang="en-US" sz="2000" dirty="0"/>
          </a:p>
        </p:txBody>
      </p:sp>
      <p:sp>
        <p:nvSpPr>
          <p:cNvPr id="4" name="Shape 2"/>
          <p:cNvSpPr/>
          <p:nvPr/>
        </p:nvSpPr>
        <p:spPr>
          <a:xfrm>
            <a:off x="283464" y="804672"/>
            <a:ext cx="3621024" cy="2048256"/>
          </a:xfrm>
          <a:prstGeom prst="roundRect">
            <a:avLst>
              <a:gd name="adj" fmla="val 6250"/>
            </a:avLst>
          </a:prstGeom>
          <a:solidFill>
            <a:srgbClr val="C7522A">
              <a:alpha val="32000"/>
            </a:srgbClr>
          </a:solidFill>
          <a:ln w="12700">
            <a:solidFill>
              <a:srgbClr val="333333"/>
            </a:solidFill>
            <a:prstDash val="solid"/>
          </a:ln>
        </p:spPr>
      </p:sp>
      <p:sp>
        <p:nvSpPr>
          <p:cNvPr id="5" name="Shape 3"/>
          <p:cNvSpPr/>
          <p:nvPr/>
        </p:nvSpPr>
        <p:spPr>
          <a:xfrm>
            <a:off x="347472" y="868680"/>
            <a:ext cx="3493008" cy="1920240"/>
          </a:xfrm>
          <a:prstGeom prst="roundRect">
            <a:avLst>
              <a:gd name="adj" fmla="val 4286"/>
            </a:avLst>
          </a:prstGeom>
          <a:solidFill>
            <a:srgbClr val="07101F"/>
          </a:solidFill>
          <a:ln w="27940">
            <a:solidFill>
              <a:srgbClr val="C7522A"/>
            </a:solidFill>
            <a:prstDash val="solid"/>
          </a:ln>
          <a:effectLst>
            <a:outerShdw sx="100000" sy="100000" kx="0" ky="0" algn="bl" rotWithShape="0" blurRad="177800" dist="50800" dir="2700000">
              <a:srgbClr val="000000">
                <a:alpha val="22000"/>
              </a:srgbClr>
            </a:outerShdw>
          </a:effectLst>
        </p:spPr>
      </p:sp>
      <p:sp>
        <p:nvSpPr>
          <p:cNvPr id="6" name="Shape 4"/>
          <p:cNvSpPr/>
          <p:nvPr/>
        </p:nvSpPr>
        <p:spPr>
          <a:xfrm>
            <a:off x="557052" y="945490"/>
            <a:ext cx="3073847" cy="1190549"/>
          </a:xfrm>
          <a:prstGeom prst="ellipse">
            <a:avLst/>
          </a:prstGeom>
          <a:solidFill>
            <a:srgbClr val="D4943A">
              <a:alpha val="17000"/>
            </a:srgbClr>
          </a:solidFill>
          <a:ln w="12700">
            <a:solidFill>
              <a:srgbClr val="333333"/>
            </a:solidFill>
            <a:prstDash val="solid"/>
          </a:ln>
        </p:spPr>
      </p:sp>
      <p:sp>
        <p:nvSpPr>
          <p:cNvPr id="7" name="Shape 5"/>
          <p:cNvSpPr/>
          <p:nvPr/>
        </p:nvSpPr>
        <p:spPr>
          <a:xfrm>
            <a:off x="1233299" y="1207410"/>
            <a:ext cx="1721354" cy="666707"/>
          </a:xfrm>
          <a:prstGeom prst="ellipse">
            <a:avLst/>
          </a:prstGeom>
          <a:solidFill>
            <a:srgbClr val="D4943A">
              <a:alpha val="27000"/>
            </a:srgbClr>
          </a:solidFill>
          <a:ln w="12700">
            <a:solidFill>
              <a:srgbClr val="333333"/>
            </a:solidFill>
            <a:prstDash val="solid"/>
          </a:ln>
        </p:spPr>
      </p:sp>
      <p:sp>
        <p:nvSpPr>
          <p:cNvPr id="8" name="Text 6"/>
          <p:cNvSpPr/>
          <p:nvPr/>
        </p:nvSpPr>
        <p:spPr>
          <a:xfrm>
            <a:off x="347472" y="941832"/>
            <a:ext cx="3493008" cy="1152144"/>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9" name="Shape 7"/>
          <p:cNvSpPr/>
          <p:nvPr/>
        </p:nvSpPr>
        <p:spPr>
          <a:xfrm>
            <a:off x="475488" y="2313432"/>
            <a:ext cx="3236976" cy="384048"/>
          </a:xfrm>
          <a:prstGeom prst="roundRect">
            <a:avLst>
              <a:gd name="adj" fmla="val 11905"/>
            </a:avLst>
          </a:prstGeom>
          <a:solidFill>
            <a:srgbClr val="F5EDD8"/>
          </a:solidFill>
          <a:ln w="12700">
            <a:solidFill>
              <a:srgbClr val="C8A84B"/>
            </a:solidFill>
            <a:prstDash val="solid"/>
          </a:ln>
        </p:spPr>
      </p:sp>
      <p:sp>
        <p:nvSpPr>
          <p:cNvPr id="10" name="Text 8"/>
          <p:cNvSpPr/>
          <p:nvPr/>
        </p:nvSpPr>
        <p:spPr>
          <a:xfrm>
            <a:off x="475488" y="2313432"/>
            <a:ext cx="3236976" cy="384048"/>
          </a:xfrm>
          <a:prstGeom prst="rect">
            <a:avLst/>
          </a:prstGeom>
          <a:noFill/>
          <a:ln/>
        </p:spPr>
        <p:txBody>
          <a:bodyPr wrap="square" lIns="0" tIns="0" rIns="0" bIns="0" rtlCol="0" anchor="ctr"/>
          <a:lstStyle/>
          <a:p>
            <a:pPr algn="ctr" indent="0" marL="0">
              <a:buNone/>
            </a:pPr>
            <a:r>
              <a:rPr lang="en-US" sz="1150" b="1" dirty="0">
                <a:solidFill>
                  <a:srgbClr val="0E1C42"/>
                </a:solidFill>
                <a:latin typeface="Cambria" pitchFamily="34" charset="0"/>
                <a:ea typeface="Cambria" pitchFamily="34" charset="-122"/>
                <a:cs typeface="Cambria" pitchFamily="34" charset="-120"/>
              </a:rPr>
              <a:t>Artifact</a:t>
            </a:r>
            <a:endParaRPr lang="en-US" sz="1150" dirty="0"/>
          </a:p>
        </p:txBody>
      </p:sp>
      <p:sp>
        <p:nvSpPr>
          <p:cNvPr id="11" name="Shape 9"/>
          <p:cNvSpPr/>
          <p:nvPr/>
        </p:nvSpPr>
        <p:spPr>
          <a:xfrm>
            <a:off x="457200" y="978408"/>
            <a:ext cx="347472" cy="347472"/>
          </a:xfrm>
          <a:prstGeom prst="ellipse">
            <a:avLst/>
          </a:prstGeom>
          <a:solidFill>
            <a:srgbClr val="C7522A"/>
          </a:solidFill>
          <a:ln w="19050">
            <a:solidFill>
              <a:srgbClr val="C8A84B"/>
            </a:solidFill>
            <a:prstDash val="solid"/>
          </a:ln>
        </p:spPr>
      </p:sp>
      <p:sp>
        <p:nvSpPr>
          <p:cNvPr id="12" name="Text 10"/>
          <p:cNvSpPr/>
          <p:nvPr/>
        </p:nvSpPr>
        <p:spPr>
          <a:xfrm>
            <a:off x="457200" y="9784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3" name="Shape 11"/>
          <p:cNvSpPr/>
          <p:nvPr/>
        </p:nvSpPr>
        <p:spPr>
          <a:xfrm>
            <a:off x="5239512" y="804672"/>
            <a:ext cx="3621024" cy="2048256"/>
          </a:xfrm>
          <a:prstGeom prst="roundRect">
            <a:avLst>
              <a:gd name="adj" fmla="val 6250"/>
            </a:avLst>
          </a:prstGeom>
          <a:solidFill>
            <a:srgbClr val="9B6BD4">
              <a:alpha val="32000"/>
            </a:srgbClr>
          </a:solidFill>
          <a:ln w="12700">
            <a:solidFill>
              <a:srgbClr val="333333"/>
            </a:solidFill>
            <a:prstDash val="solid"/>
          </a:ln>
        </p:spPr>
      </p:sp>
      <p:sp>
        <p:nvSpPr>
          <p:cNvPr id="14" name="Shape 12"/>
          <p:cNvSpPr/>
          <p:nvPr/>
        </p:nvSpPr>
        <p:spPr>
          <a:xfrm>
            <a:off x="5303520" y="868680"/>
            <a:ext cx="3493008" cy="1920240"/>
          </a:xfrm>
          <a:prstGeom prst="roundRect">
            <a:avLst>
              <a:gd name="adj" fmla="val 4286"/>
            </a:avLst>
          </a:prstGeom>
          <a:solidFill>
            <a:srgbClr val="07101F"/>
          </a:solidFill>
          <a:ln w="27940">
            <a:solidFill>
              <a:srgbClr val="9B6BD4"/>
            </a:solidFill>
            <a:prstDash val="solid"/>
          </a:ln>
          <a:effectLst>
            <a:outerShdw sx="100000" sy="100000" kx="0" ky="0" algn="bl" rotWithShape="0" blurRad="177800" dist="50800" dir="2700000">
              <a:srgbClr val="000000">
                <a:alpha val="22000"/>
              </a:srgbClr>
            </a:outerShdw>
          </a:effectLst>
        </p:spPr>
      </p:sp>
      <p:sp>
        <p:nvSpPr>
          <p:cNvPr id="15" name="Shape 13"/>
          <p:cNvSpPr/>
          <p:nvPr/>
        </p:nvSpPr>
        <p:spPr>
          <a:xfrm>
            <a:off x="5513100" y="945490"/>
            <a:ext cx="3073847" cy="1190549"/>
          </a:xfrm>
          <a:prstGeom prst="ellipse">
            <a:avLst/>
          </a:prstGeom>
          <a:solidFill>
            <a:srgbClr val="D4943A">
              <a:alpha val="17000"/>
            </a:srgbClr>
          </a:solidFill>
          <a:ln w="12700">
            <a:solidFill>
              <a:srgbClr val="333333"/>
            </a:solidFill>
            <a:prstDash val="solid"/>
          </a:ln>
        </p:spPr>
      </p:sp>
      <p:sp>
        <p:nvSpPr>
          <p:cNvPr id="16" name="Shape 14"/>
          <p:cNvSpPr/>
          <p:nvPr/>
        </p:nvSpPr>
        <p:spPr>
          <a:xfrm>
            <a:off x="6189347" y="1207410"/>
            <a:ext cx="1721354" cy="666707"/>
          </a:xfrm>
          <a:prstGeom prst="ellipse">
            <a:avLst/>
          </a:prstGeom>
          <a:solidFill>
            <a:srgbClr val="D4943A">
              <a:alpha val="27000"/>
            </a:srgbClr>
          </a:solidFill>
          <a:ln w="12700">
            <a:solidFill>
              <a:srgbClr val="333333"/>
            </a:solidFill>
            <a:prstDash val="solid"/>
          </a:ln>
        </p:spPr>
      </p:sp>
      <p:sp>
        <p:nvSpPr>
          <p:cNvPr id="17" name="Text 15"/>
          <p:cNvSpPr/>
          <p:nvPr/>
        </p:nvSpPr>
        <p:spPr>
          <a:xfrm>
            <a:off x="5303520" y="941832"/>
            <a:ext cx="3493008" cy="1152144"/>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18" name="Shape 16"/>
          <p:cNvSpPr/>
          <p:nvPr/>
        </p:nvSpPr>
        <p:spPr>
          <a:xfrm>
            <a:off x="5431536" y="2313432"/>
            <a:ext cx="3236976" cy="384048"/>
          </a:xfrm>
          <a:prstGeom prst="roundRect">
            <a:avLst>
              <a:gd name="adj" fmla="val 11905"/>
            </a:avLst>
          </a:prstGeom>
          <a:solidFill>
            <a:srgbClr val="F5EDD8"/>
          </a:solidFill>
          <a:ln w="12700">
            <a:solidFill>
              <a:srgbClr val="C8A84B"/>
            </a:solidFill>
            <a:prstDash val="solid"/>
          </a:ln>
        </p:spPr>
      </p:sp>
      <p:sp>
        <p:nvSpPr>
          <p:cNvPr id="19" name="Text 17"/>
          <p:cNvSpPr/>
          <p:nvPr/>
        </p:nvSpPr>
        <p:spPr>
          <a:xfrm>
            <a:off x="5431536" y="2313432"/>
            <a:ext cx="3236976" cy="384048"/>
          </a:xfrm>
          <a:prstGeom prst="rect">
            <a:avLst/>
          </a:prstGeom>
          <a:noFill/>
          <a:ln/>
        </p:spPr>
        <p:txBody>
          <a:bodyPr wrap="square" lIns="0" tIns="0" rIns="0" bIns="0" rtlCol="0" anchor="ctr"/>
          <a:lstStyle/>
          <a:p>
            <a:pPr algn="ctr" indent="0" marL="0">
              <a:buNone/>
            </a:pPr>
            <a:r>
              <a:rPr lang="en-US" sz="1150" b="1" dirty="0">
                <a:solidFill>
                  <a:srgbClr val="0E1C42"/>
                </a:solidFill>
                <a:latin typeface="Cambria" pitchFamily="34" charset="0"/>
                <a:ea typeface="Cambria" pitchFamily="34" charset="-122"/>
                <a:cs typeface="Cambria" pitchFamily="34" charset="-120"/>
              </a:rPr>
              <a:t>Photograph</a:t>
            </a:r>
            <a:endParaRPr lang="en-US" sz="1150" dirty="0"/>
          </a:p>
        </p:txBody>
      </p:sp>
      <p:sp>
        <p:nvSpPr>
          <p:cNvPr id="20" name="Shape 18"/>
          <p:cNvSpPr/>
          <p:nvPr/>
        </p:nvSpPr>
        <p:spPr>
          <a:xfrm>
            <a:off x="5413248" y="978408"/>
            <a:ext cx="347472" cy="347472"/>
          </a:xfrm>
          <a:prstGeom prst="ellipse">
            <a:avLst/>
          </a:prstGeom>
          <a:solidFill>
            <a:srgbClr val="9B6BD4"/>
          </a:solidFill>
          <a:ln w="19050">
            <a:solidFill>
              <a:srgbClr val="C8A84B"/>
            </a:solidFill>
            <a:prstDash val="solid"/>
          </a:ln>
        </p:spPr>
      </p:sp>
      <p:sp>
        <p:nvSpPr>
          <p:cNvPr id="21" name="Text 19"/>
          <p:cNvSpPr/>
          <p:nvPr/>
        </p:nvSpPr>
        <p:spPr>
          <a:xfrm>
            <a:off x="5413248" y="9784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2" name="Shape 20"/>
          <p:cNvSpPr/>
          <p:nvPr/>
        </p:nvSpPr>
        <p:spPr>
          <a:xfrm>
            <a:off x="347472" y="2926080"/>
            <a:ext cx="3493008" cy="1097280"/>
          </a:xfrm>
          <a:prstGeom prst="roundRect">
            <a:avLst>
              <a:gd name="adj" fmla="val 8333"/>
            </a:avLst>
          </a:prstGeom>
          <a:solidFill>
            <a:srgbClr val="F5EDD8"/>
          </a:solidFill>
          <a:ln w="15240">
            <a:solidFill>
              <a:srgbClr val="C8A84B"/>
            </a:solidFill>
            <a:prstDash val="solid"/>
          </a:ln>
          <a:effectLst>
            <a:outerShdw sx="100000" sy="100000" kx="0" ky="0" algn="bl" rotWithShape="0" blurRad="101600" dist="25400" dir="2700000">
              <a:srgbClr val="000000">
                <a:alpha val="10000"/>
              </a:srgbClr>
            </a:outerShdw>
          </a:effectLst>
        </p:spPr>
      </p:sp>
      <p:sp>
        <p:nvSpPr>
          <p:cNvPr id="23" name="Text 21"/>
          <p:cNvSpPr/>
          <p:nvPr/>
        </p:nvSpPr>
        <p:spPr>
          <a:xfrm>
            <a:off x="530352" y="3017520"/>
            <a:ext cx="3127248" cy="914400"/>
          </a:xfrm>
          <a:prstGeom prst="rect">
            <a:avLst/>
          </a:prstGeom>
          <a:noFill/>
          <a:ln/>
        </p:spPr>
        <p:txBody>
          <a:bodyPr wrap="square" rtlCol="0" anchor="ctr"/>
          <a:lstStyle/>
          <a:p>
            <a:pPr algn="l" indent="0" marL="0">
              <a:lnSpc>
                <a:spcPct val="128000"/>
              </a:lnSpc>
              <a:buNone/>
            </a:pPr>
            <a:r>
              <a:rPr lang="en-US" sz="1100" b="1" dirty="0">
                <a:solidFill>
                  <a:srgbClr val="0E1C42"/>
                </a:solidFill>
                <a:latin typeface="Calibri" pitchFamily="34" charset="0"/>
                <a:ea typeface="Calibri" pitchFamily="34" charset="-122"/>
                <a:cs typeface="Calibri" pitchFamily="34" charset="-120"/>
              </a:rPr>
              <a:t>A physical object made or used by people in the past.
</a:t>
            </a:r>
            <a:endParaRPr lang="en-US" sz="1100" dirty="0"/>
          </a:p>
          <a:p>
            <a:pPr algn="l" indent="0" marL="0">
              <a:lnSpc>
                <a:spcPct val="128000"/>
              </a:lnSpc>
              <a:buNone/>
            </a:pPr>
            <a:r>
              <a:rPr lang="en-US" sz="1100" i="1" dirty="0">
                <a:solidFill>
                  <a:srgbClr val="3A4A6B"/>
                </a:solidFill>
                <a:latin typeface="Calibri" pitchFamily="34" charset="0"/>
                <a:ea typeface="Calibri" pitchFamily="34" charset="-122"/>
                <a:cs typeface="Calibri" pitchFamily="34" charset="-120"/>
              </a:rPr>
              <a:t>e.g. a coin, a tool, clothing, pottery, a piece of jewelry</a:t>
            </a:r>
            <a:endParaRPr lang="en-US" sz="1100" dirty="0"/>
          </a:p>
        </p:txBody>
      </p:sp>
      <p:sp>
        <p:nvSpPr>
          <p:cNvPr id="24" name="Shape 22"/>
          <p:cNvSpPr/>
          <p:nvPr/>
        </p:nvSpPr>
        <p:spPr>
          <a:xfrm>
            <a:off x="5303520" y="2926080"/>
            <a:ext cx="3493008" cy="1097280"/>
          </a:xfrm>
          <a:prstGeom prst="roundRect">
            <a:avLst>
              <a:gd name="adj" fmla="val 8333"/>
            </a:avLst>
          </a:prstGeom>
          <a:solidFill>
            <a:srgbClr val="F5EDD8"/>
          </a:solidFill>
          <a:ln w="15240">
            <a:solidFill>
              <a:srgbClr val="C8A84B"/>
            </a:solidFill>
            <a:prstDash val="solid"/>
          </a:ln>
          <a:effectLst>
            <a:outerShdw sx="100000" sy="100000" kx="0" ky="0" algn="bl" rotWithShape="0" blurRad="101600" dist="25400" dir="2700000">
              <a:srgbClr val="000000">
                <a:alpha val="10000"/>
              </a:srgbClr>
            </a:outerShdw>
          </a:effectLst>
        </p:spPr>
      </p:sp>
      <p:sp>
        <p:nvSpPr>
          <p:cNvPr id="25" name="Text 23"/>
          <p:cNvSpPr/>
          <p:nvPr/>
        </p:nvSpPr>
        <p:spPr>
          <a:xfrm>
            <a:off x="5486400" y="3017520"/>
            <a:ext cx="3127248" cy="914400"/>
          </a:xfrm>
          <a:prstGeom prst="rect">
            <a:avLst/>
          </a:prstGeom>
          <a:noFill/>
          <a:ln/>
        </p:spPr>
        <p:txBody>
          <a:bodyPr wrap="square" rtlCol="0" anchor="ctr"/>
          <a:lstStyle/>
          <a:p>
            <a:pPr algn="l" indent="0" marL="0">
              <a:lnSpc>
                <a:spcPct val="128000"/>
              </a:lnSpc>
              <a:buNone/>
            </a:pPr>
            <a:r>
              <a:rPr lang="en-US" sz="1100" b="1" dirty="0">
                <a:solidFill>
                  <a:srgbClr val="0E1C42"/>
                </a:solidFill>
                <a:latin typeface="Calibri" pitchFamily="34" charset="0"/>
                <a:ea typeface="Calibri" pitchFamily="34" charset="-122"/>
                <a:cs typeface="Calibri" pitchFamily="34" charset="-120"/>
              </a:rPr>
              <a:t>A visual image captured at a specific moment in time.
</a:t>
            </a:r>
            <a:endParaRPr lang="en-US" sz="1100" dirty="0"/>
          </a:p>
          <a:p>
            <a:pPr algn="l" indent="0" marL="0">
              <a:lnSpc>
                <a:spcPct val="128000"/>
              </a:lnSpc>
              <a:buNone/>
            </a:pPr>
            <a:r>
              <a:rPr lang="en-US" sz="1100" i="1" dirty="0">
                <a:solidFill>
                  <a:srgbClr val="3A4A6B"/>
                </a:solidFill>
                <a:latin typeface="Calibri" pitchFamily="34" charset="0"/>
                <a:ea typeface="Calibri" pitchFamily="34" charset="-122"/>
                <a:cs typeface="Calibri" pitchFamily="34" charset="-120"/>
              </a:rPr>
              <a:t>e.g. a family portrait, a community gathering, a landscape</a:t>
            </a:r>
            <a:endParaRPr lang="en-US" sz="1100" dirty="0"/>
          </a:p>
        </p:txBody>
      </p:sp>
      <p:sp>
        <p:nvSpPr>
          <p:cNvPr id="26" name="Shape 24"/>
          <p:cNvSpPr/>
          <p:nvPr/>
        </p:nvSpPr>
        <p:spPr>
          <a:xfrm>
            <a:off x="4572000" y="868680"/>
            <a:ext cx="0" cy="3931920"/>
          </a:xfrm>
          <a:prstGeom prst="line">
            <a:avLst/>
          </a:prstGeom>
          <a:noFill/>
          <a:ln w="10160">
            <a:solidFill>
              <a:srgbClr val="C8A84B">
                <a:alpha val="40000"/>
              </a:srgbClr>
            </a:solidFill>
            <a:prstDash val="solid"/>
          </a:ln>
        </p:spPr>
      </p:sp>
      <p:sp>
        <p:nvSpPr>
          <p:cNvPr id="27" name="Shape 25"/>
          <p:cNvSpPr/>
          <p:nvPr/>
        </p:nvSpPr>
        <p:spPr>
          <a:xfrm>
            <a:off x="347472" y="4096512"/>
            <a:ext cx="4114800" cy="914400"/>
          </a:xfrm>
          <a:prstGeom prst="roundRect">
            <a:avLst>
              <a:gd name="adj" fmla="val 10000"/>
            </a:avLst>
          </a:prstGeom>
          <a:solidFill>
            <a:srgbClr val="EAF7E6"/>
          </a:solidFill>
          <a:ln w="22860">
            <a:solidFill>
              <a:srgbClr val="2E7D4F"/>
            </a:solidFill>
            <a:prstDash val="solid"/>
          </a:ln>
          <a:effectLst>
            <a:outerShdw sx="100000" sy="100000" kx="0" ky="0" algn="bl" rotWithShape="0" blurRad="101600" dist="25400" dir="2700000">
              <a:srgbClr val="000000">
                <a:alpha val="10000"/>
              </a:srgbClr>
            </a:outerShdw>
          </a:effectLst>
        </p:spPr>
      </p:sp>
      <p:sp>
        <p:nvSpPr>
          <p:cNvPr id="28" name="Text 26"/>
          <p:cNvSpPr/>
          <p:nvPr/>
        </p:nvSpPr>
        <p:spPr>
          <a:xfrm>
            <a:off x="484632" y="4187952"/>
            <a:ext cx="3840480" cy="320040"/>
          </a:xfrm>
          <a:prstGeom prst="rect">
            <a:avLst/>
          </a:prstGeom>
          <a:noFill/>
          <a:ln/>
        </p:spPr>
        <p:txBody>
          <a:bodyPr wrap="square" lIns="0" tIns="0" rIns="0" bIns="0" rtlCol="0" anchor="ctr"/>
          <a:lstStyle/>
          <a:p>
            <a:pPr indent="0" marL="0">
              <a:buNone/>
            </a:pPr>
            <a:r>
              <a:rPr lang="en-US" sz="1150" b="1" dirty="0">
                <a:solidFill>
                  <a:srgbClr val="2E7D4F"/>
                </a:solidFill>
                <a:latin typeface="Calibri" pitchFamily="34" charset="0"/>
                <a:ea typeface="Calibri" pitchFamily="34" charset="-122"/>
                <a:cs typeface="Calibri" pitchFamily="34" charset="-120"/>
              </a:rPr>
              <a:t>Raise Your Hand</a:t>
            </a:r>
            <a:endParaRPr lang="en-US" sz="1150" dirty="0"/>
          </a:p>
        </p:txBody>
      </p:sp>
      <p:sp>
        <p:nvSpPr>
          <p:cNvPr id="29" name="Shape 27"/>
          <p:cNvSpPr/>
          <p:nvPr/>
        </p:nvSpPr>
        <p:spPr>
          <a:xfrm>
            <a:off x="484632" y="4526280"/>
            <a:ext cx="3840480" cy="0"/>
          </a:xfrm>
          <a:prstGeom prst="line">
            <a:avLst/>
          </a:prstGeom>
          <a:noFill/>
          <a:ln w="10160">
            <a:solidFill>
              <a:srgbClr val="2E7D4F"/>
            </a:solidFill>
            <a:prstDash val="solid"/>
          </a:ln>
        </p:spPr>
      </p:sp>
      <p:sp>
        <p:nvSpPr>
          <p:cNvPr id="30" name="Text 28"/>
          <p:cNvSpPr/>
          <p:nvPr/>
        </p:nvSpPr>
        <p:spPr>
          <a:xfrm>
            <a:off x="484632" y="4581144"/>
            <a:ext cx="3840480" cy="320040"/>
          </a:xfrm>
          <a:prstGeom prst="rect">
            <a:avLst/>
          </a:prstGeom>
          <a:noFill/>
          <a:ln/>
        </p:spPr>
        <p:txBody>
          <a:bodyPr wrap="square" lIns="0" tIns="0" rIns="0" bIns="0" rtlCol="0" anchor="ctr"/>
          <a:lstStyle/>
          <a:p>
            <a:pPr algn="l" indent="0" marL="0">
              <a:lnSpc>
                <a:spcPct val="138000"/>
              </a:lnSpc>
              <a:buNone/>
            </a:pPr>
            <a:r>
              <a:rPr lang="en-US" sz="1250" dirty="0">
                <a:solidFill>
                  <a:srgbClr val="3A4A6B"/>
                </a:solidFill>
                <a:latin typeface="Calibri" pitchFamily="34" charset="0"/>
                <a:ea typeface="Calibri" pitchFamily="34" charset="-122"/>
                <a:cs typeface="Calibri" pitchFamily="34" charset="-120"/>
              </a:rPr>
              <a:t>If a future historian found YOUR backpack — what would they get WRONG about you?</a:t>
            </a:r>
            <a:endParaRPr lang="en-US" sz="1250" dirty="0"/>
          </a:p>
        </p:txBody>
      </p:sp>
      <p:sp>
        <p:nvSpPr>
          <p:cNvPr id="31" name="Shape 29"/>
          <p:cNvSpPr/>
          <p:nvPr/>
        </p:nvSpPr>
        <p:spPr>
          <a:xfrm>
            <a:off x="4681728" y="4096512"/>
            <a:ext cx="4114800" cy="914400"/>
          </a:xfrm>
          <a:prstGeom prst="roundRect">
            <a:avLst>
              <a:gd name="adj" fmla="val 10000"/>
            </a:avLst>
          </a:prstGeom>
          <a:solidFill>
            <a:srgbClr val="E0F5F0"/>
          </a:solidFill>
          <a:ln w="22860">
            <a:solidFill>
              <a:srgbClr val="1A8A7D"/>
            </a:solidFill>
            <a:prstDash val="solid"/>
          </a:ln>
          <a:effectLst>
            <a:outerShdw sx="100000" sy="100000" kx="0" ky="0" algn="bl" rotWithShape="0" blurRad="101600" dist="25400" dir="2700000">
              <a:srgbClr val="000000">
                <a:alpha val="10000"/>
              </a:srgbClr>
            </a:outerShdw>
          </a:effectLst>
        </p:spPr>
      </p:sp>
      <p:sp>
        <p:nvSpPr>
          <p:cNvPr id="32" name="Text 30"/>
          <p:cNvSpPr/>
          <p:nvPr/>
        </p:nvSpPr>
        <p:spPr>
          <a:xfrm>
            <a:off x="4818888" y="4187952"/>
            <a:ext cx="3840480" cy="320040"/>
          </a:xfrm>
          <a:prstGeom prst="rect">
            <a:avLst/>
          </a:prstGeom>
          <a:noFill/>
          <a:ln/>
        </p:spPr>
        <p:txBody>
          <a:bodyPr wrap="square" lIns="0" tIns="0" rIns="0" bIns="0" rtlCol="0" anchor="ctr"/>
          <a:lstStyle/>
          <a:p>
            <a:pPr indent="0" marL="0">
              <a:buNone/>
            </a:pPr>
            <a:r>
              <a:rPr lang="en-US" sz="1150" b="1" dirty="0">
                <a:solidFill>
                  <a:srgbClr val="1A8A7D"/>
                </a:solidFill>
                <a:latin typeface="Calibri" pitchFamily="34" charset="0"/>
                <a:ea typeface="Calibri" pitchFamily="34" charset="-122"/>
                <a:cs typeface="Calibri" pitchFamily="34" charset="-120"/>
              </a:rPr>
              <a:t>In the Chat</a:t>
            </a:r>
            <a:endParaRPr lang="en-US" sz="1150" dirty="0"/>
          </a:p>
        </p:txBody>
      </p:sp>
      <p:sp>
        <p:nvSpPr>
          <p:cNvPr id="33" name="Shape 31"/>
          <p:cNvSpPr/>
          <p:nvPr/>
        </p:nvSpPr>
        <p:spPr>
          <a:xfrm>
            <a:off x="4818888" y="4526280"/>
            <a:ext cx="3840480" cy="0"/>
          </a:xfrm>
          <a:prstGeom prst="line">
            <a:avLst/>
          </a:prstGeom>
          <a:noFill/>
          <a:ln w="10160">
            <a:solidFill>
              <a:srgbClr val="1A8A7D"/>
            </a:solidFill>
            <a:prstDash val="solid"/>
          </a:ln>
        </p:spPr>
      </p:sp>
      <p:sp>
        <p:nvSpPr>
          <p:cNvPr id="34" name="Text 32"/>
          <p:cNvSpPr/>
          <p:nvPr/>
        </p:nvSpPr>
        <p:spPr>
          <a:xfrm>
            <a:off x="4818888" y="4581144"/>
            <a:ext cx="3840480" cy="320040"/>
          </a:xfrm>
          <a:prstGeom prst="rect">
            <a:avLst/>
          </a:prstGeom>
          <a:noFill/>
          <a:ln/>
        </p:spPr>
        <p:txBody>
          <a:bodyPr wrap="square" lIns="0" tIns="0" rIns="0" bIns="0" rtlCol="0" anchor="ctr"/>
          <a:lstStyle/>
          <a:p>
            <a:pPr algn="l" indent="0" marL="0">
              <a:lnSpc>
                <a:spcPct val="138000"/>
              </a:lnSpc>
              <a:buNone/>
            </a:pPr>
            <a:r>
              <a:rPr lang="en-US" sz="1250" dirty="0">
                <a:solidFill>
                  <a:srgbClr val="3A4A6B"/>
                </a:solidFill>
                <a:latin typeface="Calibri" pitchFamily="34" charset="0"/>
                <a:ea typeface="Calibri" pitchFamily="34" charset="-122"/>
                <a:cs typeface="Calibri" pitchFamily="34" charset="-120"/>
              </a:rPr>
              <a:t>What can a photo show that a coin NEVER could? Type one thing.</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B87A2A"/>
          </a:solidFill>
          <a:ln w="12700">
            <a:solidFill>
              <a:srgbClr val="333333"/>
            </a:solidFill>
            <a:prstDash val="solid"/>
          </a:ln>
        </p:spPr>
      </p:sp>
      <p:sp>
        <p:nvSpPr>
          <p:cNvPr id="3" name="Text 1"/>
          <p:cNvSpPr/>
          <p:nvPr/>
        </p:nvSpPr>
        <p:spPr>
          <a:xfrm>
            <a:off x="457200" y="0"/>
            <a:ext cx="8229600" cy="749808"/>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Exhibit 2 &amp; 3  —  Maps and Documents</a:t>
            </a:r>
            <a:endParaRPr lang="en-US" sz="2000" dirty="0"/>
          </a:p>
        </p:txBody>
      </p:sp>
      <p:sp>
        <p:nvSpPr>
          <p:cNvPr id="4" name="Shape 2"/>
          <p:cNvSpPr/>
          <p:nvPr/>
        </p:nvSpPr>
        <p:spPr>
          <a:xfrm>
            <a:off x="283464" y="804672"/>
            <a:ext cx="3621024" cy="2048256"/>
          </a:xfrm>
          <a:prstGeom prst="roundRect">
            <a:avLst>
              <a:gd name="adj" fmla="val 6250"/>
            </a:avLst>
          </a:prstGeom>
          <a:solidFill>
            <a:srgbClr val="1A8A7D">
              <a:alpha val="32000"/>
            </a:srgbClr>
          </a:solidFill>
          <a:ln w="12700">
            <a:solidFill>
              <a:srgbClr val="333333"/>
            </a:solidFill>
            <a:prstDash val="solid"/>
          </a:ln>
        </p:spPr>
      </p:sp>
      <p:sp>
        <p:nvSpPr>
          <p:cNvPr id="5" name="Shape 3"/>
          <p:cNvSpPr/>
          <p:nvPr/>
        </p:nvSpPr>
        <p:spPr>
          <a:xfrm>
            <a:off x="347472" y="868680"/>
            <a:ext cx="3493008" cy="1920240"/>
          </a:xfrm>
          <a:prstGeom prst="roundRect">
            <a:avLst>
              <a:gd name="adj" fmla="val 4286"/>
            </a:avLst>
          </a:prstGeom>
          <a:solidFill>
            <a:srgbClr val="07101F"/>
          </a:solidFill>
          <a:ln w="27940">
            <a:solidFill>
              <a:srgbClr val="1A8A7D"/>
            </a:solidFill>
            <a:prstDash val="solid"/>
          </a:ln>
          <a:effectLst>
            <a:outerShdw sx="100000" sy="100000" kx="0" ky="0" algn="bl" rotWithShape="0" blurRad="177800" dist="50800" dir="2700000">
              <a:srgbClr val="000000">
                <a:alpha val="22000"/>
              </a:srgbClr>
            </a:outerShdw>
          </a:effectLst>
        </p:spPr>
      </p:sp>
      <p:sp>
        <p:nvSpPr>
          <p:cNvPr id="6" name="Shape 4"/>
          <p:cNvSpPr/>
          <p:nvPr/>
        </p:nvSpPr>
        <p:spPr>
          <a:xfrm>
            <a:off x="557052" y="945490"/>
            <a:ext cx="3073847" cy="1190549"/>
          </a:xfrm>
          <a:prstGeom prst="ellipse">
            <a:avLst/>
          </a:prstGeom>
          <a:solidFill>
            <a:srgbClr val="D4943A">
              <a:alpha val="17000"/>
            </a:srgbClr>
          </a:solidFill>
          <a:ln w="12700">
            <a:solidFill>
              <a:srgbClr val="333333"/>
            </a:solidFill>
            <a:prstDash val="solid"/>
          </a:ln>
        </p:spPr>
      </p:sp>
      <p:sp>
        <p:nvSpPr>
          <p:cNvPr id="7" name="Shape 5"/>
          <p:cNvSpPr/>
          <p:nvPr/>
        </p:nvSpPr>
        <p:spPr>
          <a:xfrm>
            <a:off x="1233299" y="1207410"/>
            <a:ext cx="1721354" cy="666707"/>
          </a:xfrm>
          <a:prstGeom prst="ellipse">
            <a:avLst/>
          </a:prstGeom>
          <a:solidFill>
            <a:srgbClr val="D4943A">
              <a:alpha val="27000"/>
            </a:srgbClr>
          </a:solidFill>
          <a:ln w="12700">
            <a:solidFill>
              <a:srgbClr val="333333"/>
            </a:solidFill>
            <a:prstDash val="solid"/>
          </a:ln>
        </p:spPr>
      </p:sp>
      <p:sp>
        <p:nvSpPr>
          <p:cNvPr id="8" name="Text 6"/>
          <p:cNvSpPr/>
          <p:nvPr/>
        </p:nvSpPr>
        <p:spPr>
          <a:xfrm>
            <a:off x="347472" y="941832"/>
            <a:ext cx="3493008" cy="1152144"/>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9" name="Shape 7"/>
          <p:cNvSpPr/>
          <p:nvPr/>
        </p:nvSpPr>
        <p:spPr>
          <a:xfrm>
            <a:off x="475488" y="2313432"/>
            <a:ext cx="3236976" cy="384048"/>
          </a:xfrm>
          <a:prstGeom prst="roundRect">
            <a:avLst>
              <a:gd name="adj" fmla="val 11905"/>
            </a:avLst>
          </a:prstGeom>
          <a:solidFill>
            <a:srgbClr val="F5EDD8"/>
          </a:solidFill>
          <a:ln w="12700">
            <a:solidFill>
              <a:srgbClr val="C8A84B"/>
            </a:solidFill>
            <a:prstDash val="solid"/>
          </a:ln>
        </p:spPr>
      </p:sp>
      <p:sp>
        <p:nvSpPr>
          <p:cNvPr id="10" name="Text 8"/>
          <p:cNvSpPr/>
          <p:nvPr/>
        </p:nvSpPr>
        <p:spPr>
          <a:xfrm>
            <a:off x="475488" y="2313432"/>
            <a:ext cx="3236976" cy="384048"/>
          </a:xfrm>
          <a:prstGeom prst="rect">
            <a:avLst/>
          </a:prstGeom>
          <a:noFill/>
          <a:ln/>
        </p:spPr>
        <p:txBody>
          <a:bodyPr wrap="square" lIns="0" tIns="0" rIns="0" bIns="0" rtlCol="0" anchor="ctr"/>
          <a:lstStyle/>
          <a:p>
            <a:pPr algn="ctr" indent="0" marL="0">
              <a:buNone/>
            </a:pPr>
            <a:r>
              <a:rPr lang="en-US" sz="1150" b="1" dirty="0">
                <a:solidFill>
                  <a:srgbClr val="0E1C42"/>
                </a:solidFill>
                <a:latin typeface="Cambria" pitchFamily="34" charset="0"/>
                <a:ea typeface="Cambria" pitchFamily="34" charset="-122"/>
                <a:cs typeface="Cambria" pitchFamily="34" charset="-120"/>
              </a:rPr>
              <a:t>Map</a:t>
            </a:r>
            <a:endParaRPr lang="en-US" sz="1150" dirty="0"/>
          </a:p>
        </p:txBody>
      </p:sp>
      <p:sp>
        <p:nvSpPr>
          <p:cNvPr id="11" name="Shape 9"/>
          <p:cNvSpPr/>
          <p:nvPr/>
        </p:nvSpPr>
        <p:spPr>
          <a:xfrm>
            <a:off x="457200" y="978408"/>
            <a:ext cx="347472" cy="347472"/>
          </a:xfrm>
          <a:prstGeom prst="ellipse">
            <a:avLst/>
          </a:prstGeom>
          <a:solidFill>
            <a:srgbClr val="1A8A7D"/>
          </a:solidFill>
          <a:ln w="19050">
            <a:solidFill>
              <a:srgbClr val="C8A84B"/>
            </a:solidFill>
            <a:prstDash val="solid"/>
          </a:ln>
        </p:spPr>
      </p:sp>
      <p:sp>
        <p:nvSpPr>
          <p:cNvPr id="12" name="Text 10"/>
          <p:cNvSpPr/>
          <p:nvPr/>
        </p:nvSpPr>
        <p:spPr>
          <a:xfrm>
            <a:off x="457200" y="9784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3" name="Shape 11"/>
          <p:cNvSpPr/>
          <p:nvPr/>
        </p:nvSpPr>
        <p:spPr>
          <a:xfrm>
            <a:off x="5239512" y="804672"/>
            <a:ext cx="3621024" cy="2048256"/>
          </a:xfrm>
          <a:prstGeom prst="roundRect">
            <a:avLst>
              <a:gd name="adj" fmla="val 6250"/>
            </a:avLst>
          </a:prstGeom>
          <a:solidFill>
            <a:srgbClr val="B87A2A">
              <a:alpha val="32000"/>
            </a:srgbClr>
          </a:solidFill>
          <a:ln w="12700">
            <a:solidFill>
              <a:srgbClr val="333333"/>
            </a:solidFill>
            <a:prstDash val="solid"/>
          </a:ln>
        </p:spPr>
      </p:sp>
      <p:sp>
        <p:nvSpPr>
          <p:cNvPr id="14" name="Shape 12"/>
          <p:cNvSpPr/>
          <p:nvPr/>
        </p:nvSpPr>
        <p:spPr>
          <a:xfrm>
            <a:off x="5303520" y="868680"/>
            <a:ext cx="3493008" cy="1920240"/>
          </a:xfrm>
          <a:prstGeom prst="roundRect">
            <a:avLst>
              <a:gd name="adj" fmla="val 4286"/>
            </a:avLst>
          </a:prstGeom>
          <a:solidFill>
            <a:srgbClr val="07101F"/>
          </a:solidFill>
          <a:ln w="27940">
            <a:solidFill>
              <a:srgbClr val="B87A2A"/>
            </a:solidFill>
            <a:prstDash val="solid"/>
          </a:ln>
          <a:effectLst>
            <a:outerShdw sx="100000" sy="100000" kx="0" ky="0" algn="bl" rotWithShape="0" blurRad="177800" dist="50800" dir="2700000">
              <a:srgbClr val="000000">
                <a:alpha val="22000"/>
              </a:srgbClr>
            </a:outerShdw>
          </a:effectLst>
        </p:spPr>
      </p:sp>
      <p:sp>
        <p:nvSpPr>
          <p:cNvPr id="15" name="Shape 13"/>
          <p:cNvSpPr/>
          <p:nvPr/>
        </p:nvSpPr>
        <p:spPr>
          <a:xfrm>
            <a:off x="5513100" y="945490"/>
            <a:ext cx="3073847" cy="1190549"/>
          </a:xfrm>
          <a:prstGeom prst="ellipse">
            <a:avLst/>
          </a:prstGeom>
          <a:solidFill>
            <a:srgbClr val="D4943A">
              <a:alpha val="17000"/>
            </a:srgbClr>
          </a:solidFill>
          <a:ln w="12700">
            <a:solidFill>
              <a:srgbClr val="333333"/>
            </a:solidFill>
            <a:prstDash val="solid"/>
          </a:ln>
        </p:spPr>
      </p:sp>
      <p:sp>
        <p:nvSpPr>
          <p:cNvPr id="16" name="Shape 14"/>
          <p:cNvSpPr/>
          <p:nvPr/>
        </p:nvSpPr>
        <p:spPr>
          <a:xfrm>
            <a:off x="6189347" y="1207410"/>
            <a:ext cx="1721354" cy="666707"/>
          </a:xfrm>
          <a:prstGeom prst="ellipse">
            <a:avLst/>
          </a:prstGeom>
          <a:solidFill>
            <a:srgbClr val="D4943A">
              <a:alpha val="27000"/>
            </a:srgbClr>
          </a:solidFill>
          <a:ln w="12700">
            <a:solidFill>
              <a:srgbClr val="333333"/>
            </a:solidFill>
            <a:prstDash val="solid"/>
          </a:ln>
        </p:spPr>
      </p:sp>
      <p:sp>
        <p:nvSpPr>
          <p:cNvPr id="17" name="Text 15"/>
          <p:cNvSpPr/>
          <p:nvPr/>
        </p:nvSpPr>
        <p:spPr>
          <a:xfrm>
            <a:off x="5303520" y="941832"/>
            <a:ext cx="3493008" cy="1152144"/>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18" name="Shape 16"/>
          <p:cNvSpPr/>
          <p:nvPr/>
        </p:nvSpPr>
        <p:spPr>
          <a:xfrm>
            <a:off x="5431536" y="2313432"/>
            <a:ext cx="3236976" cy="384048"/>
          </a:xfrm>
          <a:prstGeom prst="roundRect">
            <a:avLst>
              <a:gd name="adj" fmla="val 11905"/>
            </a:avLst>
          </a:prstGeom>
          <a:solidFill>
            <a:srgbClr val="F5EDD8"/>
          </a:solidFill>
          <a:ln w="12700">
            <a:solidFill>
              <a:srgbClr val="C8A84B"/>
            </a:solidFill>
            <a:prstDash val="solid"/>
          </a:ln>
        </p:spPr>
      </p:sp>
      <p:sp>
        <p:nvSpPr>
          <p:cNvPr id="19" name="Text 17"/>
          <p:cNvSpPr/>
          <p:nvPr/>
        </p:nvSpPr>
        <p:spPr>
          <a:xfrm>
            <a:off x="5431536" y="2313432"/>
            <a:ext cx="3236976" cy="384048"/>
          </a:xfrm>
          <a:prstGeom prst="rect">
            <a:avLst/>
          </a:prstGeom>
          <a:noFill/>
          <a:ln/>
        </p:spPr>
        <p:txBody>
          <a:bodyPr wrap="square" lIns="0" tIns="0" rIns="0" bIns="0" rtlCol="0" anchor="ctr"/>
          <a:lstStyle/>
          <a:p>
            <a:pPr algn="ctr" indent="0" marL="0">
              <a:buNone/>
            </a:pPr>
            <a:r>
              <a:rPr lang="en-US" sz="1150" b="1" dirty="0">
                <a:solidFill>
                  <a:srgbClr val="0E1C42"/>
                </a:solidFill>
                <a:latin typeface="Cambria" pitchFamily="34" charset="0"/>
                <a:ea typeface="Cambria" pitchFamily="34" charset="-122"/>
                <a:cs typeface="Cambria" pitchFamily="34" charset="-120"/>
              </a:rPr>
              <a:t>Document</a:t>
            </a:r>
            <a:endParaRPr lang="en-US" sz="1150" dirty="0"/>
          </a:p>
        </p:txBody>
      </p:sp>
      <p:sp>
        <p:nvSpPr>
          <p:cNvPr id="20" name="Shape 18"/>
          <p:cNvSpPr/>
          <p:nvPr/>
        </p:nvSpPr>
        <p:spPr>
          <a:xfrm>
            <a:off x="5413248" y="978408"/>
            <a:ext cx="347472" cy="347472"/>
          </a:xfrm>
          <a:prstGeom prst="ellipse">
            <a:avLst/>
          </a:prstGeom>
          <a:solidFill>
            <a:srgbClr val="B87A2A"/>
          </a:solidFill>
          <a:ln w="19050">
            <a:solidFill>
              <a:srgbClr val="C8A84B"/>
            </a:solidFill>
            <a:prstDash val="solid"/>
          </a:ln>
        </p:spPr>
      </p:sp>
      <p:sp>
        <p:nvSpPr>
          <p:cNvPr id="21" name="Text 19"/>
          <p:cNvSpPr/>
          <p:nvPr/>
        </p:nvSpPr>
        <p:spPr>
          <a:xfrm>
            <a:off x="5413248" y="9784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2" name="Shape 20"/>
          <p:cNvSpPr/>
          <p:nvPr/>
        </p:nvSpPr>
        <p:spPr>
          <a:xfrm>
            <a:off x="347472" y="2926080"/>
            <a:ext cx="3493008" cy="1078992"/>
          </a:xfrm>
          <a:prstGeom prst="roundRect">
            <a:avLst>
              <a:gd name="adj" fmla="val 8475"/>
            </a:avLst>
          </a:prstGeom>
          <a:solidFill>
            <a:srgbClr val="F5EDD8"/>
          </a:solidFill>
          <a:ln w="15240">
            <a:solidFill>
              <a:srgbClr val="C8A84B"/>
            </a:solidFill>
            <a:prstDash val="solid"/>
          </a:ln>
          <a:effectLst>
            <a:outerShdw sx="100000" sy="100000" kx="0" ky="0" algn="bl" rotWithShape="0" blurRad="101600" dist="25400" dir="2700000">
              <a:srgbClr val="000000">
                <a:alpha val="10000"/>
              </a:srgbClr>
            </a:outerShdw>
          </a:effectLst>
        </p:spPr>
      </p:sp>
      <p:sp>
        <p:nvSpPr>
          <p:cNvPr id="23" name="Text 21"/>
          <p:cNvSpPr/>
          <p:nvPr/>
        </p:nvSpPr>
        <p:spPr>
          <a:xfrm>
            <a:off x="530352" y="3017520"/>
            <a:ext cx="3127248" cy="896112"/>
          </a:xfrm>
          <a:prstGeom prst="rect">
            <a:avLst/>
          </a:prstGeom>
          <a:noFill/>
          <a:ln/>
        </p:spPr>
        <p:txBody>
          <a:bodyPr wrap="square" rtlCol="0" anchor="ctr"/>
          <a:lstStyle/>
          <a:p>
            <a:pPr algn="l" indent="0" marL="0">
              <a:lnSpc>
                <a:spcPct val="128000"/>
              </a:lnSpc>
              <a:buNone/>
            </a:pPr>
            <a:r>
              <a:rPr lang="en-US" sz="1100" b="1" dirty="0">
                <a:solidFill>
                  <a:srgbClr val="0E1C42"/>
                </a:solidFill>
                <a:latin typeface="Calibri" pitchFamily="34" charset="0"/>
                <a:ea typeface="Calibri" pitchFamily="34" charset="-122"/>
                <a:cs typeface="Calibri" pitchFamily="34" charset="-120"/>
              </a:rPr>
              <a:t>A drawing showing where places, features, or routes are.
</a:t>
            </a:r>
            <a:endParaRPr lang="en-US" sz="1100" dirty="0"/>
          </a:p>
          <a:p>
            <a:pPr algn="l" indent="0" marL="0">
              <a:lnSpc>
                <a:spcPct val="128000"/>
              </a:lnSpc>
              <a:buNone/>
            </a:pPr>
            <a:r>
              <a:rPr lang="en-US" sz="1100" i="1" dirty="0">
                <a:solidFill>
                  <a:srgbClr val="3A4A6B"/>
                </a:solidFill>
                <a:latin typeface="Calibri" pitchFamily="34" charset="0"/>
                <a:ea typeface="Calibri" pitchFamily="34" charset="-122"/>
                <a:cs typeface="Calibri" pitchFamily="34" charset="-120"/>
              </a:rPr>
              <a:t>e.g. a trade route, a city plan, a kingdom border, a voyage</a:t>
            </a:r>
            <a:endParaRPr lang="en-US" sz="1100" dirty="0"/>
          </a:p>
        </p:txBody>
      </p:sp>
      <p:sp>
        <p:nvSpPr>
          <p:cNvPr id="24" name="Shape 22"/>
          <p:cNvSpPr/>
          <p:nvPr/>
        </p:nvSpPr>
        <p:spPr>
          <a:xfrm>
            <a:off x="5303520" y="2926080"/>
            <a:ext cx="3493008" cy="1078992"/>
          </a:xfrm>
          <a:prstGeom prst="roundRect">
            <a:avLst>
              <a:gd name="adj" fmla="val 8475"/>
            </a:avLst>
          </a:prstGeom>
          <a:solidFill>
            <a:srgbClr val="F5EDD8"/>
          </a:solidFill>
          <a:ln w="15240">
            <a:solidFill>
              <a:srgbClr val="C8A84B"/>
            </a:solidFill>
            <a:prstDash val="solid"/>
          </a:ln>
          <a:effectLst>
            <a:outerShdw sx="100000" sy="100000" kx="0" ky="0" algn="bl" rotWithShape="0" blurRad="101600" dist="25400" dir="2700000">
              <a:srgbClr val="000000">
                <a:alpha val="10000"/>
              </a:srgbClr>
            </a:outerShdw>
          </a:effectLst>
        </p:spPr>
      </p:sp>
      <p:sp>
        <p:nvSpPr>
          <p:cNvPr id="25" name="Text 23"/>
          <p:cNvSpPr/>
          <p:nvPr/>
        </p:nvSpPr>
        <p:spPr>
          <a:xfrm>
            <a:off x="5486400" y="3017520"/>
            <a:ext cx="3127248" cy="896112"/>
          </a:xfrm>
          <a:prstGeom prst="rect">
            <a:avLst/>
          </a:prstGeom>
          <a:noFill/>
          <a:ln/>
        </p:spPr>
        <p:txBody>
          <a:bodyPr wrap="square" rtlCol="0" anchor="ctr"/>
          <a:lstStyle/>
          <a:p>
            <a:pPr algn="l" indent="0" marL="0">
              <a:lnSpc>
                <a:spcPct val="128000"/>
              </a:lnSpc>
              <a:buNone/>
            </a:pPr>
            <a:r>
              <a:rPr lang="en-US" sz="1100" b="1" dirty="0">
                <a:solidFill>
                  <a:srgbClr val="0E1C42"/>
                </a:solidFill>
                <a:latin typeface="Calibri" pitchFamily="34" charset="0"/>
                <a:ea typeface="Calibri" pitchFamily="34" charset="-122"/>
                <a:cs typeface="Calibri" pitchFamily="34" charset="-120"/>
              </a:rPr>
              <a:t>Written words recorded by someone in the past.
</a:t>
            </a:r>
            <a:endParaRPr lang="en-US" sz="1100" dirty="0"/>
          </a:p>
          <a:p>
            <a:pPr algn="l" indent="0" marL="0">
              <a:lnSpc>
                <a:spcPct val="128000"/>
              </a:lnSpc>
              <a:buNone/>
            </a:pPr>
            <a:r>
              <a:rPr lang="en-US" sz="1100" i="1" dirty="0">
                <a:solidFill>
                  <a:srgbClr val="3A4A6B"/>
                </a:solidFill>
                <a:latin typeface="Calibri" pitchFamily="34" charset="0"/>
                <a:ea typeface="Calibri" pitchFamily="34" charset="-122"/>
                <a:cs typeface="Calibri" pitchFamily="34" charset="-120"/>
              </a:rPr>
              <a:t>e.g. a letter, a diary, a law, a newspaper, a treaty</a:t>
            </a:r>
            <a:endParaRPr lang="en-US" sz="1100" dirty="0"/>
          </a:p>
        </p:txBody>
      </p:sp>
      <p:sp>
        <p:nvSpPr>
          <p:cNvPr id="26" name="Shape 24"/>
          <p:cNvSpPr/>
          <p:nvPr/>
        </p:nvSpPr>
        <p:spPr>
          <a:xfrm>
            <a:off x="4572000" y="868680"/>
            <a:ext cx="0" cy="3886200"/>
          </a:xfrm>
          <a:prstGeom prst="line">
            <a:avLst/>
          </a:prstGeom>
          <a:noFill/>
          <a:ln w="10160">
            <a:solidFill>
              <a:srgbClr val="C8A84B">
                <a:alpha val="40000"/>
              </a:srgbClr>
            </a:solidFill>
            <a:prstDash val="solid"/>
          </a:ln>
        </p:spPr>
      </p:sp>
      <p:sp>
        <p:nvSpPr>
          <p:cNvPr id="27" name="Shape 25"/>
          <p:cNvSpPr/>
          <p:nvPr/>
        </p:nvSpPr>
        <p:spPr>
          <a:xfrm>
            <a:off x="347472" y="4069080"/>
            <a:ext cx="8449056" cy="914400"/>
          </a:xfrm>
          <a:prstGeom prst="roundRect">
            <a:avLst>
              <a:gd name="adj" fmla="val 10000"/>
            </a:avLst>
          </a:prstGeom>
          <a:solidFill>
            <a:srgbClr val="FFF0E8"/>
          </a:solidFill>
          <a:ln w="22860">
            <a:solidFill>
              <a:srgbClr val="C7522A"/>
            </a:solidFill>
            <a:prstDash val="solid"/>
          </a:ln>
          <a:effectLst>
            <a:outerShdw sx="100000" sy="100000" kx="0" ky="0" algn="bl" rotWithShape="0" blurRad="101600" dist="25400" dir="2700000">
              <a:srgbClr val="000000">
                <a:alpha val="10000"/>
              </a:srgbClr>
            </a:outerShdw>
          </a:effectLst>
        </p:spPr>
      </p:sp>
      <p:sp>
        <p:nvSpPr>
          <p:cNvPr id="28" name="Text 26"/>
          <p:cNvSpPr/>
          <p:nvPr/>
        </p:nvSpPr>
        <p:spPr>
          <a:xfrm>
            <a:off x="484632" y="4160520"/>
            <a:ext cx="8174736" cy="320040"/>
          </a:xfrm>
          <a:prstGeom prst="rect">
            <a:avLst/>
          </a:prstGeom>
          <a:noFill/>
          <a:ln/>
        </p:spPr>
        <p:txBody>
          <a:bodyPr wrap="square" lIns="0" tIns="0" rIns="0" bIns="0" rtlCol="0" anchor="ctr"/>
          <a:lstStyle/>
          <a:p>
            <a:pPr indent="0" marL="0">
              <a:buNone/>
            </a:pPr>
            <a:r>
              <a:rPr lang="en-US" sz="1150" b="1" dirty="0">
                <a:solidFill>
                  <a:srgbClr val="C7522A"/>
                </a:solidFill>
                <a:latin typeface="Calibri" pitchFamily="34" charset="0"/>
                <a:ea typeface="Calibri" pitchFamily="34" charset="-122"/>
                <a:cs typeface="Calibri" pitchFamily="34" charset="-120"/>
              </a:rPr>
              <a:t>In Your Groups</a:t>
            </a:r>
            <a:endParaRPr lang="en-US" sz="1150" dirty="0"/>
          </a:p>
        </p:txBody>
      </p:sp>
      <p:sp>
        <p:nvSpPr>
          <p:cNvPr id="29" name="Shape 27"/>
          <p:cNvSpPr/>
          <p:nvPr/>
        </p:nvSpPr>
        <p:spPr>
          <a:xfrm>
            <a:off x="484632" y="4498848"/>
            <a:ext cx="8174736" cy="0"/>
          </a:xfrm>
          <a:prstGeom prst="line">
            <a:avLst/>
          </a:prstGeom>
          <a:noFill/>
          <a:ln w="10160">
            <a:solidFill>
              <a:srgbClr val="C7522A"/>
            </a:solidFill>
            <a:prstDash val="solid"/>
          </a:ln>
        </p:spPr>
      </p:sp>
      <p:sp>
        <p:nvSpPr>
          <p:cNvPr id="30" name="Text 28"/>
          <p:cNvSpPr/>
          <p:nvPr/>
        </p:nvSpPr>
        <p:spPr>
          <a:xfrm>
            <a:off x="484632" y="4553712"/>
            <a:ext cx="8174736" cy="320040"/>
          </a:xfrm>
          <a:prstGeom prst="rect">
            <a:avLst/>
          </a:prstGeom>
          <a:noFill/>
          <a:ln/>
        </p:spPr>
        <p:txBody>
          <a:bodyPr wrap="square" lIns="0" tIns="0" rIns="0" bIns="0" rtlCol="0" anchor="ctr"/>
          <a:lstStyle/>
          <a:p>
            <a:pPr algn="l" indent="0" marL="0">
              <a:lnSpc>
                <a:spcPct val="138000"/>
              </a:lnSpc>
              <a:buNone/>
            </a:pPr>
            <a:r>
              <a:rPr lang="en-US" sz="1250" dirty="0">
                <a:solidFill>
                  <a:srgbClr val="3A4A6B"/>
                </a:solidFill>
                <a:latin typeface="Calibri" pitchFamily="34" charset="0"/>
                <a:ea typeface="Calibri" pitchFamily="34" charset="-122"/>
                <a:cs typeface="Calibri" pitchFamily="34" charset="-120"/>
              </a:rPr>
              <a:t>Groups discuss: An old map marks unknown lands as 'Here Be Dragons.' Is it useless — or what can it still tell us?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685800" y="137160"/>
            <a:ext cx="7772400" cy="4114800"/>
          </a:xfrm>
          <a:prstGeom prst="ellipse">
            <a:avLst/>
          </a:prstGeom>
          <a:solidFill>
            <a:srgbClr val="D4943A">
              <a:alpha val="17000"/>
            </a:srgbClr>
          </a:solidFill>
          <a:ln w="12700">
            <a:solidFill>
              <a:srgbClr val="333333"/>
            </a:solidFill>
            <a:prstDash val="solid"/>
          </a:ln>
        </p:spPr>
      </p:sp>
      <p:sp>
        <p:nvSpPr>
          <p:cNvPr id="3" name="Shape 1"/>
          <p:cNvSpPr/>
          <p:nvPr/>
        </p:nvSpPr>
        <p:spPr>
          <a:xfrm>
            <a:off x="2395728" y="1042416"/>
            <a:ext cx="4352544" cy="2304288"/>
          </a:xfrm>
          <a:prstGeom prst="ellipse">
            <a:avLst/>
          </a:prstGeom>
          <a:solidFill>
            <a:srgbClr val="D4943A">
              <a:alpha val="27000"/>
            </a:srgbClr>
          </a:solidFill>
          <a:ln w="12700">
            <a:solidFill>
              <a:srgbClr val="333333"/>
            </a:solidFill>
            <a:prstDash val="solid"/>
          </a:ln>
        </p:spPr>
      </p:sp>
      <p:sp>
        <p:nvSpPr>
          <p:cNvPr id="4" name="Shape 2"/>
          <p:cNvSpPr/>
          <p:nvPr/>
        </p:nvSpPr>
        <p:spPr>
          <a:xfrm>
            <a:off x="2377440" y="182880"/>
            <a:ext cx="4389120" cy="512064"/>
          </a:xfrm>
          <a:prstGeom prst="roundRect">
            <a:avLst>
              <a:gd name="adj" fmla="val 14286"/>
            </a:avLst>
          </a:prstGeom>
          <a:solidFill>
            <a:srgbClr val="F5EDD8"/>
          </a:solidFill>
          <a:ln w="19050">
            <a:solidFill>
              <a:srgbClr val="C7522A"/>
            </a:solidFill>
            <a:prstDash val="solid"/>
          </a:ln>
          <a:effectLst>
            <a:outerShdw sx="100000" sy="100000" kx="0" ky="0" algn="bl" rotWithShape="0" blurRad="101600" dist="25400" dir="2700000">
              <a:srgbClr val="000000">
                <a:alpha val="10000"/>
              </a:srgbClr>
            </a:outerShdw>
          </a:effectLst>
        </p:spPr>
      </p:sp>
      <p:sp>
        <p:nvSpPr>
          <p:cNvPr id="5" name="Text 3"/>
          <p:cNvSpPr/>
          <p:nvPr/>
        </p:nvSpPr>
        <p:spPr>
          <a:xfrm>
            <a:off x="2377440" y="182880"/>
            <a:ext cx="4389120" cy="512064"/>
          </a:xfrm>
          <a:prstGeom prst="rect">
            <a:avLst/>
          </a:prstGeom>
          <a:noFill/>
          <a:ln/>
        </p:spPr>
        <p:txBody>
          <a:bodyPr wrap="square" lIns="0" tIns="0" rIns="0" bIns="0" rtlCol="0" anchor="ctr"/>
          <a:lstStyle/>
          <a:p>
            <a:pPr algn="ctr" indent="0" marL="0">
              <a:buNone/>
            </a:pPr>
            <a:r>
              <a:rPr lang="en-US" sz="1000" b="1" spc="150" kern="0" dirty="0">
                <a:solidFill>
                  <a:srgbClr val="C7522A"/>
                </a:solidFill>
                <a:latin typeface="Cambria" pitchFamily="34" charset="0"/>
                <a:ea typeface="Cambria" pitchFamily="34" charset="-122"/>
                <a:cs typeface="Cambria" pitchFamily="34" charset="-120"/>
              </a:rPr>
              <a:t>CURATOR'S CHALLENGE  —  THINK CAREFULLY</a:t>
            </a:r>
            <a:endParaRPr lang="en-US" sz="1000" dirty="0"/>
          </a:p>
        </p:txBody>
      </p:sp>
      <p:sp>
        <p:nvSpPr>
          <p:cNvPr id="6" name="Text 4"/>
          <p:cNvSpPr/>
          <p:nvPr/>
        </p:nvSpPr>
        <p:spPr>
          <a:xfrm>
            <a:off x="457200" y="777240"/>
            <a:ext cx="8229600" cy="1481328"/>
          </a:xfrm>
          <a:prstGeom prst="rect">
            <a:avLst/>
          </a:prstGeom>
          <a:noFill/>
          <a:ln/>
        </p:spPr>
        <p:txBody>
          <a:bodyPr wrap="square" rtlCol="0" anchor="ctr"/>
          <a:lstStyle/>
          <a:p>
            <a:pPr algn="ctr" indent="0" marL="0">
              <a:lnSpc>
                <a:spcPct val="125000"/>
              </a:lnSpc>
              <a:buNone/>
            </a:pPr>
            <a:r>
              <a:rPr lang="en-US" sz="3400" b="1" dirty="0">
                <a:solidFill>
                  <a:srgbClr val="FFFFFF"/>
                </a:solidFill>
                <a:latin typeface="Cambria" pitchFamily="34" charset="0"/>
                <a:ea typeface="Cambria" pitchFamily="34" charset="-122"/>
                <a:cs typeface="Cambria" pitchFamily="34" charset="-120"/>
              </a:rPr>
              <a:t>Can any of the four sources</a:t>
            </a:r>
            <a:endParaRPr lang="en-US" sz="3400" dirty="0"/>
          </a:p>
          <a:p>
            <a:pPr algn="ctr" indent="0" marL="0">
              <a:lnSpc>
                <a:spcPct val="125000"/>
              </a:lnSpc>
              <a:buNone/>
            </a:pPr>
            <a:r>
              <a:rPr lang="en-US" sz="3400" b="1" dirty="0">
                <a:solidFill>
                  <a:srgbClr val="FFFFFF"/>
                </a:solidFill>
                <a:latin typeface="Cambria" pitchFamily="34" charset="0"/>
                <a:ea typeface="Cambria" pitchFamily="34" charset="-122"/>
                <a:cs typeface="Cambria" pitchFamily="34" charset="-120"/>
              </a:rPr>
              <a:t>give us a FALSE picture of the past?</a:t>
            </a:r>
            <a:endParaRPr lang="en-US" sz="3400" dirty="0"/>
          </a:p>
        </p:txBody>
      </p:sp>
      <p:sp>
        <p:nvSpPr>
          <p:cNvPr id="7" name="Shape 5"/>
          <p:cNvSpPr/>
          <p:nvPr/>
        </p:nvSpPr>
        <p:spPr>
          <a:xfrm>
            <a:off x="457200" y="2286000"/>
            <a:ext cx="8229600" cy="512064"/>
          </a:xfrm>
          <a:prstGeom prst="roundRect">
            <a:avLst>
              <a:gd name="adj" fmla="val 12500"/>
            </a:avLst>
          </a:prstGeom>
          <a:solidFill>
            <a:srgbClr val="FFFFFF">
              <a:alpha val="12000"/>
            </a:srgbClr>
          </a:solidFill>
          <a:ln w="12700">
            <a:solidFill>
              <a:srgbClr val="FFFFFF">
                <a:alpha val="28000"/>
              </a:srgbClr>
            </a:solidFill>
            <a:prstDash val="solid"/>
          </a:ln>
        </p:spPr>
      </p:sp>
      <p:sp>
        <p:nvSpPr>
          <p:cNvPr id="8" name="Text 6"/>
          <p:cNvSpPr/>
          <p:nvPr/>
        </p:nvSpPr>
        <p:spPr>
          <a:xfrm>
            <a:off x="621792" y="2340864"/>
            <a:ext cx="7900416" cy="402336"/>
          </a:xfrm>
          <a:prstGeom prst="rect">
            <a:avLst/>
          </a:prstGeom>
          <a:noFill/>
          <a:ln/>
        </p:spPr>
        <p:txBody>
          <a:bodyPr wrap="square" rtlCol="0" anchor="ctr"/>
          <a:lstStyle/>
          <a:p>
            <a:pPr algn="l" indent="0" marL="0">
              <a:buNone/>
            </a:pPr>
            <a:r>
              <a:rPr lang="en-US" sz="1350" b="1" dirty="0">
                <a:solidFill>
                  <a:srgbClr val="C7522A"/>
                </a:solidFill>
                <a:latin typeface="Calibri" pitchFamily="34" charset="0"/>
                <a:ea typeface="Calibri" pitchFamily="34" charset="-122"/>
                <a:cs typeface="Calibri" pitchFamily="34" charset="-120"/>
              </a:rPr>
              <a:t>Artifact: </a:t>
            </a:r>
            <a:pPr algn="l" indent="0" marL="0">
              <a:buNone/>
            </a:pPr>
            <a:r>
              <a:rPr lang="en-US" sz="1350" dirty="0">
                <a:solidFill>
                  <a:srgbClr val="FFFFFF"/>
                </a:solidFill>
                <a:latin typeface="Calibri" pitchFamily="34" charset="0"/>
                <a:ea typeface="Calibri" pitchFamily="34" charset="-122"/>
                <a:cs typeface="Calibri" pitchFamily="34" charset="-120"/>
              </a:rPr>
              <a:t>Could someone CREATE a fake one to mislead historians?</a:t>
            </a:r>
            <a:endParaRPr lang="en-US" sz="1350" dirty="0"/>
          </a:p>
        </p:txBody>
      </p:sp>
      <p:sp>
        <p:nvSpPr>
          <p:cNvPr id="9" name="Shape 7"/>
          <p:cNvSpPr/>
          <p:nvPr/>
        </p:nvSpPr>
        <p:spPr>
          <a:xfrm>
            <a:off x="457200" y="2944368"/>
            <a:ext cx="8229600" cy="512064"/>
          </a:xfrm>
          <a:prstGeom prst="roundRect">
            <a:avLst>
              <a:gd name="adj" fmla="val 12500"/>
            </a:avLst>
          </a:prstGeom>
          <a:solidFill>
            <a:srgbClr val="FFFFFF">
              <a:alpha val="12000"/>
            </a:srgbClr>
          </a:solidFill>
          <a:ln w="12700">
            <a:solidFill>
              <a:srgbClr val="FFFFFF">
                <a:alpha val="28000"/>
              </a:srgbClr>
            </a:solidFill>
            <a:prstDash val="solid"/>
          </a:ln>
        </p:spPr>
      </p:sp>
      <p:sp>
        <p:nvSpPr>
          <p:cNvPr id="10" name="Text 8"/>
          <p:cNvSpPr/>
          <p:nvPr/>
        </p:nvSpPr>
        <p:spPr>
          <a:xfrm>
            <a:off x="621792" y="2999232"/>
            <a:ext cx="7900416" cy="402336"/>
          </a:xfrm>
          <a:prstGeom prst="rect">
            <a:avLst/>
          </a:prstGeom>
          <a:noFill/>
          <a:ln/>
        </p:spPr>
        <p:txBody>
          <a:bodyPr wrap="square" rtlCol="0" anchor="ctr"/>
          <a:lstStyle/>
          <a:p>
            <a:pPr algn="l" indent="0" marL="0">
              <a:buNone/>
            </a:pPr>
            <a:r>
              <a:rPr lang="en-US" sz="1350" b="1" dirty="0">
                <a:solidFill>
                  <a:srgbClr val="34B0A0"/>
                </a:solidFill>
                <a:latin typeface="Calibri" pitchFamily="34" charset="0"/>
                <a:ea typeface="Calibri" pitchFamily="34" charset="-122"/>
                <a:cs typeface="Calibri" pitchFamily="34" charset="-120"/>
              </a:rPr>
              <a:t>Map: </a:t>
            </a:r>
            <a:pPr algn="l" indent="0" marL="0">
              <a:buNone/>
            </a:pPr>
            <a:r>
              <a:rPr lang="en-US" sz="1350" dirty="0">
                <a:solidFill>
                  <a:srgbClr val="FFFFFF"/>
                </a:solidFill>
                <a:latin typeface="Calibri" pitchFamily="34" charset="0"/>
                <a:ea typeface="Calibri" pitchFamily="34" charset="-122"/>
                <a:cs typeface="Calibri" pitchFamily="34" charset="-120"/>
              </a:rPr>
              <a:t>Could a mapmaker draw borders to favor one side?</a:t>
            </a:r>
            <a:endParaRPr lang="en-US" sz="1350" dirty="0"/>
          </a:p>
        </p:txBody>
      </p:sp>
      <p:sp>
        <p:nvSpPr>
          <p:cNvPr id="11" name="Shape 9"/>
          <p:cNvSpPr/>
          <p:nvPr/>
        </p:nvSpPr>
        <p:spPr>
          <a:xfrm>
            <a:off x="457200" y="3602736"/>
            <a:ext cx="8229600" cy="512064"/>
          </a:xfrm>
          <a:prstGeom prst="roundRect">
            <a:avLst>
              <a:gd name="adj" fmla="val 12500"/>
            </a:avLst>
          </a:prstGeom>
          <a:solidFill>
            <a:srgbClr val="FFFFFF">
              <a:alpha val="12000"/>
            </a:srgbClr>
          </a:solidFill>
          <a:ln w="12700">
            <a:solidFill>
              <a:srgbClr val="FFFFFF">
                <a:alpha val="28000"/>
              </a:srgbClr>
            </a:solidFill>
            <a:prstDash val="solid"/>
          </a:ln>
        </p:spPr>
      </p:sp>
      <p:sp>
        <p:nvSpPr>
          <p:cNvPr id="12" name="Text 10"/>
          <p:cNvSpPr/>
          <p:nvPr/>
        </p:nvSpPr>
        <p:spPr>
          <a:xfrm>
            <a:off x="621792" y="3657600"/>
            <a:ext cx="7900416" cy="402336"/>
          </a:xfrm>
          <a:prstGeom prst="rect">
            <a:avLst/>
          </a:prstGeom>
          <a:noFill/>
          <a:ln/>
        </p:spPr>
        <p:txBody>
          <a:bodyPr wrap="square" rtlCol="0" anchor="ctr"/>
          <a:lstStyle/>
          <a:p>
            <a:pPr algn="l" indent="0" marL="0">
              <a:buNone/>
            </a:pPr>
            <a:r>
              <a:rPr lang="en-US" sz="1350" b="1" dirty="0">
                <a:solidFill>
                  <a:srgbClr val="D4943A"/>
                </a:solidFill>
                <a:latin typeface="Calibri" pitchFamily="34" charset="0"/>
                <a:ea typeface="Calibri" pitchFamily="34" charset="-122"/>
                <a:cs typeface="Calibri" pitchFamily="34" charset="-120"/>
              </a:rPr>
              <a:t>Document: </a:t>
            </a:r>
            <a:pPr algn="l" indent="0" marL="0">
              <a:buNone/>
            </a:pPr>
            <a:r>
              <a:rPr lang="en-US" sz="1350" dirty="0">
                <a:solidFill>
                  <a:srgbClr val="FFFFFF"/>
                </a:solidFill>
                <a:latin typeface="Calibri" pitchFamily="34" charset="0"/>
                <a:ea typeface="Calibri" pitchFamily="34" charset="-122"/>
                <a:cs typeface="Calibri" pitchFamily="34" charset="-120"/>
              </a:rPr>
              <a:t>Could a writer leave out things that make them look bad?</a:t>
            </a:r>
            <a:endParaRPr lang="en-US" sz="1350" dirty="0"/>
          </a:p>
        </p:txBody>
      </p:sp>
      <p:sp>
        <p:nvSpPr>
          <p:cNvPr id="13" name="Shape 11"/>
          <p:cNvSpPr/>
          <p:nvPr/>
        </p:nvSpPr>
        <p:spPr>
          <a:xfrm>
            <a:off x="457200" y="4261104"/>
            <a:ext cx="8229600" cy="512064"/>
          </a:xfrm>
          <a:prstGeom prst="roundRect">
            <a:avLst>
              <a:gd name="adj" fmla="val 12500"/>
            </a:avLst>
          </a:prstGeom>
          <a:solidFill>
            <a:srgbClr val="FFFFFF">
              <a:alpha val="12000"/>
            </a:srgbClr>
          </a:solidFill>
          <a:ln w="12700">
            <a:solidFill>
              <a:srgbClr val="FFFFFF">
                <a:alpha val="28000"/>
              </a:srgbClr>
            </a:solidFill>
            <a:prstDash val="solid"/>
          </a:ln>
        </p:spPr>
      </p:sp>
      <p:sp>
        <p:nvSpPr>
          <p:cNvPr id="14" name="Text 12"/>
          <p:cNvSpPr/>
          <p:nvPr/>
        </p:nvSpPr>
        <p:spPr>
          <a:xfrm>
            <a:off x="621792" y="4315968"/>
            <a:ext cx="7900416" cy="402336"/>
          </a:xfrm>
          <a:prstGeom prst="rect">
            <a:avLst/>
          </a:prstGeom>
          <a:noFill/>
          <a:ln/>
        </p:spPr>
        <p:txBody>
          <a:bodyPr wrap="square" rtlCol="0" anchor="ctr"/>
          <a:lstStyle/>
          <a:p>
            <a:pPr algn="l" indent="0" marL="0">
              <a:buNone/>
            </a:pPr>
            <a:r>
              <a:rPr lang="en-US" sz="1350" b="1" dirty="0">
                <a:solidFill>
                  <a:srgbClr val="9B6BD4"/>
                </a:solidFill>
                <a:latin typeface="Calibri" pitchFamily="34" charset="0"/>
                <a:ea typeface="Calibri" pitchFamily="34" charset="-122"/>
                <a:cs typeface="Calibri" pitchFamily="34" charset="-120"/>
              </a:rPr>
              <a:t>Photograph: </a:t>
            </a:r>
            <a:pPr algn="l" indent="0" marL="0">
              <a:buNone/>
            </a:pPr>
            <a:r>
              <a:rPr lang="en-US" sz="1350" dirty="0">
                <a:solidFill>
                  <a:srgbClr val="FFFFFF"/>
                </a:solidFill>
                <a:latin typeface="Calibri" pitchFamily="34" charset="0"/>
                <a:ea typeface="Calibri" pitchFamily="34" charset="-122"/>
                <a:cs typeface="Calibri" pitchFamily="34" charset="-120"/>
              </a:rPr>
              <a:t>Could a photographer frame a misleading image?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1C42"/>
          </a:solidFill>
          <a:ln w="12700">
            <a:solidFill>
              <a:srgbClr val="333333"/>
            </a:solidFill>
            <a:prstDash val="solid"/>
          </a:ln>
        </p:spPr>
      </p:sp>
      <p:sp>
        <p:nvSpPr>
          <p:cNvPr id="3" name="Text 1"/>
          <p:cNvSpPr/>
          <p:nvPr/>
        </p:nvSpPr>
        <p:spPr>
          <a:xfrm>
            <a:off x="457200" y="0"/>
            <a:ext cx="8229600" cy="74980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Two Wings of the Archive</a:t>
            </a:r>
            <a:endParaRPr lang="en-US" sz="2200" dirty="0"/>
          </a:p>
        </p:txBody>
      </p:sp>
      <p:sp>
        <p:nvSpPr>
          <p:cNvPr id="4" name="Shape 2"/>
          <p:cNvSpPr/>
          <p:nvPr/>
        </p:nvSpPr>
        <p:spPr>
          <a:xfrm>
            <a:off x="347472" y="896112"/>
            <a:ext cx="4005072" cy="475488"/>
          </a:xfrm>
          <a:prstGeom prst="roundRect">
            <a:avLst>
              <a:gd name="adj" fmla="val 17308"/>
            </a:avLst>
          </a:prstGeom>
          <a:solidFill>
            <a:srgbClr val="1A8A7D">
              <a:alpha val="12000"/>
            </a:srgbClr>
          </a:solidFill>
          <a:ln w="25400">
            <a:solidFill>
              <a:srgbClr val="1A8A7D"/>
            </a:solidFill>
            <a:prstDash val="solid"/>
          </a:ln>
        </p:spPr>
      </p:sp>
      <p:sp>
        <p:nvSpPr>
          <p:cNvPr id="5" name="Text 3"/>
          <p:cNvSpPr/>
          <p:nvPr/>
        </p:nvSpPr>
        <p:spPr>
          <a:xfrm>
            <a:off x="347472" y="896112"/>
            <a:ext cx="4005072" cy="475488"/>
          </a:xfrm>
          <a:prstGeom prst="rect">
            <a:avLst/>
          </a:prstGeom>
          <a:noFill/>
          <a:ln/>
        </p:spPr>
        <p:txBody>
          <a:bodyPr wrap="square" lIns="0" tIns="0" rIns="0" bIns="0" rtlCol="0" anchor="ctr"/>
          <a:lstStyle/>
          <a:p>
            <a:pPr algn="ctr" indent="0" marL="0">
              <a:buNone/>
            </a:pPr>
            <a:r>
              <a:rPr lang="en-US" sz="1150" b="1" spc="150" kern="0" dirty="0">
                <a:solidFill>
                  <a:srgbClr val="1A8A7D"/>
                </a:solidFill>
                <a:latin typeface="Cambria" pitchFamily="34" charset="0"/>
                <a:ea typeface="Cambria" pitchFamily="34" charset="-122"/>
                <a:cs typeface="Cambria" pitchFamily="34" charset="-120"/>
              </a:rPr>
              <a:t>WING A  ·  PRIMARY SOURCES</a:t>
            </a:r>
            <a:endParaRPr lang="en-US" sz="1150" dirty="0"/>
          </a:p>
        </p:txBody>
      </p:sp>
      <p:sp>
        <p:nvSpPr>
          <p:cNvPr id="6" name="Shape 4"/>
          <p:cNvSpPr/>
          <p:nvPr/>
        </p:nvSpPr>
        <p:spPr>
          <a:xfrm>
            <a:off x="4791456" y="896112"/>
            <a:ext cx="4005072" cy="475488"/>
          </a:xfrm>
          <a:prstGeom prst="roundRect">
            <a:avLst>
              <a:gd name="adj" fmla="val 17308"/>
            </a:avLst>
          </a:prstGeom>
          <a:solidFill>
            <a:srgbClr val="B87A2A">
              <a:alpha val="12000"/>
            </a:srgbClr>
          </a:solidFill>
          <a:ln w="25400">
            <a:solidFill>
              <a:srgbClr val="B87A2A"/>
            </a:solidFill>
            <a:prstDash val="solid"/>
          </a:ln>
        </p:spPr>
      </p:sp>
      <p:sp>
        <p:nvSpPr>
          <p:cNvPr id="7" name="Text 5"/>
          <p:cNvSpPr/>
          <p:nvPr/>
        </p:nvSpPr>
        <p:spPr>
          <a:xfrm>
            <a:off x="4791456" y="896112"/>
            <a:ext cx="4005072" cy="475488"/>
          </a:xfrm>
          <a:prstGeom prst="rect">
            <a:avLst/>
          </a:prstGeom>
          <a:noFill/>
          <a:ln/>
        </p:spPr>
        <p:txBody>
          <a:bodyPr wrap="square" lIns="0" tIns="0" rIns="0" bIns="0" rtlCol="0" anchor="ctr"/>
          <a:lstStyle/>
          <a:p>
            <a:pPr algn="ctr" indent="0" marL="0">
              <a:buNone/>
            </a:pPr>
            <a:r>
              <a:rPr lang="en-US" sz="1150" b="1" spc="150" kern="0" dirty="0">
                <a:solidFill>
                  <a:srgbClr val="B87A2A"/>
                </a:solidFill>
                <a:latin typeface="Cambria" pitchFamily="34" charset="0"/>
                <a:ea typeface="Cambria" pitchFamily="34" charset="-122"/>
                <a:cs typeface="Cambria" pitchFamily="34" charset="-120"/>
              </a:rPr>
              <a:t>WING B  ·  SECONDARY SOURCES</a:t>
            </a:r>
            <a:endParaRPr lang="en-US" sz="1150" dirty="0"/>
          </a:p>
        </p:txBody>
      </p:sp>
      <p:sp>
        <p:nvSpPr>
          <p:cNvPr id="8" name="Shape 6"/>
          <p:cNvSpPr/>
          <p:nvPr/>
        </p:nvSpPr>
        <p:spPr>
          <a:xfrm>
            <a:off x="347472" y="1444752"/>
            <a:ext cx="4005072" cy="2560320"/>
          </a:xfrm>
          <a:prstGeom prst="roundRect">
            <a:avLst>
              <a:gd name="adj" fmla="val 4286"/>
            </a:avLst>
          </a:prstGeom>
          <a:solidFill>
            <a:srgbClr val="E0F5F0"/>
          </a:solidFill>
          <a:ln w="22860">
            <a:solidFill>
              <a:srgbClr val="1A8A7D"/>
            </a:solidFill>
            <a:prstDash val="solid"/>
          </a:ln>
          <a:effectLst>
            <a:outerShdw sx="100000" sy="100000" kx="0" ky="0" algn="bl" rotWithShape="0" blurRad="101600" dist="25400" dir="2700000">
              <a:srgbClr val="000000">
                <a:alpha val="10000"/>
              </a:srgbClr>
            </a:outerShdw>
          </a:effectLst>
        </p:spPr>
      </p:sp>
      <p:sp>
        <p:nvSpPr>
          <p:cNvPr id="9" name="Shape 7"/>
          <p:cNvSpPr/>
          <p:nvPr/>
        </p:nvSpPr>
        <p:spPr>
          <a:xfrm>
            <a:off x="612648" y="1463040"/>
            <a:ext cx="1645920" cy="1097280"/>
          </a:xfrm>
          <a:prstGeom prst="ellipse">
            <a:avLst/>
          </a:prstGeom>
          <a:solidFill>
            <a:srgbClr val="D4943A">
              <a:alpha val="17000"/>
            </a:srgbClr>
          </a:solidFill>
          <a:ln w="12700">
            <a:solidFill>
              <a:srgbClr val="333333"/>
            </a:solidFill>
            <a:prstDash val="solid"/>
          </a:ln>
        </p:spPr>
      </p:sp>
      <p:sp>
        <p:nvSpPr>
          <p:cNvPr id="10" name="Shape 8"/>
          <p:cNvSpPr/>
          <p:nvPr/>
        </p:nvSpPr>
        <p:spPr>
          <a:xfrm>
            <a:off x="974750" y="1704442"/>
            <a:ext cx="921715" cy="614477"/>
          </a:xfrm>
          <a:prstGeom prst="ellipse">
            <a:avLst/>
          </a:prstGeom>
          <a:solidFill>
            <a:srgbClr val="D4943A">
              <a:alpha val="27000"/>
            </a:srgbClr>
          </a:solidFill>
          <a:ln w="12700">
            <a:solidFill>
              <a:srgbClr val="333333"/>
            </a:solidFill>
            <a:prstDash val="solid"/>
          </a:ln>
        </p:spPr>
      </p:sp>
      <p:sp>
        <p:nvSpPr>
          <p:cNvPr id="11" name="Text 9"/>
          <p:cNvSpPr/>
          <p:nvPr/>
        </p:nvSpPr>
        <p:spPr>
          <a:xfrm>
            <a:off x="347472" y="1481328"/>
            <a:ext cx="2011680" cy="105156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2" name="Text 10"/>
          <p:cNvSpPr/>
          <p:nvPr/>
        </p:nvSpPr>
        <p:spPr>
          <a:xfrm>
            <a:off x="457200" y="2578608"/>
            <a:ext cx="3785616" cy="594360"/>
          </a:xfrm>
          <a:prstGeom prst="rect">
            <a:avLst/>
          </a:prstGeom>
          <a:noFill/>
          <a:ln/>
        </p:spPr>
        <p:txBody>
          <a:bodyPr wrap="square" rtlCol="0" anchor="ctr"/>
          <a:lstStyle/>
          <a:p>
            <a:pPr algn="ctr" indent="0" marL="0">
              <a:lnSpc>
                <a:spcPct val="130000"/>
              </a:lnSpc>
              <a:buNone/>
            </a:pPr>
            <a:r>
              <a:rPr lang="en-US" sz="1350" b="1" dirty="0">
                <a:solidFill>
                  <a:srgbClr val="0E1C42"/>
                </a:solidFill>
                <a:latin typeface="Calibri" pitchFamily="34" charset="0"/>
                <a:ea typeface="Calibri" pitchFamily="34" charset="-122"/>
                <a:cs typeface="Calibri" pitchFamily="34" charset="-120"/>
              </a:rPr>
              <a:t>Created AT THE TIME</a:t>
            </a:r>
            <a:endParaRPr lang="en-US" sz="1350" dirty="0"/>
          </a:p>
          <a:p>
            <a:pPr algn="ctr" indent="0" marL="0">
              <a:lnSpc>
                <a:spcPct val="130000"/>
              </a:lnSpc>
              <a:buNone/>
            </a:pPr>
            <a:r>
              <a:rPr lang="en-US" sz="1350" b="1" dirty="0">
                <a:solidFill>
                  <a:srgbClr val="0E1C42"/>
                </a:solidFill>
                <a:latin typeface="Calibri" pitchFamily="34" charset="0"/>
                <a:ea typeface="Calibri" pitchFamily="34" charset="-122"/>
                <a:cs typeface="Calibri" pitchFamily="34" charset="-120"/>
              </a:rPr>
              <a:t>by someone who was there.</a:t>
            </a:r>
            <a:endParaRPr lang="en-US" sz="1350" dirty="0"/>
          </a:p>
        </p:txBody>
      </p:sp>
      <p:sp>
        <p:nvSpPr>
          <p:cNvPr id="13" name="Text 11"/>
          <p:cNvSpPr/>
          <p:nvPr/>
        </p:nvSpPr>
        <p:spPr>
          <a:xfrm>
            <a:off x="502920" y="3218688"/>
            <a:ext cx="3694176" cy="658368"/>
          </a:xfrm>
          <a:prstGeom prst="rect">
            <a:avLst/>
          </a:prstGeom>
          <a:noFill/>
          <a:ln/>
        </p:spPr>
        <p:txBody>
          <a:bodyPr wrap="square" rtlCol="0" anchor="ctr"/>
          <a:lstStyle/>
          <a:p>
            <a:pPr algn="l" indent="0" marL="0">
              <a:lnSpc>
                <a:spcPct val="120000"/>
              </a:lnSpc>
              <a:buNone/>
            </a:pPr>
            <a:r>
              <a:rPr lang="en-US" sz="1050" dirty="0">
                <a:solidFill>
                  <a:srgbClr val="3A4A6B"/>
                </a:solidFill>
                <a:latin typeface="Calibri" pitchFamily="34" charset="0"/>
                <a:ea typeface="Calibri" pitchFamily="34" charset="-122"/>
                <a:cs typeface="Calibri" pitchFamily="34" charset="-120"/>
              </a:rPr>
              <a:t>• The photograph we'll examine today</a:t>
            </a:r>
            <a:endParaRPr lang="en-US" sz="1050" dirty="0"/>
          </a:p>
          <a:p>
            <a:pPr algn="l" indent="0" marL="0">
              <a:lnSpc>
                <a:spcPct val="120000"/>
              </a:lnSpc>
              <a:buNone/>
            </a:pPr>
            <a:r>
              <a:rPr lang="en-US" sz="1050" dirty="0">
                <a:solidFill>
                  <a:srgbClr val="3A4A6B"/>
                </a:solidFill>
                <a:latin typeface="Calibri" pitchFamily="34" charset="0"/>
                <a:ea typeface="Calibri" pitchFamily="34" charset="-122"/>
                <a:cs typeface="Calibri" pitchFamily="34" charset="-120"/>
              </a:rPr>
              <a:t>• A letter from an explorer</a:t>
            </a:r>
            <a:endParaRPr lang="en-US" sz="1050" dirty="0"/>
          </a:p>
          <a:p>
            <a:pPr algn="l" indent="0" marL="0">
              <a:lnSpc>
                <a:spcPct val="120000"/>
              </a:lnSpc>
              <a:buNone/>
            </a:pPr>
            <a:r>
              <a:rPr lang="en-US" sz="1050" dirty="0">
                <a:solidFill>
                  <a:srgbClr val="3A4A6B"/>
                </a:solidFill>
                <a:latin typeface="Calibri" pitchFamily="34" charset="0"/>
                <a:ea typeface="Calibri" pitchFamily="34" charset="-122"/>
                <a:cs typeface="Calibri" pitchFamily="34" charset="-120"/>
              </a:rPr>
              <a:t>• A bronze coin from ancient Rome</a:t>
            </a:r>
            <a:endParaRPr lang="en-US" sz="1050" dirty="0"/>
          </a:p>
          <a:p>
            <a:pPr algn="l" indent="0" marL="0">
              <a:lnSpc>
                <a:spcPct val="120000"/>
              </a:lnSpc>
              <a:buNone/>
            </a:pPr>
            <a:r>
              <a:rPr lang="en-US" sz="1050" dirty="0">
                <a:solidFill>
                  <a:srgbClr val="3A4A6B"/>
                </a:solidFill>
                <a:latin typeface="Calibri" pitchFamily="34" charset="0"/>
                <a:ea typeface="Calibri" pitchFamily="34" charset="-122"/>
                <a:cs typeface="Calibri" pitchFamily="34" charset="-120"/>
              </a:rPr>
              <a:t>• A hand-drawn map of a voyage</a:t>
            </a:r>
            <a:endParaRPr lang="en-US" sz="1050" dirty="0"/>
          </a:p>
        </p:txBody>
      </p:sp>
      <p:sp>
        <p:nvSpPr>
          <p:cNvPr id="14" name="Shape 12"/>
          <p:cNvSpPr/>
          <p:nvPr/>
        </p:nvSpPr>
        <p:spPr>
          <a:xfrm>
            <a:off x="4791456" y="1444752"/>
            <a:ext cx="4005072" cy="2560320"/>
          </a:xfrm>
          <a:prstGeom prst="roundRect">
            <a:avLst>
              <a:gd name="adj" fmla="val 4286"/>
            </a:avLst>
          </a:prstGeom>
          <a:solidFill>
            <a:srgbClr val="FFF8E8"/>
          </a:solidFill>
          <a:ln w="22860">
            <a:solidFill>
              <a:srgbClr val="B87A2A"/>
            </a:solidFill>
            <a:prstDash val="solid"/>
          </a:ln>
          <a:effectLst>
            <a:outerShdw sx="100000" sy="100000" kx="0" ky="0" algn="bl" rotWithShape="0" blurRad="101600" dist="25400" dir="2700000">
              <a:srgbClr val="000000">
                <a:alpha val="10000"/>
              </a:srgbClr>
            </a:outerShdw>
          </a:effectLst>
        </p:spPr>
      </p:sp>
      <p:sp>
        <p:nvSpPr>
          <p:cNvPr id="15" name="Shape 13"/>
          <p:cNvSpPr/>
          <p:nvPr/>
        </p:nvSpPr>
        <p:spPr>
          <a:xfrm>
            <a:off x="5056632" y="1463040"/>
            <a:ext cx="1645920" cy="1097280"/>
          </a:xfrm>
          <a:prstGeom prst="ellipse">
            <a:avLst/>
          </a:prstGeom>
          <a:solidFill>
            <a:srgbClr val="D4943A">
              <a:alpha val="17000"/>
            </a:srgbClr>
          </a:solidFill>
          <a:ln w="12700">
            <a:solidFill>
              <a:srgbClr val="333333"/>
            </a:solidFill>
            <a:prstDash val="solid"/>
          </a:ln>
        </p:spPr>
      </p:sp>
      <p:sp>
        <p:nvSpPr>
          <p:cNvPr id="16" name="Shape 14"/>
          <p:cNvSpPr/>
          <p:nvPr/>
        </p:nvSpPr>
        <p:spPr>
          <a:xfrm>
            <a:off x="5418734" y="1704442"/>
            <a:ext cx="921715" cy="614477"/>
          </a:xfrm>
          <a:prstGeom prst="ellipse">
            <a:avLst/>
          </a:prstGeom>
          <a:solidFill>
            <a:srgbClr val="D4943A">
              <a:alpha val="27000"/>
            </a:srgbClr>
          </a:solidFill>
          <a:ln w="12700">
            <a:solidFill>
              <a:srgbClr val="333333"/>
            </a:solidFill>
            <a:prstDash val="solid"/>
          </a:ln>
        </p:spPr>
      </p:sp>
      <p:sp>
        <p:nvSpPr>
          <p:cNvPr id="17" name="Text 15"/>
          <p:cNvSpPr/>
          <p:nvPr/>
        </p:nvSpPr>
        <p:spPr>
          <a:xfrm>
            <a:off x="4791456" y="1481328"/>
            <a:ext cx="2011680" cy="105156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8" name="Text 16"/>
          <p:cNvSpPr/>
          <p:nvPr/>
        </p:nvSpPr>
        <p:spPr>
          <a:xfrm>
            <a:off x="4901184" y="2578608"/>
            <a:ext cx="3785616" cy="594360"/>
          </a:xfrm>
          <a:prstGeom prst="rect">
            <a:avLst/>
          </a:prstGeom>
          <a:noFill/>
          <a:ln/>
        </p:spPr>
        <p:txBody>
          <a:bodyPr wrap="square" rtlCol="0" anchor="ctr"/>
          <a:lstStyle/>
          <a:p>
            <a:pPr algn="ctr" indent="0" marL="0">
              <a:lnSpc>
                <a:spcPct val="130000"/>
              </a:lnSpc>
              <a:buNone/>
            </a:pPr>
            <a:r>
              <a:rPr lang="en-US" sz="1350" b="1" dirty="0">
                <a:solidFill>
                  <a:srgbClr val="0E1C42"/>
                </a:solidFill>
                <a:latin typeface="Calibri" pitchFamily="34" charset="0"/>
                <a:ea typeface="Calibri" pitchFamily="34" charset="-122"/>
                <a:cs typeface="Calibri" pitchFamily="34" charset="-120"/>
              </a:rPr>
              <a:t>Created LATER</a:t>
            </a:r>
            <a:endParaRPr lang="en-US" sz="1350" dirty="0"/>
          </a:p>
          <a:p>
            <a:pPr algn="ctr" indent="0" marL="0">
              <a:lnSpc>
                <a:spcPct val="130000"/>
              </a:lnSpc>
              <a:buNone/>
            </a:pPr>
            <a:r>
              <a:rPr lang="en-US" sz="1350" b="1" dirty="0">
                <a:solidFill>
                  <a:srgbClr val="0E1C42"/>
                </a:solidFill>
                <a:latin typeface="Calibri" pitchFamily="34" charset="0"/>
                <a:ea typeface="Calibri" pitchFamily="34" charset="-122"/>
                <a:cs typeface="Calibri" pitchFamily="34" charset="-120"/>
              </a:rPr>
              <a:t>by someone who studied it.</a:t>
            </a:r>
            <a:endParaRPr lang="en-US" sz="1350" dirty="0"/>
          </a:p>
        </p:txBody>
      </p:sp>
      <p:sp>
        <p:nvSpPr>
          <p:cNvPr id="19" name="Text 17"/>
          <p:cNvSpPr/>
          <p:nvPr/>
        </p:nvSpPr>
        <p:spPr>
          <a:xfrm>
            <a:off x="4937760" y="3218688"/>
            <a:ext cx="3694176" cy="658368"/>
          </a:xfrm>
          <a:prstGeom prst="rect">
            <a:avLst/>
          </a:prstGeom>
          <a:noFill/>
          <a:ln/>
        </p:spPr>
        <p:txBody>
          <a:bodyPr wrap="square" rtlCol="0" anchor="ctr"/>
          <a:lstStyle/>
          <a:p>
            <a:pPr algn="l" indent="0" marL="0">
              <a:lnSpc>
                <a:spcPct val="120000"/>
              </a:lnSpc>
              <a:buNone/>
            </a:pPr>
            <a:r>
              <a:rPr lang="en-US" sz="1050" dirty="0">
                <a:solidFill>
                  <a:srgbClr val="3A4A6B"/>
                </a:solidFill>
                <a:latin typeface="Calibri" pitchFamily="34" charset="0"/>
                <a:ea typeface="Calibri" pitchFamily="34" charset="-122"/>
                <a:cs typeface="Calibri" pitchFamily="34" charset="-120"/>
              </a:rPr>
              <a:t>• Your social studies textbook</a:t>
            </a:r>
            <a:endParaRPr lang="en-US" sz="1050" dirty="0"/>
          </a:p>
          <a:p>
            <a:pPr algn="l" indent="0" marL="0">
              <a:lnSpc>
                <a:spcPct val="120000"/>
              </a:lnSpc>
              <a:buNone/>
            </a:pPr>
            <a:r>
              <a:rPr lang="en-US" sz="1050" dirty="0">
                <a:solidFill>
                  <a:srgbClr val="3A4A6B"/>
                </a:solidFill>
                <a:latin typeface="Calibri" pitchFamily="34" charset="0"/>
                <a:ea typeface="Calibri" pitchFamily="34" charset="-122"/>
                <a:cs typeface="Calibri" pitchFamily="34" charset="-120"/>
              </a:rPr>
              <a:t>• A documentary about World War II</a:t>
            </a:r>
            <a:endParaRPr lang="en-US" sz="1050" dirty="0"/>
          </a:p>
          <a:p>
            <a:pPr algn="l" indent="0" marL="0">
              <a:lnSpc>
                <a:spcPct val="120000"/>
              </a:lnSpc>
              <a:buNone/>
            </a:pPr>
            <a:r>
              <a:rPr lang="en-US" sz="1050" dirty="0">
                <a:solidFill>
                  <a:srgbClr val="3A4A6B"/>
                </a:solidFill>
                <a:latin typeface="Calibri" pitchFamily="34" charset="0"/>
                <a:ea typeface="Calibri" pitchFamily="34" charset="-122"/>
                <a:cs typeface="Calibri" pitchFamily="34" charset="-120"/>
              </a:rPr>
              <a:t>• A museum exhibit about ancient Egypt</a:t>
            </a:r>
            <a:endParaRPr lang="en-US" sz="1050" dirty="0"/>
          </a:p>
          <a:p>
            <a:pPr algn="l" indent="0" marL="0">
              <a:lnSpc>
                <a:spcPct val="120000"/>
              </a:lnSpc>
              <a:buNone/>
            </a:pPr>
            <a:r>
              <a:rPr lang="en-US" sz="1050" dirty="0">
                <a:solidFill>
                  <a:srgbClr val="3A4A6B"/>
                </a:solidFill>
                <a:latin typeface="Calibri" pitchFamily="34" charset="0"/>
                <a:ea typeface="Calibri" pitchFamily="34" charset="-122"/>
                <a:cs typeface="Calibri" pitchFamily="34" charset="-120"/>
              </a:rPr>
              <a:t>• An encyclopedia article</a:t>
            </a:r>
            <a:endParaRPr lang="en-US" sz="1050" dirty="0"/>
          </a:p>
        </p:txBody>
      </p:sp>
      <p:sp>
        <p:nvSpPr>
          <p:cNvPr id="20" name="Shape 18"/>
          <p:cNvSpPr/>
          <p:nvPr/>
        </p:nvSpPr>
        <p:spPr>
          <a:xfrm>
            <a:off x="347472" y="4114800"/>
            <a:ext cx="8449056" cy="868680"/>
          </a:xfrm>
          <a:prstGeom prst="roundRect">
            <a:avLst>
              <a:gd name="adj" fmla="val 10526"/>
            </a:avLst>
          </a:prstGeom>
          <a:solidFill>
            <a:srgbClr val="EAF7E6"/>
          </a:solidFill>
          <a:ln w="22860">
            <a:solidFill>
              <a:srgbClr val="2E7D4F"/>
            </a:solidFill>
            <a:prstDash val="solid"/>
          </a:ln>
          <a:effectLst>
            <a:outerShdw sx="100000" sy="100000" kx="0" ky="0" algn="bl" rotWithShape="0" blurRad="101600" dist="25400" dir="2700000">
              <a:srgbClr val="000000">
                <a:alpha val="10000"/>
              </a:srgbClr>
            </a:outerShdw>
          </a:effectLst>
        </p:spPr>
      </p:sp>
      <p:sp>
        <p:nvSpPr>
          <p:cNvPr id="21" name="Text 19"/>
          <p:cNvSpPr/>
          <p:nvPr/>
        </p:nvSpPr>
        <p:spPr>
          <a:xfrm>
            <a:off x="484632" y="4206240"/>
            <a:ext cx="8174736" cy="320040"/>
          </a:xfrm>
          <a:prstGeom prst="rect">
            <a:avLst/>
          </a:prstGeom>
          <a:noFill/>
          <a:ln/>
        </p:spPr>
        <p:txBody>
          <a:bodyPr wrap="square" lIns="0" tIns="0" rIns="0" bIns="0" rtlCol="0" anchor="ctr"/>
          <a:lstStyle/>
          <a:p>
            <a:pPr indent="0" marL="0">
              <a:buNone/>
            </a:pPr>
            <a:r>
              <a:rPr lang="en-US" sz="1150" b="1" dirty="0">
                <a:solidFill>
                  <a:srgbClr val="2E7D4F"/>
                </a:solidFill>
                <a:latin typeface="Calibri" pitchFamily="34" charset="0"/>
                <a:ea typeface="Calibri" pitchFamily="34" charset="-122"/>
                <a:cs typeface="Calibri" pitchFamily="34" charset="-120"/>
              </a:rPr>
              <a:t>Raise Your Hand</a:t>
            </a:r>
            <a:endParaRPr lang="en-US" sz="1150" dirty="0"/>
          </a:p>
        </p:txBody>
      </p:sp>
      <p:sp>
        <p:nvSpPr>
          <p:cNvPr id="22" name="Shape 20"/>
          <p:cNvSpPr/>
          <p:nvPr/>
        </p:nvSpPr>
        <p:spPr>
          <a:xfrm>
            <a:off x="484632" y="4544568"/>
            <a:ext cx="8174736" cy="0"/>
          </a:xfrm>
          <a:prstGeom prst="line">
            <a:avLst/>
          </a:prstGeom>
          <a:noFill/>
          <a:ln w="10160">
            <a:solidFill>
              <a:srgbClr val="2E7D4F"/>
            </a:solidFill>
            <a:prstDash val="solid"/>
          </a:ln>
        </p:spPr>
      </p:sp>
      <p:sp>
        <p:nvSpPr>
          <p:cNvPr id="23" name="Text 21"/>
          <p:cNvSpPr/>
          <p:nvPr/>
        </p:nvSpPr>
        <p:spPr>
          <a:xfrm>
            <a:off x="484632" y="4599432"/>
            <a:ext cx="8174736" cy="274320"/>
          </a:xfrm>
          <a:prstGeom prst="rect">
            <a:avLst/>
          </a:prstGeom>
          <a:noFill/>
          <a:ln/>
        </p:spPr>
        <p:txBody>
          <a:bodyPr wrap="square" lIns="0" tIns="0" rIns="0" bIns="0" rtlCol="0" anchor="ctr"/>
          <a:lstStyle/>
          <a:p>
            <a:pPr algn="l" indent="0" marL="0">
              <a:lnSpc>
                <a:spcPct val="138000"/>
              </a:lnSpc>
              <a:buNone/>
            </a:pPr>
            <a:r>
              <a:rPr lang="en-US" sz="1250" dirty="0">
                <a:solidFill>
                  <a:srgbClr val="3A4A6B"/>
                </a:solidFill>
                <a:latin typeface="Calibri" pitchFamily="34" charset="0"/>
                <a:ea typeface="Calibri" pitchFamily="34" charset="-122"/>
                <a:cs typeface="Calibri" pitchFamily="34" charset="-120"/>
              </a:rPr>
              <a:t>Can you name one real example from Wing A — and one from Wing B — from your own life?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01F"/>
        </a:solidFill>
      </p:bgPr>
    </p:bg>
    <p:spTree>
      <p:nvGrpSpPr>
        <p:cNvPr id="1" name=""/>
        <p:cNvGrpSpPr/>
        <p:nvPr/>
      </p:nvGrpSpPr>
      <p:grpSpPr>
        <a:xfrm>
          <a:off x="0" y="0"/>
          <a:ext cx="0" cy="0"/>
          <a:chOff x="0" y="0"/>
          <a:chExt cx="0" cy="0"/>
        </a:xfrm>
      </p:grpSpPr>
      <p:sp>
        <p:nvSpPr>
          <p:cNvPr id="2" name="Shape 0"/>
          <p:cNvSpPr/>
          <p:nvPr/>
        </p:nvSpPr>
        <p:spPr>
          <a:xfrm>
            <a:off x="-914400" y="182880"/>
            <a:ext cx="7772400" cy="4754880"/>
          </a:xfrm>
          <a:prstGeom prst="ellipse">
            <a:avLst/>
          </a:prstGeom>
          <a:solidFill>
            <a:srgbClr val="D4943A">
              <a:alpha val="7000"/>
            </a:srgbClr>
          </a:solidFill>
          <a:ln w="12700">
            <a:solidFill>
              <a:srgbClr val="333333"/>
            </a:solidFill>
            <a:prstDash val="solid"/>
          </a:ln>
        </p:spPr>
      </p:sp>
      <p:sp>
        <p:nvSpPr>
          <p:cNvPr id="3" name="Shape 1"/>
          <p:cNvSpPr/>
          <p:nvPr/>
        </p:nvSpPr>
        <p:spPr>
          <a:xfrm>
            <a:off x="201168" y="201168"/>
            <a:ext cx="6446520" cy="4736592"/>
          </a:xfrm>
          <a:prstGeom prst="roundRect">
            <a:avLst>
              <a:gd name="adj" fmla="val 1158"/>
            </a:avLst>
          </a:prstGeom>
          <a:solidFill>
            <a:srgbClr val="C8A84B">
              <a:alpha val="45000"/>
            </a:srgbClr>
          </a:solidFill>
          <a:ln w="12700">
            <a:solidFill>
              <a:srgbClr val="333333"/>
            </a:solidFill>
            <a:prstDash val="solid"/>
          </a:ln>
        </p:spPr>
      </p:sp>
      <p:pic>
        <p:nvPicPr>
          <p:cNvPr id="4" name="Image 0" descr="/sessions/beautiful-gracious-pasteur/mnt/images/source-3-01-02-historical-photograph.png">    </p:cNvPr>
          <p:cNvPicPr>
            <a:picLocks noChangeAspect="1"/>
          </p:cNvPicPr>
          <p:nvPr/>
        </p:nvPicPr>
        <p:blipFill>
          <a:blip r:embed="rId1"/>
          <a:srcRect l="0" r="0" t="0" b="0"/>
          <a:stretch/>
        </p:blipFill>
        <p:spPr>
          <a:xfrm>
            <a:off x="292608" y="292608"/>
            <a:ext cx="6263640" cy="4553712"/>
          </a:xfrm>
          <a:prstGeom prst="rect">
            <a:avLst/>
          </a:prstGeom>
        </p:spPr>
      </p:pic>
      <p:sp>
        <p:nvSpPr>
          <p:cNvPr id="5" name="Shape 2"/>
          <p:cNvSpPr/>
          <p:nvPr/>
        </p:nvSpPr>
        <p:spPr>
          <a:xfrm>
            <a:off x="6748272" y="292608"/>
            <a:ext cx="2103120" cy="4553712"/>
          </a:xfrm>
          <a:prstGeom prst="roundRect">
            <a:avLst>
              <a:gd name="adj" fmla="val 4348"/>
            </a:avLst>
          </a:prstGeom>
          <a:solidFill>
            <a:srgbClr val="F5EDD8"/>
          </a:solidFill>
          <a:ln w="19050">
            <a:solidFill>
              <a:srgbClr val="C8A84B"/>
            </a:solidFill>
            <a:prstDash val="solid"/>
          </a:ln>
          <a:effectLst>
            <a:outerShdw sx="100000" sy="100000" kx="0" ky="0" algn="bl" rotWithShape="0" blurRad="177800" dist="50800" dir="2700000">
              <a:srgbClr val="000000">
                <a:alpha val="22000"/>
              </a:srgbClr>
            </a:outerShdw>
          </a:effectLst>
        </p:spPr>
      </p:sp>
      <p:sp>
        <p:nvSpPr>
          <p:cNvPr id="6" name="Shape 3"/>
          <p:cNvSpPr/>
          <p:nvPr/>
        </p:nvSpPr>
        <p:spPr>
          <a:xfrm>
            <a:off x="6748272" y="292608"/>
            <a:ext cx="2103120" cy="658368"/>
          </a:xfrm>
          <a:prstGeom prst="roundRect">
            <a:avLst>
              <a:gd name="adj" fmla="val 13889"/>
            </a:avLst>
          </a:prstGeom>
          <a:solidFill>
            <a:srgbClr val="D4943A"/>
          </a:solidFill>
          <a:ln w="12700">
            <a:solidFill>
              <a:srgbClr val="333333"/>
            </a:solidFill>
            <a:prstDash val="solid"/>
          </a:ln>
        </p:spPr>
      </p:sp>
      <p:sp>
        <p:nvSpPr>
          <p:cNvPr id="7" name="Shape 4"/>
          <p:cNvSpPr/>
          <p:nvPr/>
        </p:nvSpPr>
        <p:spPr>
          <a:xfrm>
            <a:off x="6748272" y="658368"/>
            <a:ext cx="2103120" cy="292608"/>
          </a:xfrm>
          <a:prstGeom prst="rect">
            <a:avLst/>
          </a:prstGeom>
          <a:solidFill>
            <a:srgbClr val="D4943A"/>
          </a:solidFill>
          <a:ln w="12700">
            <a:solidFill>
              <a:srgbClr val="333333"/>
            </a:solidFill>
            <a:prstDash val="solid"/>
          </a:ln>
        </p:spPr>
      </p:sp>
      <p:sp>
        <p:nvSpPr>
          <p:cNvPr id="8" name="Text 5"/>
          <p:cNvSpPr/>
          <p:nvPr/>
        </p:nvSpPr>
        <p:spPr>
          <a:xfrm>
            <a:off x="6784848" y="310896"/>
            <a:ext cx="2029968" cy="621792"/>
          </a:xfrm>
          <a:prstGeom prst="rect">
            <a:avLst/>
          </a:prstGeom>
          <a:noFill/>
          <a:ln/>
        </p:spPr>
        <p:txBody>
          <a:bodyPr wrap="square" rtlCol="0" anchor="ctr"/>
          <a:lstStyle/>
          <a:p>
            <a:pPr algn="ctr" indent="0" marL="0">
              <a:lnSpc>
                <a:spcPct val="110000"/>
              </a:lnSpc>
              <a:buNone/>
            </a:pPr>
            <a:r>
              <a:rPr lang="en-US" sz="1050" b="1" dirty="0">
                <a:solidFill>
                  <a:srgbClr val="FFFFFF"/>
                </a:solidFill>
                <a:latin typeface="Cambria" pitchFamily="34" charset="0"/>
                <a:ea typeface="Cambria" pitchFamily="34" charset="-122"/>
                <a:cs typeface="Cambria" pitchFamily="34" charset="-120"/>
              </a:rPr>
              <a:t>CURATOR'S</a:t>
            </a:r>
            <a:endParaRPr lang="en-US" sz="1050" dirty="0"/>
          </a:p>
          <a:p>
            <a:pPr algn="ctr" indent="0" marL="0">
              <a:lnSpc>
                <a:spcPct val="110000"/>
              </a:lnSpc>
              <a:buNone/>
            </a:pPr>
            <a:r>
              <a:rPr lang="en-US" sz="1050" b="1" dirty="0">
                <a:solidFill>
                  <a:srgbClr val="FFFFFF"/>
                </a:solidFill>
                <a:latin typeface="Cambria" pitchFamily="34" charset="0"/>
                <a:ea typeface="Cambria" pitchFamily="34" charset="-122"/>
                <a:cs typeface="Cambria" pitchFamily="34" charset="-120"/>
              </a:rPr>
              <a:t>CLIPBOARD</a:t>
            </a:r>
            <a:endParaRPr lang="en-US" sz="1050" dirty="0"/>
          </a:p>
        </p:txBody>
      </p:sp>
      <p:sp>
        <p:nvSpPr>
          <p:cNvPr id="9" name="Shape 6"/>
          <p:cNvSpPr/>
          <p:nvPr/>
        </p:nvSpPr>
        <p:spPr>
          <a:xfrm>
            <a:off x="6876288" y="1051560"/>
            <a:ext cx="1828800" cy="438912"/>
          </a:xfrm>
          <a:prstGeom prst="roundRect">
            <a:avLst>
              <a:gd name="adj" fmla="val 12500"/>
            </a:avLst>
          </a:prstGeom>
          <a:solidFill>
            <a:srgbClr val="FFFFFF"/>
          </a:solidFill>
          <a:ln w="12700">
            <a:solidFill>
              <a:srgbClr val="B87A2A"/>
            </a:solidFill>
            <a:prstDash val="solid"/>
          </a:ln>
        </p:spPr>
      </p:sp>
      <p:sp>
        <p:nvSpPr>
          <p:cNvPr id="10" name="Text 7"/>
          <p:cNvSpPr/>
          <p:nvPr/>
        </p:nvSpPr>
        <p:spPr>
          <a:xfrm>
            <a:off x="6876288" y="1051560"/>
            <a:ext cx="1828800" cy="438912"/>
          </a:xfrm>
          <a:prstGeom prst="rect">
            <a:avLst/>
          </a:prstGeom>
          <a:noFill/>
          <a:ln/>
        </p:spPr>
        <p:txBody>
          <a:bodyPr wrap="square" rtlCol="0" anchor="ctr"/>
          <a:lstStyle/>
          <a:p>
            <a:pPr algn="ctr" indent="0" marL="0">
              <a:lnSpc>
                <a:spcPct val="120000"/>
              </a:lnSpc>
              <a:buNone/>
            </a:pPr>
            <a:r>
              <a:rPr lang="en-US" sz="1050" b="1" dirty="0">
                <a:solidFill>
                  <a:srgbClr val="B87A2A"/>
                </a:solidFill>
                <a:latin typeface="Calibri" pitchFamily="34" charset="0"/>
                <a:ea typeface="Calibri" pitchFamily="34" charset="-122"/>
                <a:cs typeface="Calibri" pitchFamily="34" charset="-120"/>
              </a:rPr>
              <a:t>Primary Source</a:t>
            </a:r>
            <a:endParaRPr lang="en-US" sz="1050" dirty="0"/>
          </a:p>
          <a:p>
            <a:pPr algn="ctr" indent="0" marL="0">
              <a:lnSpc>
                <a:spcPct val="120000"/>
              </a:lnSpc>
              <a:buNone/>
            </a:pPr>
            <a:r>
              <a:rPr lang="en-US" sz="1050" b="1" dirty="0">
                <a:solidFill>
                  <a:srgbClr val="B87A2A"/>
                </a:solidFill>
                <a:latin typeface="Calibri" pitchFamily="34" charset="0"/>
                <a:ea typeface="Calibri" pitchFamily="34" charset="-122"/>
                <a:cs typeface="Calibri" pitchFamily="34" charset="-120"/>
              </a:rPr>
              <a:t>Photograph · c. 1900s</a:t>
            </a:r>
            <a:endParaRPr lang="en-US" sz="1050" dirty="0"/>
          </a:p>
        </p:txBody>
      </p:sp>
      <p:sp>
        <p:nvSpPr>
          <p:cNvPr id="11" name="Shape 8"/>
          <p:cNvSpPr/>
          <p:nvPr/>
        </p:nvSpPr>
        <p:spPr>
          <a:xfrm>
            <a:off x="6876288" y="1600200"/>
            <a:ext cx="1828800" cy="877824"/>
          </a:xfrm>
          <a:prstGeom prst="roundRect">
            <a:avLst>
              <a:gd name="adj" fmla="val 7292"/>
            </a:avLst>
          </a:prstGeom>
          <a:solidFill>
            <a:srgbClr val="E0F5F0"/>
          </a:solidFill>
          <a:ln w="10160">
            <a:solidFill>
              <a:srgbClr val="1A8A7D"/>
            </a:solidFill>
            <a:prstDash val="solid"/>
          </a:ln>
        </p:spPr>
      </p:sp>
      <p:sp>
        <p:nvSpPr>
          <p:cNvPr id="12" name="Text 9"/>
          <p:cNvSpPr/>
          <p:nvPr/>
        </p:nvSpPr>
        <p:spPr>
          <a:xfrm>
            <a:off x="6876288" y="1600200"/>
            <a:ext cx="1828800" cy="877824"/>
          </a:xfrm>
          <a:prstGeom prst="rect">
            <a:avLst/>
          </a:prstGeom>
          <a:noFill/>
          <a:ln/>
        </p:spPr>
        <p:txBody>
          <a:bodyPr wrap="square" rtlCol="0" anchor="ctr"/>
          <a:lstStyle/>
          <a:p>
            <a:pPr algn="ctr" indent="0" marL="0">
              <a:lnSpc>
                <a:spcPct val="120000"/>
              </a:lnSpc>
              <a:buNone/>
            </a:pPr>
            <a:r>
              <a:rPr lang="en-US" sz="1200" b="1" dirty="0">
                <a:solidFill>
                  <a:srgbClr val="0E1C42"/>
                </a:solidFill>
                <a:latin typeface="Cambria" pitchFamily="34" charset="0"/>
                <a:ea typeface="Cambria" pitchFamily="34" charset="-122"/>
                <a:cs typeface="Cambria" pitchFamily="34" charset="-120"/>
              </a:rPr>
              <a:t>What do you</a:t>
            </a:r>
            <a:endParaRPr lang="en-US" sz="1200" dirty="0"/>
          </a:p>
          <a:p>
            <a:pPr algn="ctr" indent="0" marL="0">
              <a:lnSpc>
                <a:spcPct val="120000"/>
              </a:lnSpc>
              <a:buNone/>
            </a:pPr>
            <a:r>
              <a:rPr lang="en-US" sz="1200" b="1" dirty="0">
                <a:solidFill>
                  <a:srgbClr val="0E1C42"/>
                </a:solidFill>
                <a:latin typeface="Cambria" pitchFamily="34" charset="0"/>
                <a:ea typeface="Cambria" pitchFamily="34" charset="-122"/>
                <a:cs typeface="Cambria" pitchFamily="34" charset="-120"/>
              </a:rPr>
              <a:t>NOTICE?</a:t>
            </a:r>
            <a:endParaRPr lang="en-US" sz="1200" dirty="0"/>
          </a:p>
        </p:txBody>
      </p:sp>
      <p:sp>
        <p:nvSpPr>
          <p:cNvPr id="13" name="Shape 10"/>
          <p:cNvSpPr/>
          <p:nvPr/>
        </p:nvSpPr>
        <p:spPr>
          <a:xfrm>
            <a:off x="6876288" y="2587752"/>
            <a:ext cx="1828800" cy="877824"/>
          </a:xfrm>
          <a:prstGeom prst="roundRect">
            <a:avLst>
              <a:gd name="adj" fmla="val 7292"/>
            </a:avLst>
          </a:prstGeom>
          <a:solidFill>
            <a:srgbClr val="E0F5F0"/>
          </a:solidFill>
          <a:ln w="10160">
            <a:solidFill>
              <a:srgbClr val="1A8A7D"/>
            </a:solidFill>
            <a:prstDash val="solid"/>
          </a:ln>
        </p:spPr>
      </p:sp>
      <p:sp>
        <p:nvSpPr>
          <p:cNvPr id="14" name="Text 11"/>
          <p:cNvSpPr/>
          <p:nvPr/>
        </p:nvSpPr>
        <p:spPr>
          <a:xfrm>
            <a:off x="6876288" y="2587752"/>
            <a:ext cx="1828800" cy="877824"/>
          </a:xfrm>
          <a:prstGeom prst="rect">
            <a:avLst/>
          </a:prstGeom>
          <a:noFill/>
          <a:ln/>
        </p:spPr>
        <p:txBody>
          <a:bodyPr wrap="square" rtlCol="0" anchor="ctr"/>
          <a:lstStyle/>
          <a:p>
            <a:pPr algn="ctr" indent="0" marL="0">
              <a:lnSpc>
                <a:spcPct val="120000"/>
              </a:lnSpc>
              <a:buNone/>
            </a:pPr>
            <a:r>
              <a:rPr lang="en-US" sz="1200" b="1" dirty="0">
                <a:solidFill>
                  <a:srgbClr val="0E1C42"/>
                </a:solidFill>
                <a:latin typeface="Cambria" pitchFamily="34" charset="0"/>
                <a:ea typeface="Cambria" pitchFamily="34" charset="-122"/>
                <a:cs typeface="Cambria" pitchFamily="34" charset="-120"/>
              </a:rPr>
              <a:t>What do you</a:t>
            </a:r>
            <a:endParaRPr lang="en-US" sz="1200" dirty="0"/>
          </a:p>
          <a:p>
            <a:pPr algn="ctr" indent="0" marL="0">
              <a:lnSpc>
                <a:spcPct val="120000"/>
              </a:lnSpc>
              <a:buNone/>
            </a:pPr>
            <a:r>
              <a:rPr lang="en-US" sz="1200" b="1" dirty="0">
                <a:solidFill>
                  <a:srgbClr val="0E1C42"/>
                </a:solidFill>
                <a:latin typeface="Cambria" pitchFamily="34" charset="0"/>
                <a:ea typeface="Cambria" pitchFamily="34" charset="-122"/>
                <a:cs typeface="Cambria" pitchFamily="34" charset="-120"/>
              </a:rPr>
              <a:t>WONDER?</a:t>
            </a:r>
            <a:endParaRPr lang="en-US" sz="1200" dirty="0"/>
          </a:p>
        </p:txBody>
      </p:sp>
      <p:sp>
        <p:nvSpPr>
          <p:cNvPr id="15" name="Shape 12"/>
          <p:cNvSpPr/>
          <p:nvPr/>
        </p:nvSpPr>
        <p:spPr>
          <a:xfrm>
            <a:off x="6876288" y="3575304"/>
            <a:ext cx="1828800" cy="877824"/>
          </a:xfrm>
          <a:prstGeom prst="roundRect">
            <a:avLst>
              <a:gd name="adj" fmla="val 7292"/>
            </a:avLst>
          </a:prstGeom>
          <a:solidFill>
            <a:srgbClr val="E0F5F0"/>
          </a:solidFill>
          <a:ln w="10160">
            <a:solidFill>
              <a:srgbClr val="1A8A7D"/>
            </a:solidFill>
            <a:prstDash val="solid"/>
          </a:ln>
        </p:spPr>
      </p:sp>
      <p:sp>
        <p:nvSpPr>
          <p:cNvPr id="16" name="Text 13"/>
          <p:cNvSpPr/>
          <p:nvPr/>
        </p:nvSpPr>
        <p:spPr>
          <a:xfrm>
            <a:off x="6876288" y="3575304"/>
            <a:ext cx="1828800" cy="877824"/>
          </a:xfrm>
          <a:prstGeom prst="rect">
            <a:avLst/>
          </a:prstGeom>
          <a:noFill/>
          <a:ln/>
        </p:spPr>
        <p:txBody>
          <a:bodyPr wrap="square" rtlCol="0" anchor="ctr"/>
          <a:lstStyle/>
          <a:p>
            <a:pPr algn="ctr" indent="0" marL="0">
              <a:lnSpc>
                <a:spcPct val="120000"/>
              </a:lnSpc>
              <a:buNone/>
            </a:pPr>
            <a:r>
              <a:rPr lang="en-US" sz="1200" b="1" dirty="0">
                <a:solidFill>
                  <a:srgbClr val="0E1C42"/>
                </a:solidFill>
                <a:latin typeface="Cambria" pitchFamily="34" charset="0"/>
                <a:ea typeface="Cambria" pitchFamily="34" charset="-122"/>
                <a:cs typeface="Cambria" pitchFamily="34" charset="-120"/>
              </a:rPr>
              <a:t>What QUESTION</a:t>
            </a:r>
            <a:endParaRPr lang="en-US" sz="1200" dirty="0"/>
          </a:p>
          <a:p>
            <a:pPr algn="ctr" indent="0" marL="0">
              <a:lnSpc>
                <a:spcPct val="120000"/>
              </a:lnSpc>
              <a:buNone/>
            </a:pPr>
            <a:r>
              <a:rPr lang="en-US" sz="1200" b="1" dirty="0">
                <a:solidFill>
                  <a:srgbClr val="0E1C42"/>
                </a:solidFill>
                <a:latin typeface="Cambria" pitchFamily="34" charset="0"/>
                <a:ea typeface="Cambria" pitchFamily="34" charset="-122"/>
                <a:cs typeface="Cambria" pitchFamily="34" charset="-120"/>
              </a:rPr>
              <a:t>would you ask?</a:t>
            </a:r>
            <a:endParaRPr lang="en-US" sz="1200" dirty="0"/>
          </a:p>
        </p:txBody>
      </p:sp>
      <p:sp>
        <p:nvSpPr>
          <p:cNvPr id="17" name="Shape 14"/>
          <p:cNvSpPr/>
          <p:nvPr/>
        </p:nvSpPr>
        <p:spPr>
          <a:xfrm>
            <a:off x="6748272" y="4645152"/>
            <a:ext cx="2103120" cy="384048"/>
          </a:xfrm>
          <a:prstGeom prst="roundRect">
            <a:avLst>
              <a:gd name="adj" fmla="val 21429"/>
            </a:avLst>
          </a:prstGeom>
          <a:solidFill>
            <a:srgbClr val="1A8A7D">
              <a:alpha val="78000"/>
            </a:srgbClr>
          </a:solidFill>
          <a:ln w="19050">
            <a:solidFill>
              <a:srgbClr val="34B0A0"/>
            </a:solidFill>
            <a:prstDash val="solid"/>
          </a:ln>
        </p:spPr>
      </p:sp>
      <p:sp>
        <p:nvSpPr>
          <p:cNvPr id="18" name="Text 15"/>
          <p:cNvSpPr/>
          <p:nvPr/>
        </p:nvSpPr>
        <p:spPr>
          <a:xfrm>
            <a:off x="6912864" y="4645152"/>
            <a:ext cx="1773936"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Type one thing you notice in the chat.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01F"/>
        </a:solidFill>
      </p:bgPr>
    </p:bg>
    <p:spTree>
      <p:nvGrpSpPr>
        <p:cNvPr id="1" name=""/>
        <p:cNvGrpSpPr/>
        <p:nvPr/>
      </p:nvGrpSpPr>
      <p:grpSpPr>
        <a:xfrm>
          <a:off x="0" y="0"/>
          <a:ext cx="0" cy="0"/>
          <a:chOff x="0" y="0"/>
          <a:chExt cx="0" cy="0"/>
        </a:xfrm>
      </p:grpSpPr>
      <p:sp>
        <p:nvSpPr>
          <p:cNvPr id="2" name="Shape 0"/>
          <p:cNvSpPr/>
          <p:nvPr/>
        </p:nvSpPr>
        <p:spPr>
          <a:xfrm>
            <a:off x="-1371600" y="457200"/>
            <a:ext cx="5486400" cy="4114800"/>
          </a:xfrm>
          <a:prstGeom prst="ellipse">
            <a:avLst/>
          </a:prstGeom>
          <a:solidFill>
            <a:srgbClr val="D4943A">
              <a:alpha val="8000"/>
            </a:srgbClr>
          </a:solidFill>
          <a:ln w="12700">
            <a:solidFill>
              <a:srgbClr val="333333"/>
            </a:solidFill>
            <a:prstDash val="solid"/>
          </a:ln>
        </p:spPr>
      </p:sp>
      <p:sp>
        <p:nvSpPr>
          <p:cNvPr id="3" name="Shape 1"/>
          <p:cNvSpPr/>
          <p:nvPr/>
        </p:nvSpPr>
        <p:spPr>
          <a:xfrm>
            <a:off x="228600" y="274320"/>
            <a:ext cx="3383280" cy="4553712"/>
          </a:xfrm>
          <a:prstGeom prst="roundRect">
            <a:avLst>
              <a:gd name="adj" fmla="val 1622"/>
            </a:avLst>
          </a:prstGeom>
          <a:solidFill>
            <a:srgbClr val="C8A84B">
              <a:alpha val="40000"/>
            </a:srgbClr>
          </a:solidFill>
          <a:ln w="12700">
            <a:solidFill>
              <a:srgbClr val="333333"/>
            </a:solidFill>
            <a:prstDash val="solid"/>
          </a:ln>
        </p:spPr>
      </p:sp>
      <p:pic>
        <p:nvPicPr>
          <p:cNvPr id="4" name="Image 0" descr="/sessions/beautiful-gracious-pasteur/mnt/images/source-3-01-02-historical-photograph.png">    </p:cNvPr>
          <p:cNvPicPr>
            <a:picLocks noChangeAspect="1"/>
          </p:cNvPicPr>
          <p:nvPr/>
        </p:nvPicPr>
        <p:blipFill>
          <a:blip r:embed="rId1"/>
          <a:srcRect l="0" r="0" t="0" b="0"/>
          <a:stretch/>
        </p:blipFill>
        <p:spPr>
          <a:xfrm>
            <a:off x="320040" y="365760"/>
            <a:ext cx="3200400" cy="4370832"/>
          </a:xfrm>
          <a:prstGeom prst="rect">
            <a:avLst/>
          </a:prstGeom>
        </p:spPr>
      </p:pic>
      <p:sp>
        <p:nvSpPr>
          <p:cNvPr id="5" name="Text 2"/>
          <p:cNvSpPr/>
          <p:nvPr/>
        </p:nvSpPr>
        <p:spPr>
          <a:xfrm>
            <a:off x="3858768" y="256032"/>
            <a:ext cx="5029200" cy="47548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Work Through the Evidence</a:t>
            </a:r>
            <a:endParaRPr lang="en-US" sz="1800" dirty="0"/>
          </a:p>
        </p:txBody>
      </p:sp>
      <p:sp>
        <p:nvSpPr>
          <p:cNvPr id="6" name="Shape 3"/>
          <p:cNvSpPr/>
          <p:nvPr/>
        </p:nvSpPr>
        <p:spPr>
          <a:xfrm>
            <a:off x="3858768" y="822960"/>
            <a:ext cx="4773168" cy="932688"/>
          </a:xfrm>
          <a:prstGeom prst="roundRect">
            <a:avLst>
              <a:gd name="adj" fmla="val 8824"/>
            </a:avLst>
          </a:prstGeom>
          <a:solidFill>
            <a:srgbClr val="FFFFFF">
              <a:alpha val="12000"/>
            </a:srgbClr>
          </a:solidFill>
          <a:ln w="12700">
            <a:solidFill>
              <a:srgbClr val="FFFFFF">
                <a:alpha val="30000"/>
              </a:srgbClr>
            </a:solidFill>
            <a:prstDash val="solid"/>
          </a:ln>
        </p:spPr>
      </p:sp>
      <p:sp>
        <p:nvSpPr>
          <p:cNvPr id="7" name="Text 4"/>
          <p:cNvSpPr/>
          <p:nvPr/>
        </p:nvSpPr>
        <p:spPr>
          <a:xfrm>
            <a:off x="3977640" y="896112"/>
            <a:ext cx="3547872" cy="768096"/>
          </a:xfrm>
          <a:prstGeom prst="rect">
            <a:avLst/>
          </a:prstGeom>
          <a:noFill/>
          <a:ln/>
        </p:spPr>
        <p:txBody>
          <a:bodyPr wrap="square" rtlCol="0" anchor="ctr"/>
          <a:lstStyle/>
          <a:p>
            <a:pPr algn="l" indent="0" marL="0">
              <a:lnSpc>
                <a:spcPct val="130000"/>
              </a:lnSpc>
              <a:buNone/>
            </a:pPr>
            <a:r>
              <a:rPr lang="en-US" sz="1300" dirty="0">
                <a:solidFill>
                  <a:srgbClr val="FFFFFF"/>
                </a:solidFill>
                <a:latin typeface="Calibri" pitchFamily="34" charset="0"/>
                <a:ea typeface="Calibri" pitchFamily="34" charset="-122"/>
                <a:cs typeface="Calibri" pitchFamily="34" charset="-120"/>
              </a:rPr>
              <a:t>1.  What TYPE of source is this? How do you know?</a:t>
            </a:r>
            <a:endParaRPr lang="en-US" sz="1300" dirty="0"/>
          </a:p>
        </p:txBody>
      </p:sp>
      <p:sp>
        <p:nvSpPr>
          <p:cNvPr id="8" name="Shape 5"/>
          <p:cNvSpPr/>
          <p:nvPr/>
        </p:nvSpPr>
        <p:spPr>
          <a:xfrm>
            <a:off x="7607808" y="1005840"/>
            <a:ext cx="969264" cy="566928"/>
          </a:xfrm>
          <a:prstGeom prst="roundRect">
            <a:avLst>
              <a:gd name="adj" fmla="val 12903"/>
            </a:avLst>
          </a:prstGeom>
          <a:solidFill>
            <a:srgbClr val="2E7D4F">
              <a:alpha val="80000"/>
            </a:srgbClr>
          </a:solidFill>
          <a:ln w="12700">
            <a:solidFill>
              <a:srgbClr val="2E7D4F"/>
            </a:solidFill>
            <a:prstDash val="solid"/>
          </a:ln>
        </p:spPr>
      </p:sp>
      <p:sp>
        <p:nvSpPr>
          <p:cNvPr id="9" name="Text 6"/>
          <p:cNvSpPr/>
          <p:nvPr/>
        </p:nvSpPr>
        <p:spPr>
          <a:xfrm>
            <a:off x="7607808" y="1005840"/>
            <a:ext cx="969264" cy="56692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Raise Your Hand</a:t>
            </a:r>
            <a:endParaRPr lang="en-US" sz="950" dirty="0"/>
          </a:p>
        </p:txBody>
      </p:sp>
      <p:sp>
        <p:nvSpPr>
          <p:cNvPr id="10" name="Shape 7"/>
          <p:cNvSpPr/>
          <p:nvPr/>
        </p:nvSpPr>
        <p:spPr>
          <a:xfrm>
            <a:off x="3858768" y="1865376"/>
            <a:ext cx="4773168" cy="932688"/>
          </a:xfrm>
          <a:prstGeom prst="roundRect">
            <a:avLst>
              <a:gd name="adj" fmla="val 8824"/>
            </a:avLst>
          </a:prstGeom>
          <a:solidFill>
            <a:srgbClr val="FFFFFF">
              <a:alpha val="12000"/>
            </a:srgbClr>
          </a:solidFill>
          <a:ln w="12700">
            <a:solidFill>
              <a:srgbClr val="FFFFFF">
                <a:alpha val="30000"/>
              </a:srgbClr>
            </a:solidFill>
            <a:prstDash val="solid"/>
          </a:ln>
        </p:spPr>
      </p:sp>
      <p:sp>
        <p:nvSpPr>
          <p:cNvPr id="11" name="Text 8"/>
          <p:cNvSpPr/>
          <p:nvPr/>
        </p:nvSpPr>
        <p:spPr>
          <a:xfrm>
            <a:off x="3977640" y="1938528"/>
            <a:ext cx="3547872" cy="768096"/>
          </a:xfrm>
          <a:prstGeom prst="rect">
            <a:avLst/>
          </a:prstGeom>
          <a:noFill/>
          <a:ln/>
        </p:spPr>
        <p:txBody>
          <a:bodyPr wrap="square" rtlCol="0" anchor="ctr"/>
          <a:lstStyle/>
          <a:p>
            <a:pPr algn="l" indent="0" marL="0">
              <a:lnSpc>
                <a:spcPct val="130000"/>
              </a:lnSpc>
              <a:buNone/>
            </a:pPr>
            <a:r>
              <a:rPr lang="en-US" sz="1300" dirty="0">
                <a:solidFill>
                  <a:srgbClr val="FFFFFF"/>
                </a:solidFill>
                <a:latin typeface="Calibri" pitchFamily="34" charset="0"/>
                <a:ea typeface="Calibri" pitchFamily="34" charset="-122"/>
                <a:cs typeface="Calibri" pitchFamily="34" charset="-120"/>
              </a:rPr>
              <a:t>2.  List THREE specific things you can see. Describe — don't interpret.</a:t>
            </a:r>
            <a:endParaRPr lang="en-US" sz="1300" dirty="0"/>
          </a:p>
        </p:txBody>
      </p:sp>
      <p:sp>
        <p:nvSpPr>
          <p:cNvPr id="12" name="Shape 9"/>
          <p:cNvSpPr/>
          <p:nvPr/>
        </p:nvSpPr>
        <p:spPr>
          <a:xfrm>
            <a:off x="7607808" y="2048256"/>
            <a:ext cx="969264" cy="566928"/>
          </a:xfrm>
          <a:prstGeom prst="roundRect">
            <a:avLst>
              <a:gd name="adj" fmla="val 12903"/>
            </a:avLst>
          </a:prstGeom>
          <a:solidFill>
            <a:srgbClr val="1A8A7D">
              <a:alpha val="80000"/>
            </a:srgbClr>
          </a:solidFill>
          <a:ln w="12700">
            <a:solidFill>
              <a:srgbClr val="1A8A7D"/>
            </a:solidFill>
            <a:prstDash val="solid"/>
          </a:ln>
        </p:spPr>
      </p:sp>
      <p:sp>
        <p:nvSpPr>
          <p:cNvPr id="13" name="Text 10"/>
          <p:cNvSpPr/>
          <p:nvPr/>
        </p:nvSpPr>
        <p:spPr>
          <a:xfrm>
            <a:off x="7607808" y="2048256"/>
            <a:ext cx="969264" cy="56692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 the Chat</a:t>
            </a:r>
            <a:endParaRPr lang="en-US" sz="950" dirty="0"/>
          </a:p>
        </p:txBody>
      </p:sp>
      <p:sp>
        <p:nvSpPr>
          <p:cNvPr id="14" name="Shape 11"/>
          <p:cNvSpPr/>
          <p:nvPr/>
        </p:nvSpPr>
        <p:spPr>
          <a:xfrm>
            <a:off x="3858768" y="2907792"/>
            <a:ext cx="4773168" cy="932688"/>
          </a:xfrm>
          <a:prstGeom prst="roundRect">
            <a:avLst>
              <a:gd name="adj" fmla="val 8824"/>
            </a:avLst>
          </a:prstGeom>
          <a:solidFill>
            <a:srgbClr val="FFFFFF">
              <a:alpha val="12000"/>
            </a:srgbClr>
          </a:solidFill>
          <a:ln w="12700">
            <a:solidFill>
              <a:srgbClr val="FFFFFF">
                <a:alpha val="30000"/>
              </a:srgbClr>
            </a:solidFill>
            <a:prstDash val="solid"/>
          </a:ln>
        </p:spPr>
      </p:sp>
      <p:sp>
        <p:nvSpPr>
          <p:cNvPr id="15" name="Text 12"/>
          <p:cNvSpPr/>
          <p:nvPr/>
        </p:nvSpPr>
        <p:spPr>
          <a:xfrm>
            <a:off x="3977640" y="2980944"/>
            <a:ext cx="3547872" cy="768096"/>
          </a:xfrm>
          <a:prstGeom prst="rect">
            <a:avLst/>
          </a:prstGeom>
          <a:noFill/>
          <a:ln/>
        </p:spPr>
        <p:txBody>
          <a:bodyPr wrap="square" rtlCol="0" anchor="ctr"/>
          <a:lstStyle/>
          <a:p>
            <a:pPr algn="l" indent="0" marL="0">
              <a:lnSpc>
                <a:spcPct val="130000"/>
              </a:lnSpc>
              <a:buNone/>
            </a:pPr>
            <a:r>
              <a:rPr lang="en-US" sz="1300" dirty="0">
                <a:solidFill>
                  <a:srgbClr val="FFFFFF"/>
                </a:solidFill>
                <a:latin typeface="Calibri" pitchFamily="34" charset="0"/>
                <a:ea typeface="Calibri" pitchFamily="34" charset="-122"/>
                <a:cs typeface="Calibri" pitchFamily="34" charset="-120"/>
              </a:rPr>
              <a:t>3.  Who are these people? What might have brought them together?</a:t>
            </a:r>
            <a:endParaRPr lang="en-US" sz="1300" dirty="0"/>
          </a:p>
        </p:txBody>
      </p:sp>
      <p:sp>
        <p:nvSpPr>
          <p:cNvPr id="16" name="Shape 13"/>
          <p:cNvSpPr/>
          <p:nvPr/>
        </p:nvSpPr>
        <p:spPr>
          <a:xfrm>
            <a:off x="7607808" y="3090672"/>
            <a:ext cx="969264" cy="566928"/>
          </a:xfrm>
          <a:prstGeom prst="roundRect">
            <a:avLst>
              <a:gd name="adj" fmla="val 12903"/>
            </a:avLst>
          </a:prstGeom>
          <a:solidFill>
            <a:srgbClr val="2E7D4F">
              <a:alpha val="80000"/>
            </a:srgbClr>
          </a:solidFill>
          <a:ln w="12700">
            <a:solidFill>
              <a:srgbClr val="2E7D4F"/>
            </a:solidFill>
            <a:prstDash val="solid"/>
          </a:ln>
        </p:spPr>
      </p:sp>
      <p:sp>
        <p:nvSpPr>
          <p:cNvPr id="17" name="Text 14"/>
          <p:cNvSpPr/>
          <p:nvPr/>
        </p:nvSpPr>
        <p:spPr>
          <a:xfrm>
            <a:off x="7607808" y="3090672"/>
            <a:ext cx="969264" cy="56692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Raise Your Hand</a:t>
            </a:r>
            <a:endParaRPr lang="en-US" sz="950" dirty="0"/>
          </a:p>
        </p:txBody>
      </p:sp>
      <p:sp>
        <p:nvSpPr>
          <p:cNvPr id="18" name="Shape 15"/>
          <p:cNvSpPr/>
          <p:nvPr/>
        </p:nvSpPr>
        <p:spPr>
          <a:xfrm>
            <a:off x="3858768" y="3950208"/>
            <a:ext cx="4773168" cy="932688"/>
          </a:xfrm>
          <a:prstGeom prst="roundRect">
            <a:avLst>
              <a:gd name="adj" fmla="val 8824"/>
            </a:avLst>
          </a:prstGeom>
          <a:solidFill>
            <a:srgbClr val="FFFFFF">
              <a:alpha val="12000"/>
            </a:srgbClr>
          </a:solidFill>
          <a:ln w="12700">
            <a:solidFill>
              <a:srgbClr val="FFFFFF">
                <a:alpha val="30000"/>
              </a:srgbClr>
            </a:solidFill>
            <a:prstDash val="solid"/>
          </a:ln>
        </p:spPr>
      </p:sp>
      <p:sp>
        <p:nvSpPr>
          <p:cNvPr id="19" name="Text 16"/>
          <p:cNvSpPr/>
          <p:nvPr/>
        </p:nvSpPr>
        <p:spPr>
          <a:xfrm>
            <a:off x="3977640" y="4023360"/>
            <a:ext cx="3547872" cy="768096"/>
          </a:xfrm>
          <a:prstGeom prst="rect">
            <a:avLst/>
          </a:prstGeom>
          <a:noFill/>
          <a:ln/>
        </p:spPr>
        <p:txBody>
          <a:bodyPr wrap="square" rtlCol="0" anchor="ctr"/>
          <a:lstStyle/>
          <a:p>
            <a:pPr algn="l" indent="0" marL="0">
              <a:lnSpc>
                <a:spcPct val="130000"/>
              </a:lnSpc>
              <a:buNone/>
            </a:pPr>
            <a:r>
              <a:rPr lang="en-US" sz="1300" dirty="0">
                <a:solidFill>
                  <a:srgbClr val="FFFFFF"/>
                </a:solidFill>
                <a:latin typeface="Calibri" pitchFamily="34" charset="0"/>
                <a:ea typeface="Calibri" pitchFamily="34" charset="-122"/>
                <a:cs typeface="Calibri" pitchFamily="34" charset="-120"/>
              </a:rPr>
              <a:t>4.  What does this photo NOT show us? What would you still need to find out?</a:t>
            </a:r>
            <a:endParaRPr lang="en-US" sz="1300" dirty="0"/>
          </a:p>
        </p:txBody>
      </p:sp>
      <p:sp>
        <p:nvSpPr>
          <p:cNvPr id="20" name="Shape 17"/>
          <p:cNvSpPr/>
          <p:nvPr/>
        </p:nvSpPr>
        <p:spPr>
          <a:xfrm>
            <a:off x="7607808" y="4133088"/>
            <a:ext cx="969264" cy="566928"/>
          </a:xfrm>
          <a:prstGeom prst="roundRect">
            <a:avLst>
              <a:gd name="adj" fmla="val 12903"/>
            </a:avLst>
          </a:prstGeom>
          <a:solidFill>
            <a:srgbClr val="C7522A">
              <a:alpha val="80000"/>
            </a:srgbClr>
          </a:solidFill>
          <a:ln w="12700">
            <a:solidFill>
              <a:srgbClr val="C7522A"/>
            </a:solidFill>
            <a:prstDash val="solid"/>
          </a:ln>
        </p:spPr>
      </p:sp>
      <p:sp>
        <p:nvSpPr>
          <p:cNvPr id="21" name="Text 18"/>
          <p:cNvSpPr/>
          <p:nvPr/>
        </p:nvSpPr>
        <p:spPr>
          <a:xfrm>
            <a:off x="7607808" y="4133088"/>
            <a:ext cx="969264" cy="56692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 Your Groups</a:t>
            </a:r>
            <a:endParaRPr lang="en-US" sz="950" dirty="0"/>
          </a:p>
        </p:txBody>
      </p:sp>
      <p:sp>
        <p:nvSpPr>
          <p:cNvPr id="22" name="Text 19"/>
          <p:cNvSpPr/>
          <p:nvPr/>
        </p:nvSpPr>
        <p:spPr>
          <a:xfrm>
            <a:off x="3858768" y="4974336"/>
            <a:ext cx="4773168" cy="292608"/>
          </a:xfrm>
          <a:prstGeom prst="rect">
            <a:avLst/>
          </a:prstGeom>
          <a:noFill/>
          <a:ln/>
        </p:spPr>
        <p:txBody>
          <a:bodyPr wrap="square" lIns="0" tIns="0" rIns="0" bIns="0" rtlCol="0" anchor="ctr"/>
          <a:lstStyle/>
          <a:p>
            <a:pPr algn="r" indent="0" marL="0">
              <a:buNone/>
            </a:pPr>
            <a:r>
              <a:rPr lang="en-US" sz="1100" i="1" dirty="0">
                <a:solidFill>
                  <a:srgbClr val="34B0A0"/>
                </a:solidFill>
                <a:latin typeface="Calibri" pitchFamily="34" charset="0"/>
                <a:ea typeface="Calibri" pitchFamily="34" charset="-122"/>
                <a:cs typeface="Calibri" pitchFamily="34" charset="-120"/>
              </a:rPr>
              <a:t>Working like real historians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8A7D"/>
          </a:solidFill>
          <a:ln w="12700">
            <a:solidFill>
              <a:srgbClr val="333333"/>
            </a:solidFill>
            <a:prstDash val="solid"/>
          </a:ln>
        </p:spPr>
      </p:sp>
      <p:sp>
        <p:nvSpPr>
          <p:cNvPr id="3" name="Text 1"/>
          <p:cNvSpPr/>
          <p:nvPr/>
        </p:nvSpPr>
        <p:spPr>
          <a:xfrm>
            <a:off x="457200" y="0"/>
            <a:ext cx="8229600" cy="74980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Your Independent Curator Task</a:t>
            </a:r>
            <a:endParaRPr lang="en-US" sz="2200" dirty="0"/>
          </a:p>
        </p:txBody>
      </p:sp>
      <p:sp>
        <p:nvSpPr>
          <p:cNvPr id="4" name="Text 2"/>
          <p:cNvSpPr/>
          <p:nvPr/>
        </p:nvSpPr>
        <p:spPr>
          <a:xfrm>
            <a:off x="457200" y="868680"/>
            <a:ext cx="8229600" cy="347472"/>
          </a:xfrm>
          <a:prstGeom prst="rect">
            <a:avLst/>
          </a:prstGeom>
          <a:noFill/>
          <a:ln/>
        </p:spPr>
        <p:txBody>
          <a:bodyPr wrap="square" lIns="0" tIns="0" rIns="0" bIns="0" rtlCol="0" anchor="ctr"/>
          <a:lstStyle/>
          <a:p>
            <a:pPr algn="l" indent="0" marL="0">
              <a:buNone/>
            </a:pPr>
            <a:r>
              <a:rPr lang="en-US" sz="1350" dirty="0">
                <a:solidFill>
                  <a:srgbClr val="3A4A6B"/>
                </a:solidFill>
                <a:latin typeface="Calibri" pitchFamily="34" charset="0"/>
                <a:ea typeface="Calibri" pitchFamily="34" charset="-122"/>
                <a:cs typeface="Calibri" pitchFamily="34" charset="-120"/>
              </a:rPr>
              <a:t>Open the lesson page and work through all four tabs on your own:</a:t>
            </a:r>
            <a:endParaRPr lang="en-US" sz="1350" dirty="0"/>
          </a:p>
        </p:txBody>
      </p:sp>
      <p:sp>
        <p:nvSpPr>
          <p:cNvPr id="5" name="Shape 3"/>
          <p:cNvSpPr/>
          <p:nvPr/>
        </p:nvSpPr>
        <p:spPr>
          <a:xfrm>
            <a:off x="384048" y="1316736"/>
            <a:ext cx="8375904" cy="713232"/>
          </a:xfrm>
          <a:prstGeom prst="roundRect">
            <a:avLst>
              <a:gd name="adj" fmla="val 12821"/>
            </a:avLst>
          </a:prstGeom>
          <a:solidFill>
            <a:srgbClr val="FEF3F0"/>
          </a:solidFill>
          <a:ln w="19050">
            <a:solidFill>
              <a:srgbClr val="C7522A"/>
            </a:solidFill>
            <a:prstDash val="solid"/>
          </a:ln>
          <a:effectLst>
            <a:outerShdw sx="100000" sy="100000" kx="0" ky="0" algn="bl" rotWithShape="0" blurRad="101600" dist="25400" dir="2700000">
              <a:srgbClr val="000000">
                <a:alpha val="10000"/>
              </a:srgbClr>
            </a:outerShdw>
          </a:effectLst>
        </p:spPr>
      </p:sp>
      <p:sp>
        <p:nvSpPr>
          <p:cNvPr id="6" name="Shape 4"/>
          <p:cNvSpPr/>
          <p:nvPr/>
        </p:nvSpPr>
        <p:spPr>
          <a:xfrm>
            <a:off x="512064" y="1499616"/>
            <a:ext cx="347472" cy="347472"/>
          </a:xfrm>
          <a:prstGeom prst="ellipse">
            <a:avLst/>
          </a:prstGeom>
          <a:solidFill>
            <a:srgbClr val="C7522A"/>
          </a:solidFill>
          <a:ln w="19050">
            <a:solidFill>
              <a:srgbClr val="C8A84B"/>
            </a:solidFill>
            <a:prstDash val="solid"/>
          </a:ln>
        </p:spPr>
      </p:sp>
      <p:sp>
        <p:nvSpPr>
          <p:cNvPr id="7" name="Text 5"/>
          <p:cNvSpPr/>
          <p:nvPr/>
        </p:nvSpPr>
        <p:spPr>
          <a:xfrm>
            <a:off x="512064" y="14996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p:nvPr/>
        </p:nvSpPr>
        <p:spPr>
          <a:xfrm>
            <a:off x="969264" y="1389888"/>
            <a:ext cx="1993392" cy="566928"/>
          </a:xfrm>
          <a:prstGeom prst="rect">
            <a:avLst/>
          </a:prstGeom>
          <a:noFill/>
          <a:ln/>
        </p:spPr>
        <p:txBody>
          <a:bodyPr wrap="square" lIns="0" tIns="0" rIns="0" bIns="0" rtlCol="0" anchor="ctr"/>
          <a:lstStyle/>
          <a:p>
            <a:pPr algn="l" indent="0" marL="0">
              <a:buNone/>
            </a:pPr>
            <a:r>
              <a:rPr lang="en-US" sz="1400" b="1" dirty="0">
                <a:solidFill>
                  <a:srgbClr val="C7522A"/>
                </a:solidFill>
                <a:latin typeface="Cambria" pitchFamily="34" charset="0"/>
                <a:ea typeface="Cambria" pitchFamily="34" charset="-122"/>
                <a:cs typeface="Cambria" pitchFamily="34" charset="-120"/>
              </a:rPr>
              <a:t>📍  Enter the Museum</a:t>
            </a:r>
            <a:endParaRPr lang="en-US" sz="1400" dirty="0"/>
          </a:p>
        </p:txBody>
      </p:sp>
      <p:sp>
        <p:nvSpPr>
          <p:cNvPr id="9" name="Shape 7"/>
          <p:cNvSpPr/>
          <p:nvPr/>
        </p:nvSpPr>
        <p:spPr>
          <a:xfrm>
            <a:off x="2999232" y="1408176"/>
            <a:ext cx="0" cy="530352"/>
          </a:xfrm>
          <a:prstGeom prst="line">
            <a:avLst/>
          </a:prstGeom>
          <a:noFill/>
          <a:ln w="10160">
            <a:solidFill>
              <a:srgbClr val="C7522A">
                <a:alpha val="40000"/>
              </a:srgbClr>
            </a:solidFill>
            <a:prstDash val="solid"/>
          </a:ln>
        </p:spPr>
      </p:sp>
      <p:sp>
        <p:nvSpPr>
          <p:cNvPr id="10" name="Text 8"/>
          <p:cNvSpPr/>
          <p:nvPr/>
        </p:nvSpPr>
        <p:spPr>
          <a:xfrm>
            <a:off x="3163824" y="1316736"/>
            <a:ext cx="5486400" cy="713232"/>
          </a:xfrm>
          <a:prstGeom prst="rect">
            <a:avLst/>
          </a:prstGeom>
          <a:noFill/>
          <a:ln/>
        </p:spPr>
        <p:txBody>
          <a:bodyPr wrap="square" rtlCol="0" anchor="ctr"/>
          <a:lstStyle/>
          <a:p>
            <a:pPr algn="l" indent="0" marL="0">
              <a:lnSpc>
                <a:spcPct val="135000"/>
              </a:lnSpc>
              <a:buNone/>
            </a:pPr>
            <a:r>
              <a:rPr lang="en-US" sz="1250" dirty="0">
                <a:solidFill>
                  <a:srgbClr val="3A4A6B"/>
                </a:solidFill>
                <a:latin typeface="Calibri" pitchFamily="34" charset="0"/>
                <a:ea typeface="Calibri" pitchFamily="34" charset="-122"/>
                <a:cs typeface="Calibri" pitchFamily="34" charset="-120"/>
              </a:rPr>
              <a:t>Read the Museum Memo and Curator's Question. Review vocabulary cards.</a:t>
            </a:r>
            <a:endParaRPr lang="en-US" sz="1250" dirty="0"/>
          </a:p>
        </p:txBody>
      </p:sp>
      <p:sp>
        <p:nvSpPr>
          <p:cNvPr id="11" name="Shape 9"/>
          <p:cNvSpPr/>
          <p:nvPr/>
        </p:nvSpPr>
        <p:spPr>
          <a:xfrm>
            <a:off x="384048" y="2139696"/>
            <a:ext cx="8375904" cy="713232"/>
          </a:xfrm>
          <a:prstGeom prst="roundRect">
            <a:avLst>
              <a:gd name="adj" fmla="val 12821"/>
            </a:avLst>
          </a:prstGeom>
          <a:solidFill>
            <a:srgbClr val="E0F5F0"/>
          </a:solidFill>
          <a:ln w="19050">
            <a:solidFill>
              <a:srgbClr val="1A8A7D"/>
            </a:solidFill>
            <a:prstDash val="solid"/>
          </a:ln>
          <a:effectLst>
            <a:outerShdw sx="100000" sy="100000" kx="0" ky="0" algn="bl" rotWithShape="0" blurRad="101600" dist="25400" dir="2700000">
              <a:srgbClr val="000000">
                <a:alpha val="10000"/>
              </a:srgbClr>
            </a:outerShdw>
          </a:effectLst>
        </p:spPr>
      </p:sp>
      <p:sp>
        <p:nvSpPr>
          <p:cNvPr id="12" name="Shape 10"/>
          <p:cNvSpPr/>
          <p:nvPr/>
        </p:nvSpPr>
        <p:spPr>
          <a:xfrm>
            <a:off x="512064" y="2322576"/>
            <a:ext cx="347472" cy="347472"/>
          </a:xfrm>
          <a:prstGeom prst="ellipse">
            <a:avLst/>
          </a:prstGeom>
          <a:solidFill>
            <a:srgbClr val="1A8A7D"/>
          </a:solidFill>
          <a:ln w="19050">
            <a:solidFill>
              <a:srgbClr val="C8A84B"/>
            </a:solidFill>
            <a:prstDash val="solid"/>
          </a:ln>
        </p:spPr>
      </p:sp>
      <p:sp>
        <p:nvSpPr>
          <p:cNvPr id="13" name="Text 11"/>
          <p:cNvSpPr/>
          <p:nvPr/>
        </p:nvSpPr>
        <p:spPr>
          <a:xfrm>
            <a:off x="512064" y="23225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4" name="Text 12"/>
          <p:cNvSpPr/>
          <p:nvPr/>
        </p:nvSpPr>
        <p:spPr>
          <a:xfrm>
            <a:off x="969264" y="2212848"/>
            <a:ext cx="1993392" cy="566928"/>
          </a:xfrm>
          <a:prstGeom prst="rect">
            <a:avLst/>
          </a:prstGeom>
          <a:noFill/>
          <a:ln/>
        </p:spPr>
        <p:txBody>
          <a:bodyPr wrap="square" lIns="0" tIns="0" rIns="0" bIns="0" rtlCol="0" anchor="ctr"/>
          <a:lstStyle/>
          <a:p>
            <a:pPr algn="l" indent="0" marL="0">
              <a:buNone/>
            </a:pPr>
            <a:r>
              <a:rPr lang="en-US" sz="1400" b="1" dirty="0">
                <a:solidFill>
                  <a:srgbClr val="1A8A7D"/>
                </a:solidFill>
                <a:latin typeface="Cambria" pitchFamily="34" charset="0"/>
                <a:ea typeface="Cambria" pitchFamily="34" charset="-122"/>
                <a:cs typeface="Cambria" pitchFamily="34" charset="-120"/>
              </a:rPr>
              <a:t>🔍  Explore</a:t>
            </a:r>
            <a:endParaRPr lang="en-US" sz="1400" dirty="0"/>
          </a:p>
        </p:txBody>
      </p:sp>
      <p:sp>
        <p:nvSpPr>
          <p:cNvPr id="15" name="Shape 13"/>
          <p:cNvSpPr/>
          <p:nvPr/>
        </p:nvSpPr>
        <p:spPr>
          <a:xfrm>
            <a:off x="2999232" y="2231136"/>
            <a:ext cx="0" cy="530352"/>
          </a:xfrm>
          <a:prstGeom prst="line">
            <a:avLst/>
          </a:prstGeom>
          <a:noFill/>
          <a:ln w="10160">
            <a:solidFill>
              <a:srgbClr val="1A8A7D">
                <a:alpha val="40000"/>
              </a:srgbClr>
            </a:solidFill>
            <a:prstDash val="solid"/>
          </a:ln>
        </p:spPr>
      </p:sp>
      <p:sp>
        <p:nvSpPr>
          <p:cNvPr id="16" name="Text 14"/>
          <p:cNvSpPr/>
          <p:nvPr/>
        </p:nvSpPr>
        <p:spPr>
          <a:xfrm>
            <a:off x="3163824" y="2139696"/>
            <a:ext cx="5486400" cy="713232"/>
          </a:xfrm>
          <a:prstGeom prst="rect">
            <a:avLst/>
          </a:prstGeom>
          <a:noFill/>
          <a:ln/>
        </p:spPr>
        <p:txBody>
          <a:bodyPr wrap="square" rtlCol="0" anchor="ctr"/>
          <a:lstStyle/>
          <a:p>
            <a:pPr algn="l" indent="0" marL="0">
              <a:lnSpc>
                <a:spcPct val="135000"/>
              </a:lnSpc>
              <a:buNone/>
            </a:pPr>
            <a:r>
              <a:rPr lang="en-US" sz="1250" dirty="0">
                <a:solidFill>
                  <a:srgbClr val="3A4A6B"/>
                </a:solidFill>
                <a:latin typeface="Calibri" pitchFamily="34" charset="0"/>
                <a:ea typeface="Calibri" pitchFamily="34" charset="-122"/>
                <a:cs typeface="Calibri" pitchFamily="34" charset="-120"/>
              </a:rPr>
              <a:t>Study the four sources in the display case — including a photograph.</a:t>
            </a:r>
            <a:endParaRPr lang="en-US" sz="1250" dirty="0"/>
          </a:p>
        </p:txBody>
      </p:sp>
      <p:sp>
        <p:nvSpPr>
          <p:cNvPr id="17" name="Shape 15"/>
          <p:cNvSpPr/>
          <p:nvPr/>
        </p:nvSpPr>
        <p:spPr>
          <a:xfrm>
            <a:off x="384048" y="2962656"/>
            <a:ext cx="8375904" cy="713232"/>
          </a:xfrm>
          <a:prstGeom prst="roundRect">
            <a:avLst>
              <a:gd name="adj" fmla="val 12821"/>
            </a:avLst>
          </a:prstGeom>
          <a:solidFill>
            <a:srgbClr val="FFF8E8"/>
          </a:solidFill>
          <a:ln w="19050">
            <a:solidFill>
              <a:srgbClr val="B87A2A"/>
            </a:solidFill>
            <a:prstDash val="solid"/>
          </a:ln>
          <a:effectLst>
            <a:outerShdw sx="100000" sy="100000" kx="0" ky="0" algn="bl" rotWithShape="0" blurRad="101600" dist="25400" dir="2700000">
              <a:srgbClr val="000000">
                <a:alpha val="10000"/>
              </a:srgbClr>
            </a:outerShdw>
          </a:effectLst>
        </p:spPr>
      </p:sp>
      <p:sp>
        <p:nvSpPr>
          <p:cNvPr id="18" name="Shape 16"/>
          <p:cNvSpPr/>
          <p:nvPr/>
        </p:nvSpPr>
        <p:spPr>
          <a:xfrm>
            <a:off x="512064" y="3145536"/>
            <a:ext cx="347472" cy="347472"/>
          </a:xfrm>
          <a:prstGeom prst="ellipse">
            <a:avLst/>
          </a:prstGeom>
          <a:solidFill>
            <a:srgbClr val="B87A2A"/>
          </a:solidFill>
          <a:ln w="19050">
            <a:solidFill>
              <a:srgbClr val="C8A84B"/>
            </a:solidFill>
            <a:prstDash val="solid"/>
          </a:ln>
        </p:spPr>
      </p:sp>
      <p:sp>
        <p:nvSpPr>
          <p:cNvPr id="19" name="Text 17"/>
          <p:cNvSpPr/>
          <p:nvPr/>
        </p:nvSpPr>
        <p:spPr>
          <a:xfrm>
            <a:off x="512064" y="31455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0" name="Text 18"/>
          <p:cNvSpPr/>
          <p:nvPr/>
        </p:nvSpPr>
        <p:spPr>
          <a:xfrm>
            <a:off x="969264" y="3035808"/>
            <a:ext cx="1993392" cy="566928"/>
          </a:xfrm>
          <a:prstGeom prst="rect">
            <a:avLst/>
          </a:prstGeom>
          <a:noFill/>
          <a:ln/>
        </p:spPr>
        <p:txBody>
          <a:bodyPr wrap="square" lIns="0" tIns="0" rIns="0" bIns="0" rtlCol="0" anchor="ctr"/>
          <a:lstStyle/>
          <a:p>
            <a:pPr algn="l" indent="0" marL="0">
              <a:buNone/>
            </a:pPr>
            <a:r>
              <a:rPr lang="en-US" sz="1400" b="1" dirty="0">
                <a:solidFill>
                  <a:srgbClr val="B87A2A"/>
                </a:solidFill>
                <a:latin typeface="Cambria" pitchFamily="34" charset="0"/>
                <a:ea typeface="Cambria" pitchFamily="34" charset="-122"/>
                <a:cs typeface="Cambria" pitchFamily="34" charset="-120"/>
              </a:rPr>
              <a:t>🧠  Check</a:t>
            </a:r>
            <a:endParaRPr lang="en-US" sz="1400" dirty="0"/>
          </a:p>
        </p:txBody>
      </p:sp>
      <p:sp>
        <p:nvSpPr>
          <p:cNvPr id="21" name="Shape 19"/>
          <p:cNvSpPr/>
          <p:nvPr/>
        </p:nvSpPr>
        <p:spPr>
          <a:xfrm>
            <a:off x="2999232" y="3054096"/>
            <a:ext cx="0" cy="530352"/>
          </a:xfrm>
          <a:prstGeom prst="line">
            <a:avLst/>
          </a:prstGeom>
          <a:noFill/>
          <a:ln w="10160">
            <a:solidFill>
              <a:srgbClr val="B87A2A">
                <a:alpha val="40000"/>
              </a:srgbClr>
            </a:solidFill>
            <a:prstDash val="solid"/>
          </a:ln>
        </p:spPr>
      </p:sp>
      <p:sp>
        <p:nvSpPr>
          <p:cNvPr id="22" name="Text 20"/>
          <p:cNvSpPr/>
          <p:nvPr/>
        </p:nvSpPr>
        <p:spPr>
          <a:xfrm>
            <a:off x="3163824" y="2962656"/>
            <a:ext cx="5486400" cy="713232"/>
          </a:xfrm>
          <a:prstGeom prst="rect">
            <a:avLst/>
          </a:prstGeom>
          <a:noFill/>
          <a:ln/>
        </p:spPr>
        <p:txBody>
          <a:bodyPr wrap="square" rtlCol="0" anchor="ctr"/>
          <a:lstStyle/>
          <a:p>
            <a:pPr algn="l" indent="0" marL="0">
              <a:lnSpc>
                <a:spcPct val="135000"/>
              </a:lnSpc>
              <a:buNone/>
            </a:pPr>
            <a:r>
              <a:rPr lang="en-US" sz="1250" dirty="0">
                <a:solidFill>
                  <a:srgbClr val="3A4A6B"/>
                </a:solidFill>
                <a:latin typeface="Calibri" pitchFamily="34" charset="0"/>
                <a:ea typeface="Calibri" pitchFamily="34" charset="-122"/>
                <a:cs typeface="Calibri" pitchFamily="34" charset="-120"/>
              </a:rPr>
              <a:t>Complete the knowledge check quiz.</a:t>
            </a:r>
            <a:endParaRPr lang="en-US" sz="1250" dirty="0"/>
          </a:p>
        </p:txBody>
      </p:sp>
      <p:sp>
        <p:nvSpPr>
          <p:cNvPr id="23" name="Shape 21"/>
          <p:cNvSpPr/>
          <p:nvPr/>
        </p:nvSpPr>
        <p:spPr>
          <a:xfrm>
            <a:off x="384048" y="3785616"/>
            <a:ext cx="8375904" cy="713232"/>
          </a:xfrm>
          <a:prstGeom prst="roundRect">
            <a:avLst>
              <a:gd name="adj" fmla="val 12821"/>
            </a:avLst>
          </a:prstGeom>
          <a:solidFill>
            <a:srgbClr val="EEF4FC"/>
          </a:solidFill>
          <a:ln w="19050">
            <a:solidFill>
              <a:srgbClr val="2C5F8A"/>
            </a:solidFill>
            <a:prstDash val="solid"/>
          </a:ln>
          <a:effectLst>
            <a:outerShdw sx="100000" sy="100000" kx="0" ky="0" algn="bl" rotWithShape="0" blurRad="101600" dist="25400" dir="2700000">
              <a:srgbClr val="000000">
                <a:alpha val="10000"/>
              </a:srgbClr>
            </a:outerShdw>
          </a:effectLst>
        </p:spPr>
      </p:sp>
      <p:sp>
        <p:nvSpPr>
          <p:cNvPr id="24" name="Shape 22"/>
          <p:cNvSpPr/>
          <p:nvPr/>
        </p:nvSpPr>
        <p:spPr>
          <a:xfrm>
            <a:off x="512064" y="3968496"/>
            <a:ext cx="347472" cy="347472"/>
          </a:xfrm>
          <a:prstGeom prst="ellipse">
            <a:avLst/>
          </a:prstGeom>
          <a:solidFill>
            <a:srgbClr val="2C5F8A"/>
          </a:solidFill>
          <a:ln w="19050">
            <a:solidFill>
              <a:srgbClr val="C8A84B"/>
            </a:solidFill>
            <a:prstDash val="solid"/>
          </a:ln>
        </p:spPr>
      </p:sp>
      <p:sp>
        <p:nvSpPr>
          <p:cNvPr id="25" name="Text 23"/>
          <p:cNvSpPr/>
          <p:nvPr/>
        </p:nvSpPr>
        <p:spPr>
          <a:xfrm>
            <a:off x="512064" y="39684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6" name="Text 24"/>
          <p:cNvSpPr/>
          <p:nvPr/>
        </p:nvSpPr>
        <p:spPr>
          <a:xfrm>
            <a:off x="969264" y="3858768"/>
            <a:ext cx="1993392" cy="566928"/>
          </a:xfrm>
          <a:prstGeom prst="rect">
            <a:avLst/>
          </a:prstGeom>
          <a:noFill/>
          <a:ln/>
        </p:spPr>
        <p:txBody>
          <a:bodyPr wrap="square" lIns="0" tIns="0" rIns="0" bIns="0" rtlCol="0" anchor="ctr"/>
          <a:lstStyle/>
          <a:p>
            <a:pPr algn="l" indent="0" marL="0">
              <a:buNone/>
            </a:pPr>
            <a:r>
              <a:rPr lang="en-US" sz="1400" b="1" dirty="0">
                <a:solidFill>
                  <a:srgbClr val="2C5F8A"/>
                </a:solidFill>
                <a:latin typeface="Cambria" pitchFamily="34" charset="0"/>
                <a:ea typeface="Cambria" pitchFamily="34" charset="-122"/>
                <a:cs typeface="Cambria" pitchFamily="34" charset="-120"/>
              </a:rPr>
              <a:t>📝  Assignment</a:t>
            </a:r>
            <a:endParaRPr lang="en-US" sz="1400" dirty="0"/>
          </a:p>
        </p:txBody>
      </p:sp>
      <p:sp>
        <p:nvSpPr>
          <p:cNvPr id="27" name="Shape 25"/>
          <p:cNvSpPr/>
          <p:nvPr/>
        </p:nvSpPr>
        <p:spPr>
          <a:xfrm>
            <a:off x="2999232" y="3877056"/>
            <a:ext cx="0" cy="530352"/>
          </a:xfrm>
          <a:prstGeom prst="line">
            <a:avLst/>
          </a:prstGeom>
          <a:noFill/>
          <a:ln w="10160">
            <a:solidFill>
              <a:srgbClr val="2C5F8A">
                <a:alpha val="40000"/>
              </a:srgbClr>
            </a:solidFill>
            <a:prstDash val="solid"/>
          </a:ln>
        </p:spPr>
      </p:sp>
      <p:sp>
        <p:nvSpPr>
          <p:cNvPr id="28" name="Text 26"/>
          <p:cNvSpPr/>
          <p:nvPr/>
        </p:nvSpPr>
        <p:spPr>
          <a:xfrm>
            <a:off x="3163824" y="3785616"/>
            <a:ext cx="5486400" cy="713232"/>
          </a:xfrm>
          <a:prstGeom prst="rect">
            <a:avLst/>
          </a:prstGeom>
          <a:noFill/>
          <a:ln/>
        </p:spPr>
        <p:txBody>
          <a:bodyPr wrap="square" rtlCol="0" anchor="ctr"/>
          <a:lstStyle/>
          <a:p>
            <a:pPr algn="l" indent="0" marL="0">
              <a:lnSpc>
                <a:spcPct val="135000"/>
              </a:lnSpc>
              <a:buNone/>
            </a:pPr>
            <a:r>
              <a:rPr lang="en-US" sz="1250" dirty="0">
                <a:solidFill>
                  <a:srgbClr val="3A4A6B"/>
                </a:solidFill>
                <a:latin typeface="Calibri" pitchFamily="34" charset="0"/>
                <a:ea typeface="Calibri" pitchFamily="34" charset="-122"/>
                <a:cs typeface="Calibri" pitchFamily="34" charset="-120"/>
              </a:rPr>
              <a:t>Write your Evidence Report. Complete the Curator's Chronicle sentence at the bottom.</a:t>
            </a:r>
            <a:endParaRPr lang="en-US" sz="1250" dirty="0"/>
          </a:p>
        </p:txBody>
      </p:sp>
      <p:sp>
        <p:nvSpPr>
          <p:cNvPr id="29" name="Shape 27"/>
          <p:cNvSpPr/>
          <p:nvPr/>
        </p:nvSpPr>
        <p:spPr>
          <a:xfrm>
            <a:off x="384048" y="4626864"/>
            <a:ext cx="8375904" cy="420624"/>
          </a:xfrm>
          <a:prstGeom prst="roundRect">
            <a:avLst>
              <a:gd name="adj" fmla="val 19565"/>
            </a:avLst>
          </a:prstGeom>
          <a:solidFill>
            <a:srgbClr val="1A8A7D">
              <a:alpha val="78000"/>
            </a:srgbClr>
          </a:solidFill>
          <a:ln w="19050">
            <a:solidFill>
              <a:srgbClr val="34B0A0"/>
            </a:solidFill>
            <a:prstDash val="solid"/>
          </a:ln>
        </p:spPr>
      </p:sp>
      <p:sp>
        <p:nvSpPr>
          <p:cNvPr id="30" name="Text 28"/>
          <p:cNvSpPr/>
          <p:nvPr/>
        </p:nvSpPr>
        <p:spPr>
          <a:xfrm>
            <a:off x="548640" y="4626864"/>
            <a:ext cx="804672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 the Chat: Type the ONE thing from today you most want to remember.</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EDD8"/>
        </a:solidFill>
      </p:bgPr>
    </p:bg>
    <p:spTree>
      <p:nvGrpSpPr>
        <p:cNvPr id="1" name=""/>
        <p:cNvGrpSpPr/>
        <p:nvPr/>
      </p:nvGrpSpPr>
      <p:grpSpPr>
        <a:xfrm>
          <a:off x="0" y="0"/>
          <a:ext cx="0" cy="0"/>
          <a:chOff x="0" y="0"/>
          <a:chExt cx="0" cy="0"/>
        </a:xfrm>
      </p:grpSpPr>
      <p:sp>
        <p:nvSpPr>
          <p:cNvPr id="2" name="Shape 0"/>
          <p:cNvSpPr/>
          <p:nvPr/>
        </p:nvSpPr>
        <p:spPr>
          <a:xfrm>
            <a:off x="502920" y="228600"/>
            <a:ext cx="8138160" cy="4681728"/>
          </a:xfrm>
          <a:prstGeom prst="roundRect">
            <a:avLst>
              <a:gd name="adj" fmla="val 2344"/>
            </a:avLst>
          </a:prstGeom>
          <a:solidFill>
            <a:srgbClr val="FFFFFF"/>
          </a:solidFill>
          <a:ln w="25400">
            <a:solidFill>
              <a:srgbClr val="B87A2A"/>
            </a:solidFill>
            <a:prstDash val="solid"/>
          </a:ln>
          <a:effectLst>
            <a:outerShdw sx="100000" sy="100000" kx="0" ky="0" algn="bl" rotWithShape="0" blurRad="177800" dist="50800" dir="2700000">
              <a:srgbClr val="000000">
                <a:alpha val="22000"/>
              </a:srgbClr>
            </a:outerShdw>
          </a:effectLst>
        </p:spPr>
      </p:sp>
      <p:sp>
        <p:nvSpPr>
          <p:cNvPr id="3" name="Shape 1"/>
          <p:cNvSpPr/>
          <p:nvPr/>
        </p:nvSpPr>
        <p:spPr>
          <a:xfrm>
            <a:off x="566928" y="292608"/>
            <a:ext cx="182880" cy="182880"/>
          </a:xfrm>
          <a:prstGeom prst="ellipse">
            <a:avLst/>
          </a:prstGeom>
          <a:solidFill>
            <a:srgbClr val="C8A84B"/>
          </a:solidFill>
          <a:ln w="12700">
            <a:solidFill>
              <a:srgbClr val="333333"/>
            </a:solidFill>
            <a:prstDash val="solid"/>
          </a:ln>
        </p:spPr>
      </p:sp>
      <p:sp>
        <p:nvSpPr>
          <p:cNvPr id="4" name="Shape 2"/>
          <p:cNvSpPr/>
          <p:nvPr/>
        </p:nvSpPr>
        <p:spPr>
          <a:xfrm>
            <a:off x="8229600" y="292608"/>
            <a:ext cx="182880" cy="182880"/>
          </a:xfrm>
          <a:prstGeom prst="ellipse">
            <a:avLst/>
          </a:prstGeom>
          <a:solidFill>
            <a:srgbClr val="C8A84B"/>
          </a:solidFill>
          <a:ln w="12700">
            <a:solidFill>
              <a:srgbClr val="333333"/>
            </a:solidFill>
            <a:prstDash val="solid"/>
          </a:ln>
        </p:spPr>
      </p:sp>
      <p:sp>
        <p:nvSpPr>
          <p:cNvPr id="5" name="Shape 3"/>
          <p:cNvSpPr/>
          <p:nvPr/>
        </p:nvSpPr>
        <p:spPr>
          <a:xfrm>
            <a:off x="566928" y="4645152"/>
            <a:ext cx="182880" cy="182880"/>
          </a:xfrm>
          <a:prstGeom prst="ellipse">
            <a:avLst/>
          </a:prstGeom>
          <a:solidFill>
            <a:srgbClr val="C8A84B"/>
          </a:solidFill>
          <a:ln w="12700">
            <a:solidFill>
              <a:srgbClr val="333333"/>
            </a:solidFill>
            <a:prstDash val="solid"/>
          </a:ln>
        </p:spPr>
      </p:sp>
      <p:sp>
        <p:nvSpPr>
          <p:cNvPr id="6" name="Shape 4"/>
          <p:cNvSpPr/>
          <p:nvPr/>
        </p:nvSpPr>
        <p:spPr>
          <a:xfrm>
            <a:off x="8229600" y="4645152"/>
            <a:ext cx="182880" cy="182880"/>
          </a:xfrm>
          <a:prstGeom prst="ellipse">
            <a:avLst/>
          </a:prstGeom>
          <a:solidFill>
            <a:srgbClr val="C8A84B"/>
          </a:solidFill>
          <a:ln w="12700">
            <a:solidFill>
              <a:srgbClr val="333333"/>
            </a:solidFill>
            <a:prstDash val="solid"/>
          </a:ln>
        </p:spPr>
      </p:sp>
      <p:sp>
        <p:nvSpPr>
          <p:cNvPr id="7" name="Text 5"/>
          <p:cNvSpPr/>
          <p:nvPr/>
        </p:nvSpPr>
        <p:spPr>
          <a:xfrm>
            <a:off x="749808" y="438912"/>
            <a:ext cx="7315200" cy="548640"/>
          </a:xfrm>
          <a:prstGeom prst="rect">
            <a:avLst/>
          </a:prstGeom>
          <a:noFill/>
          <a:ln/>
        </p:spPr>
        <p:txBody>
          <a:bodyPr wrap="square" lIns="0" tIns="0" rIns="0" bIns="0" rtlCol="0" anchor="ctr"/>
          <a:lstStyle/>
          <a:p>
            <a:pPr algn="l" indent="0" marL="0">
              <a:buNone/>
            </a:pPr>
            <a:r>
              <a:rPr lang="en-US" sz="2400" b="1" dirty="0">
                <a:solidFill>
                  <a:srgbClr val="B87A2A"/>
                </a:solidFill>
                <a:latin typeface="Cambria" pitchFamily="34" charset="0"/>
                <a:ea typeface="Cambria" pitchFamily="34" charset="-122"/>
                <a:cs typeface="Cambria" pitchFamily="34" charset="-120"/>
              </a:rPr>
              <a:t>Curator's Chronicle  —  Exit Ticket</a:t>
            </a:r>
            <a:endParaRPr lang="en-US" sz="2400" dirty="0"/>
          </a:p>
        </p:txBody>
      </p:sp>
      <p:sp>
        <p:nvSpPr>
          <p:cNvPr id="8" name="Shape 6"/>
          <p:cNvSpPr/>
          <p:nvPr/>
        </p:nvSpPr>
        <p:spPr>
          <a:xfrm>
            <a:off x="749808" y="1051560"/>
            <a:ext cx="7644384" cy="0"/>
          </a:xfrm>
          <a:prstGeom prst="line">
            <a:avLst/>
          </a:prstGeom>
          <a:noFill/>
          <a:ln w="19050">
            <a:solidFill>
              <a:srgbClr val="C8A84B"/>
            </a:solidFill>
            <a:prstDash val="solid"/>
          </a:ln>
        </p:spPr>
      </p:sp>
      <p:sp>
        <p:nvSpPr>
          <p:cNvPr id="9" name="Text 7"/>
          <p:cNvSpPr/>
          <p:nvPr/>
        </p:nvSpPr>
        <p:spPr>
          <a:xfrm>
            <a:off x="749808" y="1170432"/>
            <a:ext cx="7644384" cy="384048"/>
          </a:xfrm>
          <a:prstGeom prst="rect">
            <a:avLst/>
          </a:prstGeom>
          <a:noFill/>
          <a:ln/>
        </p:spPr>
        <p:txBody>
          <a:bodyPr wrap="square" lIns="0" tIns="0" rIns="0" bIns="0" rtlCol="0" anchor="ctr"/>
          <a:lstStyle/>
          <a:p>
            <a:pPr algn="l" indent="0" marL="0">
              <a:buNone/>
            </a:pPr>
            <a:r>
              <a:rPr lang="en-US" sz="1400" dirty="0">
                <a:solidFill>
                  <a:srgbClr val="3A4A6B"/>
                </a:solidFill>
                <a:latin typeface="Calibri" pitchFamily="34" charset="0"/>
                <a:ea typeface="Calibri" pitchFamily="34" charset="-122"/>
                <a:cs typeface="Calibri" pitchFamily="34" charset="-120"/>
              </a:rPr>
              <a:t>Complete this sentence before you leave:</a:t>
            </a:r>
            <a:endParaRPr lang="en-US" sz="1400" dirty="0"/>
          </a:p>
        </p:txBody>
      </p:sp>
      <p:sp>
        <p:nvSpPr>
          <p:cNvPr id="10" name="Shape 8"/>
          <p:cNvSpPr/>
          <p:nvPr/>
        </p:nvSpPr>
        <p:spPr>
          <a:xfrm>
            <a:off x="804672" y="1645920"/>
            <a:ext cx="7534656" cy="1572768"/>
          </a:xfrm>
          <a:prstGeom prst="roundRect">
            <a:avLst>
              <a:gd name="adj" fmla="val 5814"/>
            </a:avLst>
          </a:prstGeom>
          <a:solidFill>
            <a:srgbClr val="E0F5F0"/>
          </a:solidFill>
          <a:ln w="22860">
            <a:solidFill>
              <a:srgbClr val="1A8A7D"/>
            </a:solidFill>
            <a:prstDash val="solid"/>
          </a:ln>
        </p:spPr>
      </p:sp>
      <p:sp>
        <p:nvSpPr>
          <p:cNvPr id="11" name="Text 9"/>
          <p:cNvSpPr/>
          <p:nvPr/>
        </p:nvSpPr>
        <p:spPr>
          <a:xfrm>
            <a:off x="960120" y="1700784"/>
            <a:ext cx="7223760" cy="1463040"/>
          </a:xfrm>
          <a:prstGeom prst="rect">
            <a:avLst/>
          </a:prstGeom>
          <a:noFill/>
          <a:ln/>
        </p:spPr>
        <p:txBody>
          <a:bodyPr wrap="square" rtlCol="0" anchor="ctr"/>
          <a:lstStyle/>
          <a:p>
            <a:pPr algn="ctr" indent="0" marL="0">
              <a:lnSpc>
                <a:spcPct val="142000"/>
              </a:lnSpc>
              <a:buNone/>
            </a:pPr>
            <a:r>
              <a:rPr lang="en-US" sz="2200" b="1" dirty="0">
                <a:solidFill>
                  <a:srgbClr val="0E1C42"/>
                </a:solidFill>
                <a:latin typeface="Cambria" pitchFamily="34" charset="0"/>
                <a:ea typeface="Cambria" pitchFamily="34" charset="-122"/>
                <a:cs typeface="Cambria" pitchFamily="34" charset="-120"/>
              </a:rPr>
              <a:t>"In this exhibit, I learned that ___________</a:t>
            </a:r>
            <a:endParaRPr lang="en-US" sz="2200" dirty="0"/>
          </a:p>
          <a:p>
            <a:pPr algn="ctr" indent="0" marL="0">
              <a:lnSpc>
                <a:spcPct val="142000"/>
              </a:lnSpc>
              <a:buNone/>
            </a:pPr>
            <a:r>
              <a:rPr lang="en-US" sz="2200" b="1" dirty="0">
                <a:solidFill>
                  <a:srgbClr val="0E1C42"/>
                </a:solidFill>
                <a:latin typeface="Cambria" pitchFamily="34" charset="0"/>
                <a:ea typeface="Cambria" pitchFamily="34" charset="-122"/>
                <a:cs typeface="Cambria" pitchFamily="34" charset="-120"/>
              </a:rPr>
              <a:t>because ___________."</a:t>
            </a:r>
            <a:endParaRPr lang="en-US" sz="2200" dirty="0"/>
          </a:p>
        </p:txBody>
      </p:sp>
      <p:sp>
        <p:nvSpPr>
          <p:cNvPr id="12" name="Shape 10"/>
          <p:cNvSpPr/>
          <p:nvPr/>
        </p:nvSpPr>
        <p:spPr>
          <a:xfrm>
            <a:off x="749808" y="3337560"/>
            <a:ext cx="4919472" cy="1024128"/>
          </a:xfrm>
          <a:prstGeom prst="roundRect">
            <a:avLst>
              <a:gd name="adj" fmla="val 8929"/>
            </a:avLst>
          </a:prstGeom>
          <a:solidFill>
            <a:srgbClr val="E0F5F0"/>
          </a:solidFill>
          <a:ln w="22860">
            <a:solidFill>
              <a:srgbClr val="1A8A7D"/>
            </a:solidFill>
            <a:prstDash val="solid"/>
          </a:ln>
          <a:effectLst>
            <a:outerShdw sx="100000" sy="100000" kx="0" ky="0" algn="bl" rotWithShape="0" blurRad="101600" dist="25400" dir="2700000">
              <a:srgbClr val="000000">
                <a:alpha val="10000"/>
              </a:srgbClr>
            </a:outerShdw>
          </a:effectLst>
        </p:spPr>
      </p:sp>
      <p:sp>
        <p:nvSpPr>
          <p:cNvPr id="13" name="Text 11"/>
          <p:cNvSpPr/>
          <p:nvPr/>
        </p:nvSpPr>
        <p:spPr>
          <a:xfrm>
            <a:off x="886968" y="3429000"/>
            <a:ext cx="4645152" cy="320040"/>
          </a:xfrm>
          <a:prstGeom prst="rect">
            <a:avLst/>
          </a:prstGeom>
          <a:noFill/>
          <a:ln/>
        </p:spPr>
        <p:txBody>
          <a:bodyPr wrap="square" lIns="0" tIns="0" rIns="0" bIns="0" rtlCol="0" anchor="ctr"/>
          <a:lstStyle/>
          <a:p>
            <a:pPr indent="0" marL="0">
              <a:buNone/>
            </a:pPr>
            <a:r>
              <a:rPr lang="en-US" sz="1150" b="1" dirty="0">
                <a:solidFill>
                  <a:srgbClr val="1A8A7D"/>
                </a:solidFill>
                <a:latin typeface="Calibri" pitchFamily="34" charset="0"/>
                <a:ea typeface="Calibri" pitchFamily="34" charset="-122"/>
                <a:cs typeface="Calibri" pitchFamily="34" charset="-120"/>
              </a:rPr>
              <a:t>In the Chat</a:t>
            </a:r>
            <a:endParaRPr lang="en-US" sz="1150" dirty="0"/>
          </a:p>
        </p:txBody>
      </p:sp>
      <p:sp>
        <p:nvSpPr>
          <p:cNvPr id="14" name="Shape 12"/>
          <p:cNvSpPr/>
          <p:nvPr/>
        </p:nvSpPr>
        <p:spPr>
          <a:xfrm>
            <a:off x="886968" y="3767328"/>
            <a:ext cx="4645152" cy="0"/>
          </a:xfrm>
          <a:prstGeom prst="line">
            <a:avLst/>
          </a:prstGeom>
          <a:noFill/>
          <a:ln w="10160">
            <a:solidFill>
              <a:srgbClr val="1A8A7D"/>
            </a:solidFill>
            <a:prstDash val="solid"/>
          </a:ln>
        </p:spPr>
      </p:sp>
      <p:sp>
        <p:nvSpPr>
          <p:cNvPr id="15" name="Text 13"/>
          <p:cNvSpPr/>
          <p:nvPr/>
        </p:nvSpPr>
        <p:spPr>
          <a:xfrm>
            <a:off x="886968" y="3822192"/>
            <a:ext cx="4645152" cy="429768"/>
          </a:xfrm>
          <a:prstGeom prst="rect">
            <a:avLst/>
          </a:prstGeom>
          <a:noFill/>
          <a:ln/>
        </p:spPr>
        <p:txBody>
          <a:bodyPr wrap="square" lIns="0" tIns="0" rIns="0" bIns="0" rtlCol="0" anchor="ctr"/>
          <a:lstStyle/>
          <a:p>
            <a:pPr algn="l" indent="0" marL="0">
              <a:lnSpc>
                <a:spcPct val="138000"/>
              </a:lnSpc>
              <a:buNone/>
            </a:pPr>
            <a:r>
              <a:rPr lang="en-US" sz="1250" dirty="0">
                <a:solidFill>
                  <a:srgbClr val="3A4A6B"/>
                </a:solidFill>
                <a:latin typeface="Calibri" pitchFamily="34" charset="0"/>
                <a:ea typeface="Calibri" pitchFamily="34" charset="-122"/>
                <a:cs typeface="Calibri" pitchFamily="34" charset="-120"/>
              </a:rPr>
              <a:t>Type your complete sentence in the chat — before you close Teams.</a:t>
            </a:r>
            <a:endParaRPr lang="en-US" sz="1250" dirty="0"/>
          </a:p>
        </p:txBody>
      </p:sp>
      <p:sp>
        <p:nvSpPr>
          <p:cNvPr id="16" name="Shape 14"/>
          <p:cNvSpPr/>
          <p:nvPr/>
        </p:nvSpPr>
        <p:spPr>
          <a:xfrm>
            <a:off x="5779008" y="3337560"/>
            <a:ext cx="2103120" cy="1024128"/>
          </a:xfrm>
          <a:prstGeom prst="roundRect">
            <a:avLst>
              <a:gd name="adj" fmla="val 8929"/>
            </a:avLst>
          </a:prstGeom>
          <a:solidFill>
            <a:srgbClr val="EAF7E6"/>
          </a:solidFill>
          <a:ln w="22860">
            <a:solidFill>
              <a:srgbClr val="2E7D4F"/>
            </a:solidFill>
            <a:prstDash val="solid"/>
          </a:ln>
          <a:effectLst>
            <a:outerShdw sx="100000" sy="100000" kx="0" ky="0" algn="bl" rotWithShape="0" blurRad="101600" dist="25400" dir="2700000">
              <a:srgbClr val="000000">
                <a:alpha val="10000"/>
              </a:srgbClr>
            </a:outerShdw>
          </a:effectLst>
        </p:spPr>
      </p:sp>
      <p:sp>
        <p:nvSpPr>
          <p:cNvPr id="17" name="Text 15"/>
          <p:cNvSpPr/>
          <p:nvPr/>
        </p:nvSpPr>
        <p:spPr>
          <a:xfrm>
            <a:off x="5916168" y="3429000"/>
            <a:ext cx="1828800" cy="320040"/>
          </a:xfrm>
          <a:prstGeom prst="rect">
            <a:avLst/>
          </a:prstGeom>
          <a:noFill/>
          <a:ln/>
        </p:spPr>
        <p:txBody>
          <a:bodyPr wrap="square" lIns="0" tIns="0" rIns="0" bIns="0" rtlCol="0" anchor="ctr"/>
          <a:lstStyle/>
          <a:p>
            <a:pPr indent="0" marL="0">
              <a:buNone/>
            </a:pPr>
            <a:r>
              <a:rPr lang="en-US" sz="1150" b="1" dirty="0">
                <a:solidFill>
                  <a:srgbClr val="2E7D4F"/>
                </a:solidFill>
                <a:latin typeface="Calibri" pitchFamily="34" charset="0"/>
                <a:ea typeface="Calibri" pitchFamily="34" charset="-122"/>
                <a:cs typeface="Calibri" pitchFamily="34" charset="-120"/>
              </a:rPr>
              <a:t>Raise Your Hand</a:t>
            </a:r>
            <a:endParaRPr lang="en-US" sz="1150" dirty="0"/>
          </a:p>
        </p:txBody>
      </p:sp>
      <p:sp>
        <p:nvSpPr>
          <p:cNvPr id="18" name="Shape 16"/>
          <p:cNvSpPr/>
          <p:nvPr/>
        </p:nvSpPr>
        <p:spPr>
          <a:xfrm>
            <a:off x="5916168" y="3767328"/>
            <a:ext cx="1828800" cy="0"/>
          </a:xfrm>
          <a:prstGeom prst="line">
            <a:avLst/>
          </a:prstGeom>
          <a:noFill/>
          <a:ln w="10160">
            <a:solidFill>
              <a:srgbClr val="2E7D4F"/>
            </a:solidFill>
            <a:prstDash val="solid"/>
          </a:ln>
        </p:spPr>
      </p:sp>
      <p:sp>
        <p:nvSpPr>
          <p:cNvPr id="19" name="Text 17"/>
          <p:cNvSpPr/>
          <p:nvPr/>
        </p:nvSpPr>
        <p:spPr>
          <a:xfrm>
            <a:off x="5916168" y="3822192"/>
            <a:ext cx="1828800" cy="429768"/>
          </a:xfrm>
          <a:prstGeom prst="rect">
            <a:avLst/>
          </a:prstGeom>
          <a:noFill/>
          <a:ln/>
        </p:spPr>
        <p:txBody>
          <a:bodyPr wrap="square" lIns="0" tIns="0" rIns="0" bIns="0" rtlCol="0" anchor="ctr"/>
          <a:lstStyle/>
          <a:p>
            <a:pPr algn="l" indent="0" marL="0">
              <a:lnSpc>
                <a:spcPct val="138000"/>
              </a:lnSpc>
              <a:buNone/>
            </a:pPr>
            <a:r>
              <a:rPr lang="en-US" sz="1250" dirty="0">
                <a:solidFill>
                  <a:srgbClr val="3A4A6B"/>
                </a:solidFill>
                <a:latin typeface="Calibri" pitchFamily="34" charset="0"/>
                <a:ea typeface="Calibri" pitchFamily="34" charset="-122"/>
                <a:cs typeface="Calibri" pitchFamily="34" charset="-120"/>
              </a:rPr>
              <a:t>Raise your hand to share aloud.</a:t>
            </a:r>
            <a:endParaRPr lang="en-US" sz="1250" dirty="0"/>
          </a:p>
        </p:txBody>
      </p:sp>
      <p:sp>
        <p:nvSpPr>
          <p:cNvPr id="20" name="Text 18"/>
          <p:cNvSpPr/>
          <p:nvPr/>
        </p:nvSpPr>
        <p:spPr>
          <a:xfrm>
            <a:off x="749808" y="4462272"/>
            <a:ext cx="7644384" cy="347472"/>
          </a:xfrm>
          <a:prstGeom prst="rect">
            <a:avLst/>
          </a:prstGeom>
          <a:noFill/>
          <a:ln/>
        </p:spPr>
        <p:txBody>
          <a:bodyPr wrap="square" lIns="0" tIns="0" rIns="0" bIns="0" rtlCol="0" anchor="ctr"/>
          <a:lstStyle/>
          <a:p>
            <a:pPr algn="l" indent="0" marL="0">
              <a:buNone/>
            </a:pPr>
            <a:r>
              <a:rPr lang="en-US" sz="1150" i="1" dirty="0">
                <a:solidFill>
                  <a:srgbClr val="7A88A8"/>
                </a:solidFill>
                <a:latin typeface="Calibri" pitchFamily="34" charset="0"/>
                <a:ea typeface="Calibri" pitchFamily="34" charset="-122"/>
                <a:cs typeface="Calibri" pitchFamily="34" charset="-120"/>
              </a:rPr>
              <a:t>You will also write this sentence at the bottom of the Assignment tab.</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1143000" y="-228600"/>
            <a:ext cx="6858000" cy="5029200"/>
          </a:xfrm>
          <a:prstGeom prst="ellipse">
            <a:avLst/>
          </a:prstGeom>
          <a:solidFill>
            <a:srgbClr val="D4943A">
              <a:alpha val="10000"/>
            </a:srgbClr>
          </a:solidFill>
          <a:ln w="12700">
            <a:solidFill>
              <a:srgbClr val="333333"/>
            </a:solidFill>
            <a:prstDash val="solid"/>
          </a:ln>
        </p:spPr>
      </p:sp>
      <p:sp>
        <p:nvSpPr>
          <p:cNvPr id="3" name="Shape 1"/>
          <p:cNvSpPr/>
          <p:nvPr/>
        </p:nvSpPr>
        <p:spPr>
          <a:xfrm>
            <a:off x="2057400" y="457200"/>
            <a:ext cx="5029200" cy="3657600"/>
          </a:xfrm>
          <a:prstGeom prst="ellipse">
            <a:avLst/>
          </a:prstGeom>
          <a:solidFill>
            <a:srgbClr val="D4943A">
              <a:alpha val="15000"/>
            </a:srgbClr>
          </a:solidFill>
          <a:ln w="12700">
            <a:solidFill>
              <a:srgbClr val="333333"/>
            </a:solidFill>
            <a:prstDash val="solid"/>
          </a:ln>
        </p:spPr>
      </p:sp>
      <p:sp>
        <p:nvSpPr>
          <p:cNvPr id="4" name="Shape 2"/>
          <p:cNvSpPr/>
          <p:nvPr/>
        </p:nvSpPr>
        <p:spPr>
          <a:xfrm>
            <a:off x="2971800" y="1143000"/>
            <a:ext cx="3200400" cy="2286000"/>
          </a:xfrm>
          <a:prstGeom prst="ellipse">
            <a:avLst/>
          </a:prstGeom>
          <a:solidFill>
            <a:srgbClr val="D4943A">
              <a:alpha val="22000"/>
            </a:srgbClr>
          </a:solidFill>
          <a:ln w="12700">
            <a:solidFill>
              <a:srgbClr val="333333"/>
            </a:solidFill>
            <a:prstDash val="solid"/>
          </a:ln>
        </p:spPr>
      </p:sp>
      <p:sp>
        <p:nvSpPr>
          <p:cNvPr id="5" name="Shape 3"/>
          <p:cNvSpPr/>
          <p:nvPr/>
        </p:nvSpPr>
        <p:spPr>
          <a:xfrm>
            <a:off x="0" y="0"/>
            <a:ext cx="621792" cy="5148072"/>
          </a:xfrm>
          <a:prstGeom prst="rect">
            <a:avLst/>
          </a:prstGeom>
          <a:solidFill>
            <a:srgbClr val="FFFFFF">
              <a:alpha val="7000"/>
            </a:srgbClr>
          </a:solidFill>
          <a:ln w="12700">
            <a:solidFill>
              <a:srgbClr val="333333"/>
            </a:solidFill>
            <a:prstDash val="solid"/>
          </a:ln>
        </p:spPr>
      </p:sp>
      <p:sp>
        <p:nvSpPr>
          <p:cNvPr id="6" name="Shape 4"/>
          <p:cNvSpPr/>
          <p:nvPr/>
        </p:nvSpPr>
        <p:spPr>
          <a:xfrm>
            <a:off x="8522208" y="0"/>
            <a:ext cx="621792" cy="5148072"/>
          </a:xfrm>
          <a:prstGeom prst="rect">
            <a:avLst/>
          </a:prstGeom>
          <a:solidFill>
            <a:srgbClr val="FFFFFF">
              <a:alpha val="7000"/>
            </a:srgbClr>
          </a:solidFill>
          <a:ln w="12700">
            <a:solidFill>
              <a:srgbClr val="333333"/>
            </a:solidFill>
            <a:prstDash val="solid"/>
          </a:ln>
        </p:spPr>
      </p:sp>
      <p:sp>
        <p:nvSpPr>
          <p:cNvPr id="7" name="Shape 5"/>
          <p:cNvSpPr/>
          <p:nvPr/>
        </p:nvSpPr>
        <p:spPr>
          <a:xfrm>
            <a:off x="0" y="0"/>
            <a:ext cx="9144000" cy="50292"/>
          </a:xfrm>
          <a:prstGeom prst="rect">
            <a:avLst/>
          </a:prstGeom>
          <a:solidFill>
            <a:srgbClr val="C8A84B"/>
          </a:solidFill>
          <a:ln w="12700">
            <a:solidFill>
              <a:srgbClr val="333333"/>
            </a:solidFill>
            <a:prstDash val="solid"/>
          </a:ln>
        </p:spPr>
      </p:sp>
      <p:sp>
        <p:nvSpPr>
          <p:cNvPr id="8" name="Shape 6"/>
          <p:cNvSpPr/>
          <p:nvPr/>
        </p:nvSpPr>
        <p:spPr>
          <a:xfrm>
            <a:off x="0" y="5093208"/>
            <a:ext cx="9144000" cy="54864"/>
          </a:xfrm>
          <a:prstGeom prst="rect">
            <a:avLst/>
          </a:prstGeom>
          <a:solidFill>
            <a:srgbClr val="C8A84B"/>
          </a:solidFill>
          <a:ln w="12700">
            <a:solidFill>
              <a:srgbClr val="333333"/>
            </a:solidFill>
            <a:prstDash val="solid"/>
          </a:ln>
        </p:spPr>
      </p:sp>
      <p:sp>
        <p:nvSpPr>
          <p:cNvPr id="9" name="Text 7"/>
          <p:cNvSpPr/>
          <p:nvPr/>
        </p:nvSpPr>
        <p:spPr>
          <a:xfrm>
            <a:off x="731520" y="256032"/>
            <a:ext cx="7680960" cy="457200"/>
          </a:xfrm>
          <a:prstGeom prst="rect">
            <a:avLst/>
          </a:prstGeom>
          <a:noFill/>
          <a:ln/>
        </p:spPr>
        <p:txBody>
          <a:bodyPr wrap="square" lIns="0" tIns="0" rIns="0" bIns="0" rtlCol="0" anchor="ctr"/>
          <a:lstStyle/>
          <a:p>
            <a:pPr algn="ctr" indent="0" marL="0">
              <a:buNone/>
            </a:pPr>
            <a:r>
              <a:rPr lang="en-US" sz="1400" b="1" spc="200" kern="0" dirty="0">
                <a:solidFill>
                  <a:srgbClr val="34B0A0"/>
                </a:solidFill>
                <a:latin typeface="Calibri" pitchFamily="34" charset="0"/>
                <a:ea typeface="Calibri" pitchFamily="34" charset="-122"/>
                <a:cs typeface="Calibri" pitchFamily="34" charset="-120"/>
              </a:rPr>
              <a:t>Coming Up in Unit 1</a:t>
            </a:r>
            <a:endParaRPr lang="en-US" sz="1400" dirty="0"/>
          </a:p>
        </p:txBody>
      </p:sp>
      <p:sp>
        <p:nvSpPr>
          <p:cNvPr id="10" name="Text 8"/>
          <p:cNvSpPr/>
          <p:nvPr/>
        </p:nvSpPr>
        <p:spPr>
          <a:xfrm>
            <a:off x="731520" y="777240"/>
            <a:ext cx="7680960" cy="1508760"/>
          </a:xfrm>
          <a:prstGeom prst="rect">
            <a:avLst/>
          </a:prstGeom>
          <a:noFill/>
          <a:ln/>
        </p:spPr>
        <p:txBody>
          <a:bodyPr wrap="square" rtlCol="0" anchor="ctr"/>
          <a:lstStyle/>
          <a:p>
            <a:pPr algn="ctr" indent="0" marL="0">
              <a:lnSpc>
                <a:spcPct val="112000"/>
              </a:lnSpc>
              <a:buNone/>
            </a:pPr>
            <a:r>
              <a:rPr lang="en-US" sz="4800" b="1" dirty="0">
                <a:solidFill>
                  <a:srgbClr val="FFFFFF"/>
                </a:solidFill>
                <a:latin typeface="Cambria" pitchFamily="34" charset="0"/>
                <a:ea typeface="Cambria" pitchFamily="34" charset="-122"/>
                <a:cs typeface="Cambria" pitchFamily="34" charset="-120"/>
              </a:rPr>
              <a:t>Evidence Keeper</a:t>
            </a:r>
            <a:endParaRPr lang="en-US" sz="4800" dirty="0"/>
          </a:p>
          <a:p>
            <a:pPr algn="ctr" indent="0" marL="0">
              <a:lnSpc>
                <a:spcPct val="112000"/>
              </a:lnSpc>
              <a:buNone/>
            </a:pPr>
            <a:r>
              <a:rPr lang="en-US" sz="4800" b="1" dirty="0">
                <a:solidFill>
                  <a:srgbClr val="FFFFFF"/>
                </a:solidFill>
                <a:latin typeface="Cambria" pitchFamily="34" charset="0"/>
                <a:ea typeface="Cambria" pitchFamily="34" charset="-122"/>
                <a:cs typeface="Cambria" pitchFamily="34" charset="-120"/>
              </a:rPr>
              <a:t>Badge</a:t>
            </a:r>
            <a:endParaRPr lang="en-US" sz="4800" dirty="0"/>
          </a:p>
        </p:txBody>
      </p:sp>
      <p:sp>
        <p:nvSpPr>
          <p:cNvPr id="11" name="Shape 9"/>
          <p:cNvSpPr/>
          <p:nvPr/>
        </p:nvSpPr>
        <p:spPr>
          <a:xfrm>
            <a:off x="3520440" y="2423160"/>
            <a:ext cx="2103120" cy="2103120"/>
          </a:xfrm>
          <a:prstGeom prst="roundRect">
            <a:avLst>
              <a:gd name="adj" fmla="val 8696"/>
            </a:avLst>
          </a:prstGeom>
          <a:solidFill>
            <a:srgbClr val="07101F"/>
          </a:solidFill>
          <a:ln w="31750">
            <a:solidFill>
              <a:srgbClr val="C8A84B"/>
            </a:solidFill>
            <a:prstDash val="solid"/>
          </a:ln>
          <a:effectLst>
            <a:outerShdw sx="100000" sy="100000" kx="0" ky="0" algn="bl" rotWithShape="0" blurRad="177800" dist="50800" dir="2700000">
              <a:srgbClr val="000000">
                <a:alpha val="22000"/>
              </a:srgbClr>
            </a:outerShdw>
          </a:effectLst>
        </p:spPr>
      </p:sp>
      <p:sp>
        <p:nvSpPr>
          <p:cNvPr id="12" name="Shape 10"/>
          <p:cNvSpPr/>
          <p:nvPr/>
        </p:nvSpPr>
        <p:spPr>
          <a:xfrm>
            <a:off x="3566160" y="2350008"/>
            <a:ext cx="2011680" cy="1554480"/>
          </a:xfrm>
          <a:prstGeom prst="ellipse">
            <a:avLst/>
          </a:prstGeom>
          <a:solidFill>
            <a:srgbClr val="D4943A">
              <a:alpha val="17000"/>
            </a:srgbClr>
          </a:solidFill>
          <a:ln w="12700">
            <a:solidFill>
              <a:srgbClr val="333333"/>
            </a:solidFill>
            <a:prstDash val="solid"/>
          </a:ln>
        </p:spPr>
      </p:sp>
      <p:sp>
        <p:nvSpPr>
          <p:cNvPr id="13" name="Shape 11"/>
          <p:cNvSpPr/>
          <p:nvPr/>
        </p:nvSpPr>
        <p:spPr>
          <a:xfrm>
            <a:off x="4008730" y="2691994"/>
            <a:ext cx="1126541" cy="870509"/>
          </a:xfrm>
          <a:prstGeom prst="ellipse">
            <a:avLst/>
          </a:prstGeom>
          <a:solidFill>
            <a:srgbClr val="D4943A">
              <a:alpha val="27000"/>
            </a:srgbClr>
          </a:solidFill>
          <a:ln w="12700">
            <a:solidFill>
              <a:srgbClr val="333333"/>
            </a:solidFill>
            <a:prstDash val="solid"/>
          </a:ln>
        </p:spPr>
      </p:sp>
      <p:sp>
        <p:nvSpPr>
          <p:cNvPr id="14" name="Text 12"/>
          <p:cNvSpPr/>
          <p:nvPr/>
        </p:nvSpPr>
        <p:spPr>
          <a:xfrm>
            <a:off x="3520440" y="2468880"/>
            <a:ext cx="2103120" cy="1481328"/>
          </a:xfrm>
          <a:prstGeom prst="rect">
            <a:avLst/>
          </a:prstGeom>
          <a:noFill/>
          <a:ln/>
        </p:spPr>
        <p:txBody>
          <a:bodyPr wrap="square" rtlCol="0" anchor="ctr"/>
          <a:lstStyle/>
          <a:p>
            <a:pPr algn="ctr" indent="0" marL="0">
              <a:buNone/>
            </a:pPr>
            <a:r>
              <a:rPr lang="en-US" sz="5600" dirty="0">
                <a:solidFill>
                  <a:srgbClr val="000000"/>
                </a:solidFill>
              </a:rPr>
              <a:t>🏅</a:t>
            </a:r>
            <a:endParaRPr lang="en-US" sz="5600" dirty="0"/>
          </a:p>
        </p:txBody>
      </p:sp>
      <p:sp>
        <p:nvSpPr>
          <p:cNvPr id="15" name="Shape 13"/>
          <p:cNvSpPr/>
          <p:nvPr/>
        </p:nvSpPr>
        <p:spPr>
          <a:xfrm>
            <a:off x="914400" y="4590288"/>
            <a:ext cx="7315200" cy="420624"/>
          </a:xfrm>
          <a:prstGeom prst="roundRect">
            <a:avLst>
              <a:gd name="adj" fmla="val 19565"/>
            </a:avLst>
          </a:prstGeom>
          <a:solidFill>
            <a:srgbClr val="1A8A7D">
              <a:alpha val="20000"/>
            </a:srgbClr>
          </a:solidFill>
          <a:ln w="15240">
            <a:solidFill>
              <a:srgbClr val="34B0A0"/>
            </a:solidFill>
            <a:prstDash val="solid"/>
          </a:ln>
        </p:spPr>
      </p:sp>
      <p:sp>
        <p:nvSpPr>
          <p:cNvPr id="16" name="Text 14"/>
          <p:cNvSpPr/>
          <p:nvPr/>
        </p:nvSpPr>
        <p:spPr>
          <a:xfrm>
            <a:off x="914400" y="4590288"/>
            <a:ext cx="7315200" cy="42062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Master the 4 tools · Explain primary vs. secondary · Complete the Curator's Chronicle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G3 SS 3.01.01 — What Historians Study (Live Class v3)</dc:title>
  <dc:subject>PptxGenJS Presentation</dc:subject>
  <dc:creator>Optima Academy Online</dc:creator>
  <cp:lastModifiedBy>Optima Academy Online</cp:lastModifiedBy>
  <cp:revision>1</cp:revision>
  <dcterms:created xsi:type="dcterms:W3CDTF">2026-07-06T03:44:09Z</dcterms:created>
  <dcterms:modified xsi:type="dcterms:W3CDTF">2026-07-06T03:44:09Z</dcterms:modified>
</cp:coreProperties>
</file>