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Today's lesson: not all information online is equal. Historians — and citizens — need tools to evaluate what they find. We'll build those tools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reading: 'Today you get Student B's strategy — not because technology is bad, but because a hammer in the wrong hands builds the wrong thing.'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make Wikipedia the villain — it's a great starting point. But students need to know it can be edited by anyone. The real lesson: chase the sources that Wikipedia itself cites. Those are often the reliable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SIFT comes from misinformation researcher Mike Caulfield. It's simple enough for 3rd graders and rigorous enough for adults. Walk through each letter. Quiz: 'If you see a story that says something surprising, what's the FIRST step?' STOP — don't share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source aloud. After revealing the answer: briefly explain WHY. For the Smithsonian: 'Peer-reviewed magazine backed by a major institution.' For the blog: 'No credentials listed, can't verify author.' For loc.gov: '.gov = US government official archives — very reliable for historical documents.'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4 minutes. When groups return: ask each group to share ONE insight. Likely insights: '.edu sites good', 'need multiple sources', 'check who wrote it'. Look for the group that spots the meta-point: sometimes the most interesting sources are the ones that DISAGREE.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type in chat. This is a genuinely open reflection. Accept all answers — the point is developing the HABIT of checking, not that everything they know is wrong. Close: 'The research tools you now have are what separate a historian from a guesser.'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21792" cy="514807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22208" y="0"/>
            <a:ext cx="621792" cy="5148072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A8A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1A8A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365760"/>
            <a:ext cx="7132320" cy="4023360"/>
          </a:xfrm>
          <a:prstGeom prst="ellipse">
            <a:avLst/>
          </a:prstGeom>
          <a:solidFill>
            <a:srgbClr val="1A8A7D">
              <a:alpha val="1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74950" y="1250899"/>
            <a:ext cx="3994099" cy="2253082"/>
          </a:xfrm>
          <a:prstGeom prst="ellipse">
            <a:avLst/>
          </a:prstGeom>
          <a:solidFill>
            <a:srgbClr val="1A8A7D">
              <a:alpha val="2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182880"/>
            <a:ext cx="5120640" cy="475488"/>
          </a:xfrm>
          <a:prstGeom prst="roundRect">
            <a:avLst>
              <a:gd name="adj" fmla="val 13462"/>
            </a:avLst>
          </a:prstGeom>
          <a:solidFill>
            <a:srgbClr val="1A8A7D">
              <a:alpha val="18000"/>
            </a:srgbClr>
          </a:solidFill>
          <a:ln w="12700">
            <a:solidFill>
              <a:srgbClr val="1A8A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8288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5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CURATOR TRAINING HALL  ·  UNIT 1  ·  WEEK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804672"/>
            <a:ext cx="7315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Technology</a:t>
            </a:r>
            <a:endParaRPr lang="en-US" sz="5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Gather Reliable</a:t>
            </a:r>
            <a:endParaRPr lang="en-US" sz="5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1371600" y="354787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3.01.04  ·  3rd Grade Social Studies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560320" y="3977640"/>
            <a:ext cx="4023360" cy="566928"/>
          </a:xfrm>
          <a:prstGeom prst="roundRect">
            <a:avLst>
              <a:gd name="adj" fmla="val 16129"/>
            </a:avLst>
          </a:prstGeom>
          <a:solidFill>
            <a:srgbClr val="1A8A7D">
              <a:alpha val="20000"/>
            </a:srgbClr>
          </a:solidFill>
          <a:ln w="19050">
            <a:solidFill>
              <a:srgbClr val="1A8A7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397764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Study  ·  Virtue: Honesty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23544" y="4736592"/>
            <a:ext cx="164592" cy="256032"/>
          </a:xfrm>
          <a:prstGeom prst="ellipse">
            <a:avLst/>
          </a:prstGeom>
          <a:solidFill>
            <a:srgbClr val="C8A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55864" y="4736592"/>
            <a:ext cx="164592" cy="256032"/>
          </a:xfrm>
          <a:prstGeom prst="ellipse">
            <a:avLst/>
          </a:prstGeom>
          <a:solidFill>
            <a:srgbClr val="C8A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4864608"/>
            <a:ext cx="7132320" cy="0"/>
          </a:xfrm>
          <a:prstGeom prst="line">
            <a:avLst/>
          </a:prstGeom>
          <a:noFill/>
          <a:ln w="31750">
            <a:solidFill>
              <a:srgbClr val="C8A84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0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8A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with 'Just Google It'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8046720" cy="3950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two students researching the same question:</a:t>
            </a: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caused the fall of the Roman Empire?"</a:t>
            </a: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 types the question into a random website and copies the first paragraph they find.</a:t>
            </a: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B opens three sources: a university history page, a museum website, and a book written by a professor — then compares what all three say.</a:t>
            </a: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students hand in an answer.</a:t>
            </a: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only one is acting like a historian.</a:t>
            </a: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endParaRPr lang="en-US" sz="13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isn't technology — it's strategy.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8A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Source Quality Spectrum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02336" y="768096"/>
            <a:ext cx="8339328" cy="914400"/>
          </a:xfrm>
          <a:prstGeom prst="roundRect">
            <a:avLst>
              <a:gd name="adj" fmla="val 9000"/>
            </a:avLst>
          </a:prstGeom>
          <a:solidFill>
            <a:srgbClr val="2E7D4F">
              <a:alpha val="12000"/>
            </a:srgb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786384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Reliable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82112" y="786384"/>
            <a:ext cx="0" cy="914400"/>
          </a:xfrm>
          <a:prstGeom prst="line">
            <a:avLst/>
          </a:prstGeom>
          <a:noFill/>
          <a:ln w="10160">
            <a:solidFill>
              <a:srgbClr val="2E7D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64992" y="786384"/>
            <a:ext cx="5230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.gov (government sites)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.edu (universities &amp; schools)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academic books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02336" y="1792224"/>
            <a:ext cx="8339328" cy="914400"/>
          </a:xfrm>
          <a:prstGeom prst="roundRect">
            <a:avLst>
              <a:gd name="adj" fmla="val 9000"/>
            </a:avLst>
          </a:prstGeom>
          <a:solidFill>
            <a:srgbClr val="1A8A7D">
              <a:alpha val="12000"/>
            </a:srgbClr>
          </a:solidFill>
          <a:ln w="19050">
            <a:solidFill>
              <a:srgbClr val="1A8A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181051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8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Usually Reliable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82112" y="1810512"/>
            <a:ext cx="0" cy="914400"/>
          </a:xfrm>
          <a:prstGeom prst="line">
            <a:avLst/>
          </a:prstGeom>
          <a:noFill/>
          <a:ln w="10160">
            <a:solidFill>
              <a:srgbClr val="1A8A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1810512"/>
            <a:ext cx="5230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.org (organizations — check who runs it)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Museum websites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Encyclopedia sites (Britannica, World Book)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02336" y="2816352"/>
            <a:ext cx="8339328" cy="914400"/>
          </a:xfrm>
          <a:prstGeom prst="roundRect">
            <a:avLst>
              <a:gd name="adj" fmla="val 9000"/>
            </a:avLst>
          </a:prstGeom>
          <a:solidFill>
            <a:srgbClr val="B87A2A">
              <a:alpha val="12000"/>
            </a:srgbClr>
          </a:solidFill>
          <a:ln w="19050">
            <a:solidFill>
              <a:srgbClr val="B87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28346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7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With Caution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82112" y="2834640"/>
            <a:ext cx="0" cy="914400"/>
          </a:xfrm>
          <a:prstGeom prst="line">
            <a:avLst/>
          </a:prstGeom>
          <a:noFill/>
          <a:ln w="10160">
            <a:solidFill>
              <a:srgbClr val="B87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64992" y="2834640"/>
            <a:ext cx="5230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websites (check date and bias)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(good starting point, not a final source)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blogs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02336" y="3840480"/>
            <a:ext cx="8339328" cy="914400"/>
          </a:xfrm>
          <a:prstGeom prst="roundRect">
            <a:avLst>
              <a:gd name="adj" fmla="val 9000"/>
            </a:avLst>
          </a:prstGeom>
          <a:solidFill>
            <a:srgbClr val="9B1C2E">
              <a:alpha val="12000"/>
            </a:srgbClr>
          </a:solidFill>
          <a:ln w="19050">
            <a:solidFill>
              <a:srgbClr val="9B1C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" y="3858768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B1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Carefully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82112" y="3858768"/>
            <a:ext cx="0" cy="914400"/>
          </a:xfrm>
          <a:prstGeom prst="line">
            <a:avLst/>
          </a:prstGeom>
          <a:noFill/>
          <a:ln w="10160">
            <a:solidFill>
              <a:srgbClr val="9B1C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64992" y="3858768"/>
            <a:ext cx="5230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posts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websites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that can't show their sources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-1828800"/>
            <a:ext cx="7315200" cy="4572000"/>
          </a:xfrm>
          <a:prstGeom prst="ellipse">
            <a:avLst/>
          </a:prstGeom>
          <a:solidFill>
            <a:srgbClr val="1A8A7D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SIFT Method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Historians use a four-step check before trusting any source.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02336" y="1005840"/>
            <a:ext cx="2011680" cy="3547872"/>
          </a:xfrm>
          <a:prstGeom prst="roundRect">
            <a:avLst>
              <a:gd name="adj" fmla="val 4545"/>
            </a:avLst>
          </a:prstGeom>
          <a:solidFill>
            <a:srgbClr val="9B1C2E">
              <a:alpha val="18000"/>
            </a:srgbClr>
          </a:solidFill>
          <a:ln w="25400">
            <a:solidFill>
              <a:srgbClr val="9B1C2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24128" y="1078992"/>
            <a:ext cx="768096" cy="768096"/>
          </a:xfrm>
          <a:prstGeom prst="ellipse">
            <a:avLst/>
          </a:prstGeom>
          <a:solidFill>
            <a:srgbClr val="9B1C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0789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02336" y="195681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" y="2487168"/>
            <a:ext cx="1828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share or use it yet. Slow down. Breathe.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60320" y="1005840"/>
            <a:ext cx="2011680" cy="3547872"/>
          </a:xfrm>
          <a:prstGeom prst="roundRect">
            <a:avLst>
              <a:gd name="adj" fmla="val 4545"/>
            </a:avLst>
          </a:prstGeom>
          <a:solidFill>
            <a:srgbClr val="1A3A8F">
              <a:alpha val="18000"/>
            </a:srgbClr>
          </a:solidFill>
          <a:ln w="25400">
            <a:solidFill>
              <a:srgbClr val="1A3A8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82112" y="1078992"/>
            <a:ext cx="768096" cy="768096"/>
          </a:xfrm>
          <a:prstGeom prst="ellipse">
            <a:avLst/>
          </a:prstGeom>
          <a:solidFill>
            <a:srgbClr val="1A3A8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82112" y="10789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60320" y="195681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INVESTIGATE the source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2487168"/>
            <a:ext cx="1828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made this? Are they an expert? Do they have a motive?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18304" y="1005840"/>
            <a:ext cx="2011680" cy="3547872"/>
          </a:xfrm>
          <a:prstGeom prst="roundRect">
            <a:avLst>
              <a:gd name="adj" fmla="val 4545"/>
            </a:avLst>
          </a:prstGeom>
          <a:solidFill>
            <a:srgbClr val="1A8A7D">
              <a:alpha val="18000"/>
            </a:srgbClr>
          </a:solidFill>
          <a:ln w="25400">
            <a:solidFill>
              <a:srgbClr val="1A8A7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40096" y="1078992"/>
            <a:ext cx="768096" cy="768096"/>
          </a:xfrm>
          <a:prstGeom prst="ellipse">
            <a:avLst/>
          </a:prstGeom>
          <a:solidFill>
            <a:srgbClr val="1A8A7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0096" y="10789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18304" y="195681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better coverage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9744" y="2487168"/>
            <a:ext cx="1828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the same claim on 2-3 other reliable sites.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76288" y="1005840"/>
            <a:ext cx="2011680" cy="3547872"/>
          </a:xfrm>
          <a:prstGeom prst="roundRect">
            <a:avLst>
              <a:gd name="adj" fmla="val 4545"/>
            </a:avLst>
          </a:prstGeom>
          <a:solidFill>
            <a:srgbClr val="2E7D4F">
              <a:alpha val="18000"/>
            </a:srgbClr>
          </a:solidFill>
          <a:ln w="25400">
            <a:solidFill>
              <a:srgbClr val="2E7D4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0" y="1078992"/>
            <a:ext cx="768096" cy="768096"/>
          </a:xfrm>
          <a:prstGeom prst="ellipse">
            <a:avLst/>
          </a:prstGeom>
          <a:solidFill>
            <a:srgbClr val="2E7D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0" y="10789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76288" y="195681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 claims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67728" y="2487168"/>
            <a:ext cx="1828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this information come from originally?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E1C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Raise Your Hand: Reliable or Not?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02336" y="768096"/>
            <a:ext cx="6601968" cy="731520"/>
          </a:xfrm>
          <a:prstGeom prst="roundRect">
            <a:avLst>
              <a:gd name="adj" fmla="val 8750"/>
            </a:avLst>
          </a:prstGeom>
          <a:solidFill>
            <a:srgbClr val="2E7D4F">
              <a:alpha val="8000"/>
            </a:srgbClr>
          </a:solidFill>
          <a:ln w="15240">
            <a:solidFill>
              <a:srgbClr val="2E7D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768096"/>
            <a:ext cx="6419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www.smithsonianmag.com — an article about ancient Egyptian mummies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077456" y="786384"/>
            <a:ext cx="1664208" cy="694944"/>
          </a:xfrm>
          <a:prstGeom prst="roundRect">
            <a:avLst>
              <a:gd name="adj" fmla="val 9211"/>
            </a:avLst>
          </a:prstGeom>
          <a:solidFill>
            <a:srgbClr val="2E7D4F">
              <a:alpha val="50000"/>
            </a:srgb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77456" y="786384"/>
            <a:ext cx="16642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Reliable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02336" y="1591056"/>
            <a:ext cx="6601968" cy="731520"/>
          </a:xfrm>
          <a:prstGeom prst="roundRect">
            <a:avLst>
              <a:gd name="adj" fmla="val 8750"/>
            </a:avLst>
          </a:prstGeom>
          <a:solidFill>
            <a:srgbClr val="B87A2A">
              <a:alpha val="8000"/>
            </a:srgbClr>
          </a:solidFill>
          <a:ln w="15240">
            <a:solidFill>
              <a:srgbClr val="B87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1591056"/>
            <a:ext cx="6419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www.coolhistoryfacts4kids.blogspot.com — a post about the Civil War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077456" y="1609344"/>
            <a:ext cx="1664208" cy="694944"/>
          </a:xfrm>
          <a:prstGeom prst="roundRect">
            <a:avLst>
              <a:gd name="adj" fmla="val 9211"/>
            </a:avLst>
          </a:prstGeom>
          <a:solidFill>
            <a:srgbClr val="B87A2A">
              <a:alpha val="50000"/>
            </a:srgbClr>
          </a:solidFill>
          <a:ln w="19050">
            <a:solidFill>
              <a:srgbClr val="B87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77456" y="1609344"/>
            <a:ext cx="16642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Verify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2336" y="2414016"/>
            <a:ext cx="6601968" cy="731520"/>
          </a:xfrm>
          <a:prstGeom prst="roundRect">
            <a:avLst>
              <a:gd name="adj" fmla="val 8750"/>
            </a:avLst>
          </a:prstGeom>
          <a:solidFill>
            <a:srgbClr val="2E7D4F">
              <a:alpha val="8000"/>
            </a:srgbClr>
          </a:solidFill>
          <a:ln w="15240">
            <a:solidFill>
              <a:srgbClr val="2E7D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2414016"/>
            <a:ext cx="6419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www.loc.gov — the Library of Congress digital archive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77456" y="2432304"/>
            <a:ext cx="1664208" cy="694944"/>
          </a:xfrm>
          <a:prstGeom prst="roundRect">
            <a:avLst>
              <a:gd name="adj" fmla="val 9211"/>
            </a:avLst>
          </a:prstGeom>
          <a:solidFill>
            <a:srgbClr val="2E7D4F">
              <a:alpha val="50000"/>
            </a:srgbClr>
          </a:solidFill>
          <a:ln w="19050">
            <a:solidFill>
              <a:srgbClr val="2E7D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77456" y="2432304"/>
            <a:ext cx="16642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Very Reliable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02336" y="3236976"/>
            <a:ext cx="6601968" cy="731520"/>
          </a:xfrm>
          <a:prstGeom prst="roundRect">
            <a:avLst>
              <a:gd name="adj" fmla="val 8750"/>
            </a:avLst>
          </a:prstGeom>
          <a:solidFill>
            <a:srgbClr val="9B1C2E">
              <a:alpha val="8000"/>
            </a:srgbClr>
          </a:solidFill>
          <a:ln w="15240">
            <a:solidFill>
              <a:srgbClr val="9B1C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" y="3236976"/>
            <a:ext cx="6419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Facebook post claiming to show a 'lost photo' from the 1800s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077456" y="3255264"/>
            <a:ext cx="1664208" cy="694944"/>
          </a:xfrm>
          <a:prstGeom prst="roundRect">
            <a:avLst>
              <a:gd name="adj" fmla="val 9211"/>
            </a:avLst>
          </a:prstGeom>
          <a:solidFill>
            <a:srgbClr val="9B1C2E">
              <a:alpha val="50000"/>
            </a:srgbClr>
          </a:solidFill>
          <a:ln w="19050">
            <a:solidFill>
              <a:srgbClr val="9B1C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77456" y="3255264"/>
            <a:ext cx="16642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Verify carefully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02336" y="4059936"/>
            <a:ext cx="6601968" cy="731520"/>
          </a:xfrm>
          <a:prstGeom prst="roundRect">
            <a:avLst>
              <a:gd name="adj" fmla="val 8750"/>
            </a:avLst>
          </a:prstGeom>
          <a:solidFill>
            <a:srgbClr val="1A8A7D">
              <a:alpha val="8000"/>
            </a:srgbClr>
          </a:solidFill>
          <a:ln w="15240">
            <a:solidFill>
              <a:srgbClr val="1A8A7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" y="4059936"/>
            <a:ext cx="6419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www.britannica.com — an encyclopedia article with citations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077456" y="4078224"/>
            <a:ext cx="1664208" cy="694944"/>
          </a:xfrm>
          <a:prstGeom prst="roundRect">
            <a:avLst>
              <a:gd name="adj" fmla="val 9211"/>
            </a:avLst>
          </a:prstGeom>
          <a:solidFill>
            <a:srgbClr val="1A8A7D">
              <a:alpha val="50000"/>
            </a:srgbClr>
          </a:solidFill>
          <a:ln w="19050">
            <a:solidFill>
              <a:srgbClr val="1A8A7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77456" y="4078224"/>
            <a:ext cx="16642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Usually Reliable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7772400" cy="4114800"/>
          </a:xfrm>
          <a:prstGeom prst="ellipse">
            <a:avLst/>
          </a:prstGeom>
          <a:solidFill>
            <a:srgbClr val="C7522A">
              <a:alpha val="1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95728" y="1408176"/>
            <a:ext cx="4352544" cy="2304288"/>
          </a:xfrm>
          <a:prstGeom prst="ellipse">
            <a:avLst/>
          </a:prstGeom>
          <a:solidFill>
            <a:srgbClr val="C7522A">
              <a:alpha val="2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Your Groups — The Research Challenge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02336" y="768096"/>
            <a:ext cx="8339328" cy="694944"/>
          </a:xfrm>
          <a:prstGeom prst="roundRect">
            <a:avLst>
              <a:gd name="adj" fmla="val 11842"/>
            </a:avLst>
          </a:prstGeom>
          <a:solidFill>
            <a:srgbClr val="C7522A">
              <a:alpha val="20000"/>
            </a:srgbClr>
          </a:solidFill>
          <a:ln w="19050">
            <a:solidFill>
              <a:srgbClr val="C752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804672"/>
            <a:ext cx="79735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question: 'What was the daily life of a child in Ancient Greece?'</a:t>
            </a:r>
            <a:endParaRPr lang="en-US" sz="1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your group, plan your research strategy using SIFT. Where would you look first? Second? How would you check if the information is reliable?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02336" y="1572768"/>
            <a:ext cx="8339328" cy="676656"/>
          </a:xfrm>
          <a:prstGeom prst="roundRect">
            <a:avLst>
              <a:gd name="adj" fmla="val 945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A8A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572768"/>
            <a:ext cx="79735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STOP: What do you already know? What might trick you about this topic?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2336" y="2340864"/>
            <a:ext cx="8339328" cy="676656"/>
          </a:xfrm>
          <a:prstGeom prst="roundRect">
            <a:avLst>
              <a:gd name="adj" fmla="val 945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A8A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2340864"/>
            <a:ext cx="79735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INVESTIGATE: Name 2 types of reliable sites you'd start with.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2336" y="3108960"/>
            <a:ext cx="8339328" cy="676656"/>
          </a:xfrm>
          <a:prstGeom prst="roundRect">
            <a:avLst>
              <a:gd name="adj" fmla="val 945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A8A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3108960"/>
            <a:ext cx="79735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FIND: How many sources would you check before you write anything?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2336" y="3877056"/>
            <a:ext cx="8339328" cy="676656"/>
          </a:xfrm>
          <a:prstGeom prst="roundRect">
            <a:avLst>
              <a:gd name="adj" fmla="val 945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1A8A7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3877056"/>
            <a:ext cx="79735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TRACE: If a site says 'historians believe...', what would you want to check?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28600"/>
            <a:ext cx="7315200" cy="4114800"/>
          </a:xfrm>
          <a:prstGeom prst="ellipse">
            <a:avLst/>
          </a:prstGeom>
          <a:solidFill>
            <a:srgbClr val="1A8A7D">
              <a:alpha val="1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23744" y="1133856"/>
            <a:ext cx="4096512" cy="2304288"/>
          </a:xfrm>
          <a:prstGeom prst="ellipse">
            <a:avLst/>
          </a:prstGeom>
          <a:solidFill>
            <a:srgbClr val="1A8A7D">
              <a:alpha val="2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0467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Honesty means checking your sources.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1517904"/>
            <a:ext cx="731520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E0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easy to find information that agrees with what you already believe.</a:t>
            </a:r>
            <a:endParaRPr lang="en-US" sz="1400" dirty="0"/>
          </a:p>
          <a:p>
            <a:pPr algn="ctr" indent="0" marL="0">
              <a:lnSpc>
                <a:spcPct val="155000"/>
              </a:lnSpc>
              <a:buNone/>
            </a:pPr>
            <a:endParaRPr lang="en-US" sz="140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E0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harder — and more honest — to find reliable information,</a:t>
            </a:r>
            <a:endParaRPr lang="en-US" sz="1400" dirty="0"/>
          </a:p>
          <a:p>
            <a:pPr algn="ctr" indent="0" marL="0">
              <a:lnSpc>
                <a:spcPct val="155000"/>
              </a:lnSpc>
              <a:buNone/>
            </a:pPr>
            <a:r>
              <a:rPr lang="en-US" sz="1400" dirty="0">
                <a:solidFill>
                  <a:srgbClr val="E0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it surprises you.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2336" y="2852928"/>
            <a:ext cx="8339328" cy="1664208"/>
          </a:xfrm>
          <a:prstGeom prst="roundRect">
            <a:avLst>
              <a:gd name="adj" fmla="val 5495"/>
            </a:avLst>
          </a:prstGeom>
          <a:solidFill>
            <a:srgbClr val="E0F5F0"/>
          </a:solidFill>
          <a:ln w="22860">
            <a:solidFill>
              <a:srgbClr val="1A8A7D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9496" y="2944368"/>
            <a:ext cx="8065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Chat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39496" y="3282696"/>
            <a:ext cx="8065008" cy="0"/>
          </a:xfrm>
          <a:prstGeom prst="line">
            <a:avLst/>
          </a:prstGeom>
          <a:noFill/>
          <a:ln w="10160">
            <a:solidFill>
              <a:srgbClr val="1A8A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" y="3337560"/>
            <a:ext cx="806500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250" dirty="0">
                <a:solidFill>
                  <a:srgbClr val="3A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something you 'know' from a non-school source — maybe a movie, a game, or a family story. How would you use SIFT to check if it's historically accurate? What might you discover?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14984" y="4626864"/>
            <a:ext cx="164592" cy="256032"/>
          </a:xfrm>
          <a:prstGeom prst="ellipse">
            <a:avLst/>
          </a:prstGeom>
          <a:solidFill>
            <a:srgbClr val="C8A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64424" y="4626864"/>
            <a:ext cx="164592" cy="256032"/>
          </a:xfrm>
          <a:prstGeom prst="ellipse">
            <a:avLst/>
          </a:prstGeom>
          <a:solidFill>
            <a:srgbClr val="C8A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4754880"/>
            <a:ext cx="6949440" cy="0"/>
          </a:xfrm>
          <a:prstGeom prst="line">
            <a:avLst/>
          </a:prstGeom>
          <a:noFill/>
          <a:ln w="31750">
            <a:solidFill>
              <a:srgbClr val="C8A84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G3 SS 3.01.04 — Using Technology to Gather Reliable Information</dc:title>
  <dc:subject>PptxGenJS Presentation</dc:subject>
  <dc:creator>PptxGenJS</dc:creator>
  <cp:lastModifiedBy>PptxGenJS</cp:lastModifiedBy>
  <cp:revision>1</cp:revision>
  <dcterms:created xsi:type="dcterms:W3CDTF">2026-07-06T22:57:35Z</dcterms:created>
  <dcterms:modified xsi:type="dcterms:W3CDTF">2026-07-06T22:57:35Z</dcterms:modified>
</cp:coreProperties>
</file>