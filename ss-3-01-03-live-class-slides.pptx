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Great historians aren't people who know all the answers — they're people who ask the RIGHT questions. Today we build the habit of historical questioning.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slowly, dramatically. After: 'Those five question types are your tools. Let's put them in the display case.'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question type. Key: 'These aren't just for history class. You use ALL five of these every day — when you read the news, when you hear a story, when you're trying to figure out if something is true.'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'missing voices' concept is crucial for historical thinking. Example: 'If we only read letters from European explorers, what voices are missing?' (Indigenous peoples, enslaved people, women, common sailors). This is the core of empathetic historical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and HOW questions are where history becomes philosophy. There's rarely one right answer. The skill is building a case with evidence. Ask: 'Why might WHY questions be harder to answer than WHEN questions?' (WHEN = look it up. WHY = think, weigh, reason.)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3-4 students, 4 minutes. Each group writes 5 questions — one per type. When they return, call on different groups for different question types. Compare: did different groups ask very different WHO questions? Why? Good example WHO question: 'Who is NOT in this photograph?' Good WHY: 'Why would children be working instead of in school?'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questioning to civic virtue. Students type in chat. Read 3-4 responses. There's no wrong answer — the point is they're starting to develop a personal identity as questioners.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'The best historians aren't walking encyclopedias. They're walking question machines. You now have five tools in your kit. Use them every time you read a source, look at a map, or hear someone tell you what happened in history.'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65760"/>
            <a:ext cx="7132320" cy="4023360"/>
          </a:xfrm>
          <a:prstGeom prst="ellipse">
            <a:avLst/>
          </a:prstGeom>
          <a:solidFill>
            <a:srgbClr val="1A3A8F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74950" y="1250899"/>
            <a:ext cx="3994099" cy="2253082"/>
          </a:xfrm>
          <a:prstGeom prst="ellipse">
            <a:avLst/>
          </a:prstGeom>
          <a:solidFill>
            <a:srgbClr val="1A3A8F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1A3A8F">
              <a:alpha val="18000"/>
            </a:srgbClr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TRAINING HALL  ·  UNIT 1  ·  WEEK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80467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Asking Questions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Historian-Citizen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3.01.03  ·  3rd Grade Social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A3A8F">
              <a:alpha val="20000"/>
            </a:srgbClr>
          </a:solidFill>
          <a:ln w="19050">
            <a:solidFill>
              <a:srgbClr val="1A3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977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Scene  ·  Virtue: Service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Discovery Begins with One Question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8046720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archaeologists dug up the ruins of Pompeii, the first question wasn't 'What happened here?' — it was 'Why are all these people frozen in place?'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explorers found cave paintings in southern France, the first question wasn't 'Beautiful, isn't it?' — it was 'Who made these, and why?'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always comes before the answer.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Historian-citizens carry five types of questions everywhere they go.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them, and you'll never look at an artifact — or a news story — the same way again.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10972800" cy="5029200"/>
          </a:xfrm>
          <a:prstGeom prst="ellipse">
            <a:avLst/>
          </a:prstGeom>
          <a:solidFill>
            <a:srgbClr val="1A3A8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Historian Questions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05256" y="576072"/>
            <a:ext cx="3986784" cy="1773936"/>
          </a:xfrm>
          <a:prstGeom prst="roundRect">
            <a:avLst>
              <a:gd name="adj" fmla="val 7216"/>
            </a:avLst>
          </a:prstGeom>
          <a:solidFill>
            <a:srgbClr val="9B1C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640080"/>
            <a:ext cx="3858768" cy="1645920"/>
          </a:xfrm>
          <a:prstGeom prst="roundRect">
            <a:avLst>
              <a:gd name="adj" fmla="val 5000"/>
            </a:avLst>
          </a:prstGeom>
          <a:solidFill>
            <a:srgbClr val="07101F"/>
          </a:solidFill>
          <a:ln w="27940">
            <a:solidFill>
              <a:srgbClr val="9B1C2E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0790" y="705917"/>
            <a:ext cx="3395716" cy="1020470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7848" y="930420"/>
            <a:ext cx="1901601" cy="571463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713232"/>
            <a:ext cx="38587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👥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097280" y="1810512"/>
            <a:ext cx="3602736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9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 &amp; Voice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0704" y="731520"/>
            <a:ext cx="347472" cy="347472"/>
          </a:xfrm>
          <a:prstGeom prst="ellipse">
            <a:avLst/>
          </a:prstGeom>
          <a:solidFill>
            <a:srgbClr val="9B1C2E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731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67528" y="576072"/>
            <a:ext cx="3986784" cy="1773936"/>
          </a:xfrm>
          <a:prstGeom prst="roundRect">
            <a:avLst>
              <a:gd name="adj" fmla="val 7216"/>
            </a:avLst>
          </a:prstGeom>
          <a:solidFill>
            <a:srgbClr val="1A3A8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31536" y="640080"/>
            <a:ext cx="3858768" cy="1645920"/>
          </a:xfrm>
          <a:prstGeom prst="roundRect">
            <a:avLst>
              <a:gd name="adj" fmla="val 5000"/>
            </a:avLst>
          </a:prstGeom>
          <a:solidFill>
            <a:srgbClr val="07101F"/>
          </a:solidFill>
          <a:ln w="27940">
            <a:solidFill>
              <a:srgbClr val="1A3A8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3062" y="705917"/>
            <a:ext cx="3395716" cy="1020470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0120" y="930420"/>
            <a:ext cx="1901601" cy="571463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713232"/>
            <a:ext cx="3858768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559552" y="1810512"/>
            <a:ext cx="3602736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1A3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5955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&amp; 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22976" y="731520"/>
            <a:ext cx="347472" cy="347472"/>
          </a:xfrm>
          <a:prstGeom prst="ellipse">
            <a:avLst/>
          </a:prstGeom>
          <a:solidFill>
            <a:srgbClr val="1A3A8F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731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" y="2368296"/>
            <a:ext cx="2670048" cy="2304288"/>
          </a:xfrm>
          <a:prstGeom prst="roundRect">
            <a:avLst>
              <a:gd name="adj" fmla="val 5556"/>
            </a:avLst>
          </a:prstGeom>
          <a:solidFill>
            <a:srgbClr val="1A8A7D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2432304"/>
            <a:ext cx="2542032" cy="2176272"/>
          </a:xfrm>
          <a:prstGeom prst="roundRect">
            <a:avLst>
              <a:gd name="adj" fmla="val 3782"/>
            </a:avLst>
          </a:prstGeom>
          <a:solidFill>
            <a:srgbClr val="07101F"/>
          </a:solidFill>
          <a:ln w="27940">
            <a:solidFill>
              <a:srgbClr val="1A8A7D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4858" y="2519355"/>
            <a:ext cx="2236988" cy="1349289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6995" y="2816198"/>
            <a:ext cx="1252713" cy="755602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505456"/>
            <a:ext cx="2542032" cy="130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📅</a:t>
            </a:r>
            <a:endParaRPr lang="en-US" sz="3600" dirty="0"/>
          </a:p>
        </p:txBody>
      </p:sp>
      <p:sp>
        <p:nvSpPr>
          <p:cNvPr id="27" name="Shape 25"/>
          <p:cNvSpPr/>
          <p:nvPr/>
        </p:nvSpPr>
        <p:spPr>
          <a:xfrm>
            <a:off x="530352" y="4133088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133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&amp;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" y="2523744"/>
            <a:ext cx="347472" cy="347472"/>
          </a:xfrm>
          <a:prstGeom prst="ellipse">
            <a:avLst/>
          </a:prstGeom>
          <a:solidFill>
            <a:srgbClr val="1A8A7D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91256" y="2368296"/>
            <a:ext cx="2670048" cy="2304288"/>
          </a:xfrm>
          <a:prstGeom prst="roundRect">
            <a:avLst>
              <a:gd name="adj" fmla="val 5556"/>
            </a:avLst>
          </a:prstGeom>
          <a:solidFill>
            <a:srgbClr val="2E7D4F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5264" y="2432304"/>
            <a:ext cx="2542032" cy="2176272"/>
          </a:xfrm>
          <a:prstGeom prst="roundRect">
            <a:avLst>
              <a:gd name="adj" fmla="val 3782"/>
            </a:avLst>
          </a:prstGeom>
          <a:solidFill>
            <a:srgbClr val="07101F"/>
          </a:solidFill>
          <a:ln w="27940">
            <a:solidFill>
              <a:srgbClr val="2E7D4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07786" y="2519355"/>
            <a:ext cx="2236988" cy="1349289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9923" y="2816198"/>
            <a:ext cx="1252713" cy="755602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55264" y="2505456"/>
            <a:ext cx="2542032" cy="130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36" name="Shape 34"/>
          <p:cNvSpPr/>
          <p:nvPr/>
        </p:nvSpPr>
        <p:spPr>
          <a:xfrm>
            <a:off x="3383280" y="4133088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133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 &amp; Geography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46704" y="2523744"/>
            <a:ext cx="347472" cy="347472"/>
          </a:xfrm>
          <a:prstGeom prst="ellipse">
            <a:avLst/>
          </a:prstGeom>
          <a:solidFill>
            <a:srgbClr val="2E7D4F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44184" y="2368296"/>
            <a:ext cx="2670048" cy="2304288"/>
          </a:xfrm>
          <a:prstGeom prst="roundRect">
            <a:avLst>
              <a:gd name="adj" fmla="val 5556"/>
            </a:avLst>
          </a:prstGeom>
          <a:solidFill>
            <a:srgbClr val="B87A2A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2432304"/>
            <a:ext cx="2542032" cy="2176272"/>
          </a:xfrm>
          <a:prstGeom prst="roundRect">
            <a:avLst>
              <a:gd name="adj" fmla="val 3782"/>
            </a:avLst>
          </a:prstGeom>
          <a:solidFill>
            <a:srgbClr val="07101F"/>
          </a:solidFill>
          <a:ln w="27940">
            <a:solidFill>
              <a:srgbClr val="B87A2A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60714" y="2519355"/>
            <a:ext cx="2236988" cy="1349289"/>
          </a:xfrm>
          <a:prstGeom prst="ellipse">
            <a:avLst/>
          </a:prstGeom>
          <a:solidFill>
            <a:srgbClr val="D4943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52851" y="2816198"/>
            <a:ext cx="1252713" cy="755602"/>
          </a:xfrm>
          <a:prstGeom prst="ellipse">
            <a:avLst/>
          </a:prstGeom>
          <a:solidFill>
            <a:srgbClr val="D4943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505456"/>
            <a:ext cx="2542032" cy="13057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45" name="Shape 43"/>
          <p:cNvSpPr/>
          <p:nvPr/>
        </p:nvSpPr>
        <p:spPr>
          <a:xfrm>
            <a:off x="6236208" y="4133088"/>
            <a:ext cx="2286000" cy="384048"/>
          </a:xfrm>
          <a:prstGeom prst="roundRect">
            <a:avLst>
              <a:gd name="adj" fmla="val 11905"/>
            </a:avLst>
          </a:prstGeom>
          <a:solidFill>
            <a:srgbClr val="F5EDD8"/>
          </a:solidFill>
          <a:ln w="12700">
            <a:solidFill>
              <a:srgbClr val="B87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41330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/ HOW?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&amp; Effect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2523744"/>
            <a:ext cx="347472" cy="347472"/>
          </a:xfrm>
          <a:prstGeom prst="ellipse">
            <a:avLst/>
          </a:prstGeom>
          <a:solidFill>
            <a:srgbClr val="B87A2A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9B1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WHO? — Perspective and Voice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historians ask WHO, they're really asking four deeper questions: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02336" y="1188720"/>
            <a:ext cx="8339328" cy="749808"/>
          </a:xfrm>
          <a:prstGeom prst="roundRect">
            <a:avLst>
              <a:gd name="adj" fmla="val 9756"/>
            </a:avLst>
          </a:prstGeom>
          <a:solidFill>
            <a:srgbClr val="9B1C2E">
              <a:alpha val="8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25296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 Who created this source — and what was their background?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2048256"/>
            <a:ext cx="8339328" cy="749808"/>
          </a:xfrm>
          <a:prstGeom prst="roundRect">
            <a:avLst>
              <a:gd name="adj" fmla="val 9756"/>
            </a:avLst>
          </a:prstGeom>
          <a:solidFill>
            <a:srgbClr val="9B1C2E">
              <a:alpha val="8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084832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 Who is missing from this account? (Whose voice do we NOT hear?)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2907792"/>
            <a:ext cx="8339328" cy="749808"/>
          </a:xfrm>
          <a:prstGeom prst="roundRect">
            <a:avLst>
              <a:gd name="adj" fmla="val 9756"/>
            </a:avLst>
          </a:prstGeom>
          <a:solidFill>
            <a:srgbClr val="9B1C2E">
              <a:alpha val="8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944368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 Who benefits from this version of events?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" y="3767328"/>
            <a:ext cx="8339328" cy="749808"/>
          </a:xfrm>
          <a:prstGeom prst="roundRect">
            <a:avLst>
              <a:gd name="adj" fmla="val 9756"/>
            </a:avLst>
          </a:prstGeom>
          <a:solidFill>
            <a:srgbClr val="9B1C2E">
              <a:alpha val="8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803904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 Who might tell the story very differently?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B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 question is the hardest — it asks us to notice what's MISSING, not just what's there.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4114800"/>
          </a:xfrm>
          <a:prstGeom prst="ellipse">
            <a:avLst/>
          </a:prstGeom>
          <a:solidFill>
            <a:srgbClr val="1A3A8F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67712" y="1408176"/>
            <a:ext cx="4608576" cy="2304288"/>
          </a:xfrm>
          <a:prstGeom prst="ellipse">
            <a:avLst/>
          </a:prstGeom>
          <a:solidFill>
            <a:srgbClr val="1A3A8F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and HOW: The Queen of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68096"/>
            <a:ext cx="8339328" cy="914400"/>
          </a:xfrm>
          <a:prstGeom prst="roundRect">
            <a:avLst>
              <a:gd name="adj" fmla="val 10000"/>
            </a:avLst>
          </a:prstGeom>
          <a:solidFill>
            <a:srgbClr val="1A3A8F">
              <a:alpha val="18000"/>
            </a:srgbClr>
          </a:solidFill>
          <a:ln w="19050">
            <a:solidFill>
              <a:srgbClr val="2D5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786384"/>
            <a:ext cx="7973568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and HOW questions can almost never be answered with just one source. They require many sources, careful reasoning, and honest uncertainty.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828800"/>
            <a:ext cx="8339328" cy="896112"/>
          </a:xfrm>
          <a:prstGeom prst="roundRect">
            <a:avLst>
              <a:gd name="adj" fmla="val 816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865376"/>
            <a:ext cx="797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Why did people leave their home countries to explore?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5216" y="228600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Requires: letters, economic records, royal orders, explorer journals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2336" y="2834640"/>
            <a:ext cx="8339328" cy="896112"/>
          </a:xfrm>
          <a:prstGeom prst="roundRect">
            <a:avLst>
              <a:gd name="adj" fmla="val 816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871216"/>
            <a:ext cx="797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How did the Columbian Exchange change what people ate?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" y="329184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Requires: ship manifests, farm records, recipe books from different eras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" y="3840480"/>
            <a:ext cx="8339328" cy="896112"/>
          </a:xfrm>
          <a:prstGeom prst="roundRect">
            <a:avLst>
              <a:gd name="adj" fmla="val 8163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877056"/>
            <a:ext cx="7973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Why do some events get more space in history books than others?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5216" y="429768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Requires: comparing multiple textbooks, author backgrounds, sources cited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772400" cy="4114800"/>
          </a:xfrm>
          <a:prstGeom prst="ellipse">
            <a:avLst/>
          </a:prstGeom>
          <a:solidFill>
            <a:srgbClr val="C752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1408176"/>
            <a:ext cx="4352544" cy="2304288"/>
          </a:xfrm>
          <a:prstGeom prst="ellipse">
            <a:avLst/>
          </a:prstGeom>
          <a:solidFill>
            <a:srgbClr val="C752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Groups — The Question Lab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49808"/>
            <a:ext cx="8339328" cy="731520"/>
          </a:xfrm>
          <a:prstGeom prst="roundRect">
            <a:avLst>
              <a:gd name="adj" fmla="val 11250"/>
            </a:avLst>
          </a:prstGeom>
          <a:solidFill>
            <a:srgbClr val="C7522A">
              <a:alpha val="20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786384"/>
            <a:ext cx="797356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description of a source: "A photograph taken in 1910 showing children working in a factory in Philadelphia."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question for each of the five historian question types.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02336" y="1591056"/>
            <a:ext cx="8339328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91056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  →  Your question here...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" y="2231136"/>
            <a:ext cx="8339328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231136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 →  Your question here...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2336" y="2871216"/>
            <a:ext cx="8339328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871216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  →  Your question here...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2336" y="3511296"/>
            <a:ext cx="8339328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511296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  →  Your question here...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02336" y="4151376"/>
            <a:ext cx="8339328" cy="566928"/>
          </a:xfrm>
          <a:prstGeom prst="roundRect">
            <a:avLst>
              <a:gd name="adj" fmla="val 1129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4151376"/>
            <a:ext cx="7973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WHY/HOW?  →  Your question here...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201168"/>
            <a:ext cx="8339328" cy="4736592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9050">
            <a:solidFill>
              <a:srgbClr val="1A3A8F"/>
            </a:solidFill>
            <a:prstDash val="solid"/>
          </a:ln>
          <a:effectLst>
            <a:outerShdw sx="100000" sy="100000" kx="0" ky="0" algn="bl" rotWithShape="0" blurRad="177800" dist="50800" dir="2700000">
              <a:srgbClr val="000000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02336" y="201168"/>
            <a:ext cx="8339328" cy="731520"/>
          </a:xfrm>
          <a:prstGeom prst="roundRect">
            <a:avLst>
              <a:gd name="adj" fmla="val 12500"/>
            </a:avLst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658368"/>
            <a:ext cx="8339328" cy="274320"/>
          </a:xfrm>
          <a:prstGeom prst="rect">
            <a:avLst/>
          </a:prstGeom>
          <a:solidFill>
            <a:srgbClr val="1A3A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37744"/>
            <a:ext cx="7973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Virtue Lens: Service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5216" y="1042416"/>
            <a:ext cx="7973568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good questions is a form of SERVICE.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historian asks 'Whose voice is missing from this account?' — they are serving the people whose stories were left out.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historian asks 'Why did this event happen?' — they are serving everyone who deserves to understand the truth, not just a simple story.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ask 'Is this source primary or secondary?' — you are serving accuracy.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of asking honest, careful questions is one of the most important things a citizen can offer their community.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2336" y="4617720"/>
            <a:ext cx="8339328" cy="420624"/>
          </a:xfrm>
          <a:prstGeom prst="roundRect">
            <a:avLst>
              <a:gd name="adj" fmla="val 19565"/>
            </a:avLst>
          </a:prstGeom>
          <a:solidFill>
            <a:srgbClr val="1A8A7D">
              <a:alpha val="78000"/>
            </a:srgbClr>
          </a:solidFill>
          <a:ln w="19050">
            <a:solidFill>
              <a:srgbClr val="34B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617720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Chat: Which of the five historian questions do YOU find most interesting — and why?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1A3A8F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1A3A8F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These Five Questions Everywhere.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 — Whose voice? Who's missing?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57984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5798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— What happened? What is this evidence?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779776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7977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 — What order? What changed over time?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015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 — Where did this happen? Why does place matter?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1667"/>
            </a:avLst>
          </a:prstGeom>
          <a:solidFill>
            <a:srgbClr val="1A3A8F">
              <a:alpha val="12000"/>
            </a:srgbClr>
          </a:solidFill>
          <a:ln w="12700">
            <a:solidFill>
              <a:srgbClr val="2D5C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/ HOW? — What caused it? How did it unfold?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01498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6442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4754880"/>
            <a:ext cx="694944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3.01.03 — Asking Questions Like a Historian-Citizen</dc:title>
  <dc:subject>PptxGenJS Presentation</dc:subject>
  <dc:creator>PptxGenJS</dc:creator>
  <cp:lastModifiedBy>PptxGenJS</cp:lastModifiedBy>
  <cp:revision>1</cp:revision>
  <dcterms:created xsi:type="dcterms:W3CDTF">2026-07-06T22:57:35Z</dcterms:created>
  <dcterms:modified xsi:type="dcterms:W3CDTF">2026-07-06T22:57:35Z</dcterms:modified>
</cp:coreProperties>
</file>