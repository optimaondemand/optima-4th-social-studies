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historians. Today we examine what historians call sources — the evidence that tells us what happened in the past. Two big categories: primary and secondary. By the end, you'll be able to sort any source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aloud slowly. After: 'Both historians are right AND wrong. Today you'll understand why — and you'll never confuse a primary source from a secondary one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read both definitions aloud (call on volunteers). Ask: 'Why do you think historians use BOTH types?' Don't answer yet — let them wonder. Move to examples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exhibit. For the letter: 'Who wrote this? A person living in 1492. Were they there when it happened? Yes.' For the coin: 'Made in Rome — during Roman times.' For the painting: 'The artist stood on a battlefield and painted what they saw.' Ask: 'What do all three have in common?' (Made at the time, by someone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'None of these people WERE THERE. Your textbook author wasn't alive in 1776. The documentary filmmaker wasn't born in 1941. But they studied lots of primary sources and put the story together.' Ask: 'Can a secondary source ever be wrong?' Yes — because it depends on which primary sources the author chose to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item slowly. After each: 'Hands up... and down.' Items 1,3,5 = primary. Items 2,4,6 = secondary. If students get confused on item 5 (Lincoln's speech): 'Lincoln himself spoke those words. He was there — it's primary!' After: 'You just sorted 6 sources in 2 minutes. You are ready to work like historians.'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tricky cases are where most students — and even some adults — make mistakes. Walk through each one. The key insight: it's not about AGE, it's about WHO made it and WHEN relative to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Breakout rooms 3-4 students, 3 minutes. Groups sort the 5 sources and prepare a 1-sentence explanation for their hardest call. Answers: 1-Primary, 2-Secondary, 3-Primary, 4-Secondary, 5-Primary. The radio broadcast (5) is tricky — it was recorded in real time during the event. It counts as primary.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in chat, not aloud. Read 3-4 responses. Bridge: 'This is exactly the challenge historians face every day — they must evaluate not just WHAT a source says, but WHO said it and HOW they knew.'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 high note. Students should feel confident. The preview task is optional but engaging — good for students who want to go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621792" cy="5148072"/>
          </a:xfrm>
          <a:prstGeom prst="rect">
            <a:avLst/>
          </a:prstGeom>
          <a:solidFill>
            <a:srgbClr val="FFFFFF">
              <a:alpha val="7000"/>
            </a:srgbClr>
          </a:solidFill>
          <a:ln w="12700">
            <a:solidFill>
              <a:srgbClr val="333333"/>
            </a:solidFill>
            <a:prstDash val="solid"/>
          </a:ln>
        </p:spPr>
      </p:sp>
      <p:sp>
        <p:nvSpPr>
          <p:cNvPr id="3" name="Shape 1"/>
          <p:cNvSpPr/>
          <p:nvPr/>
        </p:nvSpPr>
        <p:spPr>
          <a:xfrm>
            <a:off x="8522208" y="0"/>
            <a:ext cx="621792" cy="5148072"/>
          </a:xfrm>
          <a:prstGeom prst="rect">
            <a:avLst/>
          </a:prstGeom>
          <a:solidFill>
            <a:srgbClr val="FFFFFF">
              <a:alpha val="7000"/>
            </a:srgbClr>
          </a:solidFill>
          <a:ln w="12700">
            <a:solidFill>
              <a:srgbClr val="333333"/>
            </a:solidFill>
            <a:prstDash val="solid"/>
          </a:ln>
        </p:spPr>
      </p:sp>
      <p:sp>
        <p:nvSpPr>
          <p:cNvPr id="4" name="Shape 2"/>
          <p:cNvSpPr/>
          <p:nvPr/>
        </p:nvSpPr>
        <p:spPr>
          <a:xfrm>
            <a:off x="0" y="0"/>
            <a:ext cx="9144000" cy="50292"/>
          </a:xfrm>
          <a:prstGeom prst="rect">
            <a:avLst/>
          </a:prstGeom>
          <a:solidFill>
            <a:srgbClr val="9B1C2E"/>
          </a:solidFill>
          <a:ln w="12700">
            <a:solidFill>
              <a:srgbClr val="333333"/>
            </a:solidFill>
            <a:prstDash val="solid"/>
          </a:ln>
        </p:spPr>
      </p:sp>
      <p:sp>
        <p:nvSpPr>
          <p:cNvPr id="5" name="Shape 3"/>
          <p:cNvSpPr/>
          <p:nvPr/>
        </p:nvSpPr>
        <p:spPr>
          <a:xfrm>
            <a:off x="0" y="5093208"/>
            <a:ext cx="9144000" cy="54864"/>
          </a:xfrm>
          <a:prstGeom prst="rect">
            <a:avLst/>
          </a:prstGeom>
          <a:solidFill>
            <a:srgbClr val="9B1C2E"/>
          </a:solidFill>
          <a:ln w="12700">
            <a:solidFill>
              <a:srgbClr val="333333"/>
            </a:solidFill>
            <a:prstDash val="solid"/>
          </a:ln>
        </p:spPr>
      </p:sp>
      <p:sp>
        <p:nvSpPr>
          <p:cNvPr id="6" name="Shape 4"/>
          <p:cNvSpPr/>
          <p:nvPr/>
        </p:nvSpPr>
        <p:spPr>
          <a:xfrm>
            <a:off x="1005840" y="365760"/>
            <a:ext cx="7132320" cy="4023360"/>
          </a:xfrm>
          <a:prstGeom prst="ellipse">
            <a:avLst/>
          </a:prstGeom>
          <a:solidFill>
            <a:srgbClr val="9B1C2E">
              <a:alpha val="17000"/>
            </a:srgbClr>
          </a:solidFill>
          <a:ln w="12700">
            <a:solidFill>
              <a:srgbClr val="333333"/>
            </a:solidFill>
            <a:prstDash val="solid"/>
          </a:ln>
        </p:spPr>
      </p:sp>
      <p:sp>
        <p:nvSpPr>
          <p:cNvPr id="7" name="Shape 5"/>
          <p:cNvSpPr/>
          <p:nvPr/>
        </p:nvSpPr>
        <p:spPr>
          <a:xfrm>
            <a:off x="2574950" y="1250899"/>
            <a:ext cx="3994099" cy="2253082"/>
          </a:xfrm>
          <a:prstGeom prst="ellipse">
            <a:avLst/>
          </a:prstGeom>
          <a:solidFill>
            <a:srgbClr val="9B1C2E">
              <a:alpha val="27000"/>
            </a:srgbClr>
          </a:solidFill>
          <a:ln w="12700">
            <a:solidFill>
              <a:srgbClr val="333333"/>
            </a:solidFill>
            <a:prstDash val="solid"/>
          </a:ln>
        </p:spPr>
      </p:sp>
      <p:sp>
        <p:nvSpPr>
          <p:cNvPr id="8" name="Shape 6"/>
          <p:cNvSpPr/>
          <p:nvPr/>
        </p:nvSpPr>
        <p:spPr>
          <a:xfrm>
            <a:off x="2011680" y="182880"/>
            <a:ext cx="5120640" cy="475488"/>
          </a:xfrm>
          <a:prstGeom prst="roundRect">
            <a:avLst>
              <a:gd name="adj" fmla="val 13462"/>
            </a:avLst>
          </a:prstGeom>
          <a:solidFill>
            <a:srgbClr val="9B1C2E">
              <a:alpha val="18000"/>
            </a:srgbClr>
          </a:solidFill>
          <a:ln w="12700">
            <a:solidFill>
              <a:srgbClr val="9B1C2E"/>
            </a:solidFill>
            <a:prstDash val="solid"/>
          </a:ln>
        </p:spPr>
      </p:sp>
      <p:sp>
        <p:nvSpPr>
          <p:cNvPr id="9" name="Text 7"/>
          <p:cNvSpPr/>
          <p:nvPr/>
        </p:nvSpPr>
        <p:spPr>
          <a:xfrm>
            <a:off x="2011680" y="182880"/>
            <a:ext cx="5120640" cy="475488"/>
          </a:xfrm>
          <a:prstGeom prst="rect">
            <a:avLst/>
          </a:prstGeom>
          <a:noFill/>
          <a:ln/>
        </p:spPr>
        <p:txBody>
          <a:bodyPr wrap="square" lIns="0" tIns="0" rIns="0" bIns="0" rtlCol="0" anchor="ctr"/>
          <a:lstStyle/>
          <a:p>
            <a:pPr algn="ctr" indent="0" marL="0">
              <a:buNone/>
            </a:pPr>
            <a:r>
              <a:rPr lang="en-US" sz="1000" b="1" spc="250" kern="0" dirty="0">
                <a:solidFill>
                  <a:srgbClr val="9B1C2E"/>
                </a:solidFill>
                <a:latin typeface="Calibri" pitchFamily="34" charset="0"/>
                <a:ea typeface="Calibri" pitchFamily="34" charset="-122"/>
                <a:cs typeface="Calibri" pitchFamily="34" charset="-120"/>
              </a:rPr>
              <a:t>CURATOR TRAINING HALL  ·  UNIT 1  ·  WEEK 1</a:t>
            </a:r>
            <a:endParaRPr lang="en-US" sz="1000" dirty="0"/>
          </a:p>
        </p:txBody>
      </p:sp>
      <p:sp>
        <p:nvSpPr>
          <p:cNvPr id="10" name="Text 8"/>
          <p:cNvSpPr/>
          <p:nvPr/>
        </p:nvSpPr>
        <p:spPr>
          <a:xfrm>
            <a:off x="914400" y="804672"/>
            <a:ext cx="7315200" cy="2651760"/>
          </a:xfrm>
          <a:prstGeom prst="rect">
            <a:avLst/>
          </a:prstGeom>
          <a:noFill/>
          <a:ln/>
        </p:spPr>
        <p:txBody>
          <a:bodyPr wrap="square" lIns="0" tIns="0" rIns="0" bIns="0" rtlCol="0" anchor="ctr"/>
          <a:lstStyle/>
          <a:p>
            <a:pPr algn="ctr" indent="0" marL="0">
              <a:lnSpc>
                <a:spcPct val="110000"/>
              </a:lnSpc>
              <a:buNone/>
            </a:pPr>
            <a:r>
              <a:rPr lang="en-US" sz="5400" b="1" dirty="0">
                <a:solidFill>
                  <a:srgbClr val="FFFFFF"/>
                </a:solidFill>
                <a:latin typeface="Cambria" pitchFamily="34" charset="0"/>
                <a:ea typeface="Cambria" pitchFamily="34" charset="-122"/>
                <a:cs typeface="Cambria" pitchFamily="34" charset="-120"/>
              </a:rPr>
              <a:t>Primary and</a:t>
            </a:r>
            <a:endParaRPr lang="en-US" sz="5400" dirty="0"/>
          </a:p>
          <a:p>
            <a:pPr algn="ctr" indent="0" marL="0">
              <a:lnSpc>
                <a:spcPct val="110000"/>
              </a:lnSpc>
              <a:buNone/>
            </a:pPr>
            <a:r>
              <a:rPr lang="en-US" sz="5400" b="1" dirty="0">
                <a:solidFill>
                  <a:srgbClr val="FFFFFF"/>
                </a:solidFill>
                <a:latin typeface="Cambria" pitchFamily="34" charset="0"/>
                <a:ea typeface="Cambria" pitchFamily="34" charset="-122"/>
                <a:cs typeface="Cambria" pitchFamily="34" charset="-120"/>
              </a:rPr>
              <a:t>Secondary</a:t>
            </a:r>
            <a:endParaRPr lang="en-US" sz="5400" dirty="0"/>
          </a:p>
          <a:p>
            <a:pPr algn="ctr" indent="0" marL="0">
              <a:lnSpc>
                <a:spcPct val="110000"/>
              </a:lnSpc>
              <a:buNone/>
            </a:pPr>
            <a:r>
              <a:rPr lang="en-US" sz="5400" b="1" dirty="0">
                <a:solidFill>
                  <a:srgbClr val="FFFFFF"/>
                </a:solidFill>
                <a:latin typeface="Cambria" pitchFamily="34" charset="0"/>
                <a:ea typeface="Cambria" pitchFamily="34" charset="-122"/>
                <a:cs typeface="Cambria" pitchFamily="34" charset="-120"/>
              </a:rPr>
              <a:t>Sources</a:t>
            </a:r>
            <a:endParaRPr lang="en-US" sz="5400" dirty="0"/>
          </a:p>
        </p:txBody>
      </p:sp>
      <p:sp>
        <p:nvSpPr>
          <p:cNvPr id="11" name="Text 9"/>
          <p:cNvSpPr/>
          <p:nvPr/>
        </p:nvSpPr>
        <p:spPr>
          <a:xfrm>
            <a:off x="1371600" y="3547872"/>
            <a:ext cx="6400800" cy="347472"/>
          </a:xfrm>
          <a:prstGeom prst="rect">
            <a:avLst/>
          </a:prstGeom>
          <a:noFill/>
          <a:ln/>
        </p:spPr>
        <p:txBody>
          <a:bodyPr wrap="square" lIns="0" tIns="0" rIns="0" bIns="0" rtlCol="0" anchor="ctr"/>
          <a:lstStyle/>
          <a:p>
            <a:pPr algn="ctr" indent="0" marL="0">
              <a:buNone/>
            </a:pPr>
            <a:r>
              <a:rPr lang="en-US" sz="1250" dirty="0">
                <a:solidFill>
                  <a:srgbClr val="9B1C2E"/>
                </a:solidFill>
                <a:latin typeface="Calibri" pitchFamily="34" charset="0"/>
                <a:ea typeface="Calibri" pitchFamily="34" charset="-122"/>
                <a:cs typeface="Calibri" pitchFamily="34" charset="-120"/>
              </a:rPr>
              <a:t>Lesson 3.01.02  ·  3rd Grade Social Studies</a:t>
            </a:r>
            <a:endParaRPr lang="en-US" sz="1250" dirty="0"/>
          </a:p>
        </p:txBody>
      </p:sp>
      <p:sp>
        <p:nvSpPr>
          <p:cNvPr id="12" name="Shape 10"/>
          <p:cNvSpPr/>
          <p:nvPr/>
        </p:nvSpPr>
        <p:spPr>
          <a:xfrm>
            <a:off x="2560320" y="3977640"/>
            <a:ext cx="4023360" cy="566928"/>
          </a:xfrm>
          <a:prstGeom prst="roundRect">
            <a:avLst>
              <a:gd name="adj" fmla="val 16129"/>
            </a:avLst>
          </a:prstGeom>
          <a:solidFill>
            <a:srgbClr val="9B1C2E">
              <a:alpha val="20000"/>
            </a:srgbClr>
          </a:solidFill>
          <a:ln w="19050">
            <a:solidFill>
              <a:srgbClr val="9B1C2E"/>
            </a:solidFill>
            <a:prstDash val="solid"/>
          </a:ln>
        </p:spPr>
      </p:sp>
      <p:sp>
        <p:nvSpPr>
          <p:cNvPr id="13" name="Text 11"/>
          <p:cNvSpPr/>
          <p:nvPr/>
        </p:nvSpPr>
        <p:spPr>
          <a:xfrm>
            <a:off x="2560320" y="3977640"/>
            <a:ext cx="40233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Source Study  ·  Virtue: Honesty</a:t>
            </a:r>
            <a:endParaRPr lang="en-US" sz="1200" dirty="0"/>
          </a:p>
        </p:txBody>
      </p:sp>
      <p:sp>
        <p:nvSpPr>
          <p:cNvPr id="14" name="Shape 12"/>
          <p:cNvSpPr/>
          <p:nvPr/>
        </p:nvSpPr>
        <p:spPr>
          <a:xfrm>
            <a:off x="923544" y="4736592"/>
            <a:ext cx="164592" cy="256032"/>
          </a:xfrm>
          <a:prstGeom prst="ellipse">
            <a:avLst/>
          </a:prstGeom>
          <a:solidFill>
            <a:srgbClr val="C8A84B"/>
          </a:solidFill>
          <a:ln w="12700">
            <a:solidFill>
              <a:srgbClr val="333333"/>
            </a:solidFill>
            <a:prstDash val="solid"/>
          </a:ln>
        </p:spPr>
      </p:sp>
      <p:sp>
        <p:nvSpPr>
          <p:cNvPr id="15" name="Shape 13"/>
          <p:cNvSpPr/>
          <p:nvPr/>
        </p:nvSpPr>
        <p:spPr>
          <a:xfrm>
            <a:off x="8055864" y="4736592"/>
            <a:ext cx="164592" cy="256032"/>
          </a:xfrm>
          <a:prstGeom prst="ellipse">
            <a:avLst/>
          </a:prstGeom>
          <a:solidFill>
            <a:srgbClr val="C8A84B"/>
          </a:solidFill>
          <a:ln w="12700">
            <a:solidFill>
              <a:srgbClr val="333333"/>
            </a:solidFill>
            <a:prstDash val="solid"/>
          </a:ln>
        </p:spPr>
      </p:sp>
      <p:sp>
        <p:nvSpPr>
          <p:cNvPr id="16" name="Shape 14"/>
          <p:cNvSpPr/>
          <p:nvPr/>
        </p:nvSpPr>
        <p:spPr>
          <a:xfrm>
            <a:off x="1005840" y="4864608"/>
            <a:ext cx="7132320" cy="0"/>
          </a:xfrm>
          <a:prstGeom prst="line">
            <a:avLst/>
          </a:prstGeom>
          <a:noFill/>
          <a:ln w="31750">
            <a:solidFill>
              <a:srgbClr val="C8A84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DD8"/>
        </a:solidFill>
      </p:bgPr>
    </p:bg>
    <p:spTree>
      <p:nvGrpSpPr>
        <p:cNvPr id="1" name=""/>
        <p:cNvGrpSpPr/>
        <p:nvPr/>
      </p:nvGrpSpPr>
      <p:grpSpPr>
        <a:xfrm>
          <a:off x="0" y="0"/>
          <a:ext cx="0" cy="0"/>
          <a:chOff x="0" y="0"/>
          <a:chExt cx="0" cy="0"/>
        </a:xfrm>
      </p:grpSpPr>
      <p:sp>
        <p:nvSpPr>
          <p:cNvPr id="2" name="Shape 0"/>
          <p:cNvSpPr/>
          <p:nvPr/>
        </p:nvSpPr>
        <p:spPr>
          <a:xfrm>
            <a:off x="457200" y="201168"/>
            <a:ext cx="8229600" cy="4736592"/>
          </a:xfrm>
          <a:prstGeom prst="roundRect">
            <a:avLst>
              <a:gd name="adj" fmla="val 1931"/>
            </a:avLst>
          </a:prstGeom>
          <a:solidFill>
            <a:srgbClr val="FFFFFF"/>
          </a:solidFill>
          <a:ln w="19050">
            <a:solidFill>
              <a:srgbClr val="B87A2A"/>
            </a:solidFill>
            <a:prstDash val="solid"/>
          </a:ln>
          <a:effectLst>
            <a:outerShdw sx="100000" sy="100000" kx="0" ky="0" algn="bl" rotWithShape="0" blurRad="177800" dist="50800" dir="2700000">
              <a:srgbClr val="000000">
                <a:alpha val="22000"/>
              </a:srgbClr>
            </a:outerShdw>
          </a:effectLst>
        </p:spPr>
      </p:sp>
      <p:sp>
        <p:nvSpPr>
          <p:cNvPr id="3" name="Shape 1"/>
          <p:cNvSpPr/>
          <p:nvPr/>
        </p:nvSpPr>
        <p:spPr>
          <a:xfrm>
            <a:off x="457200" y="201168"/>
            <a:ext cx="8229600" cy="804672"/>
          </a:xfrm>
          <a:prstGeom prst="roundRect">
            <a:avLst>
              <a:gd name="adj" fmla="val 11364"/>
            </a:avLst>
          </a:prstGeom>
          <a:solidFill>
            <a:srgbClr val="9B1C2E"/>
          </a:solidFill>
          <a:ln w="12700">
            <a:solidFill>
              <a:srgbClr val="333333"/>
            </a:solidFill>
            <a:prstDash val="solid"/>
          </a:ln>
        </p:spPr>
      </p:sp>
      <p:sp>
        <p:nvSpPr>
          <p:cNvPr id="4" name="Shape 2"/>
          <p:cNvSpPr/>
          <p:nvPr/>
        </p:nvSpPr>
        <p:spPr>
          <a:xfrm>
            <a:off x="457200" y="658368"/>
            <a:ext cx="8229600" cy="347472"/>
          </a:xfrm>
          <a:prstGeom prst="rect">
            <a:avLst/>
          </a:prstGeom>
          <a:solidFill>
            <a:srgbClr val="9B1C2E"/>
          </a:solidFill>
          <a:ln w="12700">
            <a:solidFill>
              <a:srgbClr val="333333"/>
            </a:solidFill>
            <a:prstDash val="solid"/>
          </a:ln>
        </p:spPr>
      </p:sp>
      <p:sp>
        <p:nvSpPr>
          <p:cNvPr id="5" name="Text 3"/>
          <p:cNvSpPr/>
          <p:nvPr/>
        </p:nvSpPr>
        <p:spPr>
          <a:xfrm>
            <a:off x="640080" y="237744"/>
            <a:ext cx="7315200" cy="73152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The Archivist's Challenge</a:t>
            </a:r>
            <a:endParaRPr lang="en-US" sz="2200" dirty="0"/>
          </a:p>
        </p:txBody>
      </p:sp>
      <p:sp>
        <p:nvSpPr>
          <p:cNvPr id="6" name="Text 4"/>
          <p:cNvSpPr/>
          <p:nvPr/>
        </p:nvSpPr>
        <p:spPr>
          <a:xfrm>
            <a:off x="658368" y="1115568"/>
            <a:ext cx="7827264" cy="3657600"/>
          </a:xfrm>
          <a:prstGeom prst="rect">
            <a:avLst/>
          </a:prstGeom>
          <a:noFill/>
          <a:ln/>
        </p:spPr>
        <p:txBody>
          <a:bodyPr wrap="square" rtlCol="0" anchor="t"/>
          <a:lstStyle/>
          <a:p>
            <a:pPr algn="l" indent="0" marL="0">
              <a:lnSpc>
                <a:spcPct val="150000"/>
              </a:lnSpc>
              <a:buNone/>
            </a:pPr>
            <a:r>
              <a:rPr lang="en-US" sz="1350" dirty="0">
                <a:solidFill>
                  <a:srgbClr val="3A4A6B"/>
                </a:solidFill>
                <a:latin typeface="Calibri" pitchFamily="34" charset="0"/>
                <a:ea typeface="Calibri" pitchFamily="34" charset="-122"/>
                <a:cs typeface="Calibri" pitchFamily="34" charset="-120"/>
              </a:rPr>
              <a:t>Two historians are arguing.</a:t>
            </a:r>
            <a:endParaRPr lang="en-US" sz="1350" dirty="0"/>
          </a:p>
          <a:p>
            <a:pPr algn="l" indent="0" marL="0">
              <a:lnSpc>
                <a:spcPct val="150000"/>
              </a:lnSpc>
              <a:buNone/>
            </a:pPr>
            <a:endParaRPr lang="en-US" sz="1350" dirty="0"/>
          </a:p>
          <a:p>
            <a:pPr algn="l" indent="0" marL="0">
              <a:lnSpc>
                <a:spcPct val="150000"/>
              </a:lnSpc>
              <a:buNone/>
            </a:pPr>
            <a:r>
              <a:rPr lang="en-US" sz="1350" dirty="0">
                <a:solidFill>
                  <a:srgbClr val="3A4A6B"/>
                </a:solidFill>
                <a:latin typeface="Calibri" pitchFamily="34" charset="0"/>
                <a:ea typeface="Calibri" pitchFamily="34" charset="-122"/>
                <a:cs typeface="Calibri" pitchFamily="34" charset="-120"/>
              </a:rPr>
              <a:t>Historian A holds a photograph taken at a Civil Rights march in 1965 by someone who was there.</a:t>
            </a:r>
            <a:endParaRPr lang="en-US" sz="1350" dirty="0"/>
          </a:p>
          <a:p>
            <a:pPr algn="l" indent="0" marL="0">
              <a:lnSpc>
                <a:spcPct val="150000"/>
              </a:lnSpc>
              <a:buNone/>
            </a:pPr>
            <a:endParaRPr lang="en-US" sz="1350" dirty="0"/>
          </a:p>
          <a:p>
            <a:pPr algn="l" indent="0" marL="0">
              <a:lnSpc>
                <a:spcPct val="150000"/>
              </a:lnSpc>
              <a:buNone/>
            </a:pPr>
            <a:r>
              <a:rPr lang="en-US" sz="1350" dirty="0">
                <a:solidFill>
                  <a:srgbClr val="3A4A6B"/>
                </a:solidFill>
                <a:latin typeface="Calibri" pitchFamily="34" charset="0"/>
                <a:ea typeface="Calibri" pitchFamily="34" charset="-122"/>
                <a:cs typeface="Calibri" pitchFamily="34" charset="-120"/>
              </a:rPr>
              <a:t>Historian B holds a book written in 2010 by a professor who spent years researching the same march.</a:t>
            </a:r>
            <a:endParaRPr lang="en-US" sz="1350" dirty="0"/>
          </a:p>
          <a:p>
            <a:pPr algn="l" indent="0" marL="0">
              <a:lnSpc>
                <a:spcPct val="150000"/>
              </a:lnSpc>
              <a:buNone/>
            </a:pPr>
            <a:endParaRPr lang="en-US" sz="1350" dirty="0"/>
          </a:p>
          <a:p>
            <a:pPr algn="l" indent="0" marL="0">
              <a:lnSpc>
                <a:spcPct val="150000"/>
              </a:lnSpc>
              <a:buNone/>
            </a:pPr>
            <a:r>
              <a:rPr lang="en-US" sz="1350" dirty="0">
                <a:solidFill>
                  <a:srgbClr val="3A4A6B"/>
                </a:solidFill>
                <a:latin typeface="Calibri" pitchFamily="34" charset="0"/>
                <a:ea typeface="Calibri" pitchFamily="34" charset="-122"/>
                <a:cs typeface="Calibri" pitchFamily="34" charset="-120"/>
              </a:rPr>
              <a:t>Historian A says: 'My source is better — it's real! It was there!'</a:t>
            </a:r>
            <a:endParaRPr lang="en-US" sz="1350" dirty="0"/>
          </a:p>
          <a:p>
            <a:pPr algn="l" indent="0" marL="0">
              <a:lnSpc>
                <a:spcPct val="150000"/>
              </a:lnSpc>
              <a:buNone/>
            </a:pPr>
            <a:r>
              <a:rPr lang="en-US" sz="1350" dirty="0">
                <a:solidFill>
                  <a:srgbClr val="3A4A6B"/>
                </a:solidFill>
                <a:latin typeface="Calibri" pitchFamily="34" charset="0"/>
                <a:ea typeface="Calibri" pitchFamily="34" charset="-122"/>
                <a:cs typeface="Calibri" pitchFamily="34" charset="-120"/>
              </a:rPr>
              <a:t>Historian B says: 'My source is better — it has more complete information!'</a:t>
            </a:r>
            <a:endParaRPr lang="en-US" sz="1350" dirty="0"/>
          </a:p>
          <a:p>
            <a:pPr algn="l" indent="0" marL="0">
              <a:lnSpc>
                <a:spcPct val="150000"/>
              </a:lnSpc>
              <a:buNone/>
            </a:pPr>
            <a:endParaRPr lang="en-US" sz="1350" dirty="0"/>
          </a:p>
          <a:p>
            <a:pPr algn="l" indent="0" marL="0">
              <a:lnSpc>
                <a:spcPct val="150000"/>
              </a:lnSpc>
              <a:buNone/>
            </a:pPr>
            <a:r>
              <a:rPr lang="en-US" sz="1350" dirty="0">
                <a:solidFill>
                  <a:srgbClr val="3A4A6B"/>
                </a:solidFill>
                <a:latin typeface="Calibri" pitchFamily="34" charset="0"/>
                <a:ea typeface="Calibri" pitchFamily="34" charset="-122"/>
                <a:cs typeface="Calibri" pitchFamily="34" charset="-120"/>
              </a:rPr>
              <a:t>Who is right?</a:t>
            </a:r>
            <a:endParaRPr lang="en-US" sz="1350" dirty="0"/>
          </a:p>
          <a:p>
            <a:pPr algn="l" indent="0" marL="0">
              <a:lnSpc>
                <a:spcPct val="150000"/>
              </a:lnSpc>
              <a:buNone/>
            </a:pPr>
            <a:endParaRPr lang="en-US" sz="1350" dirty="0"/>
          </a:p>
          <a:p>
            <a:pPr algn="l" indent="0" marL="0">
              <a:lnSpc>
                <a:spcPct val="150000"/>
              </a:lnSpc>
              <a:buNone/>
            </a:pPr>
            <a:r>
              <a:rPr lang="en-US" sz="1350" dirty="0">
                <a:solidFill>
                  <a:srgbClr val="3A4A6B"/>
                </a:solidFill>
                <a:latin typeface="Calibri" pitchFamily="34" charset="0"/>
                <a:ea typeface="Calibri" pitchFamily="34" charset="-122"/>
                <a:cs typeface="Calibri" pitchFamily="34" charset="-120"/>
              </a:rPr>
              <a:t>...Actually, they're asking the wrong question. Both sources are valuable. They just need different labels.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01F"/>
        </a:solidFill>
      </p:bgPr>
    </p:bg>
    <p:spTree>
      <p:nvGrpSpPr>
        <p:cNvPr id="1" name=""/>
        <p:cNvGrpSpPr/>
        <p:nvPr/>
      </p:nvGrpSpPr>
      <p:grpSpPr>
        <a:xfrm>
          <a:off x="0" y="0"/>
          <a:ext cx="0" cy="0"/>
          <a:chOff x="0" y="0"/>
          <a:chExt cx="0" cy="0"/>
        </a:xfrm>
      </p:grpSpPr>
      <p:sp>
        <p:nvSpPr>
          <p:cNvPr id="2" name="Shape 0"/>
          <p:cNvSpPr/>
          <p:nvPr/>
        </p:nvSpPr>
        <p:spPr>
          <a:xfrm>
            <a:off x="274320" y="731520"/>
            <a:ext cx="4572000" cy="3657600"/>
          </a:xfrm>
          <a:prstGeom prst="ellipse">
            <a:avLst/>
          </a:prstGeom>
          <a:solidFill>
            <a:srgbClr val="9B1C2E">
              <a:alpha val="17000"/>
            </a:srgbClr>
          </a:solidFill>
          <a:ln w="12700">
            <a:solidFill>
              <a:srgbClr val="333333"/>
            </a:solidFill>
            <a:prstDash val="solid"/>
          </a:ln>
        </p:spPr>
      </p:sp>
      <p:sp>
        <p:nvSpPr>
          <p:cNvPr id="3" name="Shape 1"/>
          <p:cNvSpPr/>
          <p:nvPr/>
        </p:nvSpPr>
        <p:spPr>
          <a:xfrm>
            <a:off x="1280160" y="1536192"/>
            <a:ext cx="2560320" cy="2048256"/>
          </a:xfrm>
          <a:prstGeom prst="ellipse">
            <a:avLst/>
          </a:prstGeom>
          <a:solidFill>
            <a:srgbClr val="9B1C2E">
              <a:alpha val="27000"/>
            </a:srgbClr>
          </a:solidFill>
          <a:ln w="12700">
            <a:solidFill>
              <a:srgbClr val="333333"/>
            </a:solidFill>
            <a:prstDash val="solid"/>
          </a:ln>
        </p:spPr>
      </p:sp>
      <p:sp>
        <p:nvSpPr>
          <p:cNvPr id="4" name="Shape 2"/>
          <p:cNvSpPr/>
          <p:nvPr/>
        </p:nvSpPr>
        <p:spPr>
          <a:xfrm>
            <a:off x="4297680" y="731520"/>
            <a:ext cx="4572000" cy="3657600"/>
          </a:xfrm>
          <a:prstGeom prst="ellipse">
            <a:avLst/>
          </a:prstGeom>
          <a:solidFill>
            <a:srgbClr val="1A8A7D">
              <a:alpha val="17000"/>
            </a:srgbClr>
          </a:solidFill>
          <a:ln w="12700">
            <a:solidFill>
              <a:srgbClr val="333333"/>
            </a:solidFill>
            <a:prstDash val="solid"/>
          </a:ln>
        </p:spPr>
      </p:sp>
      <p:sp>
        <p:nvSpPr>
          <p:cNvPr id="5" name="Shape 3"/>
          <p:cNvSpPr/>
          <p:nvPr/>
        </p:nvSpPr>
        <p:spPr>
          <a:xfrm>
            <a:off x="5303520" y="1536192"/>
            <a:ext cx="2560320" cy="2048256"/>
          </a:xfrm>
          <a:prstGeom prst="ellipse">
            <a:avLst/>
          </a:prstGeom>
          <a:solidFill>
            <a:srgbClr val="1A8A7D">
              <a:alpha val="27000"/>
            </a:srgbClr>
          </a:solidFill>
          <a:ln w="12700">
            <a:solidFill>
              <a:srgbClr val="333333"/>
            </a:solidFill>
            <a:prstDash val="solid"/>
          </a:ln>
        </p:spPr>
      </p:sp>
      <p:sp>
        <p:nvSpPr>
          <p:cNvPr id="6" name="Text 4"/>
          <p:cNvSpPr/>
          <p:nvPr/>
        </p:nvSpPr>
        <p:spPr>
          <a:xfrm>
            <a:off x="457200" y="137160"/>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Two Kinds of Sources</a:t>
            </a:r>
            <a:endParaRPr lang="en-US" sz="2600" dirty="0"/>
          </a:p>
        </p:txBody>
      </p:sp>
      <p:sp>
        <p:nvSpPr>
          <p:cNvPr id="7" name="Shape 5"/>
          <p:cNvSpPr/>
          <p:nvPr/>
        </p:nvSpPr>
        <p:spPr>
          <a:xfrm>
            <a:off x="347472" y="694944"/>
            <a:ext cx="4078224" cy="4187952"/>
          </a:xfrm>
          <a:prstGeom prst="roundRect">
            <a:avLst>
              <a:gd name="adj" fmla="val 2691"/>
            </a:avLst>
          </a:prstGeom>
          <a:solidFill>
            <a:srgbClr val="1A0008">
              <a:alpha val="80000"/>
            </a:srgbClr>
          </a:solidFill>
          <a:ln w="31750">
            <a:solidFill>
              <a:srgbClr val="9B1C2E"/>
            </a:solidFill>
            <a:prstDash val="solid"/>
          </a:ln>
          <a:effectLst>
            <a:outerShdw sx="100000" sy="100000" kx="0" ky="0" algn="bl" rotWithShape="0" blurRad="177800" dist="50800" dir="2700000">
              <a:srgbClr val="000000">
                <a:alpha val="22000"/>
              </a:srgbClr>
            </a:outerShdw>
          </a:effectLst>
        </p:spPr>
      </p:sp>
      <p:sp>
        <p:nvSpPr>
          <p:cNvPr id="8" name="Text 6"/>
          <p:cNvSpPr/>
          <p:nvPr/>
        </p:nvSpPr>
        <p:spPr>
          <a:xfrm>
            <a:off x="438912" y="786384"/>
            <a:ext cx="3895344" cy="438912"/>
          </a:xfrm>
          <a:prstGeom prst="rect">
            <a:avLst/>
          </a:prstGeom>
          <a:noFill/>
          <a:ln/>
        </p:spPr>
        <p:txBody>
          <a:bodyPr wrap="square" lIns="0" tIns="0" rIns="0" bIns="0" rtlCol="0" anchor="ctr"/>
          <a:lstStyle/>
          <a:p>
            <a:pPr algn="ctr" indent="0" marL="0">
              <a:buNone/>
            </a:pPr>
            <a:r>
              <a:rPr lang="en-US" sz="1300" b="1" spc="200" kern="0" dirty="0">
                <a:solidFill>
                  <a:srgbClr val="9B1C2E"/>
                </a:solidFill>
                <a:latin typeface="Cambria" pitchFamily="34" charset="0"/>
                <a:ea typeface="Cambria" pitchFamily="34" charset="-122"/>
                <a:cs typeface="Cambria" pitchFamily="34" charset="-120"/>
              </a:rPr>
              <a:t>PRIMARY SOURCE</a:t>
            </a:r>
            <a:endParaRPr lang="en-US" sz="1300" dirty="0"/>
          </a:p>
        </p:txBody>
      </p:sp>
      <p:sp>
        <p:nvSpPr>
          <p:cNvPr id="9" name="Text 7"/>
          <p:cNvSpPr/>
          <p:nvPr/>
        </p:nvSpPr>
        <p:spPr>
          <a:xfrm>
            <a:off x="438912" y="1298448"/>
            <a:ext cx="3895344" cy="1005840"/>
          </a:xfrm>
          <a:prstGeom prst="rect">
            <a:avLst/>
          </a:prstGeom>
          <a:noFill/>
          <a:ln/>
        </p:spPr>
        <p:txBody>
          <a:bodyPr wrap="square" rtlCol="0" anchor="ctr"/>
          <a:lstStyle/>
          <a:p>
            <a:pPr algn="ctr" indent="0" marL="0">
              <a:buNone/>
            </a:pPr>
            <a:r>
              <a:rPr lang="en-US" sz="4800" dirty="0">
                <a:solidFill>
                  <a:srgbClr val="000000"/>
                </a:solidFill>
              </a:rPr>
              <a:t>📜</a:t>
            </a:r>
            <a:endParaRPr lang="en-US" sz="4800" dirty="0"/>
          </a:p>
        </p:txBody>
      </p:sp>
      <p:sp>
        <p:nvSpPr>
          <p:cNvPr id="10" name="Text 8"/>
          <p:cNvSpPr/>
          <p:nvPr/>
        </p:nvSpPr>
        <p:spPr>
          <a:xfrm>
            <a:off x="530352" y="2377440"/>
            <a:ext cx="3712464" cy="914400"/>
          </a:xfrm>
          <a:prstGeom prst="rect">
            <a:avLst/>
          </a:prstGeom>
          <a:noFill/>
          <a:ln/>
        </p:spPr>
        <p:txBody>
          <a:bodyPr wrap="square" rtlCol="0" anchor="ctr"/>
          <a:lstStyle/>
          <a:p>
            <a:pPr algn="ctr" indent="0" marL="0">
              <a:lnSpc>
                <a:spcPct val="135000"/>
              </a:lnSpc>
              <a:buNone/>
            </a:pPr>
            <a:r>
              <a:rPr lang="en-US" sz="1300" b="1" dirty="0">
                <a:solidFill>
                  <a:srgbClr val="FFFFFF"/>
                </a:solidFill>
                <a:latin typeface="Calibri" pitchFamily="34" charset="0"/>
                <a:ea typeface="Calibri" pitchFamily="34" charset="-122"/>
                <a:cs typeface="Calibri" pitchFamily="34" charset="-120"/>
              </a:rPr>
              <a:t>Created AT THE TIME</a:t>
            </a:r>
            <a:endParaRPr lang="en-US" sz="1300" dirty="0"/>
          </a:p>
          <a:p>
            <a:pPr algn="ctr" indent="0" marL="0">
              <a:lnSpc>
                <a:spcPct val="135000"/>
              </a:lnSpc>
              <a:buNone/>
            </a:pPr>
            <a:r>
              <a:rPr lang="en-US" sz="1300" b="1" dirty="0">
                <a:solidFill>
                  <a:srgbClr val="FFFFFF"/>
                </a:solidFill>
                <a:latin typeface="Calibri" pitchFamily="34" charset="0"/>
                <a:ea typeface="Calibri" pitchFamily="34" charset="-122"/>
                <a:cs typeface="Calibri" pitchFamily="34" charset="-120"/>
              </a:rPr>
              <a:t>of the event — by someone</a:t>
            </a:r>
            <a:endParaRPr lang="en-US" sz="1300" dirty="0"/>
          </a:p>
          <a:p>
            <a:pPr algn="ctr" indent="0" marL="0">
              <a:lnSpc>
                <a:spcPct val="135000"/>
              </a:lnSpc>
              <a:buNone/>
            </a:pPr>
            <a:r>
              <a:rPr lang="en-US" sz="1300" b="1" dirty="0">
                <a:solidFill>
                  <a:srgbClr val="FFFFFF"/>
                </a:solidFill>
                <a:latin typeface="Calibri" pitchFamily="34" charset="0"/>
                <a:ea typeface="Calibri" pitchFamily="34" charset="-122"/>
                <a:cs typeface="Calibri" pitchFamily="34" charset="-120"/>
              </a:rPr>
              <a:t>who was there.</a:t>
            </a:r>
            <a:endParaRPr lang="en-US" sz="1300" dirty="0"/>
          </a:p>
        </p:txBody>
      </p:sp>
      <p:sp>
        <p:nvSpPr>
          <p:cNvPr id="11" name="Text 9"/>
          <p:cNvSpPr/>
          <p:nvPr/>
        </p:nvSpPr>
        <p:spPr>
          <a:xfrm>
            <a:off x="530352" y="3364992"/>
            <a:ext cx="3712464" cy="804672"/>
          </a:xfrm>
          <a:prstGeom prst="rect">
            <a:avLst/>
          </a:prstGeom>
          <a:noFill/>
          <a:ln/>
        </p:spPr>
        <p:txBody>
          <a:bodyPr wrap="square" rtlCol="0" anchor="ctr"/>
          <a:lstStyle/>
          <a:p>
            <a:pPr algn="ctr" indent="0" marL="0">
              <a:lnSpc>
                <a:spcPct val="128000"/>
              </a:lnSpc>
              <a:buNone/>
            </a:pPr>
            <a:r>
              <a:rPr lang="en-US" sz="1150" dirty="0">
                <a:solidFill>
                  <a:srgbClr val="F5EDD8"/>
                </a:solidFill>
                <a:latin typeface="Calibri" pitchFamily="34" charset="0"/>
                <a:ea typeface="Calibri" pitchFamily="34" charset="-122"/>
                <a:cs typeface="Calibri" pitchFamily="34" charset="-120"/>
              </a:rPr>
              <a:t>• Diary  • Letter  • Photograph</a:t>
            </a:r>
            <a:endParaRPr lang="en-US" sz="1150" dirty="0"/>
          </a:p>
          <a:p>
            <a:pPr algn="ctr" indent="0" marL="0">
              <a:lnSpc>
                <a:spcPct val="128000"/>
              </a:lnSpc>
              <a:buNone/>
            </a:pPr>
            <a:r>
              <a:rPr lang="en-US" sz="1150" dirty="0">
                <a:solidFill>
                  <a:srgbClr val="F5EDD8"/>
                </a:solidFill>
                <a:latin typeface="Calibri" pitchFamily="34" charset="0"/>
                <a:ea typeface="Calibri" pitchFamily="34" charset="-122"/>
                <a:cs typeface="Calibri" pitchFamily="34" charset="-120"/>
              </a:rPr>
              <a:t>• Artifact  • Map  • Speech</a:t>
            </a:r>
            <a:endParaRPr lang="en-US" sz="1150" dirty="0"/>
          </a:p>
        </p:txBody>
      </p:sp>
      <p:sp>
        <p:nvSpPr>
          <p:cNvPr id="12" name="Shape 10"/>
          <p:cNvSpPr/>
          <p:nvPr/>
        </p:nvSpPr>
        <p:spPr>
          <a:xfrm>
            <a:off x="4718304" y="694944"/>
            <a:ext cx="4078224" cy="4187952"/>
          </a:xfrm>
          <a:prstGeom prst="roundRect">
            <a:avLst>
              <a:gd name="adj" fmla="val 2691"/>
            </a:avLst>
          </a:prstGeom>
          <a:solidFill>
            <a:srgbClr val="001A18">
              <a:alpha val="80000"/>
            </a:srgbClr>
          </a:solidFill>
          <a:ln w="31750">
            <a:solidFill>
              <a:srgbClr val="1A8A7D"/>
            </a:solidFill>
            <a:prstDash val="solid"/>
          </a:ln>
          <a:effectLst>
            <a:outerShdw sx="100000" sy="100000" kx="0" ky="0" algn="bl" rotWithShape="0" blurRad="177800" dist="50800" dir="2700000">
              <a:srgbClr val="000000">
                <a:alpha val="22000"/>
              </a:srgbClr>
            </a:outerShdw>
          </a:effectLst>
        </p:spPr>
      </p:sp>
      <p:sp>
        <p:nvSpPr>
          <p:cNvPr id="13" name="Text 11"/>
          <p:cNvSpPr/>
          <p:nvPr/>
        </p:nvSpPr>
        <p:spPr>
          <a:xfrm>
            <a:off x="4809744" y="786384"/>
            <a:ext cx="3895344" cy="438912"/>
          </a:xfrm>
          <a:prstGeom prst="rect">
            <a:avLst/>
          </a:prstGeom>
          <a:noFill/>
          <a:ln/>
        </p:spPr>
        <p:txBody>
          <a:bodyPr wrap="square" lIns="0" tIns="0" rIns="0" bIns="0" rtlCol="0" anchor="ctr"/>
          <a:lstStyle/>
          <a:p>
            <a:pPr algn="ctr" indent="0" marL="0">
              <a:buNone/>
            </a:pPr>
            <a:r>
              <a:rPr lang="en-US" sz="1300" b="1" spc="200" kern="0" dirty="0">
                <a:solidFill>
                  <a:srgbClr val="34B0A0"/>
                </a:solidFill>
                <a:latin typeface="Cambria" pitchFamily="34" charset="0"/>
                <a:ea typeface="Cambria" pitchFamily="34" charset="-122"/>
                <a:cs typeface="Cambria" pitchFamily="34" charset="-120"/>
              </a:rPr>
              <a:t>SECONDARY SOURCE</a:t>
            </a:r>
            <a:endParaRPr lang="en-US" sz="1300" dirty="0"/>
          </a:p>
        </p:txBody>
      </p:sp>
      <p:sp>
        <p:nvSpPr>
          <p:cNvPr id="14" name="Text 12"/>
          <p:cNvSpPr/>
          <p:nvPr/>
        </p:nvSpPr>
        <p:spPr>
          <a:xfrm>
            <a:off x="4809744" y="1298448"/>
            <a:ext cx="3895344" cy="1005840"/>
          </a:xfrm>
          <a:prstGeom prst="rect">
            <a:avLst/>
          </a:prstGeom>
          <a:noFill/>
          <a:ln/>
        </p:spPr>
        <p:txBody>
          <a:bodyPr wrap="square" rtlCol="0" anchor="ctr"/>
          <a:lstStyle/>
          <a:p>
            <a:pPr algn="ctr" indent="0" marL="0">
              <a:buNone/>
            </a:pPr>
            <a:r>
              <a:rPr lang="en-US" sz="4800" dirty="0">
                <a:solidFill>
                  <a:srgbClr val="000000"/>
                </a:solidFill>
              </a:rPr>
              <a:t>📚</a:t>
            </a:r>
            <a:endParaRPr lang="en-US" sz="4800" dirty="0"/>
          </a:p>
        </p:txBody>
      </p:sp>
      <p:sp>
        <p:nvSpPr>
          <p:cNvPr id="15" name="Text 13"/>
          <p:cNvSpPr/>
          <p:nvPr/>
        </p:nvSpPr>
        <p:spPr>
          <a:xfrm>
            <a:off x="4901184" y="2377440"/>
            <a:ext cx="3712464" cy="914400"/>
          </a:xfrm>
          <a:prstGeom prst="rect">
            <a:avLst/>
          </a:prstGeom>
          <a:noFill/>
          <a:ln/>
        </p:spPr>
        <p:txBody>
          <a:bodyPr wrap="square" rtlCol="0" anchor="ctr"/>
          <a:lstStyle/>
          <a:p>
            <a:pPr algn="ctr" indent="0" marL="0">
              <a:lnSpc>
                <a:spcPct val="135000"/>
              </a:lnSpc>
              <a:buNone/>
            </a:pPr>
            <a:r>
              <a:rPr lang="en-US" sz="1300" b="1" dirty="0">
                <a:solidFill>
                  <a:srgbClr val="FFFFFF"/>
                </a:solidFill>
                <a:latin typeface="Calibri" pitchFamily="34" charset="0"/>
                <a:ea typeface="Calibri" pitchFamily="34" charset="-122"/>
                <a:cs typeface="Calibri" pitchFamily="34" charset="-120"/>
              </a:rPr>
              <a:t>Created LATER — by someone</a:t>
            </a:r>
            <a:endParaRPr lang="en-US" sz="1300" dirty="0"/>
          </a:p>
          <a:p>
            <a:pPr algn="ctr" indent="0" marL="0">
              <a:lnSpc>
                <a:spcPct val="135000"/>
              </a:lnSpc>
              <a:buNone/>
            </a:pPr>
            <a:r>
              <a:rPr lang="en-US" sz="1300" b="1" dirty="0">
                <a:solidFill>
                  <a:srgbClr val="FFFFFF"/>
                </a:solidFill>
                <a:latin typeface="Calibri" pitchFamily="34" charset="0"/>
                <a:ea typeface="Calibri" pitchFamily="34" charset="-122"/>
                <a:cs typeface="Calibri" pitchFamily="34" charset="-120"/>
              </a:rPr>
              <a:t>who studied the event</a:t>
            </a:r>
            <a:endParaRPr lang="en-US" sz="1300" dirty="0"/>
          </a:p>
          <a:p>
            <a:pPr algn="ctr" indent="0" marL="0">
              <a:lnSpc>
                <a:spcPct val="135000"/>
              </a:lnSpc>
              <a:buNone/>
            </a:pPr>
            <a:r>
              <a:rPr lang="en-US" sz="1300" b="1" dirty="0">
                <a:solidFill>
                  <a:srgbClr val="FFFFFF"/>
                </a:solidFill>
                <a:latin typeface="Calibri" pitchFamily="34" charset="0"/>
                <a:ea typeface="Calibri" pitchFamily="34" charset="-122"/>
                <a:cs typeface="Calibri" pitchFamily="34" charset="-120"/>
              </a:rPr>
              <a:t>using other sources.</a:t>
            </a:r>
            <a:endParaRPr lang="en-US" sz="1300" dirty="0"/>
          </a:p>
        </p:txBody>
      </p:sp>
      <p:sp>
        <p:nvSpPr>
          <p:cNvPr id="16" name="Text 14"/>
          <p:cNvSpPr/>
          <p:nvPr/>
        </p:nvSpPr>
        <p:spPr>
          <a:xfrm>
            <a:off x="4901184" y="3364992"/>
            <a:ext cx="3712464" cy="804672"/>
          </a:xfrm>
          <a:prstGeom prst="rect">
            <a:avLst/>
          </a:prstGeom>
          <a:noFill/>
          <a:ln/>
        </p:spPr>
        <p:txBody>
          <a:bodyPr wrap="square" rtlCol="0" anchor="ctr"/>
          <a:lstStyle/>
          <a:p>
            <a:pPr algn="ctr" indent="0" marL="0">
              <a:lnSpc>
                <a:spcPct val="128000"/>
              </a:lnSpc>
              <a:buNone/>
            </a:pPr>
            <a:r>
              <a:rPr lang="en-US" sz="1150" dirty="0">
                <a:solidFill>
                  <a:srgbClr val="F5EDD8"/>
                </a:solidFill>
                <a:latin typeface="Calibri" pitchFamily="34" charset="0"/>
                <a:ea typeface="Calibri" pitchFamily="34" charset="-122"/>
                <a:cs typeface="Calibri" pitchFamily="34" charset="-120"/>
              </a:rPr>
              <a:t>• Textbook  • Documentary</a:t>
            </a:r>
            <a:endParaRPr lang="en-US" sz="1150" dirty="0"/>
          </a:p>
          <a:p>
            <a:pPr algn="ctr" indent="0" marL="0">
              <a:lnSpc>
                <a:spcPct val="128000"/>
              </a:lnSpc>
              <a:buNone/>
            </a:pPr>
            <a:r>
              <a:rPr lang="en-US" sz="1150" dirty="0">
                <a:solidFill>
                  <a:srgbClr val="F5EDD8"/>
                </a:solidFill>
                <a:latin typeface="Calibri" pitchFamily="34" charset="0"/>
                <a:ea typeface="Calibri" pitchFamily="34" charset="-122"/>
                <a:cs typeface="Calibri" pitchFamily="34" charset="-120"/>
              </a:rPr>
              <a:t>• Encyclopedia  • Museum exhibit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01F"/>
        </a:solidFill>
      </p:bgPr>
    </p:bg>
    <p:spTree>
      <p:nvGrpSpPr>
        <p:cNvPr id="1" name=""/>
        <p:cNvGrpSpPr/>
        <p:nvPr/>
      </p:nvGrpSpPr>
      <p:grpSpPr>
        <a:xfrm>
          <a:off x="0" y="0"/>
          <a:ext cx="0" cy="0"/>
          <a:chOff x="0" y="0"/>
          <a:chExt cx="0" cy="0"/>
        </a:xfrm>
      </p:grpSpPr>
      <p:sp>
        <p:nvSpPr>
          <p:cNvPr id="2" name="Shape 0"/>
          <p:cNvSpPr/>
          <p:nvPr/>
        </p:nvSpPr>
        <p:spPr>
          <a:xfrm>
            <a:off x="914400" y="-1828800"/>
            <a:ext cx="7315200" cy="4572000"/>
          </a:xfrm>
          <a:prstGeom prst="ellipse">
            <a:avLst/>
          </a:prstGeom>
          <a:solidFill>
            <a:srgbClr val="9B1C2E">
              <a:alpha val="12000"/>
            </a:srgbClr>
          </a:solidFill>
          <a:ln w="12700">
            <a:solidFill>
              <a:srgbClr val="333333"/>
            </a:solidFill>
            <a:prstDash val="solid"/>
          </a:ln>
        </p:spPr>
      </p:sp>
      <p:sp>
        <p:nvSpPr>
          <p:cNvPr id="3" name="Text 1"/>
          <p:cNvSpPr/>
          <p:nvPr/>
        </p:nvSpPr>
        <p:spPr>
          <a:xfrm>
            <a:off x="457200" y="128016"/>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Primary Source Gallery</a:t>
            </a:r>
            <a:endParaRPr lang="en-US" sz="2600" dirty="0"/>
          </a:p>
        </p:txBody>
      </p:sp>
      <p:sp>
        <p:nvSpPr>
          <p:cNvPr id="4" name="Text 2"/>
          <p:cNvSpPr/>
          <p:nvPr/>
        </p:nvSpPr>
        <p:spPr>
          <a:xfrm>
            <a:off x="731520" y="621792"/>
            <a:ext cx="7680960" cy="310896"/>
          </a:xfrm>
          <a:prstGeom prst="rect">
            <a:avLst/>
          </a:prstGeom>
          <a:noFill/>
          <a:ln/>
        </p:spPr>
        <p:txBody>
          <a:bodyPr wrap="square" lIns="0" tIns="0" rIns="0" bIns="0" rtlCol="0" anchor="ctr"/>
          <a:lstStyle/>
          <a:p>
            <a:pPr algn="ctr" indent="0" marL="0">
              <a:buNone/>
            </a:pPr>
            <a:r>
              <a:rPr lang="en-US" sz="1250" i="1" dirty="0">
                <a:solidFill>
                  <a:srgbClr val="C8A84B"/>
                </a:solidFill>
                <a:latin typeface="Calibri" pitchFamily="34" charset="0"/>
                <a:ea typeface="Calibri" pitchFamily="34" charset="-122"/>
                <a:cs typeface="Calibri" pitchFamily="34" charset="-120"/>
              </a:rPr>
              <a:t>Each of these was made AT THE TIME, by someone who was there.</a:t>
            </a:r>
            <a:endParaRPr lang="en-US" sz="1250" dirty="0"/>
          </a:p>
        </p:txBody>
      </p:sp>
      <p:sp>
        <p:nvSpPr>
          <p:cNvPr id="5" name="Shape 3"/>
          <p:cNvSpPr/>
          <p:nvPr/>
        </p:nvSpPr>
        <p:spPr>
          <a:xfrm>
            <a:off x="338328" y="941832"/>
            <a:ext cx="2761488" cy="3310128"/>
          </a:xfrm>
          <a:prstGeom prst="roundRect">
            <a:avLst>
              <a:gd name="adj" fmla="val 4636"/>
            </a:avLst>
          </a:prstGeom>
          <a:solidFill>
            <a:srgbClr val="9B1C2E">
              <a:alpha val="32000"/>
            </a:srgbClr>
          </a:solidFill>
          <a:ln w="12700">
            <a:solidFill>
              <a:srgbClr val="333333"/>
            </a:solidFill>
            <a:prstDash val="solid"/>
          </a:ln>
        </p:spPr>
      </p:sp>
      <p:sp>
        <p:nvSpPr>
          <p:cNvPr id="6" name="Shape 4"/>
          <p:cNvSpPr/>
          <p:nvPr/>
        </p:nvSpPr>
        <p:spPr>
          <a:xfrm>
            <a:off x="402336" y="1005840"/>
            <a:ext cx="2633472" cy="3182112"/>
          </a:xfrm>
          <a:prstGeom prst="roundRect">
            <a:avLst>
              <a:gd name="adj" fmla="val 3125"/>
            </a:avLst>
          </a:prstGeom>
          <a:solidFill>
            <a:srgbClr val="07101F"/>
          </a:solidFill>
          <a:ln w="27940">
            <a:solidFill>
              <a:srgbClr val="9B1C2E"/>
            </a:solidFill>
            <a:prstDash val="solid"/>
          </a:ln>
          <a:effectLst>
            <a:outerShdw sx="100000" sy="100000" kx="0" ky="0" algn="bl" rotWithShape="0" blurRad="177800" dist="50800" dir="2700000">
              <a:srgbClr val="000000">
                <a:alpha val="22000"/>
              </a:srgbClr>
            </a:outerShdw>
          </a:effectLst>
        </p:spPr>
      </p:sp>
      <p:sp>
        <p:nvSpPr>
          <p:cNvPr id="7" name="Shape 5"/>
          <p:cNvSpPr/>
          <p:nvPr/>
        </p:nvSpPr>
        <p:spPr>
          <a:xfrm>
            <a:off x="560344" y="1133124"/>
            <a:ext cx="2317455" cy="1972909"/>
          </a:xfrm>
          <a:prstGeom prst="ellipse">
            <a:avLst/>
          </a:prstGeom>
          <a:solidFill>
            <a:srgbClr val="D4943A">
              <a:alpha val="17000"/>
            </a:srgbClr>
          </a:solidFill>
          <a:ln w="12700">
            <a:solidFill>
              <a:srgbClr val="333333"/>
            </a:solidFill>
            <a:prstDash val="solid"/>
          </a:ln>
        </p:spPr>
      </p:sp>
      <p:sp>
        <p:nvSpPr>
          <p:cNvPr id="8" name="Shape 6"/>
          <p:cNvSpPr/>
          <p:nvPr/>
        </p:nvSpPr>
        <p:spPr>
          <a:xfrm>
            <a:off x="1070184" y="1567165"/>
            <a:ext cx="1297775" cy="1104829"/>
          </a:xfrm>
          <a:prstGeom prst="ellipse">
            <a:avLst/>
          </a:prstGeom>
          <a:solidFill>
            <a:srgbClr val="D4943A">
              <a:alpha val="27000"/>
            </a:srgbClr>
          </a:solidFill>
          <a:ln w="12700">
            <a:solidFill>
              <a:srgbClr val="333333"/>
            </a:solidFill>
            <a:prstDash val="solid"/>
          </a:ln>
        </p:spPr>
      </p:sp>
      <p:sp>
        <p:nvSpPr>
          <p:cNvPr id="9" name="Text 7"/>
          <p:cNvSpPr/>
          <p:nvPr/>
        </p:nvSpPr>
        <p:spPr>
          <a:xfrm>
            <a:off x="402336" y="1078992"/>
            <a:ext cx="2633472" cy="1909267"/>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0" name="Shape 8"/>
          <p:cNvSpPr/>
          <p:nvPr/>
        </p:nvSpPr>
        <p:spPr>
          <a:xfrm>
            <a:off x="530352" y="3712464"/>
            <a:ext cx="2377440" cy="384048"/>
          </a:xfrm>
          <a:prstGeom prst="roundRect">
            <a:avLst>
              <a:gd name="adj" fmla="val 11905"/>
            </a:avLst>
          </a:prstGeom>
          <a:solidFill>
            <a:srgbClr val="F5EDD8"/>
          </a:solidFill>
          <a:ln w="12700">
            <a:solidFill>
              <a:srgbClr val="9B1C2E"/>
            </a:solidFill>
            <a:prstDash val="solid"/>
          </a:ln>
        </p:spPr>
      </p:sp>
      <p:sp>
        <p:nvSpPr>
          <p:cNvPr id="11" name="Text 9"/>
          <p:cNvSpPr/>
          <p:nvPr/>
        </p:nvSpPr>
        <p:spPr>
          <a:xfrm>
            <a:off x="530352" y="3712464"/>
            <a:ext cx="2377440" cy="384048"/>
          </a:xfrm>
          <a:prstGeom prst="rect">
            <a:avLst/>
          </a:prstGeom>
          <a:noFill/>
          <a:ln/>
        </p:spPr>
        <p:txBody>
          <a:bodyPr wrap="square" lIns="0" tIns="0" rIns="0" bIns="0"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A letter from</a:t>
            </a:r>
            <a:endParaRPr lang="en-US" sz="1100" dirty="0"/>
          </a:p>
          <a:p>
            <a:pPr algn="ctr" indent="0" marL="0">
              <a:buNone/>
            </a:pPr>
            <a:r>
              <a:rPr lang="en-US" sz="1100" b="1" dirty="0">
                <a:solidFill>
                  <a:srgbClr val="0E1C42"/>
                </a:solidFill>
                <a:latin typeface="Cambria" pitchFamily="34" charset="0"/>
                <a:ea typeface="Cambria" pitchFamily="34" charset="-122"/>
                <a:cs typeface="Cambria" pitchFamily="34" charset="-120"/>
              </a:rPr>
              <a:t>an explorer, 1492</a:t>
            </a:r>
            <a:endParaRPr lang="en-US" sz="1100" dirty="0"/>
          </a:p>
        </p:txBody>
      </p:sp>
      <p:sp>
        <p:nvSpPr>
          <p:cNvPr id="12" name="Shape 10"/>
          <p:cNvSpPr/>
          <p:nvPr/>
        </p:nvSpPr>
        <p:spPr>
          <a:xfrm>
            <a:off x="493776" y="1097280"/>
            <a:ext cx="347472" cy="347472"/>
          </a:xfrm>
          <a:prstGeom prst="ellipse">
            <a:avLst/>
          </a:prstGeom>
          <a:solidFill>
            <a:srgbClr val="9B1C2E"/>
          </a:solidFill>
          <a:ln w="19050">
            <a:solidFill>
              <a:srgbClr val="C8A84B"/>
            </a:solidFill>
            <a:prstDash val="solid"/>
          </a:ln>
        </p:spPr>
      </p:sp>
      <p:sp>
        <p:nvSpPr>
          <p:cNvPr id="13" name="Text 11"/>
          <p:cNvSpPr/>
          <p:nvPr/>
        </p:nvSpPr>
        <p:spPr>
          <a:xfrm>
            <a:off x="493776"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4" name="Shape 12"/>
          <p:cNvSpPr/>
          <p:nvPr/>
        </p:nvSpPr>
        <p:spPr>
          <a:xfrm>
            <a:off x="3209544" y="941832"/>
            <a:ext cx="2761488" cy="3310128"/>
          </a:xfrm>
          <a:prstGeom prst="roundRect">
            <a:avLst>
              <a:gd name="adj" fmla="val 4636"/>
            </a:avLst>
          </a:prstGeom>
          <a:solidFill>
            <a:srgbClr val="9B1C2E">
              <a:alpha val="32000"/>
            </a:srgbClr>
          </a:solidFill>
          <a:ln w="12700">
            <a:solidFill>
              <a:srgbClr val="333333"/>
            </a:solidFill>
            <a:prstDash val="solid"/>
          </a:ln>
        </p:spPr>
      </p:sp>
      <p:sp>
        <p:nvSpPr>
          <p:cNvPr id="15" name="Shape 13"/>
          <p:cNvSpPr/>
          <p:nvPr/>
        </p:nvSpPr>
        <p:spPr>
          <a:xfrm>
            <a:off x="3273552" y="1005840"/>
            <a:ext cx="2633472" cy="3182112"/>
          </a:xfrm>
          <a:prstGeom prst="roundRect">
            <a:avLst>
              <a:gd name="adj" fmla="val 3125"/>
            </a:avLst>
          </a:prstGeom>
          <a:solidFill>
            <a:srgbClr val="07101F"/>
          </a:solidFill>
          <a:ln w="27940">
            <a:solidFill>
              <a:srgbClr val="9B1C2E"/>
            </a:solidFill>
            <a:prstDash val="solid"/>
          </a:ln>
          <a:effectLst>
            <a:outerShdw sx="100000" sy="100000" kx="0" ky="0" algn="bl" rotWithShape="0" blurRad="177800" dist="50800" dir="2700000">
              <a:srgbClr val="000000">
                <a:alpha val="22000"/>
              </a:srgbClr>
            </a:outerShdw>
          </a:effectLst>
        </p:spPr>
      </p:sp>
      <p:sp>
        <p:nvSpPr>
          <p:cNvPr id="16" name="Shape 14"/>
          <p:cNvSpPr/>
          <p:nvPr/>
        </p:nvSpPr>
        <p:spPr>
          <a:xfrm>
            <a:off x="3431560" y="1133124"/>
            <a:ext cx="2317455" cy="1972909"/>
          </a:xfrm>
          <a:prstGeom prst="ellipse">
            <a:avLst/>
          </a:prstGeom>
          <a:solidFill>
            <a:srgbClr val="D4943A">
              <a:alpha val="17000"/>
            </a:srgbClr>
          </a:solidFill>
          <a:ln w="12700">
            <a:solidFill>
              <a:srgbClr val="333333"/>
            </a:solidFill>
            <a:prstDash val="solid"/>
          </a:ln>
        </p:spPr>
      </p:sp>
      <p:sp>
        <p:nvSpPr>
          <p:cNvPr id="17" name="Shape 15"/>
          <p:cNvSpPr/>
          <p:nvPr/>
        </p:nvSpPr>
        <p:spPr>
          <a:xfrm>
            <a:off x="3941400" y="1567165"/>
            <a:ext cx="1297775" cy="1104829"/>
          </a:xfrm>
          <a:prstGeom prst="ellipse">
            <a:avLst/>
          </a:prstGeom>
          <a:solidFill>
            <a:srgbClr val="D4943A">
              <a:alpha val="27000"/>
            </a:srgbClr>
          </a:solidFill>
          <a:ln w="12700">
            <a:solidFill>
              <a:srgbClr val="333333"/>
            </a:solidFill>
            <a:prstDash val="solid"/>
          </a:ln>
        </p:spPr>
      </p:sp>
      <p:sp>
        <p:nvSpPr>
          <p:cNvPr id="18" name="Text 16"/>
          <p:cNvSpPr/>
          <p:nvPr/>
        </p:nvSpPr>
        <p:spPr>
          <a:xfrm>
            <a:off x="3273552" y="1078992"/>
            <a:ext cx="2633472" cy="1909267"/>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9" name="Shape 17"/>
          <p:cNvSpPr/>
          <p:nvPr/>
        </p:nvSpPr>
        <p:spPr>
          <a:xfrm>
            <a:off x="3401568" y="3712464"/>
            <a:ext cx="2377440" cy="384048"/>
          </a:xfrm>
          <a:prstGeom prst="roundRect">
            <a:avLst>
              <a:gd name="adj" fmla="val 11905"/>
            </a:avLst>
          </a:prstGeom>
          <a:solidFill>
            <a:srgbClr val="F5EDD8"/>
          </a:solidFill>
          <a:ln w="12700">
            <a:solidFill>
              <a:srgbClr val="9B1C2E"/>
            </a:solidFill>
            <a:prstDash val="solid"/>
          </a:ln>
        </p:spPr>
      </p:sp>
      <p:sp>
        <p:nvSpPr>
          <p:cNvPr id="20" name="Text 18"/>
          <p:cNvSpPr/>
          <p:nvPr/>
        </p:nvSpPr>
        <p:spPr>
          <a:xfrm>
            <a:off x="3401568" y="3712464"/>
            <a:ext cx="2377440" cy="384048"/>
          </a:xfrm>
          <a:prstGeom prst="rect">
            <a:avLst/>
          </a:prstGeom>
          <a:noFill/>
          <a:ln/>
        </p:spPr>
        <p:txBody>
          <a:bodyPr wrap="square" lIns="0" tIns="0" rIns="0" bIns="0"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A bronze coin</a:t>
            </a:r>
            <a:endParaRPr lang="en-US" sz="1100" dirty="0"/>
          </a:p>
          <a:p>
            <a:pPr algn="ctr" indent="0" marL="0">
              <a:buNone/>
            </a:pPr>
            <a:r>
              <a:rPr lang="en-US" sz="1100" b="1" dirty="0">
                <a:solidFill>
                  <a:srgbClr val="0E1C42"/>
                </a:solidFill>
                <a:latin typeface="Cambria" pitchFamily="34" charset="0"/>
                <a:ea typeface="Cambria" pitchFamily="34" charset="-122"/>
                <a:cs typeface="Cambria" pitchFamily="34" charset="-120"/>
              </a:rPr>
              <a:t>minted in Rome, 50 BC</a:t>
            </a:r>
            <a:endParaRPr lang="en-US" sz="1100" dirty="0"/>
          </a:p>
        </p:txBody>
      </p:sp>
      <p:sp>
        <p:nvSpPr>
          <p:cNvPr id="21" name="Shape 19"/>
          <p:cNvSpPr/>
          <p:nvPr/>
        </p:nvSpPr>
        <p:spPr>
          <a:xfrm>
            <a:off x="3364992" y="1097280"/>
            <a:ext cx="347472" cy="347472"/>
          </a:xfrm>
          <a:prstGeom prst="ellipse">
            <a:avLst/>
          </a:prstGeom>
          <a:solidFill>
            <a:srgbClr val="9B1C2E"/>
          </a:solidFill>
          <a:ln w="19050">
            <a:solidFill>
              <a:srgbClr val="C8A84B"/>
            </a:solidFill>
            <a:prstDash val="solid"/>
          </a:ln>
        </p:spPr>
      </p:sp>
      <p:sp>
        <p:nvSpPr>
          <p:cNvPr id="22" name="Text 20"/>
          <p:cNvSpPr/>
          <p:nvPr/>
        </p:nvSpPr>
        <p:spPr>
          <a:xfrm>
            <a:off x="3364992"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3" name="Shape 21"/>
          <p:cNvSpPr/>
          <p:nvPr/>
        </p:nvSpPr>
        <p:spPr>
          <a:xfrm>
            <a:off x="6080760" y="941832"/>
            <a:ext cx="2761488" cy="3310128"/>
          </a:xfrm>
          <a:prstGeom prst="roundRect">
            <a:avLst>
              <a:gd name="adj" fmla="val 4636"/>
            </a:avLst>
          </a:prstGeom>
          <a:solidFill>
            <a:srgbClr val="9B1C2E">
              <a:alpha val="32000"/>
            </a:srgbClr>
          </a:solidFill>
          <a:ln w="12700">
            <a:solidFill>
              <a:srgbClr val="333333"/>
            </a:solidFill>
            <a:prstDash val="solid"/>
          </a:ln>
        </p:spPr>
      </p:sp>
      <p:sp>
        <p:nvSpPr>
          <p:cNvPr id="24" name="Shape 22"/>
          <p:cNvSpPr/>
          <p:nvPr/>
        </p:nvSpPr>
        <p:spPr>
          <a:xfrm>
            <a:off x="6144768" y="1005840"/>
            <a:ext cx="2633472" cy="3182112"/>
          </a:xfrm>
          <a:prstGeom prst="roundRect">
            <a:avLst>
              <a:gd name="adj" fmla="val 3125"/>
            </a:avLst>
          </a:prstGeom>
          <a:solidFill>
            <a:srgbClr val="07101F"/>
          </a:solidFill>
          <a:ln w="27940">
            <a:solidFill>
              <a:srgbClr val="9B1C2E"/>
            </a:solidFill>
            <a:prstDash val="solid"/>
          </a:ln>
          <a:effectLst>
            <a:outerShdw sx="100000" sy="100000" kx="0" ky="0" algn="bl" rotWithShape="0" blurRad="177800" dist="50800" dir="2700000">
              <a:srgbClr val="000000">
                <a:alpha val="22000"/>
              </a:srgbClr>
            </a:outerShdw>
          </a:effectLst>
        </p:spPr>
      </p:sp>
      <p:sp>
        <p:nvSpPr>
          <p:cNvPr id="25" name="Shape 23"/>
          <p:cNvSpPr/>
          <p:nvPr/>
        </p:nvSpPr>
        <p:spPr>
          <a:xfrm>
            <a:off x="6302776" y="1133124"/>
            <a:ext cx="2317455" cy="1972909"/>
          </a:xfrm>
          <a:prstGeom prst="ellipse">
            <a:avLst/>
          </a:prstGeom>
          <a:solidFill>
            <a:srgbClr val="D4943A">
              <a:alpha val="17000"/>
            </a:srgbClr>
          </a:solidFill>
          <a:ln w="12700">
            <a:solidFill>
              <a:srgbClr val="333333"/>
            </a:solidFill>
            <a:prstDash val="solid"/>
          </a:ln>
        </p:spPr>
      </p:sp>
      <p:sp>
        <p:nvSpPr>
          <p:cNvPr id="26" name="Shape 24"/>
          <p:cNvSpPr/>
          <p:nvPr/>
        </p:nvSpPr>
        <p:spPr>
          <a:xfrm>
            <a:off x="6812616" y="1567165"/>
            <a:ext cx="1297775" cy="1104829"/>
          </a:xfrm>
          <a:prstGeom prst="ellipse">
            <a:avLst/>
          </a:prstGeom>
          <a:solidFill>
            <a:srgbClr val="D4943A">
              <a:alpha val="27000"/>
            </a:srgbClr>
          </a:solidFill>
          <a:ln w="12700">
            <a:solidFill>
              <a:srgbClr val="333333"/>
            </a:solidFill>
            <a:prstDash val="solid"/>
          </a:ln>
        </p:spPr>
      </p:sp>
      <p:sp>
        <p:nvSpPr>
          <p:cNvPr id="27" name="Text 25"/>
          <p:cNvSpPr/>
          <p:nvPr/>
        </p:nvSpPr>
        <p:spPr>
          <a:xfrm>
            <a:off x="6144768" y="1078992"/>
            <a:ext cx="2633472" cy="1909267"/>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8" name="Shape 26"/>
          <p:cNvSpPr/>
          <p:nvPr/>
        </p:nvSpPr>
        <p:spPr>
          <a:xfrm>
            <a:off x="6272784" y="3712464"/>
            <a:ext cx="2377440" cy="384048"/>
          </a:xfrm>
          <a:prstGeom prst="roundRect">
            <a:avLst>
              <a:gd name="adj" fmla="val 11905"/>
            </a:avLst>
          </a:prstGeom>
          <a:solidFill>
            <a:srgbClr val="F5EDD8"/>
          </a:solidFill>
          <a:ln w="12700">
            <a:solidFill>
              <a:srgbClr val="9B1C2E"/>
            </a:solidFill>
            <a:prstDash val="solid"/>
          </a:ln>
        </p:spPr>
      </p:sp>
      <p:sp>
        <p:nvSpPr>
          <p:cNvPr id="29" name="Text 27"/>
          <p:cNvSpPr/>
          <p:nvPr/>
        </p:nvSpPr>
        <p:spPr>
          <a:xfrm>
            <a:off x="6272784" y="3712464"/>
            <a:ext cx="2377440" cy="384048"/>
          </a:xfrm>
          <a:prstGeom prst="rect">
            <a:avLst/>
          </a:prstGeom>
          <a:noFill/>
          <a:ln/>
        </p:spPr>
        <p:txBody>
          <a:bodyPr wrap="square" lIns="0" tIns="0" rIns="0" bIns="0"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A painting made</a:t>
            </a:r>
            <a:endParaRPr lang="en-US" sz="1100" dirty="0"/>
          </a:p>
          <a:p>
            <a:pPr algn="ctr" indent="0" marL="0">
              <a:buNone/>
            </a:pPr>
            <a:r>
              <a:rPr lang="en-US" sz="1100" b="1" dirty="0">
                <a:solidFill>
                  <a:srgbClr val="0E1C42"/>
                </a:solidFill>
                <a:latin typeface="Cambria" pitchFamily="34" charset="0"/>
                <a:ea typeface="Cambria" pitchFamily="34" charset="-122"/>
                <a:cs typeface="Cambria" pitchFamily="34" charset="-120"/>
              </a:rPr>
              <a:t>during the Civil War</a:t>
            </a:r>
            <a:endParaRPr lang="en-US" sz="1100" dirty="0"/>
          </a:p>
        </p:txBody>
      </p:sp>
      <p:sp>
        <p:nvSpPr>
          <p:cNvPr id="30" name="Shape 28"/>
          <p:cNvSpPr/>
          <p:nvPr/>
        </p:nvSpPr>
        <p:spPr>
          <a:xfrm>
            <a:off x="6236208" y="1097280"/>
            <a:ext cx="347472" cy="347472"/>
          </a:xfrm>
          <a:prstGeom prst="ellipse">
            <a:avLst/>
          </a:prstGeom>
          <a:solidFill>
            <a:srgbClr val="9B1C2E"/>
          </a:solidFill>
          <a:ln w="19050">
            <a:solidFill>
              <a:srgbClr val="C8A84B"/>
            </a:solidFill>
            <a:prstDash val="solid"/>
          </a:ln>
        </p:spPr>
      </p:sp>
      <p:sp>
        <p:nvSpPr>
          <p:cNvPr id="31" name="Text 29"/>
          <p:cNvSpPr/>
          <p:nvPr/>
        </p:nvSpPr>
        <p:spPr>
          <a:xfrm>
            <a:off x="6236208"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32" name="Shape 30"/>
          <p:cNvSpPr/>
          <p:nvPr/>
        </p:nvSpPr>
        <p:spPr>
          <a:xfrm>
            <a:off x="649224" y="4700016"/>
            <a:ext cx="164592" cy="256032"/>
          </a:xfrm>
          <a:prstGeom prst="ellipse">
            <a:avLst/>
          </a:prstGeom>
          <a:solidFill>
            <a:srgbClr val="C8A84B"/>
          </a:solidFill>
          <a:ln w="12700">
            <a:solidFill>
              <a:srgbClr val="333333"/>
            </a:solidFill>
            <a:prstDash val="solid"/>
          </a:ln>
        </p:spPr>
      </p:sp>
      <p:sp>
        <p:nvSpPr>
          <p:cNvPr id="33" name="Shape 31"/>
          <p:cNvSpPr/>
          <p:nvPr/>
        </p:nvSpPr>
        <p:spPr>
          <a:xfrm>
            <a:off x="8330184" y="4700016"/>
            <a:ext cx="164592" cy="256032"/>
          </a:xfrm>
          <a:prstGeom prst="ellipse">
            <a:avLst/>
          </a:prstGeom>
          <a:solidFill>
            <a:srgbClr val="C8A84B"/>
          </a:solidFill>
          <a:ln w="12700">
            <a:solidFill>
              <a:srgbClr val="333333"/>
            </a:solidFill>
            <a:prstDash val="solid"/>
          </a:ln>
        </p:spPr>
      </p:sp>
      <p:sp>
        <p:nvSpPr>
          <p:cNvPr id="34" name="Shape 32"/>
          <p:cNvSpPr/>
          <p:nvPr/>
        </p:nvSpPr>
        <p:spPr>
          <a:xfrm>
            <a:off x="731520" y="4828032"/>
            <a:ext cx="7680960" cy="0"/>
          </a:xfrm>
          <a:prstGeom prst="line">
            <a:avLst/>
          </a:prstGeom>
          <a:noFill/>
          <a:ln w="31750">
            <a:solidFill>
              <a:srgbClr val="C8A84B"/>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01F"/>
        </a:solidFill>
      </p:bgPr>
    </p:bg>
    <p:spTree>
      <p:nvGrpSpPr>
        <p:cNvPr id="1" name=""/>
        <p:cNvGrpSpPr/>
        <p:nvPr/>
      </p:nvGrpSpPr>
      <p:grpSpPr>
        <a:xfrm>
          <a:off x="0" y="0"/>
          <a:ext cx="0" cy="0"/>
          <a:chOff x="0" y="0"/>
          <a:chExt cx="0" cy="0"/>
        </a:xfrm>
      </p:grpSpPr>
      <p:sp>
        <p:nvSpPr>
          <p:cNvPr id="2" name="Shape 0"/>
          <p:cNvSpPr/>
          <p:nvPr/>
        </p:nvSpPr>
        <p:spPr>
          <a:xfrm>
            <a:off x="914400" y="-1828800"/>
            <a:ext cx="7315200" cy="4572000"/>
          </a:xfrm>
          <a:prstGeom prst="ellipse">
            <a:avLst/>
          </a:prstGeom>
          <a:solidFill>
            <a:srgbClr val="1A8A7D">
              <a:alpha val="12000"/>
            </a:srgbClr>
          </a:solidFill>
          <a:ln w="12700">
            <a:solidFill>
              <a:srgbClr val="333333"/>
            </a:solidFill>
            <a:prstDash val="solid"/>
          </a:ln>
        </p:spPr>
      </p:sp>
      <p:sp>
        <p:nvSpPr>
          <p:cNvPr id="3" name="Text 1"/>
          <p:cNvSpPr/>
          <p:nvPr/>
        </p:nvSpPr>
        <p:spPr>
          <a:xfrm>
            <a:off x="457200" y="128016"/>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Secondary Source Gallery</a:t>
            </a:r>
            <a:endParaRPr lang="en-US" sz="2600" dirty="0"/>
          </a:p>
        </p:txBody>
      </p:sp>
      <p:sp>
        <p:nvSpPr>
          <p:cNvPr id="4" name="Text 2"/>
          <p:cNvSpPr/>
          <p:nvPr/>
        </p:nvSpPr>
        <p:spPr>
          <a:xfrm>
            <a:off x="731520" y="621792"/>
            <a:ext cx="7680960" cy="310896"/>
          </a:xfrm>
          <a:prstGeom prst="rect">
            <a:avLst/>
          </a:prstGeom>
          <a:noFill/>
          <a:ln/>
        </p:spPr>
        <p:txBody>
          <a:bodyPr wrap="square" lIns="0" tIns="0" rIns="0" bIns="0" rtlCol="0" anchor="ctr"/>
          <a:lstStyle/>
          <a:p>
            <a:pPr algn="ctr" indent="0" marL="0">
              <a:buNone/>
            </a:pPr>
            <a:r>
              <a:rPr lang="en-US" sz="1250" i="1" dirty="0">
                <a:solidFill>
                  <a:srgbClr val="C8A84B"/>
                </a:solidFill>
                <a:latin typeface="Calibri" pitchFamily="34" charset="0"/>
                <a:ea typeface="Calibri" pitchFamily="34" charset="-122"/>
                <a:cs typeface="Calibri" pitchFamily="34" charset="-120"/>
              </a:rPr>
              <a:t>Each of these was made LATER, by someone who researched what happened.</a:t>
            </a:r>
            <a:endParaRPr lang="en-US" sz="1250" dirty="0"/>
          </a:p>
        </p:txBody>
      </p:sp>
      <p:sp>
        <p:nvSpPr>
          <p:cNvPr id="5" name="Shape 3"/>
          <p:cNvSpPr/>
          <p:nvPr/>
        </p:nvSpPr>
        <p:spPr>
          <a:xfrm>
            <a:off x="338328" y="941832"/>
            <a:ext cx="2761488" cy="3310128"/>
          </a:xfrm>
          <a:prstGeom prst="roundRect">
            <a:avLst>
              <a:gd name="adj" fmla="val 4636"/>
            </a:avLst>
          </a:prstGeom>
          <a:solidFill>
            <a:srgbClr val="1A8A7D">
              <a:alpha val="32000"/>
            </a:srgbClr>
          </a:solidFill>
          <a:ln w="12700">
            <a:solidFill>
              <a:srgbClr val="333333"/>
            </a:solidFill>
            <a:prstDash val="solid"/>
          </a:ln>
        </p:spPr>
      </p:sp>
      <p:sp>
        <p:nvSpPr>
          <p:cNvPr id="6" name="Shape 4"/>
          <p:cNvSpPr/>
          <p:nvPr/>
        </p:nvSpPr>
        <p:spPr>
          <a:xfrm>
            <a:off x="402336" y="1005840"/>
            <a:ext cx="2633472" cy="3182112"/>
          </a:xfrm>
          <a:prstGeom prst="roundRect">
            <a:avLst>
              <a:gd name="adj" fmla="val 3125"/>
            </a:avLst>
          </a:prstGeom>
          <a:solidFill>
            <a:srgbClr val="07101F"/>
          </a:solidFill>
          <a:ln w="27940">
            <a:solidFill>
              <a:srgbClr val="1A8A7D"/>
            </a:solidFill>
            <a:prstDash val="solid"/>
          </a:ln>
          <a:effectLst>
            <a:outerShdw sx="100000" sy="100000" kx="0" ky="0" algn="bl" rotWithShape="0" blurRad="177800" dist="50800" dir="2700000">
              <a:srgbClr val="000000">
                <a:alpha val="22000"/>
              </a:srgbClr>
            </a:outerShdw>
          </a:effectLst>
        </p:spPr>
      </p:sp>
      <p:sp>
        <p:nvSpPr>
          <p:cNvPr id="7" name="Shape 5"/>
          <p:cNvSpPr/>
          <p:nvPr/>
        </p:nvSpPr>
        <p:spPr>
          <a:xfrm>
            <a:off x="560344" y="1133124"/>
            <a:ext cx="2317455" cy="1972909"/>
          </a:xfrm>
          <a:prstGeom prst="ellipse">
            <a:avLst/>
          </a:prstGeom>
          <a:solidFill>
            <a:srgbClr val="D4943A">
              <a:alpha val="17000"/>
            </a:srgbClr>
          </a:solidFill>
          <a:ln w="12700">
            <a:solidFill>
              <a:srgbClr val="333333"/>
            </a:solidFill>
            <a:prstDash val="solid"/>
          </a:ln>
        </p:spPr>
      </p:sp>
      <p:sp>
        <p:nvSpPr>
          <p:cNvPr id="8" name="Shape 6"/>
          <p:cNvSpPr/>
          <p:nvPr/>
        </p:nvSpPr>
        <p:spPr>
          <a:xfrm>
            <a:off x="1070184" y="1567165"/>
            <a:ext cx="1297775" cy="1104829"/>
          </a:xfrm>
          <a:prstGeom prst="ellipse">
            <a:avLst/>
          </a:prstGeom>
          <a:solidFill>
            <a:srgbClr val="D4943A">
              <a:alpha val="27000"/>
            </a:srgbClr>
          </a:solidFill>
          <a:ln w="12700">
            <a:solidFill>
              <a:srgbClr val="333333"/>
            </a:solidFill>
            <a:prstDash val="solid"/>
          </a:ln>
        </p:spPr>
      </p:sp>
      <p:sp>
        <p:nvSpPr>
          <p:cNvPr id="9" name="Text 7"/>
          <p:cNvSpPr/>
          <p:nvPr/>
        </p:nvSpPr>
        <p:spPr>
          <a:xfrm>
            <a:off x="402336" y="1078992"/>
            <a:ext cx="2633472" cy="1909267"/>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0" name="Shape 8"/>
          <p:cNvSpPr/>
          <p:nvPr/>
        </p:nvSpPr>
        <p:spPr>
          <a:xfrm>
            <a:off x="530352" y="3712464"/>
            <a:ext cx="2377440" cy="384048"/>
          </a:xfrm>
          <a:prstGeom prst="roundRect">
            <a:avLst>
              <a:gd name="adj" fmla="val 11905"/>
            </a:avLst>
          </a:prstGeom>
          <a:solidFill>
            <a:srgbClr val="F5EDD8"/>
          </a:solidFill>
          <a:ln w="12700">
            <a:solidFill>
              <a:srgbClr val="1A8A7D"/>
            </a:solidFill>
            <a:prstDash val="solid"/>
          </a:ln>
        </p:spPr>
      </p:sp>
      <p:sp>
        <p:nvSpPr>
          <p:cNvPr id="11" name="Text 9"/>
          <p:cNvSpPr/>
          <p:nvPr/>
        </p:nvSpPr>
        <p:spPr>
          <a:xfrm>
            <a:off x="530352" y="3712464"/>
            <a:ext cx="2377440" cy="384048"/>
          </a:xfrm>
          <a:prstGeom prst="rect">
            <a:avLst/>
          </a:prstGeom>
          <a:noFill/>
          <a:ln/>
        </p:spPr>
        <p:txBody>
          <a:bodyPr wrap="square" lIns="0" tIns="0" rIns="0" bIns="0"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Your social studies</a:t>
            </a:r>
            <a:endParaRPr lang="en-US" sz="1100" dirty="0"/>
          </a:p>
          <a:p>
            <a:pPr algn="ctr" indent="0" marL="0">
              <a:buNone/>
            </a:pPr>
            <a:r>
              <a:rPr lang="en-US" sz="1100" b="1" dirty="0">
                <a:solidFill>
                  <a:srgbClr val="0E1C42"/>
                </a:solidFill>
                <a:latin typeface="Cambria" pitchFamily="34" charset="0"/>
                <a:ea typeface="Cambria" pitchFamily="34" charset="-122"/>
                <a:cs typeface="Cambria" pitchFamily="34" charset="-120"/>
              </a:rPr>
              <a:t>textbook</a:t>
            </a:r>
            <a:endParaRPr lang="en-US" sz="1100" dirty="0"/>
          </a:p>
        </p:txBody>
      </p:sp>
      <p:sp>
        <p:nvSpPr>
          <p:cNvPr id="12" name="Shape 10"/>
          <p:cNvSpPr/>
          <p:nvPr/>
        </p:nvSpPr>
        <p:spPr>
          <a:xfrm>
            <a:off x="493776" y="1097280"/>
            <a:ext cx="347472" cy="347472"/>
          </a:xfrm>
          <a:prstGeom prst="ellipse">
            <a:avLst/>
          </a:prstGeom>
          <a:solidFill>
            <a:srgbClr val="1A8A7D"/>
          </a:solidFill>
          <a:ln w="19050">
            <a:solidFill>
              <a:srgbClr val="C8A84B"/>
            </a:solidFill>
            <a:prstDash val="solid"/>
          </a:ln>
        </p:spPr>
      </p:sp>
      <p:sp>
        <p:nvSpPr>
          <p:cNvPr id="13" name="Text 11"/>
          <p:cNvSpPr/>
          <p:nvPr/>
        </p:nvSpPr>
        <p:spPr>
          <a:xfrm>
            <a:off x="493776"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4" name="Shape 12"/>
          <p:cNvSpPr/>
          <p:nvPr/>
        </p:nvSpPr>
        <p:spPr>
          <a:xfrm>
            <a:off x="3209544" y="941832"/>
            <a:ext cx="2761488" cy="3310128"/>
          </a:xfrm>
          <a:prstGeom prst="roundRect">
            <a:avLst>
              <a:gd name="adj" fmla="val 4636"/>
            </a:avLst>
          </a:prstGeom>
          <a:solidFill>
            <a:srgbClr val="1A8A7D">
              <a:alpha val="32000"/>
            </a:srgbClr>
          </a:solidFill>
          <a:ln w="12700">
            <a:solidFill>
              <a:srgbClr val="333333"/>
            </a:solidFill>
            <a:prstDash val="solid"/>
          </a:ln>
        </p:spPr>
      </p:sp>
      <p:sp>
        <p:nvSpPr>
          <p:cNvPr id="15" name="Shape 13"/>
          <p:cNvSpPr/>
          <p:nvPr/>
        </p:nvSpPr>
        <p:spPr>
          <a:xfrm>
            <a:off x="3273552" y="1005840"/>
            <a:ext cx="2633472" cy="3182112"/>
          </a:xfrm>
          <a:prstGeom prst="roundRect">
            <a:avLst>
              <a:gd name="adj" fmla="val 3125"/>
            </a:avLst>
          </a:prstGeom>
          <a:solidFill>
            <a:srgbClr val="07101F"/>
          </a:solidFill>
          <a:ln w="27940">
            <a:solidFill>
              <a:srgbClr val="1A8A7D"/>
            </a:solidFill>
            <a:prstDash val="solid"/>
          </a:ln>
          <a:effectLst>
            <a:outerShdw sx="100000" sy="100000" kx="0" ky="0" algn="bl" rotWithShape="0" blurRad="177800" dist="50800" dir="2700000">
              <a:srgbClr val="000000">
                <a:alpha val="22000"/>
              </a:srgbClr>
            </a:outerShdw>
          </a:effectLst>
        </p:spPr>
      </p:sp>
      <p:sp>
        <p:nvSpPr>
          <p:cNvPr id="16" name="Shape 14"/>
          <p:cNvSpPr/>
          <p:nvPr/>
        </p:nvSpPr>
        <p:spPr>
          <a:xfrm>
            <a:off x="3431560" y="1133124"/>
            <a:ext cx="2317455" cy="1972909"/>
          </a:xfrm>
          <a:prstGeom prst="ellipse">
            <a:avLst/>
          </a:prstGeom>
          <a:solidFill>
            <a:srgbClr val="D4943A">
              <a:alpha val="17000"/>
            </a:srgbClr>
          </a:solidFill>
          <a:ln w="12700">
            <a:solidFill>
              <a:srgbClr val="333333"/>
            </a:solidFill>
            <a:prstDash val="solid"/>
          </a:ln>
        </p:spPr>
      </p:sp>
      <p:sp>
        <p:nvSpPr>
          <p:cNvPr id="17" name="Shape 15"/>
          <p:cNvSpPr/>
          <p:nvPr/>
        </p:nvSpPr>
        <p:spPr>
          <a:xfrm>
            <a:off x="3941400" y="1567165"/>
            <a:ext cx="1297775" cy="1104829"/>
          </a:xfrm>
          <a:prstGeom prst="ellipse">
            <a:avLst/>
          </a:prstGeom>
          <a:solidFill>
            <a:srgbClr val="D4943A">
              <a:alpha val="27000"/>
            </a:srgbClr>
          </a:solidFill>
          <a:ln w="12700">
            <a:solidFill>
              <a:srgbClr val="333333"/>
            </a:solidFill>
            <a:prstDash val="solid"/>
          </a:ln>
        </p:spPr>
      </p:sp>
      <p:sp>
        <p:nvSpPr>
          <p:cNvPr id="18" name="Text 16"/>
          <p:cNvSpPr/>
          <p:nvPr/>
        </p:nvSpPr>
        <p:spPr>
          <a:xfrm>
            <a:off x="3273552" y="1078992"/>
            <a:ext cx="2633472" cy="1909267"/>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9" name="Shape 17"/>
          <p:cNvSpPr/>
          <p:nvPr/>
        </p:nvSpPr>
        <p:spPr>
          <a:xfrm>
            <a:off x="3401568" y="3712464"/>
            <a:ext cx="2377440" cy="384048"/>
          </a:xfrm>
          <a:prstGeom prst="roundRect">
            <a:avLst>
              <a:gd name="adj" fmla="val 11905"/>
            </a:avLst>
          </a:prstGeom>
          <a:solidFill>
            <a:srgbClr val="F5EDD8"/>
          </a:solidFill>
          <a:ln w="12700">
            <a:solidFill>
              <a:srgbClr val="1A8A7D"/>
            </a:solidFill>
            <a:prstDash val="solid"/>
          </a:ln>
        </p:spPr>
      </p:sp>
      <p:sp>
        <p:nvSpPr>
          <p:cNvPr id="20" name="Text 18"/>
          <p:cNvSpPr/>
          <p:nvPr/>
        </p:nvSpPr>
        <p:spPr>
          <a:xfrm>
            <a:off x="3401568" y="3712464"/>
            <a:ext cx="2377440" cy="384048"/>
          </a:xfrm>
          <a:prstGeom prst="rect">
            <a:avLst/>
          </a:prstGeom>
          <a:noFill/>
          <a:ln/>
        </p:spPr>
        <p:txBody>
          <a:bodyPr wrap="square" lIns="0" tIns="0" rIns="0" bIns="0"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A documentary about</a:t>
            </a:r>
            <a:endParaRPr lang="en-US" sz="1100" dirty="0"/>
          </a:p>
          <a:p>
            <a:pPr algn="ctr" indent="0" marL="0">
              <a:buNone/>
            </a:pPr>
            <a:r>
              <a:rPr lang="en-US" sz="1100" b="1" dirty="0">
                <a:solidFill>
                  <a:srgbClr val="0E1C42"/>
                </a:solidFill>
                <a:latin typeface="Cambria" pitchFamily="34" charset="0"/>
                <a:ea typeface="Cambria" pitchFamily="34" charset="-122"/>
                <a:cs typeface="Cambria" pitchFamily="34" charset="-120"/>
              </a:rPr>
              <a:t>World War II</a:t>
            </a:r>
            <a:endParaRPr lang="en-US" sz="1100" dirty="0"/>
          </a:p>
        </p:txBody>
      </p:sp>
      <p:sp>
        <p:nvSpPr>
          <p:cNvPr id="21" name="Shape 19"/>
          <p:cNvSpPr/>
          <p:nvPr/>
        </p:nvSpPr>
        <p:spPr>
          <a:xfrm>
            <a:off x="3364992" y="1097280"/>
            <a:ext cx="347472" cy="347472"/>
          </a:xfrm>
          <a:prstGeom prst="ellipse">
            <a:avLst/>
          </a:prstGeom>
          <a:solidFill>
            <a:srgbClr val="1A8A7D"/>
          </a:solidFill>
          <a:ln w="19050">
            <a:solidFill>
              <a:srgbClr val="C8A84B"/>
            </a:solidFill>
            <a:prstDash val="solid"/>
          </a:ln>
        </p:spPr>
      </p:sp>
      <p:sp>
        <p:nvSpPr>
          <p:cNvPr id="22" name="Text 20"/>
          <p:cNvSpPr/>
          <p:nvPr/>
        </p:nvSpPr>
        <p:spPr>
          <a:xfrm>
            <a:off x="3364992"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3" name="Shape 21"/>
          <p:cNvSpPr/>
          <p:nvPr/>
        </p:nvSpPr>
        <p:spPr>
          <a:xfrm>
            <a:off x="6080760" y="941832"/>
            <a:ext cx="2761488" cy="3310128"/>
          </a:xfrm>
          <a:prstGeom prst="roundRect">
            <a:avLst>
              <a:gd name="adj" fmla="val 4636"/>
            </a:avLst>
          </a:prstGeom>
          <a:solidFill>
            <a:srgbClr val="1A8A7D">
              <a:alpha val="32000"/>
            </a:srgbClr>
          </a:solidFill>
          <a:ln w="12700">
            <a:solidFill>
              <a:srgbClr val="333333"/>
            </a:solidFill>
            <a:prstDash val="solid"/>
          </a:ln>
        </p:spPr>
      </p:sp>
      <p:sp>
        <p:nvSpPr>
          <p:cNvPr id="24" name="Shape 22"/>
          <p:cNvSpPr/>
          <p:nvPr/>
        </p:nvSpPr>
        <p:spPr>
          <a:xfrm>
            <a:off x="6144768" y="1005840"/>
            <a:ext cx="2633472" cy="3182112"/>
          </a:xfrm>
          <a:prstGeom prst="roundRect">
            <a:avLst>
              <a:gd name="adj" fmla="val 3125"/>
            </a:avLst>
          </a:prstGeom>
          <a:solidFill>
            <a:srgbClr val="07101F"/>
          </a:solidFill>
          <a:ln w="27940">
            <a:solidFill>
              <a:srgbClr val="1A8A7D"/>
            </a:solidFill>
            <a:prstDash val="solid"/>
          </a:ln>
          <a:effectLst>
            <a:outerShdw sx="100000" sy="100000" kx="0" ky="0" algn="bl" rotWithShape="0" blurRad="177800" dist="50800" dir="2700000">
              <a:srgbClr val="000000">
                <a:alpha val="22000"/>
              </a:srgbClr>
            </a:outerShdw>
          </a:effectLst>
        </p:spPr>
      </p:sp>
      <p:sp>
        <p:nvSpPr>
          <p:cNvPr id="25" name="Shape 23"/>
          <p:cNvSpPr/>
          <p:nvPr/>
        </p:nvSpPr>
        <p:spPr>
          <a:xfrm>
            <a:off x="6302776" y="1133124"/>
            <a:ext cx="2317455" cy="1972909"/>
          </a:xfrm>
          <a:prstGeom prst="ellipse">
            <a:avLst/>
          </a:prstGeom>
          <a:solidFill>
            <a:srgbClr val="D4943A">
              <a:alpha val="17000"/>
            </a:srgbClr>
          </a:solidFill>
          <a:ln w="12700">
            <a:solidFill>
              <a:srgbClr val="333333"/>
            </a:solidFill>
            <a:prstDash val="solid"/>
          </a:ln>
        </p:spPr>
      </p:sp>
      <p:sp>
        <p:nvSpPr>
          <p:cNvPr id="26" name="Shape 24"/>
          <p:cNvSpPr/>
          <p:nvPr/>
        </p:nvSpPr>
        <p:spPr>
          <a:xfrm>
            <a:off x="6812616" y="1567165"/>
            <a:ext cx="1297775" cy="1104829"/>
          </a:xfrm>
          <a:prstGeom prst="ellipse">
            <a:avLst/>
          </a:prstGeom>
          <a:solidFill>
            <a:srgbClr val="D4943A">
              <a:alpha val="27000"/>
            </a:srgbClr>
          </a:solidFill>
          <a:ln w="12700">
            <a:solidFill>
              <a:srgbClr val="333333"/>
            </a:solidFill>
            <a:prstDash val="solid"/>
          </a:ln>
        </p:spPr>
      </p:sp>
      <p:sp>
        <p:nvSpPr>
          <p:cNvPr id="27" name="Text 25"/>
          <p:cNvSpPr/>
          <p:nvPr/>
        </p:nvSpPr>
        <p:spPr>
          <a:xfrm>
            <a:off x="6144768" y="1078992"/>
            <a:ext cx="2633472" cy="1909267"/>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8" name="Shape 26"/>
          <p:cNvSpPr/>
          <p:nvPr/>
        </p:nvSpPr>
        <p:spPr>
          <a:xfrm>
            <a:off x="6272784" y="3712464"/>
            <a:ext cx="2377440" cy="384048"/>
          </a:xfrm>
          <a:prstGeom prst="roundRect">
            <a:avLst>
              <a:gd name="adj" fmla="val 11905"/>
            </a:avLst>
          </a:prstGeom>
          <a:solidFill>
            <a:srgbClr val="F5EDD8"/>
          </a:solidFill>
          <a:ln w="12700">
            <a:solidFill>
              <a:srgbClr val="1A8A7D"/>
            </a:solidFill>
            <a:prstDash val="solid"/>
          </a:ln>
        </p:spPr>
      </p:sp>
      <p:sp>
        <p:nvSpPr>
          <p:cNvPr id="29" name="Text 27"/>
          <p:cNvSpPr/>
          <p:nvPr/>
        </p:nvSpPr>
        <p:spPr>
          <a:xfrm>
            <a:off x="6272784" y="3712464"/>
            <a:ext cx="2377440" cy="384048"/>
          </a:xfrm>
          <a:prstGeom prst="rect">
            <a:avLst/>
          </a:prstGeom>
          <a:noFill/>
          <a:ln/>
        </p:spPr>
        <p:txBody>
          <a:bodyPr wrap="square" lIns="0" tIns="0" rIns="0" bIns="0"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A museum exhibit</a:t>
            </a:r>
            <a:endParaRPr lang="en-US" sz="1100" dirty="0"/>
          </a:p>
          <a:p>
            <a:pPr algn="ctr" indent="0" marL="0">
              <a:buNone/>
            </a:pPr>
            <a:r>
              <a:rPr lang="en-US" sz="1100" b="1" dirty="0">
                <a:solidFill>
                  <a:srgbClr val="0E1C42"/>
                </a:solidFill>
                <a:latin typeface="Cambria" pitchFamily="34" charset="0"/>
                <a:ea typeface="Cambria" pitchFamily="34" charset="-122"/>
                <a:cs typeface="Cambria" pitchFamily="34" charset="-120"/>
              </a:rPr>
              <a:t>about ancient Egypt</a:t>
            </a:r>
            <a:endParaRPr lang="en-US" sz="1100" dirty="0"/>
          </a:p>
        </p:txBody>
      </p:sp>
      <p:sp>
        <p:nvSpPr>
          <p:cNvPr id="30" name="Shape 28"/>
          <p:cNvSpPr/>
          <p:nvPr/>
        </p:nvSpPr>
        <p:spPr>
          <a:xfrm>
            <a:off x="6236208" y="1097280"/>
            <a:ext cx="347472" cy="347472"/>
          </a:xfrm>
          <a:prstGeom prst="ellipse">
            <a:avLst/>
          </a:prstGeom>
          <a:solidFill>
            <a:srgbClr val="1A8A7D"/>
          </a:solidFill>
          <a:ln w="19050">
            <a:solidFill>
              <a:srgbClr val="C8A84B"/>
            </a:solidFill>
            <a:prstDash val="solid"/>
          </a:ln>
        </p:spPr>
      </p:sp>
      <p:sp>
        <p:nvSpPr>
          <p:cNvPr id="31" name="Text 29"/>
          <p:cNvSpPr/>
          <p:nvPr/>
        </p:nvSpPr>
        <p:spPr>
          <a:xfrm>
            <a:off x="6236208"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32" name="Shape 30"/>
          <p:cNvSpPr/>
          <p:nvPr/>
        </p:nvSpPr>
        <p:spPr>
          <a:xfrm>
            <a:off x="649224" y="4700016"/>
            <a:ext cx="164592" cy="256032"/>
          </a:xfrm>
          <a:prstGeom prst="ellipse">
            <a:avLst/>
          </a:prstGeom>
          <a:solidFill>
            <a:srgbClr val="C8A84B"/>
          </a:solidFill>
          <a:ln w="12700">
            <a:solidFill>
              <a:srgbClr val="333333"/>
            </a:solidFill>
            <a:prstDash val="solid"/>
          </a:ln>
        </p:spPr>
      </p:sp>
      <p:sp>
        <p:nvSpPr>
          <p:cNvPr id="33" name="Shape 31"/>
          <p:cNvSpPr/>
          <p:nvPr/>
        </p:nvSpPr>
        <p:spPr>
          <a:xfrm>
            <a:off x="8330184" y="4700016"/>
            <a:ext cx="164592" cy="256032"/>
          </a:xfrm>
          <a:prstGeom prst="ellipse">
            <a:avLst/>
          </a:prstGeom>
          <a:solidFill>
            <a:srgbClr val="C8A84B"/>
          </a:solidFill>
          <a:ln w="12700">
            <a:solidFill>
              <a:srgbClr val="333333"/>
            </a:solidFill>
            <a:prstDash val="solid"/>
          </a:ln>
        </p:spPr>
      </p:sp>
      <p:sp>
        <p:nvSpPr>
          <p:cNvPr id="34" name="Shape 32"/>
          <p:cNvSpPr/>
          <p:nvPr/>
        </p:nvSpPr>
        <p:spPr>
          <a:xfrm>
            <a:off x="731520" y="4828032"/>
            <a:ext cx="7680960" cy="0"/>
          </a:xfrm>
          <a:prstGeom prst="line">
            <a:avLst/>
          </a:prstGeom>
          <a:noFill/>
          <a:ln w="31750">
            <a:solidFill>
              <a:srgbClr val="C8A84B"/>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457200" y="228600"/>
            <a:ext cx="8229600" cy="4114800"/>
          </a:xfrm>
          <a:prstGeom prst="ellipse">
            <a:avLst/>
          </a:prstGeom>
          <a:solidFill>
            <a:srgbClr val="9B1C2E">
              <a:alpha val="17000"/>
            </a:srgbClr>
          </a:solidFill>
          <a:ln w="12700">
            <a:solidFill>
              <a:srgbClr val="333333"/>
            </a:solidFill>
            <a:prstDash val="solid"/>
          </a:ln>
        </p:spPr>
      </p:sp>
      <p:sp>
        <p:nvSpPr>
          <p:cNvPr id="3" name="Shape 1"/>
          <p:cNvSpPr/>
          <p:nvPr/>
        </p:nvSpPr>
        <p:spPr>
          <a:xfrm>
            <a:off x="2267712" y="1133856"/>
            <a:ext cx="4608576" cy="2304288"/>
          </a:xfrm>
          <a:prstGeom prst="ellipse">
            <a:avLst/>
          </a:prstGeom>
          <a:solidFill>
            <a:srgbClr val="9B1C2E">
              <a:alpha val="27000"/>
            </a:srgbClr>
          </a:solidFill>
          <a:ln w="12700">
            <a:solidFill>
              <a:srgbClr val="333333"/>
            </a:solidFill>
            <a:prstDash val="solid"/>
          </a:ln>
        </p:spPr>
      </p:sp>
      <p:sp>
        <p:nvSpPr>
          <p:cNvPr id="4" name="Text 2"/>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Raise Your Hand</a:t>
            </a:r>
            <a:endParaRPr lang="en-US" sz="2600" dirty="0"/>
          </a:p>
        </p:txBody>
      </p:sp>
      <p:sp>
        <p:nvSpPr>
          <p:cNvPr id="5" name="Text 3"/>
          <p:cNvSpPr/>
          <p:nvPr/>
        </p:nvSpPr>
        <p:spPr>
          <a:xfrm>
            <a:off x="731520" y="658368"/>
            <a:ext cx="7680960" cy="347472"/>
          </a:xfrm>
          <a:prstGeom prst="rect">
            <a:avLst/>
          </a:prstGeom>
          <a:noFill/>
          <a:ln/>
        </p:spPr>
        <p:txBody>
          <a:bodyPr wrap="square" lIns="0" tIns="0" rIns="0" bIns="0" rtlCol="0" anchor="ctr"/>
          <a:lstStyle/>
          <a:p>
            <a:pPr algn="ctr" indent="0" marL="0">
              <a:buNone/>
            </a:pPr>
            <a:r>
              <a:rPr lang="en-US" sz="1300" i="1" dirty="0">
                <a:solidFill>
                  <a:srgbClr val="C8A84B"/>
                </a:solidFill>
                <a:latin typeface="Calibri" pitchFamily="34" charset="0"/>
                <a:ea typeface="Calibri" pitchFamily="34" charset="-122"/>
                <a:cs typeface="Calibri" pitchFamily="34" charset="-120"/>
              </a:rPr>
              <a:t>Raise your hand if the source I describe is PRIMARY. Keep your hand down for secondary.</a:t>
            </a:r>
            <a:endParaRPr lang="en-US" sz="1300" dirty="0"/>
          </a:p>
        </p:txBody>
      </p:sp>
      <p:sp>
        <p:nvSpPr>
          <p:cNvPr id="6" name="Shape 4"/>
          <p:cNvSpPr/>
          <p:nvPr/>
        </p:nvSpPr>
        <p:spPr>
          <a:xfrm>
            <a:off x="457200" y="1097280"/>
            <a:ext cx="8229600" cy="512064"/>
          </a:xfrm>
          <a:prstGeom prst="roundRect">
            <a:avLst>
              <a:gd name="adj" fmla="val 14286"/>
            </a:avLst>
          </a:prstGeom>
          <a:solidFill>
            <a:srgbClr val="9B1C2E">
              <a:alpha val="12000"/>
            </a:srgbClr>
          </a:solidFill>
          <a:ln w="12700">
            <a:solidFill>
              <a:srgbClr val="9B1C2E"/>
            </a:solidFill>
            <a:prstDash val="solid"/>
          </a:ln>
        </p:spPr>
      </p:sp>
      <p:sp>
        <p:nvSpPr>
          <p:cNvPr id="7" name="Text 5"/>
          <p:cNvSpPr/>
          <p:nvPr/>
        </p:nvSpPr>
        <p:spPr>
          <a:xfrm>
            <a:off x="640080" y="1097280"/>
            <a:ext cx="7863840" cy="512064"/>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1.  A diary written by a pioneer traveling the Oregon Trail in 1848</a:t>
            </a:r>
            <a:endParaRPr lang="en-US" sz="1250" dirty="0"/>
          </a:p>
        </p:txBody>
      </p:sp>
      <p:sp>
        <p:nvSpPr>
          <p:cNvPr id="8" name="Shape 6"/>
          <p:cNvSpPr/>
          <p:nvPr/>
        </p:nvSpPr>
        <p:spPr>
          <a:xfrm>
            <a:off x="457200" y="1682496"/>
            <a:ext cx="8229600" cy="512064"/>
          </a:xfrm>
          <a:prstGeom prst="roundRect">
            <a:avLst>
              <a:gd name="adj" fmla="val 14286"/>
            </a:avLst>
          </a:prstGeom>
          <a:solidFill>
            <a:srgbClr val="1A8A7D">
              <a:alpha val="12000"/>
            </a:srgbClr>
          </a:solidFill>
          <a:ln w="12700">
            <a:solidFill>
              <a:srgbClr val="1A8A7D"/>
            </a:solidFill>
            <a:prstDash val="solid"/>
          </a:ln>
        </p:spPr>
      </p:sp>
      <p:sp>
        <p:nvSpPr>
          <p:cNvPr id="9" name="Text 7"/>
          <p:cNvSpPr/>
          <p:nvPr/>
        </p:nvSpPr>
        <p:spPr>
          <a:xfrm>
            <a:off x="640080" y="1682496"/>
            <a:ext cx="7863840" cy="512064"/>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2.  A book about pioneers published in 2015</a:t>
            </a:r>
            <a:endParaRPr lang="en-US" sz="1250" dirty="0"/>
          </a:p>
        </p:txBody>
      </p:sp>
      <p:sp>
        <p:nvSpPr>
          <p:cNvPr id="10" name="Shape 8"/>
          <p:cNvSpPr/>
          <p:nvPr/>
        </p:nvSpPr>
        <p:spPr>
          <a:xfrm>
            <a:off x="457200" y="2267712"/>
            <a:ext cx="8229600" cy="512064"/>
          </a:xfrm>
          <a:prstGeom prst="roundRect">
            <a:avLst>
              <a:gd name="adj" fmla="val 14286"/>
            </a:avLst>
          </a:prstGeom>
          <a:solidFill>
            <a:srgbClr val="9B1C2E">
              <a:alpha val="12000"/>
            </a:srgbClr>
          </a:solidFill>
          <a:ln w="12700">
            <a:solidFill>
              <a:srgbClr val="9B1C2E"/>
            </a:solidFill>
            <a:prstDash val="solid"/>
          </a:ln>
        </p:spPr>
      </p:sp>
      <p:sp>
        <p:nvSpPr>
          <p:cNvPr id="11" name="Text 9"/>
          <p:cNvSpPr/>
          <p:nvPr/>
        </p:nvSpPr>
        <p:spPr>
          <a:xfrm>
            <a:off x="640080" y="2267712"/>
            <a:ext cx="7863840" cy="512064"/>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3.  A photograph of soldiers taken during World War I</a:t>
            </a:r>
            <a:endParaRPr lang="en-US" sz="1250" dirty="0"/>
          </a:p>
        </p:txBody>
      </p:sp>
      <p:sp>
        <p:nvSpPr>
          <p:cNvPr id="12" name="Shape 10"/>
          <p:cNvSpPr/>
          <p:nvPr/>
        </p:nvSpPr>
        <p:spPr>
          <a:xfrm>
            <a:off x="457200" y="2852928"/>
            <a:ext cx="8229600" cy="512064"/>
          </a:xfrm>
          <a:prstGeom prst="roundRect">
            <a:avLst>
              <a:gd name="adj" fmla="val 14286"/>
            </a:avLst>
          </a:prstGeom>
          <a:solidFill>
            <a:srgbClr val="1A8A7D">
              <a:alpha val="12000"/>
            </a:srgbClr>
          </a:solidFill>
          <a:ln w="12700">
            <a:solidFill>
              <a:srgbClr val="1A8A7D"/>
            </a:solidFill>
            <a:prstDash val="solid"/>
          </a:ln>
        </p:spPr>
      </p:sp>
      <p:sp>
        <p:nvSpPr>
          <p:cNvPr id="13" name="Text 11"/>
          <p:cNvSpPr/>
          <p:nvPr/>
        </p:nvSpPr>
        <p:spPr>
          <a:xfrm>
            <a:off x="640080" y="2852928"/>
            <a:ext cx="7863840" cy="512064"/>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4.  An encyclopedia article about World War I</a:t>
            </a:r>
            <a:endParaRPr lang="en-US" sz="1250" dirty="0"/>
          </a:p>
        </p:txBody>
      </p:sp>
      <p:sp>
        <p:nvSpPr>
          <p:cNvPr id="14" name="Shape 12"/>
          <p:cNvSpPr/>
          <p:nvPr/>
        </p:nvSpPr>
        <p:spPr>
          <a:xfrm>
            <a:off x="457200" y="3438144"/>
            <a:ext cx="8229600" cy="512064"/>
          </a:xfrm>
          <a:prstGeom prst="roundRect">
            <a:avLst>
              <a:gd name="adj" fmla="val 14286"/>
            </a:avLst>
          </a:prstGeom>
          <a:solidFill>
            <a:srgbClr val="9B1C2E">
              <a:alpha val="12000"/>
            </a:srgbClr>
          </a:solidFill>
          <a:ln w="12700">
            <a:solidFill>
              <a:srgbClr val="9B1C2E"/>
            </a:solidFill>
            <a:prstDash val="solid"/>
          </a:ln>
        </p:spPr>
      </p:sp>
      <p:sp>
        <p:nvSpPr>
          <p:cNvPr id="15" name="Text 13"/>
          <p:cNvSpPr/>
          <p:nvPr/>
        </p:nvSpPr>
        <p:spPr>
          <a:xfrm>
            <a:off x="640080" y="3438144"/>
            <a:ext cx="7863840" cy="512064"/>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5.  A speech given by Abraham Lincoln at Gettysburg in 1863</a:t>
            </a:r>
            <a:endParaRPr lang="en-US" sz="1250" dirty="0"/>
          </a:p>
        </p:txBody>
      </p:sp>
      <p:sp>
        <p:nvSpPr>
          <p:cNvPr id="16" name="Shape 14"/>
          <p:cNvSpPr/>
          <p:nvPr/>
        </p:nvSpPr>
        <p:spPr>
          <a:xfrm>
            <a:off x="457200" y="4023360"/>
            <a:ext cx="8229600" cy="512064"/>
          </a:xfrm>
          <a:prstGeom prst="roundRect">
            <a:avLst>
              <a:gd name="adj" fmla="val 14286"/>
            </a:avLst>
          </a:prstGeom>
          <a:solidFill>
            <a:srgbClr val="1A8A7D">
              <a:alpha val="12000"/>
            </a:srgbClr>
          </a:solidFill>
          <a:ln w="12700">
            <a:solidFill>
              <a:srgbClr val="1A8A7D"/>
            </a:solidFill>
            <a:prstDash val="solid"/>
          </a:ln>
        </p:spPr>
      </p:sp>
      <p:sp>
        <p:nvSpPr>
          <p:cNvPr id="17" name="Text 15"/>
          <p:cNvSpPr/>
          <p:nvPr/>
        </p:nvSpPr>
        <p:spPr>
          <a:xfrm>
            <a:off x="640080" y="4023360"/>
            <a:ext cx="7863840" cy="512064"/>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6.  A documentary about Abraham Lincoln made in 2020</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9B1C2E"/>
          </a:solidFill>
          <a:ln w="12700">
            <a:solidFill>
              <a:srgbClr val="333333"/>
            </a:solidFill>
            <a:prstDash val="solid"/>
          </a:ln>
        </p:spPr>
      </p:sp>
      <p:sp>
        <p:nvSpPr>
          <p:cNvPr id="3" name="Text 1"/>
          <p:cNvSpPr/>
          <p:nvPr/>
        </p:nvSpPr>
        <p:spPr>
          <a:xfrm>
            <a:off x="457200" y="36576"/>
            <a:ext cx="822960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The Tricky Cases</a:t>
            </a:r>
            <a:endParaRPr lang="en-US" sz="2400" dirty="0"/>
          </a:p>
        </p:txBody>
      </p:sp>
      <p:sp>
        <p:nvSpPr>
          <p:cNvPr id="4" name="Shape 2"/>
          <p:cNvSpPr/>
          <p:nvPr/>
        </p:nvSpPr>
        <p:spPr>
          <a:xfrm>
            <a:off x="402336" y="768096"/>
            <a:ext cx="8339328" cy="1261872"/>
          </a:xfrm>
          <a:prstGeom prst="roundRect">
            <a:avLst>
              <a:gd name="adj" fmla="val 7246"/>
            </a:avLst>
          </a:prstGeom>
          <a:solidFill>
            <a:srgbClr val="FFFFFF"/>
          </a:solidFill>
          <a:ln w="19050">
            <a:solidFill>
              <a:srgbClr val="9B1C2E"/>
            </a:solidFill>
            <a:prstDash val="solid"/>
          </a:ln>
          <a:effectLst>
            <a:outerShdw sx="100000" sy="100000" kx="0" ky="0" algn="bl" rotWithShape="0" blurRad="101600" dist="25400" dir="2700000">
              <a:srgbClr val="000000">
                <a:alpha val="10000"/>
              </a:srgbClr>
            </a:outerShdw>
          </a:effectLst>
        </p:spPr>
      </p:sp>
      <p:sp>
        <p:nvSpPr>
          <p:cNvPr id="5" name="Text 3"/>
          <p:cNvSpPr/>
          <p:nvPr/>
        </p:nvSpPr>
        <p:spPr>
          <a:xfrm>
            <a:off x="585216" y="804672"/>
            <a:ext cx="7973568" cy="475488"/>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A textbook printed in 1865 during the Civil War</a:t>
            </a:r>
            <a:endParaRPr lang="en-US" sz="1300" dirty="0"/>
          </a:p>
        </p:txBody>
      </p:sp>
      <p:sp>
        <p:nvSpPr>
          <p:cNvPr id="6" name="Shape 4"/>
          <p:cNvSpPr/>
          <p:nvPr/>
        </p:nvSpPr>
        <p:spPr>
          <a:xfrm>
            <a:off x="585216" y="1298448"/>
            <a:ext cx="7973568" cy="0"/>
          </a:xfrm>
          <a:prstGeom prst="line">
            <a:avLst/>
          </a:prstGeom>
          <a:noFill/>
          <a:ln w="10160">
            <a:solidFill>
              <a:srgbClr val="9B1C2E"/>
            </a:solidFill>
            <a:prstDash val="solid"/>
          </a:ln>
        </p:spPr>
      </p:sp>
      <p:sp>
        <p:nvSpPr>
          <p:cNvPr id="7" name="Text 5"/>
          <p:cNvSpPr/>
          <p:nvPr/>
        </p:nvSpPr>
        <p:spPr>
          <a:xfrm>
            <a:off x="585216" y="1335024"/>
            <a:ext cx="7973568" cy="603504"/>
          </a:xfrm>
          <a:prstGeom prst="rect">
            <a:avLst/>
          </a:prstGeom>
          <a:noFill/>
          <a:ln/>
        </p:spPr>
        <p:txBody>
          <a:bodyPr wrap="square" lIns="0" tIns="0" rIns="0" bIns="0" rtlCol="0" anchor="ctr"/>
          <a:lstStyle/>
          <a:p>
            <a:pPr indent="0" marL="0">
              <a:buNone/>
            </a:pPr>
            <a:r>
              <a:rPr lang="en-US" sz="1200" dirty="0">
                <a:solidFill>
                  <a:srgbClr val="9B1C2E"/>
                </a:solidFill>
                <a:latin typeface="Calibri" pitchFamily="34" charset="0"/>
                <a:ea typeface="Calibri" pitchFamily="34" charset="-122"/>
                <a:cs typeface="Calibri" pitchFamily="34" charset="-120"/>
              </a:rPr>
              <a:t>Answer: Secondary — but OLD. Age alone doesn't make something primary.</a:t>
            </a:r>
            <a:endParaRPr lang="en-US" sz="1200" dirty="0"/>
          </a:p>
        </p:txBody>
      </p:sp>
      <p:sp>
        <p:nvSpPr>
          <p:cNvPr id="8" name="Shape 6"/>
          <p:cNvSpPr/>
          <p:nvPr/>
        </p:nvSpPr>
        <p:spPr>
          <a:xfrm>
            <a:off x="402336" y="2157984"/>
            <a:ext cx="8339328" cy="1261872"/>
          </a:xfrm>
          <a:prstGeom prst="roundRect">
            <a:avLst>
              <a:gd name="adj" fmla="val 7246"/>
            </a:avLst>
          </a:prstGeom>
          <a:solidFill>
            <a:srgbClr val="FFFFFF"/>
          </a:solidFill>
          <a:ln w="19050">
            <a:solidFill>
              <a:srgbClr val="9B1C2E"/>
            </a:solidFill>
            <a:prstDash val="solid"/>
          </a:ln>
          <a:effectLst>
            <a:outerShdw sx="100000" sy="100000" kx="0" ky="0" algn="bl" rotWithShape="0" blurRad="101600" dist="25400" dir="2700000">
              <a:srgbClr val="000000">
                <a:alpha val="10000"/>
              </a:srgbClr>
            </a:outerShdw>
          </a:effectLst>
        </p:spPr>
      </p:sp>
      <p:sp>
        <p:nvSpPr>
          <p:cNvPr id="9" name="Text 7"/>
          <p:cNvSpPr/>
          <p:nvPr/>
        </p:nvSpPr>
        <p:spPr>
          <a:xfrm>
            <a:off x="585216" y="2194560"/>
            <a:ext cx="7973568" cy="475488"/>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A photo of an ancient artifact in a modern museum</a:t>
            </a:r>
            <a:endParaRPr lang="en-US" sz="1300" dirty="0"/>
          </a:p>
        </p:txBody>
      </p:sp>
      <p:sp>
        <p:nvSpPr>
          <p:cNvPr id="10" name="Shape 8"/>
          <p:cNvSpPr/>
          <p:nvPr/>
        </p:nvSpPr>
        <p:spPr>
          <a:xfrm>
            <a:off x="585216" y="2688336"/>
            <a:ext cx="7973568" cy="0"/>
          </a:xfrm>
          <a:prstGeom prst="line">
            <a:avLst/>
          </a:prstGeom>
          <a:noFill/>
          <a:ln w="10160">
            <a:solidFill>
              <a:srgbClr val="9B1C2E"/>
            </a:solidFill>
            <a:prstDash val="solid"/>
          </a:ln>
        </p:spPr>
      </p:sp>
      <p:sp>
        <p:nvSpPr>
          <p:cNvPr id="11" name="Text 9"/>
          <p:cNvSpPr/>
          <p:nvPr/>
        </p:nvSpPr>
        <p:spPr>
          <a:xfrm>
            <a:off x="585216" y="2724912"/>
            <a:ext cx="7973568" cy="603504"/>
          </a:xfrm>
          <a:prstGeom prst="rect">
            <a:avLst/>
          </a:prstGeom>
          <a:noFill/>
          <a:ln/>
        </p:spPr>
        <p:txBody>
          <a:bodyPr wrap="square" lIns="0" tIns="0" rIns="0" bIns="0" rtlCol="0" anchor="ctr"/>
          <a:lstStyle/>
          <a:p>
            <a:pPr indent="0" marL="0">
              <a:buNone/>
            </a:pPr>
            <a:r>
              <a:rPr lang="en-US" sz="1200" dirty="0">
                <a:solidFill>
                  <a:srgbClr val="9B1C2E"/>
                </a:solidFill>
                <a:latin typeface="Calibri" pitchFamily="34" charset="0"/>
                <a:ea typeface="Calibri" pitchFamily="34" charset="-122"/>
                <a:cs typeface="Calibri" pitchFamily="34" charset="-120"/>
              </a:rPr>
              <a:t>Answer: The photo is secondary. The artifact is primary.</a:t>
            </a:r>
            <a:endParaRPr lang="en-US" sz="1200" dirty="0"/>
          </a:p>
        </p:txBody>
      </p:sp>
      <p:sp>
        <p:nvSpPr>
          <p:cNvPr id="12" name="Shape 10"/>
          <p:cNvSpPr/>
          <p:nvPr/>
        </p:nvSpPr>
        <p:spPr>
          <a:xfrm>
            <a:off x="402336" y="3547872"/>
            <a:ext cx="8339328" cy="1261872"/>
          </a:xfrm>
          <a:prstGeom prst="roundRect">
            <a:avLst>
              <a:gd name="adj" fmla="val 7246"/>
            </a:avLst>
          </a:prstGeom>
          <a:solidFill>
            <a:srgbClr val="FFFFFF"/>
          </a:solidFill>
          <a:ln w="19050">
            <a:solidFill>
              <a:srgbClr val="9B1C2E"/>
            </a:solidFill>
            <a:prstDash val="solid"/>
          </a:ln>
          <a:effectLst>
            <a:outerShdw sx="100000" sy="100000" kx="0" ky="0" algn="bl" rotWithShape="0" blurRad="101600" dist="25400" dir="2700000">
              <a:srgbClr val="000000">
                <a:alpha val="10000"/>
              </a:srgbClr>
            </a:outerShdw>
          </a:effectLst>
        </p:spPr>
      </p:sp>
      <p:sp>
        <p:nvSpPr>
          <p:cNvPr id="13" name="Text 11"/>
          <p:cNvSpPr/>
          <p:nvPr/>
        </p:nvSpPr>
        <p:spPr>
          <a:xfrm>
            <a:off x="585216" y="3584448"/>
            <a:ext cx="7973568" cy="475488"/>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  An interview recorded in 1990 of a WWII soldier</a:t>
            </a:r>
            <a:endParaRPr lang="en-US" sz="1300" dirty="0"/>
          </a:p>
        </p:txBody>
      </p:sp>
      <p:sp>
        <p:nvSpPr>
          <p:cNvPr id="14" name="Shape 12"/>
          <p:cNvSpPr/>
          <p:nvPr/>
        </p:nvSpPr>
        <p:spPr>
          <a:xfrm>
            <a:off x="585216" y="4078224"/>
            <a:ext cx="7973568" cy="0"/>
          </a:xfrm>
          <a:prstGeom prst="line">
            <a:avLst/>
          </a:prstGeom>
          <a:noFill/>
          <a:ln w="10160">
            <a:solidFill>
              <a:srgbClr val="9B1C2E"/>
            </a:solidFill>
            <a:prstDash val="solid"/>
          </a:ln>
        </p:spPr>
      </p:sp>
      <p:sp>
        <p:nvSpPr>
          <p:cNvPr id="15" name="Text 13"/>
          <p:cNvSpPr/>
          <p:nvPr/>
        </p:nvSpPr>
        <p:spPr>
          <a:xfrm>
            <a:off x="585216" y="4114800"/>
            <a:ext cx="7973568" cy="603504"/>
          </a:xfrm>
          <a:prstGeom prst="rect">
            <a:avLst/>
          </a:prstGeom>
          <a:noFill/>
          <a:ln/>
        </p:spPr>
        <p:txBody>
          <a:bodyPr wrap="square" lIns="0" tIns="0" rIns="0" bIns="0" rtlCol="0" anchor="ctr"/>
          <a:lstStyle/>
          <a:p>
            <a:pPr indent="0" marL="0">
              <a:buNone/>
            </a:pPr>
            <a:r>
              <a:rPr lang="en-US" sz="1200" dirty="0">
                <a:solidFill>
                  <a:srgbClr val="9B1C2E"/>
                </a:solidFill>
                <a:latin typeface="Calibri" pitchFamily="34" charset="0"/>
                <a:ea typeface="Calibri" pitchFamily="34" charset="-122"/>
                <a:cs typeface="Calibri" pitchFamily="34" charset="-120"/>
              </a:rPr>
              <a:t>Answer: Primary — the soldier was there, even if the interview was later.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685800" y="502920"/>
            <a:ext cx="7772400" cy="4114800"/>
          </a:xfrm>
          <a:prstGeom prst="ellipse">
            <a:avLst/>
          </a:prstGeom>
          <a:solidFill>
            <a:srgbClr val="C7522A">
              <a:alpha val="17000"/>
            </a:srgbClr>
          </a:solidFill>
          <a:ln w="12700">
            <a:solidFill>
              <a:srgbClr val="333333"/>
            </a:solidFill>
            <a:prstDash val="solid"/>
          </a:ln>
        </p:spPr>
      </p:sp>
      <p:sp>
        <p:nvSpPr>
          <p:cNvPr id="3" name="Shape 1"/>
          <p:cNvSpPr/>
          <p:nvPr/>
        </p:nvSpPr>
        <p:spPr>
          <a:xfrm>
            <a:off x="2395728" y="1408176"/>
            <a:ext cx="4352544" cy="2304288"/>
          </a:xfrm>
          <a:prstGeom prst="ellipse">
            <a:avLst/>
          </a:prstGeom>
          <a:solidFill>
            <a:srgbClr val="C7522A">
              <a:alpha val="27000"/>
            </a:srgbClr>
          </a:solidFill>
          <a:ln w="12700">
            <a:solidFill>
              <a:srgbClr val="333333"/>
            </a:solidFill>
            <a:prstDash val="solid"/>
          </a:ln>
        </p:spPr>
      </p:sp>
      <p:sp>
        <p:nvSpPr>
          <p:cNvPr id="4" name="Text 2"/>
          <p:cNvSpPr/>
          <p:nvPr/>
        </p:nvSpPr>
        <p:spPr>
          <a:xfrm>
            <a:off x="457200" y="182880"/>
            <a:ext cx="8229600" cy="475488"/>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In Your Groups</a:t>
            </a:r>
            <a:endParaRPr lang="en-US" sz="2800" dirty="0"/>
          </a:p>
        </p:txBody>
      </p:sp>
      <p:sp>
        <p:nvSpPr>
          <p:cNvPr id="5" name="Shape 3"/>
          <p:cNvSpPr/>
          <p:nvPr/>
        </p:nvSpPr>
        <p:spPr>
          <a:xfrm>
            <a:off x="402336" y="768096"/>
            <a:ext cx="8339328" cy="475488"/>
          </a:xfrm>
          <a:prstGeom prst="roundRect">
            <a:avLst>
              <a:gd name="adj" fmla="val 15385"/>
            </a:avLst>
          </a:prstGeom>
          <a:solidFill>
            <a:srgbClr val="C7522A">
              <a:alpha val="20000"/>
            </a:srgbClr>
          </a:solidFill>
          <a:ln w="19050">
            <a:solidFill>
              <a:srgbClr val="C7522A"/>
            </a:solidFill>
            <a:prstDash val="solid"/>
          </a:ln>
        </p:spPr>
      </p:sp>
      <p:sp>
        <p:nvSpPr>
          <p:cNvPr id="6" name="Text 4"/>
          <p:cNvSpPr/>
          <p:nvPr/>
        </p:nvSpPr>
        <p:spPr>
          <a:xfrm>
            <a:off x="585216" y="768096"/>
            <a:ext cx="7973568" cy="475488"/>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Sort these 5 sources. Decide: Primary or Secondary? Be ready to explain your reasoning.</a:t>
            </a:r>
            <a:endParaRPr lang="en-US" sz="1250" dirty="0"/>
          </a:p>
        </p:txBody>
      </p:sp>
      <p:sp>
        <p:nvSpPr>
          <p:cNvPr id="7" name="Shape 5"/>
          <p:cNvSpPr/>
          <p:nvPr/>
        </p:nvSpPr>
        <p:spPr>
          <a:xfrm>
            <a:off x="402336" y="1335024"/>
            <a:ext cx="8339328" cy="621792"/>
          </a:xfrm>
          <a:prstGeom prst="roundRect">
            <a:avLst>
              <a:gd name="adj" fmla="val 10294"/>
            </a:avLst>
          </a:prstGeom>
          <a:solidFill>
            <a:srgbClr val="FFFFFF">
              <a:alpha val="8000"/>
            </a:srgbClr>
          </a:solidFill>
          <a:ln w="12700">
            <a:solidFill>
              <a:srgbClr val="C8A84B"/>
            </a:solidFill>
            <a:prstDash val="solid"/>
          </a:ln>
        </p:spPr>
      </p:sp>
      <p:sp>
        <p:nvSpPr>
          <p:cNvPr id="8" name="Text 6"/>
          <p:cNvSpPr/>
          <p:nvPr/>
        </p:nvSpPr>
        <p:spPr>
          <a:xfrm>
            <a:off x="585216" y="1335024"/>
            <a:ext cx="7973568" cy="621792"/>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  A journal kept by a woman crossing the Oregon Trail in 1850</a:t>
            </a:r>
            <a:endParaRPr lang="en-US" sz="1250" dirty="0"/>
          </a:p>
        </p:txBody>
      </p:sp>
      <p:sp>
        <p:nvSpPr>
          <p:cNvPr id="9" name="Shape 7"/>
          <p:cNvSpPr/>
          <p:nvPr/>
        </p:nvSpPr>
        <p:spPr>
          <a:xfrm>
            <a:off x="402336" y="2029968"/>
            <a:ext cx="8339328" cy="621792"/>
          </a:xfrm>
          <a:prstGeom prst="roundRect">
            <a:avLst>
              <a:gd name="adj" fmla="val 10294"/>
            </a:avLst>
          </a:prstGeom>
          <a:solidFill>
            <a:srgbClr val="FFFFFF">
              <a:alpha val="8000"/>
            </a:srgbClr>
          </a:solidFill>
          <a:ln w="12700">
            <a:solidFill>
              <a:srgbClr val="C8A84B"/>
            </a:solidFill>
            <a:prstDash val="solid"/>
          </a:ln>
        </p:spPr>
      </p:sp>
      <p:sp>
        <p:nvSpPr>
          <p:cNvPr id="10" name="Text 8"/>
          <p:cNvSpPr/>
          <p:nvPr/>
        </p:nvSpPr>
        <p:spPr>
          <a:xfrm>
            <a:off x="585216" y="2029968"/>
            <a:ext cx="7973568" cy="621792"/>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  A news article from 2022 about Oregon Trail history</a:t>
            </a:r>
            <a:endParaRPr lang="en-US" sz="1250" dirty="0"/>
          </a:p>
        </p:txBody>
      </p:sp>
      <p:sp>
        <p:nvSpPr>
          <p:cNvPr id="11" name="Shape 9"/>
          <p:cNvSpPr/>
          <p:nvPr/>
        </p:nvSpPr>
        <p:spPr>
          <a:xfrm>
            <a:off x="402336" y="2724912"/>
            <a:ext cx="8339328" cy="621792"/>
          </a:xfrm>
          <a:prstGeom prst="roundRect">
            <a:avLst>
              <a:gd name="adj" fmla="val 10294"/>
            </a:avLst>
          </a:prstGeom>
          <a:solidFill>
            <a:srgbClr val="FFFFFF">
              <a:alpha val="8000"/>
            </a:srgbClr>
          </a:solidFill>
          <a:ln w="12700">
            <a:solidFill>
              <a:srgbClr val="C8A84B"/>
            </a:solidFill>
            <a:prstDash val="solid"/>
          </a:ln>
        </p:spPr>
      </p:sp>
      <p:sp>
        <p:nvSpPr>
          <p:cNvPr id="12" name="Text 10"/>
          <p:cNvSpPr/>
          <p:nvPr/>
        </p:nvSpPr>
        <p:spPr>
          <a:xfrm>
            <a:off x="585216" y="2724912"/>
            <a:ext cx="7973568" cy="621792"/>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  A sword used by a knight in medieval Europe</a:t>
            </a:r>
            <a:endParaRPr lang="en-US" sz="1250" dirty="0"/>
          </a:p>
        </p:txBody>
      </p:sp>
      <p:sp>
        <p:nvSpPr>
          <p:cNvPr id="13" name="Shape 11"/>
          <p:cNvSpPr/>
          <p:nvPr/>
        </p:nvSpPr>
        <p:spPr>
          <a:xfrm>
            <a:off x="402336" y="3419856"/>
            <a:ext cx="8339328" cy="621792"/>
          </a:xfrm>
          <a:prstGeom prst="roundRect">
            <a:avLst>
              <a:gd name="adj" fmla="val 10294"/>
            </a:avLst>
          </a:prstGeom>
          <a:solidFill>
            <a:srgbClr val="FFFFFF">
              <a:alpha val="8000"/>
            </a:srgbClr>
          </a:solidFill>
          <a:ln w="12700">
            <a:solidFill>
              <a:srgbClr val="C8A84B"/>
            </a:solidFill>
            <a:prstDash val="solid"/>
          </a:ln>
        </p:spPr>
      </p:sp>
      <p:sp>
        <p:nvSpPr>
          <p:cNvPr id="14" name="Text 12"/>
          <p:cNvSpPr/>
          <p:nvPr/>
        </p:nvSpPr>
        <p:spPr>
          <a:xfrm>
            <a:off x="585216" y="3419856"/>
            <a:ext cx="7973568" cy="621792"/>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  A play written today about Shakespeare's life</a:t>
            </a:r>
            <a:endParaRPr lang="en-US" sz="1250" dirty="0"/>
          </a:p>
        </p:txBody>
      </p:sp>
      <p:sp>
        <p:nvSpPr>
          <p:cNvPr id="15" name="Shape 13"/>
          <p:cNvSpPr/>
          <p:nvPr/>
        </p:nvSpPr>
        <p:spPr>
          <a:xfrm>
            <a:off x="402336" y="4114800"/>
            <a:ext cx="8339328" cy="621792"/>
          </a:xfrm>
          <a:prstGeom prst="roundRect">
            <a:avLst>
              <a:gd name="adj" fmla="val 10294"/>
            </a:avLst>
          </a:prstGeom>
          <a:solidFill>
            <a:srgbClr val="FFFFFF">
              <a:alpha val="8000"/>
            </a:srgbClr>
          </a:solidFill>
          <a:ln w="12700">
            <a:solidFill>
              <a:srgbClr val="C8A84B"/>
            </a:solidFill>
            <a:prstDash val="solid"/>
          </a:ln>
        </p:spPr>
      </p:sp>
      <p:sp>
        <p:nvSpPr>
          <p:cNvPr id="16" name="Text 14"/>
          <p:cNvSpPr/>
          <p:nvPr/>
        </p:nvSpPr>
        <p:spPr>
          <a:xfrm>
            <a:off x="585216" y="4114800"/>
            <a:ext cx="7973568" cy="621792"/>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  A radio broadcast made during the moon landing in 1969</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2"/>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E1C42"/>
          </a:solidFill>
          <a:ln w="12700">
            <a:solidFill>
              <a:srgbClr val="333333"/>
            </a:solidFill>
            <a:prstDash val="solid"/>
          </a:ln>
        </p:spPr>
      </p:sp>
      <p:sp>
        <p:nvSpPr>
          <p:cNvPr id="3" name="Text 1"/>
          <p:cNvSpPr/>
          <p:nvPr/>
        </p:nvSpPr>
        <p:spPr>
          <a:xfrm>
            <a:off x="457200" y="73152"/>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Why Honesty Matters Here</a:t>
            </a:r>
            <a:endParaRPr lang="en-US" sz="2200" dirty="0"/>
          </a:p>
        </p:txBody>
      </p:sp>
      <p:sp>
        <p:nvSpPr>
          <p:cNvPr id="4" name="Shape 2"/>
          <p:cNvSpPr/>
          <p:nvPr/>
        </p:nvSpPr>
        <p:spPr>
          <a:xfrm>
            <a:off x="402336" y="768096"/>
            <a:ext cx="8339328" cy="2395728"/>
          </a:xfrm>
          <a:prstGeom prst="roundRect">
            <a:avLst>
              <a:gd name="adj" fmla="val 4580"/>
            </a:avLst>
          </a:prstGeom>
          <a:solidFill>
            <a:srgbClr val="9B1C2E">
              <a:alpha val="8000"/>
            </a:srgbClr>
          </a:solidFill>
          <a:ln w="19050">
            <a:solidFill>
              <a:srgbClr val="9B1C2E"/>
            </a:solidFill>
            <a:prstDash val="solid"/>
          </a:ln>
        </p:spPr>
      </p:sp>
      <p:sp>
        <p:nvSpPr>
          <p:cNvPr id="5" name="Text 3"/>
          <p:cNvSpPr/>
          <p:nvPr/>
        </p:nvSpPr>
        <p:spPr>
          <a:xfrm>
            <a:off x="585216" y="877824"/>
            <a:ext cx="7973568" cy="2176272"/>
          </a:xfrm>
          <a:prstGeom prst="rect">
            <a:avLst/>
          </a:prstGeom>
          <a:noFill/>
          <a:ln/>
        </p:spPr>
        <p:txBody>
          <a:bodyPr wrap="square" rtlCol="0" anchor="t"/>
          <a:lstStyle/>
          <a:p>
            <a:pPr algn="l" indent="0" marL="0">
              <a:lnSpc>
                <a:spcPct val="150000"/>
              </a:lnSpc>
              <a:buNone/>
            </a:pPr>
            <a:r>
              <a:rPr lang="en-US" sz="1250" dirty="0">
                <a:solidFill>
                  <a:srgbClr val="0E1C42"/>
                </a:solidFill>
                <a:latin typeface="Calibri" pitchFamily="34" charset="0"/>
                <a:ea typeface="Calibri" pitchFamily="34" charset="-122"/>
                <a:cs typeface="Calibri" pitchFamily="34" charset="-120"/>
              </a:rPr>
              <a:t>When historians cite sources, they MUST label them correctly.</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0E1C42"/>
                </a:solidFill>
                <a:latin typeface="Calibri" pitchFamily="34" charset="0"/>
                <a:ea typeface="Calibri" pitchFamily="34" charset="-122"/>
                <a:cs typeface="Calibri" pitchFamily="34" charset="-120"/>
              </a:rPr>
              <a:t>If you say a secondary source is primary — you mislead your reader.</a:t>
            </a:r>
            <a:endParaRPr lang="en-US" sz="1250" dirty="0"/>
          </a:p>
          <a:p>
            <a:pPr algn="l" indent="0" marL="0">
              <a:lnSpc>
                <a:spcPct val="150000"/>
              </a:lnSpc>
              <a:buNone/>
            </a:pPr>
            <a:r>
              <a:rPr lang="en-US" sz="1250" dirty="0">
                <a:solidFill>
                  <a:srgbClr val="0E1C42"/>
                </a:solidFill>
                <a:latin typeface="Calibri" pitchFamily="34" charset="0"/>
                <a:ea typeface="Calibri" pitchFamily="34" charset="-122"/>
                <a:cs typeface="Calibri" pitchFamily="34" charset="-120"/>
              </a:rPr>
              <a:t>If you ignore a primary source because it's inconvenient — you distort the truth.</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0E1C42"/>
                </a:solidFill>
                <a:latin typeface="Calibri" pitchFamily="34" charset="0"/>
                <a:ea typeface="Calibri" pitchFamily="34" charset="-122"/>
                <a:cs typeface="Calibri" pitchFamily="34" charset="-120"/>
              </a:rPr>
              <a:t>Honesty in history means:</a:t>
            </a:r>
            <a:endParaRPr lang="en-US" sz="1250" dirty="0"/>
          </a:p>
          <a:p>
            <a:pPr algn="l" indent="0" marL="0">
              <a:lnSpc>
                <a:spcPct val="150000"/>
              </a:lnSpc>
              <a:buNone/>
            </a:pPr>
            <a:r>
              <a:rPr lang="en-US" sz="1250" dirty="0">
                <a:solidFill>
                  <a:srgbClr val="0E1C42"/>
                </a:solidFill>
                <a:latin typeface="Calibri" pitchFamily="34" charset="0"/>
                <a:ea typeface="Calibri" pitchFamily="34" charset="-122"/>
                <a:cs typeface="Calibri" pitchFamily="34" charset="-120"/>
              </a:rPr>
              <a:t>• Using the right kind of source for the right kind of claim</a:t>
            </a:r>
            <a:endParaRPr lang="en-US" sz="1250" dirty="0"/>
          </a:p>
          <a:p>
            <a:pPr algn="l" indent="0" marL="0">
              <a:lnSpc>
                <a:spcPct val="150000"/>
              </a:lnSpc>
              <a:buNone/>
            </a:pPr>
            <a:r>
              <a:rPr lang="en-US" sz="1250" dirty="0">
                <a:solidFill>
                  <a:srgbClr val="0E1C42"/>
                </a:solidFill>
                <a:latin typeface="Calibri" pitchFamily="34" charset="0"/>
                <a:ea typeface="Calibri" pitchFamily="34" charset="-122"/>
                <a:cs typeface="Calibri" pitchFamily="34" charset="-120"/>
              </a:rPr>
              <a:t>• Not pretending a secondary source saw what it didn't see</a:t>
            </a:r>
            <a:endParaRPr lang="en-US" sz="1250" dirty="0"/>
          </a:p>
          <a:p>
            <a:pPr algn="l" indent="0" marL="0">
              <a:lnSpc>
                <a:spcPct val="150000"/>
              </a:lnSpc>
              <a:buNone/>
            </a:pPr>
            <a:r>
              <a:rPr lang="en-US" sz="1250" dirty="0">
                <a:solidFill>
                  <a:srgbClr val="0E1C42"/>
                </a:solidFill>
                <a:latin typeface="Calibri" pitchFamily="34" charset="0"/>
                <a:ea typeface="Calibri" pitchFamily="34" charset="-122"/>
                <a:cs typeface="Calibri" pitchFamily="34" charset="-120"/>
              </a:rPr>
              <a:t>• Admitting when we only have secondary sources to work with</a:t>
            </a:r>
            <a:endParaRPr lang="en-US" sz="1250" dirty="0"/>
          </a:p>
        </p:txBody>
      </p:sp>
      <p:sp>
        <p:nvSpPr>
          <p:cNvPr id="6" name="Shape 4"/>
          <p:cNvSpPr/>
          <p:nvPr/>
        </p:nvSpPr>
        <p:spPr>
          <a:xfrm>
            <a:off x="402336" y="3273552"/>
            <a:ext cx="8339328" cy="1609344"/>
          </a:xfrm>
          <a:prstGeom prst="roundRect">
            <a:avLst>
              <a:gd name="adj" fmla="val 5682"/>
            </a:avLst>
          </a:prstGeom>
          <a:solidFill>
            <a:srgbClr val="E0F5F0"/>
          </a:solidFill>
          <a:ln w="22860">
            <a:solidFill>
              <a:srgbClr val="1A8A7D"/>
            </a:solidFill>
            <a:prstDash val="solid"/>
          </a:ln>
          <a:effectLst>
            <a:outerShdw sx="100000" sy="100000" kx="0" ky="0" algn="bl" rotWithShape="0" blurRad="101600" dist="25400" dir="2700000">
              <a:srgbClr val="000000">
                <a:alpha val="10000"/>
              </a:srgbClr>
            </a:outerShdw>
          </a:effectLst>
        </p:spPr>
      </p:sp>
      <p:sp>
        <p:nvSpPr>
          <p:cNvPr id="7" name="Text 5"/>
          <p:cNvSpPr/>
          <p:nvPr/>
        </p:nvSpPr>
        <p:spPr>
          <a:xfrm>
            <a:off x="539496" y="3364992"/>
            <a:ext cx="8065008" cy="320040"/>
          </a:xfrm>
          <a:prstGeom prst="rect">
            <a:avLst/>
          </a:prstGeom>
          <a:noFill/>
          <a:ln/>
        </p:spPr>
        <p:txBody>
          <a:bodyPr wrap="square" lIns="0" tIns="0" rIns="0" bIns="0" rtlCol="0" anchor="ctr"/>
          <a:lstStyle/>
          <a:p>
            <a:pPr indent="0" marL="0">
              <a:buNone/>
            </a:pPr>
            <a:r>
              <a:rPr lang="en-US" sz="1150" b="1" dirty="0">
                <a:solidFill>
                  <a:srgbClr val="1A8A7D"/>
                </a:solidFill>
                <a:latin typeface="Calibri" pitchFamily="34" charset="0"/>
                <a:ea typeface="Calibri" pitchFamily="34" charset="-122"/>
                <a:cs typeface="Calibri" pitchFamily="34" charset="-120"/>
              </a:rPr>
              <a:t>In the Chat</a:t>
            </a:r>
            <a:endParaRPr lang="en-US" sz="1150" dirty="0"/>
          </a:p>
        </p:txBody>
      </p:sp>
      <p:sp>
        <p:nvSpPr>
          <p:cNvPr id="8" name="Shape 6"/>
          <p:cNvSpPr/>
          <p:nvPr/>
        </p:nvSpPr>
        <p:spPr>
          <a:xfrm>
            <a:off x="539496" y="3703320"/>
            <a:ext cx="8065008" cy="0"/>
          </a:xfrm>
          <a:prstGeom prst="line">
            <a:avLst/>
          </a:prstGeom>
          <a:noFill/>
          <a:ln w="10160">
            <a:solidFill>
              <a:srgbClr val="1A8A7D"/>
            </a:solidFill>
            <a:prstDash val="solid"/>
          </a:ln>
        </p:spPr>
      </p:sp>
      <p:sp>
        <p:nvSpPr>
          <p:cNvPr id="9" name="Text 7"/>
          <p:cNvSpPr/>
          <p:nvPr/>
        </p:nvSpPr>
        <p:spPr>
          <a:xfrm>
            <a:off x="539496" y="3758184"/>
            <a:ext cx="8065008" cy="1014984"/>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Think of a time when someone told you about something that happened — but they weren't there when it happened. Were they a primary or secondary source? What might they have gotten wrong?</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914400" y="228600"/>
            <a:ext cx="7315200" cy="4114800"/>
          </a:xfrm>
          <a:prstGeom prst="ellipse">
            <a:avLst/>
          </a:prstGeom>
          <a:solidFill>
            <a:srgbClr val="9B1C2E">
              <a:alpha val="17000"/>
            </a:srgbClr>
          </a:solidFill>
          <a:ln w="12700">
            <a:solidFill>
              <a:srgbClr val="333333"/>
            </a:solidFill>
            <a:prstDash val="solid"/>
          </a:ln>
        </p:spPr>
      </p:sp>
      <p:sp>
        <p:nvSpPr>
          <p:cNvPr id="3" name="Shape 1"/>
          <p:cNvSpPr/>
          <p:nvPr/>
        </p:nvSpPr>
        <p:spPr>
          <a:xfrm>
            <a:off x="2523744" y="1133856"/>
            <a:ext cx="4096512" cy="2304288"/>
          </a:xfrm>
          <a:prstGeom prst="ellipse">
            <a:avLst/>
          </a:prstGeom>
          <a:solidFill>
            <a:srgbClr val="9B1C2E">
              <a:alpha val="27000"/>
            </a:srgbClr>
          </a:solidFill>
          <a:ln w="12700">
            <a:solidFill>
              <a:srgbClr val="333333"/>
            </a:solidFill>
            <a:prstDash val="solid"/>
          </a:ln>
        </p:spPr>
      </p:sp>
      <p:sp>
        <p:nvSpPr>
          <p:cNvPr id="4" name="Text 2"/>
          <p:cNvSpPr/>
          <p:nvPr/>
        </p:nvSpPr>
        <p:spPr>
          <a:xfrm>
            <a:off x="457200" y="822960"/>
            <a:ext cx="8229600" cy="658368"/>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You are now a Source Sorter.</a:t>
            </a:r>
            <a:endParaRPr lang="en-US" sz="3200" dirty="0"/>
          </a:p>
        </p:txBody>
      </p:sp>
      <p:sp>
        <p:nvSpPr>
          <p:cNvPr id="5" name="Text 3"/>
          <p:cNvSpPr/>
          <p:nvPr/>
        </p:nvSpPr>
        <p:spPr>
          <a:xfrm>
            <a:off x="914400" y="1572768"/>
            <a:ext cx="7315200" cy="914400"/>
          </a:xfrm>
          <a:prstGeom prst="rect">
            <a:avLst/>
          </a:prstGeom>
          <a:noFill/>
          <a:ln/>
        </p:spPr>
        <p:txBody>
          <a:bodyPr wrap="square" rtlCol="0" anchor="ctr"/>
          <a:lstStyle/>
          <a:p>
            <a:pPr algn="ctr" indent="0" marL="0">
              <a:lnSpc>
                <a:spcPct val="150000"/>
              </a:lnSpc>
              <a:buNone/>
            </a:pPr>
            <a:r>
              <a:rPr lang="en-US" sz="1450" dirty="0">
                <a:solidFill>
                  <a:srgbClr val="C8A84B"/>
                </a:solidFill>
                <a:latin typeface="Calibri" pitchFamily="34" charset="0"/>
                <a:ea typeface="Calibri" pitchFamily="34" charset="-122"/>
                <a:cs typeface="Calibri" pitchFamily="34" charset="-120"/>
              </a:rPr>
              <a:t>Primary = made at the time, by someone who was there.</a:t>
            </a:r>
            <a:endParaRPr lang="en-US" sz="1450" dirty="0"/>
          </a:p>
          <a:p>
            <a:pPr algn="ctr" indent="0" marL="0">
              <a:lnSpc>
                <a:spcPct val="150000"/>
              </a:lnSpc>
              <a:buNone/>
            </a:pPr>
            <a:r>
              <a:rPr lang="en-US" sz="1450" dirty="0">
                <a:solidFill>
                  <a:srgbClr val="C8A84B"/>
                </a:solidFill>
                <a:latin typeface="Calibri" pitchFamily="34" charset="0"/>
                <a:ea typeface="Calibri" pitchFamily="34" charset="-122"/>
                <a:cs typeface="Calibri" pitchFamily="34" charset="-120"/>
              </a:rPr>
              <a:t>Secondary = made later, by someone who studied it.</a:t>
            </a:r>
            <a:endParaRPr lang="en-US" sz="1450" dirty="0"/>
          </a:p>
        </p:txBody>
      </p:sp>
      <p:sp>
        <p:nvSpPr>
          <p:cNvPr id="6" name="Shape 4"/>
          <p:cNvSpPr/>
          <p:nvPr/>
        </p:nvSpPr>
        <p:spPr>
          <a:xfrm>
            <a:off x="1097280" y="2651760"/>
            <a:ext cx="6949440" cy="1152144"/>
          </a:xfrm>
          <a:prstGeom prst="roundRect">
            <a:avLst>
              <a:gd name="adj" fmla="val 7937"/>
            </a:avLst>
          </a:prstGeom>
          <a:solidFill>
            <a:srgbClr val="9B1C2E">
              <a:alpha val="18000"/>
            </a:srgbClr>
          </a:solidFill>
          <a:ln w="19050">
            <a:solidFill>
              <a:srgbClr val="9B1C2E"/>
            </a:solidFill>
            <a:prstDash val="solid"/>
          </a:ln>
        </p:spPr>
      </p:sp>
      <p:sp>
        <p:nvSpPr>
          <p:cNvPr id="7" name="Text 5"/>
          <p:cNvSpPr/>
          <p:nvPr/>
        </p:nvSpPr>
        <p:spPr>
          <a:xfrm>
            <a:off x="1280160" y="2706624"/>
            <a:ext cx="6583680" cy="1024128"/>
          </a:xfrm>
          <a:prstGeom prst="rect">
            <a:avLst/>
          </a:prstGeom>
          <a:noFill/>
          <a:ln/>
        </p:spPr>
        <p:txBody>
          <a:bodyPr wrap="square" rtlCol="0" anchor="ctr"/>
          <a:lstStyle/>
          <a:p>
            <a:pPr algn="ctr" indent="0" marL="0">
              <a:lnSpc>
                <a:spcPct val="140000"/>
              </a:lnSpc>
              <a:buNone/>
            </a:pPr>
            <a:r>
              <a:rPr lang="en-US" sz="1300" dirty="0">
                <a:solidFill>
                  <a:srgbClr val="FFFFFF"/>
                </a:solidFill>
                <a:latin typeface="Calibri" pitchFamily="34" charset="0"/>
                <a:ea typeface="Calibri" pitchFamily="34" charset="-122"/>
                <a:cs typeface="Calibri" pitchFamily="34" charset="-120"/>
              </a:rPr>
              <a:t>Before next class: find ONE primary source and ONE secondary source about the same event. Be ready to show the class.</a:t>
            </a:r>
            <a:endParaRPr lang="en-US" sz="1300" dirty="0"/>
          </a:p>
        </p:txBody>
      </p:sp>
      <p:sp>
        <p:nvSpPr>
          <p:cNvPr id="8" name="Shape 6"/>
          <p:cNvSpPr/>
          <p:nvPr/>
        </p:nvSpPr>
        <p:spPr>
          <a:xfrm>
            <a:off x="1014984" y="4187952"/>
            <a:ext cx="164592" cy="256032"/>
          </a:xfrm>
          <a:prstGeom prst="ellipse">
            <a:avLst/>
          </a:prstGeom>
          <a:solidFill>
            <a:srgbClr val="C8A84B"/>
          </a:solidFill>
          <a:ln w="12700">
            <a:solidFill>
              <a:srgbClr val="333333"/>
            </a:solidFill>
            <a:prstDash val="solid"/>
          </a:ln>
        </p:spPr>
      </p:sp>
      <p:sp>
        <p:nvSpPr>
          <p:cNvPr id="9" name="Shape 7"/>
          <p:cNvSpPr/>
          <p:nvPr/>
        </p:nvSpPr>
        <p:spPr>
          <a:xfrm>
            <a:off x="7964424" y="4187952"/>
            <a:ext cx="164592" cy="256032"/>
          </a:xfrm>
          <a:prstGeom prst="ellipse">
            <a:avLst/>
          </a:prstGeom>
          <a:solidFill>
            <a:srgbClr val="C8A84B"/>
          </a:solidFill>
          <a:ln w="12700">
            <a:solidFill>
              <a:srgbClr val="333333"/>
            </a:solidFill>
            <a:prstDash val="solid"/>
          </a:ln>
        </p:spPr>
      </p:sp>
      <p:sp>
        <p:nvSpPr>
          <p:cNvPr id="10" name="Shape 8"/>
          <p:cNvSpPr/>
          <p:nvPr/>
        </p:nvSpPr>
        <p:spPr>
          <a:xfrm>
            <a:off x="1097280" y="4315968"/>
            <a:ext cx="6949440" cy="0"/>
          </a:xfrm>
          <a:prstGeom prst="line">
            <a:avLst/>
          </a:prstGeom>
          <a:noFill/>
          <a:ln w="31750">
            <a:solidFill>
              <a:srgbClr val="C8A84B"/>
            </a:solidFill>
            <a:prstDash val="solid"/>
          </a:ln>
        </p:spPr>
      </p:sp>
      <p:sp>
        <p:nvSpPr>
          <p:cNvPr id="11" name="Text 9"/>
          <p:cNvSpPr/>
          <p:nvPr/>
        </p:nvSpPr>
        <p:spPr>
          <a:xfrm>
            <a:off x="457200" y="4462272"/>
            <a:ext cx="8229600" cy="475488"/>
          </a:xfrm>
          <a:prstGeom prst="rect">
            <a:avLst/>
          </a:prstGeom>
          <a:noFill/>
          <a:ln/>
        </p:spPr>
        <p:txBody>
          <a:bodyPr wrap="square" lIns="0" tIns="0" rIns="0" bIns="0"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Next lesson: Asking Questions Like a Historian-Citizen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 SS 3.01.02 — Primary and Secondary Sources</dc:title>
  <dc:subject>PptxGenJS Presentation</dc:subject>
  <dc:creator>PptxGenJS</dc:creator>
  <cp:lastModifiedBy>PptxGenJS</cp:lastModifiedBy>
  <cp:revision>1</cp:revision>
  <dcterms:created xsi:type="dcterms:W3CDTF">2026-07-06T22:57:35Z</dcterms:created>
  <dcterms:modified xsi:type="dcterms:W3CDTF">2026-07-06T22:57:35Z</dcterms:modified>
</cp:coreProperties>
</file>