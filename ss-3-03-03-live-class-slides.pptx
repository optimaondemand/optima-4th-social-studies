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type of map answers a different question. Today students discover that the SAME territory looks completely different depending on what you want to know about it. This is the most conceptually rich map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photography analogy is powerful and accessible for 3rd graders. Ask: 'If you wanted to know whether a city is safe from flooding, which kind of 'photo' would you need?' (Elevation map.) 'If you wanted to know which country controls a territory?' (Political.) This motivates the lesson before the definitions.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four. After: 'Same Florida. Four completely different maps. None of them is wrong — each answers a different question. A geographer needs all four to fully understand a place.'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time dimension is crucial: physical maps change slowly (geological timescale), political maps change fast (human timescale). Ask: 'If Europe drew a political map of the Americas in 1500, what would it look like? In 1800? In 1900? In 2024? What changed each time?'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population/physical connection is a powerful geographic insight: WHERE people live is CAUSED BY physical geography. Rivers = water + transport. Coasts = fishing + trade. Plains = farming. Mountains = difficult, sparse population. This is the basis of human geography.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3 is the most interesting: biologists use PHYSICAL maps to understand habitat because animals respond to terrain and vegetation, not political borders. Scenario 5 has a lovely twist: physical maps don't change much, so a modern topographic map of Spain is accurate for a historical novel set in 1492.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4 minutes. Good answers: 'Population map to find cities with people, elevation map to check flood risk, physical map to see beaches.' The best answer might be 'a combination' — which leads to discussion of GIS (Geographic Information Systems), how modern maps layer all these types digitally. The chat prompt is creative and there's no wrong answer — let imagination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2587752"/>
          </a:xfrm>
          <a:prstGeom prst="rect">
            <a:avLst/>
          </a:prstGeom>
          <a:solidFill>
            <a:srgbClr val="2D5A27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8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287018"/>
            <a:ext cx="9144000" cy="0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574036"/>
            <a:ext cx="9144000" cy="0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861054"/>
            <a:ext cx="9144000" cy="0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0"/>
            <a:ext cx="7772400" cy="4572000"/>
          </a:xfrm>
          <a:prstGeom prst="ellipse">
            <a:avLst/>
          </a:prstGeom>
          <a:solidFill>
            <a:srgbClr val="D4943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1005840"/>
            <a:ext cx="4352544" cy="2560320"/>
          </a:xfrm>
          <a:prstGeom prst="ellipse">
            <a:avLst/>
          </a:prstGeom>
          <a:solidFill>
            <a:srgbClr val="D4943A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49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D49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164592"/>
            <a:ext cx="5852160" cy="475488"/>
          </a:xfrm>
          <a:prstGeom prst="roundRect">
            <a:avLst>
              <a:gd name="adj" fmla="val 13462"/>
            </a:avLst>
          </a:prstGeom>
          <a:solidFill>
            <a:srgbClr val="D4943A">
              <a:alpha val="18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16459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CARTOGRAPHY GALLERY  ·  UNIT 3  ·  WEEK 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768096"/>
            <a:ext cx="768096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Kinds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Maps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1371600" y="351129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3.03.03  ·  3rd Grade Social Studies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60320" y="3931920"/>
            <a:ext cx="4023360" cy="603504"/>
          </a:xfrm>
          <a:prstGeom prst="roundRect">
            <a:avLst>
              <a:gd name="adj" fmla="val 15152"/>
            </a:avLst>
          </a:prstGeom>
          <a:solidFill>
            <a:srgbClr val="2D5A27">
              <a:alpha val="20000"/>
            </a:srgbClr>
          </a:solidFill>
          <a:ln w="19050">
            <a:solidFill>
              <a:srgbClr val="4A8A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393192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Scene + Map Quest  ·  Virtue: Courage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3544" y="4736592"/>
            <a:ext cx="164592" cy="256032"/>
          </a:xfrm>
          <a:prstGeom prst="ellipse">
            <a:avLst/>
          </a:prstGeom>
          <a:solidFill>
            <a:srgbClr val="D49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55864" y="4736592"/>
            <a:ext cx="164592" cy="256032"/>
          </a:xfrm>
          <a:prstGeom prst="ellipse">
            <a:avLst/>
          </a:prstGeom>
          <a:solidFill>
            <a:srgbClr val="D49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4864608"/>
            <a:ext cx="7132320" cy="0"/>
          </a:xfrm>
          <a:prstGeom prst="line">
            <a:avLst/>
          </a:prstGeom>
          <a:noFill/>
          <a:ln w="31750">
            <a:solidFill>
              <a:srgbClr val="D4943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5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Questions, Four Maps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8046720" cy="4041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photographer takes four photos of the same city.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photo uses a regular lens — you see the streets and buildings.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uses an infrared lens — you see heat sources and living organisms.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uses a wide-angle lens at night — you see lights, population centers, dark countryside.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uses an aerial lens from directly above — you see only land shapes.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city. Four completely different pictures.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work the same way.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map and a political map of Florida show the exact same land — but answer completely different questions.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2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287018"/>
            <a:ext cx="9144000" cy="0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4036"/>
            <a:ext cx="9144000" cy="0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861054"/>
            <a:ext cx="9144000" cy="0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Map Types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74320" y="694944"/>
            <a:ext cx="1993392" cy="4279392"/>
          </a:xfrm>
          <a:prstGeom prst="roundRect">
            <a:avLst>
              <a:gd name="adj" fmla="val 4587"/>
            </a:avLst>
          </a:prstGeom>
          <a:solidFill>
            <a:srgbClr val="2D5A27">
              <a:alpha val="18000"/>
            </a:srgbClr>
          </a:solidFill>
          <a:ln w="25400">
            <a:solidFill>
              <a:srgbClr val="2D5A2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804672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🏔️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4320" y="15727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MAP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066544"/>
            <a:ext cx="1719072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2140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the land look like?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651760"/>
            <a:ext cx="1719072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06624"/>
            <a:ext cx="18105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Mountains, rivers, plains, deserts, coasts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23160" y="694944"/>
            <a:ext cx="1993392" cy="4279392"/>
          </a:xfrm>
          <a:prstGeom prst="roundRect">
            <a:avLst>
              <a:gd name="adj" fmla="val 4587"/>
            </a:avLst>
          </a:prstGeom>
          <a:solidFill>
            <a:srgbClr val="1A3A8F">
              <a:alpha val="18000"/>
            </a:srgbClr>
          </a:solidFill>
          <a:ln w="25400">
            <a:solidFill>
              <a:srgbClr val="1A3A8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23160" y="804672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🗳️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423160" y="15727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POLITICAL MAP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60320" y="2066544"/>
            <a:ext cx="1719072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212140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Who is in charge here?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0" y="2651760"/>
            <a:ext cx="1719072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2706624"/>
            <a:ext cx="18105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Country borders, state lines, capital cities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694944"/>
            <a:ext cx="1993392" cy="4279392"/>
          </a:xfrm>
          <a:prstGeom prst="roundRect">
            <a:avLst>
              <a:gd name="adj" fmla="val 4587"/>
            </a:avLst>
          </a:prstGeom>
          <a:solidFill>
            <a:srgbClr val="B87A2A">
              <a:alpha val="18000"/>
            </a:srgbClr>
          </a:solidFill>
          <a:ln w="25400">
            <a:solidFill>
              <a:srgbClr val="B87A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0" y="804672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572000" y="15727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ELEVATION MAP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2066544"/>
            <a:ext cx="1719072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12140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high or low is the land?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2651760"/>
            <a:ext cx="1719072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706624"/>
            <a:ext cx="18105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Color-coded height above sea level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20840" y="694944"/>
            <a:ext cx="1993392" cy="4279392"/>
          </a:xfrm>
          <a:prstGeom prst="roundRect">
            <a:avLst>
              <a:gd name="adj" fmla="val 4587"/>
            </a:avLst>
          </a:prstGeom>
          <a:solidFill>
            <a:srgbClr val="9B1C2E">
              <a:alpha val="18000"/>
            </a:srgbClr>
          </a:solidFill>
          <a:ln w="25400">
            <a:solidFill>
              <a:srgbClr val="9B1C2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20840" y="804672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720840" y="15727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MAP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58000" y="2066544"/>
            <a:ext cx="1719072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212140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many people live here?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58000" y="2651760"/>
            <a:ext cx="1719072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2706624"/>
            <a:ext cx="18105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Density — where people cluster and avoid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vs. Political: The Critical Difference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68096"/>
            <a:ext cx="4005072" cy="4224528"/>
          </a:xfrm>
          <a:prstGeom prst="roundRect">
            <a:avLst>
              <a:gd name="adj" fmla="val 2283"/>
            </a:avLst>
          </a:prstGeom>
          <a:solidFill>
            <a:srgbClr val="2D5A27">
              <a:alpha val="8000"/>
            </a:srgbClr>
          </a:solidFill>
          <a:ln w="19050">
            <a:solidFill>
              <a:srgbClr val="2D5A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MAP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316736"/>
            <a:ext cx="3639312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features created by NATURE: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Mountains and valleys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Rivers and lakes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Ocean coastlines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Deserts and forests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Plains and highlands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features are permanent (or change very slowly). They were here before people and will be here after us.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map of Florida looks the same in 1900 and in 2024.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91456" y="768096"/>
            <a:ext cx="4005072" cy="4224528"/>
          </a:xfrm>
          <a:prstGeom prst="roundRect">
            <a:avLst>
              <a:gd name="adj" fmla="val 2283"/>
            </a:avLst>
          </a:prstGeom>
          <a:solidFill>
            <a:srgbClr val="1A3A8F">
              <a:alpha val="10000"/>
            </a:srgbClr>
          </a:solidFill>
          <a:ln w="19050">
            <a:solidFill>
              <a:srgbClr val="1A3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74336" y="841248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POLITICAL 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74336" y="1316736"/>
            <a:ext cx="3639312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features created by PEOPLE: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Country borders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and county lines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Capital cities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Territories and claims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Named regions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features CHANGE — sometimes dramatically. In 1900, much of Africa was European colonies. By 2000, independent nations covered the same territory.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political map of 1900 and 2000 look almost nothing alike.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87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Elevation and Population: The 'How' Maps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68096"/>
            <a:ext cx="4005072" cy="4224528"/>
          </a:xfrm>
          <a:prstGeom prst="roundRect">
            <a:avLst>
              <a:gd name="adj" fmla="val 2283"/>
            </a:avLst>
          </a:prstGeom>
          <a:solidFill>
            <a:srgbClr val="B87A2A">
              <a:alpha val="8000"/>
            </a:srgbClr>
          </a:solidFill>
          <a:ln w="19050">
            <a:solidFill>
              <a:srgbClr val="B87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41248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ELEVATION MAP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316736"/>
            <a:ext cx="3639312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topographic maps. Shows height above sea level using colors: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= below sea level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low plains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Yellow/Tan = higher land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Orange/Brown = mountains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= very high peaks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City planners use it to prevent floods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Military strategists use it to find high ground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Farmers use it to find fertile plains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Hikers use it to plan routes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91456" y="768096"/>
            <a:ext cx="4005072" cy="4224528"/>
          </a:xfrm>
          <a:prstGeom prst="roundRect">
            <a:avLst>
              <a:gd name="adj" fmla="val 2283"/>
            </a:avLst>
          </a:prstGeom>
          <a:solidFill>
            <a:srgbClr val="9B1C2E">
              <a:alpha val="10000"/>
            </a:srgbClr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74336" y="841248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74336" y="1316736"/>
            <a:ext cx="3639312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density — how many people live in each area. Darker colors = more people.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patterns: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Coasts and river valleys: HIGH density (water + trade)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Deserts and mountains: LOW density (hard to farm, hard to reach)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Capital cities: HIGH density (government jobs)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Forests and tundra: LOW density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connection: compare a population map and a physical map of the same region. What landforms do people cluster around? Rivers. Coastlines. Plains.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2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287018"/>
            <a:ext cx="9144000" cy="0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4036"/>
            <a:ext cx="9144000" cy="0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861054"/>
            <a:ext cx="9144000" cy="0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502920"/>
            <a:ext cx="8229600" cy="4114800"/>
          </a:xfrm>
          <a:prstGeom prst="ellipse">
            <a:avLst/>
          </a:prstGeom>
          <a:solidFill>
            <a:srgbClr val="D4943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67712" y="1408176"/>
            <a:ext cx="4608576" cy="2304288"/>
          </a:xfrm>
          <a:prstGeom prst="ellipse">
            <a:avLst/>
          </a:prstGeom>
          <a:solidFill>
            <a:srgbClr val="D4943A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Your Hand: Which Map Would You Use?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02336" y="768096"/>
            <a:ext cx="8339328" cy="475488"/>
          </a:xfrm>
          <a:prstGeom prst="roundRect">
            <a:avLst>
              <a:gd name="adj" fmla="val 17308"/>
            </a:avLst>
          </a:prstGeom>
          <a:solidFill>
            <a:srgbClr val="D4943A">
              <a:alpha val="18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804672"/>
            <a:ext cx="7973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describe a situation. Raise your hand when you know which map type to use — and be ready to explain why.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02336" y="1353312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B87A2A">
              <a:alpha val="12000"/>
            </a:srgbClr>
          </a:solidFill>
          <a:ln w="12700">
            <a:solidFill>
              <a:srgbClr val="B87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135331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flood warning has been issued. Emergency planners need to know which areas are lowest and most at risk.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42048" y="1371600"/>
            <a:ext cx="1499616" cy="621792"/>
          </a:xfrm>
          <a:prstGeom prst="roundRect">
            <a:avLst>
              <a:gd name="adj" fmla="val 10294"/>
            </a:avLst>
          </a:prstGeom>
          <a:solidFill>
            <a:srgbClr val="B87A2A">
              <a:alpha val="40000"/>
            </a:srgbClr>
          </a:solidFill>
          <a:ln w="15240">
            <a:solidFill>
              <a:srgbClr val="B87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137160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Elevation Map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2336" y="2084832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1A3A8F">
              <a:alpha val="12000"/>
            </a:srgbClr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20848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diplomat needs to know which countries border Russia and which countries they must notify during a crisis.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42048" y="2103120"/>
            <a:ext cx="1499616" cy="621792"/>
          </a:xfrm>
          <a:prstGeom prst="roundRect">
            <a:avLst>
              <a:gd name="adj" fmla="val 10294"/>
            </a:avLst>
          </a:prstGeom>
          <a:solidFill>
            <a:srgbClr val="1A3A8F">
              <a:alpha val="40000"/>
            </a:srgbClr>
          </a:solidFill>
          <a:ln w="15240">
            <a:solidFill>
              <a:srgbClr val="1A3A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2048" y="210312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Political Map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2336" y="2816352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2D5A27">
              <a:alpha val="12000"/>
            </a:srgbClr>
          </a:solidFill>
          <a:ln w="12700">
            <a:solidFill>
              <a:srgbClr val="2D5A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281635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biologist wants to understand why grizzly bears live in some areas but not others.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42048" y="2834640"/>
            <a:ext cx="1499616" cy="621792"/>
          </a:xfrm>
          <a:prstGeom prst="roundRect">
            <a:avLst>
              <a:gd name="adj" fmla="val 10294"/>
            </a:avLst>
          </a:prstGeom>
          <a:solidFill>
            <a:srgbClr val="2D5A27">
              <a:alpha val="40000"/>
            </a:srgbClr>
          </a:solidFill>
          <a:ln w="15240">
            <a:solidFill>
              <a:srgbClr val="2D5A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283464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Map (terrain/habitat)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2336" y="3547872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9B1C2E">
              <a:alpha val="12000"/>
            </a:srgbClr>
          </a:solidFill>
          <a:ln w="12700">
            <a:solidFill>
              <a:srgbClr val="9B1C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" y="354787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hospital needs to place 3 new ambulances in the city so they can reach the most people fastest.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242048" y="3566160"/>
            <a:ext cx="1499616" cy="621792"/>
          </a:xfrm>
          <a:prstGeom prst="roundRect">
            <a:avLst>
              <a:gd name="adj" fmla="val 10294"/>
            </a:avLst>
          </a:prstGeom>
          <a:solidFill>
            <a:srgbClr val="9B1C2E">
              <a:alpha val="40000"/>
            </a:srgbClr>
          </a:solidFill>
          <a:ln w="15240">
            <a:solidFill>
              <a:srgbClr val="9B1C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356616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Map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2336" y="4279392"/>
            <a:ext cx="6766560" cy="658368"/>
          </a:xfrm>
          <a:prstGeom prst="roundRect">
            <a:avLst>
              <a:gd name="adj" fmla="val 9722"/>
            </a:avLst>
          </a:prstGeom>
          <a:solidFill>
            <a:srgbClr val="2D5A27">
              <a:alpha val="12000"/>
            </a:srgbClr>
          </a:solidFill>
          <a:ln w="12700">
            <a:solidFill>
              <a:srgbClr val="2D5A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" y="427939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 novelist is writing a story about explorers in 1500 and wants to know what the landscape REALLY looked like.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42048" y="4297680"/>
            <a:ext cx="1499616" cy="621792"/>
          </a:xfrm>
          <a:prstGeom prst="roundRect">
            <a:avLst>
              <a:gd name="adj" fmla="val 10294"/>
            </a:avLst>
          </a:prstGeom>
          <a:solidFill>
            <a:srgbClr val="2D5A27">
              <a:alpha val="40000"/>
            </a:srgbClr>
          </a:solidFill>
          <a:ln w="15240">
            <a:solidFill>
              <a:srgbClr val="2D5A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429768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Map (terrain)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A2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0" y="0"/>
            <a:ext cx="0" cy="5148072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287018"/>
            <a:ext cx="9144000" cy="0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4036"/>
            <a:ext cx="9144000" cy="0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861054"/>
            <a:ext cx="9144000" cy="0"/>
          </a:xfrm>
          <a:prstGeom prst="line">
            <a:avLst/>
          </a:prstGeom>
          <a:noFill/>
          <a:ln w="7620">
            <a:solidFill>
              <a:srgbClr val="C4B49A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28600"/>
            <a:ext cx="7315200" cy="4114800"/>
          </a:xfrm>
          <a:prstGeom prst="ellipse">
            <a:avLst/>
          </a:prstGeom>
          <a:solidFill>
            <a:srgbClr val="4A8A4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23744" y="1133856"/>
            <a:ext cx="4096512" cy="2304288"/>
          </a:xfrm>
          <a:prstGeom prst="ellipse">
            <a:avLst/>
          </a:prstGeom>
          <a:solidFill>
            <a:srgbClr val="4A8A42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place. Different questions. Different maps.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02336" y="1554480"/>
            <a:ext cx="8339328" cy="1993392"/>
          </a:xfrm>
          <a:prstGeom prst="roundRect">
            <a:avLst>
              <a:gd name="adj" fmla="val 4587"/>
            </a:avLst>
          </a:prstGeom>
          <a:solidFill>
            <a:srgbClr val="FFF0E8"/>
          </a:solidFill>
          <a:ln w="22860">
            <a:solidFill>
              <a:srgbClr val="C752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645920"/>
            <a:ext cx="8065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Groups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9496" y="1984248"/>
            <a:ext cx="8065008" cy="0"/>
          </a:xfrm>
          <a:prstGeom prst="line">
            <a:avLst/>
          </a:prstGeom>
          <a:noFill/>
          <a:ln w="10160">
            <a:solidFill>
              <a:srgbClr val="C75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2039112"/>
            <a:ext cx="80650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Groups: Design the PERFECT map for a 3rd grader who just moved to Florida and wants to decide which city to live in. Which type of map — or which combination of map types — would you give them? What information is most important? Be ready to defend your choice.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02336" y="3675888"/>
            <a:ext cx="8339328" cy="420624"/>
          </a:xfrm>
          <a:prstGeom prst="roundRect">
            <a:avLst>
              <a:gd name="adj" fmla="val 19565"/>
            </a:avLst>
          </a:prstGeom>
          <a:solidFill>
            <a:srgbClr val="1A8A7D">
              <a:alpha val="78000"/>
            </a:srgbClr>
          </a:solidFill>
          <a:ln w="19050">
            <a:solidFill>
              <a:srgbClr val="34B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675888"/>
            <a:ext cx="8010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together: Name one type of map you wish existed that doesn't yet — what would it show?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14984" y="4645152"/>
            <a:ext cx="164592" cy="256032"/>
          </a:xfrm>
          <a:prstGeom prst="ellipse">
            <a:avLst/>
          </a:prstGeom>
          <a:solidFill>
            <a:srgbClr val="D49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64424" y="4645152"/>
            <a:ext cx="164592" cy="256032"/>
          </a:xfrm>
          <a:prstGeom prst="ellipse">
            <a:avLst/>
          </a:prstGeom>
          <a:solidFill>
            <a:srgbClr val="D49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4773168"/>
            <a:ext cx="6949440" cy="0"/>
          </a:xfrm>
          <a:prstGeom prst="line">
            <a:avLst/>
          </a:prstGeom>
          <a:noFill/>
          <a:ln w="31750">
            <a:solidFill>
              <a:srgbClr val="D4943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G3 SS 3.03.03 — Physical, Political, Elevation, and Population Maps</dc:title>
  <dc:subject>PptxGenJS Presentation</dc:subject>
  <dc:creator>PptxGenJS</dc:creator>
  <cp:lastModifiedBy>PptxGenJS</cp:lastModifiedBy>
  <cp:revision>1</cp:revision>
  <dcterms:created xsi:type="dcterms:W3CDTF">2026-07-06T23:19:56Z</dcterms:created>
  <dcterms:modified xsi:type="dcterms:W3CDTF">2026-07-06T23:19:56Z</dcterms:modified>
</cp:coreProperties>
</file>