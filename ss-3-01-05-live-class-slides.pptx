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Words are evidence. Before you can think clearly about social studies, you need to understand what your vocabulary actually means — at the root level. Four roots unlock hundreds of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intro slowly. The etymology of 'history' as 'inquiry' is a beautiful hook — it means the original historians defined themselves as question-askers, not answer-keepers.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where students meet the four roots as museum artifacts — precious, ancient, still in use. Walk through each one. For hist-: 'In Greek, a histor was a wise man who knew things from asking questions — from inquiry.' For geo-: 'When you hear geography, ecology, geology — that's geo- doing work.'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'historiography' (the last one) will delight students — it sounds impossibly advanced for 3rd grade. But it just means 'how historians write about history' — a concept they're already engaging with. Ask: 'Can you see hist- hiding inside other words you know?'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eco- = household connection is a revelation for students: the same root that gives us 'economy' (managing resources) gives us 'ecology' (the household of living things). They're cousins! This is why forests and trade feel connected — they ARE connected at the root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love finding hidden roots. Accept creative answers even if imperfect — 'civilian', 'geological', 'economy class', 'ecosystem'. If someone says 'echo' — interesting! It's NOT from eco- (it's from the Greek nymph Echo) — great chance to show etymology has surprises.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geocaching (geo-), civics (civ-), economic (eco-), historical fiction (hist-), ecosystem services (eco-), uncivil (civ-). The trickiest is 'uncivil' — it means un-citizen-like, impolite. Civil and civility come from the same root as citizen!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'Every time you see a new word in social studies — even ones we haven't invented yet — these four roots will help you decode it. That's the responsibility of a careful thinker: knowing your tools so well that new challenges don't scare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B8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65760"/>
            <a:ext cx="7132320" cy="4023360"/>
          </a:xfrm>
          <a:prstGeom prst="ellipse">
            <a:avLst/>
          </a:prstGeom>
          <a:solidFill>
            <a:srgbClr val="B87A2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74950" y="1250899"/>
            <a:ext cx="3994099" cy="2253082"/>
          </a:xfrm>
          <a:prstGeom prst="ellipse">
            <a:avLst/>
          </a:prstGeom>
          <a:solidFill>
            <a:srgbClr val="B87A2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82880"/>
            <a:ext cx="5120640" cy="475488"/>
          </a:xfrm>
          <a:prstGeom prst="roundRect">
            <a:avLst>
              <a:gd name="adj" fmla="val 13462"/>
            </a:avLst>
          </a:prstGeom>
          <a:solidFill>
            <a:srgbClr val="B87A2A">
              <a:alpha val="18000"/>
            </a:srgbClr>
          </a:solidFill>
          <a:ln w="12700">
            <a:solidFill>
              <a:srgbClr val="B87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2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B8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TRAINING HALL  ·  UNIT 1  ·  WEEK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804672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Studies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Roots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71600" y="3547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3.01.05  ·  3rd Grade Social Studies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0" y="397764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B87A2A">
              <a:alpha val="20000"/>
            </a:srgbClr>
          </a:solidFill>
          <a:ln w="19050">
            <a:solidFill>
              <a:srgbClr val="B87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977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Scene  ·  Virtue: Responsibility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586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864608"/>
            <a:ext cx="713232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8229600" cy="4736592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9050">
            <a:solidFill>
              <a:srgbClr val="B87A2A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B8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solidFill>
            <a:srgbClr val="B8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as Museum Artifacts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782726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 that the word HISTORY comes from a Greek word that meant 'knowing' or 'inquiry'?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ancient Greeks said 'historia,' they meant: the process of finding out.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we use in social studies carries that kind of depth.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= geo (earth) + graphy (writing) = literally 'writing about the earth'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= oikos (household) + nomos (management) = 'managing the household'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= from the Latin civis = a member of a city or community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roots, and you'll never forget the definitions.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definitions, and you'll think more clearly about everything in this course.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-1828800"/>
            <a:ext cx="8229600" cy="5486400"/>
          </a:xfrm>
          <a:prstGeom prst="ellipse">
            <a:avLst/>
          </a:prstGeom>
          <a:solidFill>
            <a:srgbClr val="B87A2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Ancient Roots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root words are over 2,000 years old — and still alive in every social studies lesson.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38328" y="923544"/>
            <a:ext cx="2139696" cy="3749040"/>
          </a:xfrm>
          <a:prstGeom prst="roundRect">
            <a:avLst>
              <a:gd name="adj" fmla="val 5983"/>
            </a:avLst>
          </a:prstGeom>
          <a:solidFill>
            <a:srgbClr val="1A3A8F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987552"/>
            <a:ext cx="2011680" cy="3621024"/>
          </a:xfrm>
          <a:prstGeom prst="roundRect">
            <a:avLst>
              <a:gd name="adj" fmla="val 4091"/>
            </a:avLst>
          </a:prstGeom>
          <a:solidFill>
            <a:srgbClr val="07101F"/>
          </a:solidFill>
          <a:ln w="27940">
            <a:solidFill>
              <a:srgbClr val="1A3A8F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3037" y="1132393"/>
            <a:ext cx="1770278" cy="2245035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498" y="1626301"/>
            <a:ext cx="991356" cy="1257220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60704"/>
            <a:ext cx="2011680" cy="2172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📜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30352" y="4133088"/>
            <a:ext cx="1755648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413308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(Greek: knowing,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1078992"/>
            <a:ext cx="347472" cy="347472"/>
          </a:xfrm>
          <a:prstGeom prst="ellipse">
            <a:avLst/>
          </a:prstGeom>
          <a:solidFill>
            <a:srgbClr val="1A3A8F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96312" y="923544"/>
            <a:ext cx="2139696" cy="3749040"/>
          </a:xfrm>
          <a:prstGeom prst="roundRect">
            <a:avLst>
              <a:gd name="adj" fmla="val 5983"/>
            </a:avLst>
          </a:prstGeom>
          <a:solidFill>
            <a:srgbClr val="2E7D4F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987552"/>
            <a:ext cx="2011680" cy="3621024"/>
          </a:xfrm>
          <a:prstGeom prst="roundRect">
            <a:avLst>
              <a:gd name="adj" fmla="val 4091"/>
            </a:avLst>
          </a:prstGeom>
          <a:solidFill>
            <a:srgbClr val="07101F"/>
          </a:solidFill>
          <a:ln w="27940">
            <a:solidFill>
              <a:srgbClr val="2E7D4F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81021" y="1132393"/>
            <a:ext cx="1770278" cy="2245035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0482" y="1626301"/>
            <a:ext cx="991356" cy="1257220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060704"/>
            <a:ext cx="2011680" cy="2172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2688336" y="4133088"/>
            <a:ext cx="1755648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413308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(Greek: earth,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1078992"/>
            <a:ext cx="347472" cy="347472"/>
          </a:xfrm>
          <a:prstGeom prst="ellipse">
            <a:avLst/>
          </a:prstGeom>
          <a:solidFill>
            <a:srgbClr val="2E7D4F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54296" y="923544"/>
            <a:ext cx="2139696" cy="3749040"/>
          </a:xfrm>
          <a:prstGeom prst="roundRect">
            <a:avLst>
              <a:gd name="adj" fmla="val 5983"/>
            </a:avLst>
          </a:prstGeom>
          <a:solidFill>
            <a:srgbClr val="C7522A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8304" y="987552"/>
            <a:ext cx="2011680" cy="3621024"/>
          </a:xfrm>
          <a:prstGeom prst="roundRect">
            <a:avLst>
              <a:gd name="adj" fmla="val 4091"/>
            </a:avLst>
          </a:prstGeom>
          <a:solidFill>
            <a:srgbClr val="07101F"/>
          </a:solidFill>
          <a:ln w="27940">
            <a:solidFill>
              <a:srgbClr val="C7522A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39005" y="1132393"/>
            <a:ext cx="1770278" cy="2245035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28466" y="1626301"/>
            <a:ext cx="991356" cy="1257220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1060704"/>
            <a:ext cx="2011680" cy="2172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🏛️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4846320" y="4133088"/>
            <a:ext cx="1755648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C752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13308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(Greek: household,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9744" y="1078992"/>
            <a:ext cx="347472" cy="347472"/>
          </a:xfrm>
          <a:prstGeom prst="ellipse">
            <a:avLst/>
          </a:prstGeom>
          <a:solidFill>
            <a:srgbClr val="C7522A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12280" y="923544"/>
            <a:ext cx="2139696" cy="3749040"/>
          </a:xfrm>
          <a:prstGeom prst="roundRect">
            <a:avLst>
              <a:gd name="adj" fmla="val 5983"/>
            </a:avLst>
          </a:prstGeom>
          <a:solidFill>
            <a:srgbClr val="B87A2A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76288" y="987552"/>
            <a:ext cx="2011680" cy="3621024"/>
          </a:xfrm>
          <a:prstGeom prst="roundRect">
            <a:avLst>
              <a:gd name="adj" fmla="val 4091"/>
            </a:avLst>
          </a:prstGeom>
          <a:solidFill>
            <a:srgbClr val="07101F"/>
          </a:solidFill>
          <a:ln w="27940">
            <a:solidFill>
              <a:srgbClr val="B87A2A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96989" y="1132393"/>
            <a:ext cx="1770278" cy="2245035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86450" y="1626301"/>
            <a:ext cx="991356" cy="1257220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1060704"/>
            <a:ext cx="2011680" cy="2172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🏙️</a:t>
            </a:r>
            <a:endParaRPr lang="en-US" sz="3600" dirty="0"/>
          </a:p>
        </p:txBody>
      </p:sp>
      <p:sp>
        <p:nvSpPr>
          <p:cNvPr id="37" name="Shape 35"/>
          <p:cNvSpPr/>
          <p:nvPr/>
        </p:nvSpPr>
        <p:spPr>
          <a:xfrm>
            <a:off x="7004304" y="4133088"/>
            <a:ext cx="1755648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B87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04304" y="413308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(Latin: citizen,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67728" y="1078992"/>
            <a:ext cx="347472" cy="347472"/>
          </a:xfrm>
          <a:prstGeom prst="ellipse">
            <a:avLst/>
          </a:prstGeom>
          <a:solidFill>
            <a:srgbClr val="B87A2A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" y="464515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30184" y="464515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hist- (Greek: knowing, inquiry)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76809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680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hist-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02336" y="1591056"/>
            <a:ext cx="4059936" cy="987552"/>
          </a:xfrm>
          <a:prstGeom prst="roundRect">
            <a:avLst>
              <a:gd name="adj" fmla="val 7407"/>
            </a:avLst>
          </a:prstGeom>
          <a:solidFill>
            <a:srgbClr val="1A3A8F">
              <a:alpha val="12000"/>
            </a:srgbClr>
          </a:solidFill>
          <a:ln w="15240">
            <a:solidFill>
              <a:srgbClr val="1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645920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" y="2066544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past events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591056"/>
            <a:ext cx="4059936" cy="987552"/>
          </a:xfrm>
          <a:prstGeom prst="roundRect">
            <a:avLst>
              <a:gd name="adj" fmla="val 7407"/>
            </a:avLst>
          </a:prstGeom>
          <a:solidFill>
            <a:srgbClr val="1A3A8F">
              <a:alpha val="12000"/>
            </a:srgbClr>
          </a:solidFill>
          <a:ln w="15240">
            <a:solidFill>
              <a:srgbClr val="1A3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645920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2066544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studies 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" y="2834640"/>
            <a:ext cx="4059936" cy="987552"/>
          </a:xfrm>
          <a:prstGeom prst="roundRect">
            <a:avLst>
              <a:gd name="adj" fmla="val 7407"/>
            </a:avLst>
          </a:prstGeom>
          <a:solidFill>
            <a:srgbClr val="1A3A8F">
              <a:alpha val="12000"/>
            </a:srgbClr>
          </a:solidFill>
          <a:ln w="15240">
            <a:solidFill>
              <a:srgbClr val="1A3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2889504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" y="3310128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or famous in history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1728" y="2834640"/>
            <a:ext cx="4059936" cy="987552"/>
          </a:xfrm>
          <a:prstGeom prst="roundRect">
            <a:avLst>
              <a:gd name="adj" fmla="val 7407"/>
            </a:avLst>
          </a:prstGeom>
          <a:solidFill>
            <a:srgbClr val="1A3A8F">
              <a:alpha val="12000"/>
            </a:srgbClr>
          </a:solidFill>
          <a:ln w="15240">
            <a:solidFill>
              <a:srgbClr val="1A3A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2889504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PREHISTORIC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18888" y="3310128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before written records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28800" y="4078224"/>
            <a:ext cx="4059936" cy="987552"/>
          </a:xfrm>
          <a:prstGeom prst="roundRect">
            <a:avLst>
              <a:gd name="adj" fmla="val 7407"/>
            </a:avLst>
          </a:prstGeom>
          <a:solidFill>
            <a:srgbClr val="1A3A8F">
              <a:alpha val="12000"/>
            </a:srgbClr>
          </a:solidFill>
          <a:ln w="15240">
            <a:solidFill>
              <a:srgbClr val="1A3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4133088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HISTORIOGRAPHY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4553712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HOW history is written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geo- and eco-: Two Roots, Related Ideas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151376" cy="4224528"/>
          </a:xfrm>
          <a:prstGeom prst="roundRect">
            <a:avLst>
              <a:gd name="adj" fmla="val 2203"/>
            </a:avLst>
          </a:prstGeom>
          <a:solidFill>
            <a:srgbClr val="2E7D4F">
              <a:alpha val="8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59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geo-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for EARTH or 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773936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GEOGRAPHY — writing about the earth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30428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GEOLOGY — science of earth's rocks/layers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283464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GEOMETRY — measuring the earth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3364992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GEOTHERMAL — heat from the earth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3895344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GEOPOLITICS — politics shaped by geography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45152" y="768096"/>
            <a:ext cx="4151376" cy="4224528"/>
          </a:xfrm>
          <a:prstGeom prst="roundRect">
            <a:avLst>
              <a:gd name="adj" fmla="val 2203"/>
            </a:avLst>
          </a:prstGeom>
          <a:solidFill>
            <a:srgbClr val="C7522A">
              <a:alpha val="8000"/>
            </a:srgbClr>
          </a:solidFill>
          <a:ln w="19050">
            <a:solidFill>
              <a:srgbClr val="C75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859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🏛️  eco-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8032" y="135331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for HOUSEHOLD or HOME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ECONOMY — managing the household/resources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19472" y="2304288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ECONOMICS — the study of resources &amp; trade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9472" y="283464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ECOSYSTEM — the 'household' of living things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9472" y="3364992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ECOLOGIST — scientist who studies ecosystems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389534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ECOLOGICAL — relating to an ecosystem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civ- (Latin: citizen, city)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civ- comes from the Latin word civis, meaning a member of a city or community.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ancient Rome, a civis had both rights AND responsibilities.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" y="1517904"/>
            <a:ext cx="4059936" cy="694944"/>
          </a:xfrm>
          <a:prstGeom prst="roundRect">
            <a:avLst>
              <a:gd name="adj" fmla="val 9211"/>
            </a:avLst>
          </a:prstGeom>
          <a:solidFill>
            <a:srgbClr val="B87A2A">
              <a:alpha val="12000"/>
            </a:srgbClr>
          </a:solidFill>
          <a:ln w="12700">
            <a:solidFill>
              <a:srgbClr val="B87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53619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50592" y="153619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of a city, state, or nation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64608" y="1517904"/>
            <a:ext cx="4059936" cy="694944"/>
          </a:xfrm>
          <a:prstGeom prst="roundRect">
            <a:avLst>
              <a:gd name="adj" fmla="val 9211"/>
            </a:avLst>
          </a:prstGeom>
          <a:solidFill>
            <a:srgbClr val="D4943A">
              <a:alpha val="12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47488" y="153619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12864" y="153619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duties of citizens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2304288"/>
            <a:ext cx="4059936" cy="694944"/>
          </a:xfrm>
          <a:prstGeom prst="roundRect">
            <a:avLst>
              <a:gd name="adj" fmla="val 9211"/>
            </a:avLst>
          </a:prstGeom>
          <a:solidFill>
            <a:srgbClr val="B87A2A">
              <a:alpha val="12000"/>
            </a:srgbClr>
          </a:solidFill>
          <a:ln w="12700">
            <a:solidFill>
              <a:srgbClr val="B87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2257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50592" y="232257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life of citizens and the law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64608" y="2304288"/>
            <a:ext cx="4059936" cy="694944"/>
          </a:xfrm>
          <a:prstGeom prst="roundRect">
            <a:avLst>
              <a:gd name="adj" fmla="val 9211"/>
            </a:avLst>
          </a:prstGeom>
          <a:solidFill>
            <a:srgbClr val="D4943A">
              <a:alpha val="12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32257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CIVILIZATION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12864" y="232257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highly developed society with its own culture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" y="3090672"/>
            <a:ext cx="4059936" cy="694944"/>
          </a:xfrm>
          <a:prstGeom prst="roundRect">
            <a:avLst>
              <a:gd name="adj" fmla="val 9211"/>
            </a:avLst>
          </a:prstGeom>
          <a:solidFill>
            <a:srgbClr val="B87A2A">
              <a:alpha val="12000"/>
            </a:srgbClr>
          </a:solidFill>
          <a:ln w="12700">
            <a:solidFill>
              <a:srgbClr val="B87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10896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 RIGHTS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50592" y="310896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rights belonging to all citizens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64608" y="3090672"/>
            <a:ext cx="4059936" cy="694944"/>
          </a:xfrm>
          <a:prstGeom prst="roundRect">
            <a:avLst>
              <a:gd name="adj" fmla="val 9211"/>
            </a:avLst>
          </a:prstGeom>
          <a:solidFill>
            <a:srgbClr val="D4943A">
              <a:alpha val="12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310896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12864" y="310896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polite, respectful behavior among citizens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" y="4096512"/>
            <a:ext cx="8339328" cy="877824"/>
          </a:xfrm>
          <a:prstGeom prst="roundRect">
            <a:avLst>
              <a:gd name="adj" fmla="val 10417"/>
            </a:avLst>
          </a:prstGeom>
          <a:solidFill>
            <a:srgbClr val="EAF7E6"/>
          </a:solidFill>
          <a:ln w="2286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" y="4187952"/>
            <a:ext cx="8065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9496" y="4526280"/>
            <a:ext cx="8065008" cy="0"/>
          </a:xfrm>
          <a:prstGeom prst="line">
            <a:avLst/>
          </a:prstGeom>
          <a:noFill/>
          <a:ln w="10160">
            <a:solidFill>
              <a:srgbClr val="2E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4581144"/>
            <a:ext cx="8065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if you can think of a word we haven't listed that might contain the root civ-, hist-, geo-, or eco-. Call it out when I point to you.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7772400" cy="4114800"/>
          </a:xfrm>
          <a:prstGeom prst="ellipse">
            <a:avLst/>
          </a:prstGeom>
          <a:solidFill>
            <a:srgbClr val="C7522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1408176"/>
            <a:ext cx="4352544" cy="2304288"/>
          </a:xfrm>
          <a:prstGeom prst="ellipse">
            <a:avLst/>
          </a:prstGeom>
          <a:solidFill>
            <a:srgbClr val="C7522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Groups — Root Detective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749808"/>
            <a:ext cx="8339328" cy="658368"/>
          </a:xfrm>
          <a:prstGeom prst="roundRect">
            <a:avLst>
              <a:gd name="adj" fmla="val 12500"/>
            </a:avLst>
          </a:prstGeom>
          <a:solidFill>
            <a:srgbClr val="C7522A">
              <a:alpha val="20000"/>
            </a:srgbClr>
          </a:solidFill>
          <a:ln w="19050">
            <a:solidFill>
              <a:srgbClr val="C7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786384"/>
            <a:ext cx="7973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mystery word below: (1) identify which root it contains, (2) use that root to explain the word's meaning, (3) check if you're right.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" y="1517904"/>
            <a:ext cx="4059936" cy="822960"/>
          </a:xfrm>
          <a:prstGeom prst="roundRect">
            <a:avLst>
              <a:gd name="adj" fmla="val 7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"geocaching"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193852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___    Meaning: ___________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64608" y="1517904"/>
            <a:ext cx="4059936" cy="822960"/>
          </a:xfrm>
          <a:prstGeom prst="roundRect">
            <a:avLst>
              <a:gd name="adj" fmla="val 7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536192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"civics"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47488" y="193852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___    Meaning: ___________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2450592"/>
            <a:ext cx="4059936" cy="822960"/>
          </a:xfrm>
          <a:prstGeom prst="roundRect">
            <a:avLst>
              <a:gd name="adj" fmla="val 7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468880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"economic"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2871216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___    Meaning: ___________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64608" y="2450592"/>
            <a:ext cx="4059936" cy="822960"/>
          </a:xfrm>
          <a:prstGeom prst="roundRect">
            <a:avLst>
              <a:gd name="adj" fmla="val 7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468880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"historical fiction"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47488" y="2871216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___    Meaning: ___________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" y="3383280"/>
            <a:ext cx="4059936" cy="822960"/>
          </a:xfrm>
          <a:prstGeom prst="roundRect">
            <a:avLst>
              <a:gd name="adj" fmla="val 7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401568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"ecosystem services"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" y="3803904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___    Meaning: ___________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64608" y="3383280"/>
            <a:ext cx="4059936" cy="822960"/>
          </a:xfrm>
          <a:prstGeom prst="roundRect">
            <a:avLst>
              <a:gd name="adj" fmla="val 7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3401568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"uncivil"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3803904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___    Meaning: ___________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"/>
            <a:ext cx="7315200" cy="4114800"/>
          </a:xfrm>
          <a:prstGeom prst="ellipse">
            <a:avLst/>
          </a:prstGeom>
          <a:solidFill>
            <a:srgbClr val="B87A2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23744" y="1133856"/>
            <a:ext cx="4096512" cy="2304288"/>
          </a:xfrm>
          <a:prstGeom prst="ellipse">
            <a:avLst/>
          </a:prstGeom>
          <a:solidFill>
            <a:srgbClr val="B87A2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roots. Hundreds of words. Infinite clarity.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2336" y="1536192"/>
            <a:ext cx="8339328" cy="694944"/>
          </a:xfrm>
          <a:prstGeom prst="roundRect">
            <a:avLst>
              <a:gd name="adj" fmla="val 10526"/>
            </a:avLst>
          </a:prstGeom>
          <a:solidFill>
            <a:srgbClr val="B87A2A">
              <a:alpha val="18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536192"/>
            <a:ext cx="7973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hist-  →  knowing, inquiry → HISTORY, HISTORIAN, PREHISTORIC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" y="2322576"/>
            <a:ext cx="8339328" cy="694944"/>
          </a:xfrm>
          <a:prstGeom prst="roundRect">
            <a:avLst>
              <a:gd name="adj" fmla="val 10526"/>
            </a:avLst>
          </a:prstGeom>
          <a:solidFill>
            <a:srgbClr val="B87A2A">
              <a:alpha val="18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322576"/>
            <a:ext cx="7973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  →  earth, ground → GEOGRAPHY, GEOLOGY, GEOMETRY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" y="3108960"/>
            <a:ext cx="8339328" cy="694944"/>
          </a:xfrm>
          <a:prstGeom prst="roundRect">
            <a:avLst>
              <a:gd name="adj" fmla="val 10526"/>
            </a:avLst>
          </a:prstGeom>
          <a:solidFill>
            <a:srgbClr val="B87A2A">
              <a:alpha val="18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108960"/>
            <a:ext cx="7973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  →  household, home → ECONOMY, ECONOMICS, ECOSYSTEM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" y="3895344"/>
            <a:ext cx="8339328" cy="694944"/>
          </a:xfrm>
          <a:prstGeom prst="roundRect">
            <a:avLst>
              <a:gd name="adj" fmla="val 10526"/>
            </a:avLst>
          </a:prstGeom>
          <a:solidFill>
            <a:srgbClr val="B87A2A">
              <a:alpha val="18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895344"/>
            <a:ext cx="7973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civ-  →  citizen, city → CIVIC, CIVIL, CIVILIZATION, CIVILITY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14984" y="4626864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4626864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754880"/>
            <a:ext cx="694944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SS 3.01.05 — Social Studies Word Roots</dc:title>
  <dc:subject>PptxGenJS Presentation</dc:subject>
  <dc:creator>PptxGenJS</dc:creator>
  <cp:lastModifiedBy>PptxGenJS</cp:lastModifiedBy>
  <cp:revision>1</cp:revision>
  <dcterms:created xsi:type="dcterms:W3CDTF">2026-07-06T22:57:35Z</dcterms:created>
  <dcterms:modified xsi:type="dcterms:W3CDTF">2026-07-06T22:57:35Z</dcterms:modified>
</cp:coreProperties>
</file>