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Today is the practical application of everything from Unit 1. Students write their FIRST official evidence entry — the tool historians use to record what they find, what they think, and what they still wonder.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four-part structure is the Historian's Notebook entry format. Students will use it all year. Emphasize: part 1 is identification (objective), part 2 is observation (still objective), part 3 is interpretation (now we use our brain), part 4 is wonder (intellectual humility — we don't know everything).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this model entry slowly. As you read each section, think aloud: 'Notice how part 2 doesn't say what I THINK yet — it only says what I SEE. The interpretation comes in part 3. And notice: part 4 doesn't try to answer — it opens more questions. That's the sign of good thinking.' Ask students: 'What's a WONDER question you'd add?'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mistakes happen because students jump to conclusions. The evidence entry format is designed to SLOW THEM DOWN. The hardest habit to build: separating observation from interpretation. Historians with 30 years of experience still practice this daily.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Breakout 5 minutes. This is their first real evidence entry. Circulate if possible. When groups return: call on different groups for different sections. Listen for: Did they keep observation and interpretation separate? Do their wonder questions point outward to more research?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type in chat. Common answers: 'Section 4 — I always think I understand everything' or 'Section 2 — I keep putting my opinion in.' Both are valuable insights. This self-awareness is the beginning of intellectual honesty.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close of Unit 1. Celebrate the milestone — students now have: a vocabulary (hist-, geo-, eco-, civ-), source literacy (primary/secondary), question tools (WHO/WHAT/WHEN/WHERE/WHY), research strategy (SIFT), and the evidence entry format. They're ready for Unit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C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21792" cy="5148072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22208" y="0"/>
            <a:ext cx="621792" cy="5148072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2E7D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5093208"/>
            <a:ext cx="9144000" cy="54864"/>
          </a:xfrm>
          <a:prstGeom prst="rect">
            <a:avLst/>
          </a:prstGeom>
          <a:solidFill>
            <a:srgbClr val="2E7D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365760"/>
            <a:ext cx="7132320" cy="4023360"/>
          </a:xfrm>
          <a:prstGeom prst="ellipse">
            <a:avLst/>
          </a:prstGeom>
          <a:solidFill>
            <a:srgbClr val="2E7D4F">
              <a:alpha val="17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74950" y="1250899"/>
            <a:ext cx="3994099" cy="2253082"/>
          </a:xfrm>
          <a:prstGeom prst="ellipse">
            <a:avLst/>
          </a:prstGeom>
          <a:solidFill>
            <a:srgbClr val="2E7D4F">
              <a:alpha val="27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11680" y="182880"/>
            <a:ext cx="5120640" cy="475488"/>
          </a:xfrm>
          <a:prstGeom prst="roundRect">
            <a:avLst>
              <a:gd name="adj" fmla="val 13462"/>
            </a:avLst>
          </a:prstGeom>
          <a:solidFill>
            <a:srgbClr val="2E7D4F">
              <a:alpha val="18000"/>
            </a:srgbClr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0" y="18288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50" kern="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CURATOR TRAINING HALL  ·  UNIT 1  ·  WEEK 3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804672"/>
            <a:ext cx="73152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Historian's Notebook:</a:t>
            </a:r>
            <a:endParaRPr lang="en-US" sz="5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Evidence</a:t>
            </a:r>
            <a:endParaRPr lang="en-US" sz="5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Entry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1371600" y="3547872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3.01.06  ·  3rd Grade Social Studies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560320" y="3977640"/>
            <a:ext cx="4023360" cy="566928"/>
          </a:xfrm>
          <a:prstGeom prst="roundRect">
            <a:avLst>
              <a:gd name="adj" fmla="val 16129"/>
            </a:avLst>
          </a:prstGeom>
          <a:solidFill>
            <a:srgbClr val="2E7D4F">
              <a:alpha val="20000"/>
            </a:srgbClr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0" y="397764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Study  ·  Virtue: Honesty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23544" y="4736592"/>
            <a:ext cx="164592" cy="256032"/>
          </a:xfrm>
          <a:prstGeom prst="ellipse">
            <a:avLst/>
          </a:prstGeom>
          <a:solidFill>
            <a:srgbClr val="C8A8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55864" y="4736592"/>
            <a:ext cx="164592" cy="256032"/>
          </a:xfrm>
          <a:prstGeom prst="ellipse">
            <a:avLst/>
          </a:prstGeom>
          <a:solidFill>
            <a:srgbClr val="C8A8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05840" y="4864608"/>
            <a:ext cx="7132320" cy="0"/>
          </a:xfrm>
          <a:prstGeom prst="line">
            <a:avLst/>
          </a:prstGeom>
          <a:noFill/>
          <a:ln w="31750">
            <a:solidFill>
              <a:srgbClr val="C8A84B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E7D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an Evidence Entry?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historians don't just read a source and move on. They stop and record.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02336" y="1188720"/>
            <a:ext cx="8339328" cy="822960"/>
          </a:xfrm>
          <a:prstGeom prst="roundRect">
            <a:avLst>
              <a:gd name="adj" fmla="val 10000"/>
            </a:avLst>
          </a:prstGeom>
          <a:solidFill>
            <a:srgbClr val="1A3A8F">
              <a:alpha val="10000"/>
            </a:srgbClr>
          </a:solidFill>
          <a:ln w="19050">
            <a:solidFill>
              <a:srgbClr val="1A3A8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1261872"/>
            <a:ext cx="621792" cy="621792"/>
          </a:xfrm>
          <a:prstGeom prst="ellipse">
            <a:avLst/>
          </a:prstGeom>
          <a:solidFill>
            <a:srgbClr val="1A3A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26187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07008" y="1207008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SOURCE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07008" y="1609344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it? Primary or secondary? Who made it? When?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02336" y="2121408"/>
            <a:ext cx="8339328" cy="822960"/>
          </a:xfrm>
          <a:prstGeom prst="roundRect">
            <a:avLst>
              <a:gd name="adj" fmla="val 10000"/>
            </a:avLst>
          </a:prstGeom>
          <a:solidFill>
            <a:srgbClr val="1A8A7D">
              <a:alpha val="10000"/>
            </a:srgbClr>
          </a:solidFill>
          <a:ln w="19050">
            <a:solidFill>
              <a:srgbClr val="1A8A7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" y="2194560"/>
            <a:ext cx="621792" cy="621792"/>
          </a:xfrm>
          <a:prstGeom prst="ellipse">
            <a:avLst/>
          </a:prstGeom>
          <a:solidFill>
            <a:srgbClr val="1A8A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219456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07008" y="2139696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8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OBSERVE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07008" y="2542032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I actually see, hear, or read? (Facts only — no opinions yet.)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02336" y="3054096"/>
            <a:ext cx="8339328" cy="822960"/>
          </a:xfrm>
          <a:prstGeom prst="roundRect">
            <a:avLst>
              <a:gd name="adj" fmla="val 10000"/>
            </a:avLst>
          </a:prstGeom>
          <a:solidFill>
            <a:srgbClr val="2E7D4F">
              <a:alpha val="10000"/>
            </a:srgbClr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" y="3127248"/>
            <a:ext cx="621792" cy="621792"/>
          </a:xfrm>
          <a:prstGeom prst="ellipse">
            <a:avLst/>
          </a:prstGeom>
          <a:solidFill>
            <a:srgbClr val="2E7D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312724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07008" y="3072384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THINK IT MEANS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07008" y="347472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this source tell us about the past? My interpretation.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02336" y="3986784"/>
            <a:ext cx="8339328" cy="822960"/>
          </a:xfrm>
          <a:prstGeom prst="roundRect">
            <a:avLst>
              <a:gd name="adj" fmla="val 10000"/>
            </a:avLst>
          </a:prstGeom>
          <a:solidFill>
            <a:srgbClr val="B87A2A">
              <a:alpha val="10000"/>
            </a:srgbClr>
          </a:solidFill>
          <a:ln w="19050">
            <a:solidFill>
              <a:srgbClr val="B87A2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" y="4059936"/>
            <a:ext cx="621792" cy="621792"/>
          </a:xfrm>
          <a:prstGeom prst="ellipse">
            <a:avLst/>
          </a:prstGeom>
          <a:solidFill>
            <a:srgbClr val="B87A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4059936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07008" y="400507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7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STILL WONDER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207008" y="4407408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questions does this source raise that I can't yet answer?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E1C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Entry: Let's Do One Together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02336" y="768096"/>
            <a:ext cx="8339328" cy="4224528"/>
          </a:xfrm>
          <a:prstGeom prst="roundRect">
            <a:avLst>
              <a:gd name="adj" fmla="val 2165"/>
            </a:avLst>
          </a:prstGeom>
          <a:solidFill>
            <a:srgbClr val="FDFDF5"/>
          </a:solidFill>
          <a:ln w="19050">
            <a:solidFill>
              <a:srgbClr val="2E7D4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85216" y="1243584"/>
            <a:ext cx="7973568" cy="0"/>
          </a:xfrm>
          <a:prstGeom prst="line">
            <a:avLst/>
          </a:prstGeom>
          <a:noFill/>
          <a:ln w="7620">
            <a:solidFill>
              <a:srgbClr val="C8E6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5216" y="1645920"/>
            <a:ext cx="7973568" cy="0"/>
          </a:xfrm>
          <a:prstGeom prst="line">
            <a:avLst/>
          </a:prstGeom>
          <a:noFill/>
          <a:ln w="7620">
            <a:solidFill>
              <a:srgbClr val="C8E6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" y="2048256"/>
            <a:ext cx="7973568" cy="0"/>
          </a:xfrm>
          <a:prstGeom prst="line">
            <a:avLst/>
          </a:prstGeom>
          <a:noFill/>
          <a:ln w="7620">
            <a:solidFill>
              <a:srgbClr val="C8E6C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85216" y="2450592"/>
            <a:ext cx="7973568" cy="0"/>
          </a:xfrm>
          <a:prstGeom prst="line">
            <a:avLst/>
          </a:prstGeom>
          <a:noFill/>
          <a:ln w="7620">
            <a:solidFill>
              <a:srgbClr val="C8E6C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85216" y="2852928"/>
            <a:ext cx="7973568" cy="0"/>
          </a:xfrm>
          <a:prstGeom prst="line">
            <a:avLst/>
          </a:prstGeom>
          <a:noFill/>
          <a:ln w="7620">
            <a:solidFill>
              <a:srgbClr val="C8E6C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5216" y="3255264"/>
            <a:ext cx="7973568" cy="0"/>
          </a:xfrm>
          <a:prstGeom prst="line">
            <a:avLst/>
          </a:prstGeom>
          <a:noFill/>
          <a:ln w="7620">
            <a:solidFill>
              <a:srgbClr val="C8E6C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5216" y="3657600"/>
            <a:ext cx="7973568" cy="0"/>
          </a:xfrm>
          <a:prstGeom prst="line">
            <a:avLst/>
          </a:prstGeom>
          <a:noFill/>
          <a:ln w="7620">
            <a:solidFill>
              <a:srgbClr val="C8E6C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5216" y="4059936"/>
            <a:ext cx="7973568" cy="0"/>
          </a:xfrm>
          <a:prstGeom prst="line">
            <a:avLst/>
          </a:prstGeom>
          <a:noFill/>
          <a:ln w="7620">
            <a:solidFill>
              <a:srgbClr val="C8E6C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5216" y="4462272"/>
            <a:ext cx="7973568" cy="0"/>
          </a:xfrm>
          <a:prstGeom prst="line">
            <a:avLst/>
          </a:prstGeom>
          <a:noFill/>
          <a:ln w="7620">
            <a:solidFill>
              <a:srgbClr val="C8E6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6656" y="877824"/>
            <a:ext cx="79735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 photograph taken around 1900 showing children at work in a Florida citrus grove. Primary source. Creator unknown.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76656" y="1572768"/>
            <a:ext cx="7973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OBSERVE: Several children, ages maybe 8-12. They are standing in rows between orange trees. They look tired. They are not smiling. They are wearing work clothes. There is a wooden crate near them.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76656" y="2450592"/>
            <a:ext cx="7973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THINK IT MEANS: In Florida around 1900, children worked in fields — they didn't just go to school. This was probably hard, physical labor. Adults may have depended on children's work to earn money.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76656" y="3346704"/>
            <a:ext cx="7973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WONDER: Why are these children working and not in school? Did their parents choose this, or were they forced? Is this Florida law, or was it common everywhere?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9B1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 Out: Common Evidence Entry Mistakes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02336" y="768096"/>
            <a:ext cx="8339328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9050">
            <a:solidFill>
              <a:srgbClr val="9B1C2E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02336" y="768096"/>
            <a:ext cx="8339328" cy="493776"/>
          </a:xfrm>
          <a:prstGeom prst="roundRect">
            <a:avLst>
              <a:gd name="adj" fmla="val 18519"/>
            </a:avLst>
          </a:prstGeom>
          <a:solidFill>
            <a:srgbClr val="9B1C2E">
              <a:alpha val="1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02336" y="1005840"/>
            <a:ext cx="8339328" cy="256032"/>
          </a:xfrm>
          <a:prstGeom prst="rect">
            <a:avLst/>
          </a:prstGeom>
          <a:solidFill>
            <a:srgbClr val="9B1C2E">
              <a:alpha val="1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786384"/>
            <a:ext cx="7973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B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OBSERVATION: These children look sad and wish they could go to school.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85216" y="1316736"/>
            <a:ext cx="79735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That's an interpretation — it belongs in part 3! Observation = what you actually see.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02336" y="2157984"/>
            <a:ext cx="8339328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9050">
            <a:solidFill>
              <a:srgbClr val="9B1C2E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02336" y="2157984"/>
            <a:ext cx="8339328" cy="493776"/>
          </a:xfrm>
          <a:prstGeom prst="roundRect">
            <a:avLst>
              <a:gd name="adj" fmla="val 18519"/>
            </a:avLst>
          </a:prstGeom>
          <a:solidFill>
            <a:srgbClr val="9B1C2E">
              <a:alpha val="1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2336" y="2395728"/>
            <a:ext cx="8339328" cy="256032"/>
          </a:xfrm>
          <a:prstGeom prst="rect">
            <a:avLst/>
          </a:prstGeom>
          <a:solidFill>
            <a:srgbClr val="9B1C2E">
              <a:alpha val="1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" y="2176272"/>
            <a:ext cx="7973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B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MEANING: This source proves that all Florida children worked in 1900.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85216" y="2706624"/>
            <a:ext cx="79735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One photograph doesn't 'prove' everything. Use 'suggests' or 'shows evidence that'.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02336" y="3547872"/>
            <a:ext cx="8339328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9050">
            <a:solidFill>
              <a:srgbClr val="9B1C2E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02336" y="3547872"/>
            <a:ext cx="8339328" cy="493776"/>
          </a:xfrm>
          <a:prstGeom prst="roundRect">
            <a:avLst>
              <a:gd name="adj" fmla="val 18519"/>
            </a:avLst>
          </a:prstGeom>
          <a:solidFill>
            <a:srgbClr val="9B1C2E">
              <a:alpha val="1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02336" y="3785616"/>
            <a:ext cx="8339328" cy="256032"/>
          </a:xfrm>
          <a:prstGeom prst="rect">
            <a:avLst/>
          </a:prstGeom>
          <a:solidFill>
            <a:srgbClr val="9B1C2E">
              <a:alpha val="1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5216" y="3566160"/>
            <a:ext cx="7973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B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WONDER: I wonder if this is a primary source.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85216" y="4096512"/>
            <a:ext cx="79735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You already identified it in part 1. Wonders should be about the HISTORY, not the source type.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C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02920"/>
            <a:ext cx="7772400" cy="4114800"/>
          </a:xfrm>
          <a:prstGeom prst="ellipse">
            <a:avLst/>
          </a:prstGeom>
          <a:solidFill>
            <a:srgbClr val="C7522A">
              <a:alpha val="17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395728" y="1408176"/>
            <a:ext cx="4352544" cy="2304288"/>
          </a:xfrm>
          <a:prstGeom prst="ellipse">
            <a:avLst/>
          </a:prstGeom>
          <a:solidFill>
            <a:srgbClr val="C7522A">
              <a:alpha val="27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Your Groups — Write Your First Entry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02336" y="749808"/>
            <a:ext cx="8339328" cy="694944"/>
          </a:xfrm>
          <a:prstGeom prst="roundRect">
            <a:avLst>
              <a:gd name="adj" fmla="val 11842"/>
            </a:avLst>
          </a:prstGeom>
          <a:solidFill>
            <a:srgbClr val="C7522A">
              <a:alpha val="20000"/>
            </a:srgbClr>
          </a:solidFill>
          <a:ln w="19050">
            <a:solidFill>
              <a:srgbClr val="C752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85216" y="786384"/>
            <a:ext cx="79735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 map drawn by hand in 1775 showing British colonies in North America. No author name. Ink on parchment. Part of the Library of Congress collection.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02336" y="1554480"/>
            <a:ext cx="4059936" cy="1115568"/>
          </a:xfrm>
          <a:prstGeom prst="roundRect">
            <a:avLst>
              <a:gd name="adj" fmla="val 7377"/>
            </a:avLst>
          </a:prstGeom>
          <a:solidFill>
            <a:srgbClr val="1A3A8F">
              <a:alpha val="12000"/>
            </a:srgbClr>
          </a:solidFill>
          <a:ln w="15240">
            <a:solidFill>
              <a:srgbClr val="1A3A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5216" y="1591056"/>
            <a:ext cx="3694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 THE SOURCE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85216" y="1993392"/>
            <a:ext cx="3694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group's answer here...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64608" y="1554480"/>
            <a:ext cx="4059936" cy="1115568"/>
          </a:xfrm>
          <a:prstGeom prst="roundRect">
            <a:avLst>
              <a:gd name="adj" fmla="val 7377"/>
            </a:avLst>
          </a:prstGeom>
          <a:solidFill>
            <a:srgbClr val="1A8A7D">
              <a:alpha val="12000"/>
            </a:srgbClr>
          </a:solidFill>
          <a:ln w="15240">
            <a:solidFill>
              <a:srgbClr val="1A8A7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47488" y="1591056"/>
            <a:ext cx="3694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 WHAT I OBSERVE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47488" y="1993392"/>
            <a:ext cx="3694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group's answer here...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02336" y="2798064"/>
            <a:ext cx="4059936" cy="1115568"/>
          </a:xfrm>
          <a:prstGeom prst="roundRect">
            <a:avLst>
              <a:gd name="adj" fmla="val 7377"/>
            </a:avLst>
          </a:prstGeom>
          <a:solidFill>
            <a:srgbClr val="2E7D4F">
              <a:alpha val="12000"/>
            </a:srgbClr>
          </a:solidFill>
          <a:ln w="15240">
            <a:solidFill>
              <a:srgbClr val="2E7D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5216" y="2834640"/>
            <a:ext cx="3694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 WHAT I THINK IT MEANS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85216" y="3236976"/>
            <a:ext cx="3694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group's answer here...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64608" y="2798064"/>
            <a:ext cx="4059936" cy="1115568"/>
          </a:xfrm>
          <a:prstGeom prst="roundRect">
            <a:avLst>
              <a:gd name="adj" fmla="val 7377"/>
            </a:avLst>
          </a:prstGeom>
          <a:solidFill>
            <a:srgbClr val="B87A2A">
              <a:alpha val="12000"/>
            </a:srgbClr>
          </a:solidFill>
          <a:ln w="15240">
            <a:solidFill>
              <a:srgbClr val="B87A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47488" y="2834640"/>
            <a:ext cx="3694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 WHAT I WONDER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47488" y="3236976"/>
            <a:ext cx="3694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group's answer here...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2336" y="201168"/>
            <a:ext cx="8339328" cy="4736592"/>
          </a:xfrm>
          <a:prstGeom prst="roundRect">
            <a:avLst>
              <a:gd name="adj" fmla="val 2317"/>
            </a:avLst>
          </a:prstGeom>
          <a:solidFill>
            <a:srgbClr val="FFFFFF"/>
          </a:solidFill>
          <a:ln w="19050">
            <a:solidFill>
              <a:srgbClr val="2E7D4F"/>
            </a:solidFill>
            <a:prstDash val="solid"/>
          </a:ln>
          <a:effectLst>
            <a:outerShdw sx="100000" sy="100000" kx="0" ky="0" algn="bl" rotWithShape="0" blurRad="177800" dist="50800" dir="2700000">
              <a:srgbClr val="000000">
                <a:alpha val="22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402336" y="201168"/>
            <a:ext cx="8339328" cy="731520"/>
          </a:xfrm>
          <a:prstGeom prst="roundRect">
            <a:avLst>
              <a:gd name="adj" fmla="val 12500"/>
            </a:avLst>
          </a:prstGeom>
          <a:solidFill>
            <a:srgbClr val="2E7D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2336" y="658368"/>
            <a:ext cx="8339328" cy="274320"/>
          </a:xfrm>
          <a:prstGeom prst="rect">
            <a:avLst/>
          </a:prstGeom>
          <a:solidFill>
            <a:srgbClr val="2E7D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85216" y="237744"/>
            <a:ext cx="7973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Virtue Lens: Honesty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85216" y="1042416"/>
            <a:ext cx="7973568" cy="3182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3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entry is an act of honesty.</a:t>
            </a:r>
            <a:endParaRPr lang="en-US" sz="1300" dirty="0"/>
          </a:p>
          <a:p>
            <a:pPr algn="l" indent="0" marL="0">
              <a:lnSpc>
                <a:spcPct val="155000"/>
              </a:lnSpc>
              <a:buNone/>
            </a:pPr>
            <a:endParaRPr lang="en-US" sz="130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3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(Observation) asks you to report only what you actually see — not what you expect, not what you want, not what would make a better story.</a:t>
            </a:r>
            <a:endParaRPr lang="en-US" sz="1300" dirty="0"/>
          </a:p>
          <a:p>
            <a:pPr algn="l" indent="0" marL="0">
              <a:lnSpc>
                <a:spcPct val="155000"/>
              </a:lnSpc>
              <a:buNone/>
            </a:pPr>
            <a:endParaRPr lang="en-US" sz="130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3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(Interpretation) asks you to make your thinking visible — so others can check your reasoning.</a:t>
            </a:r>
            <a:endParaRPr lang="en-US" sz="1300" dirty="0"/>
          </a:p>
          <a:p>
            <a:pPr algn="l" indent="0" marL="0">
              <a:lnSpc>
                <a:spcPct val="155000"/>
              </a:lnSpc>
              <a:buNone/>
            </a:pPr>
            <a:endParaRPr lang="en-US" sz="130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3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(Wonder) asks you to admit what you don't know — the hardest thing for a learner to do honestly.</a:t>
            </a:r>
            <a:endParaRPr lang="en-US" sz="1300" dirty="0"/>
          </a:p>
          <a:p>
            <a:pPr algn="l" indent="0" marL="0">
              <a:lnSpc>
                <a:spcPct val="155000"/>
              </a:lnSpc>
              <a:buNone/>
            </a:pPr>
            <a:endParaRPr lang="en-US" sz="130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3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Historians who skip step 4 — who pretend they have all the answers — are the historians whose books get corrected. Historians who keep wondering are the ones whose work lasts.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02336" y="4626864"/>
            <a:ext cx="8339328" cy="420624"/>
          </a:xfrm>
          <a:prstGeom prst="roundRect">
            <a:avLst>
              <a:gd name="adj" fmla="val 19565"/>
            </a:avLst>
          </a:prstGeom>
          <a:solidFill>
            <a:srgbClr val="1A8A7D">
              <a:alpha val="78000"/>
            </a:srgbClr>
          </a:solidFill>
          <a:ln w="19050">
            <a:solidFill>
              <a:srgbClr val="34B0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4626864"/>
            <a:ext cx="80101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Chat: What's the HARDEST part of the evidence entry for you — and why?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C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228600"/>
            <a:ext cx="7315200" cy="4114800"/>
          </a:xfrm>
          <a:prstGeom prst="ellipse">
            <a:avLst/>
          </a:prstGeom>
          <a:solidFill>
            <a:srgbClr val="2E7D4F">
              <a:alpha val="17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23744" y="1133856"/>
            <a:ext cx="4096512" cy="2304288"/>
          </a:xfrm>
          <a:prstGeom prst="ellipse">
            <a:avLst/>
          </a:prstGeom>
          <a:solidFill>
            <a:srgbClr val="2E7D4F">
              <a:alpha val="27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22960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are now a Notebook Historian.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1536192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time you examine a source this year,</a:t>
            </a:r>
            <a:endParaRPr lang="en-US" sz="14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use these four sections:</a:t>
            </a:r>
            <a:endParaRPr lang="en-US" sz="14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→ Observe → Interpret → Wonder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2706624"/>
            <a:ext cx="6949440" cy="1078992"/>
          </a:xfrm>
          <a:prstGeom prst="roundRect">
            <a:avLst>
              <a:gd name="adj" fmla="val 8475"/>
            </a:avLst>
          </a:prstGeom>
          <a:solidFill>
            <a:srgbClr val="2E7D4F">
              <a:alpha val="18000"/>
            </a:srgbClr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80160" y="2761488"/>
            <a:ext cx="658368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You've now completed Unit 1 of Curator Training Hall.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stop: The Age of Exploration — a new wing of the museum opens.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14984" y="4187952"/>
            <a:ext cx="164592" cy="256032"/>
          </a:xfrm>
          <a:prstGeom prst="ellipse">
            <a:avLst/>
          </a:prstGeom>
          <a:solidFill>
            <a:srgbClr val="C8A8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64424" y="4187952"/>
            <a:ext cx="164592" cy="256032"/>
          </a:xfrm>
          <a:prstGeom prst="ellipse">
            <a:avLst/>
          </a:prstGeom>
          <a:solidFill>
            <a:srgbClr val="C8A8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7280" y="4315968"/>
            <a:ext cx="6949440" cy="0"/>
          </a:xfrm>
          <a:prstGeom prst="line">
            <a:avLst/>
          </a:prstGeom>
          <a:noFill/>
          <a:ln w="31750">
            <a:solidFill>
              <a:srgbClr val="C8A8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46227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2: The Age of Exploration opens next week.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G3 SS 3.01.06 — Historian's Notebook: First Evidence Entry</dc:title>
  <dc:subject>PptxGenJS Presentation</dc:subject>
  <dc:creator>PptxGenJS</dc:creator>
  <cp:lastModifiedBy>PptxGenJS</cp:lastModifiedBy>
  <cp:revision>1</cp:revision>
  <dcterms:created xsi:type="dcterms:W3CDTF">2026-07-06T22:57:35Z</dcterms:created>
  <dcterms:modified xsi:type="dcterms:W3CDTF">2026-07-06T22:57:35Z</dcterms:modified>
</cp:coreProperties>
</file>