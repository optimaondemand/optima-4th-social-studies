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 of Exploration was also an age of technology. Today: the actual science — hull design, wind patterns, map projections, dead reckoning. Science and history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caravel's ability to sail INTO the wind (using lateen sails) was revolutionary. Previous square-rigged ships could only go where the wind pushed them. Ask: 'Why does being able to sail back against the wind matter as much as sailing out with it?' (If you can't sail back, the mission is one-way.)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Columbus's genius was partly understanding that if he sailed south first (to the Canary Islands) to catch the Northeast Trade Winds, he could ride them straight West. AND he knew the Westerlies further North would bring him home. He wasn't just brave — he was strategic.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 reckoning accumulated errors — small mistakes in speed or direction built up over thousands of miles. After 4 weeks, a ship might be 50-100 miles off from where it thought it was. That's the longitude problem in action. Ask: 'If a small error builds up over 30 days, what might happen to your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math problems sailors faced. The third problem uses Columbus's actual voyage. Accept estimates on #3 — the point is students engage with the scale. Note: a 'knot' = 1 nautical mile per hour ≈ 1.15 regular miles per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in chat. This connects science back to people. Key insight: the king decided whether to fund. The captain decided whether to go. The crew often had little choice — many were conscripted or had no other work. The REAL decisions were layered across many people with very different amounts of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0" y="3474720"/>
            <a:ext cx="9144000" cy="1673352"/>
          </a:xfrm>
          <a:prstGeom prst="rect">
            <a:avLst/>
          </a:prstGeom>
          <a:solidFill>
            <a:srgbClr val="0D2E5A"/>
          </a:solidFill>
          <a:ln w="12700">
            <a:solidFill>
              <a:srgbClr val="333333"/>
            </a:solidFill>
            <a:prstDash val="solid"/>
          </a:ln>
        </p:spPr>
      </p:sp>
      <p:sp>
        <p:nvSpPr>
          <p:cNvPr id="3" name="Shape 1"/>
          <p:cNvSpPr/>
          <p:nvPr/>
        </p:nvSpPr>
        <p:spPr>
          <a:xfrm>
            <a:off x="0" y="2743200"/>
            <a:ext cx="9144000" cy="3657600"/>
          </a:xfrm>
          <a:prstGeom prst="ellipse">
            <a:avLst/>
          </a:prstGeom>
          <a:solidFill>
            <a:srgbClr val="D4AF37">
              <a:alpha val="14000"/>
            </a:srgbClr>
          </a:solidFill>
          <a:ln w="12700">
            <a:solidFill>
              <a:srgbClr val="333333"/>
            </a:solidFill>
            <a:prstDash val="solid"/>
          </a:ln>
        </p:spPr>
      </p:sp>
      <p:sp>
        <p:nvSpPr>
          <p:cNvPr id="4" name="Shape 2"/>
          <p:cNvSpPr/>
          <p:nvPr/>
        </p:nvSpPr>
        <p:spPr>
          <a:xfrm>
            <a:off x="2011680" y="3547872"/>
            <a:ext cx="5120640" cy="2048256"/>
          </a:xfrm>
          <a:prstGeom prst="ellipse">
            <a:avLst/>
          </a:prstGeom>
          <a:solidFill>
            <a:srgbClr val="D4AF37">
              <a:alpha val="25000"/>
            </a:srgbClr>
          </a:solidFill>
          <a:ln w="12700">
            <a:solidFill>
              <a:srgbClr val="333333"/>
            </a:solidFill>
            <a:prstDash val="solid"/>
          </a:ln>
        </p:spPr>
      </p:sp>
      <p:sp>
        <p:nvSpPr>
          <p:cNvPr id="5" name="Shape 3"/>
          <p:cNvSpPr/>
          <p:nvPr/>
        </p:nvSpPr>
        <p:spPr>
          <a:xfrm>
            <a:off x="0" y="3840480"/>
            <a:ext cx="9144000" cy="0"/>
          </a:xfrm>
          <a:prstGeom prst="line">
            <a:avLst/>
          </a:prstGeom>
          <a:noFill/>
          <a:ln w="6350">
            <a:solidFill>
              <a:srgbClr val="FFFFFF">
                <a:alpha val="6000"/>
              </a:srgbClr>
            </a:solidFill>
            <a:prstDash val="solid"/>
          </a:ln>
        </p:spPr>
      </p:sp>
      <p:sp>
        <p:nvSpPr>
          <p:cNvPr id="6" name="Shape 4"/>
          <p:cNvSpPr/>
          <p:nvPr/>
        </p:nvSpPr>
        <p:spPr>
          <a:xfrm>
            <a:off x="0" y="4041648"/>
            <a:ext cx="9144000" cy="0"/>
          </a:xfrm>
          <a:prstGeom prst="line">
            <a:avLst/>
          </a:prstGeom>
          <a:noFill/>
          <a:ln w="6350">
            <a:solidFill>
              <a:srgbClr val="FFFFFF">
                <a:alpha val="14000"/>
              </a:srgbClr>
            </a:solidFill>
            <a:prstDash val="solid"/>
          </a:ln>
        </p:spPr>
      </p:sp>
      <p:sp>
        <p:nvSpPr>
          <p:cNvPr id="7" name="Shape 5"/>
          <p:cNvSpPr/>
          <p:nvPr/>
        </p:nvSpPr>
        <p:spPr>
          <a:xfrm>
            <a:off x="0" y="4242816"/>
            <a:ext cx="9144000" cy="0"/>
          </a:xfrm>
          <a:prstGeom prst="line">
            <a:avLst/>
          </a:prstGeom>
          <a:noFill/>
          <a:ln w="6350">
            <a:solidFill>
              <a:srgbClr val="FFFFFF">
                <a:alpha val="22000"/>
              </a:srgbClr>
            </a:solidFill>
            <a:prstDash val="solid"/>
          </a:ln>
        </p:spPr>
      </p:sp>
      <p:sp>
        <p:nvSpPr>
          <p:cNvPr id="8" name="Shape 6"/>
          <p:cNvSpPr/>
          <p:nvPr/>
        </p:nvSpPr>
        <p:spPr>
          <a:xfrm>
            <a:off x="0" y="4443984"/>
            <a:ext cx="9144000" cy="0"/>
          </a:xfrm>
          <a:prstGeom prst="line">
            <a:avLst/>
          </a:prstGeom>
          <a:noFill/>
          <a:ln w="6350">
            <a:solidFill>
              <a:srgbClr val="FFFFFF">
                <a:alpha val="30000"/>
              </a:srgbClr>
            </a:solidFill>
            <a:prstDash val="solid"/>
          </a:ln>
        </p:spPr>
      </p:sp>
      <p:sp>
        <p:nvSpPr>
          <p:cNvPr id="9" name="Shape 7"/>
          <p:cNvSpPr/>
          <p:nvPr/>
        </p:nvSpPr>
        <p:spPr>
          <a:xfrm>
            <a:off x="0" y="4645152"/>
            <a:ext cx="9144000" cy="0"/>
          </a:xfrm>
          <a:prstGeom prst="line">
            <a:avLst/>
          </a:prstGeom>
          <a:noFill/>
          <a:ln w="6350">
            <a:solidFill>
              <a:srgbClr val="FFFFFF">
                <a:alpha val="38000"/>
              </a:srgbClr>
            </a:solidFill>
            <a:prstDash val="solid"/>
          </a:ln>
        </p:spPr>
      </p:sp>
      <p:sp>
        <p:nvSpPr>
          <p:cNvPr id="10" name="Shape 8"/>
          <p:cNvSpPr/>
          <p:nvPr/>
        </p:nvSpPr>
        <p:spPr>
          <a:xfrm>
            <a:off x="0" y="0"/>
            <a:ext cx="9144000" cy="50292"/>
          </a:xfrm>
          <a:prstGeom prst="rect">
            <a:avLst/>
          </a:prstGeom>
          <a:solidFill>
            <a:srgbClr val="D4AF37"/>
          </a:solidFill>
          <a:ln w="12700">
            <a:solidFill>
              <a:srgbClr val="333333"/>
            </a:solidFill>
            <a:prstDash val="solid"/>
          </a:ln>
        </p:spPr>
      </p:sp>
      <p:sp>
        <p:nvSpPr>
          <p:cNvPr id="11" name="Shape 9"/>
          <p:cNvSpPr/>
          <p:nvPr/>
        </p:nvSpPr>
        <p:spPr>
          <a:xfrm>
            <a:off x="1645920" y="164592"/>
            <a:ext cx="5852160" cy="475488"/>
          </a:xfrm>
          <a:prstGeom prst="roundRect">
            <a:avLst>
              <a:gd name="adj" fmla="val 13462"/>
            </a:avLst>
          </a:prstGeom>
          <a:solidFill>
            <a:srgbClr val="D4AF37">
              <a:alpha val="18000"/>
            </a:srgbClr>
          </a:solidFill>
          <a:ln w="12700">
            <a:solidFill>
              <a:srgbClr val="D4AF37"/>
            </a:solidFill>
            <a:prstDash val="solid"/>
          </a:ln>
        </p:spPr>
      </p:sp>
      <p:sp>
        <p:nvSpPr>
          <p:cNvPr id="12" name="Text 10"/>
          <p:cNvSpPr/>
          <p:nvPr/>
        </p:nvSpPr>
        <p:spPr>
          <a:xfrm>
            <a:off x="1645920" y="164592"/>
            <a:ext cx="5852160" cy="475488"/>
          </a:xfrm>
          <a:prstGeom prst="rect">
            <a:avLst/>
          </a:prstGeom>
          <a:noFill/>
          <a:ln/>
        </p:spPr>
        <p:txBody>
          <a:bodyPr wrap="square" lIns="0" tIns="0" rIns="0" bIns="0" rtlCol="0" anchor="ctr"/>
          <a:lstStyle/>
          <a:p>
            <a:pPr algn="ctr" indent="0" marL="0">
              <a:buNone/>
            </a:pPr>
            <a:r>
              <a:rPr lang="en-US" sz="1050" b="1" spc="250" kern="0" dirty="0">
                <a:solidFill>
                  <a:srgbClr val="D4AF37"/>
                </a:solidFill>
                <a:latin typeface="Calibri" pitchFamily="34" charset="0"/>
                <a:ea typeface="Calibri" pitchFamily="34" charset="-122"/>
                <a:cs typeface="Calibri" pitchFamily="34" charset="-120"/>
              </a:rPr>
              <a:t>EXPLORER'S VAULT  ·  UNIT 2  ·  WEEK 5</a:t>
            </a:r>
            <a:endParaRPr lang="en-US" sz="1050" dirty="0"/>
          </a:p>
        </p:txBody>
      </p:sp>
      <p:sp>
        <p:nvSpPr>
          <p:cNvPr id="13" name="Text 11"/>
          <p:cNvSpPr/>
          <p:nvPr/>
        </p:nvSpPr>
        <p:spPr>
          <a:xfrm>
            <a:off x="731520" y="768096"/>
            <a:ext cx="7680960" cy="2651760"/>
          </a:xfrm>
          <a:prstGeom prst="rect">
            <a:avLst/>
          </a:prstGeom>
          <a:noFill/>
          <a:ln/>
        </p:spPr>
        <p:txBody>
          <a:bodyPr wrap="square" lIns="0" tIns="0" rIns="0" bIns="0" rtlCol="0" anchor="ctr"/>
          <a:lstStyle/>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Maps, Ships, and</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the Science of Travel</a:t>
            </a:r>
            <a:endParaRPr lang="en-US" sz="5200" dirty="0"/>
          </a:p>
        </p:txBody>
      </p:sp>
      <p:sp>
        <p:nvSpPr>
          <p:cNvPr id="14" name="Text 12"/>
          <p:cNvSpPr/>
          <p:nvPr/>
        </p:nvSpPr>
        <p:spPr>
          <a:xfrm>
            <a:off x="1371600" y="3511296"/>
            <a:ext cx="6400800" cy="347472"/>
          </a:xfrm>
          <a:prstGeom prst="rect">
            <a:avLst/>
          </a:prstGeom>
          <a:noFill/>
          <a:ln/>
        </p:spPr>
        <p:txBody>
          <a:bodyPr wrap="square" lIns="0" tIns="0" rIns="0" bIns="0" rtlCol="0" anchor="ctr"/>
          <a:lstStyle/>
          <a:p>
            <a:pPr algn="ctr" indent="0" marL="0">
              <a:buNone/>
            </a:pPr>
            <a:r>
              <a:rPr lang="en-US" sz="1250" dirty="0">
                <a:solidFill>
                  <a:srgbClr val="D4AF37"/>
                </a:solidFill>
                <a:latin typeface="Calibri" pitchFamily="34" charset="0"/>
                <a:ea typeface="Calibri" pitchFamily="34" charset="-122"/>
                <a:cs typeface="Calibri" pitchFamily="34" charset="-120"/>
              </a:rPr>
              <a:t>Lesson 3.02.04  ·  3rd Grade Social Studies</a:t>
            </a:r>
            <a:endParaRPr lang="en-US" sz="1250" dirty="0"/>
          </a:p>
        </p:txBody>
      </p:sp>
      <p:sp>
        <p:nvSpPr>
          <p:cNvPr id="15" name="Shape 13"/>
          <p:cNvSpPr/>
          <p:nvPr/>
        </p:nvSpPr>
        <p:spPr>
          <a:xfrm>
            <a:off x="2560320" y="3931920"/>
            <a:ext cx="4023360" cy="603504"/>
          </a:xfrm>
          <a:prstGeom prst="roundRect">
            <a:avLst>
              <a:gd name="adj" fmla="val 15152"/>
            </a:avLst>
          </a:prstGeom>
          <a:solidFill>
            <a:srgbClr val="1B4F72">
              <a:alpha val="20000"/>
            </a:srgbClr>
          </a:solidFill>
          <a:ln w="19050">
            <a:solidFill>
              <a:srgbClr val="1B4F72"/>
            </a:solidFill>
            <a:prstDash val="solid"/>
          </a:ln>
        </p:spPr>
      </p:sp>
      <p:sp>
        <p:nvSpPr>
          <p:cNvPr id="16" name="Text 14"/>
          <p:cNvSpPr/>
          <p:nvPr/>
        </p:nvSpPr>
        <p:spPr>
          <a:xfrm>
            <a:off x="2560320" y="3931920"/>
            <a:ext cx="4023360"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 Study + Virtue Lens  ·  Virtue: Courage</a:t>
            </a:r>
            <a:endParaRPr lang="en-US" sz="1200" dirty="0"/>
          </a:p>
        </p:txBody>
      </p:sp>
      <p:sp>
        <p:nvSpPr>
          <p:cNvPr id="17" name="Shape 15"/>
          <p:cNvSpPr/>
          <p:nvPr/>
        </p:nvSpPr>
        <p:spPr>
          <a:xfrm>
            <a:off x="923544" y="4736592"/>
            <a:ext cx="164592" cy="256032"/>
          </a:xfrm>
          <a:prstGeom prst="ellipse">
            <a:avLst/>
          </a:prstGeom>
          <a:solidFill>
            <a:srgbClr val="D4AF37"/>
          </a:solidFill>
          <a:ln w="12700">
            <a:solidFill>
              <a:srgbClr val="333333"/>
            </a:solidFill>
            <a:prstDash val="solid"/>
          </a:ln>
        </p:spPr>
      </p:sp>
      <p:sp>
        <p:nvSpPr>
          <p:cNvPr id="18" name="Shape 16"/>
          <p:cNvSpPr/>
          <p:nvPr/>
        </p:nvSpPr>
        <p:spPr>
          <a:xfrm>
            <a:off x="8055864" y="4736592"/>
            <a:ext cx="164592" cy="256032"/>
          </a:xfrm>
          <a:prstGeom prst="ellipse">
            <a:avLst/>
          </a:prstGeom>
          <a:solidFill>
            <a:srgbClr val="D4AF37"/>
          </a:solidFill>
          <a:ln w="12700">
            <a:solidFill>
              <a:srgbClr val="333333"/>
            </a:solidFill>
            <a:prstDash val="solid"/>
          </a:ln>
        </p:spPr>
      </p:sp>
      <p:sp>
        <p:nvSpPr>
          <p:cNvPr id="19" name="Shape 17"/>
          <p:cNvSpPr/>
          <p:nvPr/>
        </p:nvSpPr>
        <p:spPr>
          <a:xfrm>
            <a:off x="1005840" y="4864608"/>
            <a:ext cx="7132320" cy="0"/>
          </a:xfrm>
          <a:prstGeom prst="line">
            <a:avLst/>
          </a:prstGeom>
          <a:noFill/>
          <a:ln w="31750">
            <a:solidFill>
              <a:srgbClr val="D4AF3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71E3D"/>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Ship That Changed Everything: The Caravel</a:t>
            </a:r>
            <a:endParaRPr lang="en-US" sz="2200" dirty="0"/>
          </a:p>
        </p:txBody>
      </p:sp>
      <p:sp>
        <p:nvSpPr>
          <p:cNvPr id="4" name="Shape 2"/>
          <p:cNvSpPr/>
          <p:nvPr/>
        </p:nvSpPr>
        <p:spPr>
          <a:xfrm>
            <a:off x="347472" y="768096"/>
            <a:ext cx="3968496" cy="4224528"/>
          </a:xfrm>
          <a:prstGeom prst="roundRect">
            <a:avLst>
              <a:gd name="adj" fmla="val 2304"/>
            </a:avLst>
          </a:prstGeom>
          <a:solidFill>
            <a:srgbClr val="9B1C2E">
              <a:alpha val="8000"/>
            </a:srgbClr>
          </a:solidFill>
          <a:ln w="19050">
            <a:solidFill>
              <a:srgbClr val="9B1C2E"/>
            </a:solidFill>
            <a:prstDash val="solid"/>
          </a:ln>
        </p:spPr>
      </p:sp>
      <p:sp>
        <p:nvSpPr>
          <p:cNvPr id="5" name="Text 3"/>
          <p:cNvSpPr/>
          <p:nvPr/>
        </p:nvSpPr>
        <p:spPr>
          <a:xfrm>
            <a:off x="530352" y="859536"/>
            <a:ext cx="3602736" cy="438912"/>
          </a:xfrm>
          <a:prstGeom prst="rect">
            <a:avLst/>
          </a:prstGeom>
          <a:noFill/>
          <a:ln/>
        </p:spPr>
        <p:txBody>
          <a:bodyPr wrap="square" lIns="0" tIns="0" rIns="0" bIns="0" rtlCol="0" anchor="ctr"/>
          <a:lstStyle/>
          <a:p>
            <a:pPr algn="ctr" indent="0" marL="0">
              <a:buNone/>
            </a:pPr>
            <a:r>
              <a:rPr lang="en-US" sz="1300" b="1" dirty="0">
                <a:solidFill>
                  <a:srgbClr val="9B1C2E"/>
                </a:solidFill>
                <a:latin typeface="Cambria" pitchFamily="34" charset="0"/>
                <a:ea typeface="Cambria" pitchFamily="34" charset="-122"/>
                <a:cs typeface="Cambria" pitchFamily="34" charset="-120"/>
              </a:rPr>
              <a:t>🚢  Before: The Cog</a:t>
            </a:r>
            <a:endParaRPr lang="en-US" sz="1300" dirty="0"/>
          </a:p>
        </p:txBody>
      </p:sp>
      <p:sp>
        <p:nvSpPr>
          <p:cNvPr id="6" name="Text 4"/>
          <p:cNvSpPr/>
          <p:nvPr/>
        </p:nvSpPr>
        <p:spPr>
          <a:xfrm>
            <a:off x="530352" y="1389888"/>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Heavy, bulky hull — slow</a:t>
            </a:r>
            <a:endParaRPr lang="en-US" sz="1150" dirty="0"/>
          </a:p>
        </p:txBody>
      </p:sp>
      <p:sp>
        <p:nvSpPr>
          <p:cNvPr id="7" name="Text 5"/>
          <p:cNvSpPr/>
          <p:nvPr/>
        </p:nvSpPr>
        <p:spPr>
          <a:xfrm>
            <a:off x="530352" y="1975104"/>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Square sail only: could only sail WITH the wind</a:t>
            </a:r>
            <a:endParaRPr lang="en-US" sz="1150" dirty="0"/>
          </a:p>
        </p:txBody>
      </p:sp>
      <p:sp>
        <p:nvSpPr>
          <p:cNvPr id="8" name="Text 6"/>
          <p:cNvSpPr/>
          <p:nvPr/>
        </p:nvSpPr>
        <p:spPr>
          <a:xfrm>
            <a:off x="530352" y="2560320"/>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Shallow draft — ran aground in rough seas</a:t>
            </a:r>
            <a:endParaRPr lang="en-US" sz="1150" dirty="0"/>
          </a:p>
        </p:txBody>
      </p:sp>
      <p:sp>
        <p:nvSpPr>
          <p:cNvPr id="9" name="Text 7"/>
          <p:cNvSpPr/>
          <p:nvPr/>
        </p:nvSpPr>
        <p:spPr>
          <a:xfrm>
            <a:off x="530352" y="3145536"/>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Could not sail upwind or at angles</a:t>
            </a:r>
            <a:endParaRPr lang="en-US" sz="1150" dirty="0"/>
          </a:p>
        </p:txBody>
      </p:sp>
      <p:sp>
        <p:nvSpPr>
          <p:cNvPr id="10" name="Text 8"/>
          <p:cNvSpPr/>
          <p:nvPr/>
        </p:nvSpPr>
        <p:spPr>
          <a:xfrm>
            <a:off x="530352" y="3730752"/>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Limited range: needed coastal ports</a:t>
            </a:r>
            <a:endParaRPr lang="en-US" sz="1150" dirty="0"/>
          </a:p>
        </p:txBody>
      </p:sp>
      <p:sp>
        <p:nvSpPr>
          <p:cNvPr id="11" name="Shape 9"/>
          <p:cNvSpPr/>
          <p:nvPr/>
        </p:nvSpPr>
        <p:spPr>
          <a:xfrm>
            <a:off x="4828032" y="768096"/>
            <a:ext cx="3968496" cy="4224528"/>
          </a:xfrm>
          <a:prstGeom prst="roundRect">
            <a:avLst>
              <a:gd name="adj" fmla="val 2304"/>
            </a:avLst>
          </a:prstGeom>
          <a:solidFill>
            <a:srgbClr val="2E7D4F">
              <a:alpha val="10000"/>
            </a:srgbClr>
          </a:solidFill>
          <a:ln w="19050">
            <a:solidFill>
              <a:srgbClr val="2E7D4F"/>
            </a:solidFill>
            <a:prstDash val="solid"/>
          </a:ln>
        </p:spPr>
      </p:sp>
      <p:sp>
        <p:nvSpPr>
          <p:cNvPr id="12" name="Text 10"/>
          <p:cNvSpPr/>
          <p:nvPr/>
        </p:nvSpPr>
        <p:spPr>
          <a:xfrm>
            <a:off x="5010912" y="859536"/>
            <a:ext cx="3602736" cy="438912"/>
          </a:xfrm>
          <a:prstGeom prst="rect">
            <a:avLst/>
          </a:prstGeom>
          <a:noFill/>
          <a:ln/>
        </p:spPr>
        <p:txBody>
          <a:bodyPr wrap="square" lIns="0" tIns="0" rIns="0" bIns="0" rtlCol="0" anchor="ctr"/>
          <a:lstStyle/>
          <a:p>
            <a:pPr algn="ctr" indent="0" marL="0">
              <a:buNone/>
            </a:pPr>
            <a:r>
              <a:rPr lang="en-US" sz="1300" b="1" dirty="0">
                <a:solidFill>
                  <a:srgbClr val="2E7D4F"/>
                </a:solidFill>
                <a:latin typeface="Cambria" pitchFamily="34" charset="0"/>
                <a:ea typeface="Cambria" pitchFamily="34" charset="-122"/>
                <a:cs typeface="Cambria" pitchFamily="34" charset="-120"/>
              </a:rPr>
              <a:t>⛵  After: The Caravel</a:t>
            </a:r>
            <a:endParaRPr lang="en-US" sz="1300" dirty="0"/>
          </a:p>
        </p:txBody>
      </p:sp>
      <p:sp>
        <p:nvSpPr>
          <p:cNvPr id="13" name="Text 11"/>
          <p:cNvSpPr/>
          <p:nvPr/>
        </p:nvSpPr>
        <p:spPr>
          <a:xfrm>
            <a:off x="5010912" y="1389888"/>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Lighter, faster hull</a:t>
            </a:r>
            <a:endParaRPr lang="en-US" sz="1150" dirty="0"/>
          </a:p>
        </p:txBody>
      </p:sp>
      <p:sp>
        <p:nvSpPr>
          <p:cNvPr id="14" name="Text 12"/>
          <p:cNvSpPr/>
          <p:nvPr/>
        </p:nvSpPr>
        <p:spPr>
          <a:xfrm>
            <a:off x="5010912" y="1975104"/>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Triangular lateen sails: could sail INTO the wind</a:t>
            </a:r>
            <a:endParaRPr lang="en-US" sz="1150" dirty="0"/>
          </a:p>
        </p:txBody>
      </p:sp>
      <p:sp>
        <p:nvSpPr>
          <p:cNvPr id="15" name="Text 13"/>
          <p:cNvSpPr/>
          <p:nvPr/>
        </p:nvSpPr>
        <p:spPr>
          <a:xfrm>
            <a:off x="5010912" y="2560320"/>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Deeper keel: stable in open ocean swells</a:t>
            </a:r>
            <a:endParaRPr lang="en-US" sz="1150" dirty="0"/>
          </a:p>
        </p:txBody>
      </p:sp>
      <p:sp>
        <p:nvSpPr>
          <p:cNvPr id="16" name="Text 14"/>
          <p:cNvSpPr/>
          <p:nvPr/>
        </p:nvSpPr>
        <p:spPr>
          <a:xfrm>
            <a:off x="5010912" y="3145536"/>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Could tack upwind at angles — much more flexible</a:t>
            </a:r>
            <a:endParaRPr lang="en-US" sz="1150" dirty="0"/>
          </a:p>
        </p:txBody>
      </p:sp>
      <p:sp>
        <p:nvSpPr>
          <p:cNvPr id="17" name="Text 15"/>
          <p:cNvSpPr/>
          <p:nvPr/>
        </p:nvSpPr>
        <p:spPr>
          <a:xfrm>
            <a:off x="5010912" y="3730752"/>
            <a:ext cx="3602736" cy="51206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Carried food for 6+ weeks at sea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457200" y="274320"/>
            <a:ext cx="8229600" cy="4572000"/>
          </a:xfrm>
          <a:prstGeom prst="ellipse">
            <a:avLst/>
          </a:prstGeom>
          <a:solidFill>
            <a:srgbClr val="1B4F72">
              <a:alpha val="14000"/>
            </a:srgbClr>
          </a:solidFill>
          <a:ln w="12700">
            <a:solidFill>
              <a:srgbClr val="333333"/>
            </a:solidFill>
            <a:prstDash val="solid"/>
          </a:ln>
        </p:spPr>
      </p:sp>
      <p:sp>
        <p:nvSpPr>
          <p:cNvPr id="3" name="Shape 1"/>
          <p:cNvSpPr/>
          <p:nvPr/>
        </p:nvSpPr>
        <p:spPr>
          <a:xfrm>
            <a:off x="2267712" y="1280160"/>
            <a:ext cx="4608576" cy="2560320"/>
          </a:xfrm>
          <a:prstGeom prst="ellipse">
            <a:avLst/>
          </a:prstGeom>
          <a:solidFill>
            <a:srgbClr val="1B4F72">
              <a:alpha val="25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Trade Winds: Nature's Superhighways</a:t>
            </a:r>
            <a:endParaRPr lang="en-US" sz="2600" dirty="0"/>
          </a:p>
        </p:txBody>
      </p:sp>
      <p:sp>
        <p:nvSpPr>
          <p:cNvPr id="5" name="Shape 3"/>
          <p:cNvSpPr/>
          <p:nvPr/>
        </p:nvSpPr>
        <p:spPr>
          <a:xfrm>
            <a:off x="402336" y="768096"/>
            <a:ext cx="8339328" cy="950976"/>
          </a:xfrm>
          <a:prstGeom prst="roundRect">
            <a:avLst>
              <a:gd name="adj" fmla="val 8654"/>
            </a:avLst>
          </a:prstGeom>
          <a:solidFill>
            <a:srgbClr val="1B4F72">
              <a:alpha val="18000"/>
            </a:srgbClr>
          </a:solidFill>
          <a:ln w="19050">
            <a:solidFill>
              <a:srgbClr val="1B4F72"/>
            </a:solidFill>
            <a:prstDash val="solid"/>
          </a:ln>
        </p:spPr>
      </p:sp>
      <p:sp>
        <p:nvSpPr>
          <p:cNvPr id="6" name="Text 4"/>
          <p:cNvSpPr/>
          <p:nvPr/>
        </p:nvSpPr>
        <p:spPr>
          <a:xfrm>
            <a:off x="585216" y="804672"/>
            <a:ext cx="7973568" cy="877824"/>
          </a:xfrm>
          <a:prstGeom prst="rect">
            <a:avLst/>
          </a:prstGeom>
          <a:noFill/>
          <a:ln/>
        </p:spPr>
        <p:txBody>
          <a:bodyPr wrap="square" rtlCol="0" anchor="ctr"/>
          <a:lstStyle/>
          <a:p>
            <a:pPr algn="l" indent="0" marL="0">
              <a:lnSpc>
                <a:spcPct val="135000"/>
              </a:lnSpc>
              <a:buNone/>
            </a:pPr>
            <a:r>
              <a:rPr lang="en-US" sz="1250" dirty="0">
                <a:solidFill>
                  <a:srgbClr val="FFFFFF"/>
                </a:solidFill>
                <a:latin typeface="Calibri" pitchFamily="34" charset="0"/>
                <a:ea typeface="Calibri" pitchFamily="34" charset="-122"/>
                <a:cs typeface="Calibri" pitchFamily="34" charset="-120"/>
              </a:rPr>
              <a:t>Trade winds are steady winds that blow in predictable directions near the equator. Explorers didn't discover these — sailors had used them for centuries. But understanding them made transatlantic travel possible.</a:t>
            </a:r>
            <a:endParaRPr lang="en-US" sz="1250" dirty="0"/>
          </a:p>
        </p:txBody>
      </p:sp>
      <p:sp>
        <p:nvSpPr>
          <p:cNvPr id="7" name="Shape 5"/>
          <p:cNvSpPr/>
          <p:nvPr/>
        </p:nvSpPr>
        <p:spPr>
          <a:xfrm>
            <a:off x="402336" y="1828800"/>
            <a:ext cx="8339328" cy="896112"/>
          </a:xfrm>
          <a:prstGeom prst="roundRect">
            <a:avLst>
              <a:gd name="adj" fmla="val 8163"/>
            </a:avLst>
          </a:prstGeom>
          <a:solidFill>
            <a:srgbClr val="9B1C2E">
              <a:alpha val="15000"/>
            </a:srgbClr>
          </a:solidFill>
          <a:ln w="15240">
            <a:solidFill>
              <a:srgbClr val="9B1C2E"/>
            </a:solidFill>
            <a:prstDash val="solid"/>
          </a:ln>
        </p:spPr>
      </p:sp>
      <p:sp>
        <p:nvSpPr>
          <p:cNvPr id="8" name="Text 6"/>
          <p:cNvSpPr/>
          <p:nvPr/>
        </p:nvSpPr>
        <p:spPr>
          <a:xfrm>
            <a:off x="585216" y="1865376"/>
            <a:ext cx="2743200" cy="402336"/>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  Northeast Trade Winds</a:t>
            </a:r>
            <a:endParaRPr lang="en-US" sz="1200" dirty="0"/>
          </a:p>
        </p:txBody>
      </p:sp>
      <p:sp>
        <p:nvSpPr>
          <p:cNvPr id="9" name="Text 7"/>
          <p:cNvSpPr/>
          <p:nvPr/>
        </p:nvSpPr>
        <p:spPr>
          <a:xfrm>
            <a:off x="3364992" y="1865376"/>
            <a:ext cx="5230368" cy="822960"/>
          </a:xfrm>
          <a:prstGeom prst="rect">
            <a:avLst/>
          </a:prstGeom>
          <a:noFill/>
          <a:ln/>
        </p:spPr>
        <p:txBody>
          <a:bodyPr wrap="square" lIns="0" tIns="0" rIns="0" bIns="0" rtlCol="0" anchor="ctr"/>
          <a:lstStyle/>
          <a:p>
            <a:pPr indent="0" marL="0">
              <a:lnSpc>
                <a:spcPct val="130000"/>
              </a:lnSpc>
              <a:buNone/>
            </a:pPr>
            <a:r>
              <a:rPr lang="en-US" sz="1150" dirty="0">
                <a:solidFill>
                  <a:srgbClr val="F8F4E8"/>
                </a:solidFill>
                <a:latin typeface="Calibri" pitchFamily="34" charset="0"/>
                <a:ea typeface="Calibri" pitchFamily="34" charset="-122"/>
                <a:cs typeface="Calibri" pitchFamily="34" charset="-120"/>
              </a:rPr>
              <a:t>Blow from NE to SW above equator. Columbus used these to cross the Atlantic heading West toward the Caribbean.</a:t>
            </a:r>
            <a:endParaRPr lang="en-US" sz="1150" dirty="0"/>
          </a:p>
        </p:txBody>
      </p:sp>
      <p:sp>
        <p:nvSpPr>
          <p:cNvPr id="10" name="Shape 8"/>
          <p:cNvSpPr/>
          <p:nvPr/>
        </p:nvSpPr>
        <p:spPr>
          <a:xfrm>
            <a:off x="402336" y="2834640"/>
            <a:ext cx="8339328" cy="896112"/>
          </a:xfrm>
          <a:prstGeom prst="roundRect">
            <a:avLst>
              <a:gd name="adj" fmla="val 8163"/>
            </a:avLst>
          </a:prstGeom>
          <a:solidFill>
            <a:srgbClr val="2E7D4F">
              <a:alpha val="15000"/>
            </a:srgbClr>
          </a:solidFill>
          <a:ln w="15240">
            <a:solidFill>
              <a:srgbClr val="2E7D4F"/>
            </a:solidFill>
            <a:prstDash val="solid"/>
          </a:ln>
        </p:spPr>
      </p:sp>
      <p:sp>
        <p:nvSpPr>
          <p:cNvPr id="11" name="Text 9"/>
          <p:cNvSpPr/>
          <p:nvPr/>
        </p:nvSpPr>
        <p:spPr>
          <a:xfrm>
            <a:off x="585216" y="2871216"/>
            <a:ext cx="2743200" cy="402336"/>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  Southeast Trade Winds</a:t>
            </a:r>
            <a:endParaRPr lang="en-US" sz="1200" dirty="0"/>
          </a:p>
        </p:txBody>
      </p:sp>
      <p:sp>
        <p:nvSpPr>
          <p:cNvPr id="12" name="Text 10"/>
          <p:cNvSpPr/>
          <p:nvPr/>
        </p:nvSpPr>
        <p:spPr>
          <a:xfrm>
            <a:off x="3364992" y="2871216"/>
            <a:ext cx="5230368" cy="822960"/>
          </a:xfrm>
          <a:prstGeom prst="rect">
            <a:avLst/>
          </a:prstGeom>
          <a:noFill/>
          <a:ln/>
        </p:spPr>
        <p:txBody>
          <a:bodyPr wrap="square" lIns="0" tIns="0" rIns="0" bIns="0" rtlCol="0" anchor="ctr"/>
          <a:lstStyle/>
          <a:p>
            <a:pPr indent="0" marL="0">
              <a:lnSpc>
                <a:spcPct val="130000"/>
              </a:lnSpc>
              <a:buNone/>
            </a:pPr>
            <a:r>
              <a:rPr lang="en-US" sz="1150" dirty="0">
                <a:solidFill>
                  <a:srgbClr val="F8F4E8"/>
                </a:solidFill>
                <a:latin typeface="Calibri" pitchFamily="34" charset="0"/>
                <a:ea typeface="Calibri" pitchFamily="34" charset="-122"/>
                <a:cs typeface="Calibri" pitchFamily="34" charset="-120"/>
              </a:rPr>
              <a:t>Blow from SE to NW below equator. Da Gama used these on his return voyage from India.</a:t>
            </a:r>
            <a:endParaRPr lang="en-US" sz="1150" dirty="0"/>
          </a:p>
        </p:txBody>
      </p:sp>
      <p:sp>
        <p:nvSpPr>
          <p:cNvPr id="13" name="Shape 11"/>
          <p:cNvSpPr/>
          <p:nvPr/>
        </p:nvSpPr>
        <p:spPr>
          <a:xfrm>
            <a:off x="402336" y="3840480"/>
            <a:ext cx="8339328" cy="896112"/>
          </a:xfrm>
          <a:prstGeom prst="roundRect">
            <a:avLst>
              <a:gd name="adj" fmla="val 8163"/>
            </a:avLst>
          </a:prstGeom>
          <a:solidFill>
            <a:srgbClr val="A88920">
              <a:alpha val="15000"/>
            </a:srgbClr>
          </a:solidFill>
          <a:ln w="15240">
            <a:solidFill>
              <a:srgbClr val="A88920"/>
            </a:solidFill>
            <a:prstDash val="solid"/>
          </a:ln>
        </p:spPr>
      </p:sp>
      <p:sp>
        <p:nvSpPr>
          <p:cNvPr id="14" name="Text 12"/>
          <p:cNvSpPr/>
          <p:nvPr/>
        </p:nvSpPr>
        <p:spPr>
          <a:xfrm>
            <a:off x="585216" y="3877056"/>
            <a:ext cx="2743200" cy="402336"/>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  Westerlies</a:t>
            </a:r>
            <a:endParaRPr lang="en-US" sz="1200" dirty="0"/>
          </a:p>
        </p:txBody>
      </p:sp>
      <p:sp>
        <p:nvSpPr>
          <p:cNvPr id="15" name="Text 13"/>
          <p:cNvSpPr/>
          <p:nvPr/>
        </p:nvSpPr>
        <p:spPr>
          <a:xfrm>
            <a:off x="3364992" y="3877056"/>
            <a:ext cx="5230368" cy="822960"/>
          </a:xfrm>
          <a:prstGeom prst="rect">
            <a:avLst/>
          </a:prstGeom>
          <a:noFill/>
          <a:ln/>
        </p:spPr>
        <p:txBody>
          <a:bodyPr wrap="square" lIns="0" tIns="0" rIns="0" bIns="0" rtlCol="0" anchor="ctr"/>
          <a:lstStyle/>
          <a:p>
            <a:pPr indent="0" marL="0">
              <a:lnSpc>
                <a:spcPct val="130000"/>
              </a:lnSpc>
              <a:buNone/>
            </a:pPr>
            <a:r>
              <a:rPr lang="en-US" sz="1150" dirty="0">
                <a:solidFill>
                  <a:srgbClr val="F8F4E8"/>
                </a:solidFill>
                <a:latin typeface="Calibri" pitchFamily="34" charset="0"/>
                <a:ea typeface="Calibri" pitchFamily="34" charset="-122"/>
                <a:cs typeface="Calibri" pitchFamily="34" charset="-120"/>
              </a:rPr>
              <a:t>Blow from West in mid-latitudes. Columbus used these to sail BACK to Europe — the key to round-trip voyages.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4F72"/>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Dead Reckoning: Navigating with Math</a:t>
            </a:r>
            <a:endParaRPr lang="en-US" sz="2200" dirty="0"/>
          </a:p>
        </p:txBody>
      </p:sp>
      <p:sp>
        <p:nvSpPr>
          <p:cNvPr id="4" name="Text 2"/>
          <p:cNvSpPr/>
          <p:nvPr/>
        </p:nvSpPr>
        <p:spPr>
          <a:xfrm>
            <a:off x="457200" y="731520"/>
            <a:ext cx="8229600" cy="658368"/>
          </a:xfrm>
          <a:prstGeom prst="rect">
            <a:avLst/>
          </a:prstGeom>
          <a:noFill/>
          <a:ln/>
        </p:spPr>
        <p:txBody>
          <a:bodyPr wrap="square" lIns="0" tIns="0" rIns="0" bIns="0" rtlCol="0" anchor="ctr"/>
          <a:lstStyle/>
          <a:p>
            <a:pPr algn="ctr" indent="0" marL="0">
              <a:lnSpc>
                <a:spcPct val="140000"/>
              </a:lnSpc>
              <a:buNone/>
            </a:pPr>
            <a:r>
              <a:rPr lang="en-US" sz="1350" dirty="0">
                <a:solidFill>
                  <a:srgbClr val="1A0A14"/>
                </a:solidFill>
                <a:latin typeface="Calibri" pitchFamily="34" charset="0"/>
                <a:ea typeface="Calibri" pitchFamily="34" charset="-122"/>
                <a:cs typeface="Calibri" pitchFamily="34" charset="-120"/>
              </a:rPr>
              <a:t>When there were no stars visible and no landmarks, navigators used dead reckoning:</a:t>
            </a:r>
            <a:endParaRPr lang="en-US" sz="1350" dirty="0"/>
          </a:p>
          <a:p>
            <a:pPr algn="ctr" indent="0" marL="0">
              <a:lnSpc>
                <a:spcPct val="140000"/>
              </a:lnSpc>
              <a:buNone/>
            </a:pPr>
            <a:endParaRPr lang="en-US" sz="1350" dirty="0"/>
          </a:p>
          <a:p>
            <a:pPr algn="ctr" indent="0" marL="0">
              <a:lnSpc>
                <a:spcPct val="140000"/>
              </a:lnSpc>
              <a:buNone/>
            </a:pPr>
            <a:r>
              <a:rPr lang="en-US" sz="1350" dirty="0">
                <a:solidFill>
                  <a:srgbClr val="1A0A14"/>
                </a:solidFill>
                <a:latin typeface="Calibri" pitchFamily="34" charset="0"/>
                <a:ea typeface="Calibri" pitchFamily="34" charset="-122"/>
                <a:cs typeface="Calibri" pitchFamily="34" charset="-120"/>
              </a:rPr>
              <a:t>Speed × Time = Distance Traveled</a:t>
            </a:r>
            <a:endParaRPr lang="en-US" sz="1350" dirty="0"/>
          </a:p>
        </p:txBody>
      </p:sp>
      <p:sp>
        <p:nvSpPr>
          <p:cNvPr id="5" name="Shape 3"/>
          <p:cNvSpPr/>
          <p:nvPr/>
        </p:nvSpPr>
        <p:spPr>
          <a:xfrm>
            <a:off x="402336" y="1463040"/>
            <a:ext cx="8339328" cy="768096"/>
          </a:xfrm>
          <a:prstGeom prst="roundRect">
            <a:avLst>
              <a:gd name="adj" fmla="val 9524"/>
            </a:avLst>
          </a:prstGeom>
          <a:solidFill>
            <a:srgbClr val="1B4F72">
              <a:alpha val="10000"/>
            </a:srgbClr>
          </a:solidFill>
          <a:ln w="15240">
            <a:solidFill>
              <a:srgbClr val="1B4F72"/>
            </a:solidFill>
            <a:prstDash val="solid"/>
          </a:ln>
        </p:spPr>
      </p:sp>
      <p:sp>
        <p:nvSpPr>
          <p:cNvPr id="6" name="Shape 4"/>
          <p:cNvSpPr/>
          <p:nvPr/>
        </p:nvSpPr>
        <p:spPr>
          <a:xfrm>
            <a:off x="475488" y="1536192"/>
            <a:ext cx="548640" cy="548640"/>
          </a:xfrm>
          <a:prstGeom prst="ellipse">
            <a:avLst/>
          </a:prstGeom>
          <a:solidFill>
            <a:srgbClr val="1B4F72"/>
          </a:solidFill>
          <a:ln w="12700">
            <a:solidFill>
              <a:srgbClr val="333333"/>
            </a:solidFill>
            <a:prstDash val="solid"/>
          </a:ln>
        </p:spPr>
      </p:sp>
      <p:sp>
        <p:nvSpPr>
          <p:cNvPr id="7" name="Text 5"/>
          <p:cNvSpPr/>
          <p:nvPr/>
        </p:nvSpPr>
        <p:spPr>
          <a:xfrm>
            <a:off x="475488" y="1536192"/>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115568" y="1517904"/>
            <a:ext cx="1463040" cy="329184"/>
          </a:xfrm>
          <a:prstGeom prst="rect">
            <a:avLst/>
          </a:prstGeom>
          <a:noFill/>
          <a:ln/>
        </p:spPr>
        <p:txBody>
          <a:bodyPr wrap="square" lIns="0" tIns="0" rIns="0" bIns="0" rtlCol="0" anchor="ctr"/>
          <a:lstStyle/>
          <a:p>
            <a:pPr indent="0" marL="0">
              <a:buNone/>
            </a:pPr>
            <a:r>
              <a:rPr lang="en-US" sz="1150" b="1" dirty="0">
                <a:solidFill>
                  <a:srgbClr val="1B4F72"/>
                </a:solidFill>
                <a:latin typeface="Cambria" pitchFamily="34" charset="0"/>
                <a:ea typeface="Cambria" pitchFamily="34" charset="-122"/>
                <a:cs typeface="Cambria" pitchFamily="34" charset="-120"/>
              </a:rPr>
              <a:t>Measure Speed: </a:t>
            </a:r>
            <a:endParaRPr lang="en-US" sz="1150" dirty="0"/>
          </a:p>
        </p:txBody>
      </p:sp>
      <p:sp>
        <p:nvSpPr>
          <p:cNvPr id="9" name="Text 7"/>
          <p:cNvSpPr/>
          <p:nvPr/>
        </p:nvSpPr>
        <p:spPr>
          <a:xfrm>
            <a:off x="1115568" y="1847088"/>
            <a:ext cx="7443216" cy="329184"/>
          </a:xfrm>
          <a:prstGeom prst="rect">
            <a:avLst/>
          </a:prstGeom>
          <a:noFill/>
          <a:ln/>
        </p:spPr>
        <p:txBody>
          <a:bodyPr wrap="square" lIns="0" tIns="0" rIns="0" bIns="0" rtlCol="0" anchor="ctr"/>
          <a:lstStyle/>
          <a:p>
            <a:pPr indent="0" marL="0">
              <a:buNone/>
            </a:pPr>
            <a:r>
              <a:rPr lang="en-US" sz="1100" dirty="0">
                <a:solidFill>
                  <a:srgbClr val="3A4A6B"/>
                </a:solidFill>
                <a:latin typeface="Calibri" pitchFamily="34" charset="0"/>
                <a:ea typeface="Calibri" pitchFamily="34" charset="-122"/>
                <a:cs typeface="Calibri" pitchFamily="34" charset="-120"/>
              </a:rPr>
              <a:t>Drop a 'chip log' (wooden board on a rope with knots tied every 47.3 feet) overboard. Count how many knots pass through your hands in 30 seconds. That's your speed in 'knots.'</a:t>
            </a:r>
            <a:endParaRPr lang="en-US" sz="1100" dirty="0"/>
          </a:p>
        </p:txBody>
      </p:sp>
      <p:sp>
        <p:nvSpPr>
          <p:cNvPr id="10" name="Shape 8"/>
          <p:cNvSpPr/>
          <p:nvPr/>
        </p:nvSpPr>
        <p:spPr>
          <a:xfrm>
            <a:off x="402336" y="2340864"/>
            <a:ext cx="8339328" cy="768096"/>
          </a:xfrm>
          <a:prstGeom prst="roundRect">
            <a:avLst>
              <a:gd name="adj" fmla="val 9524"/>
            </a:avLst>
          </a:prstGeom>
          <a:solidFill>
            <a:srgbClr val="1B4F72">
              <a:alpha val="10000"/>
            </a:srgbClr>
          </a:solidFill>
          <a:ln w="15240">
            <a:solidFill>
              <a:srgbClr val="1B4F72"/>
            </a:solidFill>
            <a:prstDash val="solid"/>
          </a:ln>
        </p:spPr>
      </p:sp>
      <p:sp>
        <p:nvSpPr>
          <p:cNvPr id="11" name="Shape 9"/>
          <p:cNvSpPr/>
          <p:nvPr/>
        </p:nvSpPr>
        <p:spPr>
          <a:xfrm>
            <a:off x="475488" y="2414016"/>
            <a:ext cx="548640" cy="548640"/>
          </a:xfrm>
          <a:prstGeom prst="ellipse">
            <a:avLst/>
          </a:prstGeom>
          <a:solidFill>
            <a:srgbClr val="1B4F72"/>
          </a:solidFill>
          <a:ln w="12700">
            <a:solidFill>
              <a:srgbClr val="333333"/>
            </a:solidFill>
            <a:prstDash val="solid"/>
          </a:ln>
        </p:spPr>
      </p:sp>
      <p:sp>
        <p:nvSpPr>
          <p:cNvPr id="12" name="Text 10"/>
          <p:cNvSpPr/>
          <p:nvPr/>
        </p:nvSpPr>
        <p:spPr>
          <a:xfrm>
            <a:off x="475488" y="2414016"/>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15568" y="2395728"/>
            <a:ext cx="1463040" cy="329184"/>
          </a:xfrm>
          <a:prstGeom prst="rect">
            <a:avLst/>
          </a:prstGeom>
          <a:noFill/>
          <a:ln/>
        </p:spPr>
        <p:txBody>
          <a:bodyPr wrap="square" lIns="0" tIns="0" rIns="0" bIns="0" rtlCol="0" anchor="ctr"/>
          <a:lstStyle/>
          <a:p>
            <a:pPr indent="0" marL="0">
              <a:buNone/>
            </a:pPr>
            <a:r>
              <a:rPr lang="en-US" sz="1150" b="1" dirty="0">
                <a:solidFill>
                  <a:srgbClr val="1B4F72"/>
                </a:solidFill>
                <a:latin typeface="Cambria" pitchFamily="34" charset="0"/>
                <a:ea typeface="Cambria" pitchFamily="34" charset="-122"/>
                <a:cs typeface="Cambria" pitchFamily="34" charset="-120"/>
              </a:rPr>
              <a:t>Track Time: </a:t>
            </a:r>
            <a:endParaRPr lang="en-US" sz="1150" dirty="0"/>
          </a:p>
        </p:txBody>
      </p:sp>
      <p:sp>
        <p:nvSpPr>
          <p:cNvPr id="14" name="Text 12"/>
          <p:cNvSpPr/>
          <p:nvPr/>
        </p:nvSpPr>
        <p:spPr>
          <a:xfrm>
            <a:off x="1115568" y="2724912"/>
            <a:ext cx="7443216" cy="329184"/>
          </a:xfrm>
          <a:prstGeom prst="rect">
            <a:avLst/>
          </a:prstGeom>
          <a:noFill/>
          <a:ln/>
        </p:spPr>
        <p:txBody>
          <a:bodyPr wrap="square" lIns="0" tIns="0" rIns="0" bIns="0" rtlCol="0" anchor="ctr"/>
          <a:lstStyle/>
          <a:p>
            <a:pPr indent="0" marL="0">
              <a:buNone/>
            </a:pPr>
            <a:r>
              <a:rPr lang="en-US" sz="1100" dirty="0">
                <a:solidFill>
                  <a:srgbClr val="3A4A6B"/>
                </a:solidFill>
                <a:latin typeface="Calibri" pitchFamily="34" charset="0"/>
                <a:ea typeface="Calibri" pitchFamily="34" charset="-122"/>
                <a:cs typeface="Calibri" pitchFamily="34" charset="-120"/>
              </a:rPr>
              <a:t>Your hourglass crew member has flipped the glass every 30 minutes. They can tell you exactly how many hours you've sailed.</a:t>
            </a:r>
            <a:endParaRPr lang="en-US" sz="1100" dirty="0"/>
          </a:p>
        </p:txBody>
      </p:sp>
      <p:sp>
        <p:nvSpPr>
          <p:cNvPr id="15" name="Shape 13"/>
          <p:cNvSpPr/>
          <p:nvPr/>
        </p:nvSpPr>
        <p:spPr>
          <a:xfrm>
            <a:off x="402336" y="3218688"/>
            <a:ext cx="8339328" cy="768096"/>
          </a:xfrm>
          <a:prstGeom prst="roundRect">
            <a:avLst>
              <a:gd name="adj" fmla="val 9524"/>
            </a:avLst>
          </a:prstGeom>
          <a:solidFill>
            <a:srgbClr val="1B4F72">
              <a:alpha val="10000"/>
            </a:srgbClr>
          </a:solidFill>
          <a:ln w="15240">
            <a:solidFill>
              <a:srgbClr val="1B4F72"/>
            </a:solidFill>
            <a:prstDash val="solid"/>
          </a:ln>
        </p:spPr>
      </p:sp>
      <p:sp>
        <p:nvSpPr>
          <p:cNvPr id="16" name="Shape 14"/>
          <p:cNvSpPr/>
          <p:nvPr/>
        </p:nvSpPr>
        <p:spPr>
          <a:xfrm>
            <a:off x="475488" y="3291840"/>
            <a:ext cx="548640" cy="548640"/>
          </a:xfrm>
          <a:prstGeom prst="ellipse">
            <a:avLst/>
          </a:prstGeom>
          <a:solidFill>
            <a:srgbClr val="1B4F72"/>
          </a:solidFill>
          <a:ln w="12700">
            <a:solidFill>
              <a:srgbClr val="333333"/>
            </a:solidFill>
            <a:prstDash val="solid"/>
          </a:ln>
        </p:spPr>
      </p:sp>
      <p:sp>
        <p:nvSpPr>
          <p:cNvPr id="17" name="Text 15"/>
          <p:cNvSpPr/>
          <p:nvPr/>
        </p:nvSpPr>
        <p:spPr>
          <a:xfrm>
            <a:off x="475488" y="32918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1115568" y="3273552"/>
            <a:ext cx="1463040" cy="329184"/>
          </a:xfrm>
          <a:prstGeom prst="rect">
            <a:avLst/>
          </a:prstGeom>
          <a:noFill/>
          <a:ln/>
        </p:spPr>
        <p:txBody>
          <a:bodyPr wrap="square" lIns="0" tIns="0" rIns="0" bIns="0" rtlCol="0" anchor="ctr"/>
          <a:lstStyle/>
          <a:p>
            <a:pPr indent="0" marL="0">
              <a:buNone/>
            </a:pPr>
            <a:r>
              <a:rPr lang="en-US" sz="1150" b="1" dirty="0">
                <a:solidFill>
                  <a:srgbClr val="1B4F72"/>
                </a:solidFill>
                <a:latin typeface="Cambria" pitchFamily="34" charset="0"/>
                <a:ea typeface="Cambria" pitchFamily="34" charset="-122"/>
                <a:cs typeface="Cambria" pitchFamily="34" charset="-120"/>
              </a:rPr>
              <a:t>Calculate Distance: </a:t>
            </a:r>
            <a:endParaRPr lang="en-US" sz="1150" dirty="0"/>
          </a:p>
        </p:txBody>
      </p:sp>
      <p:sp>
        <p:nvSpPr>
          <p:cNvPr id="19" name="Text 17"/>
          <p:cNvSpPr/>
          <p:nvPr/>
        </p:nvSpPr>
        <p:spPr>
          <a:xfrm>
            <a:off x="1115568" y="3602736"/>
            <a:ext cx="7443216" cy="329184"/>
          </a:xfrm>
          <a:prstGeom prst="rect">
            <a:avLst/>
          </a:prstGeom>
          <a:noFill/>
          <a:ln/>
        </p:spPr>
        <p:txBody>
          <a:bodyPr wrap="square" lIns="0" tIns="0" rIns="0" bIns="0" rtlCol="0" anchor="ctr"/>
          <a:lstStyle/>
          <a:p>
            <a:pPr indent="0" marL="0">
              <a:buNone/>
            </a:pPr>
            <a:r>
              <a:rPr lang="en-US" sz="1100" dirty="0">
                <a:solidFill>
                  <a:srgbClr val="3A4A6B"/>
                </a:solidFill>
                <a:latin typeface="Calibri" pitchFamily="34" charset="0"/>
                <a:ea typeface="Calibri" pitchFamily="34" charset="-122"/>
                <a:cs typeface="Calibri" pitchFamily="34" charset="-120"/>
              </a:rPr>
              <a:t>Multiply speed by time. If you've sailed 5 knots for 72 hours, you've gone ~360 nautical miles.</a:t>
            </a:r>
            <a:endParaRPr lang="en-US" sz="1100" dirty="0"/>
          </a:p>
        </p:txBody>
      </p:sp>
      <p:sp>
        <p:nvSpPr>
          <p:cNvPr id="20" name="Shape 18"/>
          <p:cNvSpPr/>
          <p:nvPr/>
        </p:nvSpPr>
        <p:spPr>
          <a:xfrm>
            <a:off x="402336" y="4096512"/>
            <a:ext cx="8339328" cy="768096"/>
          </a:xfrm>
          <a:prstGeom prst="roundRect">
            <a:avLst>
              <a:gd name="adj" fmla="val 9524"/>
            </a:avLst>
          </a:prstGeom>
          <a:solidFill>
            <a:srgbClr val="1B4F72">
              <a:alpha val="10000"/>
            </a:srgbClr>
          </a:solidFill>
          <a:ln w="15240">
            <a:solidFill>
              <a:srgbClr val="1B4F72"/>
            </a:solidFill>
            <a:prstDash val="solid"/>
          </a:ln>
        </p:spPr>
      </p:sp>
      <p:sp>
        <p:nvSpPr>
          <p:cNvPr id="21" name="Shape 19"/>
          <p:cNvSpPr/>
          <p:nvPr/>
        </p:nvSpPr>
        <p:spPr>
          <a:xfrm>
            <a:off x="475488" y="4169664"/>
            <a:ext cx="548640" cy="548640"/>
          </a:xfrm>
          <a:prstGeom prst="ellipse">
            <a:avLst/>
          </a:prstGeom>
          <a:solidFill>
            <a:srgbClr val="1B4F72"/>
          </a:solidFill>
          <a:ln w="12700">
            <a:solidFill>
              <a:srgbClr val="333333"/>
            </a:solidFill>
            <a:prstDash val="solid"/>
          </a:ln>
        </p:spPr>
      </p:sp>
      <p:sp>
        <p:nvSpPr>
          <p:cNvPr id="22" name="Text 20"/>
          <p:cNvSpPr/>
          <p:nvPr/>
        </p:nvSpPr>
        <p:spPr>
          <a:xfrm>
            <a:off x="475488" y="4169664"/>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p:nvPr/>
        </p:nvSpPr>
        <p:spPr>
          <a:xfrm>
            <a:off x="1115568" y="4151376"/>
            <a:ext cx="1463040" cy="329184"/>
          </a:xfrm>
          <a:prstGeom prst="rect">
            <a:avLst/>
          </a:prstGeom>
          <a:noFill/>
          <a:ln/>
        </p:spPr>
        <p:txBody>
          <a:bodyPr wrap="square" lIns="0" tIns="0" rIns="0" bIns="0" rtlCol="0" anchor="ctr"/>
          <a:lstStyle/>
          <a:p>
            <a:pPr indent="0" marL="0">
              <a:buNone/>
            </a:pPr>
            <a:r>
              <a:rPr lang="en-US" sz="1150" b="1" dirty="0">
                <a:solidFill>
                  <a:srgbClr val="1B4F72"/>
                </a:solidFill>
                <a:latin typeface="Cambria" pitchFamily="34" charset="0"/>
                <a:ea typeface="Cambria" pitchFamily="34" charset="-122"/>
                <a:cs typeface="Cambria" pitchFamily="34" charset="-120"/>
              </a:rPr>
              <a:t>Record Your Position: </a:t>
            </a:r>
            <a:endParaRPr lang="en-US" sz="1150" dirty="0"/>
          </a:p>
        </p:txBody>
      </p:sp>
      <p:sp>
        <p:nvSpPr>
          <p:cNvPr id="24" name="Text 22"/>
          <p:cNvSpPr/>
          <p:nvPr/>
        </p:nvSpPr>
        <p:spPr>
          <a:xfrm>
            <a:off x="1115568" y="4480560"/>
            <a:ext cx="7443216" cy="329184"/>
          </a:xfrm>
          <a:prstGeom prst="rect">
            <a:avLst/>
          </a:prstGeom>
          <a:noFill/>
          <a:ln/>
        </p:spPr>
        <p:txBody>
          <a:bodyPr wrap="square" lIns="0" tIns="0" rIns="0" bIns="0" rtlCol="0" anchor="ctr"/>
          <a:lstStyle/>
          <a:p>
            <a:pPr indent="0" marL="0">
              <a:buNone/>
            </a:pPr>
            <a:r>
              <a:rPr lang="en-US" sz="1100" dirty="0">
                <a:solidFill>
                  <a:srgbClr val="3A4A6B"/>
                </a:solidFill>
                <a:latin typeface="Calibri" pitchFamily="34" charset="0"/>
                <a:ea typeface="Calibri" pitchFamily="34" charset="-122"/>
                <a:cs typeface="Calibri" pitchFamily="34" charset="-120"/>
              </a:rPr>
              <a:t>Plot your estimated position on the chart — then immediately start the next calculation. Every hour matters.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457200" y="502920"/>
            <a:ext cx="8229600" cy="4114800"/>
          </a:xfrm>
          <a:prstGeom prst="ellipse">
            <a:avLst/>
          </a:prstGeom>
          <a:solidFill>
            <a:srgbClr val="D4AF37">
              <a:alpha val="14000"/>
            </a:srgbClr>
          </a:solidFill>
          <a:ln w="12700">
            <a:solidFill>
              <a:srgbClr val="333333"/>
            </a:solidFill>
            <a:prstDash val="solid"/>
          </a:ln>
        </p:spPr>
      </p:sp>
      <p:sp>
        <p:nvSpPr>
          <p:cNvPr id="3" name="Shape 1"/>
          <p:cNvSpPr/>
          <p:nvPr/>
        </p:nvSpPr>
        <p:spPr>
          <a:xfrm>
            <a:off x="2267712" y="1408176"/>
            <a:ext cx="4608576" cy="2304288"/>
          </a:xfrm>
          <a:prstGeom prst="ellipse">
            <a:avLst/>
          </a:prstGeom>
          <a:solidFill>
            <a:srgbClr val="D4AF37">
              <a:alpha val="25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Raise Your Hand: The Navigator's Math</a:t>
            </a:r>
            <a:endParaRPr lang="en-US" sz="2600" dirty="0"/>
          </a:p>
        </p:txBody>
      </p:sp>
      <p:sp>
        <p:nvSpPr>
          <p:cNvPr id="5" name="Shape 3"/>
          <p:cNvSpPr/>
          <p:nvPr/>
        </p:nvSpPr>
        <p:spPr>
          <a:xfrm>
            <a:off x="402336" y="768096"/>
            <a:ext cx="8339328" cy="493776"/>
          </a:xfrm>
          <a:prstGeom prst="roundRect">
            <a:avLst>
              <a:gd name="adj" fmla="val 16667"/>
            </a:avLst>
          </a:prstGeom>
          <a:solidFill>
            <a:srgbClr val="D4AF37">
              <a:alpha val="18000"/>
            </a:srgbClr>
          </a:solidFill>
          <a:ln w="19050">
            <a:solidFill>
              <a:srgbClr val="D4AF37"/>
            </a:solidFill>
            <a:prstDash val="solid"/>
          </a:ln>
        </p:spPr>
      </p:sp>
      <p:sp>
        <p:nvSpPr>
          <p:cNvPr id="6" name="Text 4"/>
          <p:cNvSpPr/>
          <p:nvPr/>
        </p:nvSpPr>
        <p:spPr>
          <a:xfrm>
            <a:off x="585216" y="804672"/>
            <a:ext cx="7973568" cy="420624"/>
          </a:xfrm>
          <a:prstGeom prst="rect">
            <a:avLst/>
          </a:prstGeom>
          <a:noFill/>
          <a:ln/>
        </p:spPr>
        <p:txBody>
          <a:bodyPr wrap="square" lIns="0" tIns="0" rIns="0" bIns="0" rtlCol="0" anchor="ctr"/>
          <a:lstStyle/>
          <a:p>
            <a:pPr algn="ctr" indent="0" marL="0">
              <a:buNone/>
            </a:pPr>
            <a:r>
              <a:rPr lang="en-US" sz="1300" b="1" dirty="0">
                <a:solidFill>
                  <a:srgbClr val="071E3D"/>
                </a:solidFill>
                <a:latin typeface="Calibri" pitchFamily="34" charset="0"/>
                <a:ea typeface="Calibri" pitchFamily="34" charset="-122"/>
                <a:cs typeface="Calibri" pitchFamily="34" charset="-120"/>
              </a:rPr>
              <a:t>Raise your hand when you have the answer. I'll call on you.</a:t>
            </a:r>
            <a:endParaRPr lang="en-US" sz="1300" dirty="0"/>
          </a:p>
        </p:txBody>
      </p:sp>
      <p:sp>
        <p:nvSpPr>
          <p:cNvPr id="7" name="Shape 5"/>
          <p:cNvSpPr/>
          <p:nvPr/>
        </p:nvSpPr>
        <p:spPr>
          <a:xfrm>
            <a:off x="402336" y="1371600"/>
            <a:ext cx="8339328" cy="822960"/>
          </a:xfrm>
          <a:prstGeom prst="roundRect">
            <a:avLst>
              <a:gd name="adj" fmla="val 8889"/>
            </a:avLst>
          </a:prstGeom>
          <a:solidFill>
            <a:srgbClr val="9B1C2E">
              <a:alpha val="15000"/>
            </a:srgbClr>
          </a:solidFill>
          <a:ln w="12700">
            <a:solidFill>
              <a:srgbClr val="9B1C2E"/>
            </a:solidFill>
            <a:prstDash val="solid"/>
          </a:ln>
        </p:spPr>
      </p:sp>
      <p:sp>
        <p:nvSpPr>
          <p:cNvPr id="8" name="Text 6"/>
          <p:cNvSpPr/>
          <p:nvPr/>
        </p:nvSpPr>
        <p:spPr>
          <a:xfrm>
            <a:off x="585216" y="1408176"/>
            <a:ext cx="7973568" cy="42062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If a ship travels at 4 knots for 48 hours, how far has it gone?</a:t>
            </a:r>
            <a:endParaRPr lang="en-US" sz="1200" dirty="0"/>
          </a:p>
        </p:txBody>
      </p:sp>
      <p:sp>
        <p:nvSpPr>
          <p:cNvPr id="9" name="Text 7"/>
          <p:cNvSpPr/>
          <p:nvPr/>
        </p:nvSpPr>
        <p:spPr>
          <a:xfrm>
            <a:off x="585216" y="1828800"/>
            <a:ext cx="7973568" cy="329184"/>
          </a:xfrm>
          <a:prstGeom prst="rect">
            <a:avLst/>
          </a:prstGeom>
          <a:noFill/>
          <a:ln/>
        </p:spPr>
        <p:txBody>
          <a:bodyPr wrap="square" lIns="0" tIns="0" rIns="0" bIns="0" rtlCol="0" anchor="ctr"/>
          <a:lstStyle/>
          <a:p>
            <a:pPr indent="0" marL="0">
              <a:buNone/>
            </a:pPr>
            <a:r>
              <a:rPr lang="en-US" sz="1100" i="1" dirty="0">
                <a:solidFill>
                  <a:srgbClr val="D4AF37"/>
                </a:solidFill>
                <a:latin typeface="Calibri" pitchFamily="34" charset="0"/>
                <a:ea typeface="Calibri" pitchFamily="34" charset="-122"/>
                <a:cs typeface="Calibri" pitchFamily="34" charset="-120"/>
              </a:rPr>
              <a:t>Answer: 4 × 48 = 192 nautical miles</a:t>
            </a:r>
            <a:endParaRPr lang="en-US" sz="1100" dirty="0"/>
          </a:p>
        </p:txBody>
      </p:sp>
      <p:sp>
        <p:nvSpPr>
          <p:cNvPr id="10" name="Shape 8"/>
          <p:cNvSpPr/>
          <p:nvPr/>
        </p:nvSpPr>
        <p:spPr>
          <a:xfrm>
            <a:off x="402336" y="2286000"/>
            <a:ext cx="8339328" cy="822960"/>
          </a:xfrm>
          <a:prstGeom prst="roundRect">
            <a:avLst>
              <a:gd name="adj" fmla="val 8889"/>
            </a:avLst>
          </a:prstGeom>
          <a:solidFill>
            <a:srgbClr val="1B4F72">
              <a:alpha val="15000"/>
            </a:srgbClr>
          </a:solidFill>
          <a:ln w="12700">
            <a:solidFill>
              <a:srgbClr val="1B4F72"/>
            </a:solidFill>
            <a:prstDash val="solid"/>
          </a:ln>
        </p:spPr>
      </p:sp>
      <p:sp>
        <p:nvSpPr>
          <p:cNvPr id="11" name="Text 9"/>
          <p:cNvSpPr/>
          <p:nvPr/>
        </p:nvSpPr>
        <p:spPr>
          <a:xfrm>
            <a:off x="585216" y="2322576"/>
            <a:ext cx="7973568" cy="42062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If a ship needs to travel 450 nautical miles and goes 5 knots, how many hours will it take?</a:t>
            </a:r>
            <a:endParaRPr lang="en-US" sz="1200" dirty="0"/>
          </a:p>
        </p:txBody>
      </p:sp>
      <p:sp>
        <p:nvSpPr>
          <p:cNvPr id="12" name="Text 10"/>
          <p:cNvSpPr/>
          <p:nvPr/>
        </p:nvSpPr>
        <p:spPr>
          <a:xfrm>
            <a:off x="585216" y="2743200"/>
            <a:ext cx="7973568" cy="329184"/>
          </a:xfrm>
          <a:prstGeom prst="rect">
            <a:avLst/>
          </a:prstGeom>
          <a:noFill/>
          <a:ln/>
        </p:spPr>
        <p:txBody>
          <a:bodyPr wrap="square" lIns="0" tIns="0" rIns="0" bIns="0" rtlCol="0" anchor="ctr"/>
          <a:lstStyle/>
          <a:p>
            <a:pPr indent="0" marL="0">
              <a:buNone/>
            </a:pPr>
            <a:r>
              <a:rPr lang="en-US" sz="1100" i="1" dirty="0">
                <a:solidFill>
                  <a:srgbClr val="D4AF37"/>
                </a:solidFill>
                <a:latin typeface="Calibri" pitchFamily="34" charset="0"/>
                <a:ea typeface="Calibri" pitchFamily="34" charset="-122"/>
                <a:cs typeface="Calibri" pitchFamily="34" charset="-120"/>
              </a:rPr>
              <a:t>Answer: 450 ÷ 5 = 90 hours</a:t>
            </a:r>
            <a:endParaRPr lang="en-US" sz="1100" dirty="0"/>
          </a:p>
        </p:txBody>
      </p:sp>
      <p:sp>
        <p:nvSpPr>
          <p:cNvPr id="13" name="Shape 11"/>
          <p:cNvSpPr/>
          <p:nvPr/>
        </p:nvSpPr>
        <p:spPr>
          <a:xfrm>
            <a:off x="402336" y="3200400"/>
            <a:ext cx="8339328" cy="822960"/>
          </a:xfrm>
          <a:prstGeom prst="roundRect">
            <a:avLst>
              <a:gd name="adj" fmla="val 8889"/>
            </a:avLst>
          </a:prstGeom>
          <a:solidFill>
            <a:srgbClr val="9B1C2E">
              <a:alpha val="15000"/>
            </a:srgbClr>
          </a:solidFill>
          <a:ln w="12700">
            <a:solidFill>
              <a:srgbClr val="9B1C2E"/>
            </a:solidFill>
            <a:prstDash val="solid"/>
          </a:ln>
        </p:spPr>
      </p:sp>
      <p:sp>
        <p:nvSpPr>
          <p:cNvPr id="14" name="Text 12"/>
          <p:cNvSpPr/>
          <p:nvPr/>
        </p:nvSpPr>
        <p:spPr>
          <a:xfrm>
            <a:off x="585216" y="3236976"/>
            <a:ext cx="7973568" cy="42062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Columbus left Spain and reached land in 33 days. If he averaged 3 knots, roughly how far did he travel?</a:t>
            </a:r>
            <a:endParaRPr lang="en-US" sz="1200" dirty="0"/>
          </a:p>
        </p:txBody>
      </p:sp>
      <p:sp>
        <p:nvSpPr>
          <p:cNvPr id="15" name="Text 13"/>
          <p:cNvSpPr/>
          <p:nvPr/>
        </p:nvSpPr>
        <p:spPr>
          <a:xfrm>
            <a:off x="585216" y="3657600"/>
            <a:ext cx="7973568" cy="329184"/>
          </a:xfrm>
          <a:prstGeom prst="rect">
            <a:avLst/>
          </a:prstGeom>
          <a:noFill/>
          <a:ln/>
        </p:spPr>
        <p:txBody>
          <a:bodyPr wrap="square" lIns="0" tIns="0" rIns="0" bIns="0" rtlCol="0" anchor="ctr"/>
          <a:lstStyle/>
          <a:p>
            <a:pPr indent="0" marL="0">
              <a:buNone/>
            </a:pPr>
            <a:r>
              <a:rPr lang="en-US" sz="1100" i="1" dirty="0">
                <a:solidFill>
                  <a:srgbClr val="D4AF37"/>
                </a:solidFill>
                <a:latin typeface="Calibri" pitchFamily="34" charset="0"/>
                <a:ea typeface="Calibri" pitchFamily="34" charset="-122"/>
                <a:cs typeface="Calibri" pitchFamily="34" charset="-120"/>
              </a:rPr>
              <a:t>Answer: 3 × 33 × 24 hours ≈ 2,376 nautical miles</a:t>
            </a:r>
            <a:endParaRPr lang="en-US" sz="1100" dirty="0"/>
          </a:p>
        </p:txBody>
      </p:sp>
      <p:sp>
        <p:nvSpPr>
          <p:cNvPr id="16" name="Shape 14"/>
          <p:cNvSpPr/>
          <p:nvPr/>
        </p:nvSpPr>
        <p:spPr>
          <a:xfrm>
            <a:off x="402336" y="4114800"/>
            <a:ext cx="8339328" cy="822960"/>
          </a:xfrm>
          <a:prstGeom prst="roundRect">
            <a:avLst>
              <a:gd name="adj" fmla="val 8889"/>
            </a:avLst>
          </a:prstGeom>
          <a:solidFill>
            <a:srgbClr val="1B4F72">
              <a:alpha val="15000"/>
            </a:srgbClr>
          </a:solidFill>
          <a:ln w="12700">
            <a:solidFill>
              <a:srgbClr val="1B4F72"/>
            </a:solidFill>
            <a:prstDash val="solid"/>
          </a:ln>
        </p:spPr>
      </p:sp>
      <p:sp>
        <p:nvSpPr>
          <p:cNvPr id="17" name="Text 15"/>
          <p:cNvSpPr/>
          <p:nvPr/>
        </p:nvSpPr>
        <p:spPr>
          <a:xfrm>
            <a:off x="585216" y="4151376"/>
            <a:ext cx="7973568" cy="420624"/>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A ship's hourglass crew forgot to flip the glass for 1 hour. If the ship travels at 6 knots, how much distance got missed from the log?</a:t>
            </a:r>
            <a:endParaRPr lang="en-US" sz="1200" dirty="0"/>
          </a:p>
        </p:txBody>
      </p:sp>
      <p:sp>
        <p:nvSpPr>
          <p:cNvPr id="18" name="Text 16"/>
          <p:cNvSpPr/>
          <p:nvPr/>
        </p:nvSpPr>
        <p:spPr>
          <a:xfrm>
            <a:off x="585216" y="4572000"/>
            <a:ext cx="7973568" cy="329184"/>
          </a:xfrm>
          <a:prstGeom prst="rect">
            <a:avLst/>
          </a:prstGeom>
          <a:noFill/>
          <a:ln/>
        </p:spPr>
        <p:txBody>
          <a:bodyPr wrap="square" lIns="0" tIns="0" rIns="0" bIns="0" rtlCol="0" anchor="ctr"/>
          <a:lstStyle/>
          <a:p>
            <a:pPr indent="0" marL="0">
              <a:buNone/>
            </a:pPr>
            <a:r>
              <a:rPr lang="en-US" sz="1100" i="1" dirty="0">
                <a:solidFill>
                  <a:srgbClr val="D4AF37"/>
                </a:solidFill>
                <a:latin typeface="Calibri" pitchFamily="34" charset="0"/>
                <a:ea typeface="Calibri" pitchFamily="34" charset="-122"/>
                <a:cs typeface="Calibri" pitchFamily="34" charset="-120"/>
              </a:rPr>
              <a:t>Answer: 6 nautical miles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914400" y="228600"/>
            <a:ext cx="7315200" cy="4114800"/>
          </a:xfrm>
          <a:prstGeom prst="ellipse">
            <a:avLst/>
          </a:prstGeom>
          <a:solidFill>
            <a:srgbClr val="1B4F72">
              <a:alpha val="14000"/>
            </a:srgbClr>
          </a:solidFill>
          <a:ln w="12700">
            <a:solidFill>
              <a:srgbClr val="333333"/>
            </a:solidFill>
            <a:prstDash val="solid"/>
          </a:ln>
        </p:spPr>
      </p:sp>
      <p:sp>
        <p:nvSpPr>
          <p:cNvPr id="3" name="Shape 1"/>
          <p:cNvSpPr/>
          <p:nvPr/>
        </p:nvSpPr>
        <p:spPr>
          <a:xfrm>
            <a:off x="2523744" y="1133856"/>
            <a:ext cx="4096512" cy="2304288"/>
          </a:xfrm>
          <a:prstGeom prst="ellipse">
            <a:avLst/>
          </a:prstGeom>
          <a:solidFill>
            <a:srgbClr val="1B4F72">
              <a:alpha val="25000"/>
            </a:srgbClr>
          </a:solidFill>
          <a:ln w="12700">
            <a:solidFill>
              <a:srgbClr val="333333"/>
            </a:solidFill>
            <a:prstDash val="solid"/>
          </a:ln>
        </p:spPr>
      </p:sp>
      <p:sp>
        <p:nvSpPr>
          <p:cNvPr id="4" name="Text 2"/>
          <p:cNvSpPr/>
          <p:nvPr/>
        </p:nvSpPr>
        <p:spPr>
          <a:xfrm>
            <a:off x="457200" y="804672"/>
            <a:ext cx="8229600" cy="877824"/>
          </a:xfrm>
          <a:prstGeom prst="rect">
            <a:avLst/>
          </a:prstGeom>
          <a:noFill/>
          <a:ln/>
        </p:spPr>
        <p:txBody>
          <a:bodyPr wrap="square" lIns="0" tIns="0" rIns="0" bIns="0" rtlCol="0" anchor="ctr"/>
          <a:lstStyle/>
          <a:p>
            <a:pPr algn="ctr" indent="0" marL="0">
              <a:lnSpc>
                <a:spcPct val="120000"/>
              </a:lnSpc>
              <a:buNone/>
            </a:pPr>
            <a:r>
              <a:rPr lang="en-US" sz="2800" b="1" dirty="0">
                <a:solidFill>
                  <a:srgbClr val="FFFFFF"/>
                </a:solidFill>
                <a:latin typeface="Cambria" pitchFamily="34" charset="0"/>
                <a:ea typeface="Cambria" pitchFamily="34" charset="-122"/>
                <a:cs typeface="Cambria" pitchFamily="34" charset="-120"/>
              </a:rPr>
              <a:t>Science made exploration possible.</a:t>
            </a:r>
            <a:endParaRPr lang="en-US" sz="2800" dirty="0"/>
          </a:p>
          <a:p>
            <a:pPr algn="ctr" indent="0" marL="0">
              <a:lnSpc>
                <a:spcPct val="120000"/>
              </a:lnSpc>
              <a:buNone/>
            </a:pPr>
            <a:r>
              <a:rPr lang="en-US" sz="2800" b="1" dirty="0">
                <a:solidFill>
                  <a:srgbClr val="FFFFFF"/>
                </a:solidFill>
                <a:latin typeface="Cambria" pitchFamily="34" charset="0"/>
                <a:ea typeface="Cambria" pitchFamily="34" charset="-122"/>
                <a:cs typeface="Cambria" pitchFamily="34" charset="-120"/>
              </a:rPr>
              <a:t>Courage made it real.</a:t>
            </a:r>
            <a:endParaRPr lang="en-US" sz="2800" dirty="0"/>
          </a:p>
        </p:txBody>
      </p:sp>
      <p:sp>
        <p:nvSpPr>
          <p:cNvPr id="5" name="Shape 3"/>
          <p:cNvSpPr/>
          <p:nvPr/>
        </p:nvSpPr>
        <p:spPr>
          <a:xfrm>
            <a:off x="402336" y="1810512"/>
            <a:ext cx="8339328" cy="1609344"/>
          </a:xfrm>
          <a:prstGeom prst="roundRect">
            <a:avLst>
              <a:gd name="adj" fmla="val 5682"/>
            </a:avLst>
          </a:prstGeom>
          <a:solidFill>
            <a:srgbClr val="E0F5F0"/>
          </a:solidFill>
          <a:ln w="22860">
            <a:solidFill>
              <a:srgbClr val="1A8A7D"/>
            </a:solidFill>
            <a:prstDash val="solid"/>
          </a:ln>
          <a:effectLst>
            <a:outerShdw sx="100000" sy="100000" kx="0" ky="0" algn="bl" rotWithShape="0" blurRad="101600" dist="25400" dir="2700000">
              <a:srgbClr val="000000">
                <a:alpha val="12000"/>
              </a:srgbClr>
            </a:outerShdw>
          </a:effectLst>
        </p:spPr>
      </p:sp>
      <p:sp>
        <p:nvSpPr>
          <p:cNvPr id="6" name="Text 4"/>
          <p:cNvSpPr/>
          <p:nvPr/>
        </p:nvSpPr>
        <p:spPr>
          <a:xfrm>
            <a:off x="539496" y="1901952"/>
            <a:ext cx="8065008" cy="32004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In the Chat</a:t>
            </a:r>
            <a:endParaRPr lang="en-US" sz="1150" dirty="0"/>
          </a:p>
        </p:txBody>
      </p:sp>
      <p:sp>
        <p:nvSpPr>
          <p:cNvPr id="7" name="Shape 5"/>
          <p:cNvSpPr/>
          <p:nvPr/>
        </p:nvSpPr>
        <p:spPr>
          <a:xfrm>
            <a:off x="539496" y="2240280"/>
            <a:ext cx="8065008" cy="0"/>
          </a:xfrm>
          <a:prstGeom prst="line">
            <a:avLst/>
          </a:prstGeom>
          <a:noFill/>
          <a:ln w="10160">
            <a:solidFill>
              <a:srgbClr val="1A8A7D"/>
            </a:solidFill>
            <a:prstDash val="solid"/>
          </a:ln>
        </p:spPr>
      </p:sp>
      <p:sp>
        <p:nvSpPr>
          <p:cNvPr id="8" name="Text 6"/>
          <p:cNvSpPr/>
          <p:nvPr/>
        </p:nvSpPr>
        <p:spPr>
          <a:xfrm>
            <a:off x="539496" y="2295144"/>
            <a:ext cx="8065008" cy="1014984"/>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The caravel, trade winds, and dead reckoning all reduced risk — but exploration was still incredibly dangerous. Using what you know about PUSH and PULL factors and the 3 Gs: who do you think REALLY made the decision to sail — the captain, the crew, or the king? Why?</a:t>
            </a:r>
            <a:endParaRPr lang="en-US" sz="1250" dirty="0"/>
          </a:p>
        </p:txBody>
      </p:sp>
      <p:sp>
        <p:nvSpPr>
          <p:cNvPr id="9" name="Shape 7"/>
          <p:cNvSpPr/>
          <p:nvPr/>
        </p:nvSpPr>
        <p:spPr>
          <a:xfrm>
            <a:off x="1014984" y="4279392"/>
            <a:ext cx="164592" cy="256032"/>
          </a:xfrm>
          <a:prstGeom prst="ellipse">
            <a:avLst/>
          </a:prstGeom>
          <a:solidFill>
            <a:srgbClr val="D4AF37"/>
          </a:solidFill>
          <a:ln w="12700">
            <a:solidFill>
              <a:srgbClr val="333333"/>
            </a:solidFill>
            <a:prstDash val="solid"/>
          </a:ln>
        </p:spPr>
      </p:sp>
      <p:sp>
        <p:nvSpPr>
          <p:cNvPr id="10" name="Shape 8"/>
          <p:cNvSpPr/>
          <p:nvPr/>
        </p:nvSpPr>
        <p:spPr>
          <a:xfrm>
            <a:off x="7964424" y="4279392"/>
            <a:ext cx="164592" cy="256032"/>
          </a:xfrm>
          <a:prstGeom prst="ellipse">
            <a:avLst/>
          </a:prstGeom>
          <a:solidFill>
            <a:srgbClr val="D4AF37"/>
          </a:solidFill>
          <a:ln w="12700">
            <a:solidFill>
              <a:srgbClr val="333333"/>
            </a:solidFill>
            <a:prstDash val="solid"/>
          </a:ln>
        </p:spPr>
      </p:sp>
      <p:sp>
        <p:nvSpPr>
          <p:cNvPr id="11" name="Shape 9"/>
          <p:cNvSpPr/>
          <p:nvPr/>
        </p:nvSpPr>
        <p:spPr>
          <a:xfrm>
            <a:off x="1097280" y="4407408"/>
            <a:ext cx="6949440" cy="0"/>
          </a:xfrm>
          <a:prstGeom prst="line">
            <a:avLst/>
          </a:prstGeom>
          <a:noFill/>
          <a:ln w="31750">
            <a:solidFill>
              <a:srgbClr val="D4AF37"/>
            </a:solidFill>
            <a:prstDash val="solid"/>
          </a:ln>
        </p:spPr>
      </p:sp>
      <p:sp>
        <p:nvSpPr>
          <p:cNvPr id="12" name="Text 10"/>
          <p:cNvSpPr/>
          <p:nvPr/>
        </p:nvSpPr>
        <p:spPr>
          <a:xfrm>
            <a:off x="457200" y="4572000"/>
            <a:ext cx="8229600" cy="384048"/>
          </a:xfrm>
          <a:prstGeom prst="rect">
            <a:avLst/>
          </a:prstGeom>
          <a:noFill/>
          <a:ln/>
        </p:spPr>
        <p:txBody>
          <a:bodyPr wrap="square" lIns="0" tIns="0" rIns="0" bIns="0" rtlCol="0" anchor="ctr"/>
          <a:lstStyle/>
          <a:p>
            <a:pPr algn="ctr" indent="0" marL="0">
              <a:buNone/>
            </a:pPr>
            <a:r>
              <a:rPr lang="en-US" sz="1150" i="1" dirty="0">
                <a:solidFill>
                  <a:srgbClr val="7A88A8"/>
                </a:solidFill>
                <a:latin typeface="Calibri" pitchFamily="34" charset="0"/>
                <a:ea typeface="Calibri" pitchFamily="34" charset="-122"/>
                <a:cs typeface="Calibri" pitchFamily="34" charset="-120"/>
              </a:rPr>
              <a:t>Next lesson: Consequences of Exploration — what happened to everyone else.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3.02.04 — Maps, Ships, and the Science of Travel</dc:title>
  <dc:subject>PptxGenJS Presentation</dc:subject>
  <dc:creator>PptxGenJS</dc:creator>
  <cp:lastModifiedBy>PptxGenJS</cp:lastModifiedBy>
  <cp:revision>1</cp:revision>
  <dcterms:created xsi:type="dcterms:W3CDTF">2026-07-06T23:18:23Z</dcterms:created>
  <dcterms:modified xsi:type="dcterms:W3CDTF">2026-07-06T23:18:23Z</dcterms:modified>
</cp:coreProperties>
</file>