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students meet the actual explorers. Present them as complex human beings — not just heroes or villains — using WHO questions to see multiple perspectives.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these are not simple heroes OR villains. They're complex historical figures. The WHO questions will help students hold the complexity. Tell them: 'For each explorer, I want you to keep asking: who's not in this portrait?'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Explorer 1: Christopher Columbus. After presenting this profile: 'WHO is not in this portrait? Whose story are we not hearing?' Let students name the missing voices. Key: the indigenous people, the enslaved crew members, the families left behind — they had their own reactions to these 'discoveries'.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Explorer 2: Vasco da Gama. After presenting this profile: 'WHO is not in this portrait? Whose story are we not hearing?' Let students name the missing voices. Key: the indigenous people, the enslaved crew members, the families left behind — they had their own reactions to these 'discoveries'.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Explorer 3: Ferdinand Magellan. After presenting this profile: 'WHO is not in this portrait? Whose story are we not hearing?' Let students name the missing voices. Key: the indigenous people, the enslaved crew members, the families left behind — they had their own reactions to these 'discoveries'.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Explorer 4: Juan Ponce de León. After presenting this profile: 'WHO is not in this portrait? Whose story are we not hearing?' Let students name the missing voices. Key: the indigenous people, the enslaved crew members, the families left behind — they had their own reactions to these 'discoveries'.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Explorer 5: John Cabot. After presenting this profile: 'WHO is not in this portrait? Whose story are we not hearing?' Let students name the missing voices. Key: the indigenous people, the enslaved crew members, the families left behind — they had their own reactions to these 'discoveries'.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5 minutes. These are genuinely hard questions with no single right answer. Question 4 is particularly powerful — students often suggest indigenous leaders, enslaved navigators, or sailors' family members. Accept and validate all reasoned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type in chat. Read responses. Validate the range — there's no wrong answer here if it's reasoned. Close: 'Next lesson: the ships and maps themselves — the technology of exploration, and how it shaped who could go, and who couldn't.'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73352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9144000" cy="3657600"/>
          </a:xfrm>
          <a:prstGeom prst="ellipse">
            <a:avLst/>
          </a:prstGeom>
          <a:solidFill>
            <a:srgbClr val="D4AF37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3547872"/>
            <a:ext cx="5120640" cy="2048256"/>
          </a:xfrm>
          <a:prstGeom prst="ellipse">
            <a:avLst/>
          </a:prstGeom>
          <a:solidFill>
            <a:srgbClr val="D4AF37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041648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242816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443984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4A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164592"/>
            <a:ext cx="5852160" cy="475488"/>
          </a:xfrm>
          <a:prstGeom prst="roundRect">
            <a:avLst>
              <a:gd name="adj" fmla="val 13462"/>
            </a:avLst>
          </a:prstGeom>
          <a:solidFill>
            <a:srgbClr val="D4AF37">
              <a:alpha val="18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16459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EXPLORER'S VAULT  ·  UNIT 2  ·  WEEK 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768096"/>
            <a:ext cx="7680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Famous Explorers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Discoveries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1371600" y="351129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3.02.03  ·  3rd Grade Social Studies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560320" y="3931920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9B1C2E">
              <a:alpha val="20000"/>
            </a:srgbClr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93192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Scene  ·  Virtue: Courage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3544" y="4736592"/>
            <a:ext cx="164592" cy="25603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5864" y="4736592"/>
            <a:ext cx="164592" cy="25603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864608"/>
            <a:ext cx="713232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0"/>
          </a:xfrm>
          <a:prstGeom prst="ellipse">
            <a:avLst/>
          </a:prstGeom>
          <a:solidFill>
            <a:srgbClr val="9B1C2E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1207008"/>
            <a:ext cx="5120640" cy="3072384"/>
          </a:xfrm>
          <a:prstGeom prst="ellipse">
            <a:avLst/>
          </a:prstGeom>
          <a:solidFill>
            <a:srgbClr val="9B1C2E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9456"/>
            <a:ext cx="8229600" cy="4700016"/>
          </a:xfrm>
          <a:prstGeom prst="roundRect">
            <a:avLst>
              <a:gd name="adj" fmla="val 2724"/>
            </a:avLst>
          </a:prstGeom>
          <a:solidFill>
            <a:srgbClr val="071E3D">
              <a:alpha val="30000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Portrait Gallery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this door are five explorers.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changed the map of the known world — sometimes by accident.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made choices that helped some people and harmed others.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more complicated than any single story.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step into the gallery, remember your historian's question: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WHAT did they do — but WHO were they, WHO did they meet, and WHO is missing from the story they left behind?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9B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🇪🇸  Christopher Columbus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68096"/>
            <a:ext cx="4956048" cy="4224528"/>
          </a:xfrm>
          <a:prstGeom prst="roundRect">
            <a:avLst>
              <a:gd name="adj" fmla="val 2165"/>
            </a:avLst>
          </a:prstGeom>
          <a:solidFill>
            <a:srgbClr val="9B1C2E">
              <a:alpha val="8000"/>
            </a:srgbClr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7782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B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Active: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12848" y="87782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1492–1504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0352" y="160934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B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12848" y="160934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Italian, sailing for Spain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34086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B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Sailed For: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12848" y="234086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" y="30723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B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For: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12848" y="307238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Caribbean — called it 'Indies'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380390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B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Fact: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12848" y="380390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set foot on North America. Died believing he had reached Asia.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76672" y="768096"/>
            <a:ext cx="3419856" cy="4224528"/>
          </a:xfrm>
          <a:prstGeom prst="roundRect">
            <a:avLst>
              <a:gd name="adj" fmla="val 2674"/>
            </a:avLst>
          </a:prstGeom>
          <a:solidFill>
            <a:srgbClr val="071E3D">
              <a:alpha val="12000"/>
            </a:srgbClr>
          </a:solidFill>
          <a:ln w="19050">
            <a:solidFill>
              <a:srgbClr val="071E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841248"/>
            <a:ext cx="3163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Portrait Doesn't Show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04688" y="1335024"/>
            <a:ext cx="3163824" cy="0"/>
          </a:xfrm>
          <a:prstGeom prst="line">
            <a:avLst/>
          </a:prstGeom>
          <a:noFill/>
          <a:ln w="10160">
            <a:solidFill>
              <a:srgbClr val="071E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1408176"/>
            <a:ext cx="3163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arrival began centuries of colonization that devastated indigenous populations.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16752" y="4023360"/>
            <a:ext cx="2139696" cy="731520"/>
          </a:xfrm>
          <a:prstGeom prst="ellipse">
            <a:avLst>
              <a:gd name="adj" fmla="val 10000"/>
            </a:avLst>
          </a:prstGeom>
          <a:solidFill>
            <a:srgbClr val="9B1C2E">
              <a:alpha val="18000"/>
            </a:srgbClr>
          </a:solidFill>
          <a:ln w="12700">
            <a:solidFill>
              <a:srgbClr val="9B1C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40233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Exhibit 1 of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🇵🇹  Vasco da Gama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68096"/>
            <a:ext cx="4956048" cy="4224528"/>
          </a:xfrm>
          <a:prstGeom prst="roundRect">
            <a:avLst>
              <a:gd name="adj" fmla="val 2165"/>
            </a:avLst>
          </a:prstGeom>
          <a:solidFill>
            <a:srgbClr val="1B4F72">
              <a:alpha val="8000"/>
            </a:srgbClr>
          </a:solidFill>
          <a:ln w="1905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7782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Active: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12848" y="87782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1497–1524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0352" y="160934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12848" y="160934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34086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Sailed For: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12848" y="234086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" y="30723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For: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12848" y="307238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route to India (around Africa)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380390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Fact: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12848" y="380390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European to reach India by sea — opening the spice trade.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76672" y="768096"/>
            <a:ext cx="3419856" cy="4224528"/>
          </a:xfrm>
          <a:prstGeom prst="roundRect">
            <a:avLst>
              <a:gd name="adj" fmla="val 2674"/>
            </a:avLst>
          </a:prstGeom>
          <a:solidFill>
            <a:srgbClr val="071E3D">
              <a:alpha val="12000"/>
            </a:srgbClr>
          </a:solidFill>
          <a:ln w="19050">
            <a:solidFill>
              <a:srgbClr val="071E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841248"/>
            <a:ext cx="3163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Portrait Doesn't Show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04688" y="1335024"/>
            <a:ext cx="3163824" cy="0"/>
          </a:xfrm>
          <a:prstGeom prst="line">
            <a:avLst/>
          </a:prstGeom>
          <a:noFill/>
          <a:ln w="10160">
            <a:solidFill>
              <a:srgbClr val="071E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1408176"/>
            <a:ext cx="3163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treatment of Muslim merchants in India was brutal; he burned ships with people aboard.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16752" y="4023360"/>
            <a:ext cx="2139696" cy="731520"/>
          </a:xfrm>
          <a:prstGeom prst="ellipse">
            <a:avLst>
              <a:gd name="adj" fmla="val 10000"/>
            </a:avLst>
          </a:prstGeom>
          <a:solidFill>
            <a:srgbClr val="1B4F72">
              <a:alpha val="18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40233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Exhibit 2 of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A889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🇪🇸  Ferdinand Magellan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68096"/>
            <a:ext cx="4956048" cy="4224528"/>
          </a:xfrm>
          <a:prstGeom prst="roundRect">
            <a:avLst>
              <a:gd name="adj" fmla="val 2165"/>
            </a:avLst>
          </a:prstGeom>
          <a:solidFill>
            <a:srgbClr val="A88920">
              <a:alpha val="8000"/>
            </a:srgbClr>
          </a:solidFill>
          <a:ln w="19050">
            <a:solidFill>
              <a:srgbClr val="A88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7782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88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Active: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12848" y="87782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1519–1521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0352" y="160934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88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12848" y="160934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Portuguese, sailing for Spain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34086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88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Sailed For: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12848" y="234086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" y="30723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88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For: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12848" y="307238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circumnavigation of the Earth (completed by Elcano)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380390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88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Fact: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12848" y="380390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died in the Philippines before completing the journey.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76672" y="768096"/>
            <a:ext cx="3419856" cy="4224528"/>
          </a:xfrm>
          <a:prstGeom prst="roundRect">
            <a:avLst>
              <a:gd name="adj" fmla="val 2674"/>
            </a:avLst>
          </a:prstGeom>
          <a:solidFill>
            <a:srgbClr val="071E3D">
              <a:alpha val="12000"/>
            </a:srgbClr>
          </a:solidFill>
          <a:ln w="19050">
            <a:solidFill>
              <a:srgbClr val="071E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841248"/>
            <a:ext cx="3163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Portrait Doesn't Show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04688" y="1335024"/>
            <a:ext cx="3163824" cy="0"/>
          </a:xfrm>
          <a:prstGeom prst="line">
            <a:avLst/>
          </a:prstGeom>
          <a:noFill/>
          <a:ln w="10160">
            <a:solidFill>
              <a:srgbClr val="071E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1408176"/>
            <a:ext cx="3163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circumnavigation was 'completed' by an enslaved man named Enrique who may have been the first to circumnavigate.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16752" y="4023360"/>
            <a:ext cx="2139696" cy="731520"/>
          </a:xfrm>
          <a:prstGeom prst="ellipse">
            <a:avLst>
              <a:gd name="adj" fmla="val 10000"/>
            </a:avLst>
          </a:prstGeom>
          <a:solidFill>
            <a:srgbClr val="A88920">
              <a:alpha val="18000"/>
            </a:srgbClr>
          </a:solidFill>
          <a:ln w="12700">
            <a:solidFill>
              <a:srgbClr val="A889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40233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8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Exhibit 3 of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🇪🇸  Juan Ponce de León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68096"/>
            <a:ext cx="4956048" cy="4224528"/>
          </a:xfrm>
          <a:prstGeom prst="roundRect">
            <a:avLst>
              <a:gd name="adj" fmla="val 2165"/>
            </a:avLst>
          </a:prstGeom>
          <a:solidFill>
            <a:srgbClr val="2E7D4F">
              <a:alpha val="8000"/>
            </a:srgb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7782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Active: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12848" y="87782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1513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0352" y="160934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12848" y="160934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34086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Sailed For: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12848" y="234086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" y="30723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For: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12848" y="307238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— first European in what is now the USA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380390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Fact: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12848" y="380390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it 'La Florida' for the flowers he saw during Easter ('Pascua Florida').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76672" y="768096"/>
            <a:ext cx="3419856" cy="4224528"/>
          </a:xfrm>
          <a:prstGeom prst="roundRect">
            <a:avLst>
              <a:gd name="adj" fmla="val 2674"/>
            </a:avLst>
          </a:prstGeom>
          <a:solidFill>
            <a:srgbClr val="071E3D">
              <a:alpha val="12000"/>
            </a:srgbClr>
          </a:solidFill>
          <a:ln w="19050">
            <a:solidFill>
              <a:srgbClr val="071E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841248"/>
            <a:ext cx="3163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Portrait Doesn't Show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04688" y="1335024"/>
            <a:ext cx="3163824" cy="0"/>
          </a:xfrm>
          <a:prstGeom prst="line">
            <a:avLst/>
          </a:prstGeom>
          <a:noFill/>
          <a:ln w="10160">
            <a:solidFill>
              <a:srgbClr val="071E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1408176"/>
            <a:ext cx="3163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came to enslave indigenous people for labor in Puerto Rico. The 'Fountain of Youth' story came much later.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16752" y="4023360"/>
            <a:ext cx="2139696" cy="731520"/>
          </a:xfrm>
          <a:prstGeom prst="ellipse">
            <a:avLst>
              <a:gd name="adj" fmla="val 10000"/>
            </a:avLst>
          </a:prstGeom>
          <a:solidFill>
            <a:srgbClr val="2E7D4F">
              <a:alpha val="18000"/>
            </a:srgb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40233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Exhibit 4 of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🇬🇧  John Cabot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68096"/>
            <a:ext cx="4956048" cy="4224528"/>
          </a:xfrm>
          <a:prstGeom prst="roundRect">
            <a:avLst>
              <a:gd name="adj" fmla="val 2165"/>
            </a:avLst>
          </a:prstGeom>
          <a:solidFill>
            <a:srgbClr val="071E3D">
              <a:alpha val="8000"/>
            </a:srgbClr>
          </a:solidFill>
          <a:ln w="19050">
            <a:solidFill>
              <a:srgbClr val="071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7782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Active: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12848" y="87782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1497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0352" y="160934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12848" y="160934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Italian, sailing for England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34086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Sailed For: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12848" y="234086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" y="30723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For: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12848" y="307238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Newfoundland, Canada — first post-Viking European in North America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380390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Fact: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12848" y="380390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voyage gave England its claim to North America.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76672" y="768096"/>
            <a:ext cx="3419856" cy="4224528"/>
          </a:xfrm>
          <a:prstGeom prst="roundRect">
            <a:avLst>
              <a:gd name="adj" fmla="val 2674"/>
            </a:avLst>
          </a:prstGeom>
          <a:solidFill>
            <a:srgbClr val="071E3D">
              <a:alpha val="12000"/>
            </a:srgbClr>
          </a:solidFill>
          <a:ln w="19050">
            <a:solidFill>
              <a:srgbClr val="071E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841248"/>
            <a:ext cx="3163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Portrait Doesn't Show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04688" y="1335024"/>
            <a:ext cx="3163824" cy="0"/>
          </a:xfrm>
          <a:prstGeom prst="line">
            <a:avLst/>
          </a:prstGeom>
          <a:noFill/>
          <a:ln w="10160">
            <a:solidFill>
              <a:srgbClr val="071E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1408176"/>
            <a:ext cx="3163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'claimed' land where Beothuk people had lived for thousands of years.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16752" y="4023360"/>
            <a:ext cx="2139696" cy="731520"/>
          </a:xfrm>
          <a:prstGeom prst="ellipse">
            <a:avLst>
              <a:gd name="adj" fmla="val 10000"/>
            </a:avLst>
          </a:prstGeom>
          <a:solidFill>
            <a:srgbClr val="071E3D">
              <a:alpha val="18000"/>
            </a:srgbClr>
          </a:solidFill>
          <a:ln w="12700">
            <a:solidFill>
              <a:srgbClr val="071E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40233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Exhibit 5 of 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7772400" cy="4114800"/>
          </a:xfrm>
          <a:prstGeom prst="ellipse">
            <a:avLst/>
          </a:prstGeom>
          <a:solidFill>
            <a:srgbClr val="C7522A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1408176"/>
            <a:ext cx="4352544" cy="2304288"/>
          </a:xfrm>
          <a:prstGeom prst="ellipse">
            <a:avLst/>
          </a:prstGeom>
          <a:solidFill>
            <a:srgbClr val="C7522A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Groups — Rate the Portraits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02336" y="749808"/>
            <a:ext cx="8339328" cy="694944"/>
          </a:xfrm>
          <a:prstGeom prst="roundRect">
            <a:avLst>
              <a:gd name="adj" fmla="val 11842"/>
            </a:avLst>
          </a:prstGeom>
          <a:solidFill>
            <a:srgbClr val="C7522A">
              <a:alpha val="20000"/>
            </a:srgbClr>
          </a:solidFill>
          <a:ln w="19050">
            <a:solidFill>
              <a:srgbClr val="C75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786384"/>
            <a:ext cx="7973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in your groups. You don't have to agree.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2336" y="1554480"/>
            <a:ext cx="8339328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54480"/>
            <a:ext cx="7973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explorer made the most SIGNIFICANT discovery — and how do you define 'significant'?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2336" y="2377440"/>
            <a:ext cx="8339328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377440"/>
            <a:ext cx="7973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explorer's story changes the MOST when you look at the right-hand column (what the portrait doesn't show)?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2336" y="3200400"/>
            <a:ext cx="8339328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200400"/>
            <a:ext cx="7973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Should these explorers be remembered as heroes? As complicated figures? As something else? Defend your answer.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2336" y="4023360"/>
            <a:ext cx="8339328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4023360"/>
            <a:ext cx="7973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If you could add a sixth portrait to this gallery — someone who was AFFECTED by exploration but didn't lead it — who would it be?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8600"/>
            <a:ext cx="7315200" cy="4114800"/>
          </a:xfrm>
          <a:prstGeom prst="ellipse">
            <a:avLst/>
          </a:prstGeom>
          <a:solidFill>
            <a:srgbClr val="D4AF37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23744" y="1133856"/>
            <a:ext cx="4096512" cy="2304288"/>
          </a:xfrm>
          <a:prstGeom prst="ellipse">
            <a:avLst/>
          </a:prstGeom>
          <a:solidFill>
            <a:srgbClr val="D4AF37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is full of portraits with missing people.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02336" y="1554480"/>
            <a:ext cx="8339328" cy="420624"/>
          </a:xfrm>
          <a:prstGeom prst="roundRect">
            <a:avLst>
              <a:gd name="adj" fmla="val 19565"/>
            </a:avLst>
          </a:prstGeom>
          <a:solidFill>
            <a:srgbClr val="1A8A7D">
              <a:alpha val="78000"/>
            </a:srgbClr>
          </a:solidFill>
          <a:ln w="19050">
            <a:solidFill>
              <a:srgbClr val="34B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54480"/>
            <a:ext cx="8010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Chat: Who do YOU think is missing from the explorer story we usually hear — and whose voice would change our understanding most?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" y="2121408"/>
            <a:ext cx="8339328" cy="2414016"/>
          </a:xfrm>
          <a:prstGeom prst="roundRect">
            <a:avLst>
              <a:gd name="adj" fmla="val 3788"/>
            </a:avLst>
          </a:prstGeom>
          <a:solidFill>
            <a:srgbClr val="9B1C2E">
              <a:alpha val="18000"/>
            </a:srgbClr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2231136"/>
            <a:ext cx="797356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portrait gallery shows us five explorers. But the real story has hundreds of characters — most of them unnamed, most of them without portraits. A good historian asks: Who else was in the room?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14984" y="4645152"/>
            <a:ext cx="164592" cy="25603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64424" y="4645152"/>
            <a:ext cx="164592" cy="25603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4773168"/>
            <a:ext cx="6949440" cy="0"/>
          </a:xfrm>
          <a:prstGeom prst="line">
            <a:avLst/>
          </a:prstGeom>
          <a:noFill/>
          <a:ln w="3175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G3 SS 3.02.03 — Famous Explorers and Discoveries</dc:title>
  <dc:subject>PptxGenJS Presentation</dc:subject>
  <dc:creator>PptxGenJS</dc:creator>
  <cp:lastModifiedBy>PptxGenJS</cp:lastModifiedBy>
  <cp:revision>1</cp:revision>
  <dcterms:created xsi:type="dcterms:W3CDTF">2026-07-06T23:18:23Z</dcterms:created>
  <dcterms:modified xsi:type="dcterms:W3CDTF">2026-07-06T23:18:23Z</dcterms:modified>
</cp:coreProperties>
</file>