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addresses consequences — both positive and devastating. Students must hold complexity: the Columbian Exchange fed millions AND spread disease that killed millions. History requires us to see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last three lines slowly and separately, with pauses. The inequality and lack of choice are the core of the lesson. Ask: 'When we say consequences, do we mean consequences for EVERYONE equally — or for specific people more than others?' Let this sit before moving to the Columbian Exchange.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attention to the bottom item on the right: diseases. These weren't traded intentionally — but they had the largest impact. 50-90% of some indigenous populations died from diseases they had no immunity to. This was the single greatest demographic catastrophe in human history. Handle this factually and with gravity.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heaviest slide in the unit. Present it factually, with appropriate gravity. Don't dramatize or minimize. Students may have questions — welcome them. Key point: 'Unintended consequences are still consequences. Good historians track both the intentions AND the outcomes of events.'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this slide: 'Holding both — the positive consequences AND the devastating ones — is what historians call complexity. It would be easier to say exploration was all good or all bad. But neither is true. Both are true, and they happened to different people in different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Breakout 4-5 minutes. These are genuinely hard questions. Question 3 (counterfactual) is particularly engaging — students realize that our food, our languages, our borders, even our diseases are all shaped by exploration. There is no 'neutral' counterfactual. Question 4 connects to civic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type in chat. Accept and affirm a wide range of answers. The point is not the 'right' answer but the quality of reasoning. Close: 'Whatever you wrote — the fact that you're asking this question makes you a more honest citizen than someone who never thought about it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0" y="3474720"/>
            <a:ext cx="9144000" cy="1673352"/>
          </a:xfrm>
          <a:prstGeom prst="rect">
            <a:avLst/>
          </a:prstGeom>
          <a:solidFill>
            <a:srgbClr val="0D2E5A"/>
          </a:solidFill>
          <a:ln w="12700">
            <a:solidFill>
              <a:srgbClr val="333333"/>
            </a:solidFill>
            <a:prstDash val="solid"/>
          </a:ln>
        </p:spPr>
      </p:sp>
      <p:sp>
        <p:nvSpPr>
          <p:cNvPr id="3" name="Shape 1"/>
          <p:cNvSpPr/>
          <p:nvPr/>
        </p:nvSpPr>
        <p:spPr>
          <a:xfrm>
            <a:off x="0" y="2743200"/>
            <a:ext cx="9144000" cy="3657600"/>
          </a:xfrm>
          <a:prstGeom prst="ellipse">
            <a:avLst/>
          </a:prstGeom>
          <a:solidFill>
            <a:srgbClr val="D4AF37">
              <a:alpha val="14000"/>
            </a:srgbClr>
          </a:solidFill>
          <a:ln w="12700">
            <a:solidFill>
              <a:srgbClr val="333333"/>
            </a:solidFill>
            <a:prstDash val="solid"/>
          </a:ln>
        </p:spPr>
      </p:sp>
      <p:sp>
        <p:nvSpPr>
          <p:cNvPr id="4" name="Shape 2"/>
          <p:cNvSpPr/>
          <p:nvPr/>
        </p:nvSpPr>
        <p:spPr>
          <a:xfrm>
            <a:off x="2011680" y="3547872"/>
            <a:ext cx="5120640" cy="2048256"/>
          </a:xfrm>
          <a:prstGeom prst="ellipse">
            <a:avLst/>
          </a:prstGeom>
          <a:solidFill>
            <a:srgbClr val="D4AF37">
              <a:alpha val="25000"/>
            </a:srgbClr>
          </a:solidFill>
          <a:ln w="12700">
            <a:solidFill>
              <a:srgbClr val="333333"/>
            </a:solidFill>
            <a:prstDash val="solid"/>
          </a:ln>
        </p:spPr>
      </p:sp>
      <p:sp>
        <p:nvSpPr>
          <p:cNvPr id="5" name="Shape 3"/>
          <p:cNvSpPr/>
          <p:nvPr/>
        </p:nvSpPr>
        <p:spPr>
          <a:xfrm>
            <a:off x="0" y="3840480"/>
            <a:ext cx="9144000" cy="0"/>
          </a:xfrm>
          <a:prstGeom prst="line">
            <a:avLst/>
          </a:prstGeom>
          <a:noFill/>
          <a:ln w="6350">
            <a:solidFill>
              <a:srgbClr val="FFFFFF">
                <a:alpha val="6000"/>
              </a:srgbClr>
            </a:solidFill>
            <a:prstDash val="solid"/>
          </a:ln>
        </p:spPr>
      </p:sp>
      <p:sp>
        <p:nvSpPr>
          <p:cNvPr id="6" name="Shape 4"/>
          <p:cNvSpPr/>
          <p:nvPr/>
        </p:nvSpPr>
        <p:spPr>
          <a:xfrm>
            <a:off x="0" y="4041648"/>
            <a:ext cx="9144000" cy="0"/>
          </a:xfrm>
          <a:prstGeom prst="line">
            <a:avLst/>
          </a:prstGeom>
          <a:noFill/>
          <a:ln w="6350">
            <a:solidFill>
              <a:srgbClr val="FFFFFF">
                <a:alpha val="14000"/>
              </a:srgbClr>
            </a:solidFill>
            <a:prstDash val="solid"/>
          </a:ln>
        </p:spPr>
      </p:sp>
      <p:sp>
        <p:nvSpPr>
          <p:cNvPr id="7" name="Shape 5"/>
          <p:cNvSpPr/>
          <p:nvPr/>
        </p:nvSpPr>
        <p:spPr>
          <a:xfrm>
            <a:off x="0" y="4242816"/>
            <a:ext cx="9144000" cy="0"/>
          </a:xfrm>
          <a:prstGeom prst="line">
            <a:avLst/>
          </a:prstGeom>
          <a:noFill/>
          <a:ln w="6350">
            <a:solidFill>
              <a:srgbClr val="FFFFFF">
                <a:alpha val="22000"/>
              </a:srgbClr>
            </a:solidFill>
            <a:prstDash val="solid"/>
          </a:ln>
        </p:spPr>
      </p:sp>
      <p:sp>
        <p:nvSpPr>
          <p:cNvPr id="8" name="Shape 6"/>
          <p:cNvSpPr/>
          <p:nvPr/>
        </p:nvSpPr>
        <p:spPr>
          <a:xfrm>
            <a:off x="0" y="4443984"/>
            <a:ext cx="9144000" cy="0"/>
          </a:xfrm>
          <a:prstGeom prst="line">
            <a:avLst/>
          </a:prstGeom>
          <a:noFill/>
          <a:ln w="6350">
            <a:solidFill>
              <a:srgbClr val="FFFFFF">
                <a:alpha val="30000"/>
              </a:srgbClr>
            </a:solidFill>
            <a:prstDash val="solid"/>
          </a:ln>
        </p:spPr>
      </p:sp>
      <p:sp>
        <p:nvSpPr>
          <p:cNvPr id="9" name="Shape 7"/>
          <p:cNvSpPr/>
          <p:nvPr/>
        </p:nvSpPr>
        <p:spPr>
          <a:xfrm>
            <a:off x="0" y="4645152"/>
            <a:ext cx="9144000" cy="0"/>
          </a:xfrm>
          <a:prstGeom prst="line">
            <a:avLst/>
          </a:prstGeom>
          <a:noFill/>
          <a:ln w="6350">
            <a:solidFill>
              <a:srgbClr val="FFFFFF">
                <a:alpha val="38000"/>
              </a:srgbClr>
            </a:solidFill>
            <a:prstDash val="solid"/>
          </a:ln>
        </p:spPr>
      </p:sp>
      <p:sp>
        <p:nvSpPr>
          <p:cNvPr id="10" name="Shape 8"/>
          <p:cNvSpPr/>
          <p:nvPr/>
        </p:nvSpPr>
        <p:spPr>
          <a:xfrm>
            <a:off x="0" y="0"/>
            <a:ext cx="9144000" cy="50292"/>
          </a:xfrm>
          <a:prstGeom prst="rect">
            <a:avLst/>
          </a:prstGeom>
          <a:solidFill>
            <a:srgbClr val="D4AF37"/>
          </a:solidFill>
          <a:ln w="12700">
            <a:solidFill>
              <a:srgbClr val="333333"/>
            </a:solidFill>
            <a:prstDash val="solid"/>
          </a:ln>
        </p:spPr>
      </p:sp>
      <p:sp>
        <p:nvSpPr>
          <p:cNvPr id="11" name="Shape 9"/>
          <p:cNvSpPr/>
          <p:nvPr/>
        </p:nvSpPr>
        <p:spPr>
          <a:xfrm>
            <a:off x="1645920" y="164592"/>
            <a:ext cx="5852160" cy="475488"/>
          </a:xfrm>
          <a:prstGeom prst="roundRect">
            <a:avLst>
              <a:gd name="adj" fmla="val 13462"/>
            </a:avLst>
          </a:prstGeom>
          <a:solidFill>
            <a:srgbClr val="D4AF37">
              <a:alpha val="18000"/>
            </a:srgbClr>
          </a:solidFill>
          <a:ln w="12700">
            <a:solidFill>
              <a:srgbClr val="D4AF37"/>
            </a:solidFill>
            <a:prstDash val="solid"/>
          </a:ln>
        </p:spPr>
      </p:sp>
      <p:sp>
        <p:nvSpPr>
          <p:cNvPr id="12" name="Text 10"/>
          <p:cNvSpPr/>
          <p:nvPr/>
        </p:nvSpPr>
        <p:spPr>
          <a:xfrm>
            <a:off x="1645920" y="164592"/>
            <a:ext cx="5852160" cy="475488"/>
          </a:xfrm>
          <a:prstGeom prst="rect">
            <a:avLst/>
          </a:prstGeom>
          <a:noFill/>
          <a:ln/>
        </p:spPr>
        <p:txBody>
          <a:bodyPr wrap="square" lIns="0" tIns="0" rIns="0" bIns="0" rtlCol="0" anchor="ctr"/>
          <a:lstStyle/>
          <a:p>
            <a:pPr algn="ctr" indent="0" marL="0">
              <a:buNone/>
            </a:pPr>
            <a:r>
              <a:rPr lang="en-US" sz="1050" b="1" spc="250" kern="0" dirty="0">
                <a:solidFill>
                  <a:srgbClr val="D4AF37"/>
                </a:solidFill>
                <a:latin typeface="Calibri" pitchFamily="34" charset="0"/>
                <a:ea typeface="Calibri" pitchFamily="34" charset="-122"/>
                <a:cs typeface="Calibri" pitchFamily="34" charset="-120"/>
              </a:rPr>
              <a:t>EXPLORER'S VAULT  ·  UNIT 2  ·  WEEK 6</a:t>
            </a:r>
            <a:endParaRPr lang="en-US" sz="1050" dirty="0"/>
          </a:p>
        </p:txBody>
      </p:sp>
      <p:sp>
        <p:nvSpPr>
          <p:cNvPr id="13" name="Text 11"/>
          <p:cNvSpPr/>
          <p:nvPr/>
        </p:nvSpPr>
        <p:spPr>
          <a:xfrm>
            <a:off x="731520" y="768096"/>
            <a:ext cx="7680960" cy="2651760"/>
          </a:xfrm>
          <a:prstGeom prst="rect">
            <a:avLst/>
          </a:prstGeom>
          <a:noFill/>
          <a:ln/>
        </p:spPr>
        <p:txBody>
          <a:bodyPr wrap="square" lIns="0" tIns="0" rIns="0" bIns="0" rtlCol="0" anchor="ctr"/>
          <a:lstStyle/>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Consequences</a:t>
            </a:r>
            <a:endParaRPr lang="en-US" sz="5200" dirty="0"/>
          </a:p>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of Exploration</a:t>
            </a:r>
            <a:endParaRPr lang="en-US" sz="5200" dirty="0"/>
          </a:p>
        </p:txBody>
      </p:sp>
      <p:sp>
        <p:nvSpPr>
          <p:cNvPr id="14" name="Text 12"/>
          <p:cNvSpPr/>
          <p:nvPr/>
        </p:nvSpPr>
        <p:spPr>
          <a:xfrm>
            <a:off x="1371600" y="3511296"/>
            <a:ext cx="6400800" cy="347472"/>
          </a:xfrm>
          <a:prstGeom prst="rect">
            <a:avLst/>
          </a:prstGeom>
          <a:noFill/>
          <a:ln/>
        </p:spPr>
        <p:txBody>
          <a:bodyPr wrap="square" lIns="0" tIns="0" rIns="0" bIns="0" rtlCol="0" anchor="ctr"/>
          <a:lstStyle/>
          <a:p>
            <a:pPr algn="ctr" indent="0" marL="0">
              <a:buNone/>
            </a:pPr>
            <a:r>
              <a:rPr lang="en-US" sz="1250" dirty="0">
                <a:solidFill>
                  <a:srgbClr val="D4AF37"/>
                </a:solidFill>
                <a:latin typeface="Calibri" pitchFamily="34" charset="0"/>
                <a:ea typeface="Calibri" pitchFamily="34" charset="-122"/>
                <a:cs typeface="Calibri" pitchFamily="34" charset="-120"/>
              </a:rPr>
              <a:t>Lesson 3.02.05  ·  3rd Grade Social Studies</a:t>
            </a:r>
            <a:endParaRPr lang="en-US" sz="1250" dirty="0"/>
          </a:p>
        </p:txBody>
      </p:sp>
      <p:sp>
        <p:nvSpPr>
          <p:cNvPr id="15" name="Shape 13"/>
          <p:cNvSpPr/>
          <p:nvPr/>
        </p:nvSpPr>
        <p:spPr>
          <a:xfrm>
            <a:off x="2560320" y="3931920"/>
            <a:ext cx="4023360" cy="603504"/>
          </a:xfrm>
          <a:prstGeom prst="roundRect">
            <a:avLst>
              <a:gd name="adj" fmla="val 15152"/>
            </a:avLst>
          </a:prstGeom>
          <a:solidFill>
            <a:srgbClr val="B87A2A">
              <a:alpha val="20000"/>
            </a:srgbClr>
          </a:solidFill>
          <a:ln w="19050">
            <a:solidFill>
              <a:srgbClr val="B87A2A"/>
            </a:solidFill>
            <a:prstDash val="solid"/>
          </a:ln>
        </p:spPr>
      </p:sp>
      <p:sp>
        <p:nvSpPr>
          <p:cNvPr id="16" name="Text 14"/>
          <p:cNvSpPr/>
          <p:nvPr/>
        </p:nvSpPr>
        <p:spPr>
          <a:xfrm>
            <a:off x="2560320" y="3931920"/>
            <a:ext cx="4023360"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Enter the Scene  ·  Virtue: Courage</a:t>
            </a:r>
            <a:endParaRPr lang="en-US" sz="1200" dirty="0"/>
          </a:p>
        </p:txBody>
      </p:sp>
      <p:sp>
        <p:nvSpPr>
          <p:cNvPr id="17" name="Shape 15"/>
          <p:cNvSpPr/>
          <p:nvPr/>
        </p:nvSpPr>
        <p:spPr>
          <a:xfrm>
            <a:off x="923544" y="4736592"/>
            <a:ext cx="164592" cy="256032"/>
          </a:xfrm>
          <a:prstGeom prst="ellipse">
            <a:avLst/>
          </a:prstGeom>
          <a:solidFill>
            <a:srgbClr val="D4AF37"/>
          </a:solidFill>
          <a:ln w="12700">
            <a:solidFill>
              <a:srgbClr val="333333"/>
            </a:solidFill>
            <a:prstDash val="solid"/>
          </a:ln>
        </p:spPr>
      </p:sp>
      <p:sp>
        <p:nvSpPr>
          <p:cNvPr id="18" name="Shape 16"/>
          <p:cNvSpPr/>
          <p:nvPr/>
        </p:nvSpPr>
        <p:spPr>
          <a:xfrm>
            <a:off x="8055864" y="4736592"/>
            <a:ext cx="164592" cy="256032"/>
          </a:xfrm>
          <a:prstGeom prst="ellipse">
            <a:avLst/>
          </a:prstGeom>
          <a:solidFill>
            <a:srgbClr val="D4AF37"/>
          </a:solidFill>
          <a:ln w="12700">
            <a:solidFill>
              <a:srgbClr val="333333"/>
            </a:solidFill>
            <a:prstDash val="solid"/>
          </a:ln>
        </p:spPr>
      </p:sp>
      <p:sp>
        <p:nvSpPr>
          <p:cNvPr id="19" name="Shape 17"/>
          <p:cNvSpPr/>
          <p:nvPr/>
        </p:nvSpPr>
        <p:spPr>
          <a:xfrm>
            <a:off x="1005840" y="4864608"/>
            <a:ext cx="7132320" cy="0"/>
          </a:xfrm>
          <a:prstGeom prst="line">
            <a:avLst/>
          </a:prstGeom>
          <a:noFill/>
          <a:ln w="31750">
            <a:solidFill>
              <a:srgbClr val="D4AF3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0" y="274320"/>
            <a:ext cx="9144000" cy="4572000"/>
          </a:xfrm>
          <a:prstGeom prst="ellipse">
            <a:avLst/>
          </a:prstGeom>
          <a:solidFill>
            <a:srgbClr val="9B1C2E">
              <a:alpha val="14000"/>
            </a:srgbClr>
          </a:solidFill>
          <a:ln w="12700">
            <a:solidFill>
              <a:srgbClr val="333333"/>
            </a:solidFill>
            <a:prstDash val="solid"/>
          </a:ln>
        </p:spPr>
      </p:sp>
      <p:sp>
        <p:nvSpPr>
          <p:cNvPr id="3" name="Shape 1"/>
          <p:cNvSpPr/>
          <p:nvPr/>
        </p:nvSpPr>
        <p:spPr>
          <a:xfrm>
            <a:off x="2011680" y="1280160"/>
            <a:ext cx="5120640" cy="2560320"/>
          </a:xfrm>
          <a:prstGeom prst="ellipse">
            <a:avLst/>
          </a:prstGeom>
          <a:solidFill>
            <a:srgbClr val="9B1C2E">
              <a:alpha val="25000"/>
            </a:srgbClr>
          </a:solidFill>
          <a:ln w="12700">
            <a:solidFill>
              <a:srgbClr val="333333"/>
            </a:solidFill>
            <a:prstDash val="solid"/>
          </a:ln>
        </p:spPr>
      </p:sp>
      <p:sp>
        <p:nvSpPr>
          <p:cNvPr id="4" name="Shape 2"/>
          <p:cNvSpPr/>
          <p:nvPr/>
        </p:nvSpPr>
        <p:spPr>
          <a:xfrm>
            <a:off x="457200" y="201168"/>
            <a:ext cx="8229600" cy="4736592"/>
          </a:xfrm>
          <a:prstGeom prst="roundRect">
            <a:avLst>
              <a:gd name="adj" fmla="val 2317"/>
            </a:avLst>
          </a:prstGeom>
          <a:solidFill>
            <a:srgbClr val="04101F">
              <a:alpha val="40000"/>
            </a:srgbClr>
          </a:solidFill>
          <a:ln w="25400">
            <a:solidFill>
              <a:srgbClr val="D4AF37"/>
            </a:solidFill>
            <a:prstDash val="solid"/>
          </a:ln>
        </p:spPr>
      </p:sp>
      <p:sp>
        <p:nvSpPr>
          <p:cNvPr id="5" name="Text 3"/>
          <p:cNvSpPr/>
          <p:nvPr/>
        </p:nvSpPr>
        <p:spPr>
          <a:xfrm>
            <a:off x="640080" y="365760"/>
            <a:ext cx="7863840" cy="548640"/>
          </a:xfrm>
          <a:prstGeom prst="rect">
            <a:avLst/>
          </a:prstGeom>
          <a:noFill/>
          <a:ln/>
        </p:spPr>
        <p:txBody>
          <a:bodyPr wrap="square" rtlCol="0" anchor="ctr"/>
          <a:lstStyle/>
          <a:p>
            <a:pPr algn="ctr" indent="0" marL="0">
              <a:buNone/>
            </a:pPr>
            <a:r>
              <a:rPr lang="en-US" sz="2800" b="1" dirty="0">
                <a:solidFill>
                  <a:srgbClr val="D4AF37"/>
                </a:solidFill>
                <a:latin typeface="Cambria" pitchFamily="34" charset="0"/>
                <a:ea typeface="Cambria" pitchFamily="34" charset="-122"/>
                <a:cs typeface="Cambria" pitchFamily="34" charset="-120"/>
              </a:rPr>
              <a:t>October 12, 1492</a:t>
            </a:r>
            <a:endParaRPr lang="en-US" sz="2800" dirty="0"/>
          </a:p>
        </p:txBody>
      </p:sp>
      <p:sp>
        <p:nvSpPr>
          <p:cNvPr id="6" name="Text 4"/>
          <p:cNvSpPr/>
          <p:nvPr/>
        </p:nvSpPr>
        <p:spPr>
          <a:xfrm>
            <a:off x="640080" y="1024128"/>
            <a:ext cx="7863840" cy="3657600"/>
          </a:xfrm>
          <a:prstGeom prst="rect">
            <a:avLst/>
          </a:prstGeom>
          <a:noFill/>
          <a:ln/>
        </p:spPr>
        <p:txBody>
          <a:bodyPr wrap="square" rtlCol="0" anchor="t"/>
          <a:lstStyle/>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Two worlds that had existed completely separately for 12,000 years came into contact.</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In the Americas: 50-100 million people, hundreds of civilizations, thousands of languages.</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In Europe: 60-70 million people, competing kingdoms, a growing hunger for trade and land.</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Those two worlds had never exchanged plants. Animals. Diseases. Ideas.</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After 1492: everything changed — for both worlds.</a:t>
            </a:r>
            <a:endParaRPr lang="en-US" sz="1350" dirty="0"/>
          </a:p>
          <a:p>
            <a:pPr algn="l" indent="0" marL="0">
              <a:lnSpc>
                <a:spcPct val="155000"/>
              </a:lnSpc>
              <a:buNone/>
            </a:pP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But the changes were NOT equal.</a:t>
            </a:r>
            <a:endParaRPr lang="en-US" sz="1350" dirty="0"/>
          </a:p>
          <a:p>
            <a:pPr algn="l" indent="0" marL="0">
              <a:lnSpc>
                <a:spcPct val="155000"/>
              </a:lnSpc>
              <a:buNone/>
            </a:pPr>
            <a:r>
              <a:rPr lang="en-US" sz="1350" dirty="0">
                <a:solidFill>
                  <a:srgbClr val="F8F4E8"/>
                </a:solidFill>
                <a:latin typeface="Calibri" pitchFamily="34" charset="0"/>
                <a:ea typeface="Calibri" pitchFamily="34" charset="-122"/>
                <a:cs typeface="Calibri" pitchFamily="34" charset="-120"/>
              </a:rPr>
              <a:t>And they were NOT all chosen.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4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71E3D"/>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The Columbian Exchange</a:t>
            </a:r>
            <a:endParaRPr lang="en-US" sz="2200" dirty="0"/>
          </a:p>
        </p:txBody>
      </p:sp>
      <p:sp>
        <p:nvSpPr>
          <p:cNvPr id="4" name="Text 2"/>
          <p:cNvSpPr/>
          <p:nvPr/>
        </p:nvSpPr>
        <p:spPr>
          <a:xfrm>
            <a:off x="457200" y="713232"/>
            <a:ext cx="8229600" cy="347472"/>
          </a:xfrm>
          <a:prstGeom prst="rect">
            <a:avLst/>
          </a:prstGeom>
          <a:noFill/>
          <a:ln/>
        </p:spPr>
        <p:txBody>
          <a:bodyPr wrap="square" lIns="0" tIns="0" rIns="0" bIns="0" rtlCol="0" anchor="ctr"/>
          <a:lstStyle/>
          <a:p>
            <a:pPr algn="ctr" indent="0" marL="0">
              <a:buNone/>
            </a:pPr>
            <a:r>
              <a:rPr lang="en-US" sz="1250" dirty="0">
                <a:solidFill>
                  <a:srgbClr val="1A0A14"/>
                </a:solidFill>
                <a:latin typeface="Calibri" pitchFamily="34" charset="0"/>
                <a:ea typeface="Calibri" pitchFamily="34" charset="-122"/>
                <a:cs typeface="Calibri" pitchFamily="34" charset="-120"/>
              </a:rPr>
              <a:t>The transfer of plants, animals, diseases, and ideas between the Americas and Europe/Africa/Asia after 1492.</a:t>
            </a:r>
            <a:endParaRPr lang="en-US" sz="1250" dirty="0"/>
          </a:p>
        </p:txBody>
      </p:sp>
      <p:sp>
        <p:nvSpPr>
          <p:cNvPr id="5" name="Shape 3"/>
          <p:cNvSpPr/>
          <p:nvPr/>
        </p:nvSpPr>
        <p:spPr>
          <a:xfrm>
            <a:off x="347472" y="1133856"/>
            <a:ext cx="4005072" cy="3767328"/>
          </a:xfrm>
          <a:prstGeom prst="roundRect">
            <a:avLst>
              <a:gd name="adj" fmla="val 2427"/>
            </a:avLst>
          </a:prstGeom>
          <a:solidFill>
            <a:srgbClr val="2E7D4F">
              <a:alpha val="10000"/>
            </a:srgbClr>
          </a:solidFill>
          <a:ln w="19050">
            <a:solidFill>
              <a:srgbClr val="2E7D4F"/>
            </a:solidFill>
            <a:prstDash val="solid"/>
          </a:ln>
        </p:spPr>
      </p:sp>
      <p:sp>
        <p:nvSpPr>
          <p:cNvPr id="6" name="Text 4"/>
          <p:cNvSpPr/>
          <p:nvPr/>
        </p:nvSpPr>
        <p:spPr>
          <a:xfrm>
            <a:off x="530352" y="1225296"/>
            <a:ext cx="3639312" cy="438912"/>
          </a:xfrm>
          <a:prstGeom prst="rect">
            <a:avLst/>
          </a:prstGeom>
          <a:noFill/>
          <a:ln/>
        </p:spPr>
        <p:txBody>
          <a:bodyPr wrap="square" lIns="0" tIns="0" rIns="0" bIns="0" rtlCol="0" anchor="ctr"/>
          <a:lstStyle/>
          <a:p>
            <a:pPr algn="ctr" indent="0" marL="0">
              <a:buNone/>
            </a:pPr>
            <a:r>
              <a:rPr lang="en-US" sz="1200" b="1" dirty="0">
                <a:solidFill>
                  <a:srgbClr val="2E7D4F"/>
                </a:solidFill>
                <a:latin typeface="Cambria" pitchFamily="34" charset="0"/>
                <a:ea typeface="Cambria" pitchFamily="34" charset="-122"/>
                <a:cs typeface="Cambria" pitchFamily="34" charset="-120"/>
              </a:rPr>
              <a:t>Americas → Europe/Africa/Asia</a:t>
            </a:r>
            <a:endParaRPr lang="en-US" sz="1200" dirty="0"/>
          </a:p>
        </p:txBody>
      </p:sp>
      <p:sp>
        <p:nvSpPr>
          <p:cNvPr id="7" name="Text 5"/>
          <p:cNvSpPr/>
          <p:nvPr/>
        </p:nvSpPr>
        <p:spPr>
          <a:xfrm>
            <a:off x="621792" y="1737360"/>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Corn / Maize</a:t>
            </a:r>
            <a:endParaRPr lang="en-US" sz="1150" dirty="0"/>
          </a:p>
        </p:txBody>
      </p:sp>
      <p:sp>
        <p:nvSpPr>
          <p:cNvPr id="8" name="Text 6"/>
          <p:cNvSpPr/>
          <p:nvPr/>
        </p:nvSpPr>
        <p:spPr>
          <a:xfrm>
            <a:off x="621792" y="2084832"/>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Tomatoes</a:t>
            </a:r>
            <a:endParaRPr lang="en-US" sz="1150" dirty="0"/>
          </a:p>
        </p:txBody>
      </p:sp>
      <p:sp>
        <p:nvSpPr>
          <p:cNvPr id="9" name="Text 7"/>
          <p:cNvSpPr/>
          <p:nvPr/>
        </p:nvSpPr>
        <p:spPr>
          <a:xfrm>
            <a:off x="621792" y="2432304"/>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Potatoes</a:t>
            </a:r>
            <a:endParaRPr lang="en-US" sz="1150" dirty="0"/>
          </a:p>
        </p:txBody>
      </p:sp>
      <p:sp>
        <p:nvSpPr>
          <p:cNvPr id="10" name="Text 8"/>
          <p:cNvSpPr/>
          <p:nvPr/>
        </p:nvSpPr>
        <p:spPr>
          <a:xfrm>
            <a:off x="621792" y="2779776"/>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Chili Peppers</a:t>
            </a:r>
            <a:endParaRPr lang="en-US" sz="1150" dirty="0"/>
          </a:p>
        </p:txBody>
      </p:sp>
      <p:sp>
        <p:nvSpPr>
          <p:cNvPr id="11" name="Text 9"/>
          <p:cNvSpPr/>
          <p:nvPr/>
        </p:nvSpPr>
        <p:spPr>
          <a:xfrm>
            <a:off x="621792" y="3127248"/>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Cocoa / Chocolate</a:t>
            </a:r>
            <a:endParaRPr lang="en-US" sz="1150" dirty="0"/>
          </a:p>
        </p:txBody>
      </p:sp>
      <p:sp>
        <p:nvSpPr>
          <p:cNvPr id="12" name="Text 10"/>
          <p:cNvSpPr/>
          <p:nvPr/>
        </p:nvSpPr>
        <p:spPr>
          <a:xfrm>
            <a:off x="621792" y="3474720"/>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Turkeys</a:t>
            </a:r>
            <a:endParaRPr lang="en-US" sz="1150" dirty="0"/>
          </a:p>
        </p:txBody>
      </p:sp>
      <p:sp>
        <p:nvSpPr>
          <p:cNvPr id="13" name="Text 11"/>
          <p:cNvSpPr/>
          <p:nvPr/>
        </p:nvSpPr>
        <p:spPr>
          <a:xfrm>
            <a:off x="621792" y="3822192"/>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Peanuts</a:t>
            </a:r>
            <a:endParaRPr lang="en-US" sz="1150" dirty="0"/>
          </a:p>
        </p:txBody>
      </p:sp>
      <p:sp>
        <p:nvSpPr>
          <p:cNvPr id="14" name="Text 12"/>
          <p:cNvSpPr/>
          <p:nvPr/>
        </p:nvSpPr>
        <p:spPr>
          <a:xfrm>
            <a:off x="621792" y="4169664"/>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Vanilla</a:t>
            </a:r>
            <a:endParaRPr lang="en-US" sz="1150" dirty="0"/>
          </a:p>
        </p:txBody>
      </p:sp>
      <p:sp>
        <p:nvSpPr>
          <p:cNvPr id="15" name="Shape 13"/>
          <p:cNvSpPr/>
          <p:nvPr/>
        </p:nvSpPr>
        <p:spPr>
          <a:xfrm>
            <a:off x="4791456" y="1133856"/>
            <a:ext cx="4005072" cy="3767328"/>
          </a:xfrm>
          <a:prstGeom prst="roundRect">
            <a:avLst>
              <a:gd name="adj" fmla="val 2427"/>
            </a:avLst>
          </a:prstGeom>
          <a:solidFill>
            <a:srgbClr val="1B4F72">
              <a:alpha val="10000"/>
            </a:srgbClr>
          </a:solidFill>
          <a:ln w="19050">
            <a:solidFill>
              <a:srgbClr val="1B4F72"/>
            </a:solidFill>
            <a:prstDash val="solid"/>
          </a:ln>
        </p:spPr>
      </p:sp>
      <p:sp>
        <p:nvSpPr>
          <p:cNvPr id="16" name="Text 14"/>
          <p:cNvSpPr/>
          <p:nvPr/>
        </p:nvSpPr>
        <p:spPr>
          <a:xfrm>
            <a:off x="4974336" y="1225296"/>
            <a:ext cx="3639312" cy="438912"/>
          </a:xfrm>
          <a:prstGeom prst="rect">
            <a:avLst/>
          </a:prstGeom>
          <a:noFill/>
          <a:ln/>
        </p:spPr>
        <p:txBody>
          <a:bodyPr wrap="square" lIns="0" tIns="0" rIns="0" bIns="0" rtlCol="0" anchor="ctr"/>
          <a:lstStyle/>
          <a:p>
            <a:pPr algn="ctr" indent="0" marL="0">
              <a:buNone/>
            </a:pPr>
            <a:r>
              <a:rPr lang="en-US" sz="1200" b="1" dirty="0">
                <a:solidFill>
                  <a:srgbClr val="1B4F72"/>
                </a:solidFill>
                <a:latin typeface="Cambria" pitchFamily="34" charset="0"/>
                <a:ea typeface="Cambria" pitchFamily="34" charset="-122"/>
                <a:cs typeface="Cambria" pitchFamily="34" charset="-120"/>
              </a:rPr>
              <a:t>Europe/Africa/Asia → Americas</a:t>
            </a:r>
            <a:endParaRPr lang="en-US" sz="1200" dirty="0"/>
          </a:p>
        </p:txBody>
      </p:sp>
      <p:sp>
        <p:nvSpPr>
          <p:cNvPr id="17" name="Text 15"/>
          <p:cNvSpPr/>
          <p:nvPr/>
        </p:nvSpPr>
        <p:spPr>
          <a:xfrm>
            <a:off x="5065776" y="1737360"/>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Horses</a:t>
            </a:r>
            <a:endParaRPr lang="en-US" sz="1150" dirty="0"/>
          </a:p>
        </p:txBody>
      </p:sp>
      <p:sp>
        <p:nvSpPr>
          <p:cNvPr id="18" name="Text 16"/>
          <p:cNvSpPr/>
          <p:nvPr/>
        </p:nvSpPr>
        <p:spPr>
          <a:xfrm>
            <a:off x="5065776" y="2084832"/>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Cattle &amp; Pigs</a:t>
            </a:r>
            <a:endParaRPr lang="en-US" sz="1150" dirty="0"/>
          </a:p>
        </p:txBody>
      </p:sp>
      <p:sp>
        <p:nvSpPr>
          <p:cNvPr id="19" name="Text 17"/>
          <p:cNvSpPr/>
          <p:nvPr/>
        </p:nvSpPr>
        <p:spPr>
          <a:xfrm>
            <a:off x="5065776" y="2432304"/>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Wheat &amp; Barley</a:t>
            </a:r>
            <a:endParaRPr lang="en-US" sz="1150" dirty="0"/>
          </a:p>
        </p:txBody>
      </p:sp>
      <p:sp>
        <p:nvSpPr>
          <p:cNvPr id="20" name="Text 18"/>
          <p:cNvSpPr/>
          <p:nvPr/>
        </p:nvSpPr>
        <p:spPr>
          <a:xfrm>
            <a:off x="5065776" y="2779776"/>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Grapes &amp; Wine</a:t>
            </a:r>
            <a:endParaRPr lang="en-US" sz="1150" dirty="0"/>
          </a:p>
        </p:txBody>
      </p:sp>
      <p:sp>
        <p:nvSpPr>
          <p:cNvPr id="21" name="Text 19"/>
          <p:cNvSpPr/>
          <p:nvPr/>
        </p:nvSpPr>
        <p:spPr>
          <a:xfrm>
            <a:off x="5065776" y="3127248"/>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Honeybees</a:t>
            </a:r>
            <a:endParaRPr lang="en-US" sz="1150" dirty="0"/>
          </a:p>
        </p:txBody>
      </p:sp>
      <p:sp>
        <p:nvSpPr>
          <p:cNvPr id="22" name="Text 20"/>
          <p:cNvSpPr/>
          <p:nvPr/>
        </p:nvSpPr>
        <p:spPr>
          <a:xfrm>
            <a:off x="5065776" y="3474720"/>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Steel weapons</a:t>
            </a:r>
            <a:endParaRPr lang="en-US" sz="1150" dirty="0"/>
          </a:p>
        </p:txBody>
      </p:sp>
      <p:sp>
        <p:nvSpPr>
          <p:cNvPr id="23" name="Text 21"/>
          <p:cNvSpPr/>
          <p:nvPr/>
        </p:nvSpPr>
        <p:spPr>
          <a:xfrm>
            <a:off x="5065776" y="3822192"/>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Gunpowder</a:t>
            </a:r>
            <a:endParaRPr lang="en-US" sz="1150" dirty="0"/>
          </a:p>
        </p:txBody>
      </p:sp>
      <p:sp>
        <p:nvSpPr>
          <p:cNvPr id="24" name="Text 22"/>
          <p:cNvSpPr/>
          <p:nvPr/>
        </p:nvSpPr>
        <p:spPr>
          <a:xfrm>
            <a:off x="5065776" y="4169664"/>
            <a:ext cx="3456432" cy="310896"/>
          </a:xfrm>
          <a:prstGeom prst="rect">
            <a:avLst/>
          </a:prstGeom>
          <a:noFill/>
          <a:ln/>
        </p:spPr>
        <p:txBody>
          <a:bodyPr wrap="square" lIns="0" tIns="0" rIns="0" bIns="0" rtlCol="0" anchor="ctr"/>
          <a:lstStyle/>
          <a:p>
            <a:pPr indent="0" marL="0">
              <a:buNone/>
            </a:pPr>
            <a:r>
              <a:rPr lang="en-US" sz="1150" dirty="0">
                <a:solidFill>
                  <a:srgbClr val="3A4A6B"/>
                </a:solidFill>
                <a:latin typeface="Calibri" pitchFamily="34" charset="0"/>
                <a:ea typeface="Calibri" pitchFamily="34" charset="-122"/>
                <a:cs typeface="Calibri" pitchFamily="34" charset="-120"/>
              </a:rPr>
              <a:t>🦠 Smallpox, measles, flu</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4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9B1C2E"/>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The Consequence No One Intended — And Its Scale</a:t>
            </a:r>
            <a:endParaRPr lang="en-US" sz="2000" dirty="0"/>
          </a:p>
        </p:txBody>
      </p:sp>
      <p:sp>
        <p:nvSpPr>
          <p:cNvPr id="4" name="Shape 2"/>
          <p:cNvSpPr/>
          <p:nvPr/>
        </p:nvSpPr>
        <p:spPr>
          <a:xfrm>
            <a:off x="402336" y="768096"/>
            <a:ext cx="8339328" cy="4224528"/>
          </a:xfrm>
          <a:prstGeom prst="roundRect">
            <a:avLst>
              <a:gd name="adj" fmla="val 2597"/>
            </a:avLst>
          </a:prstGeom>
          <a:solidFill>
            <a:srgbClr val="9B1C2E">
              <a:alpha val="6000"/>
            </a:srgbClr>
          </a:solidFill>
          <a:ln w="19050">
            <a:solidFill>
              <a:srgbClr val="9B1C2E"/>
            </a:solidFill>
            <a:prstDash val="solid"/>
          </a:ln>
        </p:spPr>
      </p:sp>
      <p:sp>
        <p:nvSpPr>
          <p:cNvPr id="5" name="Text 3"/>
          <p:cNvSpPr/>
          <p:nvPr/>
        </p:nvSpPr>
        <p:spPr>
          <a:xfrm>
            <a:off x="585216" y="914400"/>
            <a:ext cx="7973568" cy="3913632"/>
          </a:xfrm>
          <a:prstGeom prst="rect">
            <a:avLst/>
          </a:prstGeom>
          <a:noFill/>
          <a:ln/>
        </p:spPr>
        <p:txBody>
          <a:bodyPr wrap="square" rtlCol="0" anchor="t"/>
          <a:lstStyle/>
          <a:p>
            <a:pPr algn="l" indent="0" marL="0">
              <a:lnSpc>
                <a:spcPct val="155000"/>
              </a:lnSpc>
              <a:buNone/>
            </a:pPr>
            <a:r>
              <a:rPr lang="en-US" sz="1300" dirty="0">
                <a:solidFill>
                  <a:srgbClr val="3A4A6B"/>
                </a:solidFill>
                <a:latin typeface="Calibri" pitchFamily="34" charset="0"/>
                <a:ea typeface="Calibri" pitchFamily="34" charset="-122"/>
                <a:cs typeface="Calibri" pitchFamily="34" charset="-120"/>
              </a:rPr>
              <a:t>Indigenous peoples of the Americas had no immunity to European diseases:</a:t>
            </a:r>
            <a:endParaRPr lang="en-US" sz="1300" dirty="0"/>
          </a:p>
          <a:p>
            <a:pPr algn="l" indent="0" marL="0">
              <a:lnSpc>
                <a:spcPct val="155000"/>
              </a:lnSpc>
              <a:buNone/>
            </a:pPr>
            <a:endParaRPr lang="en-US" sz="1300" dirty="0"/>
          </a:p>
          <a:p>
            <a:pPr algn="l" indent="0" marL="0">
              <a:lnSpc>
                <a:spcPct val="155000"/>
              </a:lnSpc>
              <a:buNone/>
            </a:pPr>
            <a:r>
              <a:rPr lang="en-US" sz="1300" dirty="0">
                <a:solidFill>
                  <a:srgbClr val="3A4A6B"/>
                </a:solidFill>
                <a:latin typeface="Calibri" pitchFamily="34" charset="0"/>
                <a:ea typeface="Calibri" pitchFamily="34" charset="-122"/>
                <a:cs typeface="Calibri" pitchFamily="34" charset="-120"/>
              </a:rPr>
              <a:t>Smallpox.  Measles.  Influenza.  Typhus.</a:t>
            </a:r>
            <a:endParaRPr lang="en-US" sz="1300" dirty="0"/>
          </a:p>
          <a:p>
            <a:pPr algn="l" indent="0" marL="0">
              <a:lnSpc>
                <a:spcPct val="155000"/>
              </a:lnSpc>
              <a:buNone/>
            </a:pPr>
            <a:endParaRPr lang="en-US" sz="1300" dirty="0"/>
          </a:p>
          <a:p>
            <a:pPr algn="l" indent="0" marL="0">
              <a:lnSpc>
                <a:spcPct val="155000"/>
              </a:lnSpc>
              <a:buNone/>
            </a:pPr>
            <a:r>
              <a:rPr lang="en-US" sz="1300" dirty="0">
                <a:solidFill>
                  <a:srgbClr val="3A4A6B"/>
                </a:solidFill>
                <a:latin typeface="Calibri" pitchFamily="34" charset="0"/>
                <a:ea typeface="Calibri" pitchFamily="34" charset="-122"/>
                <a:cs typeface="Calibri" pitchFamily="34" charset="-120"/>
              </a:rPr>
              <a:t>Historians estimate that within 100 years of first contact:</a:t>
            </a:r>
            <a:endParaRPr lang="en-US" sz="1300" dirty="0"/>
          </a:p>
          <a:p>
            <a:pPr algn="l" indent="0" marL="0">
              <a:lnSpc>
                <a:spcPct val="155000"/>
              </a:lnSpc>
              <a:buNone/>
            </a:pPr>
            <a:r>
              <a:rPr lang="en-US" sz="1300" dirty="0">
                <a:solidFill>
                  <a:srgbClr val="3A4A6B"/>
                </a:solidFill>
                <a:latin typeface="Calibri" pitchFamily="34" charset="0"/>
                <a:ea typeface="Calibri" pitchFamily="34" charset="-122"/>
                <a:cs typeface="Calibri" pitchFamily="34" charset="-120"/>
              </a:rPr>
              <a:t>• 50-90% of some populations died</a:t>
            </a:r>
            <a:endParaRPr lang="en-US" sz="1300" dirty="0"/>
          </a:p>
          <a:p>
            <a:pPr algn="l" indent="0" marL="0">
              <a:lnSpc>
                <a:spcPct val="155000"/>
              </a:lnSpc>
              <a:buNone/>
            </a:pPr>
            <a:r>
              <a:rPr lang="en-US" sz="1300" dirty="0">
                <a:solidFill>
                  <a:srgbClr val="3A4A6B"/>
                </a:solidFill>
                <a:latin typeface="Calibri" pitchFamily="34" charset="0"/>
                <a:ea typeface="Calibri" pitchFamily="34" charset="-122"/>
                <a:cs typeface="Calibri" pitchFamily="34" charset="-120"/>
              </a:rPr>
              <a:t>• Entire cities were emptied</a:t>
            </a:r>
            <a:endParaRPr lang="en-US" sz="1300" dirty="0"/>
          </a:p>
          <a:p>
            <a:pPr algn="l" indent="0" marL="0">
              <a:lnSpc>
                <a:spcPct val="155000"/>
              </a:lnSpc>
              <a:buNone/>
            </a:pPr>
            <a:r>
              <a:rPr lang="en-US" sz="1300" dirty="0">
                <a:solidFill>
                  <a:srgbClr val="3A4A6B"/>
                </a:solidFill>
                <a:latin typeface="Calibri" pitchFamily="34" charset="0"/>
                <a:ea typeface="Calibri" pitchFamily="34" charset="-122"/>
                <a:cs typeface="Calibri" pitchFamily="34" charset="-120"/>
              </a:rPr>
              <a:t>• Civilizations that had existed for thousands of years collapsed</a:t>
            </a:r>
            <a:endParaRPr lang="en-US" sz="1300" dirty="0"/>
          </a:p>
          <a:p>
            <a:pPr algn="l" indent="0" marL="0">
              <a:lnSpc>
                <a:spcPct val="155000"/>
              </a:lnSpc>
              <a:buNone/>
            </a:pPr>
            <a:endParaRPr lang="en-US" sz="1300" dirty="0"/>
          </a:p>
          <a:p>
            <a:pPr algn="l" indent="0" marL="0">
              <a:lnSpc>
                <a:spcPct val="155000"/>
              </a:lnSpc>
              <a:buNone/>
            </a:pPr>
            <a:r>
              <a:rPr lang="en-US" sz="1300" dirty="0">
                <a:solidFill>
                  <a:srgbClr val="3A4A6B"/>
                </a:solidFill>
                <a:latin typeface="Calibri" pitchFamily="34" charset="0"/>
                <a:ea typeface="Calibri" pitchFamily="34" charset="-122"/>
                <a:cs typeface="Calibri" pitchFamily="34" charset="-120"/>
              </a:rPr>
              <a:t>This happened BEFORE most indigenous peoples had ever seen a European soldier. Disease arrived on trade routes faster than people traveled.</a:t>
            </a:r>
            <a:endParaRPr lang="en-US" sz="1300" dirty="0"/>
          </a:p>
          <a:p>
            <a:pPr algn="l" indent="0" marL="0">
              <a:lnSpc>
                <a:spcPct val="155000"/>
              </a:lnSpc>
              <a:buNone/>
            </a:pPr>
            <a:endParaRPr lang="en-US" sz="1300" dirty="0"/>
          </a:p>
          <a:p>
            <a:pPr algn="l" indent="0" marL="0">
              <a:lnSpc>
                <a:spcPct val="155000"/>
              </a:lnSpc>
              <a:buNone/>
            </a:pPr>
            <a:r>
              <a:rPr lang="en-US" sz="1300" dirty="0">
                <a:solidFill>
                  <a:srgbClr val="3A4A6B"/>
                </a:solidFill>
                <a:latin typeface="Calibri" pitchFamily="34" charset="0"/>
                <a:ea typeface="Calibri" pitchFamily="34" charset="-122"/>
                <a:cs typeface="Calibri" pitchFamily="34" charset="-120"/>
              </a:rPr>
              <a:t>Explorers and colonizers often arrived to find communities already devastated.</a:t>
            </a:r>
            <a:endParaRPr lang="en-US" sz="1300" dirty="0"/>
          </a:p>
          <a:p>
            <a:pPr algn="l" indent="0" marL="0">
              <a:lnSpc>
                <a:spcPct val="155000"/>
              </a:lnSpc>
              <a:buNone/>
            </a:pPr>
            <a:endParaRPr lang="en-US" sz="1300" dirty="0"/>
          </a:p>
          <a:p>
            <a:pPr algn="l" indent="0" marL="0">
              <a:lnSpc>
                <a:spcPct val="155000"/>
              </a:lnSpc>
              <a:buNone/>
            </a:pPr>
            <a:r>
              <a:rPr lang="en-US" sz="1300" dirty="0">
                <a:solidFill>
                  <a:srgbClr val="3A4A6B"/>
                </a:solidFill>
                <a:latin typeface="Calibri" pitchFamily="34" charset="0"/>
                <a:ea typeface="Calibri" pitchFamily="34" charset="-122"/>
                <a:cs typeface="Calibri" pitchFamily="34" charset="-120"/>
              </a:rPr>
              <a:t>This is called the Great Dying — the largest loss of human life in recorded history.</a:t>
            </a:r>
            <a:endParaRPr lang="en-US" sz="1300" dirty="0"/>
          </a:p>
          <a:p>
            <a:pPr algn="l" indent="0" marL="0">
              <a:lnSpc>
                <a:spcPct val="155000"/>
              </a:lnSpc>
              <a:buNone/>
            </a:pPr>
            <a:endParaRPr lang="en-US" sz="1300" dirty="0"/>
          </a:p>
          <a:p>
            <a:pPr algn="l" indent="0" marL="0">
              <a:lnSpc>
                <a:spcPct val="155000"/>
              </a:lnSpc>
              <a:buNone/>
            </a:pPr>
            <a:r>
              <a:rPr lang="en-US" sz="1300" dirty="0">
                <a:solidFill>
                  <a:srgbClr val="3A4A6B"/>
                </a:solidFill>
                <a:latin typeface="Calibri" pitchFamily="34" charset="0"/>
                <a:ea typeface="Calibri" pitchFamily="34" charset="-122"/>
                <a:cs typeface="Calibri" pitchFamily="34" charset="-120"/>
              </a:rPr>
              <a:t>It was not intentional — but it was a consequence. And consequences matter, even unintended ones.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4E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E7D4F"/>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Consequences That Changed the World for the Better</a:t>
            </a:r>
            <a:endParaRPr lang="en-US" sz="2000" dirty="0"/>
          </a:p>
        </p:txBody>
      </p:sp>
      <p:sp>
        <p:nvSpPr>
          <p:cNvPr id="4" name="Shape 2"/>
          <p:cNvSpPr/>
          <p:nvPr/>
        </p:nvSpPr>
        <p:spPr>
          <a:xfrm>
            <a:off x="402336" y="768096"/>
            <a:ext cx="8339328" cy="1261872"/>
          </a:xfrm>
          <a:prstGeom prst="roundRect">
            <a:avLst>
              <a:gd name="adj" fmla="val 7246"/>
            </a:avLst>
          </a:prstGeom>
          <a:solidFill>
            <a:srgbClr val="2E7D4F">
              <a:alpha val="10000"/>
            </a:srgbClr>
          </a:solidFill>
          <a:ln w="19050">
            <a:solidFill>
              <a:srgbClr val="2E7D4F"/>
            </a:solidFill>
            <a:prstDash val="solid"/>
          </a:ln>
          <a:effectLst>
            <a:outerShdw sx="100000" sy="100000" kx="0" ky="0" algn="bl" rotWithShape="0" blurRad="101600" dist="25400" dir="2700000">
              <a:srgbClr val="000000">
                <a:alpha val="12000"/>
              </a:srgbClr>
            </a:outerShdw>
          </a:effectLst>
        </p:spPr>
      </p:sp>
      <p:sp>
        <p:nvSpPr>
          <p:cNvPr id="5" name="Text 3"/>
          <p:cNvSpPr/>
          <p:nvPr/>
        </p:nvSpPr>
        <p:spPr>
          <a:xfrm>
            <a:off x="585216" y="804672"/>
            <a:ext cx="7973568" cy="402336"/>
          </a:xfrm>
          <a:prstGeom prst="rect">
            <a:avLst/>
          </a:prstGeom>
          <a:noFill/>
          <a:ln/>
        </p:spPr>
        <p:txBody>
          <a:bodyPr wrap="square" lIns="0" tIns="0" rIns="0" bIns="0" rtlCol="0" anchor="ctr"/>
          <a:lstStyle/>
          <a:p>
            <a:pPr indent="0" marL="0">
              <a:buNone/>
            </a:pPr>
            <a:r>
              <a:rPr lang="en-US" sz="1300" b="1" dirty="0">
                <a:solidFill>
                  <a:srgbClr val="2E7D4F"/>
                </a:solidFill>
                <a:latin typeface="Cambria" pitchFamily="34" charset="0"/>
                <a:ea typeface="Cambria" pitchFamily="34" charset="-122"/>
                <a:cs typeface="Cambria" pitchFamily="34" charset="-120"/>
              </a:rPr>
              <a:t>Food for Billions</a:t>
            </a:r>
            <a:endParaRPr lang="en-US" sz="1300" dirty="0"/>
          </a:p>
        </p:txBody>
      </p:sp>
      <p:sp>
        <p:nvSpPr>
          <p:cNvPr id="6" name="Text 4"/>
          <p:cNvSpPr/>
          <p:nvPr/>
        </p:nvSpPr>
        <p:spPr>
          <a:xfrm>
            <a:off x="585216" y="1207008"/>
            <a:ext cx="7973568" cy="694944"/>
          </a:xfrm>
          <a:prstGeom prst="rect">
            <a:avLst/>
          </a:prstGeom>
          <a:noFill/>
          <a:ln/>
        </p:spPr>
        <p:txBody>
          <a:bodyPr wrap="square" lIns="0" tIns="0" rIns="0" bIns="0" rtlCol="0" anchor="ctr"/>
          <a:lstStyle/>
          <a:p>
            <a:pPr indent="0" marL="0">
              <a:lnSpc>
                <a:spcPct val="130000"/>
              </a:lnSpc>
              <a:buNone/>
            </a:pPr>
            <a:r>
              <a:rPr lang="en-US" sz="1200" dirty="0">
                <a:solidFill>
                  <a:srgbClr val="3A4A6B"/>
                </a:solidFill>
                <a:latin typeface="Calibri" pitchFamily="34" charset="0"/>
                <a:ea typeface="Calibri" pitchFamily="34" charset="-122"/>
                <a:cs typeface="Calibri" pitchFamily="34" charset="-120"/>
              </a:rPr>
              <a:t>Potatoes and corn from the Americas became the most important food crops in the world. They fed populations in Ireland, Africa, and Asia who had no food like them before. Potatoes alone are credited with fueling Europe's population growth.</a:t>
            </a:r>
            <a:endParaRPr lang="en-US" sz="1200" dirty="0"/>
          </a:p>
        </p:txBody>
      </p:sp>
      <p:sp>
        <p:nvSpPr>
          <p:cNvPr id="7" name="Shape 5"/>
          <p:cNvSpPr/>
          <p:nvPr/>
        </p:nvSpPr>
        <p:spPr>
          <a:xfrm>
            <a:off x="402336" y="2157984"/>
            <a:ext cx="8339328" cy="1261872"/>
          </a:xfrm>
          <a:prstGeom prst="roundRect">
            <a:avLst>
              <a:gd name="adj" fmla="val 7246"/>
            </a:avLst>
          </a:prstGeom>
          <a:solidFill>
            <a:srgbClr val="2E7D4F">
              <a:alpha val="10000"/>
            </a:srgbClr>
          </a:solidFill>
          <a:ln w="19050">
            <a:solidFill>
              <a:srgbClr val="2E7D4F"/>
            </a:solidFill>
            <a:prstDash val="solid"/>
          </a:ln>
          <a:effectLst>
            <a:outerShdw sx="100000" sy="100000" kx="0" ky="0" algn="bl" rotWithShape="0" blurRad="101600" dist="25400" dir="2700000">
              <a:srgbClr val="000000">
                <a:alpha val="12000"/>
              </a:srgbClr>
            </a:outerShdw>
          </a:effectLst>
        </p:spPr>
      </p:sp>
      <p:sp>
        <p:nvSpPr>
          <p:cNvPr id="8" name="Text 6"/>
          <p:cNvSpPr/>
          <p:nvPr/>
        </p:nvSpPr>
        <p:spPr>
          <a:xfrm>
            <a:off x="585216" y="2194560"/>
            <a:ext cx="7973568" cy="402336"/>
          </a:xfrm>
          <a:prstGeom prst="rect">
            <a:avLst/>
          </a:prstGeom>
          <a:noFill/>
          <a:ln/>
        </p:spPr>
        <p:txBody>
          <a:bodyPr wrap="square" lIns="0" tIns="0" rIns="0" bIns="0" rtlCol="0" anchor="ctr"/>
          <a:lstStyle/>
          <a:p>
            <a:pPr indent="0" marL="0">
              <a:buNone/>
            </a:pPr>
            <a:r>
              <a:rPr lang="en-US" sz="1300" b="1" dirty="0">
                <a:solidFill>
                  <a:srgbClr val="2E7D4F"/>
                </a:solidFill>
                <a:latin typeface="Cambria" pitchFamily="34" charset="0"/>
                <a:ea typeface="Cambria" pitchFamily="34" charset="-122"/>
                <a:cs typeface="Cambria" pitchFamily="34" charset="-120"/>
              </a:rPr>
              <a:t>New Trade Networks</a:t>
            </a:r>
            <a:endParaRPr lang="en-US" sz="1300" dirty="0"/>
          </a:p>
        </p:txBody>
      </p:sp>
      <p:sp>
        <p:nvSpPr>
          <p:cNvPr id="9" name="Text 7"/>
          <p:cNvSpPr/>
          <p:nvPr/>
        </p:nvSpPr>
        <p:spPr>
          <a:xfrm>
            <a:off x="585216" y="2596896"/>
            <a:ext cx="7973568" cy="694944"/>
          </a:xfrm>
          <a:prstGeom prst="rect">
            <a:avLst/>
          </a:prstGeom>
          <a:noFill/>
          <a:ln/>
        </p:spPr>
        <p:txBody>
          <a:bodyPr wrap="square" lIns="0" tIns="0" rIns="0" bIns="0" rtlCol="0" anchor="ctr"/>
          <a:lstStyle/>
          <a:p>
            <a:pPr indent="0" marL="0">
              <a:lnSpc>
                <a:spcPct val="130000"/>
              </a:lnSpc>
              <a:buNone/>
            </a:pPr>
            <a:r>
              <a:rPr lang="en-US" sz="1200" dirty="0">
                <a:solidFill>
                  <a:srgbClr val="3A4A6B"/>
                </a:solidFill>
                <a:latin typeface="Calibri" pitchFamily="34" charset="0"/>
                <a:ea typeface="Calibri" pitchFamily="34" charset="-122"/>
                <a:cs typeface="Calibri" pitchFamily="34" charset="-120"/>
              </a:rPr>
              <a:t>New sea routes connected the whole world for the first time. Goods, ideas, and technologies began moving between all continents. This eventually contributed to the rise of global trade and the modern economy.</a:t>
            </a:r>
            <a:endParaRPr lang="en-US" sz="1200" dirty="0"/>
          </a:p>
        </p:txBody>
      </p:sp>
      <p:sp>
        <p:nvSpPr>
          <p:cNvPr id="10" name="Shape 8"/>
          <p:cNvSpPr/>
          <p:nvPr/>
        </p:nvSpPr>
        <p:spPr>
          <a:xfrm>
            <a:off x="402336" y="3547872"/>
            <a:ext cx="8339328" cy="1261872"/>
          </a:xfrm>
          <a:prstGeom prst="roundRect">
            <a:avLst>
              <a:gd name="adj" fmla="val 7246"/>
            </a:avLst>
          </a:prstGeom>
          <a:solidFill>
            <a:srgbClr val="2E7D4F">
              <a:alpha val="10000"/>
            </a:srgbClr>
          </a:solidFill>
          <a:ln w="19050">
            <a:solidFill>
              <a:srgbClr val="2E7D4F"/>
            </a:solidFill>
            <a:prstDash val="solid"/>
          </a:ln>
          <a:effectLst>
            <a:outerShdw sx="100000" sy="100000" kx="0" ky="0" algn="bl" rotWithShape="0" blurRad="101600" dist="25400" dir="2700000">
              <a:srgbClr val="000000">
                <a:alpha val="12000"/>
              </a:srgbClr>
            </a:outerShdw>
          </a:effectLst>
        </p:spPr>
      </p:sp>
      <p:sp>
        <p:nvSpPr>
          <p:cNvPr id="11" name="Text 9"/>
          <p:cNvSpPr/>
          <p:nvPr/>
        </p:nvSpPr>
        <p:spPr>
          <a:xfrm>
            <a:off x="585216" y="3584448"/>
            <a:ext cx="7973568" cy="402336"/>
          </a:xfrm>
          <a:prstGeom prst="rect">
            <a:avLst/>
          </a:prstGeom>
          <a:noFill/>
          <a:ln/>
        </p:spPr>
        <p:txBody>
          <a:bodyPr wrap="square" lIns="0" tIns="0" rIns="0" bIns="0" rtlCol="0" anchor="ctr"/>
          <a:lstStyle/>
          <a:p>
            <a:pPr indent="0" marL="0">
              <a:buNone/>
            </a:pPr>
            <a:r>
              <a:rPr lang="en-US" sz="1300" b="1" dirty="0">
                <a:solidFill>
                  <a:srgbClr val="2E7D4F"/>
                </a:solidFill>
                <a:latin typeface="Cambria" pitchFamily="34" charset="0"/>
                <a:ea typeface="Cambria" pitchFamily="34" charset="-122"/>
                <a:cs typeface="Cambria" pitchFamily="34" charset="-120"/>
              </a:rPr>
              <a:t>Scientific Knowledge</a:t>
            </a:r>
            <a:endParaRPr lang="en-US" sz="1300" dirty="0"/>
          </a:p>
        </p:txBody>
      </p:sp>
      <p:sp>
        <p:nvSpPr>
          <p:cNvPr id="12" name="Text 10"/>
          <p:cNvSpPr/>
          <p:nvPr/>
        </p:nvSpPr>
        <p:spPr>
          <a:xfrm>
            <a:off x="585216" y="3986784"/>
            <a:ext cx="7973568" cy="694944"/>
          </a:xfrm>
          <a:prstGeom prst="rect">
            <a:avLst/>
          </a:prstGeom>
          <a:noFill/>
          <a:ln/>
        </p:spPr>
        <p:txBody>
          <a:bodyPr wrap="square" lIns="0" tIns="0" rIns="0" bIns="0" rtlCol="0" anchor="ctr"/>
          <a:lstStyle/>
          <a:p>
            <a:pPr indent="0" marL="0">
              <a:lnSpc>
                <a:spcPct val="130000"/>
              </a:lnSpc>
              <a:buNone/>
            </a:pPr>
            <a:r>
              <a:rPr lang="en-US" sz="1200" dirty="0">
                <a:solidFill>
                  <a:srgbClr val="3A4A6B"/>
                </a:solidFill>
                <a:latin typeface="Calibri" pitchFamily="34" charset="0"/>
                <a:ea typeface="Calibri" pitchFamily="34" charset="-122"/>
                <a:cs typeface="Calibri" pitchFamily="34" charset="-120"/>
              </a:rPr>
              <a:t>Explorers catalogued thousands of previously unknown plants, animals, and geographic features. Their maps — imperfect as they were — became the foundation of modern cartography and earth science.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685800" y="502920"/>
            <a:ext cx="7772400" cy="4114800"/>
          </a:xfrm>
          <a:prstGeom prst="ellipse">
            <a:avLst/>
          </a:prstGeom>
          <a:solidFill>
            <a:srgbClr val="C7522A">
              <a:alpha val="14000"/>
            </a:srgbClr>
          </a:solidFill>
          <a:ln w="12700">
            <a:solidFill>
              <a:srgbClr val="333333"/>
            </a:solidFill>
            <a:prstDash val="solid"/>
          </a:ln>
        </p:spPr>
      </p:sp>
      <p:sp>
        <p:nvSpPr>
          <p:cNvPr id="3" name="Shape 1"/>
          <p:cNvSpPr/>
          <p:nvPr/>
        </p:nvSpPr>
        <p:spPr>
          <a:xfrm>
            <a:off x="2395728" y="1408176"/>
            <a:ext cx="4352544" cy="2304288"/>
          </a:xfrm>
          <a:prstGeom prst="ellipse">
            <a:avLst/>
          </a:prstGeom>
          <a:solidFill>
            <a:srgbClr val="C7522A">
              <a:alpha val="25000"/>
            </a:srgbClr>
          </a:solidFill>
          <a:ln w="12700">
            <a:solidFill>
              <a:srgbClr val="333333"/>
            </a:solidFill>
            <a:prstDash val="solid"/>
          </a:ln>
        </p:spPr>
      </p:sp>
      <p:sp>
        <p:nvSpPr>
          <p:cNvPr id="4" name="Text 2"/>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In Your Groups — The Consequence Question</a:t>
            </a:r>
            <a:endParaRPr lang="en-US" sz="2600" dirty="0"/>
          </a:p>
        </p:txBody>
      </p:sp>
      <p:sp>
        <p:nvSpPr>
          <p:cNvPr id="5" name="Shape 3"/>
          <p:cNvSpPr/>
          <p:nvPr/>
        </p:nvSpPr>
        <p:spPr>
          <a:xfrm>
            <a:off x="402336" y="749808"/>
            <a:ext cx="8339328" cy="658368"/>
          </a:xfrm>
          <a:prstGeom prst="roundRect">
            <a:avLst>
              <a:gd name="adj" fmla="val 12500"/>
            </a:avLst>
          </a:prstGeom>
          <a:solidFill>
            <a:srgbClr val="C7522A">
              <a:alpha val="20000"/>
            </a:srgbClr>
          </a:solidFill>
          <a:ln w="19050">
            <a:solidFill>
              <a:srgbClr val="C7522A"/>
            </a:solidFill>
            <a:prstDash val="solid"/>
          </a:ln>
        </p:spPr>
      </p:sp>
      <p:sp>
        <p:nvSpPr>
          <p:cNvPr id="6" name="Text 4"/>
          <p:cNvSpPr/>
          <p:nvPr/>
        </p:nvSpPr>
        <p:spPr>
          <a:xfrm>
            <a:off x="585216" y="786384"/>
            <a:ext cx="7973568" cy="603504"/>
          </a:xfrm>
          <a:prstGeom prst="rect">
            <a:avLst/>
          </a:prstGeom>
          <a:noFill/>
          <a:ln/>
        </p:spPr>
        <p:txBody>
          <a:bodyPr wrap="square" rtlCol="0" anchor="ctr"/>
          <a:lstStyle/>
          <a:p>
            <a:pPr algn="l" indent="0" marL="0">
              <a:lnSpc>
                <a:spcPct val="135000"/>
              </a:lnSpc>
              <a:buNone/>
            </a:pPr>
            <a:r>
              <a:rPr lang="en-US" sz="1250" dirty="0">
                <a:solidFill>
                  <a:srgbClr val="FFFFFF"/>
                </a:solidFill>
                <a:latin typeface="Calibri" pitchFamily="34" charset="0"/>
                <a:ea typeface="Calibri" pitchFamily="34" charset="-122"/>
                <a:cs typeface="Calibri" pitchFamily="34" charset="-120"/>
              </a:rPr>
              <a:t>Historians debate: Was the Age of Exploration 'worth it'? Discuss these angles — then come back ready to share your group's best thinking.</a:t>
            </a:r>
            <a:endParaRPr lang="en-US" sz="1250" dirty="0"/>
          </a:p>
        </p:txBody>
      </p:sp>
      <p:sp>
        <p:nvSpPr>
          <p:cNvPr id="7" name="Shape 5"/>
          <p:cNvSpPr/>
          <p:nvPr/>
        </p:nvSpPr>
        <p:spPr>
          <a:xfrm>
            <a:off x="402336" y="1517904"/>
            <a:ext cx="8339328" cy="731520"/>
          </a:xfrm>
          <a:prstGeom prst="roundRect">
            <a:avLst>
              <a:gd name="adj" fmla="val 8750"/>
            </a:avLst>
          </a:prstGeom>
          <a:solidFill>
            <a:srgbClr val="FFFFFF">
              <a:alpha val="8000"/>
            </a:srgbClr>
          </a:solidFill>
          <a:ln w="12700">
            <a:solidFill>
              <a:srgbClr val="D4AF37"/>
            </a:solidFill>
            <a:prstDash val="solid"/>
          </a:ln>
        </p:spPr>
      </p:sp>
      <p:sp>
        <p:nvSpPr>
          <p:cNvPr id="8" name="Text 6"/>
          <p:cNvSpPr/>
          <p:nvPr/>
        </p:nvSpPr>
        <p:spPr>
          <a:xfrm>
            <a:off x="585216" y="1517904"/>
            <a:ext cx="7973568" cy="731520"/>
          </a:xfrm>
          <a:prstGeom prst="rect">
            <a:avLst/>
          </a:prstGeom>
          <a:noFill/>
          <a:ln/>
        </p:spPr>
        <p:txBody>
          <a:bodyPr wrap="square" lIns="0" tIns="0" rIns="0" bIns="0" rtlCol="0" anchor="ctr"/>
          <a:lstStyle/>
          <a:p>
            <a:pPr algn="l" indent="0" marL="0">
              <a:lnSpc>
                <a:spcPct val="125000"/>
              </a:lnSpc>
              <a:buNone/>
            </a:pPr>
            <a:r>
              <a:rPr lang="en-US" sz="1150" dirty="0">
                <a:solidFill>
                  <a:srgbClr val="FFFFFF"/>
                </a:solidFill>
                <a:latin typeface="Calibri" pitchFamily="34" charset="0"/>
                <a:ea typeface="Calibri" pitchFamily="34" charset="-122"/>
                <a:cs typeface="Calibri" pitchFamily="34" charset="-120"/>
              </a:rPr>
              <a:t>1.  'Worth it' for whom? The answer changes completely depending on whose perspective you take.</a:t>
            </a:r>
            <a:endParaRPr lang="en-US" sz="1150" dirty="0"/>
          </a:p>
        </p:txBody>
      </p:sp>
      <p:sp>
        <p:nvSpPr>
          <p:cNvPr id="9" name="Shape 7"/>
          <p:cNvSpPr/>
          <p:nvPr/>
        </p:nvSpPr>
        <p:spPr>
          <a:xfrm>
            <a:off x="402336" y="2340864"/>
            <a:ext cx="8339328" cy="731520"/>
          </a:xfrm>
          <a:prstGeom prst="roundRect">
            <a:avLst>
              <a:gd name="adj" fmla="val 8750"/>
            </a:avLst>
          </a:prstGeom>
          <a:solidFill>
            <a:srgbClr val="FFFFFF">
              <a:alpha val="8000"/>
            </a:srgbClr>
          </a:solidFill>
          <a:ln w="12700">
            <a:solidFill>
              <a:srgbClr val="D4AF37"/>
            </a:solidFill>
            <a:prstDash val="solid"/>
          </a:ln>
        </p:spPr>
      </p:sp>
      <p:sp>
        <p:nvSpPr>
          <p:cNvPr id="10" name="Text 8"/>
          <p:cNvSpPr/>
          <p:nvPr/>
        </p:nvSpPr>
        <p:spPr>
          <a:xfrm>
            <a:off x="585216" y="2340864"/>
            <a:ext cx="7973568" cy="731520"/>
          </a:xfrm>
          <a:prstGeom prst="rect">
            <a:avLst/>
          </a:prstGeom>
          <a:noFill/>
          <a:ln/>
        </p:spPr>
        <p:txBody>
          <a:bodyPr wrap="square" lIns="0" tIns="0" rIns="0" bIns="0" rtlCol="0" anchor="ctr"/>
          <a:lstStyle/>
          <a:p>
            <a:pPr algn="l" indent="0" marL="0">
              <a:lnSpc>
                <a:spcPct val="125000"/>
              </a:lnSpc>
              <a:buNone/>
            </a:pPr>
            <a:r>
              <a:rPr lang="en-US" sz="1150" dirty="0">
                <a:solidFill>
                  <a:srgbClr val="FFFFFF"/>
                </a:solidFill>
                <a:latin typeface="Calibri" pitchFamily="34" charset="0"/>
                <a:ea typeface="Calibri" pitchFamily="34" charset="-122"/>
                <a:cs typeface="Calibri" pitchFamily="34" charset="-120"/>
              </a:rPr>
              <a:t>2.  Can an event be both a great achievement AND a catastrophe at the same time?</a:t>
            </a:r>
            <a:endParaRPr lang="en-US" sz="1150" dirty="0"/>
          </a:p>
        </p:txBody>
      </p:sp>
      <p:sp>
        <p:nvSpPr>
          <p:cNvPr id="11" name="Shape 9"/>
          <p:cNvSpPr/>
          <p:nvPr/>
        </p:nvSpPr>
        <p:spPr>
          <a:xfrm>
            <a:off x="402336" y="3163824"/>
            <a:ext cx="8339328" cy="731520"/>
          </a:xfrm>
          <a:prstGeom prst="roundRect">
            <a:avLst>
              <a:gd name="adj" fmla="val 8750"/>
            </a:avLst>
          </a:prstGeom>
          <a:solidFill>
            <a:srgbClr val="FFFFFF">
              <a:alpha val="8000"/>
            </a:srgbClr>
          </a:solidFill>
          <a:ln w="12700">
            <a:solidFill>
              <a:srgbClr val="D4AF37"/>
            </a:solidFill>
            <a:prstDash val="solid"/>
          </a:ln>
        </p:spPr>
      </p:sp>
      <p:sp>
        <p:nvSpPr>
          <p:cNvPr id="12" name="Text 10"/>
          <p:cNvSpPr/>
          <p:nvPr/>
        </p:nvSpPr>
        <p:spPr>
          <a:xfrm>
            <a:off x="585216" y="3163824"/>
            <a:ext cx="7973568" cy="731520"/>
          </a:xfrm>
          <a:prstGeom prst="rect">
            <a:avLst/>
          </a:prstGeom>
          <a:noFill/>
          <a:ln/>
        </p:spPr>
        <p:txBody>
          <a:bodyPr wrap="square" lIns="0" tIns="0" rIns="0" bIns="0" rtlCol="0" anchor="ctr"/>
          <a:lstStyle/>
          <a:p>
            <a:pPr algn="l" indent="0" marL="0">
              <a:lnSpc>
                <a:spcPct val="125000"/>
              </a:lnSpc>
              <a:buNone/>
            </a:pPr>
            <a:r>
              <a:rPr lang="en-US" sz="1150" dirty="0">
                <a:solidFill>
                  <a:srgbClr val="FFFFFF"/>
                </a:solidFill>
                <a:latin typeface="Calibri" pitchFamily="34" charset="0"/>
                <a:ea typeface="Calibri" pitchFamily="34" charset="-122"/>
                <a:cs typeface="Calibri" pitchFamily="34" charset="-120"/>
              </a:rPr>
              <a:t>3.  If European explorers had NOT arrived in the Americas, what might be different about the world today?</a:t>
            </a:r>
            <a:endParaRPr lang="en-US" sz="1150" dirty="0"/>
          </a:p>
        </p:txBody>
      </p:sp>
      <p:sp>
        <p:nvSpPr>
          <p:cNvPr id="13" name="Shape 11"/>
          <p:cNvSpPr/>
          <p:nvPr/>
        </p:nvSpPr>
        <p:spPr>
          <a:xfrm>
            <a:off x="402336" y="3986784"/>
            <a:ext cx="8339328" cy="731520"/>
          </a:xfrm>
          <a:prstGeom prst="roundRect">
            <a:avLst>
              <a:gd name="adj" fmla="val 8750"/>
            </a:avLst>
          </a:prstGeom>
          <a:solidFill>
            <a:srgbClr val="FFFFFF">
              <a:alpha val="8000"/>
            </a:srgbClr>
          </a:solidFill>
          <a:ln w="12700">
            <a:solidFill>
              <a:srgbClr val="D4AF37"/>
            </a:solidFill>
            <a:prstDash val="solid"/>
          </a:ln>
        </p:spPr>
      </p:sp>
      <p:sp>
        <p:nvSpPr>
          <p:cNvPr id="14" name="Text 12"/>
          <p:cNvSpPr/>
          <p:nvPr/>
        </p:nvSpPr>
        <p:spPr>
          <a:xfrm>
            <a:off x="585216" y="3986784"/>
            <a:ext cx="7973568" cy="731520"/>
          </a:xfrm>
          <a:prstGeom prst="rect">
            <a:avLst/>
          </a:prstGeom>
          <a:noFill/>
          <a:ln/>
        </p:spPr>
        <p:txBody>
          <a:bodyPr wrap="square" lIns="0" tIns="0" rIns="0" bIns="0" rtlCol="0" anchor="ctr"/>
          <a:lstStyle/>
          <a:p>
            <a:pPr algn="l" indent="0" marL="0">
              <a:lnSpc>
                <a:spcPct val="125000"/>
              </a:lnSpc>
              <a:buNone/>
            </a:pPr>
            <a:r>
              <a:rPr lang="en-US" sz="1150" dirty="0">
                <a:solidFill>
                  <a:srgbClr val="FFFFFF"/>
                </a:solidFill>
                <a:latin typeface="Calibri" pitchFamily="34" charset="0"/>
                <a:ea typeface="Calibri" pitchFamily="34" charset="-122"/>
                <a:cs typeface="Calibri" pitchFamily="34" charset="-120"/>
              </a:rPr>
              <a:t>4.  What is our responsibility today to understand these consequences honestly?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E3D"/>
        </a:solidFill>
      </p:bgPr>
    </p:bg>
    <p:spTree>
      <p:nvGrpSpPr>
        <p:cNvPr id="1" name=""/>
        <p:cNvGrpSpPr/>
        <p:nvPr/>
      </p:nvGrpSpPr>
      <p:grpSpPr>
        <a:xfrm>
          <a:off x="0" y="0"/>
          <a:ext cx="0" cy="0"/>
          <a:chOff x="0" y="0"/>
          <a:chExt cx="0" cy="0"/>
        </a:xfrm>
      </p:grpSpPr>
      <p:sp>
        <p:nvSpPr>
          <p:cNvPr id="2" name="Shape 0"/>
          <p:cNvSpPr/>
          <p:nvPr/>
        </p:nvSpPr>
        <p:spPr>
          <a:xfrm>
            <a:off x="914400" y="228600"/>
            <a:ext cx="7315200" cy="4114800"/>
          </a:xfrm>
          <a:prstGeom prst="ellipse">
            <a:avLst/>
          </a:prstGeom>
          <a:solidFill>
            <a:srgbClr val="B87A2A">
              <a:alpha val="14000"/>
            </a:srgbClr>
          </a:solidFill>
          <a:ln w="12700">
            <a:solidFill>
              <a:srgbClr val="333333"/>
            </a:solidFill>
            <a:prstDash val="solid"/>
          </a:ln>
        </p:spPr>
      </p:sp>
      <p:sp>
        <p:nvSpPr>
          <p:cNvPr id="3" name="Shape 1"/>
          <p:cNvSpPr/>
          <p:nvPr/>
        </p:nvSpPr>
        <p:spPr>
          <a:xfrm>
            <a:off x="2523744" y="1133856"/>
            <a:ext cx="4096512" cy="2304288"/>
          </a:xfrm>
          <a:prstGeom prst="ellipse">
            <a:avLst/>
          </a:prstGeom>
          <a:solidFill>
            <a:srgbClr val="B87A2A">
              <a:alpha val="25000"/>
            </a:srgbClr>
          </a:solidFill>
          <a:ln w="12700">
            <a:solidFill>
              <a:srgbClr val="333333"/>
            </a:solidFill>
            <a:prstDash val="solid"/>
          </a:ln>
        </p:spPr>
      </p:sp>
      <p:sp>
        <p:nvSpPr>
          <p:cNvPr id="4" name="Text 2"/>
          <p:cNvSpPr/>
          <p:nvPr/>
        </p:nvSpPr>
        <p:spPr>
          <a:xfrm>
            <a:off x="457200" y="822960"/>
            <a:ext cx="8229600" cy="621792"/>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Consequences are not optional.</a:t>
            </a:r>
            <a:endParaRPr lang="en-US" sz="3200" dirty="0"/>
          </a:p>
        </p:txBody>
      </p:sp>
      <p:sp>
        <p:nvSpPr>
          <p:cNvPr id="5" name="Text 3"/>
          <p:cNvSpPr/>
          <p:nvPr/>
        </p:nvSpPr>
        <p:spPr>
          <a:xfrm>
            <a:off x="914400" y="1536192"/>
            <a:ext cx="7315200" cy="896112"/>
          </a:xfrm>
          <a:prstGeom prst="rect">
            <a:avLst/>
          </a:prstGeom>
          <a:noFill/>
          <a:ln/>
        </p:spPr>
        <p:txBody>
          <a:bodyPr wrap="square" rtlCol="0" anchor="ctr"/>
          <a:lstStyle/>
          <a:p>
            <a:pPr algn="ctr" indent="0" marL="0">
              <a:lnSpc>
                <a:spcPct val="150000"/>
              </a:lnSpc>
              <a:buNone/>
            </a:pPr>
            <a:r>
              <a:rPr lang="en-US" sz="1400" dirty="0">
                <a:solidFill>
                  <a:srgbClr val="D4AF37"/>
                </a:solidFill>
                <a:latin typeface="Calibri" pitchFamily="34" charset="0"/>
                <a:ea typeface="Calibri" pitchFamily="34" charset="-122"/>
                <a:cs typeface="Calibri" pitchFamily="34" charset="-120"/>
              </a:rPr>
              <a:t>They happen whether we study them or not.</a:t>
            </a:r>
            <a:endParaRPr lang="en-US" sz="1400" dirty="0"/>
          </a:p>
          <a:p>
            <a:pPr algn="ctr" indent="0" marL="0">
              <a:lnSpc>
                <a:spcPct val="150000"/>
              </a:lnSpc>
              <a:buNone/>
            </a:pPr>
            <a:r>
              <a:rPr lang="en-US" sz="1400" dirty="0">
                <a:solidFill>
                  <a:srgbClr val="D4AF37"/>
                </a:solidFill>
                <a:latin typeface="Calibri" pitchFamily="34" charset="0"/>
                <a:ea typeface="Calibri" pitchFamily="34" charset="-122"/>
                <a:cs typeface="Calibri" pitchFamily="34" charset="-120"/>
              </a:rPr>
              <a:t>The historian's job — and the citizen's job — is to look honestly at all of them.</a:t>
            </a:r>
            <a:endParaRPr lang="en-US" sz="1400" dirty="0"/>
          </a:p>
        </p:txBody>
      </p:sp>
      <p:sp>
        <p:nvSpPr>
          <p:cNvPr id="6" name="Shape 4"/>
          <p:cNvSpPr/>
          <p:nvPr/>
        </p:nvSpPr>
        <p:spPr>
          <a:xfrm>
            <a:off x="402336" y="2578608"/>
            <a:ext cx="8339328" cy="420624"/>
          </a:xfrm>
          <a:prstGeom prst="roundRect">
            <a:avLst>
              <a:gd name="adj" fmla="val 19565"/>
            </a:avLst>
          </a:prstGeom>
          <a:solidFill>
            <a:srgbClr val="1A8A7D">
              <a:alpha val="78000"/>
            </a:srgbClr>
          </a:solidFill>
          <a:ln w="19050">
            <a:solidFill>
              <a:srgbClr val="34B0A0"/>
            </a:solidFill>
            <a:prstDash val="solid"/>
          </a:ln>
        </p:spPr>
      </p:sp>
      <p:sp>
        <p:nvSpPr>
          <p:cNvPr id="7" name="Text 5"/>
          <p:cNvSpPr/>
          <p:nvPr/>
        </p:nvSpPr>
        <p:spPr>
          <a:xfrm>
            <a:off x="566928" y="2578608"/>
            <a:ext cx="801014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 the Chat: What is the MOST IMPORTANT consequence of exploration — and why?</a:t>
            </a:r>
            <a:endParaRPr lang="en-US" sz="1300" dirty="0"/>
          </a:p>
        </p:txBody>
      </p:sp>
      <p:sp>
        <p:nvSpPr>
          <p:cNvPr id="8" name="Shape 6"/>
          <p:cNvSpPr/>
          <p:nvPr/>
        </p:nvSpPr>
        <p:spPr>
          <a:xfrm>
            <a:off x="1014984" y="4645152"/>
            <a:ext cx="164592" cy="256032"/>
          </a:xfrm>
          <a:prstGeom prst="ellipse">
            <a:avLst/>
          </a:prstGeom>
          <a:solidFill>
            <a:srgbClr val="D4AF37"/>
          </a:solidFill>
          <a:ln w="12700">
            <a:solidFill>
              <a:srgbClr val="333333"/>
            </a:solidFill>
            <a:prstDash val="solid"/>
          </a:ln>
        </p:spPr>
      </p:sp>
      <p:sp>
        <p:nvSpPr>
          <p:cNvPr id="9" name="Shape 7"/>
          <p:cNvSpPr/>
          <p:nvPr/>
        </p:nvSpPr>
        <p:spPr>
          <a:xfrm>
            <a:off x="7964424" y="4645152"/>
            <a:ext cx="164592" cy="256032"/>
          </a:xfrm>
          <a:prstGeom prst="ellipse">
            <a:avLst/>
          </a:prstGeom>
          <a:solidFill>
            <a:srgbClr val="D4AF37"/>
          </a:solidFill>
          <a:ln w="12700">
            <a:solidFill>
              <a:srgbClr val="333333"/>
            </a:solidFill>
            <a:prstDash val="solid"/>
          </a:ln>
        </p:spPr>
      </p:sp>
      <p:sp>
        <p:nvSpPr>
          <p:cNvPr id="10" name="Shape 8"/>
          <p:cNvSpPr/>
          <p:nvPr/>
        </p:nvSpPr>
        <p:spPr>
          <a:xfrm>
            <a:off x="1097280" y="4773168"/>
            <a:ext cx="6949440" cy="0"/>
          </a:xfrm>
          <a:prstGeom prst="line">
            <a:avLst/>
          </a:prstGeom>
          <a:noFill/>
          <a:ln w="31750">
            <a:solidFill>
              <a:srgbClr val="D4AF37"/>
            </a:solidFill>
            <a:prstDash val="solid"/>
          </a:ln>
        </p:spPr>
      </p:sp>
      <p:sp>
        <p:nvSpPr>
          <p:cNvPr id="11" name="Text 9"/>
          <p:cNvSpPr/>
          <p:nvPr/>
        </p:nvSpPr>
        <p:spPr>
          <a:xfrm>
            <a:off x="457200" y="4572000"/>
            <a:ext cx="8229600" cy="384048"/>
          </a:xfrm>
          <a:prstGeom prst="rect">
            <a:avLst/>
          </a:prstGeom>
          <a:noFill/>
          <a:ln/>
        </p:spPr>
        <p:txBody>
          <a:bodyPr wrap="square" lIns="0" tIns="0" rIns="0" bIns="0" rtlCol="0" anchor="ctr"/>
          <a:lstStyle/>
          <a:p>
            <a:pPr algn="ctr" indent="0" marL="0">
              <a:buNone/>
            </a:pPr>
            <a:r>
              <a:rPr lang="en-US" sz="1150" i="1" dirty="0">
                <a:solidFill>
                  <a:srgbClr val="7A88A8"/>
                </a:solidFill>
                <a:latin typeface="Calibri" pitchFamily="34" charset="0"/>
                <a:ea typeface="Calibri" pitchFamily="34" charset="-122"/>
                <a:cs typeface="Calibri" pitchFamily="34" charset="-120"/>
              </a:rPr>
              <a:t>Next lesson: The Explorer Evidence Chart — putting it all together.</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G3 SS 3.02.05 — Consequences of Exploration</dc:title>
  <dc:subject>PptxGenJS Presentation</dc:subject>
  <dc:creator>PptxGenJS</dc:creator>
  <cp:lastModifiedBy>PptxGenJS</cp:lastModifiedBy>
  <cp:revision>1</cp:revision>
  <dcterms:created xsi:type="dcterms:W3CDTF">2026-07-06T23:18:23Z</dcterms:created>
  <dcterms:modified xsi:type="dcterms:W3CDTF">2026-07-06T23:18:23Z</dcterms:modified>
</cp:coreProperties>
</file>