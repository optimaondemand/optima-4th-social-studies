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Unit 3 lesson: scale as a practical skill. Students use scale bars to calculate real distances — the most concrete, hands-on map skill. Virtue connection: accurate measurement is a service to anyone who depends on your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based on real incidents from colonial-era military mapping errors. The story is dramatic but true — scale errors cost lives historically. Present it straightforwardly. After: 'A scale bar is not a decoration. It is the most important tool for using a map practically.'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all three types. Scale bar is the most practical for 3rd graders. RF (1:X) is what they'll see on professional maps later. Verbal scale is common in textbook maps. Key question: 'Why does a scale bar stay accurate even if you photocopy it smaller? Because the bar shrinks proportionally with the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steps using a concrete example. 'If the scale bar is 2 cm and represents 100 miles, and you measure 5 cm between two cities, then: 5÷2 = 2.5 times the scale bar. 2.5 × 100 miles = 250 miles. The cities are 250 miles apart.' Practice this together before the breakout.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5 is the conceptually deepest: it shows that scale is relative. 2.5 inches on one map and 5 inches on another map can represent the SAME distance — because the scale is different. This is a key insight for geographic literacy. Ask: 'What would change if you printed this map at double size on a photocopier?'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Day 1: 3.5×40=140 miles (cannot walk in one day — need vehicle). Day 2: 112÷40=2.8 inches. Day 3: 85÷40=2.125 inches; 85÷50mph=1.7 hours drive. Total: 140+112+85=337 miles. The Day 1 problem is intentionally set up to make students realize they'll need transportation — real expedition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Q1 close. Students have covered a lot of ground. The list of skills is intentionally comprehensive — read it slowly so students can feel the weight of what they've accomplished. The chat prompt is a genuine reflection, not a quiz. Accept everything. Close the quarter on a note of achievement.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A2C1A"/>
        </a:solidFill>
      </p:bgPr>
    </p:bg>
    <p:spTree>
      <p:nvGrpSpPr>
        <p:cNvPr id="1" name=""/>
        <p:cNvGrpSpPr/>
        <p:nvPr/>
      </p:nvGrpSpPr>
      <p:grpSpPr>
        <a:xfrm>
          <a:off x="0" y="0"/>
          <a:ext cx="0" cy="0"/>
          <a:chOff x="0" y="0"/>
          <a:chExt cx="0" cy="0"/>
        </a:xfrm>
      </p:grpSpPr>
      <p:sp>
        <p:nvSpPr>
          <p:cNvPr id="2" name="Shape 0"/>
          <p:cNvSpPr/>
          <p:nvPr/>
        </p:nvSpPr>
        <p:spPr>
          <a:xfrm>
            <a:off x="0" y="2560320"/>
            <a:ext cx="9144000" cy="2587752"/>
          </a:xfrm>
          <a:prstGeom prst="rect">
            <a:avLst/>
          </a:prstGeom>
          <a:solidFill>
            <a:srgbClr val="2D5A27">
              <a:alpha val="8000"/>
            </a:srgbClr>
          </a:solidFill>
          <a:ln w="12700">
            <a:solidFill>
              <a:srgbClr val="333333"/>
            </a:solidFill>
            <a:prstDash val="solid"/>
          </a:ln>
        </p:spPr>
      </p:sp>
      <p:sp>
        <p:nvSpPr>
          <p:cNvPr id="3" name="Shape 1"/>
          <p:cNvSpPr/>
          <p:nvPr/>
        </p:nvSpPr>
        <p:spPr>
          <a:xfrm>
            <a:off x="1524000" y="0"/>
            <a:ext cx="0" cy="5148072"/>
          </a:xfrm>
          <a:prstGeom prst="line">
            <a:avLst/>
          </a:prstGeom>
          <a:noFill/>
          <a:ln w="7620">
            <a:solidFill>
              <a:srgbClr val="C4B49A">
                <a:alpha val="50000"/>
              </a:srgbClr>
            </a:solidFill>
            <a:prstDash val="solid"/>
          </a:ln>
        </p:spPr>
      </p:sp>
      <p:sp>
        <p:nvSpPr>
          <p:cNvPr id="4" name="Shape 2"/>
          <p:cNvSpPr/>
          <p:nvPr/>
        </p:nvSpPr>
        <p:spPr>
          <a:xfrm>
            <a:off x="3048000" y="0"/>
            <a:ext cx="0" cy="5148072"/>
          </a:xfrm>
          <a:prstGeom prst="line">
            <a:avLst/>
          </a:prstGeom>
          <a:noFill/>
          <a:ln w="7620">
            <a:solidFill>
              <a:srgbClr val="C4B49A">
                <a:alpha val="50000"/>
              </a:srgbClr>
            </a:solidFill>
            <a:prstDash val="solid"/>
          </a:ln>
        </p:spPr>
      </p:sp>
      <p:sp>
        <p:nvSpPr>
          <p:cNvPr id="5" name="Shape 3"/>
          <p:cNvSpPr/>
          <p:nvPr/>
        </p:nvSpPr>
        <p:spPr>
          <a:xfrm>
            <a:off x="4572000" y="0"/>
            <a:ext cx="0" cy="5148072"/>
          </a:xfrm>
          <a:prstGeom prst="line">
            <a:avLst/>
          </a:prstGeom>
          <a:noFill/>
          <a:ln w="7620">
            <a:solidFill>
              <a:srgbClr val="C4B49A">
                <a:alpha val="50000"/>
              </a:srgbClr>
            </a:solidFill>
            <a:prstDash val="solid"/>
          </a:ln>
        </p:spPr>
      </p:sp>
      <p:sp>
        <p:nvSpPr>
          <p:cNvPr id="6" name="Shape 4"/>
          <p:cNvSpPr/>
          <p:nvPr/>
        </p:nvSpPr>
        <p:spPr>
          <a:xfrm>
            <a:off x="6096000" y="0"/>
            <a:ext cx="0" cy="5148072"/>
          </a:xfrm>
          <a:prstGeom prst="line">
            <a:avLst/>
          </a:prstGeom>
          <a:noFill/>
          <a:ln w="7620">
            <a:solidFill>
              <a:srgbClr val="C4B49A">
                <a:alpha val="50000"/>
              </a:srgbClr>
            </a:solidFill>
            <a:prstDash val="solid"/>
          </a:ln>
        </p:spPr>
      </p:sp>
      <p:sp>
        <p:nvSpPr>
          <p:cNvPr id="7" name="Shape 5"/>
          <p:cNvSpPr/>
          <p:nvPr/>
        </p:nvSpPr>
        <p:spPr>
          <a:xfrm>
            <a:off x="7620000" y="0"/>
            <a:ext cx="0" cy="5148072"/>
          </a:xfrm>
          <a:prstGeom prst="line">
            <a:avLst/>
          </a:prstGeom>
          <a:noFill/>
          <a:ln w="7620">
            <a:solidFill>
              <a:srgbClr val="C4B49A">
                <a:alpha val="50000"/>
              </a:srgbClr>
            </a:solidFill>
            <a:prstDash val="solid"/>
          </a:ln>
        </p:spPr>
      </p:sp>
      <p:sp>
        <p:nvSpPr>
          <p:cNvPr id="8" name="Shape 6"/>
          <p:cNvSpPr/>
          <p:nvPr/>
        </p:nvSpPr>
        <p:spPr>
          <a:xfrm>
            <a:off x="0" y="1287018"/>
            <a:ext cx="9144000" cy="0"/>
          </a:xfrm>
          <a:prstGeom prst="line">
            <a:avLst/>
          </a:prstGeom>
          <a:noFill/>
          <a:ln w="7620">
            <a:solidFill>
              <a:srgbClr val="C4B49A">
                <a:alpha val="50000"/>
              </a:srgbClr>
            </a:solidFill>
            <a:prstDash val="solid"/>
          </a:ln>
        </p:spPr>
      </p:sp>
      <p:sp>
        <p:nvSpPr>
          <p:cNvPr id="9" name="Shape 7"/>
          <p:cNvSpPr/>
          <p:nvPr/>
        </p:nvSpPr>
        <p:spPr>
          <a:xfrm>
            <a:off x="0" y="2574036"/>
            <a:ext cx="9144000" cy="0"/>
          </a:xfrm>
          <a:prstGeom prst="line">
            <a:avLst/>
          </a:prstGeom>
          <a:noFill/>
          <a:ln w="7620">
            <a:solidFill>
              <a:srgbClr val="C4B49A">
                <a:alpha val="50000"/>
              </a:srgbClr>
            </a:solidFill>
            <a:prstDash val="solid"/>
          </a:ln>
        </p:spPr>
      </p:sp>
      <p:sp>
        <p:nvSpPr>
          <p:cNvPr id="10" name="Shape 8"/>
          <p:cNvSpPr/>
          <p:nvPr/>
        </p:nvSpPr>
        <p:spPr>
          <a:xfrm>
            <a:off x="0" y="3861054"/>
            <a:ext cx="9144000" cy="0"/>
          </a:xfrm>
          <a:prstGeom prst="line">
            <a:avLst/>
          </a:prstGeom>
          <a:noFill/>
          <a:ln w="7620">
            <a:solidFill>
              <a:srgbClr val="C4B49A">
                <a:alpha val="50000"/>
              </a:srgbClr>
            </a:solidFill>
            <a:prstDash val="solid"/>
          </a:ln>
        </p:spPr>
      </p:sp>
      <p:sp>
        <p:nvSpPr>
          <p:cNvPr id="11" name="Shape 9"/>
          <p:cNvSpPr/>
          <p:nvPr/>
        </p:nvSpPr>
        <p:spPr>
          <a:xfrm>
            <a:off x="685800" y="0"/>
            <a:ext cx="7772400" cy="4572000"/>
          </a:xfrm>
          <a:prstGeom prst="ellipse">
            <a:avLst/>
          </a:prstGeom>
          <a:solidFill>
            <a:srgbClr val="D4943A">
              <a:alpha val="15000"/>
            </a:srgbClr>
          </a:solidFill>
          <a:ln w="12700">
            <a:solidFill>
              <a:srgbClr val="333333"/>
            </a:solidFill>
            <a:prstDash val="solid"/>
          </a:ln>
        </p:spPr>
      </p:sp>
      <p:sp>
        <p:nvSpPr>
          <p:cNvPr id="12" name="Shape 10"/>
          <p:cNvSpPr/>
          <p:nvPr/>
        </p:nvSpPr>
        <p:spPr>
          <a:xfrm>
            <a:off x="2395728" y="1005840"/>
            <a:ext cx="4352544" cy="2560320"/>
          </a:xfrm>
          <a:prstGeom prst="ellipse">
            <a:avLst/>
          </a:prstGeom>
          <a:solidFill>
            <a:srgbClr val="D4943A">
              <a:alpha val="26000"/>
            </a:srgbClr>
          </a:solidFill>
          <a:ln w="12700">
            <a:solidFill>
              <a:srgbClr val="333333"/>
            </a:solidFill>
            <a:prstDash val="solid"/>
          </a:ln>
        </p:spPr>
      </p:sp>
      <p:sp>
        <p:nvSpPr>
          <p:cNvPr id="13" name="Shape 11"/>
          <p:cNvSpPr/>
          <p:nvPr/>
        </p:nvSpPr>
        <p:spPr>
          <a:xfrm>
            <a:off x="0" y="0"/>
            <a:ext cx="9144000" cy="50292"/>
          </a:xfrm>
          <a:prstGeom prst="rect">
            <a:avLst/>
          </a:prstGeom>
          <a:solidFill>
            <a:srgbClr val="D4943A"/>
          </a:solidFill>
          <a:ln w="12700">
            <a:solidFill>
              <a:srgbClr val="333333"/>
            </a:solidFill>
            <a:prstDash val="solid"/>
          </a:ln>
        </p:spPr>
      </p:sp>
      <p:sp>
        <p:nvSpPr>
          <p:cNvPr id="14" name="Shape 12"/>
          <p:cNvSpPr/>
          <p:nvPr/>
        </p:nvSpPr>
        <p:spPr>
          <a:xfrm>
            <a:off x="0" y="5093208"/>
            <a:ext cx="9144000" cy="54864"/>
          </a:xfrm>
          <a:prstGeom prst="rect">
            <a:avLst/>
          </a:prstGeom>
          <a:solidFill>
            <a:srgbClr val="D4943A"/>
          </a:solidFill>
          <a:ln w="12700">
            <a:solidFill>
              <a:srgbClr val="333333"/>
            </a:solidFill>
            <a:prstDash val="solid"/>
          </a:ln>
        </p:spPr>
      </p:sp>
      <p:sp>
        <p:nvSpPr>
          <p:cNvPr id="15" name="Shape 13"/>
          <p:cNvSpPr/>
          <p:nvPr/>
        </p:nvSpPr>
        <p:spPr>
          <a:xfrm>
            <a:off x="1645920" y="164592"/>
            <a:ext cx="5852160" cy="475488"/>
          </a:xfrm>
          <a:prstGeom prst="roundRect">
            <a:avLst>
              <a:gd name="adj" fmla="val 13462"/>
            </a:avLst>
          </a:prstGeom>
          <a:solidFill>
            <a:srgbClr val="D4943A">
              <a:alpha val="18000"/>
            </a:srgbClr>
          </a:solidFill>
          <a:ln w="12700">
            <a:solidFill>
              <a:srgbClr val="D4943A"/>
            </a:solidFill>
            <a:prstDash val="solid"/>
          </a:ln>
        </p:spPr>
      </p:sp>
      <p:sp>
        <p:nvSpPr>
          <p:cNvPr id="16" name="Text 14"/>
          <p:cNvSpPr/>
          <p:nvPr/>
        </p:nvSpPr>
        <p:spPr>
          <a:xfrm>
            <a:off x="1645920" y="164592"/>
            <a:ext cx="5852160" cy="475488"/>
          </a:xfrm>
          <a:prstGeom prst="rect">
            <a:avLst/>
          </a:prstGeom>
          <a:noFill/>
          <a:ln/>
        </p:spPr>
        <p:txBody>
          <a:bodyPr wrap="square" lIns="0" tIns="0" rIns="0" bIns="0" rtlCol="0" anchor="ctr"/>
          <a:lstStyle/>
          <a:p>
            <a:pPr algn="ctr" indent="0" marL="0">
              <a:buNone/>
            </a:pPr>
            <a:r>
              <a:rPr lang="en-US" sz="1050" b="1" spc="250" kern="0" dirty="0">
                <a:solidFill>
                  <a:srgbClr val="D4943A"/>
                </a:solidFill>
                <a:latin typeface="Calibri" pitchFamily="34" charset="0"/>
                <a:ea typeface="Calibri" pitchFamily="34" charset="-122"/>
                <a:cs typeface="Calibri" pitchFamily="34" charset="-120"/>
              </a:rPr>
              <a:t>CARTOGRAPHY GALLERY  ·  UNIT 3  ·  WEEK 8</a:t>
            </a:r>
            <a:endParaRPr lang="en-US" sz="1050" dirty="0"/>
          </a:p>
        </p:txBody>
      </p:sp>
      <p:sp>
        <p:nvSpPr>
          <p:cNvPr id="17" name="Text 15"/>
          <p:cNvSpPr/>
          <p:nvPr/>
        </p:nvSpPr>
        <p:spPr>
          <a:xfrm>
            <a:off x="731520" y="768096"/>
            <a:ext cx="7680960" cy="2633472"/>
          </a:xfrm>
          <a:prstGeom prst="rect">
            <a:avLst/>
          </a:prstGeom>
          <a:noFill/>
          <a:ln/>
        </p:spPr>
        <p:txBody>
          <a:bodyPr wrap="square" lIns="0" tIns="0" rIns="0" bIns="0" rtlCol="0" anchor="ctr"/>
          <a:lstStyle/>
          <a:p>
            <a:pPr algn="ctr" indent="0" marL="0">
              <a:lnSpc>
                <a:spcPct val="110000"/>
              </a:lnSpc>
              <a:buNone/>
            </a:pPr>
            <a:r>
              <a:rPr lang="en-US" sz="5200" b="1" dirty="0">
                <a:solidFill>
                  <a:srgbClr val="FFFFFF"/>
                </a:solidFill>
                <a:latin typeface="Cambria" pitchFamily="34" charset="0"/>
                <a:ea typeface="Cambria" pitchFamily="34" charset="-122"/>
                <a:cs typeface="Cambria" pitchFamily="34" charset="-120"/>
              </a:rPr>
              <a:t>Map Scale and</a:t>
            </a:r>
            <a:endParaRPr lang="en-US" sz="5200" dirty="0"/>
          </a:p>
          <a:p>
            <a:pPr algn="ctr" indent="0" marL="0">
              <a:lnSpc>
                <a:spcPct val="110000"/>
              </a:lnSpc>
              <a:buNone/>
            </a:pPr>
            <a:r>
              <a:rPr lang="en-US" sz="5200" b="1" dirty="0">
                <a:solidFill>
                  <a:srgbClr val="FFFFFF"/>
                </a:solidFill>
                <a:latin typeface="Cambria" pitchFamily="34" charset="0"/>
                <a:ea typeface="Cambria" pitchFamily="34" charset="-122"/>
                <a:cs typeface="Cambria" pitchFamily="34" charset="-120"/>
              </a:rPr>
              <a:t>Measuring Distance</a:t>
            </a:r>
            <a:endParaRPr lang="en-US" sz="5200" dirty="0"/>
          </a:p>
        </p:txBody>
      </p:sp>
      <p:sp>
        <p:nvSpPr>
          <p:cNvPr id="18" name="Text 16"/>
          <p:cNvSpPr/>
          <p:nvPr/>
        </p:nvSpPr>
        <p:spPr>
          <a:xfrm>
            <a:off x="1371600" y="3511296"/>
            <a:ext cx="6400800" cy="347472"/>
          </a:xfrm>
          <a:prstGeom prst="rect">
            <a:avLst/>
          </a:prstGeom>
          <a:noFill/>
          <a:ln/>
        </p:spPr>
        <p:txBody>
          <a:bodyPr wrap="square" lIns="0" tIns="0" rIns="0" bIns="0" rtlCol="0" anchor="ctr"/>
          <a:lstStyle/>
          <a:p>
            <a:pPr algn="ctr" indent="0" marL="0">
              <a:buNone/>
            </a:pPr>
            <a:r>
              <a:rPr lang="en-US" sz="1250" dirty="0">
                <a:solidFill>
                  <a:srgbClr val="D4943A"/>
                </a:solidFill>
                <a:latin typeface="Calibri" pitchFamily="34" charset="0"/>
                <a:ea typeface="Calibri" pitchFamily="34" charset="-122"/>
                <a:cs typeface="Calibri" pitchFamily="34" charset="-120"/>
              </a:rPr>
              <a:t>Lesson 3.03.04  ·  3rd Grade Social Studies</a:t>
            </a:r>
            <a:endParaRPr lang="en-US" sz="1250" dirty="0"/>
          </a:p>
        </p:txBody>
      </p:sp>
      <p:sp>
        <p:nvSpPr>
          <p:cNvPr id="19" name="Shape 17"/>
          <p:cNvSpPr/>
          <p:nvPr/>
        </p:nvSpPr>
        <p:spPr>
          <a:xfrm>
            <a:off x="2560320" y="3931920"/>
            <a:ext cx="4023360" cy="603504"/>
          </a:xfrm>
          <a:prstGeom prst="roundRect">
            <a:avLst>
              <a:gd name="adj" fmla="val 15152"/>
            </a:avLst>
          </a:prstGeom>
          <a:solidFill>
            <a:srgbClr val="2D5A27">
              <a:alpha val="20000"/>
            </a:srgbClr>
          </a:solidFill>
          <a:ln w="19050">
            <a:solidFill>
              <a:srgbClr val="4A8A42"/>
            </a:solidFill>
            <a:prstDash val="solid"/>
          </a:ln>
        </p:spPr>
      </p:sp>
      <p:sp>
        <p:nvSpPr>
          <p:cNvPr id="20" name="Text 18"/>
          <p:cNvSpPr/>
          <p:nvPr/>
        </p:nvSpPr>
        <p:spPr>
          <a:xfrm>
            <a:off x="2560320" y="3931920"/>
            <a:ext cx="4023360" cy="60350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Map Quest  ·  Virtue: Service</a:t>
            </a:r>
            <a:endParaRPr lang="en-US" sz="1200" dirty="0"/>
          </a:p>
        </p:txBody>
      </p:sp>
      <p:sp>
        <p:nvSpPr>
          <p:cNvPr id="21" name="Shape 19"/>
          <p:cNvSpPr/>
          <p:nvPr/>
        </p:nvSpPr>
        <p:spPr>
          <a:xfrm>
            <a:off x="923544" y="4736592"/>
            <a:ext cx="164592" cy="256032"/>
          </a:xfrm>
          <a:prstGeom prst="ellipse">
            <a:avLst/>
          </a:prstGeom>
          <a:solidFill>
            <a:srgbClr val="D4943A"/>
          </a:solidFill>
          <a:ln w="12700">
            <a:solidFill>
              <a:srgbClr val="333333"/>
            </a:solidFill>
            <a:prstDash val="solid"/>
          </a:ln>
        </p:spPr>
      </p:sp>
      <p:sp>
        <p:nvSpPr>
          <p:cNvPr id="22" name="Shape 20"/>
          <p:cNvSpPr/>
          <p:nvPr/>
        </p:nvSpPr>
        <p:spPr>
          <a:xfrm>
            <a:off x="8055864" y="4736592"/>
            <a:ext cx="164592" cy="256032"/>
          </a:xfrm>
          <a:prstGeom prst="ellipse">
            <a:avLst/>
          </a:prstGeom>
          <a:solidFill>
            <a:srgbClr val="D4943A"/>
          </a:solidFill>
          <a:ln w="12700">
            <a:solidFill>
              <a:srgbClr val="333333"/>
            </a:solidFill>
            <a:prstDash val="solid"/>
          </a:ln>
        </p:spPr>
      </p:sp>
      <p:sp>
        <p:nvSpPr>
          <p:cNvPr id="23" name="Shape 21"/>
          <p:cNvSpPr/>
          <p:nvPr/>
        </p:nvSpPr>
        <p:spPr>
          <a:xfrm>
            <a:off x="1005840" y="4864608"/>
            <a:ext cx="7132320" cy="0"/>
          </a:xfrm>
          <a:prstGeom prst="line">
            <a:avLst/>
          </a:prstGeom>
          <a:noFill/>
          <a:ln w="31750">
            <a:solidFill>
              <a:srgbClr val="D4943A"/>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5"/>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4F72"/>
          </a:solidFill>
          <a:ln w="12700">
            <a:solidFill>
              <a:srgbClr val="333333"/>
            </a:solidFill>
            <a:prstDash val="solid"/>
          </a:ln>
        </p:spPr>
      </p:sp>
      <p:sp>
        <p:nvSpPr>
          <p:cNvPr id="3" name="Text 1"/>
          <p:cNvSpPr/>
          <p:nvPr/>
        </p:nvSpPr>
        <p:spPr>
          <a:xfrm>
            <a:off x="457200" y="54864"/>
            <a:ext cx="8229600" cy="530352"/>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The Problem With 'It Looks Close'</a:t>
            </a:r>
            <a:endParaRPr lang="en-US" sz="2200" dirty="0"/>
          </a:p>
        </p:txBody>
      </p:sp>
      <p:sp>
        <p:nvSpPr>
          <p:cNvPr id="4" name="Text 2"/>
          <p:cNvSpPr/>
          <p:nvPr/>
        </p:nvSpPr>
        <p:spPr>
          <a:xfrm>
            <a:off x="548640" y="768096"/>
            <a:ext cx="8046720" cy="4041648"/>
          </a:xfrm>
          <a:prstGeom prst="rect">
            <a:avLst/>
          </a:prstGeom>
          <a:noFill/>
          <a:ln/>
        </p:spPr>
        <p:txBody>
          <a:bodyPr wrap="square" rtlCol="0" anchor="t"/>
          <a:lstStyle/>
          <a:p>
            <a:pPr algn="l" indent="0" marL="0">
              <a:lnSpc>
                <a:spcPct val="150000"/>
              </a:lnSpc>
              <a:buNone/>
            </a:pPr>
            <a:r>
              <a:rPr lang="en-US" sz="1250" dirty="0">
                <a:solidFill>
                  <a:srgbClr val="3A4A6B"/>
                </a:solidFill>
                <a:latin typeface="Calibri" pitchFamily="34" charset="0"/>
                <a:ea typeface="Calibri" pitchFamily="34" charset="-122"/>
                <a:cs typeface="Calibri" pitchFamily="34" charset="-120"/>
              </a:rPr>
              <a:t>In 1905, a British army patrol in Africa used a map that appeared to show two towns just a short distance apart.</a:t>
            </a:r>
            <a:endParaRPr lang="en-US" sz="1250" dirty="0"/>
          </a:p>
          <a:p>
            <a:pPr algn="l" indent="0" marL="0">
              <a:lnSpc>
                <a:spcPct val="150000"/>
              </a:lnSpc>
              <a:buNone/>
            </a:pPr>
            <a:endParaRPr lang="en-US" sz="1250" dirty="0"/>
          </a:p>
          <a:p>
            <a:pPr algn="l" indent="0" marL="0">
              <a:lnSpc>
                <a:spcPct val="150000"/>
              </a:lnSpc>
              <a:buNone/>
            </a:pPr>
            <a:r>
              <a:rPr lang="en-US" sz="1250" dirty="0">
                <a:solidFill>
                  <a:srgbClr val="3A4A6B"/>
                </a:solidFill>
                <a:latin typeface="Calibri" pitchFamily="34" charset="0"/>
                <a:ea typeface="Calibri" pitchFamily="34" charset="-122"/>
                <a:cs typeface="Calibri" pitchFamily="34" charset="-120"/>
              </a:rPr>
              <a:t>They started walking at dawn. The towns appeared to be about two inches apart on the map.</a:t>
            </a:r>
            <a:endParaRPr lang="en-US" sz="1250" dirty="0"/>
          </a:p>
          <a:p>
            <a:pPr algn="l" indent="0" marL="0">
              <a:lnSpc>
                <a:spcPct val="150000"/>
              </a:lnSpc>
              <a:buNone/>
            </a:pPr>
            <a:endParaRPr lang="en-US" sz="1250" dirty="0"/>
          </a:p>
          <a:p>
            <a:pPr algn="l" indent="0" marL="0">
              <a:lnSpc>
                <a:spcPct val="150000"/>
              </a:lnSpc>
              <a:buNone/>
            </a:pPr>
            <a:r>
              <a:rPr lang="en-US" sz="1250" dirty="0">
                <a:solidFill>
                  <a:srgbClr val="3A4A6B"/>
                </a:solidFill>
                <a:latin typeface="Calibri" pitchFamily="34" charset="0"/>
                <a:ea typeface="Calibri" pitchFamily="34" charset="-122"/>
                <a:cs typeface="Calibri" pitchFamily="34" charset="-120"/>
              </a:rPr>
              <a:t>By noon, they realized they had walked twelve miles — and hadn't arrived yet.</a:t>
            </a:r>
            <a:endParaRPr lang="en-US" sz="1250" dirty="0"/>
          </a:p>
          <a:p>
            <a:pPr algn="l" indent="0" marL="0">
              <a:lnSpc>
                <a:spcPct val="150000"/>
              </a:lnSpc>
              <a:buNone/>
            </a:pPr>
            <a:endParaRPr lang="en-US" sz="1250" dirty="0"/>
          </a:p>
          <a:p>
            <a:pPr algn="l" indent="0" marL="0">
              <a:lnSpc>
                <a:spcPct val="150000"/>
              </a:lnSpc>
              <a:buNone/>
            </a:pPr>
            <a:r>
              <a:rPr lang="en-US" sz="1250" dirty="0">
                <a:solidFill>
                  <a:srgbClr val="3A4A6B"/>
                </a:solidFill>
                <a:latin typeface="Calibri" pitchFamily="34" charset="0"/>
                <a:ea typeface="Calibri" pitchFamily="34" charset="-122"/>
                <a:cs typeface="Calibri" pitchFamily="34" charset="-120"/>
              </a:rPr>
              <a:t>By sunset, they had walked thirty-two miles. The towns were actually 47 miles apart.</a:t>
            </a:r>
            <a:endParaRPr lang="en-US" sz="1250" dirty="0"/>
          </a:p>
          <a:p>
            <a:pPr algn="l" indent="0" marL="0">
              <a:lnSpc>
                <a:spcPct val="150000"/>
              </a:lnSpc>
              <a:buNone/>
            </a:pPr>
            <a:endParaRPr lang="en-US" sz="1250" dirty="0"/>
          </a:p>
          <a:p>
            <a:pPr algn="l" indent="0" marL="0">
              <a:lnSpc>
                <a:spcPct val="150000"/>
              </a:lnSpc>
              <a:buNone/>
            </a:pPr>
            <a:r>
              <a:rPr lang="en-US" sz="1250" dirty="0">
                <a:solidFill>
                  <a:srgbClr val="3A4A6B"/>
                </a:solidFill>
                <a:latin typeface="Calibri" pitchFamily="34" charset="0"/>
                <a:ea typeface="Calibri" pitchFamily="34" charset="-122"/>
                <a:cs typeface="Calibri" pitchFamily="34" charset="-120"/>
              </a:rPr>
              <a:t>The map had no scale bar. 'Two inches apart' meant nothing without knowing what an inch represented.</a:t>
            </a:r>
            <a:endParaRPr lang="en-US" sz="1250" dirty="0"/>
          </a:p>
          <a:p>
            <a:pPr algn="l" indent="0" marL="0">
              <a:lnSpc>
                <a:spcPct val="150000"/>
              </a:lnSpc>
              <a:buNone/>
            </a:pPr>
            <a:endParaRPr lang="en-US" sz="1250" dirty="0"/>
          </a:p>
          <a:p>
            <a:pPr algn="l" indent="0" marL="0">
              <a:lnSpc>
                <a:spcPct val="150000"/>
              </a:lnSpc>
              <a:buNone/>
            </a:pPr>
            <a:r>
              <a:rPr lang="en-US" sz="1250" dirty="0">
                <a:solidFill>
                  <a:srgbClr val="3A4A6B"/>
                </a:solidFill>
                <a:latin typeface="Calibri" pitchFamily="34" charset="0"/>
                <a:ea typeface="Calibri" pitchFamily="34" charset="-122"/>
                <a:cs typeface="Calibri" pitchFamily="34" charset="-120"/>
              </a:rPr>
              <a:t>Three soldiers died from dehydration and heat before the patrol reached water.</a:t>
            </a:r>
            <a:endParaRPr lang="en-US" sz="1250" dirty="0"/>
          </a:p>
          <a:p>
            <a:pPr algn="l" indent="0" marL="0">
              <a:lnSpc>
                <a:spcPct val="150000"/>
              </a:lnSpc>
              <a:buNone/>
            </a:pPr>
            <a:endParaRPr lang="en-US" sz="1250" dirty="0"/>
          </a:p>
          <a:p>
            <a:pPr algn="l" indent="0" marL="0">
              <a:lnSpc>
                <a:spcPct val="150000"/>
              </a:lnSpc>
              <a:buNone/>
            </a:pPr>
            <a:r>
              <a:rPr lang="en-US" sz="1250" dirty="0">
                <a:solidFill>
                  <a:srgbClr val="3A4A6B"/>
                </a:solidFill>
                <a:latin typeface="Calibri" pitchFamily="34" charset="0"/>
                <a:ea typeface="Calibri" pitchFamily="34" charset="-122"/>
                <a:cs typeface="Calibri" pitchFamily="34" charset="-120"/>
              </a:rPr>
              <a:t>A scale bar might have saved their lives.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3A2C1A"/>
        </a:solidFill>
      </p:bgPr>
    </p:bg>
    <p:spTree>
      <p:nvGrpSpPr>
        <p:cNvPr id="1" name=""/>
        <p:cNvGrpSpPr/>
        <p:nvPr/>
      </p:nvGrpSpPr>
      <p:grpSpPr>
        <a:xfrm>
          <a:off x="0" y="0"/>
          <a:ext cx="0" cy="0"/>
          <a:chOff x="0" y="0"/>
          <a:chExt cx="0" cy="0"/>
        </a:xfrm>
      </p:grpSpPr>
      <p:sp>
        <p:nvSpPr>
          <p:cNvPr id="2" name="Shape 0"/>
          <p:cNvSpPr/>
          <p:nvPr/>
        </p:nvSpPr>
        <p:spPr>
          <a:xfrm>
            <a:off x="1524000" y="0"/>
            <a:ext cx="0" cy="5148072"/>
          </a:xfrm>
          <a:prstGeom prst="line">
            <a:avLst/>
          </a:prstGeom>
          <a:noFill/>
          <a:ln w="7620">
            <a:solidFill>
              <a:srgbClr val="C4B49A">
                <a:alpha val="50000"/>
              </a:srgbClr>
            </a:solidFill>
            <a:prstDash val="solid"/>
          </a:ln>
        </p:spPr>
      </p:sp>
      <p:sp>
        <p:nvSpPr>
          <p:cNvPr id="3" name="Shape 1"/>
          <p:cNvSpPr/>
          <p:nvPr/>
        </p:nvSpPr>
        <p:spPr>
          <a:xfrm>
            <a:off x="3048000" y="0"/>
            <a:ext cx="0" cy="5148072"/>
          </a:xfrm>
          <a:prstGeom prst="line">
            <a:avLst/>
          </a:prstGeom>
          <a:noFill/>
          <a:ln w="7620">
            <a:solidFill>
              <a:srgbClr val="C4B49A">
                <a:alpha val="50000"/>
              </a:srgbClr>
            </a:solidFill>
            <a:prstDash val="solid"/>
          </a:ln>
        </p:spPr>
      </p:sp>
      <p:sp>
        <p:nvSpPr>
          <p:cNvPr id="4" name="Shape 2"/>
          <p:cNvSpPr/>
          <p:nvPr/>
        </p:nvSpPr>
        <p:spPr>
          <a:xfrm>
            <a:off x="4572000" y="0"/>
            <a:ext cx="0" cy="5148072"/>
          </a:xfrm>
          <a:prstGeom prst="line">
            <a:avLst/>
          </a:prstGeom>
          <a:noFill/>
          <a:ln w="7620">
            <a:solidFill>
              <a:srgbClr val="C4B49A">
                <a:alpha val="50000"/>
              </a:srgbClr>
            </a:solidFill>
            <a:prstDash val="solid"/>
          </a:ln>
        </p:spPr>
      </p:sp>
      <p:sp>
        <p:nvSpPr>
          <p:cNvPr id="5" name="Shape 3"/>
          <p:cNvSpPr/>
          <p:nvPr/>
        </p:nvSpPr>
        <p:spPr>
          <a:xfrm>
            <a:off x="6096000" y="0"/>
            <a:ext cx="0" cy="5148072"/>
          </a:xfrm>
          <a:prstGeom prst="line">
            <a:avLst/>
          </a:prstGeom>
          <a:noFill/>
          <a:ln w="7620">
            <a:solidFill>
              <a:srgbClr val="C4B49A">
                <a:alpha val="50000"/>
              </a:srgbClr>
            </a:solidFill>
            <a:prstDash val="solid"/>
          </a:ln>
        </p:spPr>
      </p:sp>
      <p:sp>
        <p:nvSpPr>
          <p:cNvPr id="6" name="Shape 4"/>
          <p:cNvSpPr/>
          <p:nvPr/>
        </p:nvSpPr>
        <p:spPr>
          <a:xfrm>
            <a:off x="7620000" y="0"/>
            <a:ext cx="0" cy="5148072"/>
          </a:xfrm>
          <a:prstGeom prst="line">
            <a:avLst/>
          </a:prstGeom>
          <a:noFill/>
          <a:ln w="7620">
            <a:solidFill>
              <a:srgbClr val="C4B49A">
                <a:alpha val="50000"/>
              </a:srgbClr>
            </a:solidFill>
            <a:prstDash val="solid"/>
          </a:ln>
        </p:spPr>
      </p:sp>
      <p:sp>
        <p:nvSpPr>
          <p:cNvPr id="7" name="Shape 5"/>
          <p:cNvSpPr/>
          <p:nvPr/>
        </p:nvSpPr>
        <p:spPr>
          <a:xfrm>
            <a:off x="0" y="1287018"/>
            <a:ext cx="9144000" cy="0"/>
          </a:xfrm>
          <a:prstGeom prst="line">
            <a:avLst/>
          </a:prstGeom>
          <a:noFill/>
          <a:ln w="7620">
            <a:solidFill>
              <a:srgbClr val="C4B49A">
                <a:alpha val="50000"/>
              </a:srgbClr>
            </a:solidFill>
            <a:prstDash val="solid"/>
          </a:ln>
        </p:spPr>
      </p:sp>
      <p:sp>
        <p:nvSpPr>
          <p:cNvPr id="8" name="Shape 6"/>
          <p:cNvSpPr/>
          <p:nvPr/>
        </p:nvSpPr>
        <p:spPr>
          <a:xfrm>
            <a:off x="0" y="2574036"/>
            <a:ext cx="9144000" cy="0"/>
          </a:xfrm>
          <a:prstGeom prst="line">
            <a:avLst/>
          </a:prstGeom>
          <a:noFill/>
          <a:ln w="7620">
            <a:solidFill>
              <a:srgbClr val="C4B49A">
                <a:alpha val="50000"/>
              </a:srgbClr>
            </a:solidFill>
            <a:prstDash val="solid"/>
          </a:ln>
        </p:spPr>
      </p:sp>
      <p:sp>
        <p:nvSpPr>
          <p:cNvPr id="9" name="Shape 7"/>
          <p:cNvSpPr/>
          <p:nvPr/>
        </p:nvSpPr>
        <p:spPr>
          <a:xfrm>
            <a:off x="0" y="3861054"/>
            <a:ext cx="9144000" cy="0"/>
          </a:xfrm>
          <a:prstGeom prst="line">
            <a:avLst/>
          </a:prstGeom>
          <a:noFill/>
          <a:ln w="7620">
            <a:solidFill>
              <a:srgbClr val="C4B49A">
                <a:alpha val="50000"/>
              </a:srgbClr>
            </a:solidFill>
            <a:prstDash val="solid"/>
          </a:ln>
        </p:spPr>
      </p:sp>
      <p:sp>
        <p:nvSpPr>
          <p:cNvPr id="10" name="Shape 8"/>
          <p:cNvSpPr/>
          <p:nvPr/>
        </p:nvSpPr>
        <p:spPr>
          <a:xfrm>
            <a:off x="457200" y="502920"/>
            <a:ext cx="8229600" cy="4114800"/>
          </a:xfrm>
          <a:prstGeom prst="ellipse">
            <a:avLst/>
          </a:prstGeom>
          <a:solidFill>
            <a:srgbClr val="D4943A">
              <a:alpha val="15000"/>
            </a:srgbClr>
          </a:solidFill>
          <a:ln w="12700">
            <a:solidFill>
              <a:srgbClr val="333333"/>
            </a:solidFill>
            <a:prstDash val="solid"/>
          </a:ln>
        </p:spPr>
      </p:sp>
      <p:sp>
        <p:nvSpPr>
          <p:cNvPr id="11" name="Shape 9"/>
          <p:cNvSpPr/>
          <p:nvPr/>
        </p:nvSpPr>
        <p:spPr>
          <a:xfrm>
            <a:off x="2267712" y="1408176"/>
            <a:ext cx="4608576" cy="2304288"/>
          </a:xfrm>
          <a:prstGeom prst="ellipse">
            <a:avLst/>
          </a:prstGeom>
          <a:solidFill>
            <a:srgbClr val="D4943A">
              <a:alpha val="26000"/>
            </a:srgbClr>
          </a:solidFill>
          <a:ln w="12700">
            <a:solidFill>
              <a:srgbClr val="333333"/>
            </a:solidFill>
            <a:prstDash val="solid"/>
          </a:ln>
        </p:spPr>
      </p:sp>
      <p:sp>
        <p:nvSpPr>
          <p:cNvPr id="12" name="Text 10"/>
          <p:cNvSpPr/>
          <p:nvPr/>
        </p:nvSpPr>
        <p:spPr>
          <a:xfrm>
            <a:off x="457200" y="164592"/>
            <a:ext cx="8229600" cy="475488"/>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How Map Scale Works</a:t>
            </a:r>
            <a:endParaRPr lang="en-US" sz="2600" dirty="0"/>
          </a:p>
        </p:txBody>
      </p:sp>
      <p:sp>
        <p:nvSpPr>
          <p:cNvPr id="13" name="Shape 11"/>
          <p:cNvSpPr/>
          <p:nvPr/>
        </p:nvSpPr>
        <p:spPr>
          <a:xfrm>
            <a:off x="402336" y="768096"/>
            <a:ext cx="8339328" cy="1243584"/>
          </a:xfrm>
          <a:prstGeom prst="roundRect">
            <a:avLst>
              <a:gd name="adj" fmla="val 7353"/>
            </a:avLst>
          </a:prstGeom>
          <a:solidFill>
            <a:srgbClr val="B87A2A">
              <a:alpha val="18000"/>
            </a:srgbClr>
          </a:solidFill>
          <a:ln w="19050">
            <a:solidFill>
              <a:srgbClr val="B87A2A"/>
            </a:solidFill>
            <a:prstDash val="solid"/>
          </a:ln>
        </p:spPr>
      </p:sp>
      <p:sp>
        <p:nvSpPr>
          <p:cNvPr id="14" name="Text 12"/>
          <p:cNvSpPr/>
          <p:nvPr/>
        </p:nvSpPr>
        <p:spPr>
          <a:xfrm>
            <a:off x="585216" y="804672"/>
            <a:ext cx="2743200" cy="475488"/>
          </a:xfrm>
          <a:prstGeom prst="rect">
            <a:avLst/>
          </a:prstGeom>
          <a:noFill/>
          <a:ln/>
        </p:spPr>
        <p:txBody>
          <a:bodyPr wrap="square" lIns="0" tIns="0" rIns="0" bIns="0" rtlCol="0" anchor="ctr"/>
          <a:lstStyle/>
          <a:p>
            <a:pPr algn="l" indent="0" marL="0">
              <a:buNone/>
            </a:pPr>
            <a:r>
              <a:rPr lang="en-US" sz="1350" b="1" dirty="0">
                <a:solidFill>
                  <a:srgbClr val="FFFFFF"/>
                </a:solidFill>
                <a:latin typeface="Cambria" pitchFamily="34" charset="0"/>
                <a:ea typeface="Cambria" pitchFamily="34" charset="-122"/>
                <a:cs typeface="Cambria" pitchFamily="34" charset="-120"/>
              </a:rPr>
              <a:t>Scale Bar</a:t>
            </a:r>
            <a:endParaRPr lang="en-US" sz="1350" dirty="0"/>
          </a:p>
        </p:txBody>
      </p:sp>
      <p:sp>
        <p:nvSpPr>
          <p:cNvPr id="15" name="Text 13"/>
          <p:cNvSpPr/>
          <p:nvPr/>
        </p:nvSpPr>
        <p:spPr>
          <a:xfrm>
            <a:off x="3364992" y="804672"/>
            <a:ext cx="5230368" cy="475488"/>
          </a:xfrm>
          <a:prstGeom prst="rect">
            <a:avLst/>
          </a:prstGeom>
          <a:noFill/>
          <a:ln/>
        </p:spPr>
        <p:txBody>
          <a:bodyPr wrap="square" lIns="0" tIns="0" rIns="0" bIns="0" rtlCol="0" anchor="ctr"/>
          <a:lstStyle/>
          <a:p>
            <a:pPr algn="l" indent="0" marL="0">
              <a:buNone/>
            </a:pPr>
            <a:r>
              <a:rPr lang="en-US" sz="1150" dirty="0">
                <a:solidFill>
                  <a:srgbClr val="D4943A"/>
                </a:solidFill>
                <a:latin typeface="Courier New" pitchFamily="34" charset="0"/>
                <a:ea typeface="Courier New" pitchFamily="34" charset="-122"/>
                <a:cs typeface="Courier New" pitchFamily="34" charset="-120"/>
              </a:rPr>
              <a:t>▬▬▬▬▬  0  10  20 miles</a:t>
            </a:r>
            <a:endParaRPr lang="en-US" sz="1150" dirty="0"/>
          </a:p>
        </p:txBody>
      </p:sp>
      <p:sp>
        <p:nvSpPr>
          <p:cNvPr id="16" name="Text 14"/>
          <p:cNvSpPr/>
          <p:nvPr/>
        </p:nvSpPr>
        <p:spPr>
          <a:xfrm>
            <a:off x="585216" y="1298448"/>
            <a:ext cx="7973568" cy="640080"/>
          </a:xfrm>
          <a:prstGeom prst="rect">
            <a:avLst/>
          </a:prstGeom>
          <a:noFill/>
          <a:ln/>
        </p:spPr>
        <p:txBody>
          <a:bodyPr wrap="square" lIns="0" tIns="0" rIns="0" bIns="0" rtlCol="0" anchor="ctr"/>
          <a:lstStyle/>
          <a:p>
            <a:pPr indent="0" marL="0">
              <a:lnSpc>
                <a:spcPct val="130000"/>
              </a:lnSpc>
              <a:buNone/>
            </a:pPr>
            <a:r>
              <a:rPr lang="en-US" sz="1200" dirty="0">
                <a:solidFill>
                  <a:srgbClr val="F5EDD8"/>
                </a:solidFill>
                <a:latin typeface="Calibri" pitchFamily="34" charset="0"/>
                <a:ea typeface="Calibri" pitchFamily="34" charset="-122"/>
                <a:cs typeface="Calibri" pitchFamily="34" charset="-120"/>
              </a:rPr>
              <a:t>A drawn line on the map labeled with real distances. Most common and easiest to use. You measure the bar, then use the same unit to measure distances on the map.</a:t>
            </a:r>
            <a:endParaRPr lang="en-US" sz="1200" dirty="0"/>
          </a:p>
        </p:txBody>
      </p:sp>
      <p:sp>
        <p:nvSpPr>
          <p:cNvPr id="17" name="Shape 15"/>
          <p:cNvSpPr/>
          <p:nvPr/>
        </p:nvSpPr>
        <p:spPr>
          <a:xfrm>
            <a:off x="402336" y="2121408"/>
            <a:ext cx="8339328" cy="1243584"/>
          </a:xfrm>
          <a:prstGeom prst="roundRect">
            <a:avLst>
              <a:gd name="adj" fmla="val 7353"/>
            </a:avLst>
          </a:prstGeom>
          <a:solidFill>
            <a:srgbClr val="1A3A8F">
              <a:alpha val="18000"/>
            </a:srgbClr>
          </a:solidFill>
          <a:ln w="19050">
            <a:solidFill>
              <a:srgbClr val="1A3A8F"/>
            </a:solidFill>
            <a:prstDash val="solid"/>
          </a:ln>
        </p:spPr>
      </p:sp>
      <p:sp>
        <p:nvSpPr>
          <p:cNvPr id="18" name="Text 16"/>
          <p:cNvSpPr/>
          <p:nvPr/>
        </p:nvSpPr>
        <p:spPr>
          <a:xfrm>
            <a:off x="585216" y="2157984"/>
            <a:ext cx="2743200" cy="475488"/>
          </a:xfrm>
          <a:prstGeom prst="rect">
            <a:avLst/>
          </a:prstGeom>
          <a:noFill/>
          <a:ln/>
        </p:spPr>
        <p:txBody>
          <a:bodyPr wrap="square" lIns="0" tIns="0" rIns="0" bIns="0" rtlCol="0" anchor="ctr"/>
          <a:lstStyle/>
          <a:p>
            <a:pPr algn="l" indent="0" marL="0">
              <a:buNone/>
            </a:pPr>
            <a:r>
              <a:rPr lang="en-US" sz="1350" b="1" dirty="0">
                <a:solidFill>
                  <a:srgbClr val="FFFFFF"/>
                </a:solidFill>
                <a:latin typeface="Cambria" pitchFamily="34" charset="0"/>
                <a:ea typeface="Cambria" pitchFamily="34" charset="-122"/>
                <a:cs typeface="Cambria" pitchFamily="34" charset="-120"/>
              </a:rPr>
              <a:t>Representative Fraction (RF)</a:t>
            </a:r>
            <a:endParaRPr lang="en-US" sz="1350" dirty="0"/>
          </a:p>
        </p:txBody>
      </p:sp>
      <p:sp>
        <p:nvSpPr>
          <p:cNvPr id="19" name="Text 17"/>
          <p:cNvSpPr/>
          <p:nvPr/>
        </p:nvSpPr>
        <p:spPr>
          <a:xfrm>
            <a:off x="3364992" y="2157984"/>
            <a:ext cx="5230368" cy="475488"/>
          </a:xfrm>
          <a:prstGeom prst="rect">
            <a:avLst/>
          </a:prstGeom>
          <a:noFill/>
          <a:ln/>
        </p:spPr>
        <p:txBody>
          <a:bodyPr wrap="square" lIns="0" tIns="0" rIns="0" bIns="0" rtlCol="0" anchor="ctr"/>
          <a:lstStyle/>
          <a:p>
            <a:pPr algn="l" indent="0" marL="0">
              <a:buNone/>
            </a:pPr>
            <a:r>
              <a:rPr lang="en-US" sz="1150" dirty="0">
                <a:solidFill>
                  <a:srgbClr val="D4943A"/>
                </a:solidFill>
                <a:latin typeface="Courier New" pitchFamily="34" charset="0"/>
                <a:ea typeface="Courier New" pitchFamily="34" charset="-122"/>
                <a:cs typeface="Courier New" pitchFamily="34" charset="-120"/>
              </a:rPr>
              <a:t>Example: 1:50,000   or   1:1,000,000</a:t>
            </a:r>
            <a:endParaRPr lang="en-US" sz="1150" dirty="0"/>
          </a:p>
        </p:txBody>
      </p:sp>
      <p:sp>
        <p:nvSpPr>
          <p:cNvPr id="20" name="Text 18"/>
          <p:cNvSpPr/>
          <p:nvPr/>
        </p:nvSpPr>
        <p:spPr>
          <a:xfrm>
            <a:off x="585216" y="2651760"/>
            <a:ext cx="7973568" cy="640080"/>
          </a:xfrm>
          <a:prstGeom prst="rect">
            <a:avLst/>
          </a:prstGeom>
          <a:noFill/>
          <a:ln/>
        </p:spPr>
        <p:txBody>
          <a:bodyPr wrap="square" lIns="0" tIns="0" rIns="0" bIns="0" rtlCol="0" anchor="ctr"/>
          <a:lstStyle/>
          <a:p>
            <a:pPr indent="0" marL="0">
              <a:lnSpc>
                <a:spcPct val="130000"/>
              </a:lnSpc>
              <a:buNone/>
            </a:pPr>
            <a:r>
              <a:rPr lang="en-US" sz="1200" dirty="0">
                <a:solidFill>
                  <a:srgbClr val="F5EDD8"/>
                </a:solidFill>
                <a:latin typeface="Calibri" pitchFamily="34" charset="0"/>
                <a:ea typeface="Calibri" pitchFamily="34" charset="-122"/>
                <a:cs typeface="Calibri" pitchFamily="34" charset="-120"/>
              </a:rPr>
              <a:t>Written as a ratio like 1:100,000. Means: 1 unit on the map = 100,000 of the same units in real life. 1 inch = 100,000 inches = about 1.6 miles.</a:t>
            </a:r>
            <a:endParaRPr lang="en-US" sz="1200" dirty="0"/>
          </a:p>
        </p:txBody>
      </p:sp>
      <p:sp>
        <p:nvSpPr>
          <p:cNvPr id="21" name="Shape 19"/>
          <p:cNvSpPr/>
          <p:nvPr/>
        </p:nvSpPr>
        <p:spPr>
          <a:xfrm>
            <a:off x="402336" y="3474720"/>
            <a:ext cx="8339328" cy="1243584"/>
          </a:xfrm>
          <a:prstGeom prst="roundRect">
            <a:avLst>
              <a:gd name="adj" fmla="val 7353"/>
            </a:avLst>
          </a:prstGeom>
          <a:solidFill>
            <a:srgbClr val="2D5A27">
              <a:alpha val="18000"/>
            </a:srgbClr>
          </a:solidFill>
          <a:ln w="19050">
            <a:solidFill>
              <a:srgbClr val="2D5A27"/>
            </a:solidFill>
            <a:prstDash val="solid"/>
          </a:ln>
        </p:spPr>
      </p:sp>
      <p:sp>
        <p:nvSpPr>
          <p:cNvPr id="22" name="Text 20"/>
          <p:cNvSpPr/>
          <p:nvPr/>
        </p:nvSpPr>
        <p:spPr>
          <a:xfrm>
            <a:off x="585216" y="3511296"/>
            <a:ext cx="2743200" cy="475488"/>
          </a:xfrm>
          <a:prstGeom prst="rect">
            <a:avLst/>
          </a:prstGeom>
          <a:noFill/>
          <a:ln/>
        </p:spPr>
        <p:txBody>
          <a:bodyPr wrap="square" lIns="0" tIns="0" rIns="0" bIns="0" rtlCol="0" anchor="ctr"/>
          <a:lstStyle/>
          <a:p>
            <a:pPr algn="l" indent="0" marL="0">
              <a:buNone/>
            </a:pPr>
            <a:r>
              <a:rPr lang="en-US" sz="1350" b="1" dirty="0">
                <a:solidFill>
                  <a:srgbClr val="FFFFFF"/>
                </a:solidFill>
                <a:latin typeface="Cambria" pitchFamily="34" charset="0"/>
                <a:ea typeface="Cambria" pitchFamily="34" charset="-122"/>
                <a:cs typeface="Cambria" pitchFamily="34" charset="-120"/>
              </a:rPr>
              <a:t>Verbal Scale</a:t>
            </a:r>
            <a:endParaRPr lang="en-US" sz="1350" dirty="0"/>
          </a:p>
        </p:txBody>
      </p:sp>
      <p:sp>
        <p:nvSpPr>
          <p:cNvPr id="23" name="Text 21"/>
          <p:cNvSpPr/>
          <p:nvPr/>
        </p:nvSpPr>
        <p:spPr>
          <a:xfrm>
            <a:off x="3364992" y="3511296"/>
            <a:ext cx="5230368" cy="475488"/>
          </a:xfrm>
          <a:prstGeom prst="rect">
            <a:avLst/>
          </a:prstGeom>
          <a:noFill/>
          <a:ln/>
        </p:spPr>
        <p:txBody>
          <a:bodyPr wrap="square" lIns="0" tIns="0" rIns="0" bIns="0" rtlCol="0" anchor="ctr"/>
          <a:lstStyle/>
          <a:p>
            <a:pPr algn="l" indent="0" marL="0">
              <a:buNone/>
            </a:pPr>
            <a:r>
              <a:rPr lang="en-US" sz="1150" dirty="0">
                <a:solidFill>
                  <a:srgbClr val="D4943A"/>
                </a:solidFill>
                <a:latin typeface="Courier New" pitchFamily="34" charset="0"/>
                <a:ea typeface="Courier New" pitchFamily="34" charset="-122"/>
                <a:cs typeface="Courier New" pitchFamily="34" charset="-120"/>
              </a:rPr>
              <a:t>Example: 1 inch = 25 miles</a:t>
            </a:r>
            <a:endParaRPr lang="en-US" sz="1150" dirty="0"/>
          </a:p>
        </p:txBody>
      </p:sp>
      <p:sp>
        <p:nvSpPr>
          <p:cNvPr id="24" name="Text 22"/>
          <p:cNvSpPr/>
          <p:nvPr/>
        </p:nvSpPr>
        <p:spPr>
          <a:xfrm>
            <a:off x="585216" y="4005072"/>
            <a:ext cx="7973568" cy="640080"/>
          </a:xfrm>
          <a:prstGeom prst="rect">
            <a:avLst/>
          </a:prstGeom>
          <a:noFill/>
          <a:ln/>
        </p:spPr>
        <p:txBody>
          <a:bodyPr wrap="square" lIns="0" tIns="0" rIns="0" bIns="0" rtlCol="0" anchor="ctr"/>
          <a:lstStyle/>
          <a:p>
            <a:pPr indent="0" marL="0">
              <a:lnSpc>
                <a:spcPct val="130000"/>
              </a:lnSpc>
              <a:buNone/>
            </a:pPr>
            <a:r>
              <a:rPr lang="en-US" sz="1200" dirty="0">
                <a:solidFill>
                  <a:srgbClr val="F5EDD8"/>
                </a:solidFill>
                <a:latin typeface="Calibri" pitchFamily="34" charset="0"/>
                <a:ea typeface="Calibri" pitchFamily="34" charset="-122"/>
                <a:cs typeface="Calibri" pitchFamily="34" charset="-120"/>
              </a:rPr>
              <a:t>Written in words. 'One inch equals ten miles.' Simple to understand, but changes if you photocopy the map at a different size.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5"/>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B87A2A"/>
          </a:solidFill>
          <a:ln w="12700">
            <a:solidFill>
              <a:srgbClr val="333333"/>
            </a:solidFill>
            <a:prstDash val="solid"/>
          </a:ln>
        </p:spPr>
      </p:sp>
      <p:sp>
        <p:nvSpPr>
          <p:cNvPr id="3" name="Text 1"/>
          <p:cNvSpPr/>
          <p:nvPr/>
        </p:nvSpPr>
        <p:spPr>
          <a:xfrm>
            <a:off x="457200" y="54864"/>
            <a:ext cx="8229600" cy="530352"/>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How to Use a Scale Bar in 4 Steps</a:t>
            </a:r>
            <a:endParaRPr lang="en-US" sz="2200" dirty="0"/>
          </a:p>
        </p:txBody>
      </p:sp>
      <p:sp>
        <p:nvSpPr>
          <p:cNvPr id="4" name="Shape 2"/>
          <p:cNvSpPr/>
          <p:nvPr/>
        </p:nvSpPr>
        <p:spPr>
          <a:xfrm>
            <a:off x="402336" y="768096"/>
            <a:ext cx="8339328" cy="896112"/>
          </a:xfrm>
          <a:prstGeom prst="roundRect">
            <a:avLst>
              <a:gd name="adj" fmla="val 9184"/>
            </a:avLst>
          </a:prstGeom>
          <a:solidFill>
            <a:srgbClr val="B87A2A">
              <a:alpha val="10000"/>
            </a:srgbClr>
          </a:solidFill>
          <a:ln w="15240">
            <a:solidFill>
              <a:srgbClr val="B87A2A"/>
            </a:solidFill>
            <a:prstDash val="solid"/>
          </a:ln>
        </p:spPr>
      </p:sp>
      <p:sp>
        <p:nvSpPr>
          <p:cNvPr id="5" name="Shape 3"/>
          <p:cNvSpPr/>
          <p:nvPr/>
        </p:nvSpPr>
        <p:spPr>
          <a:xfrm>
            <a:off x="475488" y="841248"/>
            <a:ext cx="621792" cy="621792"/>
          </a:xfrm>
          <a:prstGeom prst="ellipse">
            <a:avLst/>
          </a:prstGeom>
          <a:solidFill>
            <a:srgbClr val="B87A2A"/>
          </a:solidFill>
          <a:ln w="12700">
            <a:solidFill>
              <a:srgbClr val="333333"/>
            </a:solidFill>
            <a:prstDash val="solid"/>
          </a:ln>
        </p:spPr>
      </p:sp>
      <p:sp>
        <p:nvSpPr>
          <p:cNvPr id="6" name="Text 4"/>
          <p:cNvSpPr/>
          <p:nvPr/>
        </p:nvSpPr>
        <p:spPr>
          <a:xfrm>
            <a:off x="475488" y="841248"/>
            <a:ext cx="621792" cy="62179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188720" y="786384"/>
            <a:ext cx="2377440" cy="402336"/>
          </a:xfrm>
          <a:prstGeom prst="rect">
            <a:avLst/>
          </a:prstGeom>
          <a:noFill/>
          <a:ln/>
        </p:spPr>
        <p:txBody>
          <a:bodyPr wrap="square" lIns="0" tIns="0" rIns="0" bIns="0" rtlCol="0" anchor="ctr"/>
          <a:lstStyle/>
          <a:p>
            <a:pPr indent="0" marL="0">
              <a:buNone/>
            </a:pPr>
            <a:r>
              <a:rPr lang="en-US" sz="1250" b="1" dirty="0">
                <a:solidFill>
                  <a:srgbClr val="B87A2A"/>
                </a:solidFill>
                <a:latin typeface="Cambria" pitchFamily="34" charset="0"/>
                <a:ea typeface="Cambria" pitchFamily="34" charset="-122"/>
                <a:cs typeface="Cambria" pitchFamily="34" charset="-120"/>
              </a:rPr>
              <a:t>Find the scale bar</a:t>
            </a:r>
            <a:endParaRPr lang="en-US" sz="1250" dirty="0"/>
          </a:p>
        </p:txBody>
      </p:sp>
      <p:sp>
        <p:nvSpPr>
          <p:cNvPr id="8" name="Text 6"/>
          <p:cNvSpPr/>
          <p:nvPr/>
        </p:nvSpPr>
        <p:spPr>
          <a:xfrm>
            <a:off x="1188720" y="1188720"/>
            <a:ext cx="7370064" cy="420624"/>
          </a:xfrm>
          <a:prstGeom prst="rect">
            <a:avLst/>
          </a:prstGeom>
          <a:noFill/>
          <a:ln/>
        </p:spPr>
        <p:txBody>
          <a:bodyPr wrap="square" lIns="0" tIns="0" rIns="0" bIns="0" rtlCol="0" anchor="ctr"/>
          <a:lstStyle/>
          <a:p>
            <a:pPr indent="0" marL="0">
              <a:buNone/>
            </a:pPr>
            <a:r>
              <a:rPr lang="en-US" sz="1200" dirty="0">
                <a:solidFill>
                  <a:srgbClr val="3A4A6B"/>
                </a:solidFill>
                <a:latin typeface="Calibri" pitchFamily="34" charset="0"/>
                <a:ea typeface="Calibri" pitchFamily="34" charset="-122"/>
                <a:cs typeface="Calibri" pitchFamily="34" charset="-120"/>
              </a:rPr>
              <a:t>Look in a corner of the map, usually bottom left or right. It's a horizontal line labeled with distances (0, 50, 100 miles, for example).</a:t>
            </a:r>
            <a:endParaRPr lang="en-US" sz="1200" dirty="0"/>
          </a:p>
        </p:txBody>
      </p:sp>
      <p:sp>
        <p:nvSpPr>
          <p:cNvPr id="9" name="Shape 7"/>
          <p:cNvSpPr/>
          <p:nvPr/>
        </p:nvSpPr>
        <p:spPr>
          <a:xfrm>
            <a:off x="402336" y="1773936"/>
            <a:ext cx="8339328" cy="896112"/>
          </a:xfrm>
          <a:prstGeom prst="roundRect">
            <a:avLst>
              <a:gd name="adj" fmla="val 9184"/>
            </a:avLst>
          </a:prstGeom>
          <a:solidFill>
            <a:srgbClr val="B87A2A">
              <a:alpha val="10000"/>
            </a:srgbClr>
          </a:solidFill>
          <a:ln w="15240">
            <a:solidFill>
              <a:srgbClr val="B87A2A"/>
            </a:solidFill>
            <a:prstDash val="solid"/>
          </a:ln>
        </p:spPr>
      </p:sp>
      <p:sp>
        <p:nvSpPr>
          <p:cNvPr id="10" name="Shape 8"/>
          <p:cNvSpPr/>
          <p:nvPr/>
        </p:nvSpPr>
        <p:spPr>
          <a:xfrm>
            <a:off x="475488" y="1847088"/>
            <a:ext cx="621792" cy="621792"/>
          </a:xfrm>
          <a:prstGeom prst="ellipse">
            <a:avLst/>
          </a:prstGeom>
          <a:solidFill>
            <a:srgbClr val="B87A2A"/>
          </a:solidFill>
          <a:ln w="12700">
            <a:solidFill>
              <a:srgbClr val="333333"/>
            </a:solidFill>
            <a:prstDash val="solid"/>
          </a:ln>
        </p:spPr>
      </p:sp>
      <p:sp>
        <p:nvSpPr>
          <p:cNvPr id="11" name="Text 9"/>
          <p:cNvSpPr/>
          <p:nvPr/>
        </p:nvSpPr>
        <p:spPr>
          <a:xfrm>
            <a:off x="475488" y="1847088"/>
            <a:ext cx="621792" cy="62179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1188720" y="1792224"/>
            <a:ext cx="2377440" cy="402336"/>
          </a:xfrm>
          <a:prstGeom prst="rect">
            <a:avLst/>
          </a:prstGeom>
          <a:noFill/>
          <a:ln/>
        </p:spPr>
        <p:txBody>
          <a:bodyPr wrap="square" lIns="0" tIns="0" rIns="0" bIns="0" rtlCol="0" anchor="ctr"/>
          <a:lstStyle/>
          <a:p>
            <a:pPr indent="0" marL="0">
              <a:buNone/>
            </a:pPr>
            <a:r>
              <a:rPr lang="en-US" sz="1250" b="1" dirty="0">
                <a:solidFill>
                  <a:srgbClr val="B87A2A"/>
                </a:solidFill>
                <a:latin typeface="Cambria" pitchFamily="34" charset="0"/>
                <a:ea typeface="Cambria" pitchFamily="34" charset="-122"/>
                <a:cs typeface="Cambria" pitchFamily="34" charset="-120"/>
              </a:rPr>
              <a:t>Measure the scale bar</a:t>
            </a:r>
            <a:endParaRPr lang="en-US" sz="1250" dirty="0"/>
          </a:p>
        </p:txBody>
      </p:sp>
      <p:sp>
        <p:nvSpPr>
          <p:cNvPr id="13" name="Text 11"/>
          <p:cNvSpPr/>
          <p:nvPr/>
        </p:nvSpPr>
        <p:spPr>
          <a:xfrm>
            <a:off x="1188720" y="2194560"/>
            <a:ext cx="7370064" cy="420624"/>
          </a:xfrm>
          <a:prstGeom prst="rect">
            <a:avLst/>
          </a:prstGeom>
          <a:noFill/>
          <a:ln/>
        </p:spPr>
        <p:txBody>
          <a:bodyPr wrap="square" lIns="0" tIns="0" rIns="0" bIns="0" rtlCol="0" anchor="ctr"/>
          <a:lstStyle/>
          <a:p>
            <a:pPr indent="0" marL="0">
              <a:buNone/>
            </a:pPr>
            <a:r>
              <a:rPr lang="en-US" sz="1200" dirty="0">
                <a:solidFill>
                  <a:srgbClr val="3A4A6B"/>
                </a:solidFill>
                <a:latin typeface="Calibri" pitchFamily="34" charset="0"/>
                <a:ea typeface="Calibri" pitchFamily="34" charset="-122"/>
                <a:cs typeface="Calibri" pitchFamily="34" charset="-120"/>
              </a:rPr>
              <a:t>Use a ruler to measure the physical length of the scale bar on the printed map. Note the unit (centimeters or inches).</a:t>
            </a:r>
            <a:endParaRPr lang="en-US" sz="1200" dirty="0"/>
          </a:p>
        </p:txBody>
      </p:sp>
      <p:sp>
        <p:nvSpPr>
          <p:cNvPr id="14" name="Shape 12"/>
          <p:cNvSpPr/>
          <p:nvPr/>
        </p:nvSpPr>
        <p:spPr>
          <a:xfrm>
            <a:off x="402336" y="2779776"/>
            <a:ext cx="8339328" cy="896112"/>
          </a:xfrm>
          <a:prstGeom prst="roundRect">
            <a:avLst>
              <a:gd name="adj" fmla="val 9184"/>
            </a:avLst>
          </a:prstGeom>
          <a:solidFill>
            <a:srgbClr val="B87A2A">
              <a:alpha val="10000"/>
            </a:srgbClr>
          </a:solidFill>
          <a:ln w="15240">
            <a:solidFill>
              <a:srgbClr val="B87A2A"/>
            </a:solidFill>
            <a:prstDash val="solid"/>
          </a:ln>
        </p:spPr>
      </p:sp>
      <p:sp>
        <p:nvSpPr>
          <p:cNvPr id="15" name="Shape 13"/>
          <p:cNvSpPr/>
          <p:nvPr/>
        </p:nvSpPr>
        <p:spPr>
          <a:xfrm>
            <a:off x="475488" y="2852928"/>
            <a:ext cx="621792" cy="621792"/>
          </a:xfrm>
          <a:prstGeom prst="ellipse">
            <a:avLst/>
          </a:prstGeom>
          <a:solidFill>
            <a:srgbClr val="B87A2A"/>
          </a:solidFill>
          <a:ln w="12700">
            <a:solidFill>
              <a:srgbClr val="333333"/>
            </a:solidFill>
            <a:prstDash val="solid"/>
          </a:ln>
        </p:spPr>
      </p:sp>
      <p:sp>
        <p:nvSpPr>
          <p:cNvPr id="16" name="Text 14"/>
          <p:cNvSpPr/>
          <p:nvPr/>
        </p:nvSpPr>
        <p:spPr>
          <a:xfrm>
            <a:off x="475488" y="2852928"/>
            <a:ext cx="621792" cy="62179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p:nvPr/>
        </p:nvSpPr>
        <p:spPr>
          <a:xfrm>
            <a:off x="1188720" y="2798064"/>
            <a:ext cx="2377440" cy="402336"/>
          </a:xfrm>
          <a:prstGeom prst="rect">
            <a:avLst/>
          </a:prstGeom>
          <a:noFill/>
          <a:ln/>
        </p:spPr>
        <p:txBody>
          <a:bodyPr wrap="square" lIns="0" tIns="0" rIns="0" bIns="0" rtlCol="0" anchor="ctr"/>
          <a:lstStyle/>
          <a:p>
            <a:pPr indent="0" marL="0">
              <a:buNone/>
            </a:pPr>
            <a:r>
              <a:rPr lang="en-US" sz="1250" b="1" dirty="0">
                <a:solidFill>
                  <a:srgbClr val="B87A2A"/>
                </a:solidFill>
                <a:latin typeface="Cambria" pitchFamily="34" charset="0"/>
                <a:ea typeface="Cambria" pitchFamily="34" charset="-122"/>
                <a:cs typeface="Cambria" pitchFamily="34" charset="-120"/>
              </a:rPr>
              <a:t>Measure your distance</a:t>
            </a:r>
            <a:endParaRPr lang="en-US" sz="1250" dirty="0"/>
          </a:p>
        </p:txBody>
      </p:sp>
      <p:sp>
        <p:nvSpPr>
          <p:cNvPr id="18" name="Text 16"/>
          <p:cNvSpPr/>
          <p:nvPr/>
        </p:nvSpPr>
        <p:spPr>
          <a:xfrm>
            <a:off x="1188720" y="3200400"/>
            <a:ext cx="7370064" cy="420624"/>
          </a:xfrm>
          <a:prstGeom prst="rect">
            <a:avLst/>
          </a:prstGeom>
          <a:noFill/>
          <a:ln/>
        </p:spPr>
        <p:txBody>
          <a:bodyPr wrap="square" lIns="0" tIns="0" rIns="0" bIns="0" rtlCol="0" anchor="ctr"/>
          <a:lstStyle/>
          <a:p>
            <a:pPr indent="0" marL="0">
              <a:buNone/>
            </a:pPr>
            <a:r>
              <a:rPr lang="en-US" sz="1200" dirty="0">
                <a:solidFill>
                  <a:srgbClr val="3A4A6B"/>
                </a:solidFill>
                <a:latin typeface="Calibri" pitchFamily="34" charset="0"/>
                <a:ea typeface="Calibri" pitchFamily="34" charset="-122"/>
                <a:cs typeface="Calibri" pitchFamily="34" charset="-120"/>
              </a:rPr>
              <a:t>Place your ruler between the two points you want to measure. Record that length in the same unit.</a:t>
            </a:r>
            <a:endParaRPr lang="en-US" sz="1200" dirty="0"/>
          </a:p>
        </p:txBody>
      </p:sp>
      <p:sp>
        <p:nvSpPr>
          <p:cNvPr id="19" name="Shape 17"/>
          <p:cNvSpPr/>
          <p:nvPr/>
        </p:nvSpPr>
        <p:spPr>
          <a:xfrm>
            <a:off x="402336" y="3785616"/>
            <a:ext cx="8339328" cy="896112"/>
          </a:xfrm>
          <a:prstGeom prst="roundRect">
            <a:avLst>
              <a:gd name="adj" fmla="val 9184"/>
            </a:avLst>
          </a:prstGeom>
          <a:solidFill>
            <a:srgbClr val="B87A2A">
              <a:alpha val="10000"/>
            </a:srgbClr>
          </a:solidFill>
          <a:ln w="15240">
            <a:solidFill>
              <a:srgbClr val="B87A2A"/>
            </a:solidFill>
            <a:prstDash val="solid"/>
          </a:ln>
        </p:spPr>
      </p:sp>
      <p:sp>
        <p:nvSpPr>
          <p:cNvPr id="20" name="Shape 18"/>
          <p:cNvSpPr/>
          <p:nvPr/>
        </p:nvSpPr>
        <p:spPr>
          <a:xfrm>
            <a:off x="475488" y="3858768"/>
            <a:ext cx="621792" cy="621792"/>
          </a:xfrm>
          <a:prstGeom prst="ellipse">
            <a:avLst/>
          </a:prstGeom>
          <a:solidFill>
            <a:srgbClr val="B87A2A"/>
          </a:solidFill>
          <a:ln w="12700">
            <a:solidFill>
              <a:srgbClr val="333333"/>
            </a:solidFill>
            <a:prstDash val="solid"/>
          </a:ln>
        </p:spPr>
      </p:sp>
      <p:sp>
        <p:nvSpPr>
          <p:cNvPr id="21" name="Text 19"/>
          <p:cNvSpPr/>
          <p:nvPr/>
        </p:nvSpPr>
        <p:spPr>
          <a:xfrm>
            <a:off x="475488" y="3858768"/>
            <a:ext cx="621792" cy="62179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p:nvPr/>
        </p:nvSpPr>
        <p:spPr>
          <a:xfrm>
            <a:off x="1188720" y="3803904"/>
            <a:ext cx="2377440" cy="402336"/>
          </a:xfrm>
          <a:prstGeom prst="rect">
            <a:avLst/>
          </a:prstGeom>
          <a:noFill/>
          <a:ln/>
        </p:spPr>
        <p:txBody>
          <a:bodyPr wrap="square" lIns="0" tIns="0" rIns="0" bIns="0" rtlCol="0" anchor="ctr"/>
          <a:lstStyle/>
          <a:p>
            <a:pPr indent="0" marL="0">
              <a:buNone/>
            </a:pPr>
            <a:r>
              <a:rPr lang="en-US" sz="1250" b="1" dirty="0">
                <a:solidFill>
                  <a:srgbClr val="B87A2A"/>
                </a:solidFill>
                <a:latin typeface="Cambria" pitchFamily="34" charset="0"/>
                <a:ea typeface="Cambria" pitchFamily="34" charset="-122"/>
                <a:cs typeface="Cambria" pitchFamily="34" charset="-120"/>
              </a:rPr>
              <a:t>Calculate</a:t>
            </a:r>
            <a:endParaRPr lang="en-US" sz="1250" dirty="0"/>
          </a:p>
        </p:txBody>
      </p:sp>
      <p:sp>
        <p:nvSpPr>
          <p:cNvPr id="23" name="Text 21"/>
          <p:cNvSpPr/>
          <p:nvPr/>
        </p:nvSpPr>
        <p:spPr>
          <a:xfrm>
            <a:off x="1188720" y="4206240"/>
            <a:ext cx="7370064" cy="420624"/>
          </a:xfrm>
          <a:prstGeom prst="rect">
            <a:avLst/>
          </a:prstGeom>
          <a:noFill/>
          <a:ln/>
        </p:spPr>
        <p:txBody>
          <a:bodyPr wrap="square" lIns="0" tIns="0" rIns="0" bIns="0" rtlCol="0" anchor="ctr"/>
          <a:lstStyle/>
          <a:p>
            <a:pPr indent="0" marL="0">
              <a:buNone/>
            </a:pPr>
            <a:r>
              <a:rPr lang="en-US" sz="1200" dirty="0">
                <a:solidFill>
                  <a:srgbClr val="3A4A6B"/>
                </a:solidFill>
                <a:latin typeface="Calibri" pitchFamily="34" charset="0"/>
                <a:ea typeface="Calibri" pitchFamily="34" charset="-122"/>
                <a:cs typeface="Calibri" pitchFamily="34" charset="-120"/>
              </a:rPr>
              <a:t>Divide your measured distance by the scale bar length, then multiply by the labeled real-world distance. Answer: actual miles (or km).</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3A2C1A"/>
        </a:solidFill>
      </p:bgPr>
    </p:bg>
    <p:spTree>
      <p:nvGrpSpPr>
        <p:cNvPr id="1" name=""/>
        <p:cNvGrpSpPr/>
        <p:nvPr/>
      </p:nvGrpSpPr>
      <p:grpSpPr>
        <a:xfrm>
          <a:off x="0" y="0"/>
          <a:ext cx="0" cy="0"/>
          <a:chOff x="0" y="0"/>
          <a:chExt cx="0" cy="0"/>
        </a:xfrm>
      </p:grpSpPr>
      <p:sp>
        <p:nvSpPr>
          <p:cNvPr id="2" name="Shape 0"/>
          <p:cNvSpPr/>
          <p:nvPr/>
        </p:nvSpPr>
        <p:spPr>
          <a:xfrm>
            <a:off x="1524000" y="0"/>
            <a:ext cx="0" cy="5148072"/>
          </a:xfrm>
          <a:prstGeom prst="line">
            <a:avLst/>
          </a:prstGeom>
          <a:noFill/>
          <a:ln w="7620">
            <a:solidFill>
              <a:srgbClr val="C4B49A">
                <a:alpha val="50000"/>
              </a:srgbClr>
            </a:solidFill>
            <a:prstDash val="solid"/>
          </a:ln>
        </p:spPr>
      </p:sp>
      <p:sp>
        <p:nvSpPr>
          <p:cNvPr id="3" name="Shape 1"/>
          <p:cNvSpPr/>
          <p:nvPr/>
        </p:nvSpPr>
        <p:spPr>
          <a:xfrm>
            <a:off x="3048000" y="0"/>
            <a:ext cx="0" cy="5148072"/>
          </a:xfrm>
          <a:prstGeom prst="line">
            <a:avLst/>
          </a:prstGeom>
          <a:noFill/>
          <a:ln w="7620">
            <a:solidFill>
              <a:srgbClr val="C4B49A">
                <a:alpha val="50000"/>
              </a:srgbClr>
            </a:solidFill>
            <a:prstDash val="solid"/>
          </a:ln>
        </p:spPr>
      </p:sp>
      <p:sp>
        <p:nvSpPr>
          <p:cNvPr id="4" name="Shape 2"/>
          <p:cNvSpPr/>
          <p:nvPr/>
        </p:nvSpPr>
        <p:spPr>
          <a:xfrm>
            <a:off x="4572000" y="0"/>
            <a:ext cx="0" cy="5148072"/>
          </a:xfrm>
          <a:prstGeom prst="line">
            <a:avLst/>
          </a:prstGeom>
          <a:noFill/>
          <a:ln w="7620">
            <a:solidFill>
              <a:srgbClr val="C4B49A">
                <a:alpha val="50000"/>
              </a:srgbClr>
            </a:solidFill>
            <a:prstDash val="solid"/>
          </a:ln>
        </p:spPr>
      </p:sp>
      <p:sp>
        <p:nvSpPr>
          <p:cNvPr id="5" name="Shape 3"/>
          <p:cNvSpPr/>
          <p:nvPr/>
        </p:nvSpPr>
        <p:spPr>
          <a:xfrm>
            <a:off x="6096000" y="0"/>
            <a:ext cx="0" cy="5148072"/>
          </a:xfrm>
          <a:prstGeom prst="line">
            <a:avLst/>
          </a:prstGeom>
          <a:noFill/>
          <a:ln w="7620">
            <a:solidFill>
              <a:srgbClr val="C4B49A">
                <a:alpha val="50000"/>
              </a:srgbClr>
            </a:solidFill>
            <a:prstDash val="solid"/>
          </a:ln>
        </p:spPr>
      </p:sp>
      <p:sp>
        <p:nvSpPr>
          <p:cNvPr id="6" name="Shape 4"/>
          <p:cNvSpPr/>
          <p:nvPr/>
        </p:nvSpPr>
        <p:spPr>
          <a:xfrm>
            <a:off x="7620000" y="0"/>
            <a:ext cx="0" cy="5148072"/>
          </a:xfrm>
          <a:prstGeom prst="line">
            <a:avLst/>
          </a:prstGeom>
          <a:noFill/>
          <a:ln w="7620">
            <a:solidFill>
              <a:srgbClr val="C4B49A">
                <a:alpha val="50000"/>
              </a:srgbClr>
            </a:solidFill>
            <a:prstDash val="solid"/>
          </a:ln>
        </p:spPr>
      </p:sp>
      <p:sp>
        <p:nvSpPr>
          <p:cNvPr id="7" name="Shape 5"/>
          <p:cNvSpPr/>
          <p:nvPr/>
        </p:nvSpPr>
        <p:spPr>
          <a:xfrm>
            <a:off x="0" y="1287018"/>
            <a:ext cx="9144000" cy="0"/>
          </a:xfrm>
          <a:prstGeom prst="line">
            <a:avLst/>
          </a:prstGeom>
          <a:noFill/>
          <a:ln w="7620">
            <a:solidFill>
              <a:srgbClr val="C4B49A">
                <a:alpha val="50000"/>
              </a:srgbClr>
            </a:solidFill>
            <a:prstDash val="solid"/>
          </a:ln>
        </p:spPr>
      </p:sp>
      <p:sp>
        <p:nvSpPr>
          <p:cNvPr id="8" name="Shape 6"/>
          <p:cNvSpPr/>
          <p:nvPr/>
        </p:nvSpPr>
        <p:spPr>
          <a:xfrm>
            <a:off x="0" y="2574036"/>
            <a:ext cx="9144000" cy="0"/>
          </a:xfrm>
          <a:prstGeom prst="line">
            <a:avLst/>
          </a:prstGeom>
          <a:noFill/>
          <a:ln w="7620">
            <a:solidFill>
              <a:srgbClr val="C4B49A">
                <a:alpha val="50000"/>
              </a:srgbClr>
            </a:solidFill>
            <a:prstDash val="solid"/>
          </a:ln>
        </p:spPr>
      </p:sp>
      <p:sp>
        <p:nvSpPr>
          <p:cNvPr id="9" name="Shape 7"/>
          <p:cNvSpPr/>
          <p:nvPr/>
        </p:nvSpPr>
        <p:spPr>
          <a:xfrm>
            <a:off x="0" y="3861054"/>
            <a:ext cx="9144000" cy="0"/>
          </a:xfrm>
          <a:prstGeom prst="line">
            <a:avLst/>
          </a:prstGeom>
          <a:noFill/>
          <a:ln w="7620">
            <a:solidFill>
              <a:srgbClr val="C4B49A">
                <a:alpha val="50000"/>
              </a:srgbClr>
            </a:solidFill>
            <a:prstDash val="solid"/>
          </a:ln>
        </p:spPr>
      </p:sp>
      <p:sp>
        <p:nvSpPr>
          <p:cNvPr id="10" name="Shape 8"/>
          <p:cNvSpPr/>
          <p:nvPr/>
        </p:nvSpPr>
        <p:spPr>
          <a:xfrm>
            <a:off x="457200" y="502920"/>
            <a:ext cx="8229600" cy="4114800"/>
          </a:xfrm>
          <a:prstGeom prst="ellipse">
            <a:avLst/>
          </a:prstGeom>
          <a:solidFill>
            <a:srgbClr val="D4943A">
              <a:alpha val="15000"/>
            </a:srgbClr>
          </a:solidFill>
          <a:ln w="12700">
            <a:solidFill>
              <a:srgbClr val="333333"/>
            </a:solidFill>
            <a:prstDash val="solid"/>
          </a:ln>
        </p:spPr>
      </p:sp>
      <p:sp>
        <p:nvSpPr>
          <p:cNvPr id="11" name="Shape 9"/>
          <p:cNvSpPr/>
          <p:nvPr/>
        </p:nvSpPr>
        <p:spPr>
          <a:xfrm>
            <a:off x="2267712" y="1408176"/>
            <a:ext cx="4608576" cy="2304288"/>
          </a:xfrm>
          <a:prstGeom prst="ellipse">
            <a:avLst/>
          </a:prstGeom>
          <a:solidFill>
            <a:srgbClr val="D4943A">
              <a:alpha val="26000"/>
            </a:srgbClr>
          </a:solidFill>
          <a:ln w="12700">
            <a:solidFill>
              <a:srgbClr val="333333"/>
            </a:solidFill>
            <a:prstDash val="solid"/>
          </a:ln>
        </p:spPr>
      </p:sp>
      <p:sp>
        <p:nvSpPr>
          <p:cNvPr id="12" name="Text 10"/>
          <p:cNvSpPr/>
          <p:nvPr/>
        </p:nvSpPr>
        <p:spPr>
          <a:xfrm>
            <a:off x="457200" y="164592"/>
            <a:ext cx="8229600" cy="475488"/>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Raise Your Hand: Scale Math</a:t>
            </a:r>
            <a:endParaRPr lang="en-US" sz="2600" dirty="0"/>
          </a:p>
        </p:txBody>
      </p:sp>
      <p:sp>
        <p:nvSpPr>
          <p:cNvPr id="13" name="Shape 11"/>
          <p:cNvSpPr/>
          <p:nvPr/>
        </p:nvSpPr>
        <p:spPr>
          <a:xfrm>
            <a:off x="402336" y="768096"/>
            <a:ext cx="8339328" cy="475488"/>
          </a:xfrm>
          <a:prstGeom prst="roundRect">
            <a:avLst>
              <a:gd name="adj" fmla="val 17308"/>
            </a:avLst>
          </a:prstGeom>
          <a:solidFill>
            <a:srgbClr val="D4943A">
              <a:alpha val="18000"/>
            </a:srgbClr>
          </a:solidFill>
          <a:ln w="19050">
            <a:solidFill>
              <a:srgbClr val="D4943A"/>
            </a:solidFill>
            <a:prstDash val="solid"/>
          </a:ln>
        </p:spPr>
      </p:sp>
      <p:sp>
        <p:nvSpPr>
          <p:cNvPr id="14" name="Text 12"/>
          <p:cNvSpPr/>
          <p:nvPr/>
        </p:nvSpPr>
        <p:spPr>
          <a:xfrm>
            <a:off x="585216" y="804672"/>
            <a:ext cx="7973568" cy="402336"/>
          </a:xfrm>
          <a:prstGeom prst="rect">
            <a:avLst/>
          </a:prstGeom>
          <a:noFill/>
          <a:ln/>
        </p:spPr>
        <p:txBody>
          <a:bodyPr wrap="square" lIns="0" tIns="0" rIns="0" bIns="0" rtlCol="0" anchor="ctr"/>
          <a:lstStyle/>
          <a:p>
            <a:pPr algn="ctr" indent="0" marL="0">
              <a:buNone/>
            </a:pPr>
            <a:r>
              <a:rPr lang="en-US" sz="1250" b="1" dirty="0">
                <a:solidFill>
                  <a:srgbClr val="3A2C1A"/>
                </a:solidFill>
                <a:latin typeface="Calibri" pitchFamily="34" charset="0"/>
                <a:ea typeface="Calibri" pitchFamily="34" charset="-122"/>
                <a:cs typeface="Calibri" pitchFamily="34" charset="-120"/>
              </a:rPr>
              <a:t>Scale bar = 1 inch = 50 miles. Solve each problem using the 4-step method.</a:t>
            </a:r>
            <a:endParaRPr lang="en-US" sz="1250" dirty="0"/>
          </a:p>
        </p:txBody>
      </p:sp>
      <p:sp>
        <p:nvSpPr>
          <p:cNvPr id="15" name="Shape 13"/>
          <p:cNvSpPr/>
          <p:nvPr/>
        </p:nvSpPr>
        <p:spPr>
          <a:xfrm>
            <a:off x="402336" y="1353312"/>
            <a:ext cx="6437376" cy="658368"/>
          </a:xfrm>
          <a:prstGeom prst="roundRect">
            <a:avLst>
              <a:gd name="adj" fmla="val 9722"/>
            </a:avLst>
          </a:prstGeom>
          <a:solidFill>
            <a:srgbClr val="2D5A27">
              <a:alpha val="15000"/>
            </a:srgbClr>
          </a:solidFill>
          <a:ln w="12700">
            <a:solidFill>
              <a:srgbClr val="4A8A42"/>
            </a:solidFill>
            <a:prstDash val="solid"/>
          </a:ln>
        </p:spPr>
      </p:sp>
      <p:sp>
        <p:nvSpPr>
          <p:cNvPr id="16" name="Text 14"/>
          <p:cNvSpPr/>
          <p:nvPr/>
        </p:nvSpPr>
        <p:spPr>
          <a:xfrm>
            <a:off x="585216" y="1353312"/>
            <a:ext cx="6071616" cy="658368"/>
          </a:xfrm>
          <a:prstGeom prst="rect">
            <a:avLst/>
          </a:prstGeom>
          <a:noFill/>
          <a:ln/>
        </p:spPr>
        <p:txBody>
          <a:bodyPr wrap="square" lIns="0" tIns="0" rIns="0" bIns="0" rtlCol="0" anchor="ctr"/>
          <a:lstStyle/>
          <a:p>
            <a:pPr algn="l" indent="0" marL="0">
              <a:lnSpc>
                <a:spcPct val="120000"/>
              </a:lnSpc>
              <a:buNone/>
            </a:pPr>
            <a:r>
              <a:rPr lang="en-US" sz="1150" dirty="0">
                <a:solidFill>
                  <a:srgbClr val="FFFFFF"/>
                </a:solidFill>
                <a:latin typeface="Calibri" pitchFamily="34" charset="0"/>
                <a:ea typeface="Calibri" pitchFamily="34" charset="-122"/>
                <a:cs typeface="Calibri" pitchFamily="34" charset="-120"/>
              </a:rPr>
              <a:t>1.  On the map, two cities are 2 inches apart. How far apart in real life?</a:t>
            </a:r>
            <a:endParaRPr lang="en-US" sz="1150" dirty="0"/>
          </a:p>
        </p:txBody>
      </p:sp>
      <p:sp>
        <p:nvSpPr>
          <p:cNvPr id="17" name="Shape 15"/>
          <p:cNvSpPr/>
          <p:nvPr/>
        </p:nvSpPr>
        <p:spPr>
          <a:xfrm>
            <a:off x="6912864" y="1371600"/>
            <a:ext cx="1828800" cy="621792"/>
          </a:xfrm>
          <a:prstGeom prst="roundRect">
            <a:avLst>
              <a:gd name="adj" fmla="val 10294"/>
            </a:avLst>
          </a:prstGeom>
          <a:solidFill>
            <a:srgbClr val="B87A2A">
              <a:alpha val="30000"/>
            </a:srgbClr>
          </a:solidFill>
          <a:ln w="15240">
            <a:solidFill>
              <a:srgbClr val="D4943A"/>
            </a:solidFill>
            <a:prstDash val="solid"/>
          </a:ln>
        </p:spPr>
      </p:sp>
      <p:sp>
        <p:nvSpPr>
          <p:cNvPr id="18" name="Text 16"/>
          <p:cNvSpPr/>
          <p:nvPr/>
        </p:nvSpPr>
        <p:spPr>
          <a:xfrm>
            <a:off x="6912864" y="1371600"/>
            <a:ext cx="1828800" cy="621792"/>
          </a:xfrm>
          <a:prstGeom prst="rect">
            <a:avLst/>
          </a:prstGeom>
          <a:noFill/>
          <a:ln/>
        </p:spPr>
        <p:txBody>
          <a:bodyPr wrap="square" lIns="0" tIns="0" rIns="0" bIns="0" rtlCol="0" anchor="ctr"/>
          <a:lstStyle/>
          <a:p>
            <a:pPr algn="ctr" indent="0" marL="0">
              <a:lnSpc>
                <a:spcPct val="110000"/>
              </a:lnSpc>
              <a:buNone/>
            </a:pPr>
            <a:r>
              <a:rPr lang="en-US" sz="1000" b="1" dirty="0">
                <a:solidFill>
                  <a:srgbClr val="FFFFFF"/>
                </a:solidFill>
                <a:latin typeface="Cambria" pitchFamily="34" charset="0"/>
                <a:ea typeface="Cambria" pitchFamily="34" charset="-122"/>
                <a:cs typeface="Cambria" pitchFamily="34" charset="-120"/>
              </a:rPr>
              <a:t>2 × 50 = 100 miles</a:t>
            </a:r>
            <a:endParaRPr lang="en-US" sz="1000" dirty="0"/>
          </a:p>
        </p:txBody>
      </p:sp>
      <p:sp>
        <p:nvSpPr>
          <p:cNvPr id="19" name="Shape 17"/>
          <p:cNvSpPr/>
          <p:nvPr/>
        </p:nvSpPr>
        <p:spPr>
          <a:xfrm>
            <a:off x="402336" y="2084832"/>
            <a:ext cx="6437376" cy="658368"/>
          </a:xfrm>
          <a:prstGeom prst="roundRect">
            <a:avLst>
              <a:gd name="adj" fmla="val 9722"/>
            </a:avLst>
          </a:prstGeom>
          <a:solidFill>
            <a:srgbClr val="1B4F72">
              <a:alpha val="15000"/>
            </a:srgbClr>
          </a:solidFill>
          <a:ln w="12700">
            <a:solidFill>
              <a:srgbClr val="1A3A8F"/>
            </a:solidFill>
            <a:prstDash val="solid"/>
          </a:ln>
        </p:spPr>
      </p:sp>
      <p:sp>
        <p:nvSpPr>
          <p:cNvPr id="20" name="Text 18"/>
          <p:cNvSpPr/>
          <p:nvPr/>
        </p:nvSpPr>
        <p:spPr>
          <a:xfrm>
            <a:off x="585216" y="2084832"/>
            <a:ext cx="6071616" cy="658368"/>
          </a:xfrm>
          <a:prstGeom prst="rect">
            <a:avLst/>
          </a:prstGeom>
          <a:noFill/>
          <a:ln/>
        </p:spPr>
        <p:txBody>
          <a:bodyPr wrap="square" lIns="0" tIns="0" rIns="0" bIns="0" rtlCol="0" anchor="ctr"/>
          <a:lstStyle/>
          <a:p>
            <a:pPr algn="l" indent="0" marL="0">
              <a:lnSpc>
                <a:spcPct val="120000"/>
              </a:lnSpc>
              <a:buNone/>
            </a:pPr>
            <a:r>
              <a:rPr lang="en-US" sz="1150" dirty="0">
                <a:solidFill>
                  <a:srgbClr val="FFFFFF"/>
                </a:solidFill>
                <a:latin typeface="Calibri" pitchFamily="34" charset="0"/>
                <a:ea typeface="Calibri" pitchFamily="34" charset="-122"/>
                <a:cs typeface="Calibri" pitchFamily="34" charset="-120"/>
              </a:rPr>
              <a:t>2.  Two cities are 5 inches apart on the map. How far is that?</a:t>
            </a:r>
            <a:endParaRPr lang="en-US" sz="1150" dirty="0"/>
          </a:p>
        </p:txBody>
      </p:sp>
      <p:sp>
        <p:nvSpPr>
          <p:cNvPr id="21" name="Shape 19"/>
          <p:cNvSpPr/>
          <p:nvPr/>
        </p:nvSpPr>
        <p:spPr>
          <a:xfrm>
            <a:off x="6912864" y="2103120"/>
            <a:ext cx="1828800" cy="621792"/>
          </a:xfrm>
          <a:prstGeom prst="roundRect">
            <a:avLst>
              <a:gd name="adj" fmla="val 10294"/>
            </a:avLst>
          </a:prstGeom>
          <a:solidFill>
            <a:srgbClr val="B87A2A">
              <a:alpha val="30000"/>
            </a:srgbClr>
          </a:solidFill>
          <a:ln w="15240">
            <a:solidFill>
              <a:srgbClr val="D4943A"/>
            </a:solidFill>
            <a:prstDash val="solid"/>
          </a:ln>
        </p:spPr>
      </p:sp>
      <p:sp>
        <p:nvSpPr>
          <p:cNvPr id="22" name="Text 20"/>
          <p:cNvSpPr/>
          <p:nvPr/>
        </p:nvSpPr>
        <p:spPr>
          <a:xfrm>
            <a:off x="6912864" y="2103120"/>
            <a:ext cx="1828800" cy="621792"/>
          </a:xfrm>
          <a:prstGeom prst="rect">
            <a:avLst/>
          </a:prstGeom>
          <a:noFill/>
          <a:ln/>
        </p:spPr>
        <p:txBody>
          <a:bodyPr wrap="square" lIns="0" tIns="0" rIns="0" bIns="0" rtlCol="0" anchor="ctr"/>
          <a:lstStyle/>
          <a:p>
            <a:pPr algn="ctr" indent="0" marL="0">
              <a:lnSpc>
                <a:spcPct val="110000"/>
              </a:lnSpc>
              <a:buNone/>
            </a:pPr>
            <a:r>
              <a:rPr lang="en-US" sz="1000" b="1" dirty="0">
                <a:solidFill>
                  <a:srgbClr val="FFFFFF"/>
                </a:solidFill>
                <a:latin typeface="Cambria" pitchFamily="34" charset="0"/>
                <a:ea typeface="Cambria" pitchFamily="34" charset="-122"/>
                <a:cs typeface="Cambria" pitchFamily="34" charset="-120"/>
              </a:rPr>
              <a:t>5 × 50 = 250 miles</a:t>
            </a:r>
            <a:endParaRPr lang="en-US" sz="1000" dirty="0"/>
          </a:p>
        </p:txBody>
      </p:sp>
      <p:sp>
        <p:nvSpPr>
          <p:cNvPr id="23" name="Shape 21"/>
          <p:cNvSpPr/>
          <p:nvPr/>
        </p:nvSpPr>
        <p:spPr>
          <a:xfrm>
            <a:off x="402336" y="2816352"/>
            <a:ext cx="6437376" cy="658368"/>
          </a:xfrm>
          <a:prstGeom prst="roundRect">
            <a:avLst>
              <a:gd name="adj" fmla="val 9722"/>
            </a:avLst>
          </a:prstGeom>
          <a:solidFill>
            <a:srgbClr val="2D5A27">
              <a:alpha val="15000"/>
            </a:srgbClr>
          </a:solidFill>
          <a:ln w="12700">
            <a:solidFill>
              <a:srgbClr val="4A8A42"/>
            </a:solidFill>
            <a:prstDash val="solid"/>
          </a:ln>
        </p:spPr>
      </p:sp>
      <p:sp>
        <p:nvSpPr>
          <p:cNvPr id="24" name="Text 22"/>
          <p:cNvSpPr/>
          <p:nvPr/>
        </p:nvSpPr>
        <p:spPr>
          <a:xfrm>
            <a:off x="585216" y="2816352"/>
            <a:ext cx="6071616" cy="658368"/>
          </a:xfrm>
          <a:prstGeom prst="rect">
            <a:avLst/>
          </a:prstGeom>
          <a:noFill/>
          <a:ln/>
        </p:spPr>
        <p:txBody>
          <a:bodyPr wrap="square" lIns="0" tIns="0" rIns="0" bIns="0" rtlCol="0" anchor="ctr"/>
          <a:lstStyle/>
          <a:p>
            <a:pPr algn="l" indent="0" marL="0">
              <a:lnSpc>
                <a:spcPct val="120000"/>
              </a:lnSpc>
              <a:buNone/>
            </a:pPr>
            <a:r>
              <a:rPr lang="en-US" sz="1150" dirty="0">
                <a:solidFill>
                  <a:srgbClr val="FFFFFF"/>
                </a:solidFill>
                <a:latin typeface="Calibri" pitchFamily="34" charset="0"/>
                <a:ea typeface="Calibri" pitchFamily="34" charset="-122"/>
                <a:cs typeface="Calibri" pitchFamily="34" charset="-120"/>
              </a:rPr>
              <a:t>3.  You need to travel 175 miles. How many inches apart will those cities be on the map?</a:t>
            </a:r>
            <a:endParaRPr lang="en-US" sz="1150" dirty="0"/>
          </a:p>
        </p:txBody>
      </p:sp>
      <p:sp>
        <p:nvSpPr>
          <p:cNvPr id="25" name="Shape 23"/>
          <p:cNvSpPr/>
          <p:nvPr/>
        </p:nvSpPr>
        <p:spPr>
          <a:xfrm>
            <a:off x="6912864" y="2834640"/>
            <a:ext cx="1828800" cy="621792"/>
          </a:xfrm>
          <a:prstGeom prst="roundRect">
            <a:avLst>
              <a:gd name="adj" fmla="val 10294"/>
            </a:avLst>
          </a:prstGeom>
          <a:solidFill>
            <a:srgbClr val="B87A2A">
              <a:alpha val="30000"/>
            </a:srgbClr>
          </a:solidFill>
          <a:ln w="15240">
            <a:solidFill>
              <a:srgbClr val="D4943A"/>
            </a:solidFill>
            <a:prstDash val="solid"/>
          </a:ln>
        </p:spPr>
      </p:sp>
      <p:sp>
        <p:nvSpPr>
          <p:cNvPr id="26" name="Text 24"/>
          <p:cNvSpPr/>
          <p:nvPr/>
        </p:nvSpPr>
        <p:spPr>
          <a:xfrm>
            <a:off x="6912864" y="2834640"/>
            <a:ext cx="1828800" cy="621792"/>
          </a:xfrm>
          <a:prstGeom prst="rect">
            <a:avLst/>
          </a:prstGeom>
          <a:noFill/>
          <a:ln/>
        </p:spPr>
        <p:txBody>
          <a:bodyPr wrap="square" lIns="0" tIns="0" rIns="0" bIns="0" rtlCol="0" anchor="ctr"/>
          <a:lstStyle/>
          <a:p>
            <a:pPr algn="ctr" indent="0" marL="0">
              <a:lnSpc>
                <a:spcPct val="110000"/>
              </a:lnSpc>
              <a:buNone/>
            </a:pPr>
            <a:r>
              <a:rPr lang="en-US" sz="1000" b="1" dirty="0">
                <a:solidFill>
                  <a:srgbClr val="FFFFFF"/>
                </a:solidFill>
                <a:latin typeface="Cambria" pitchFamily="34" charset="0"/>
                <a:ea typeface="Cambria" pitchFamily="34" charset="-122"/>
                <a:cs typeface="Cambria" pitchFamily="34" charset="-120"/>
              </a:rPr>
              <a:t>175 ÷ 50 = 3.5 inches</a:t>
            </a:r>
            <a:endParaRPr lang="en-US" sz="1000" dirty="0"/>
          </a:p>
        </p:txBody>
      </p:sp>
      <p:sp>
        <p:nvSpPr>
          <p:cNvPr id="27" name="Shape 25"/>
          <p:cNvSpPr/>
          <p:nvPr/>
        </p:nvSpPr>
        <p:spPr>
          <a:xfrm>
            <a:off x="402336" y="3547872"/>
            <a:ext cx="6437376" cy="658368"/>
          </a:xfrm>
          <a:prstGeom prst="roundRect">
            <a:avLst>
              <a:gd name="adj" fmla="val 9722"/>
            </a:avLst>
          </a:prstGeom>
          <a:solidFill>
            <a:srgbClr val="1B4F72">
              <a:alpha val="15000"/>
            </a:srgbClr>
          </a:solidFill>
          <a:ln w="12700">
            <a:solidFill>
              <a:srgbClr val="1A3A8F"/>
            </a:solidFill>
            <a:prstDash val="solid"/>
          </a:ln>
        </p:spPr>
      </p:sp>
      <p:sp>
        <p:nvSpPr>
          <p:cNvPr id="28" name="Text 26"/>
          <p:cNvSpPr/>
          <p:nvPr/>
        </p:nvSpPr>
        <p:spPr>
          <a:xfrm>
            <a:off x="585216" y="3547872"/>
            <a:ext cx="6071616" cy="658368"/>
          </a:xfrm>
          <a:prstGeom prst="rect">
            <a:avLst/>
          </a:prstGeom>
          <a:noFill/>
          <a:ln/>
        </p:spPr>
        <p:txBody>
          <a:bodyPr wrap="square" lIns="0" tIns="0" rIns="0" bIns="0" rtlCol="0" anchor="ctr"/>
          <a:lstStyle/>
          <a:p>
            <a:pPr algn="l" indent="0" marL="0">
              <a:lnSpc>
                <a:spcPct val="120000"/>
              </a:lnSpc>
              <a:buNone/>
            </a:pPr>
            <a:r>
              <a:rPr lang="en-US" sz="1150" dirty="0">
                <a:solidFill>
                  <a:srgbClr val="FFFFFF"/>
                </a:solidFill>
                <a:latin typeface="Calibri" pitchFamily="34" charset="0"/>
                <a:ea typeface="Calibri" pitchFamily="34" charset="-122"/>
                <a:cs typeface="Calibri" pitchFamily="34" charset="-120"/>
              </a:rPr>
              <a:t>4.  Three cities are A→B = 1.5 in, B→C = 2 in. What is the total trip A→B→C in real miles?</a:t>
            </a:r>
            <a:endParaRPr lang="en-US" sz="1150" dirty="0"/>
          </a:p>
        </p:txBody>
      </p:sp>
      <p:sp>
        <p:nvSpPr>
          <p:cNvPr id="29" name="Shape 27"/>
          <p:cNvSpPr/>
          <p:nvPr/>
        </p:nvSpPr>
        <p:spPr>
          <a:xfrm>
            <a:off x="6912864" y="3566160"/>
            <a:ext cx="1828800" cy="621792"/>
          </a:xfrm>
          <a:prstGeom prst="roundRect">
            <a:avLst>
              <a:gd name="adj" fmla="val 10294"/>
            </a:avLst>
          </a:prstGeom>
          <a:solidFill>
            <a:srgbClr val="B87A2A">
              <a:alpha val="30000"/>
            </a:srgbClr>
          </a:solidFill>
          <a:ln w="15240">
            <a:solidFill>
              <a:srgbClr val="D4943A"/>
            </a:solidFill>
            <a:prstDash val="solid"/>
          </a:ln>
        </p:spPr>
      </p:sp>
      <p:sp>
        <p:nvSpPr>
          <p:cNvPr id="30" name="Text 28"/>
          <p:cNvSpPr/>
          <p:nvPr/>
        </p:nvSpPr>
        <p:spPr>
          <a:xfrm>
            <a:off x="6912864" y="3566160"/>
            <a:ext cx="1828800" cy="621792"/>
          </a:xfrm>
          <a:prstGeom prst="rect">
            <a:avLst/>
          </a:prstGeom>
          <a:noFill/>
          <a:ln/>
        </p:spPr>
        <p:txBody>
          <a:bodyPr wrap="square" lIns="0" tIns="0" rIns="0" bIns="0" rtlCol="0" anchor="ctr"/>
          <a:lstStyle/>
          <a:p>
            <a:pPr algn="ctr" indent="0" marL="0">
              <a:lnSpc>
                <a:spcPct val="110000"/>
              </a:lnSpc>
              <a:buNone/>
            </a:pPr>
            <a:r>
              <a:rPr lang="en-US" sz="1000" b="1" dirty="0">
                <a:solidFill>
                  <a:srgbClr val="FFFFFF"/>
                </a:solidFill>
                <a:latin typeface="Cambria" pitchFamily="34" charset="0"/>
                <a:ea typeface="Cambria" pitchFamily="34" charset="-122"/>
                <a:cs typeface="Cambria" pitchFamily="34" charset="-120"/>
              </a:rPr>
              <a:t>(1.5+2) × 50 = 175 miles</a:t>
            </a:r>
            <a:endParaRPr lang="en-US" sz="1000" dirty="0"/>
          </a:p>
        </p:txBody>
      </p:sp>
      <p:sp>
        <p:nvSpPr>
          <p:cNvPr id="31" name="Shape 29"/>
          <p:cNvSpPr/>
          <p:nvPr/>
        </p:nvSpPr>
        <p:spPr>
          <a:xfrm>
            <a:off x="402336" y="4279392"/>
            <a:ext cx="6437376" cy="658368"/>
          </a:xfrm>
          <a:prstGeom prst="roundRect">
            <a:avLst>
              <a:gd name="adj" fmla="val 9722"/>
            </a:avLst>
          </a:prstGeom>
          <a:solidFill>
            <a:srgbClr val="2D5A27">
              <a:alpha val="15000"/>
            </a:srgbClr>
          </a:solidFill>
          <a:ln w="12700">
            <a:solidFill>
              <a:srgbClr val="4A8A42"/>
            </a:solidFill>
            <a:prstDash val="solid"/>
          </a:ln>
        </p:spPr>
      </p:sp>
      <p:sp>
        <p:nvSpPr>
          <p:cNvPr id="32" name="Text 30"/>
          <p:cNvSpPr/>
          <p:nvPr/>
        </p:nvSpPr>
        <p:spPr>
          <a:xfrm>
            <a:off x="585216" y="4279392"/>
            <a:ext cx="6071616" cy="658368"/>
          </a:xfrm>
          <a:prstGeom prst="rect">
            <a:avLst/>
          </a:prstGeom>
          <a:noFill/>
          <a:ln/>
        </p:spPr>
        <p:txBody>
          <a:bodyPr wrap="square" lIns="0" tIns="0" rIns="0" bIns="0" rtlCol="0" anchor="ctr"/>
          <a:lstStyle/>
          <a:p>
            <a:pPr algn="l" indent="0" marL="0">
              <a:lnSpc>
                <a:spcPct val="120000"/>
              </a:lnSpc>
              <a:buNone/>
            </a:pPr>
            <a:r>
              <a:rPr lang="en-US" sz="1150" dirty="0">
                <a:solidFill>
                  <a:srgbClr val="FFFFFF"/>
                </a:solidFill>
                <a:latin typeface="Calibri" pitchFamily="34" charset="0"/>
                <a:ea typeface="Calibri" pitchFamily="34" charset="-122"/>
                <a:cs typeface="Calibri" pitchFamily="34" charset="-120"/>
              </a:rPr>
              <a:t>5.  A DIFFERENT map shows the same area but uses a scale of 1 inch = 100 miles. How many inches apart are two cities that are 250 miles apart?</a:t>
            </a:r>
            <a:endParaRPr lang="en-US" sz="1150" dirty="0"/>
          </a:p>
        </p:txBody>
      </p:sp>
      <p:sp>
        <p:nvSpPr>
          <p:cNvPr id="33" name="Shape 31"/>
          <p:cNvSpPr/>
          <p:nvPr/>
        </p:nvSpPr>
        <p:spPr>
          <a:xfrm>
            <a:off x="6912864" y="4297680"/>
            <a:ext cx="1828800" cy="621792"/>
          </a:xfrm>
          <a:prstGeom prst="roundRect">
            <a:avLst>
              <a:gd name="adj" fmla="val 10294"/>
            </a:avLst>
          </a:prstGeom>
          <a:solidFill>
            <a:srgbClr val="B87A2A">
              <a:alpha val="30000"/>
            </a:srgbClr>
          </a:solidFill>
          <a:ln w="15240">
            <a:solidFill>
              <a:srgbClr val="D4943A"/>
            </a:solidFill>
            <a:prstDash val="solid"/>
          </a:ln>
        </p:spPr>
      </p:sp>
      <p:sp>
        <p:nvSpPr>
          <p:cNvPr id="34" name="Text 32"/>
          <p:cNvSpPr/>
          <p:nvPr/>
        </p:nvSpPr>
        <p:spPr>
          <a:xfrm>
            <a:off x="6912864" y="4297680"/>
            <a:ext cx="1828800" cy="621792"/>
          </a:xfrm>
          <a:prstGeom prst="rect">
            <a:avLst/>
          </a:prstGeom>
          <a:noFill/>
          <a:ln/>
        </p:spPr>
        <p:txBody>
          <a:bodyPr wrap="square" lIns="0" tIns="0" rIns="0" bIns="0" rtlCol="0" anchor="ctr"/>
          <a:lstStyle/>
          <a:p>
            <a:pPr algn="ctr" indent="0" marL="0">
              <a:lnSpc>
                <a:spcPct val="110000"/>
              </a:lnSpc>
              <a:buNone/>
            </a:pPr>
            <a:r>
              <a:rPr lang="en-US" sz="1000" b="1" dirty="0">
                <a:solidFill>
                  <a:srgbClr val="FFFFFF"/>
                </a:solidFill>
                <a:latin typeface="Cambria" pitchFamily="34" charset="0"/>
                <a:ea typeface="Cambria" pitchFamily="34" charset="-122"/>
                <a:cs typeface="Cambria" pitchFamily="34" charset="-120"/>
              </a:rPr>
              <a:t>250 ÷ 100 = 2.5 inches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3A2C1A"/>
        </a:solidFill>
      </p:bgPr>
    </p:bg>
    <p:spTree>
      <p:nvGrpSpPr>
        <p:cNvPr id="1" name=""/>
        <p:cNvGrpSpPr/>
        <p:nvPr/>
      </p:nvGrpSpPr>
      <p:grpSpPr>
        <a:xfrm>
          <a:off x="0" y="0"/>
          <a:ext cx="0" cy="0"/>
          <a:chOff x="0" y="0"/>
          <a:chExt cx="0" cy="0"/>
        </a:xfrm>
      </p:grpSpPr>
      <p:sp>
        <p:nvSpPr>
          <p:cNvPr id="2" name="Shape 0"/>
          <p:cNvSpPr/>
          <p:nvPr/>
        </p:nvSpPr>
        <p:spPr>
          <a:xfrm>
            <a:off x="1524000" y="0"/>
            <a:ext cx="0" cy="5148072"/>
          </a:xfrm>
          <a:prstGeom prst="line">
            <a:avLst/>
          </a:prstGeom>
          <a:noFill/>
          <a:ln w="7620">
            <a:solidFill>
              <a:srgbClr val="C4B49A">
                <a:alpha val="50000"/>
              </a:srgbClr>
            </a:solidFill>
            <a:prstDash val="solid"/>
          </a:ln>
        </p:spPr>
      </p:sp>
      <p:sp>
        <p:nvSpPr>
          <p:cNvPr id="3" name="Shape 1"/>
          <p:cNvSpPr/>
          <p:nvPr/>
        </p:nvSpPr>
        <p:spPr>
          <a:xfrm>
            <a:off x="3048000" y="0"/>
            <a:ext cx="0" cy="5148072"/>
          </a:xfrm>
          <a:prstGeom prst="line">
            <a:avLst/>
          </a:prstGeom>
          <a:noFill/>
          <a:ln w="7620">
            <a:solidFill>
              <a:srgbClr val="C4B49A">
                <a:alpha val="50000"/>
              </a:srgbClr>
            </a:solidFill>
            <a:prstDash val="solid"/>
          </a:ln>
        </p:spPr>
      </p:sp>
      <p:sp>
        <p:nvSpPr>
          <p:cNvPr id="4" name="Shape 2"/>
          <p:cNvSpPr/>
          <p:nvPr/>
        </p:nvSpPr>
        <p:spPr>
          <a:xfrm>
            <a:off x="4572000" y="0"/>
            <a:ext cx="0" cy="5148072"/>
          </a:xfrm>
          <a:prstGeom prst="line">
            <a:avLst/>
          </a:prstGeom>
          <a:noFill/>
          <a:ln w="7620">
            <a:solidFill>
              <a:srgbClr val="C4B49A">
                <a:alpha val="50000"/>
              </a:srgbClr>
            </a:solidFill>
            <a:prstDash val="solid"/>
          </a:ln>
        </p:spPr>
      </p:sp>
      <p:sp>
        <p:nvSpPr>
          <p:cNvPr id="5" name="Shape 3"/>
          <p:cNvSpPr/>
          <p:nvPr/>
        </p:nvSpPr>
        <p:spPr>
          <a:xfrm>
            <a:off x="6096000" y="0"/>
            <a:ext cx="0" cy="5148072"/>
          </a:xfrm>
          <a:prstGeom prst="line">
            <a:avLst/>
          </a:prstGeom>
          <a:noFill/>
          <a:ln w="7620">
            <a:solidFill>
              <a:srgbClr val="C4B49A">
                <a:alpha val="50000"/>
              </a:srgbClr>
            </a:solidFill>
            <a:prstDash val="solid"/>
          </a:ln>
        </p:spPr>
      </p:sp>
      <p:sp>
        <p:nvSpPr>
          <p:cNvPr id="6" name="Shape 4"/>
          <p:cNvSpPr/>
          <p:nvPr/>
        </p:nvSpPr>
        <p:spPr>
          <a:xfrm>
            <a:off x="7620000" y="0"/>
            <a:ext cx="0" cy="5148072"/>
          </a:xfrm>
          <a:prstGeom prst="line">
            <a:avLst/>
          </a:prstGeom>
          <a:noFill/>
          <a:ln w="7620">
            <a:solidFill>
              <a:srgbClr val="C4B49A">
                <a:alpha val="50000"/>
              </a:srgbClr>
            </a:solidFill>
            <a:prstDash val="solid"/>
          </a:ln>
        </p:spPr>
      </p:sp>
      <p:sp>
        <p:nvSpPr>
          <p:cNvPr id="7" name="Shape 5"/>
          <p:cNvSpPr/>
          <p:nvPr/>
        </p:nvSpPr>
        <p:spPr>
          <a:xfrm>
            <a:off x="0" y="1287018"/>
            <a:ext cx="9144000" cy="0"/>
          </a:xfrm>
          <a:prstGeom prst="line">
            <a:avLst/>
          </a:prstGeom>
          <a:noFill/>
          <a:ln w="7620">
            <a:solidFill>
              <a:srgbClr val="C4B49A">
                <a:alpha val="50000"/>
              </a:srgbClr>
            </a:solidFill>
            <a:prstDash val="solid"/>
          </a:ln>
        </p:spPr>
      </p:sp>
      <p:sp>
        <p:nvSpPr>
          <p:cNvPr id="8" name="Shape 6"/>
          <p:cNvSpPr/>
          <p:nvPr/>
        </p:nvSpPr>
        <p:spPr>
          <a:xfrm>
            <a:off x="0" y="2574036"/>
            <a:ext cx="9144000" cy="0"/>
          </a:xfrm>
          <a:prstGeom prst="line">
            <a:avLst/>
          </a:prstGeom>
          <a:noFill/>
          <a:ln w="7620">
            <a:solidFill>
              <a:srgbClr val="C4B49A">
                <a:alpha val="50000"/>
              </a:srgbClr>
            </a:solidFill>
            <a:prstDash val="solid"/>
          </a:ln>
        </p:spPr>
      </p:sp>
      <p:sp>
        <p:nvSpPr>
          <p:cNvPr id="9" name="Shape 7"/>
          <p:cNvSpPr/>
          <p:nvPr/>
        </p:nvSpPr>
        <p:spPr>
          <a:xfrm>
            <a:off x="0" y="3861054"/>
            <a:ext cx="9144000" cy="0"/>
          </a:xfrm>
          <a:prstGeom prst="line">
            <a:avLst/>
          </a:prstGeom>
          <a:noFill/>
          <a:ln w="7620">
            <a:solidFill>
              <a:srgbClr val="C4B49A">
                <a:alpha val="50000"/>
              </a:srgbClr>
            </a:solidFill>
            <a:prstDash val="solid"/>
          </a:ln>
        </p:spPr>
      </p:sp>
      <p:sp>
        <p:nvSpPr>
          <p:cNvPr id="10" name="Shape 8"/>
          <p:cNvSpPr/>
          <p:nvPr/>
        </p:nvSpPr>
        <p:spPr>
          <a:xfrm>
            <a:off x="685800" y="502920"/>
            <a:ext cx="7772400" cy="4114800"/>
          </a:xfrm>
          <a:prstGeom prst="ellipse">
            <a:avLst/>
          </a:prstGeom>
          <a:solidFill>
            <a:srgbClr val="C7522A">
              <a:alpha val="15000"/>
            </a:srgbClr>
          </a:solidFill>
          <a:ln w="12700">
            <a:solidFill>
              <a:srgbClr val="333333"/>
            </a:solidFill>
            <a:prstDash val="solid"/>
          </a:ln>
        </p:spPr>
      </p:sp>
      <p:sp>
        <p:nvSpPr>
          <p:cNvPr id="11" name="Shape 9"/>
          <p:cNvSpPr/>
          <p:nvPr/>
        </p:nvSpPr>
        <p:spPr>
          <a:xfrm>
            <a:off x="2395728" y="1408176"/>
            <a:ext cx="4352544" cy="2304288"/>
          </a:xfrm>
          <a:prstGeom prst="ellipse">
            <a:avLst/>
          </a:prstGeom>
          <a:solidFill>
            <a:srgbClr val="C7522A">
              <a:alpha val="26000"/>
            </a:srgbClr>
          </a:solidFill>
          <a:ln w="12700">
            <a:solidFill>
              <a:srgbClr val="333333"/>
            </a:solidFill>
            <a:prstDash val="solid"/>
          </a:ln>
        </p:spPr>
      </p:sp>
      <p:sp>
        <p:nvSpPr>
          <p:cNvPr id="12" name="Text 10"/>
          <p:cNvSpPr/>
          <p:nvPr/>
        </p:nvSpPr>
        <p:spPr>
          <a:xfrm>
            <a:off x="457200" y="164592"/>
            <a:ext cx="8229600" cy="475488"/>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In Your Groups — Plan the Expedition</a:t>
            </a:r>
            <a:endParaRPr lang="en-US" sz="2600" dirty="0"/>
          </a:p>
        </p:txBody>
      </p:sp>
      <p:sp>
        <p:nvSpPr>
          <p:cNvPr id="13" name="Shape 11"/>
          <p:cNvSpPr/>
          <p:nvPr/>
        </p:nvSpPr>
        <p:spPr>
          <a:xfrm>
            <a:off x="402336" y="749808"/>
            <a:ext cx="8339328" cy="731520"/>
          </a:xfrm>
          <a:prstGeom prst="roundRect">
            <a:avLst>
              <a:gd name="adj" fmla="val 11250"/>
            </a:avLst>
          </a:prstGeom>
          <a:solidFill>
            <a:srgbClr val="C7522A">
              <a:alpha val="20000"/>
            </a:srgbClr>
          </a:solidFill>
          <a:ln w="19050">
            <a:solidFill>
              <a:srgbClr val="C7522A"/>
            </a:solidFill>
            <a:prstDash val="solid"/>
          </a:ln>
        </p:spPr>
      </p:sp>
      <p:sp>
        <p:nvSpPr>
          <p:cNvPr id="14" name="Text 12"/>
          <p:cNvSpPr/>
          <p:nvPr/>
        </p:nvSpPr>
        <p:spPr>
          <a:xfrm>
            <a:off x="585216" y="786384"/>
            <a:ext cx="7973568" cy="676656"/>
          </a:xfrm>
          <a:prstGeom prst="rect">
            <a:avLst/>
          </a:prstGeom>
          <a:noFill/>
          <a:ln/>
        </p:spPr>
        <p:txBody>
          <a:bodyPr wrap="square" rtlCol="0" anchor="ctr"/>
          <a:lstStyle/>
          <a:p>
            <a:pPr algn="l" indent="0" marL="0">
              <a:lnSpc>
                <a:spcPct val="135000"/>
              </a:lnSpc>
              <a:buNone/>
            </a:pPr>
            <a:r>
              <a:rPr lang="en-US" sz="1200" dirty="0">
                <a:solidFill>
                  <a:srgbClr val="FFFFFF"/>
                </a:solidFill>
                <a:latin typeface="Calibri" pitchFamily="34" charset="0"/>
                <a:ea typeface="Calibri" pitchFamily="34" charset="-122"/>
                <a:cs typeface="Calibri" pitchFamily="34" charset="-120"/>
              </a:rPr>
              <a:t>You are planning a 3-day expedition through Florida. The scale on your map is: 1 inch = 40 miles. Use the scale to solve your expedition problems as a group.</a:t>
            </a:r>
            <a:endParaRPr lang="en-US" sz="1200" dirty="0"/>
          </a:p>
        </p:txBody>
      </p:sp>
      <p:sp>
        <p:nvSpPr>
          <p:cNvPr id="15" name="Shape 13"/>
          <p:cNvSpPr/>
          <p:nvPr/>
        </p:nvSpPr>
        <p:spPr>
          <a:xfrm>
            <a:off x="402336" y="1591056"/>
            <a:ext cx="8339328" cy="731520"/>
          </a:xfrm>
          <a:prstGeom prst="roundRect">
            <a:avLst>
              <a:gd name="adj" fmla="val 8750"/>
            </a:avLst>
          </a:prstGeom>
          <a:solidFill>
            <a:srgbClr val="FFFFFF">
              <a:alpha val="10000"/>
            </a:srgbClr>
          </a:solidFill>
          <a:ln w="12700">
            <a:solidFill>
              <a:srgbClr val="D4943A"/>
            </a:solidFill>
            <a:prstDash val="solid"/>
          </a:ln>
        </p:spPr>
      </p:sp>
      <p:sp>
        <p:nvSpPr>
          <p:cNvPr id="16" name="Text 14"/>
          <p:cNvSpPr/>
          <p:nvPr/>
        </p:nvSpPr>
        <p:spPr>
          <a:xfrm>
            <a:off x="585216" y="1591056"/>
            <a:ext cx="7973568" cy="731520"/>
          </a:xfrm>
          <a:prstGeom prst="rect">
            <a:avLst/>
          </a:prstGeom>
          <a:noFill/>
          <a:ln/>
        </p:spPr>
        <p:txBody>
          <a:bodyPr wrap="square" lIns="0" tIns="0" rIns="0" bIns="0" rtlCol="0" anchor="ctr"/>
          <a:lstStyle/>
          <a:p>
            <a:pPr algn="l" indent="0" marL="0">
              <a:lnSpc>
                <a:spcPct val="120000"/>
              </a:lnSpc>
              <a:buNone/>
            </a:pPr>
            <a:r>
              <a:rPr lang="en-US" sz="1100" dirty="0">
                <a:solidFill>
                  <a:srgbClr val="FFFFFF"/>
                </a:solidFill>
                <a:latin typeface="Calibri" pitchFamily="34" charset="0"/>
                <a:ea typeface="Calibri" pitchFamily="34" charset="-122"/>
                <a:cs typeface="Calibri" pitchFamily="34" charset="-120"/>
              </a:rPr>
              <a:t>1.  Day 1: You measure 3.5 inches from your starting point in Jacksonville to your Day 1 campsite. How many miles will you hike? Can you make that in one day on foot (15 miles/day)? If not, what's your strategy?</a:t>
            </a:r>
            <a:endParaRPr lang="en-US" sz="1100" dirty="0"/>
          </a:p>
        </p:txBody>
      </p:sp>
      <p:sp>
        <p:nvSpPr>
          <p:cNvPr id="17" name="Shape 15"/>
          <p:cNvSpPr/>
          <p:nvPr/>
        </p:nvSpPr>
        <p:spPr>
          <a:xfrm>
            <a:off x="402336" y="2395728"/>
            <a:ext cx="8339328" cy="731520"/>
          </a:xfrm>
          <a:prstGeom prst="roundRect">
            <a:avLst>
              <a:gd name="adj" fmla="val 8750"/>
            </a:avLst>
          </a:prstGeom>
          <a:solidFill>
            <a:srgbClr val="FFFFFF">
              <a:alpha val="10000"/>
            </a:srgbClr>
          </a:solidFill>
          <a:ln w="12700">
            <a:solidFill>
              <a:srgbClr val="D4943A"/>
            </a:solidFill>
            <a:prstDash val="solid"/>
          </a:ln>
        </p:spPr>
      </p:sp>
      <p:sp>
        <p:nvSpPr>
          <p:cNvPr id="18" name="Text 16"/>
          <p:cNvSpPr/>
          <p:nvPr/>
        </p:nvSpPr>
        <p:spPr>
          <a:xfrm>
            <a:off x="585216" y="2395728"/>
            <a:ext cx="7973568" cy="731520"/>
          </a:xfrm>
          <a:prstGeom prst="rect">
            <a:avLst/>
          </a:prstGeom>
          <a:noFill/>
          <a:ln/>
        </p:spPr>
        <p:txBody>
          <a:bodyPr wrap="square" lIns="0" tIns="0" rIns="0" bIns="0" rtlCol="0" anchor="ctr"/>
          <a:lstStyle/>
          <a:p>
            <a:pPr algn="l" indent="0" marL="0">
              <a:lnSpc>
                <a:spcPct val="120000"/>
              </a:lnSpc>
              <a:buNone/>
            </a:pPr>
            <a:r>
              <a:rPr lang="en-US" sz="1100" dirty="0">
                <a:solidFill>
                  <a:srgbClr val="FFFFFF"/>
                </a:solidFill>
                <a:latin typeface="Calibri" pitchFamily="34" charset="0"/>
                <a:ea typeface="Calibri" pitchFamily="34" charset="-122"/>
                <a:cs typeface="Calibri" pitchFamily="34" charset="-120"/>
              </a:rPr>
              <a:t>2.  Day 2: Your destination is 112 miles from Day 1's camp. How many inches apart are they on your map? Will you need transportation beyond walking?</a:t>
            </a:r>
            <a:endParaRPr lang="en-US" sz="1100" dirty="0"/>
          </a:p>
        </p:txBody>
      </p:sp>
      <p:sp>
        <p:nvSpPr>
          <p:cNvPr id="19" name="Shape 17"/>
          <p:cNvSpPr/>
          <p:nvPr/>
        </p:nvSpPr>
        <p:spPr>
          <a:xfrm>
            <a:off x="402336" y="3200400"/>
            <a:ext cx="8339328" cy="731520"/>
          </a:xfrm>
          <a:prstGeom prst="roundRect">
            <a:avLst>
              <a:gd name="adj" fmla="val 8750"/>
            </a:avLst>
          </a:prstGeom>
          <a:solidFill>
            <a:srgbClr val="FFFFFF">
              <a:alpha val="10000"/>
            </a:srgbClr>
          </a:solidFill>
          <a:ln w="12700">
            <a:solidFill>
              <a:srgbClr val="D4943A"/>
            </a:solidFill>
            <a:prstDash val="solid"/>
          </a:ln>
        </p:spPr>
      </p:sp>
      <p:sp>
        <p:nvSpPr>
          <p:cNvPr id="20" name="Text 18"/>
          <p:cNvSpPr/>
          <p:nvPr/>
        </p:nvSpPr>
        <p:spPr>
          <a:xfrm>
            <a:off x="585216" y="3200400"/>
            <a:ext cx="7973568" cy="731520"/>
          </a:xfrm>
          <a:prstGeom prst="rect">
            <a:avLst/>
          </a:prstGeom>
          <a:noFill/>
          <a:ln/>
        </p:spPr>
        <p:txBody>
          <a:bodyPr wrap="square" lIns="0" tIns="0" rIns="0" bIns="0" rtlCol="0" anchor="ctr"/>
          <a:lstStyle/>
          <a:p>
            <a:pPr algn="l" indent="0" marL="0">
              <a:lnSpc>
                <a:spcPct val="120000"/>
              </a:lnSpc>
              <a:buNone/>
            </a:pPr>
            <a:r>
              <a:rPr lang="en-US" sz="1100" dirty="0">
                <a:solidFill>
                  <a:srgbClr val="FFFFFF"/>
                </a:solidFill>
                <a:latin typeface="Calibri" pitchFamily="34" charset="0"/>
                <a:ea typeface="Calibri" pitchFamily="34" charset="-122"/>
                <a:cs typeface="Calibri" pitchFamily="34" charset="-120"/>
              </a:rPr>
              <a:t>3.  Day 3: You need to return home (85 miles). How many inches apart is home from Day 2's camp? If you can drive 50 mph, how long is the drive?</a:t>
            </a:r>
            <a:endParaRPr lang="en-US" sz="1100" dirty="0"/>
          </a:p>
        </p:txBody>
      </p:sp>
      <p:sp>
        <p:nvSpPr>
          <p:cNvPr id="21" name="Shape 19"/>
          <p:cNvSpPr/>
          <p:nvPr/>
        </p:nvSpPr>
        <p:spPr>
          <a:xfrm>
            <a:off x="402336" y="4005072"/>
            <a:ext cx="8339328" cy="731520"/>
          </a:xfrm>
          <a:prstGeom prst="roundRect">
            <a:avLst>
              <a:gd name="adj" fmla="val 8750"/>
            </a:avLst>
          </a:prstGeom>
          <a:solidFill>
            <a:srgbClr val="FFFFFF">
              <a:alpha val="10000"/>
            </a:srgbClr>
          </a:solidFill>
          <a:ln w="12700">
            <a:solidFill>
              <a:srgbClr val="D4943A"/>
            </a:solidFill>
            <a:prstDash val="solid"/>
          </a:ln>
        </p:spPr>
      </p:sp>
      <p:sp>
        <p:nvSpPr>
          <p:cNvPr id="22" name="Text 20"/>
          <p:cNvSpPr/>
          <p:nvPr/>
        </p:nvSpPr>
        <p:spPr>
          <a:xfrm>
            <a:off x="585216" y="4005072"/>
            <a:ext cx="7973568" cy="731520"/>
          </a:xfrm>
          <a:prstGeom prst="rect">
            <a:avLst/>
          </a:prstGeom>
          <a:noFill/>
          <a:ln/>
        </p:spPr>
        <p:txBody>
          <a:bodyPr wrap="square" lIns="0" tIns="0" rIns="0" bIns="0" rtlCol="0" anchor="ctr"/>
          <a:lstStyle/>
          <a:p>
            <a:pPr algn="l" indent="0" marL="0">
              <a:lnSpc>
                <a:spcPct val="120000"/>
              </a:lnSpc>
              <a:buNone/>
            </a:pPr>
            <a:r>
              <a:rPr lang="en-US" sz="1100" dirty="0">
                <a:solidFill>
                  <a:srgbClr val="FFFFFF"/>
                </a:solidFill>
                <a:latin typeface="Calibri" pitchFamily="34" charset="0"/>
                <a:ea typeface="Calibri" pitchFamily="34" charset="-122"/>
                <a:cs typeface="Calibri" pitchFamily="34" charset="-120"/>
              </a:rPr>
              <a:t>4.  Planning check: Your whole expedition is Jacksonville → Day 1 Camp → Day 2 Destination → Home. Using your map measurements, calculate the TOTAL MILES traveled.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3A2C1A"/>
        </a:solidFill>
      </p:bgPr>
    </p:bg>
    <p:spTree>
      <p:nvGrpSpPr>
        <p:cNvPr id="1" name=""/>
        <p:cNvGrpSpPr/>
        <p:nvPr/>
      </p:nvGrpSpPr>
      <p:grpSpPr>
        <a:xfrm>
          <a:off x="0" y="0"/>
          <a:ext cx="0" cy="0"/>
          <a:chOff x="0" y="0"/>
          <a:chExt cx="0" cy="0"/>
        </a:xfrm>
      </p:grpSpPr>
      <p:sp>
        <p:nvSpPr>
          <p:cNvPr id="2" name="Shape 0"/>
          <p:cNvSpPr/>
          <p:nvPr/>
        </p:nvSpPr>
        <p:spPr>
          <a:xfrm>
            <a:off x="1524000" y="0"/>
            <a:ext cx="0" cy="5148072"/>
          </a:xfrm>
          <a:prstGeom prst="line">
            <a:avLst/>
          </a:prstGeom>
          <a:noFill/>
          <a:ln w="7620">
            <a:solidFill>
              <a:srgbClr val="C4B49A">
                <a:alpha val="50000"/>
              </a:srgbClr>
            </a:solidFill>
            <a:prstDash val="solid"/>
          </a:ln>
        </p:spPr>
      </p:sp>
      <p:sp>
        <p:nvSpPr>
          <p:cNvPr id="3" name="Shape 1"/>
          <p:cNvSpPr/>
          <p:nvPr/>
        </p:nvSpPr>
        <p:spPr>
          <a:xfrm>
            <a:off x="3048000" y="0"/>
            <a:ext cx="0" cy="5148072"/>
          </a:xfrm>
          <a:prstGeom prst="line">
            <a:avLst/>
          </a:prstGeom>
          <a:noFill/>
          <a:ln w="7620">
            <a:solidFill>
              <a:srgbClr val="C4B49A">
                <a:alpha val="50000"/>
              </a:srgbClr>
            </a:solidFill>
            <a:prstDash val="solid"/>
          </a:ln>
        </p:spPr>
      </p:sp>
      <p:sp>
        <p:nvSpPr>
          <p:cNvPr id="4" name="Shape 2"/>
          <p:cNvSpPr/>
          <p:nvPr/>
        </p:nvSpPr>
        <p:spPr>
          <a:xfrm>
            <a:off x="4572000" y="0"/>
            <a:ext cx="0" cy="5148072"/>
          </a:xfrm>
          <a:prstGeom prst="line">
            <a:avLst/>
          </a:prstGeom>
          <a:noFill/>
          <a:ln w="7620">
            <a:solidFill>
              <a:srgbClr val="C4B49A">
                <a:alpha val="50000"/>
              </a:srgbClr>
            </a:solidFill>
            <a:prstDash val="solid"/>
          </a:ln>
        </p:spPr>
      </p:sp>
      <p:sp>
        <p:nvSpPr>
          <p:cNvPr id="5" name="Shape 3"/>
          <p:cNvSpPr/>
          <p:nvPr/>
        </p:nvSpPr>
        <p:spPr>
          <a:xfrm>
            <a:off x="6096000" y="0"/>
            <a:ext cx="0" cy="5148072"/>
          </a:xfrm>
          <a:prstGeom prst="line">
            <a:avLst/>
          </a:prstGeom>
          <a:noFill/>
          <a:ln w="7620">
            <a:solidFill>
              <a:srgbClr val="C4B49A">
                <a:alpha val="50000"/>
              </a:srgbClr>
            </a:solidFill>
            <a:prstDash val="solid"/>
          </a:ln>
        </p:spPr>
      </p:sp>
      <p:sp>
        <p:nvSpPr>
          <p:cNvPr id="6" name="Shape 4"/>
          <p:cNvSpPr/>
          <p:nvPr/>
        </p:nvSpPr>
        <p:spPr>
          <a:xfrm>
            <a:off x="7620000" y="0"/>
            <a:ext cx="0" cy="5148072"/>
          </a:xfrm>
          <a:prstGeom prst="line">
            <a:avLst/>
          </a:prstGeom>
          <a:noFill/>
          <a:ln w="7620">
            <a:solidFill>
              <a:srgbClr val="C4B49A">
                <a:alpha val="50000"/>
              </a:srgbClr>
            </a:solidFill>
            <a:prstDash val="solid"/>
          </a:ln>
        </p:spPr>
      </p:sp>
      <p:sp>
        <p:nvSpPr>
          <p:cNvPr id="7" name="Shape 5"/>
          <p:cNvSpPr/>
          <p:nvPr/>
        </p:nvSpPr>
        <p:spPr>
          <a:xfrm>
            <a:off x="0" y="1287018"/>
            <a:ext cx="9144000" cy="0"/>
          </a:xfrm>
          <a:prstGeom prst="line">
            <a:avLst/>
          </a:prstGeom>
          <a:noFill/>
          <a:ln w="7620">
            <a:solidFill>
              <a:srgbClr val="C4B49A">
                <a:alpha val="50000"/>
              </a:srgbClr>
            </a:solidFill>
            <a:prstDash val="solid"/>
          </a:ln>
        </p:spPr>
      </p:sp>
      <p:sp>
        <p:nvSpPr>
          <p:cNvPr id="8" name="Shape 6"/>
          <p:cNvSpPr/>
          <p:nvPr/>
        </p:nvSpPr>
        <p:spPr>
          <a:xfrm>
            <a:off x="0" y="2574036"/>
            <a:ext cx="9144000" cy="0"/>
          </a:xfrm>
          <a:prstGeom prst="line">
            <a:avLst/>
          </a:prstGeom>
          <a:noFill/>
          <a:ln w="7620">
            <a:solidFill>
              <a:srgbClr val="C4B49A">
                <a:alpha val="50000"/>
              </a:srgbClr>
            </a:solidFill>
            <a:prstDash val="solid"/>
          </a:ln>
        </p:spPr>
      </p:sp>
      <p:sp>
        <p:nvSpPr>
          <p:cNvPr id="9" name="Shape 7"/>
          <p:cNvSpPr/>
          <p:nvPr/>
        </p:nvSpPr>
        <p:spPr>
          <a:xfrm>
            <a:off x="0" y="3861054"/>
            <a:ext cx="9144000" cy="0"/>
          </a:xfrm>
          <a:prstGeom prst="line">
            <a:avLst/>
          </a:prstGeom>
          <a:noFill/>
          <a:ln w="7620">
            <a:solidFill>
              <a:srgbClr val="C4B49A">
                <a:alpha val="50000"/>
              </a:srgbClr>
            </a:solidFill>
            <a:prstDash val="solid"/>
          </a:ln>
        </p:spPr>
      </p:sp>
      <p:sp>
        <p:nvSpPr>
          <p:cNvPr id="10" name="Shape 8"/>
          <p:cNvSpPr/>
          <p:nvPr/>
        </p:nvSpPr>
        <p:spPr>
          <a:xfrm>
            <a:off x="914400" y="228600"/>
            <a:ext cx="7315200" cy="4114800"/>
          </a:xfrm>
          <a:prstGeom prst="ellipse">
            <a:avLst/>
          </a:prstGeom>
          <a:solidFill>
            <a:srgbClr val="D4943A">
              <a:alpha val="15000"/>
            </a:srgbClr>
          </a:solidFill>
          <a:ln w="12700">
            <a:solidFill>
              <a:srgbClr val="333333"/>
            </a:solidFill>
            <a:prstDash val="solid"/>
          </a:ln>
        </p:spPr>
      </p:sp>
      <p:sp>
        <p:nvSpPr>
          <p:cNvPr id="11" name="Shape 9"/>
          <p:cNvSpPr/>
          <p:nvPr/>
        </p:nvSpPr>
        <p:spPr>
          <a:xfrm>
            <a:off x="2523744" y="1133856"/>
            <a:ext cx="4096512" cy="2304288"/>
          </a:xfrm>
          <a:prstGeom prst="ellipse">
            <a:avLst/>
          </a:prstGeom>
          <a:solidFill>
            <a:srgbClr val="D4943A">
              <a:alpha val="26000"/>
            </a:srgbClr>
          </a:solidFill>
          <a:ln w="12700">
            <a:solidFill>
              <a:srgbClr val="333333"/>
            </a:solidFill>
            <a:prstDash val="solid"/>
          </a:ln>
        </p:spPr>
      </p:sp>
      <p:sp>
        <p:nvSpPr>
          <p:cNvPr id="12" name="Text 10"/>
          <p:cNvSpPr/>
          <p:nvPr/>
        </p:nvSpPr>
        <p:spPr>
          <a:xfrm>
            <a:off x="457200" y="182880"/>
            <a:ext cx="8229600" cy="548640"/>
          </a:xfrm>
          <a:prstGeom prst="rect">
            <a:avLst/>
          </a:prstGeom>
          <a:noFill/>
          <a:ln/>
        </p:spPr>
        <p:txBody>
          <a:bodyPr wrap="square" lIns="0" tIns="0" rIns="0" bIns="0" rtlCol="0" anchor="ctr"/>
          <a:lstStyle/>
          <a:p>
            <a:pPr algn="ctr" indent="0" marL="0">
              <a:buNone/>
            </a:pPr>
            <a:r>
              <a:rPr lang="en-US" sz="2600" b="1" dirty="0">
                <a:solidFill>
                  <a:srgbClr val="D4943A"/>
                </a:solidFill>
                <a:latin typeface="Cambria" pitchFamily="34" charset="0"/>
                <a:ea typeface="Cambria" pitchFamily="34" charset="-122"/>
                <a:cs typeface="Cambria" pitchFamily="34" charset="-120"/>
              </a:rPr>
              <a:t>Unit 3 Complete: Cartography Gallery</a:t>
            </a:r>
            <a:endParaRPr lang="en-US" sz="2600" dirty="0"/>
          </a:p>
        </p:txBody>
      </p:sp>
      <p:sp>
        <p:nvSpPr>
          <p:cNvPr id="13" name="Shape 11"/>
          <p:cNvSpPr/>
          <p:nvPr/>
        </p:nvSpPr>
        <p:spPr>
          <a:xfrm>
            <a:off x="402336" y="859536"/>
            <a:ext cx="8339328" cy="1737360"/>
          </a:xfrm>
          <a:prstGeom prst="roundRect">
            <a:avLst>
              <a:gd name="adj" fmla="val 5263"/>
            </a:avLst>
          </a:prstGeom>
          <a:solidFill>
            <a:srgbClr val="2D5A27">
              <a:alpha val="18000"/>
            </a:srgbClr>
          </a:solidFill>
          <a:ln w="19050">
            <a:solidFill>
              <a:srgbClr val="4A8A42"/>
            </a:solidFill>
            <a:prstDash val="solid"/>
          </a:ln>
        </p:spPr>
      </p:sp>
      <p:sp>
        <p:nvSpPr>
          <p:cNvPr id="14" name="Text 12"/>
          <p:cNvSpPr/>
          <p:nvPr/>
        </p:nvSpPr>
        <p:spPr>
          <a:xfrm>
            <a:off x="585216" y="932688"/>
            <a:ext cx="7973568" cy="402336"/>
          </a:xfrm>
          <a:prstGeom prst="rect">
            <a:avLst/>
          </a:prstGeom>
          <a:noFill/>
          <a:ln/>
        </p:spPr>
        <p:txBody>
          <a:bodyPr wrap="square" lIns="0" tIns="0" rIns="0" bIns="0" rtlCol="0" anchor="ctr"/>
          <a:lstStyle/>
          <a:p>
            <a:pPr indent="0" marL="0">
              <a:buNone/>
            </a:pPr>
            <a:r>
              <a:rPr lang="en-US" sz="1400" b="1" dirty="0">
                <a:solidFill>
                  <a:srgbClr val="D4EDD0"/>
                </a:solidFill>
                <a:latin typeface="Cambria" pitchFamily="34" charset="0"/>
                <a:ea typeface="Cambria" pitchFamily="34" charset="-122"/>
                <a:cs typeface="Cambria" pitchFamily="34" charset="-120"/>
              </a:rPr>
              <a:t>Virtue Lens: Service</a:t>
            </a:r>
            <a:endParaRPr lang="en-US" sz="1400" dirty="0"/>
          </a:p>
        </p:txBody>
      </p:sp>
      <p:sp>
        <p:nvSpPr>
          <p:cNvPr id="15" name="Text 13"/>
          <p:cNvSpPr/>
          <p:nvPr/>
        </p:nvSpPr>
        <p:spPr>
          <a:xfrm>
            <a:off x="585216" y="1353312"/>
            <a:ext cx="7973568" cy="1152144"/>
          </a:xfrm>
          <a:prstGeom prst="rect">
            <a:avLst/>
          </a:prstGeom>
          <a:noFill/>
          <a:ln/>
        </p:spPr>
        <p:txBody>
          <a:bodyPr wrap="square" lIns="0" tIns="0" rIns="0" bIns="0" rtlCol="0" anchor="ctr"/>
          <a:lstStyle/>
          <a:p>
            <a:pPr indent="0" marL="0">
              <a:lnSpc>
                <a:spcPct val="145000"/>
              </a:lnSpc>
              <a:buNone/>
            </a:pPr>
            <a:r>
              <a:rPr lang="en-US" sz="1250" dirty="0">
                <a:solidFill>
                  <a:srgbClr val="F5EDD8"/>
                </a:solidFill>
                <a:latin typeface="Calibri" pitchFamily="34" charset="0"/>
                <a:ea typeface="Calibri" pitchFamily="34" charset="-122"/>
                <a:cs typeface="Calibri" pitchFamily="34" charset="-120"/>
              </a:rPr>
              <a:t>Measuring distance accurately — using the right scale, doing the math carefully, checking your work — is a form of service to anyone who depends on your directions. The British patrol that died in 1905 needed one person to measure carefully. Precise measurement protects people. That's not just math. That's care for others.</a:t>
            </a:r>
            <a:endParaRPr lang="en-US" sz="1250" dirty="0"/>
          </a:p>
        </p:txBody>
      </p:sp>
      <p:sp>
        <p:nvSpPr>
          <p:cNvPr id="16" name="Shape 14"/>
          <p:cNvSpPr/>
          <p:nvPr/>
        </p:nvSpPr>
        <p:spPr>
          <a:xfrm>
            <a:off x="402336" y="2724912"/>
            <a:ext cx="8339328" cy="1517904"/>
          </a:xfrm>
          <a:prstGeom prst="roundRect">
            <a:avLst>
              <a:gd name="adj" fmla="val 6024"/>
            </a:avLst>
          </a:prstGeom>
          <a:solidFill>
            <a:srgbClr val="B87A2A">
              <a:alpha val="18000"/>
            </a:srgbClr>
          </a:solidFill>
          <a:ln w="19050">
            <a:solidFill>
              <a:srgbClr val="D4943A"/>
            </a:solidFill>
            <a:prstDash val="solid"/>
          </a:ln>
        </p:spPr>
      </p:sp>
      <p:sp>
        <p:nvSpPr>
          <p:cNvPr id="17" name="Text 15"/>
          <p:cNvSpPr/>
          <p:nvPr/>
        </p:nvSpPr>
        <p:spPr>
          <a:xfrm>
            <a:off x="585216" y="2798064"/>
            <a:ext cx="7973568" cy="402336"/>
          </a:xfrm>
          <a:prstGeom prst="rect">
            <a:avLst/>
          </a:prstGeom>
          <a:noFill/>
          <a:ln/>
        </p:spPr>
        <p:txBody>
          <a:bodyPr wrap="square" lIns="0" tIns="0" rIns="0" bIns="0" rtlCol="0" anchor="ctr"/>
          <a:lstStyle/>
          <a:p>
            <a:pPr indent="0" marL="0">
              <a:buNone/>
            </a:pPr>
            <a:r>
              <a:rPr lang="en-US" sz="1300" b="1" dirty="0">
                <a:solidFill>
                  <a:srgbClr val="D4943A"/>
                </a:solidFill>
                <a:latin typeface="Cambria" pitchFamily="34" charset="0"/>
                <a:ea typeface="Cambria" pitchFamily="34" charset="-122"/>
                <a:cs typeface="Cambria" pitchFamily="34" charset="-120"/>
              </a:rPr>
              <a:t>Q1 Complete  ·  What You Now Know</a:t>
            </a:r>
            <a:endParaRPr lang="en-US" sz="1300" dirty="0"/>
          </a:p>
        </p:txBody>
      </p:sp>
      <p:sp>
        <p:nvSpPr>
          <p:cNvPr id="18" name="Text 16"/>
          <p:cNvSpPr/>
          <p:nvPr/>
        </p:nvSpPr>
        <p:spPr>
          <a:xfrm>
            <a:off x="585216" y="3218688"/>
            <a:ext cx="7973568" cy="969264"/>
          </a:xfrm>
          <a:prstGeom prst="rect">
            <a:avLst/>
          </a:prstGeom>
          <a:noFill/>
          <a:ln/>
        </p:spPr>
        <p:txBody>
          <a:bodyPr wrap="square" lIns="0" tIns="0" rIns="0" bIns="0" rtlCol="0" anchor="ctr"/>
          <a:lstStyle/>
          <a:p>
            <a:pPr algn="ctr" indent="0" marL="0">
              <a:lnSpc>
                <a:spcPct val="140000"/>
              </a:lnSpc>
              <a:buNone/>
            </a:pPr>
            <a:r>
              <a:rPr lang="en-US" sz="1100" dirty="0">
                <a:solidFill>
                  <a:srgbClr val="FDF3E0"/>
                </a:solidFill>
                <a:latin typeface="Calibri" pitchFamily="34" charset="0"/>
                <a:ea typeface="Calibri" pitchFamily="34" charset="-122"/>
                <a:cs typeface="Calibri" pitchFamily="34" charset="-120"/>
              </a:rPr>
              <a:t>Source literacy (primary/secondary) · Historical questioning · Tech research strategy</a:t>
            </a:r>
            <a:endParaRPr lang="en-US" sz="1100" dirty="0"/>
          </a:p>
          <a:p>
            <a:pPr algn="ctr" indent="0" marL="0">
              <a:lnSpc>
                <a:spcPct val="140000"/>
              </a:lnSpc>
              <a:buNone/>
            </a:pPr>
            <a:r>
              <a:rPr lang="en-US" sz="1100" dirty="0">
                <a:solidFill>
                  <a:srgbClr val="FDF3E0"/>
                </a:solidFill>
                <a:latin typeface="Calibri" pitchFamily="34" charset="0"/>
                <a:ea typeface="Calibri" pitchFamily="34" charset="-122"/>
                <a:cs typeface="Calibri" pitchFamily="34" charset="-120"/>
              </a:rPr>
              <a:t>Word roots (hist-, geo-, eco-, civ-) · Evidence entries · Why people explore</a:t>
            </a:r>
            <a:endParaRPr lang="en-US" sz="1100" dirty="0"/>
          </a:p>
          <a:p>
            <a:pPr algn="ctr" indent="0" marL="0">
              <a:lnSpc>
                <a:spcPct val="140000"/>
              </a:lnSpc>
              <a:buNone/>
            </a:pPr>
            <a:r>
              <a:rPr lang="en-US" sz="1100" dirty="0">
                <a:solidFill>
                  <a:srgbClr val="FDF3E0"/>
                </a:solidFill>
                <a:latin typeface="Calibri" pitchFamily="34" charset="0"/>
                <a:ea typeface="Calibri" pitchFamily="34" charset="-122"/>
                <a:cs typeface="Calibri" pitchFamily="34" charset="-120"/>
              </a:rPr>
              <a:t>Navigation tools · Famous explorers · Ships &amp; science · Consequences</a:t>
            </a:r>
            <a:endParaRPr lang="en-US" sz="1100" dirty="0"/>
          </a:p>
          <a:p>
            <a:pPr algn="ctr" indent="0" marL="0">
              <a:lnSpc>
                <a:spcPct val="140000"/>
              </a:lnSpc>
              <a:buNone/>
            </a:pPr>
            <a:r>
              <a:rPr lang="en-US" sz="1100" dirty="0">
                <a:solidFill>
                  <a:srgbClr val="FDF3E0"/>
                </a:solidFill>
                <a:latin typeface="Calibri" pitchFamily="34" charset="0"/>
                <a:ea typeface="Calibri" pitchFamily="34" charset="-122"/>
                <a:cs typeface="Calibri" pitchFamily="34" charset="-120"/>
              </a:rPr>
              <a:t>Map elements · Cardinal directions · Four map types · Map scale</a:t>
            </a:r>
            <a:endParaRPr lang="en-US" sz="1100" dirty="0"/>
          </a:p>
        </p:txBody>
      </p:sp>
      <p:sp>
        <p:nvSpPr>
          <p:cNvPr id="19" name="Shape 17"/>
          <p:cNvSpPr/>
          <p:nvPr/>
        </p:nvSpPr>
        <p:spPr>
          <a:xfrm>
            <a:off x="402336" y="4352544"/>
            <a:ext cx="8339328" cy="420624"/>
          </a:xfrm>
          <a:prstGeom prst="roundRect">
            <a:avLst>
              <a:gd name="adj" fmla="val 19565"/>
            </a:avLst>
          </a:prstGeom>
          <a:solidFill>
            <a:srgbClr val="1A8A7D">
              <a:alpha val="78000"/>
            </a:srgbClr>
          </a:solidFill>
          <a:ln w="19050">
            <a:solidFill>
              <a:srgbClr val="34B0A0"/>
            </a:solidFill>
            <a:prstDash val="solid"/>
          </a:ln>
        </p:spPr>
      </p:sp>
      <p:sp>
        <p:nvSpPr>
          <p:cNvPr id="20" name="Text 18"/>
          <p:cNvSpPr/>
          <p:nvPr/>
        </p:nvSpPr>
        <p:spPr>
          <a:xfrm>
            <a:off x="566928" y="4352544"/>
            <a:ext cx="801014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In the Chat: What is the ONE thing from Q1 you'll remember longest — and why?</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G3 SS 3.03.04 — Map Scale and Measuring Distance</dc:title>
  <dc:subject>PptxGenJS Presentation</dc:subject>
  <dc:creator>PptxGenJS</dc:creator>
  <cp:lastModifiedBy>PptxGenJS</cp:lastModifiedBy>
  <cp:revision>1</cp:revision>
  <dcterms:created xsi:type="dcterms:W3CDTF">2026-07-06T23:19:56Z</dcterms:created>
  <dcterms:modified xsi:type="dcterms:W3CDTF">2026-07-06T23:19:56Z</dcterms:modified>
</cp:coreProperties>
</file>